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gif" ContentType="image/gif"/>
  <Default Extension="emf" ContentType="image/x-emf"/>
  <Default Extension="png" ContentType="image/png"/>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diagrams/colors1.xml" ContentType="application/vnd.openxmlformats-officedocument.drawingml.diagramColors+xml"/>
  <Override PartName="/ppt/diagrams/colors2.xml" ContentType="application/vnd.openxmlformats-officedocument.drawingml.diagramColors+xml"/>
  <Override PartName="/ppt/diagrams/colors3.xml" ContentType="application/vnd.openxmlformats-officedocument.drawingml.diagramColors+xml"/>
  <Override PartName="/ppt/diagrams/colors4.xml" ContentType="application/vnd.openxmlformats-officedocument.drawingml.diagramColors+xml"/>
  <Override PartName="/ppt/diagrams/colors5.xml" ContentType="application/vnd.openxmlformats-officedocument.drawingml.diagramColors+xml"/>
  <Override PartName="/ppt/diagrams/colors6.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ata3.xml" ContentType="application/vnd.openxmlformats-officedocument.drawingml.diagramData+xml"/>
  <Override PartName="/ppt/diagrams/data4.xml" ContentType="application/vnd.openxmlformats-officedocument.drawingml.diagramData+xml"/>
  <Override PartName="/ppt/diagrams/data5.xml" ContentType="application/vnd.openxmlformats-officedocument.drawingml.diagramData+xml"/>
  <Override PartName="/ppt/diagrams/data6.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drawing3.xml" ContentType="application/vnd.ms-office.drawingml.diagramDrawing+xml"/>
  <Override PartName="/ppt/diagrams/drawing4.xml" ContentType="application/vnd.ms-office.drawingml.diagramDrawing+xml"/>
  <Override PartName="/ppt/diagrams/drawing5.xml" ContentType="application/vnd.ms-office.drawingml.diagramDrawing+xml"/>
  <Override PartName="/ppt/diagrams/drawing6.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layout3.xml" ContentType="application/vnd.openxmlformats-officedocument.drawingml.diagramLayout+xml"/>
  <Override PartName="/ppt/diagrams/layout4.xml" ContentType="application/vnd.openxmlformats-officedocument.drawingml.diagramLayout+xml"/>
  <Override PartName="/ppt/diagrams/layout5.xml" ContentType="application/vnd.openxmlformats-officedocument.drawingml.diagramLayout+xml"/>
  <Override PartName="/ppt/diagrams/layout6.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iagrams/quickStyle3.xml" ContentType="application/vnd.openxmlformats-officedocument.drawingml.diagramStyle+xml"/>
  <Override PartName="/ppt/diagrams/quickStyle4.xml" ContentType="application/vnd.openxmlformats-officedocument.drawingml.diagramStyle+xml"/>
  <Override PartName="/ppt/diagrams/quickStyle5.xml" ContentType="application/vnd.openxmlformats-officedocument.drawingml.diagramStyle+xml"/>
  <Override PartName="/ppt/diagrams/quickStyle6.xml" ContentType="application/vnd.openxmlformats-officedocument.drawingml.diagramStyle+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6"/>
  </p:notesMasterIdLst>
  <p:sldIdLst>
    <p:sldId id="257" r:id="rId3"/>
    <p:sldId id="572" r:id="rId4"/>
    <p:sldId id="256" r:id="rId5"/>
    <p:sldId id="258" r:id="rId7"/>
    <p:sldId id="573" r:id="rId8"/>
    <p:sldId id="259" r:id="rId9"/>
    <p:sldId id="260" r:id="rId10"/>
    <p:sldId id="577" r:id="rId11"/>
    <p:sldId id="575" r:id="rId12"/>
    <p:sldId id="261" r:id="rId13"/>
    <p:sldId id="582" r:id="rId14"/>
    <p:sldId id="584" r:id="rId15"/>
    <p:sldId id="267" r:id="rId16"/>
    <p:sldId id="585" r:id="rId17"/>
    <p:sldId id="268" r:id="rId18"/>
    <p:sldId id="269" r:id="rId19"/>
    <p:sldId id="270" r:id="rId20"/>
    <p:sldId id="271" r:id="rId21"/>
    <p:sldId id="272" r:id="rId22"/>
    <p:sldId id="588" r:id="rId23"/>
    <p:sldId id="274" r:id="rId24"/>
    <p:sldId id="275" r:id="rId25"/>
    <p:sldId id="590" r:id="rId26"/>
    <p:sldId id="276" r:id="rId27"/>
    <p:sldId id="277" r:id="rId28"/>
    <p:sldId id="278" r:id="rId29"/>
    <p:sldId id="279" r:id="rId30"/>
    <p:sldId id="280" r:id="rId31"/>
    <p:sldId id="591" r:id="rId32"/>
    <p:sldId id="282" r:id="rId33"/>
    <p:sldId id="283" r:id="rId34"/>
    <p:sldId id="284" r:id="rId35"/>
    <p:sldId id="285" r:id="rId36"/>
    <p:sldId id="286" r:id="rId37"/>
    <p:sldId id="287" r:id="rId38"/>
    <p:sldId id="288" r:id="rId39"/>
    <p:sldId id="290" r:id="rId40"/>
    <p:sldId id="592" r:id="rId41"/>
    <p:sldId id="293" r:id="rId42"/>
    <p:sldId id="294" r:id="rId43"/>
    <p:sldId id="295" r:id="rId44"/>
    <p:sldId id="296" r:id="rId45"/>
    <p:sldId id="297" r:id="rId46"/>
    <p:sldId id="298" r:id="rId47"/>
    <p:sldId id="299" r:id="rId48"/>
    <p:sldId id="300" r:id="rId49"/>
    <p:sldId id="548" r:id="rId50"/>
    <p:sldId id="302" r:id="rId51"/>
    <p:sldId id="303" r:id="rId52"/>
    <p:sldId id="304" r:id="rId53"/>
    <p:sldId id="549" r:id="rId54"/>
    <p:sldId id="306" r:id="rId55"/>
    <p:sldId id="307" r:id="rId56"/>
    <p:sldId id="309" r:id="rId57"/>
    <p:sldId id="311" r:id="rId58"/>
    <p:sldId id="593" r:id="rId59"/>
    <p:sldId id="594" r:id="rId60"/>
    <p:sldId id="595" r:id="rId61"/>
    <p:sldId id="596" r:id="rId62"/>
    <p:sldId id="597" r:id="rId63"/>
    <p:sldId id="317" r:id="rId64"/>
    <p:sldId id="322" r:id="rId65"/>
    <p:sldId id="599" r:id="rId66"/>
    <p:sldId id="598" r:id="rId67"/>
    <p:sldId id="326" r:id="rId68"/>
    <p:sldId id="327" r:id="rId69"/>
    <p:sldId id="328" r:id="rId70"/>
    <p:sldId id="329" r:id="rId71"/>
    <p:sldId id="600" r:id="rId72"/>
    <p:sldId id="601" r:id="rId73"/>
    <p:sldId id="603" r:id="rId74"/>
    <p:sldId id="602" r:id="rId75"/>
    <p:sldId id="331" r:id="rId76"/>
    <p:sldId id="332" r:id="rId77"/>
    <p:sldId id="333" r:id="rId78"/>
    <p:sldId id="334" r:id="rId79"/>
    <p:sldId id="335" r:id="rId80"/>
    <p:sldId id="605" r:id="rId81"/>
    <p:sldId id="607" r:id="rId82"/>
    <p:sldId id="338" r:id="rId83"/>
    <p:sldId id="339" r:id="rId84"/>
    <p:sldId id="340" r:id="rId85"/>
    <p:sldId id="341" r:id="rId86"/>
    <p:sldId id="608" r:id="rId87"/>
    <p:sldId id="609" r:id="rId88"/>
    <p:sldId id="610" r:id="rId89"/>
    <p:sldId id="611" r:id="rId90"/>
    <p:sldId id="345" r:id="rId91"/>
    <p:sldId id="346" r:id="rId92"/>
    <p:sldId id="347" r:id="rId93"/>
    <p:sldId id="613" r:id="rId94"/>
    <p:sldId id="612" r:id="rId95"/>
    <p:sldId id="615" r:id="rId96"/>
    <p:sldId id="616" r:id="rId97"/>
    <p:sldId id="617" r:id="rId98"/>
    <p:sldId id="618" r:id="rId99"/>
    <p:sldId id="619" r:id="rId100"/>
    <p:sldId id="620" r:id="rId101"/>
    <p:sldId id="621" r:id="rId102"/>
    <p:sldId id="622" r:id="rId103"/>
    <p:sldId id="624"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5" r:id="rId117"/>
    <p:sldId id="625" r:id="rId118"/>
    <p:sldId id="626" r:id="rId119"/>
    <p:sldId id="377" r:id="rId120"/>
    <p:sldId id="627" r:id="rId121"/>
    <p:sldId id="378" r:id="rId122"/>
    <p:sldId id="628" r:id="rId123"/>
    <p:sldId id="379" r:id="rId124"/>
    <p:sldId id="383" r:id="rId125"/>
    <p:sldId id="386" r:id="rId126"/>
    <p:sldId id="387" r:id="rId127"/>
    <p:sldId id="389" r:id="rId128"/>
    <p:sldId id="390" r:id="rId129"/>
    <p:sldId id="392" r:id="rId130"/>
    <p:sldId id="393" r:id="rId131"/>
    <p:sldId id="394" r:id="rId132"/>
    <p:sldId id="395" r:id="rId133"/>
    <p:sldId id="396" r:id="rId134"/>
    <p:sldId id="397" r:id="rId135"/>
    <p:sldId id="398" r:id="rId136"/>
    <p:sldId id="399" r:id="rId137"/>
    <p:sldId id="400" r:id="rId138"/>
    <p:sldId id="401" r:id="rId139"/>
    <p:sldId id="402" r:id="rId140"/>
    <p:sldId id="403" r:id="rId141"/>
    <p:sldId id="404" r:id="rId142"/>
    <p:sldId id="405" r:id="rId143"/>
    <p:sldId id="406" r:id="rId144"/>
    <p:sldId id="407" r:id="rId145"/>
    <p:sldId id="629" r:id="rId146"/>
    <p:sldId id="630" r:id="rId147"/>
    <p:sldId id="631" r:id="rId148"/>
    <p:sldId id="408" r:id="rId149"/>
    <p:sldId id="409" r:id="rId150"/>
    <p:sldId id="410" r:id="rId151"/>
    <p:sldId id="411" r:id="rId152"/>
    <p:sldId id="412" r:id="rId153"/>
    <p:sldId id="413" r:id="rId154"/>
    <p:sldId id="414" r:id="rId155"/>
    <p:sldId id="415" r:id="rId156"/>
    <p:sldId id="416" r:id="rId157"/>
    <p:sldId id="417" r:id="rId158"/>
    <p:sldId id="418" r:id="rId159"/>
    <p:sldId id="419" r:id="rId160"/>
    <p:sldId id="420" r:id="rId161"/>
    <p:sldId id="422" r:id="rId162"/>
    <p:sldId id="632" r:id="rId163"/>
    <p:sldId id="424" r:id="rId164"/>
    <p:sldId id="560" r:id="rId165"/>
    <p:sldId id="426" r:id="rId166"/>
    <p:sldId id="427" r:id="rId167"/>
    <p:sldId id="428" r:id="rId168"/>
    <p:sldId id="429" r:id="rId169"/>
    <p:sldId id="430" r:id="rId170"/>
    <p:sldId id="431" r:id="rId171"/>
    <p:sldId id="432" r:id="rId172"/>
    <p:sldId id="633" r:id="rId173"/>
    <p:sldId id="434" r:id="rId174"/>
    <p:sldId id="435" r:id="rId175"/>
    <p:sldId id="436" r:id="rId176"/>
    <p:sldId id="437" r:id="rId177"/>
    <p:sldId id="438" r:id="rId178"/>
    <p:sldId id="563" r:id="rId179"/>
    <p:sldId id="439" r:id="rId180"/>
    <p:sldId id="440" r:id="rId181"/>
    <p:sldId id="441" r:id="rId182"/>
    <p:sldId id="442" r:id="rId183"/>
    <p:sldId id="443" r:id="rId184"/>
    <p:sldId id="444" r:id="rId185"/>
    <p:sldId id="445" r:id="rId186"/>
    <p:sldId id="446" r:id="rId187"/>
    <p:sldId id="447" r:id="rId188"/>
    <p:sldId id="448" r:id="rId189"/>
    <p:sldId id="449" r:id="rId190"/>
    <p:sldId id="450" r:id="rId191"/>
    <p:sldId id="451" r:id="rId192"/>
    <p:sldId id="452" r:id="rId193"/>
    <p:sldId id="453" r:id="rId194"/>
    <p:sldId id="454" r:id="rId195"/>
    <p:sldId id="455" r:id="rId196"/>
    <p:sldId id="456" r:id="rId197"/>
    <p:sldId id="457" r:id="rId198"/>
    <p:sldId id="458" r:id="rId199"/>
    <p:sldId id="459" r:id="rId200"/>
    <p:sldId id="460" r:id="rId201"/>
    <p:sldId id="461" r:id="rId202"/>
    <p:sldId id="462" r:id="rId203"/>
    <p:sldId id="463" r:id="rId204"/>
    <p:sldId id="464" r:id="rId205"/>
    <p:sldId id="466" r:id="rId206"/>
    <p:sldId id="467" r:id="rId207"/>
    <p:sldId id="468" r:id="rId208"/>
    <p:sldId id="469" r:id="rId209"/>
    <p:sldId id="470" r:id="rId210"/>
    <p:sldId id="471" r:id="rId211"/>
    <p:sldId id="472" r:id="rId212"/>
    <p:sldId id="473" r:id="rId213"/>
    <p:sldId id="474" r:id="rId214"/>
    <p:sldId id="475" r:id="rId215"/>
    <p:sldId id="476" r:id="rId216"/>
    <p:sldId id="477" r:id="rId217"/>
    <p:sldId id="478" r:id="rId218"/>
    <p:sldId id="479" r:id="rId219"/>
    <p:sldId id="480" r:id="rId220"/>
    <p:sldId id="481" r:id="rId221"/>
    <p:sldId id="482" r:id="rId222"/>
    <p:sldId id="483" r:id="rId223"/>
    <p:sldId id="484" r:id="rId224"/>
    <p:sldId id="485" r:id="rId225"/>
    <p:sldId id="486" r:id="rId226"/>
    <p:sldId id="487" r:id="rId227"/>
    <p:sldId id="488" r:id="rId228"/>
    <p:sldId id="489" r:id="rId229"/>
    <p:sldId id="490" r:id="rId230"/>
    <p:sldId id="491" r:id="rId231"/>
    <p:sldId id="492" r:id="rId232"/>
    <p:sldId id="493" r:id="rId233"/>
    <p:sldId id="494" r:id="rId234"/>
    <p:sldId id="495" r:id="rId235"/>
    <p:sldId id="496" r:id="rId236"/>
    <p:sldId id="497" r:id="rId237"/>
    <p:sldId id="498" r:id="rId238"/>
    <p:sldId id="499" r:id="rId239"/>
    <p:sldId id="500" r:id="rId240"/>
    <p:sldId id="501" r:id="rId241"/>
    <p:sldId id="502" r:id="rId242"/>
    <p:sldId id="503" r:id="rId243"/>
    <p:sldId id="504" r:id="rId244"/>
    <p:sldId id="506" r:id="rId245"/>
    <p:sldId id="507" r:id="rId246"/>
    <p:sldId id="508" r:id="rId247"/>
    <p:sldId id="509" r:id="rId248"/>
    <p:sldId id="510" r:id="rId249"/>
    <p:sldId id="511" r:id="rId250"/>
    <p:sldId id="512" r:id="rId251"/>
    <p:sldId id="513" r:id="rId252"/>
    <p:sldId id="515" r:id="rId253"/>
    <p:sldId id="634" r:id="rId254"/>
    <p:sldId id="635" r:id="rId255"/>
    <p:sldId id="636" r:id="rId256"/>
    <p:sldId id="519" r:id="rId257"/>
    <p:sldId id="641" r:id="rId258"/>
    <p:sldId id="637" r:id="rId259"/>
    <p:sldId id="638" r:id="rId260"/>
    <p:sldId id="523" r:id="rId261"/>
    <p:sldId id="524" r:id="rId262"/>
    <p:sldId id="526" r:id="rId263"/>
    <p:sldId id="527" r:id="rId264"/>
    <p:sldId id="528" r:id="rId265"/>
    <p:sldId id="529" r:id="rId266"/>
    <p:sldId id="530" r:id="rId267"/>
    <p:sldId id="531" r:id="rId268"/>
    <p:sldId id="532" r:id="rId269"/>
    <p:sldId id="533" r:id="rId270"/>
    <p:sldId id="639" r:id="rId271"/>
    <p:sldId id="534" r:id="rId272"/>
    <p:sldId id="535" r:id="rId273"/>
    <p:sldId id="537" r:id="rId274"/>
    <p:sldId id="538" r:id="rId275"/>
    <p:sldId id="571" r:id="rId276"/>
    <p:sldId id="540" r:id="rId277"/>
    <p:sldId id="541" r:id="rId278"/>
    <p:sldId id="542" r:id="rId279"/>
    <p:sldId id="543" r:id="rId280"/>
    <p:sldId id="544" r:id="rId281"/>
    <p:sldId id="640" r:id="rId282"/>
    <p:sldId id="546" r:id="rId283"/>
  </p:sldIdLst>
  <p:sldSz cx="9144000" cy="5143500" type="screen16x9"/>
  <p:notesSz cx="6858000" cy="9144000"/>
  <p:embeddedFontLst>
    <p:embeddedFont>
      <p:font typeface="微软雅黑" panose="020B0503020204020204" pitchFamily="34" charset="-122"/>
      <p:regular r:id="rId287"/>
    </p:embeddedFont>
    <p:embeddedFont>
      <p:font typeface="Calibri" panose="020F0502020204030204" pitchFamily="34" charset="0"/>
      <p:regular r:id="rId288"/>
      <p:bold r:id="rId289"/>
      <p:italic r:id="rId290"/>
      <p:boldItalic r:id="rId291"/>
    </p:embeddedFont>
  </p:embeddedFontLst>
  <p:custDataLst>
    <p:tags r:id="rId292"/>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0000FF"/>
    <a:srgbClr val="FFFF00"/>
    <a:srgbClr val="000099"/>
    <a:srgbClr val="CC00CC"/>
    <a:srgbClr val="9900CC"/>
    <a:srgbClr val="66FF66"/>
    <a:srgbClr val="FFFF99"/>
    <a:srgbClr val="FFFF66"/>
    <a:srgbClr val="CC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BC89EF96-8CEA-46FF-86C4-4CE0E7609802}" styleName="浅色样式 3 - 强调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4786" autoAdjust="0"/>
    <p:restoredTop sz="74242" autoAdjust="0"/>
  </p:normalViewPr>
  <p:slideViewPr>
    <p:cSldViewPr snapToGrid="0" showGuides="1">
      <p:cViewPr varScale="1">
        <p:scale>
          <a:sx n="143" d="100"/>
          <a:sy n="143" d="100"/>
        </p:scale>
        <p:origin x="-120" y="-180"/>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notesMaster" Target="notesMasters/notesMaster1.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3.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slide" Target="slides/slide2.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2" Type="http://schemas.openxmlformats.org/officeDocument/2006/relationships/tags" Target="tags/tag1.xml"/><Relationship Id="rId291" Type="http://schemas.openxmlformats.org/officeDocument/2006/relationships/font" Target="fonts/font5.fntdata"/><Relationship Id="rId290" Type="http://schemas.openxmlformats.org/officeDocument/2006/relationships/font" Target="fonts/font4.fntdata"/><Relationship Id="rId29" Type="http://schemas.openxmlformats.org/officeDocument/2006/relationships/slide" Target="slides/slide26.xml"/><Relationship Id="rId289" Type="http://schemas.openxmlformats.org/officeDocument/2006/relationships/font" Target="fonts/font3.fntdata"/><Relationship Id="rId288" Type="http://schemas.openxmlformats.org/officeDocument/2006/relationships/font" Target="fonts/font2.fntdata"/><Relationship Id="rId287" Type="http://schemas.openxmlformats.org/officeDocument/2006/relationships/font" Target="fonts/font1.fntdata"/><Relationship Id="rId286" Type="http://schemas.openxmlformats.org/officeDocument/2006/relationships/tableStyles" Target="tableStyles.xml"/><Relationship Id="rId285" Type="http://schemas.openxmlformats.org/officeDocument/2006/relationships/viewProps" Target="viewProps.xml"/><Relationship Id="rId284" Type="http://schemas.openxmlformats.org/officeDocument/2006/relationships/presProps" Target="presProps.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5.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4.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3.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2.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1.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0.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slide" Target="slides/slide220.xml"/><Relationship Id="rId222" Type="http://schemas.openxmlformats.org/officeDocument/2006/relationships/slide" Target="slides/slide219.xml"/><Relationship Id="rId221" Type="http://schemas.openxmlformats.org/officeDocument/2006/relationships/slide" Target="slides/slide218.xml"/><Relationship Id="rId220" Type="http://schemas.openxmlformats.org/officeDocument/2006/relationships/slide" Target="slides/slide217.xml"/><Relationship Id="rId22" Type="http://schemas.openxmlformats.org/officeDocument/2006/relationships/slide" Target="slides/slide19.xml"/><Relationship Id="rId219" Type="http://schemas.openxmlformats.org/officeDocument/2006/relationships/slide" Target="slides/slide216.xml"/><Relationship Id="rId218" Type="http://schemas.openxmlformats.org/officeDocument/2006/relationships/slide" Target="slides/slide215.xml"/><Relationship Id="rId217" Type="http://schemas.openxmlformats.org/officeDocument/2006/relationships/slide" Target="slides/slide214.xml"/><Relationship Id="rId216" Type="http://schemas.openxmlformats.org/officeDocument/2006/relationships/slide" Target="slides/slide213.xml"/><Relationship Id="rId215" Type="http://schemas.openxmlformats.org/officeDocument/2006/relationships/slide" Target="slides/slide212.xml"/><Relationship Id="rId214" Type="http://schemas.openxmlformats.org/officeDocument/2006/relationships/slide" Target="slides/slide211.xml"/><Relationship Id="rId213" Type="http://schemas.openxmlformats.org/officeDocument/2006/relationships/slide" Target="slides/slide210.xml"/><Relationship Id="rId212" Type="http://schemas.openxmlformats.org/officeDocument/2006/relationships/slide" Target="slides/slide209.xml"/><Relationship Id="rId211" Type="http://schemas.openxmlformats.org/officeDocument/2006/relationships/slide" Target="slides/slide208.xml"/><Relationship Id="rId210" Type="http://schemas.openxmlformats.org/officeDocument/2006/relationships/slide" Target="slides/slide207.xml"/><Relationship Id="rId21" Type="http://schemas.openxmlformats.org/officeDocument/2006/relationships/slide" Target="slides/slide18.xml"/><Relationship Id="rId209" Type="http://schemas.openxmlformats.org/officeDocument/2006/relationships/slide" Target="slides/slide206.xml"/><Relationship Id="rId208" Type="http://schemas.openxmlformats.org/officeDocument/2006/relationships/slide" Target="slides/slide205.xml"/><Relationship Id="rId207" Type="http://schemas.openxmlformats.org/officeDocument/2006/relationships/slide" Target="slides/slide204.xml"/><Relationship Id="rId206" Type="http://schemas.openxmlformats.org/officeDocument/2006/relationships/slide" Target="slides/slide203.xml"/><Relationship Id="rId205" Type="http://schemas.openxmlformats.org/officeDocument/2006/relationships/slide" Target="slides/slide202.xml"/><Relationship Id="rId204" Type="http://schemas.openxmlformats.org/officeDocument/2006/relationships/slide" Target="slides/slide201.xml"/><Relationship Id="rId203" Type="http://schemas.openxmlformats.org/officeDocument/2006/relationships/slide" Target="slides/slide200.xml"/><Relationship Id="rId202" Type="http://schemas.openxmlformats.org/officeDocument/2006/relationships/slide" Target="slides/slide199.xml"/><Relationship Id="rId201" Type="http://schemas.openxmlformats.org/officeDocument/2006/relationships/slide" Target="slides/slide198.xml"/><Relationship Id="rId200" Type="http://schemas.openxmlformats.org/officeDocument/2006/relationships/slide" Target="slides/slide197.xml"/><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slide" Target="slides/slide196.xml"/><Relationship Id="rId198" Type="http://schemas.openxmlformats.org/officeDocument/2006/relationships/slide" Target="slides/slide195.xml"/><Relationship Id="rId197" Type="http://schemas.openxmlformats.org/officeDocument/2006/relationships/slide" Target="slides/slide194.xml"/><Relationship Id="rId196" Type="http://schemas.openxmlformats.org/officeDocument/2006/relationships/slide" Target="slides/slide193.xml"/><Relationship Id="rId195" Type="http://schemas.openxmlformats.org/officeDocument/2006/relationships/slide" Target="slides/slide192.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2" csCatId="colorful" phldr="1"/>
      <dgm:spPr/>
      <dgm:t>
        <a:bodyPr/>
        <a:lstStyle/>
        <a:p>
          <a:endParaRPr lang="zh-CN" altLang="en-US"/>
        </a:p>
      </dgm:t>
    </dgm:pt>
    <dgm:pt modelId="{078891F9-34FA-4EF4-89D8-5A412AD764F4}">
      <dgm:prSet phldrT="[文本]" custT="1"/>
      <dgm:spPr/>
      <dgm:t>
        <a:bodyPr/>
        <a:lstStyle/>
        <a:p>
          <a:pPr>
            <a:spcAft>
              <a:spcPts val="0"/>
            </a:spcAft>
          </a:pPr>
          <a:r>
            <a:rPr lang="zh-CN" sz="1400" b="1" dirty="0" smtClean="0">
              <a:latin typeface="微软雅黑" panose="020B0503020204020204" pitchFamily="34" charset="-122"/>
              <a:ea typeface="微软雅黑" panose="020B0503020204020204" pitchFamily="34" charset="-122"/>
            </a:rPr>
            <a:t>万维网</a:t>
          </a:r>
          <a:endParaRPr lang="en-US" altLang="zh-CN" sz="1400" b="1" dirty="0" smtClean="0">
            <a:latin typeface="微软雅黑" panose="020B0503020204020204" pitchFamily="34" charset="-122"/>
            <a:ea typeface="微软雅黑" panose="020B0503020204020204" pitchFamily="34" charset="-122"/>
          </a:endParaRPr>
        </a:p>
      </dgm:t>
    </dgm:pt>
    <dgm:pt modelId="{4B643090-A914-42B9-B238-056D4FF63DC6}" cxnId="{4D4A52C9-E9C4-4696-91DC-BD7EA7EBBD56}"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cxnId="{4D4A52C9-E9C4-4696-91DC-BD7EA7EBBD56}"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SMTP</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cxnId="{8A3EA2AA-42A8-4AEA-B0B4-11120F121170}"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cxnId="{8A3EA2AA-42A8-4AEA-B0B4-11120F121170}"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en-US" sz="1400" b="1" dirty="0" smtClean="0">
              <a:latin typeface="微软雅黑" panose="020B0503020204020204" pitchFamily="34" charset="-122"/>
              <a:ea typeface="微软雅黑" panose="020B0503020204020204" pitchFamily="34" charset="-122"/>
            </a:rPr>
            <a:t>HTTP</a:t>
          </a:r>
          <a:endParaRPr lang="en-US" altLang="zh-CN" sz="1400" b="1" dirty="0" smtClean="0">
            <a:latin typeface="微软雅黑" panose="020B0503020204020204" pitchFamily="34" charset="-122"/>
            <a:ea typeface="微软雅黑" panose="020B0503020204020204" pitchFamily="34" charset="-122"/>
          </a:endParaRPr>
        </a:p>
      </dgm:t>
    </dgm:pt>
    <dgm:pt modelId="{0E2096BF-A648-4344-82E4-9E96ECC476E6}" cxnId="{28922770-A65C-4E3E-A3DA-16CCB81274A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cxnId="{28922770-A65C-4E3E-A3DA-16CCB81274A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电子邮件</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cxnId="{F99D0580-FAE8-4372-9FCA-57C11D86F9D1}"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cxnId="{F99D0580-FAE8-4372-9FCA-57C11D86F9D1}"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文件传输</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cxnId="{EC5B7AE1-7D79-43BD-8A23-277F057D5D8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cxnId="{EC5B7AE1-7D79-43BD-8A23-277F057D5D8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cxnId="{13DAA706-1759-414C-A9E1-D7C4BBDA2A67}"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cxnId="{13DAA706-1759-414C-A9E1-D7C4BBDA2A67}"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不同于网络应用</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cxnId="{EBA0DB19-E670-45E1-97DE-A8F3744E3D69}"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cxnId="{EBA0DB19-E670-45E1-97DE-A8F3744E3D69}"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8A3EA2AA-42A8-4AEA-B0B4-11120F121170}" srcId="{354A271C-6390-4DF4-9AC0-ADE68E742430}" destId="{FA7BE1A0-586E-4E75-A7A2-8E8D9C81DB65}" srcOrd="0" destOrd="0" parTransId="{D877AC74-80D2-46D3-88D7-2B19FF468A57}" sibTransId="{16F9E388-D379-4831-A10F-3BB4C241D915}"/>
    <dgm:cxn modelId="{D672B4F9-C6C3-4E07-A613-A7B5F1B874B7}" type="presOf" srcId="{194B30E0-BBF3-4013-AA95-F36A73A99BE9}" destId="{629FD194-4F20-42AB-A0D3-D63455B286FC}" srcOrd="0" destOrd="0" presId="urn:microsoft.com/office/officeart/2005/8/layout/hierarchy4"/>
    <dgm:cxn modelId="{EC5B7AE1-7D79-43BD-8A23-277F057D5D83}" srcId="{0453551A-5977-423D-B5EC-B8426DA6E162}" destId="{4AC447A3-3923-4C66-9E6E-9E85452007A2}" srcOrd="0" destOrd="0" parTransId="{940A24D1-38C6-45BF-BBD5-710C5CD3DF15}" sibTransId="{1F74ABCB-B1AD-4B2F-B725-25FDF1FB8267}"/>
    <dgm:cxn modelId="{8B5B757C-9AA4-494F-8111-E33687EF58A9}" type="presOf" srcId="{2832C718-DAF0-4C4D-A446-27C1389A0F92}" destId="{E5B734C7-BD06-4002-8C05-19CC466CF4FE}"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B0C08B8-3AB8-4F5F-8218-34C18BD26F98}" type="presOf" srcId="{5A02E71B-2C78-495B-B0C5-EECEC8CAF54C}" destId="{7908BCB8-DE9B-4BF1-8D07-3A3FD24C7968}" srcOrd="0" destOrd="0" presId="urn:microsoft.com/office/officeart/2005/8/layout/hierarchy4"/>
    <dgm:cxn modelId="{61668259-2802-4CF5-97DB-A927910C09B7}" type="presOf" srcId="{FA7BE1A0-586E-4E75-A7A2-8E8D9C81DB65}" destId="{07CD9CA8-8213-4B82-96DE-5A2E23AB39DC}"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EBA0DB19-E670-45E1-97DE-A8F3744E3D69}" srcId="{2832C718-DAF0-4C4D-A446-27C1389A0F92}" destId="{5A02E71B-2C78-495B-B0C5-EECEC8CAF54C}" srcOrd="0" destOrd="0" parTransId="{28DD6B13-3ADE-4F3E-8AB8-43B85AB567B6}" sibTransId="{D9B750CA-5D66-4BE3-A57A-7E529C9C9314}"/>
    <dgm:cxn modelId="{5BA3F38E-E1B0-4D0C-BD88-A468FB0818F2}" type="presOf" srcId="{4AC447A3-3923-4C66-9E6E-9E85452007A2}" destId="{D772C529-9144-4F64-AC62-C41998E87A93}" srcOrd="0" destOrd="0" presId="urn:microsoft.com/office/officeart/2005/8/layout/hierarchy4"/>
    <dgm:cxn modelId="{A7553C0C-489D-471C-AAB6-F8FE0699A02E}" type="presOf" srcId="{078891F9-34FA-4EF4-89D8-5A412AD764F4}" destId="{F381CC4E-322C-45E6-B7E7-4ED70FA8CF2E}" srcOrd="0" destOrd="0" presId="urn:microsoft.com/office/officeart/2005/8/layout/hierarchy4"/>
    <dgm:cxn modelId="{8B8FD01C-7374-4520-A993-CABF85F0D4E0}" type="presOf" srcId="{0453551A-5977-423D-B5EC-B8426DA6E162}" destId="{49899EA7-F8C0-4BB7-A6AD-5F40B1731420}" srcOrd="0" destOrd="0" presId="urn:microsoft.com/office/officeart/2005/8/layout/hierarchy4"/>
    <dgm:cxn modelId="{13DAA706-1759-414C-A9E1-D7C4BBDA2A67}" srcId="{FA7BE1A0-586E-4E75-A7A2-8E8D9C81DB65}" destId="{194B30E0-BBF3-4013-AA95-F36A73A99BE9}" srcOrd="0" destOrd="0" parTransId="{F1920C41-8FA1-43C2-947F-37DE49CDBC93}" sibTransId="{7339F0ED-B46A-44B7-8FEC-EC74442AAED0}"/>
    <dgm:cxn modelId="{DFB0CF12-3CDA-449C-8B95-F600015C40A7}" type="presOf" srcId="{354A271C-6390-4DF4-9AC0-ADE68E742430}" destId="{1F36E606-4D05-483A-959D-7AFAA3F99964}"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3" csCatId="colorful" phldr="1"/>
      <dgm:spPr/>
      <dgm:t>
        <a:bodyPr/>
        <a:lstStyle/>
        <a:p>
          <a:endParaRPr lang="zh-CN" altLang="en-US"/>
        </a:p>
      </dgm:t>
    </dgm:pt>
    <dgm:pt modelId="{078891F9-34FA-4EF4-89D8-5A412AD764F4}">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客户 </a:t>
          </a:r>
          <a:r>
            <a:rPr lang="en-US" altLang="zh-CN" sz="1400" b="1" dirty="0" smtClean="0">
              <a:latin typeface="微软雅黑" panose="020B0503020204020204" pitchFamily="34" charset="-122"/>
              <a:ea typeface="微软雅黑" panose="020B0503020204020204" pitchFamily="34" charset="-122"/>
            </a:rPr>
            <a:t>(client)</a:t>
          </a:r>
        </a:p>
      </dgm:t>
    </dgm:pt>
    <dgm:pt modelId="{4B643090-A914-42B9-B238-056D4FF63DC6}" cxnId="{4D4A52C9-E9C4-4696-91DC-BD7EA7EBBD56}"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cxnId="{4D4A52C9-E9C4-4696-91DC-BD7EA7EBBD56}"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cxnId="{8A3EA2AA-42A8-4AEA-B0B4-11120F121170}"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cxnId="{8A3EA2AA-42A8-4AEA-B0B4-11120F121170}"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服务器 </a:t>
          </a:r>
          <a:r>
            <a:rPr lang="en-US" altLang="zh-CN" sz="1400" b="1" dirty="0" smtClean="0">
              <a:latin typeface="微软雅黑" panose="020B0503020204020204" pitchFamily="34" charset="-122"/>
              <a:ea typeface="微软雅黑" panose="020B0503020204020204" pitchFamily="34" charset="-122"/>
            </a:rPr>
            <a:t>(server)</a:t>
          </a:r>
        </a:p>
      </dgm:t>
    </dgm:pt>
    <dgm:pt modelId="{0E2096BF-A648-4344-82E4-9E96ECC476E6}" cxnId="{28922770-A65C-4E3E-A3DA-16CCB81274A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cxnId="{28922770-A65C-4E3E-A3DA-16CCB81274A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服务请求方</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cxnId="{F99D0580-FAE8-4372-9FCA-57C11D86F9D1}"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cxnId="{F99D0580-FAE8-4372-9FCA-57C11D86F9D1}"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cxnId="{EC5B7AE1-7D79-43BD-8A23-277F057D5D8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cxnId="{EC5B7AE1-7D79-43BD-8A23-277F057D5D8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cxnId="{13DAA706-1759-414C-A9E1-D7C4BBDA2A67}"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cxnId="{13DAA706-1759-414C-A9E1-D7C4BBDA2A67}"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许多都基于客户服务器方式</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cxnId="{EBA0DB19-E670-45E1-97DE-A8F3744E3D69}"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cxnId="{EBA0DB19-E670-45E1-97DE-A8F3744E3D69}"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8A3EA2AA-42A8-4AEA-B0B4-11120F121170}" srcId="{354A271C-6390-4DF4-9AC0-ADE68E742430}" destId="{FA7BE1A0-586E-4E75-A7A2-8E8D9C81DB65}" srcOrd="0" destOrd="0" parTransId="{D877AC74-80D2-46D3-88D7-2B19FF468A57}" sibTransId="{16F9E388-D379-4831-A10F-3BB4C241D915}"/>
    <dgm:cxn modelId="{D672B4F9-C6C3-4E07-A613-A7B5F1B874B7}" type="presOf" srcId="{194B30E0-BBF3-4013-AA95-F36A73A99BE9}" destId="{629FD194-4F20-42AB-A0D3-D63455B286FC}" srcOrd="0" destOrd="0" presId="urn:microsoft.com/office/officeart/2005/8/layout/hierarchy4"/>
    <dgm:cxn modelId="{EC5B7AE1-7D79-43BD-8A23-277F057D5D83}" srcId="{0453551A-5977-423D-B5EC-B8426DA6E162}" destId="{4AC447A3-3923-4C66-9E6E-9E85452007A2}" srcOrd="0" destOrd="0" parTransId="{940A24D1-38C6-45BF-BBD5-710C5CD3DF15}" sibTransId="{1F74ABCB-B1AD-4B2F-B725-25FDF1FB8267}"/>
    <dgm:cxn modelId="{8B5B757C-9AA4-494F-8111-E33687EF58A9}" type="presOf" srcId="{2832C718-DAF0-4C4D-A446-27C1389A0F92}" destId="{E5B734C7-BD06-4002-8C05-19CC466CF4FE}"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B0C08B8-3AB8-4F5F-8218-34C18BD26F98}" type="presOf" srcId="{5A02E71B-2C78-495B-B0C5-EECEC8CAF54C}" destId="{7908BCB8-DE9B-4BF1-8D07-3A3FD24C7968}" srcOrd="0" destOrd="0" presId="urn:microsoft.com/office/officeart/2005/8/layout/hierarchy4"/>
    <dgm:cxn modelId="{61668259-2802-4CF5-97DB-A927910C09B7}" type="presOf" srcId="{FA7BE1A0-586E-4E75-A7A2-8E8D9C81DB65}" destId="{07CD9CA8-8213-4B82-96DE-5A2E23AB39DC}"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EBA0DB19-E670-45E1-97DE-A8F3744E3D69}" srcId="{2832C718-DAF0-4C4D-A446-27C1389A0F92}" destId="{5A02E71B-2C78-495B-B0C5-EECEC8CAF54C}" srcOrd="0" destOrd="0" parTransId="{28DD6B13-3ADE-4F3E-8AB8-43B85AB567B6}" sibTransId="{D9B750CA-5D66-4BE3-A57A-7E529C9C9314}"/>
    <dgm:cxn modelId="{5BA3F38E-E1B0-4D0C-BD88-A468FB0818F2}" type="presOf" srcId="{4AC447A3-3923-4C66-9E6E-9E85452007A2}" destId="{D772C529-9144-4F64-AC62-C41998E87A93}" srcOrd="0" destOrd="0" presId="urn:microsoft.com/office/officeart/2005/8/layout/hierarchy4"/>
    <dgm:cxn modelId="{A7553C0C-489D-471C-AAB6-F8FE0699A02E}" type="presOf" srcId="{078891F9-34FA-4EF4-89D8-5A412AD764F4}" destId="{F381CC4E-322C-45E6-B7E7-4ED70FA8CF2E}" srcOrd="0" destOrd="0" presId="urn:microsoft.com/office/officeart/2005/8/layout/hierarchy4"/>
    <dgm:cxn modelId="{8B8FD01C-7374-4520-A993-CABF85F0D4E0}" type="presOf" srcId="{0453551A-5977-423D-B5EC-B8426DA6E162}" destId="{49899EA7-F8C0-4BB7-A6AD-5F40B1731420}" srcOrd="0" destOrd="0" presId="urn:microsoft.com/office/officeart/2005/8/layout/hierarchy4"/>
    <dgm:cxn modelId="{13DAA706-1759-414C-A9E1-D7C4BBDA2A67}" srcId="{FA7BE1A0-586E-4E75-A7A2-8E8D9C81DB65}" destId="{194B30E0-BBF3-4013-AA95-F36A73A99BE9}" srcOrd="0" destOrd="0" parTransId="{F1920C41-8FA1-43C2-947F-37DE49CDBC93}" sibTransId="{7339F0ED-B46A-44B7-8FEC-EC74442AAED0}"/>
    <dgm:cxn modelId="{DFB0CF12-3CDA-449C-8B95-F600015C40A7}" type="presOf" srcId="{354A271C-6390-4DF4-9AC0-ADE68E742430}" destId="{1F36E606-4D05-483A-959D-7AFAA3F99964}"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61C9BC5-B29F-48D4-9051-8080622C2265}" type="doc">
      <dgm:prSet loTypeId="urn:microsoft.com/office/officeart/2005/8/layout/hList1" loCatId="list" qsTypeId="urn:microsoft.com/office/officeart/2005/8/quickstyle/simple1" qsCatId="simple" csTypeId="urn:microsoft.com/office/officeart/2005/8/colors/colorful4" csCatId="colorful" phldr="1"/>
      <dgm:spPr/>
      <dgm:t>
        <a:bodyPr/>
        <a:lstStyle/>
        <a:p>
          <a:endParaRPr lang="zh-CN" altLang="en-US"/>
        </a:p>
      </dgm:t>
    </dgm:pt>
    <dgm:pt modelId="{1F6D49FA-F901-4B50-ADEC-FB4488F0ECDE}">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递归查询</a:t>
          </a:r>
          <a:endParaRPr lang="zh-CN" altLang="en-US" sz="1800" b="1" dirty="0">
            <a:latin typeface="微软雅黑" panose="020B0503020204020204" pitchFamily="34" charset="-122"/>
            <a:ea typeface="微软雅黑" panose="020B0503020204020204" pitchFamily="34" charset="-122"/>
          </a:endParaRPr>
        </a:p>
      </dgm:t>
    </dgm:pt>
    <dgm:pt modelId="{3BCE62CD-17F6-4BDE-88CF-B2E57C113250}" cxnId="{B8FBCF65-8CE6-4959-A94A-4AFCB263801D}"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12D40E-2867-4325-981C-5EED6888713A}" cxnId="{B8FBCF65-8CE6-4959-A94A-4AFCB263801D}"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7353B7C-3B7F-483A-9D5D-EF2CA979FE0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通常，主机向本地域名服务器查询时使用。</a:t>
          </a:r>
          <a:endParaRPr lang="zh-CN" altLang="en-US" sz="1600" b="1" dirty="0">
            <a:latin typeface="微软雅黑" panose="020B0503020204020204" pitchFamily="34" charset="-122"/>
            <a:ea typeface="微软雅黑" panose="020B0503020204020204" pitchFamily="34" charset="-122"/>
          </a:endParaRPr>
        </a:p>
      </dgm:t>
    </dgm:pt>
    <dgm:pt modelId="{BCE185A7-04EA-450F-8DE8-10725E84408C}" cxnId="{D31F8A4A-4BE7-48FE-B7E3-22A5225B721F}"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49DC585-CA63-48CC-A0DD-6DDF763B9D5E}" cxnId="{D31F8A4A-4BE7-48FE-B7E3-22A5225B721F}"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3C1C06F-F101-4097-8E76-7221602C9DCD}">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若不知道，就以 </a:t>
          </a:r>
          <a:r>
            <a:rPr lang="en-US" altLang="en-US" sz="1600" b="1" dirty="0" smtClean="0">
              <a:latin typeface="微软雅黑" panose="020B0503020204020204" pitchFamily="34" charset="-122"/>
              <a:ea typeface="微软雅黑" panose="020B0503020204020204" pitchFamily="34" charset="-122"/>
            </a:rPr>
            <a:t>DNS </a:t>
          </a:r>
          <a:r>
            <a:rPr lang="zh-CN" altLang="en-US" sz="1600" b="1" dirty="0" smtClean="0">
              <a:latin typeface="微软雅黑" panose="020B0503020204020204" pitchFamily="34" charset="-122"/>
              <a:ea typeface="微软雅黑" panose="020B0503020204020204" pitchFamily="34" charset="-122"/>
            </a:rPr>
            <a:t>客户的身份，向其他根域名服务器继续发出查询请求报文。</a:t>
          </a:r>
          <a:endParaRPr lang="zh-CN" altLang="en-US" sz="1600" b="1" dirty="0">
            <a:latin typeface="微软雅黑" panose="020B0503020204020204" pitchFamily="34" charset="-122"/>
            <a:ea typeface="微软雅黑" panose="020B0503020204020204" pitchFamily="34" charset="-122"/>
          </a:endParaRPr>
        </a:p>
      </dgm:t>
    </dgm:pt>
    <dgm:pt modelId="{394E42C2-1DBF-4E2F-9E18-2CBF2BCF68B0}" cxnId="{EE3D05E0-647B-4AE0-9969-EF9A6CEF939E}"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12E8C54-A45B-4F19-A2E1-DFAF120AE3AC}" cxnId="{EE3D05E0-647B-4AE0-9969-EF9A6CEF939E}"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4C27B1A-540E-4AE1-A0FA-2373F8C7C00D}">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迭代查询</a:t>
          </a:r>
          <a:endParaRPr lang="zh-CN" altLang="en-US" sz="1800" b="1" dirty="0">
            <a:latin typeface="微软雅黑" panose="020B0503020204020204" pitchFamily="34" charset="-122"/>
            <a:ea typeface="微软雅黑" panose="020B0503020204020204" pitchFamily="34" charset="-122"/>
          </a:endParaRPr>
        </a:p>
      </dgm:t>
    </dgm:pt>
    <dgm:pt modelId="{2AF68E5C-339F-43E9-9BD8-1A6F133890E6}" cxnId="{E3527060-511E-407B-94F7-F1B7A8110B43}"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0BBCA65-D6FF-4282-863E-E4E8ADE1401C}" cxnId="{E3527060-511E-407B-94F7-F1B7A8110B43}"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4ED0C5A-041D-4179-B2D9-667F95556395}">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本地域名服务器向根域名服务器查询时使用。</a:t>
          </a:r>
          <a:endParaRPr lang="zh-CN" altLang="en-US" sz="1600" b="1" dirty="0">
            <a:latin typeface="微软雅黑" panose="020B0503020204020204" pitchFamily="34" charset="-122"/>
            <a:ea typeface="微软雅黑" panose="020B0503020204020204" pitchFamily="34" charset="-122"/>
          </a:endParaRPr>
        </a:p>
      </dgm:t>
    </dgm:pt>
    <dgm:pt modelId="{9EA42626-615E-4243-9D5E-9458C4479806}" cxnId="{AC98711B-30F1-4F9A-90F2-E5CCA3B9A35E}"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42AF108-920E-4047-82C5-21EF27E335D8}" cxnId="{AC98711B-30F1-4F9A-90F2-E5CCA3B9A35E}"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99DE165-A6A2-4E3C-8084-9A776539F414}">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要么给出所要查询的 </a:t>
          </a:r>
          <a:r>
            <a:rPr lang="en-US" altLang="en-US"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地址，要么告诉下一个要查询的域名服务器的 </a:t>
          </a:r>
          <a:r>
            <a:rPr lang="en-US" altLang="zh-CN"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a:t>
          </a:r>
        </a:p>
      </dgm:t>
    </dgm:pt>
    <dgm:pt modelId="{15A961B9-3A0A-4FA7-8F0F-40C05929148C}" cxnId="{8797336C-4331-4DC2-AE25-347037722617}" type="parTrans">
      <dgm:prSet/>
      <dgm:spPr/>
      <dgm:t>
        <a:bodyPr/>
        <a:lstStyle/>
        <a:p>
          <a:endParaRPr lang="zh-CN" altLang="en-US" sz="1600"/>
        </a:p>
      </dgm:t>
    </dgm:pt>
    <dgm:pt modelId="{39426DE8-50A8-4767-823C-76D6C28D84CD}" cxnId="{8797336C-4331-4DC2-AE25-347037722617}" type="sibTrans">
      <dgm:prSet/>
      <dgm:spPr/>
      <dgm:t>
        <a:bodyPr/>
        <a:lstStyle/>
        <a:p>
          <a:endParaRPr lang="zh-CN" altLang="en-US" sz="1600"/>
        </a:p>
      </dgm:t>
    </dgm:pt>
    <dgm:pt modelId="{888A2276-89F3-4140-9592-FE63CBE9FC6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本地域名服务器继续后续查询。</a:t>
          </a:r>
        </a:p>
      </dgm:t>
    </dgm:pt>
    <dgm:pt modelId="{818B4799-89CB-4238-BB9D-472D60B40326}" cxnId="{748B2594-474D-425B-8D6A-157BB949C56E}" type="parTrans">
      <dgm:prSet/>
      <dgm:spPr/>
      <dgm:t>
        <a:bodyPr/>
        <a:lstStyle/>
        <a:p>
          <a:endParaRPr lang="zh-CN" altLang="en-US"/>
        </a:p>
      </dgm:t>
    </dgm:pt>
    <dgm:pt modelId="{91715877-E58D-486D-8BF0-DC8A4048A0A2}" cxnId="{748B2594-474D-425B-8D6A-157BB949C56E}" type="sibTrans">
      <dgm:prSet/>
      <dgm:spPr/>
      <dgm:t>
        <a:bodyPr/>
        <a:lstStyle/>
        <a:p>
          <a:endParaRPr lang="zh-CN" altLang="en-US"/>
        </a:p>
      </dgm:t>
    </dgm:pt>
    <dgm:pt modelId="{855C61C3-9681-46A9-85A5-1E65B56A782C}" type="pres">
      <dgm:prSet presAssocID="{361C9BC5-B29F-48D4-9051-8080622C2265}" presName="Name0" presStyleCnt="0">
        <dgm:presLayoutVars>
          <dgm:dir/>
          <dgm:animLvl val="lvl"/>
          <dgm:resizeHandles val="exact"/>
        </dgm:presLayoutVars>
      </dgm:prSet>
      <dgm:spPr/>
      <dgm:t>
        <a:bodyPr/>
        <a:lstStyle/>
        <a:p>
          <a:endParaRPr lang="zh-CN" altLang="en-US"/>
        </a:p>
      </dgm:t>
    </dgm:pt>
    <dgm:pt modelId="{C9C28BD1-EF4F-4CA1-9BA9-72A7B8BFFCFD}" type="pres">
      <dgm:prSet presAssocID="{1F6D49FA-F901-4B50-ADEC-FB4488F0ECDE}" presName="composite" presStyleCnt="0"/>
      <dgm:spPr/>
    </dgm:pt>
    <dgm:pt modelId="{CD69D0B0-1884-46A2-8F10-145B05B89842}" type="pres">
      <dgm:prSet presAssocID="{1F6D49FA-F901-4B50-ADEC-FB4488F0ECDE}" presName="parTx" presStyleLbl="alignNode1" presStyleIdx="0" presStyleCnt="2">
        <dgm:presLayoutVars>
          <dgm:chMax val="0"/>
          <dgm:chPref val="0"/>
          <dgm:bulletEnabled val="1"/>
        </dgm:presLayoutVars>
      </dgm:prSet>
      <dgm:spPr/>
      <dgm:t>
        <a:bodyPr/>
        <a:lstStyle/>
        <a:p>
          <a:endParaRPr lang="zh-CN" altLang="en-US"/>
        </a:p>
      </dgm:t>
    </dgm:pt>
    <dgm:pt modelId="{03A5736B-9407-4E51-943F-C4127641647B}" type="pres">
      <dgm:prSet presAssocID="{1F6D49FA-F901-4B50-ADEC-FB4488F0ECDE}" presName="desTx" presStyleLbl="alignAccFollowNode1" presStyleIdx="0" presStyleCnt="2">
        <dgm:presLayoutVars>
          <dgm:bulletEnabled val="1"/>
        </dgm:presLayoutVars>
      </dgm:prSet>
      <dgm:spPr/>
      <dgm:t>
        <a:bodyPr/>
        <a:lstStyle/>
        <a:p>
          <a:endParaRPr lang="zh-CN" altLang="en-US"/>
        </a:p>
      </dgm:t>
    </dgm:pt>
    <dgm:pt modelId="{E002B729-091C-462E-96C9-907AFB120A8D}" type="pres">
      <dgm:prSet presAssocID="{C712D40E-2867-4325-981C-5EED6888713A}" presName="space" presStyleCnt="0"/>
      <dgm:spPr/>
    </dgm:pt>
    <dgm:pt modelId="{7C58811D-8D19-40CE-89EC-CCE20868CD33}" type="pres">
      <dgm:prSet presAssocID="{B4C27B1A-540E-4AE1-A0FA-2373F8C7C00D}" presName="composite" presStyleCnt="0"/>
      <dgm:spPr/>
    </dgm:pt>
    <dgm:pt modelId="{B2079A84-D30A-43B1-81D6-28B09A3A7626}" type="pres">
      <dgm:prSet presAssocID="{B4C27B1A-540E-4AE1-A0FA-2373F8C7C00D}" presName="parTx" presStyleLbl="alignNode1" presStyleIdx="1" presStyleCnt="2">
        <dgm:presLayoutVars>
          <dgm:chMax val="0"/>
          <dgm:chPref val="0"/>
          <dgm:bulletEnabled val="1"/>
        </dgm:presLayoutVars>
      </dgm:prSet>
      <dgm:spPr/>
      <dgm:t>
        <a:bodyPr/>
        <a:lstStyle/>
        <a:p>
          <a:endParaRPr lang="zh-CN" altLang="en-US"/>
        </a:p>
      </dgm:t>
    </dgm:pt>
    <dgm:pt modelId="{802EC7D4-495D-4461-A980-1E7E46187315}" type="pres">
      <dgm:prSet presAssocID="{B4C27B1A-540E-4AE1-A0FA-2373F8C7C00D}" presName="desTx" presStyleLbl="alignAccFollowNode1" presStyleIdx="1" presStyleCnt="2">
        <dgm:presLayoutVars>
          <dgm:bulletEnabled val="1"/>
        </dgm:presLayoutVars>
      </dgm:prSet>
      <dgm:spPr/>
      <dgm:t>
        <a:bodyPr/>
        <a:lstStyle/>
        <a:p>
          <a:endParaRPr lang="zh-CN" altLang="en-US"/>
        </a:p>
      </dgm:t>
    </dgm:pt>
  </dgm:ptLst>
  <dgm:cxnLst>
    <dgm:cxn modelId="{D31F8A4A-4BE7-48FE-B7E3-22A5225B721F}" srcId="{1F6D49FA-F901-4B50-ADEC-FB4488F0ECDE}" destId="{A7353B7C-3B7F-483A-9D5D-EF2CA979FE0F}" srcOrd="0" destOrd="0" parTransId="{BCE185A7-04EA-450F-8DE8-10725E84408C}" sibTransId="{949DC585-CA63-48CC-A0DD-6DDF763B9D5E}"/>
    <dgm:cxn modelId="{C8999BBC-2F22-4036-BE2F-27BE3D94CD58}" type="presOf" srcId="{C99DE165-A6A2-4E3C-8084-9A776539F414}" destId="{802EC7D4-495D-4461-A980-1E7E46187315}" srcOrd="0" destOrd="1" presId="urn:microsoft.com/office/officeart/2005/8/layout/hList1"/>
    <dgm:cxn modelId="{AC98711B-30F1-4F9A-90F2-E5CCA3B9A35E}" srcId="{B4C27B1A-540E-4AE1-A0FA-2373F8C7C00D}" destId="{E4ED0C5A-041D-4179-B2D9-667F95556395}" srcOrd="0" destOrd="0" parTransId="{9EA42626-615E-4243-9D5E-9458C4479806}" sibTransId="{242AF108-920E-4047-82C5-21EF27E335D8}"/>
    <dgm:cxn modelId="{7588A984-A004-4D3A-B9AD-8EBCD3E5E060}" type="presOf" srcId="{1F6D49FA-F901-4B50-ADEC-FB4488F0ECDE}" destId="{CD69D0B0-1884-46A2-8F10-145B05B89842}" srcOrd="0" destOrd="0" presId="urn:microsoft.com/office/officeart/2005/8/layout/hList1"/>
    <dgm:cxn modelId="{E3527060-511E-407B-94F7-F1B7A8110B43}" srcId="{361C9BC5-B29F-48D4-9051-8080622C2265}" destId="{B4C27B1A-540E-4AE1-A0FA-2373F8C7C00D}" srcOrd="1" destOrd="0" parTransId="{2AF68E5C-339F-43E9-9BD8-1A6F133890E6}" sibTransId="{D0BBCA65-D6FF-4282-863E-E4E8ADE1401C}"/>
    <dgm:cxn modelId="{0E812949-F4E6-4FAE-A911-F22FFCB65A29}" type="presOf" srcId="{A7353B7C-3B7F-483A-9D5D-EF2CA979FE0F}" destId="{03A5736B-9407-4E51-943F-C4127641647B}" srcOrd="0" destOrd="0" presId="urn:microsoft.com/office/officeart/2005/8/layout/hList1"/>
    <dgm:cxn modelId="{BE63DE9B-CDE6-4C28-B84D-A080B2864CB1}" type="presOf" srcId="{B4C27B1A-540E-4AE1-A0FA-2373F8C7C00D}" destId="{B2079A84-D30A-43B1-81D6-28B09A3A7626}" srcOrd="0" destOrd="0" presId="urn:microsoft.com/office/officeart/2005/8/layout/hList1"/>
    <dgm:cxn modelId="{90A5E980-4063-4E8B-B918-C4BAF3B1F2BA}" type="presOf" srcId="{B3C1C06F-F101-4097-8E76-7221602C9DCD}" destId="{03A5736B-9407-4E51-943F-C4127641647B}" srcOrd="0" destOrd="1" presId="urn:microsoft.com/office/officeart/2005/8/layout/hList1"/>
    <dgm:cxn modelId="{B8FBCF65-8CE6-4959-A94A-4AFCB263801D}" srcId="{361C9BC5-B29F-48D4-9051-8080622C2265}" destId="{1F6D49FA-F901-4B50-ADEC-FB4488F0ECDE}" srcOrd="0" destOrd="0" parTransId="{3BCE62CD-17F6-4BDE-88CF-B2E57C113250}" sibTransId="{C712D40E-2867-4325-981C-5EED6888713A}"/>
    <dgm:cxn modelId="{EE3D05E0-647B-4AE0-9969-EF9A6CEF939E}" srcId="{1F6D49FA-F901-4B50-ADEC-FB4488F0ECDE}" destId="{B3C1C06F-F101-4097-8E76-7221602C9DCD}" srcOrd="1" destOrd="0" parTransId="{394E42C2-1DBF-4E2F-9E18-2CBF2BCF68B0}" sibTransId="{512E8C54-A45B-4F19-A2E1-DFAF120AE3AC}"/>
    <dgm:cxn modelId="{FB5B8E72-0B22-4D45-99E3-6EC7140F0AB3}" type="presOf" srcId="{361C9BC5-B29F-48D4-9051-8080622C2265}" destId="{855C61C3-9681-46A9-85A5-1E65B56A782C}" srcOrd="0" destOrd="0" presId="urn:microsoft.com/office/officeart/2005/8/layout/hList1"/>
    <dgm:cxn modelId="{5D0AE4FB-E321-463C-B9B1-FD65C5AF83CD}" type="presOf" srcId="{E4ED0C5A-041D-4179-B2D9-667F95556395}" destId="{802EC7D4-495D-4461-A980-1E7E46187315}" srcOrd="0" destOrd="0" presId="urn:microsoft.com/office/officeart/2005/8/layout/hList1"/>
    <dgm:cxn modelId="{748B2594-474D-425B-8D6A-157BB949C56E}" srcId="{B4C27B1A-540E-4AE1-A0FA-2373F8C7C00D}" destId="{888A2276-89F3-4140-9592-FE63CBE9FC6F}" srcOrd="2" destOrd="0" parTransId="{818B4799-89CB-4238-BB9D-472D60B40326}" sibTransId="{91715877-E58D-486D-8BF0-DC8A4048A0A2}"/>
    <dgm:cxn modelId="{9018C1BE-37B3-488E-A8BA-C8A16612C9FC}" type="presOf" srcId="{888A2276-89F3-4140-9592-FE63CBE9FC6F}" destId="{802EC7D4-495D-4461-A980-1E7E46187315}" srcOrd="0" destOrd="2" presId="urn:microsoft.com/office/officeart/2005/8/layout/hList1"/>
    <dgm:cxn modelId="{8797336C-4331-4DC2-AE25-347037722617}" srcId="{B4C27B1A-540E-4AE1-A0FA-2373F8C7C00D}" destId="{C99DE165-A6A2-4E3C-8084-9A776539F414}" srcOrd="1" destOrd="0" parTransId="{15A961B9-3A0A-4FA7-8F0F-40C05929148C}" sibTransId="{39426DE8-50A8-4767-823C-76D6C28D84CD}"/>
    <dgm:cxn modelId="{88BF604C-1904-459E-B3C1-82432CC3C6AA}" type="presParOf" srcId="{855C61C3-9681-46A9-85A5-1E65B56A782C}" destId="{C9C28BD1-EF4F-4CA1-9BA9-72A7B8BFFCFD}" srcOrd="0" destOrd="0" presId="urn:microsoft.com/office/officeart/2005/8/layout/hList1"/>
    <dgm:cxn modelId="{8D44B271-6CFA-498C-9A7C-9B0866F8B7E8}" type="presParOf" srcId="{C9C28BD1-EF4F-4CA1-9BA9-72A7B8BFFCFD}" destId="{CD69D0B0-1884-46A2-8F10-145B05B89842}" srcOrd="0" destOrd="0" presId="urn:microsoft.com/office/officeart/2005/8/layout/hList1"/>
    <dgm:cxn modelId="{E6030247-9935-40B7-97A0-29A74D32B9B3}" type="presParOf" srcId="{C9C28BD1-EF4F-4CA1-9BA9-72A7B8BFFCFD}" destId="{03A5736B-9407-4E51-943F-C4127641647B}" srcOrd="1" destOrd="0" presId="urn:microsoft.com/office/officeart/2005/8/layout/hList1"/>
    <dgm:cxn modelId="{7A0C3FFE-0952-48F8-A6F9-DFCD5564103D}" type="presParOf" srcId="{855C61C3-9681-46A9-85A5-1E65B56A782C}" destId="{E002B729-091C-462E-96C9-907AFB120A8D}" srcOrd="1" destOrd="0" presId="urn:microsoft.com/office/officeart/2005/8/layout/hList1"/>
    <dgm:cxn modelId="{607FB96D-1A3C-4ABF-B086-75C824EE5DFA}" type="presParOf" srcId="{855C61C3-9681-46A9-85A5-1E65B56A782C}" destId="{7C58811D-8D19-40CE-89EC-CCE20868CD33}" srcOrd="2" destOrd="0" presId="urn:microsoft.com/office/officeart/2005/8/layout/hList1"/>
    <dgm:cxn modelId="{CD61260C-10A3-495F-B435-EF004E25E192}" type="presParOf" srcId="{7C58811D-8D19-40CE-89EC-CCE20868CD33}" destId="{B2079A84-D30A-43B1-81D6-28B09A3A7626}" srcOrd="0" destOrd="0" presId="urn:microsoft.com/office/officeart/2005/8/layout/hList1"/>
    <dgm:cxn modelId="{D65B1510-D8CD-42E0-B790-D98AD9EADCD5}" type="presParOf" srcId="{7C58811D-8D19-40CE-89EC-CCE20868CD33}" destId="{802EC7D4-495D-4461-A980-1E7E46187315}"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D4ABD43-DDCE-4440-B189-B8BC99419A8C}"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zh-CN" altLang="en-US"/>
        </a:p>
      </dgm:t>
    </dgm:pt>
    <dgm:pt modelId="{6B1D83A1-F256-427B-A1DC-7ADE79857098}">
      <dgm:prSet custT="1"/>
      <dgm:spPr>
        <a:solidFill>
          <a:srgbClr val="0070C0"/>
        </a:solidFill>
      </dgm:spPr>
      <dgm:t>
        <a:bodyPr/>
        <a:lstStyle/>
        <a:p>
          <a:pPr rtl="0"/>
          <a:r>
            <a:rPr lang="en-US" altLang="zh-CN" sz="14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方法（操作）</a:t>
          </a:r>
          <a:r>
            <a:rPr lang="en-US" sz="16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意义</a:t>
          </a:r>
          <a:endParaRPr lang="zh-CN" sz="1600" dirty="0">
            <a:solidFill>
              <a:schemeClr val="bg1"/>
            </a:solidFill>
            <a:latin typeface="微软雅黑" panose="020B0503020204020204" pitchFamily="34" charset="-122"/>
            <a:ea typeface="微软雅黑" panose="020B0503020204020204" pitchFamily="34" charset="-122"/>
          </a:endParaRPr>
        </a:p>
      </dgm:t>
    </dgm:pt>
    <dgm:pt modelId="{27CE23E2-20D6-4DA6-8FDE-164A9143B325}" cxnId="{F05DA65B-F8ED-4E81-94E7-A2A3A92D746E}" type="parTrans">
      <dgm:prSet/>
      <dgm:spPr/>
      <dgm:t>
        <a:bodyPr/>
        <a:lstStyle/>
        <a:p>
          <a:endParaRPr lang="zh-CN" altLang="en-US" sz="2000"/>
        </a:p>
      </dgm:t>
    </dgm:pt>
    <dgm:pt modelId="{04EB3969-0881-486F-B9ED-3D997F33DE3D}" cxnId="{F05DA65B-F8ED-4E81-94E7-A2A3A92D746E}" type="sibTrans">
      <dgm:prSet/>
      <dgm:spPr/>
      <dgm:t>
        <a:bodyPr/>
        <a:lstStyle/>
        <a:p>
          <a:endParaRPr lang="zh-CN" altLang="en-US" sz="2000"/>
        </a:p>
      </dgm:t>
    </dgm:pt>
    <dgm:pt modelId="{14A0F9A2-BA5E-473C-A26A-07D95F39FF2B}">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OPTION		  </a:t>
          </a:r>
          <a:r>
            <a:rPr lang="zh-CN" sz="1400" b="1" dirty="0" smtClean="0">
              <a:solidFill>
                <a:schemeClr val="tx1"/>
              </a:solidFill>
              <a:latin typeface="微软雅黑" panose="020B0503020204020204" pitchFamily="34" charset="-122"/>
              <a:ea typeface="微软雅黑" panose="020B0503020204020204" pitchFamily="34" charset="-122"/>
            </a:rPr>
            <a:t>请求一些选项的信息</a:t>
          </a:r>
          <a:endParaRPr lang="zh-CN" sz="1400" dirty="0">
            <a:solidFill>
              <a:schemeClr val="tx1"/>
            </a:solidFill>
            <a:latin typeface="微软雅黑" panose="020B0503020204020204" pitchFamily="34" charset="-122"/>
            <a:ea typeface="微软雅黑" panose="020B0503020204020204" pitchFamily="34" charset="-122"/>
          </a:endParaRPr>
        </a:p>
      </dgm:t>
    </dgm:pt>
    <dgm:pt modelId="{F428299F-92F4-4EC3-8F69-F35A1F2197D3}" cxnId="{1F5B8AB9-56BA-4B3C-93A2-CD67F067C1A5}" type="parTrans">
      <dgm:prSet/>
      <dgm:spPr/>
      <dgm:t>
        <a:bodyPr/>
        <a:lstStyle/>
        <a:p>
          <a:endParaRPr lang="zh-CN" altLang="en-US" sz="2000"/>
        </a:p>
      </dgm:t>
    </dgm:pt>
    <dgm:pt modelId="{09F3E21C-1E3E-4245-BD23-D7EF14018618}" cxnId="{1F5B8AB9-56BA-4B3C-93A2-CD67F067C1A5}" type="sibTrans">
      <dgm:prSet/>
      <dgm:spPr/>
      <dgm:t>
        <a:bodyPr/>
        <a:lstStyle/>
        <a:p>
          <a:endParaRPr lang="zh-CN" altLang="en-US" sz="2000"/>
        </a:p>
      </dgm:t>
    </dgm:pt>
    <dgm:pt modelId="{D32D8361-DF8C-48A0-8647-ACE46C5DA45A}">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GET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a:t>
          </a:r>
          <a:endParaRPr lang="zh-CN" sz="1400" dirty="0">
            <a:solidFill>
              <a:schemeClr val="tx1"/>
            </a:solidFill>
            <a:latin typeface="微软雅黑" panose="020B0503020204020204" pitchFamily="34" charset="-122"/>
            <a:ea typeface="微软雅黑" panose="020B0503020204020204" pitchFamily="34" charset="-122"/>
          </a:endParaRPr>
        </a:p>
      </dgm:t>
    </dgm:pt>
    <dgm:pt modelId="{47CA20CA-28BF-4089-8B81-7E9E84CA28B5}" cxnId="{C3922EF1-C25D-4D0E-A360-802694E5B206}" type="parTrans">
      <dgm:prSet/>
      <dgm:spPr/>
      <dgm:t>
        <a:bodyPr/>
        <a:lstStyle/>
        <a:p>
          <a:endParaRPr lang="zh-CN" altLang="en-US" sz="2000"/>
        </a:p>
      </dgm:t>
    </dgm:pt>
    <dgm:pt modelId="{9BD60071-19A1-4A88-A60A-8FB6F147096F}" cxnId="{C3922EF1-C25D-4D0E-A360-802694E5B206}" type="sibTrans">
      <dgm:prSet/>
      <dgm:spPr/>
      <dgm:t>
        <a:bodyPr/>
        <a:lstStyle/>
        <a:p>
          <a:endParaRPr lang="zh-CN" altLang="en-US" sz="2000"/>
        </a:p>
      </dgm:t>
    </dgm:pt>
    <dgm:pt modelId="{5F2F9BD6-F24E-4255-85FC-E2350396D805}">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HEAD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所标志的信息的首部</a:t>
          </a:r>
          <a:endParaRPr lang="zh-CN" sz="1400" dirty="0">
            <a:solidFill>
              <a:schemeClr val="tx1"/>
            </a:solidFill>
            <a:latin typeface="微软雅黑" panose="020B0503020204020204" pitchFamily="34" charset="-122"/>
            <a:ea typeface="微软雅黑" panose="020B0503020204020204" pitchFamily="34" charset="-122"/>
          </a:endParaRPr>
        </a:p>
      </dgm:t>
    </dgm:pt>
    <dgm:pt modelId="{01AAAC48-EC48-440E-A5E2-88572E88C756}" cxnId="{22E6D2E9-025D-4FE7-ADBC-975B6274EA23}" type="parTrans">
      <dgm:prSet/>
      <dgm:spPr/>
      <dgm:t>
        <a:bodyPr/>
        <a:lstStyle/>
        <a:p>
          <a:endParaRPr lang="zh-CN" altLang="en-US" sz="2000"/>
        </a:p>
      </dgm:t>
    </dgm:pt>
    <dgm:pt modelId="{1287D65E-3DAA-4426-89B8-BA3E376A4119}" cxnId="{22E6D2E9-025D-4FE7-ADBC-975B6274EA23}" type="sibTrans">
      <dgm:prSet/>
      <dgm:spPr/>
      <dgm:t>
        <a:bodyPr/>
        <a:lstStyle/>
        <a:p>
          <a:endParaRPr lang="zh-CN" altLang="en-US" sz="2000"/>
        </a:p>
      </dgm:t>
    </dgm:pt>
    <dgm:pt modelId="{B3D81C7E-05E3-49CF-989C-070CE891B722}">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POST     	    	  </a:t>
          </a:r>
          <a:r>
            <a:rPr lang="zh-CN" sz="1400" b="1" dirty="0" smtClean="0">
              <a:solidFill>
                <a:schemeClr val="tx1"/>
              </a:solidFill>
              <a:latin typeface="微软雅黑" panose="020B0503020204020204" pitchFamily="34" charset="-122"/>
              <a:ea typeface="微软雅黑" panose="020B0503020204020204" pitchFamily="34" charset="-122"/>
            </a:rPr>
            <a:t>给服务器添加信息（例如，注释）</a:t>
          </a:r>
          <a:endParaRPr lang="zh-CN" sz="1400" dirty="0">
            <a:solidFill>
              <a:schemeClr val="tx1"/>
            </a:solidFill>
            <a:latin typeface="微软雅黑" panose="020B0503020204020204" pitchFamily="34" charset="-122"/>
            <a:ea typeface="微软雅黑" panose="020B0503020204020204" pitchFamily="34" charset="-122"/>
          </a:endParaRPr>
        </a:p>
      </dgm:t>
    </dgm:pt>
    <dgm:pt modelId="{B5132612-45C6-41E7-B856-574DE76148DF}" cxnId="{6FB93842-5A12-41B3-86BF-64E06F25EF4F}" type="parTrans">
      <dgm:prSet/>
      <dgm:spPr/>
      <dgm:t>
        <a:bodyPr/>
        <a:lstStyle/>
        <a:p>
          <a:endParaRPr lang="zh-CN" altLang="en-US" sz="2000"/>
        </a:p>
      </dgm:t>
    </dgm:pt>
    <dgm:pt modelId="{967E2E43-1BFB-45FB-ABC6-E9B961CBA7DF}" cxnId="{6FB93842-5A12-41B3-86BF-64E06F25EF4F}" type="sibTrans">
      <dgm:prSet/>
      <dgm:spPr/>
      <dgm:t>
        <a:bodyPr/>
        <a:lstStyle/>
        <a:p>
          <a:endParaRPr lang="zh-CN" altLang="en-US" sz="2000"/>
        </a:p>
      </dgm:t>
    </dgm:pt>
    <dgm:pt modelId="{258A2F10-98A6-45AC-9A9C-BB262FDEF029}">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PUT			  </a:t>
          </a:r>
          <a:r>
            <a:rPr lang="zh-CN" sz="1400" b="1" dirty="0" smtClean="0">
              <a:solidFill>
                <a:schemeClr val="tx1"/>
              </a:solidFill>
              <a:latin typeface="微软雅黑" panose="020B0503020204020204" pitchFamily="34" charset="-122"/>
              <a:ea typeface="微软雅黑" panose="020B0503020204020204" pitchFamily="34" charset="-122"/>
            </a:rPr>
            <a:t>在指明的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下存储一个文档</a:t>
          </a:r>
          <a:endParaRPr lang="zh-CN" sz="1400" dirty="0">
            <a:solidFill>
              <a:schemeClr val="tx1"/>
            </a:solidFill>
            <a:latin typeface="微软雅黑" panose="020B0503020204020204" pitchFamily="34" charset="-122"/>
            <a:ea typeface="微软雅黑" panose="020B0503020204020204" pitchFamily="34" charset="-122"/>
          </a:endParaRPr>
        </a:p>
      </dgm:t>
    </dgm:pt>
    <dgm:pt modelId="{D2D2868A-62C4-410B-B3D8-7DF502EAB38D}" cxnId="{0E53C646-4BC7-40A4-8EBC-CB6A10ECCF93}" type="parTrans">
      <dgm:prSet/>
      <dgm:spPr/>
      <dgm:t>
        <a:bodyPr/>
        <a:lstStyle/>
        <a:p>
          <a:endParaRPr lang="zh-CN" altLang="en-US" sz="2000"/>
        </a:p>
      </dgm:t>
    </dgm:pt>
    <dgm:pt modelId="{196481A8-5918-4487-AE93-E8C148F56D79}" cxnId="{0E53C646-4BC7-40A4-8EBC-CB6A10ECCF93}" type="sibTrans">
      <dgm:prSet/>
      <dgm:spPr/>
      <dgm:t>
        <a:bodyPr/>
        <a:lstStyle/>
        <a:p>
          <a:endParaRPr lang="zh-CN" altLang="en-US" sz="2000"/>
        </a:p>
      </dgm:t>
    </dgm:pt>
    <dgm:pt modelId="{63AFF0E2-A007-4F85-97C5-0E10709F7E5C}">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DELETE		  </a:t>
          </a:r>
          <a:r>
            <a:rPr lang="zh-CN" sz="1400" b="1" dirty="0" smtClean="0">
              <a:solidFill>
                <a:schemeClr val="tx1"/>
              </a:solidFill>
              <a:latin typeface="微软雅黑" panose="020B0503020204020204" pitchFamily="34" charset="-122"/>
              <a:ea typeface="微软雅黑" panose="020B0503020204020204" pitchFamily="34" charset="-122"/>
            </a:rPr>
            <a:t>删除指明的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所标志的资源</a:t>
          </a:r>
          <a:endParaRPr lang="zh-CN" sz="1400" dirty="0">
            <a:solidFill>
              <a:schemeClr val="tx1"/>
            </a:solidFill>
            <a:latin typeface="微软雅黑" panose="020B0503020204020204" pitchFamily="34" charset="-122"/>
            <a:ea typeface="微软雅黑" panose="020B0503020204020204" pitchFamily="34" charset="-122"/>
          </a:endParaRPr>
        </a:p>
      </dgm:t>
    </dgm:pt>
    <dgm:pt modelId="{D6DDE952-B0DE-47D8-B71F-7EF423B3547D}" cxnId="{53A1F586-4C70-408A-97C9-D8C804FE3C81}" type="parTrans">
      <dgm:prSet/>
      <dgm:spPr/>
      <dgm:t>
        <a:bodyPr/>
        <a:lstStyle/>
        <a:p>
          <a:endParaRPr lang="zh-CN" altLang="en-US" sz="2000"/>
        </a:p>
      </dgm:t>
    </dgm:pt>
    <dgm:pt modelId="{4399A9B5-36A9-4B6F-8820-694DF2DF950C}" cxnId="{53A1F586-4C70-408A-97C9-D8C804FE3C81}" type="sibTrans">
      <dgm:prSet/>
      <dgm:spPr/>
      <dgm:t>
        <a:bodyPr/>
        <a:lstStyle/>
        <a:p>
          <a:endParaRPr lang="zh-CN" altLang="en-US" sz="2000"/>
        </a:p>
      </dgm:t>
    </dgm:pt>
    <dgm:pt modelId="{07B4F805-20D4-4BC2-A365-667098FF337D}">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TRACE			  </a:t>
          </a:r>
          <a:r>
            <a:rPr lang="zh-CN" sz="1400" b="1" dirty="0" smtClean="0">
              <a:solidFill>
                <a:schemeClr val="tx1"/>
              </a:solidFill>
              <a:latin typeface="微软雅黑" panose="020B0503020204020204" pitchFamily="34" charset="-122"/>
              <a:ea typeface="微软雅黑" panose="020B0503020204020204" pitchFamily="34" charset="-122"/>
            </a:rPr>
            <a:t>用来进行环回测试的请求报文</a:t>
          </a:r>
          <a:endParaRPr lang="zh-CN" sz="1400" dirty="0">
            <a:solidFill>
              <a:schemeClr val="tx1"/>
            </a:solidFill>
            <a:latin typeface="微软雅黑" panose="020B0503020204020204" pitchFamily="34" charset="-122"/>
            <a:ea typeface="微软雅黑" panose="020B0503020204020204" pitchFamily="34" charset="-122"/>
          </a:endParaRPr>
        </a:p>
      </dgm:t>
    </dgm:pt>
    <dgm:pt modelId="{E1C34BCD-65C7-4C0E-9A76-8FC4FE780A8E}" cxnId="{3CAC8A55-DD07-40E8-8A00-4729478CF17D}" type="parTrans">
      <dgm:prSet/>
      <dgm:spPr/>
      <dgm:t>
        <a:bodyPr/>
        <a:lstStyle/>
        <a:p>
          <a:endParaRPr lang="zh-CN" altLang="en-US" sz="2000"/>
        </a:p>
      </dgm:t>
    </dgm:pt>
    <dgm:pt modelId="{5CF980BE-E654-4424-8AA0-131C7CAB0A00}" cxnId="{3CAC8A55-DD07-40E8-8A00-4729478CF17D}" type="sibTrans">
      <dgm:prSet/>
      <dgm:spPr/>
      <dgm:t>
        <a:bodyPr/>
        <a:lstStyle/>
        <a:p>
          <a:endParaRPr lang="zh-CN" altLang="en-US" sz="2000"/>
        </a:p>
      </dgm:t>
    </dgm:pt>
    <dgm:pt modelId="{C616A960-C11D-48B4-BA4F-337251C61470}">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CONNECT		  </a:t>
          </a:r>
          <a:r>
            <a:rPr lang="zh-CN" sz="1400" b="1" dirty="0" smtClean="0">
              <a:solidFill>
                <a:schemeClr val="tx1"/>
              </a:solidFill>
              <a:latin typeface="微软雅黑" panose="020B0503020204020204" pitchFamily="34" charset="-122"/>
              <a:ea typeface="微软雅黑" panose="020B0503020204020204" pitchFamily="34" charset="-122"/>
            </a:rPr>
            <a:t>用于代理服务器</a:t>
          </a:r>
          <a:endParaRPr lang="zh-CN" sz="1400" dirty="0">
            <a:solidFill>
              <a:schemeClr val="tx1"/>
            </a:solidFill>
            <a:latin typeface="微软雅黑" panose="020B0503020204020204" pitchFamily="34" charset="-122"/>
            <a:ea typeface="微软雅黑" panose="020B0503020204020204" pitchFamily="34" charset="-122"/>
          </a:endParaRPr>
        </a:p>
      </dgm:t>
    </dgm:pt>
    <dgm:pt modelId="{5B569C4F-E263-4D62-874B-1A2E3B1B9E32}" cxnId="{721A12FC-6CA4-4E93-AE77-B928A1B14CE1}" type="parTrans">
      <dgm:prSet/>
      <dgm:spPr/>
      <dgm:t>
        <a:bodyPr/>
        <a:lstStyle/>
        <a:p>
          <a:endParaRPr lang="zh-CN" altLang="en-US" sz="2000"/>
        </a:p>
      </dgm:t>
    </dgm:pt>
    <dgm:pt modelId="{ECA1C154-7A47-4D18-B8BB-6870073C2A59}" cxnId="{721A12FC-6CA4-4E93-AE77-B928A1B14CE1}" type="sibTrans">
      <dgm:prSet/>
      <dgm:spPr/>
      <dgm:t>
        <a:bodyPr/>
        <a:lstStyle/>
        <a:p>
          <a:endParaRPr lang="zh-CN" altLang="en-US" sz="2000"/>
        </a:p>
      </dgm:t>
    </dgm:pt>
    <dgm:pt modelId="{F4952754-BFC9-4911-B4D0-7A50D557351A}" type="pres">
      <dgm:prSet presAssocID="{ED4ABD43-DDCE-4440-B189-B8BC99419A8C}" presName="linear" presStyleCnt="0">
        <dgm:presLayoutVars>
          <dgm:animLvl val="lvl"/>
          <dgm:resizeHandles val="exact"/>
        </dgm:presLayoutVars>
      </dgm:prSet>
      <dgm:spPr/>
      <dgm:t>
        <a:bodyPr/>
        <a:lstStyle/>
        <a:p>
          <a:endParaRPr lang="zh-CN" altLang="en-US"/>
        </a:p>
      </dgm:t>
    </dgm:pt>
    <dgm:pt modelId="{5F526FD6-3C16-45F7-931B-D3253D84A49B}" type="pres">
      <dgm:prSet presAssocID="{6B1D83A1-F256-427B-A1DC-7ADE79857098}" presName="parentText" presStyleLbl="node1" presStyleIdx="0" presStyleCnt="9">
        <dgm:presLayoutVars>
          <dgm:chMax val="0"/>
          <dgm:bulletEnabled val="1"/>
        </dgm:presLayoutVars>
      </dgm:prSet>
      <dgm:spPr/>
      <dgm:t>
        <a:bodyPr/>
        <a:lstStyle/>
        <a:p>
          <a:endParaRPr lang="zh-CN" altLang="en-US"/>
        </a:p>
      </dgm:t>
    </dgm:pt>
    <dgm:pt modelId="{70B8B93F-D17B-4288-8E8A-4E14EC79485F}" type="pres">
      <dgm:prSet presAssocID="{04EB3969-0881-486F-B9ED-3D997F33DE3D}" presName="spacer" presStyleCnt="0"/>
      <dgm:spPr/>
    </dgm:pt>
    <dgm:pt modelId="{50B73F1F-44EA-4F89-8398-75FE0BB22E10}" type="pres">
      <dgm:prSet presAssocID="{14A0F9A2-BA5E-473C-A26A-07D95F39FF2B}" presName="parentText" presStyleLbl="node1" presStyleIdx="1" presStyleCnt="9">
        <dgm:presLayoutVars>
          <dgm:chMax val="0"/>
          <dgm:bulletEnabled val="1"/>
        </dgm:presLayoutVars>
      </dgm:prSet>
      <dgm:spPr/>
      <dgm:t>
        <a:bodyPr/>
        <a:lstStyle/>
        <a:p>
          <a:endParaRPr lang="zh-CN" altLang="en-US"/>
        </a:p>
      </dgm:t>
    </dgm:pt>
    <dgm:pt modelId="{D34EC1E6-6907-428C-9D5F-AF01907B324C}" type="pres">
      <dgm:prSet presAssocID="{09F3E21C-1E3E-4245-BD23-D7EF14018618}" presName="spacer" presStyleCnt="0"/>
      <dgm:spPr/>
    </dgm:pt>
    <dgm:pt modelId="{FD5606E7-7379-4F33-830F-006516F4DFDB}" type="pres">
      <dgm:prSet presAssocID="{D32D8361-DF8C-48A0-8647-ACE46C5DA45A}" presName="parentText" presStyleLbl="node1" presStyleIdx="2" presStyleCnt="9">
        <dgm:presLayoutVars>
          <dgm:chMax val="0"/>
          <dgm:bulletEnabled val="1"/>
        </dgm:presLayoutVars>
      </dgm:prSet>
      <dgm:spPr/>
      <dgm:t>
        <a:bodyPr/>
        <a:lstStyle/>
        <a:p>
          <a:endParaRPr lang="zh-CN" altLang="en-US"/>
        </a:p>
      </dgm:t>
    </dgm:pt>
    <dgm:pt modelId="{A3A91749-FBEB-4655-AFB4-033C7D74953C}" type="pres">
      <dgm:prSet presAssocID="{9BD60071-19A1-4A88-A60A-8FB6F147096F}" presName="spacer" presStyleCnt="0"/>
      <dgm:spPr/>
    </dgm:pt>
    <dgm:pt modelId="{E1C3FBBC-EA1F-4BAD-A2D7-05E9F414FDC7}" type="pres">
      <dgm:prSet presAssocID="{5F2F9BD6-F24E-4255-85FC-E2350396D805}" presName="parentText" presStyleLbl="node1" presStyleIdx="3" presStyleCnt="9">
        <dgm:presLayoutVars>
          <dgm:chMax val="0"/>
          <dgm:bulletEnabled val="1"/>
        </dgm:presLayoutVars>
      </dgm:prSet>
      <dgm:spPr/>
      <dgm:t>
        <a:bodyPr/>
        <a:lstStyle/>
        <a:p>
          <a:endParaRPr lang="zh-CN" altLang="en-US"/>
        </a:p>
      </dgm:t>
    </dgm:pt>
    <dgm:pt modelId="{337E9823-B5CB-43BA-8F01-2BD744123BF2}" type="pres">
      <dgm:prSet presAssocID="{1287D65E-3DAA-4426-89B8-BA3E376A4119}" presName="spacer" presStyleCnt="0"/>
      <dgm:spPr/>
    </dgm:pt>
    <dgm:pt modelId="{0EB52B51-C389-4A36-BC05-864D852DF5FC}" type="pres">
      <dgm:prSet presAssocID="{B3D81C7E-05E3-49CF-989C-070CE891B722}" presName="parentText" presStyleLbl="node1" presStyleIdx="4" presStyleCnt="9">
        <dgm:presLayoutVars>
          <dgm:chMax val="0"/>
          <dgm:bulletEnabled val="1"/>
        </dgm:presLayoutVars>
      </dgm:prSet>
      <dgm:spPr/>
      <dgm:t>
        <a:bodyPr/>
        <a:lstStyle/>
        <a:p>
          <a:endParaRPr lang="zh-CN" altLang="en-US"/>
        </a:p>
      </dgm:t>
    </dgm:pt>
    <dgm:pt modelId="{2D368CEE-5AD2-460D-8088-9CA2F6997FA2}" type="pres">
      <dgm:prSet presAssocID="{967E2E43-1BFB-45FB-ABC6-E9B961CBA7DF}" presName="spacer" presStyleCnt="0"/>
      <dgm:spPr/>
    </dgm:pt>
    <dgm:pt modelId="{4E4C0534-037E-45A5-BADC-B7406AF7B1C3}" type="pres">
      <dgm:prSet presAssocID="{258A2F10-98A6-45AC-9A9C-BB262FDEF029}" presName="parentText" presStyleLbl="node1" presStyleIdx="5" presStyleCnt="9">
        <dgm:presLayoutVars>
          <dgm:chMax val="0"/>
          <dgm:bulletEnabled val="1"/>
        </dgm:presLayoutVars>
      </dgm:prSet>
      <dgm:spPr/>
      <dgm:t>
        <a:bodyPr/>
        <a:lstStyle/>
        <a:p>
          <a:endParaRPr lang="zh-CN" altLang="en-US"/>
        </a:p>
      </dgm:t>
    </dgm:pt>
    <dgm:pt modelId="{C039C7DD-0E08-48C1-A6EC-72D7F9D82548}" type="pres">
      <dgm:prSet presAssocID="{196481A8-5918-4487-AE93-E8C148F56D79}" presName="spacer" presStyleCnt="0"/>
      <dgm:spPr/>
    </dgm:pt>
    <dgm:pt modelId="{EC4E5CDF-5396-4684-B963-9679F944855F}" type="pres">
      <dgm:prSet presAssocID="{63AFF0E2-A007-4F85-97C5-0E10709F7E5C}" presName="parentText" presStyleLbl="node1" presStyleIdx="6" presStyleCnt="9">
        <dgm:presLayoutVars>
          <dgm:chMax val="0"/>
          <dgm:bulletEnabled val="1"/>
        </dgm:presLayoutVars>
      </dgm:prSet>
      <dgm:spPr/>
      <dgm:t>
        <a:bodyPr/>
        <a:lstStyle/>
        <a:p>
          <a:endParaRPr lang="zh-CN" altLang="en-US"/>
        </a:p>
      </dgm:t>
    </dgm:pt>
    <dgm:pt modelId="{E4EC7552-37A5-4003-B7CF-035B11AA3598}" type="pres">
      <dgm:prSet presAssocID="{4399A9B5-36A9-4B6F-8820-694DF2DF950C}" presName="spacer" presStyleCnt="0"/>
      <dgm:spPr/>
    </dgm:pt>
    <dgm:pt modelId="{21855FA6-2BB4-499A-A8A9-433441C6C9C7}" type="pres">
      <dgm:prSet presAssocID="{07B4F805-20D4-4BC2-A365-667098FF337D}" presName="parentText" presStyleLbl="node1" presStyleIdx="7" presStyleCnt="9">
        <dgm:presLayoutVars>
          <dgm:chMax val="0"/>
          <dgm:bulletEnabled val="1"/>
        </dgm:presLayoutVars>
      </dgm:prSet>
      <dgm:spPr/>
      <dgm:t>
        <a:bodyPr/>
        <a:lstStyle/>
        <a:p>
          <a:endParaRPr lang="zh-CN" altLang="en-US"/>
        </a:p>
      </dgm:t>
    </dgm:pt>
    <dgm:pt modelId="{66723406-0C3F-437D-80D6-FA1C8062C148}" type="pres">
      <dgm:prSet presAssocID="{5CF980BE-E654-4424-8AA0-131C7CAB0A00}" presName="spacer" presStyleCnt="0"/>
      <dgm:spPr/>
    </dgm:pt>
    <dgm:pt modelId="{08F040B1-2CBD-4876-96AA-45AF94F7D94E}" type="pres">
      <dgm:prSet presAssocID="{C616A960-C11D-48B4-BA4F-337251C61470}" presName="parentText" presStyleLbl="node1" presStyleIdx="8" presStyleCnt="9">
        <dgm:presLayoutVars>
          <dgm:chMax val="0"/>
          <dgm:bulletEnabled val="1"/>
        </dgm:presLayoutVars>
      </dgm:prSet>
      <dgm:spPr/>
      <dgm:t>
        <a:bodyPr/>
        <a:lstStyle/>
        <a:p>
          <a:endParaRPr lang="zh-CN" altLang="en-US"/>
        </a:p>
      </dgm:t>
    </dgm:pt>
  </dgm:ptLst>
  <dgm:cxnLst>
    <dgm:cxn modelId="{3DE9CDCC-39B1-4776-A172-C290216078E3}" type="presOf" srcId="{5F2F9BD6-F24E-4255-85FC-E2350396D805}" destId="{E1C3FBBC-EA1F-4BAD-A2D7-05E9F414FDC7}" srcOrd="0" destOrd="0" presId="urn:microsoft.com/office/officeart/2005/8/layout/vList2"/>
    <dgm:cxn modelId="{1AA63E50-9899-4EB9-9DC6-E5CFEBE9AA52}" type="presOf" srcId="{C616A960-C11D-48B4-BA4F-337251C61470}" destId="{08F040B1-2CBD-4876-96AA-45AF94F7D94E}" srcOrd="0" destOrd="0" presId="urn:microsoft.com/office/officeart/2005/8/layout/vList2"/>
    <dgm:cxn modelId="{53A1F586-4C70-408A-97C9-D8C804FE3C81}" srcId="{ED4ABD43-DDCE-4440-B189-B8BC99419A8C}" destId="{63AFF0E2-A007-4F85-97C5-0E10709F7E5C}" srcOrd="6" destOrd="0" parTransId="{D6DDE952-B0DE-47D8-B71F-7EF423B3547D}" sibTransId="{4399A9B5-36A9-4B6F-8820-694DF2DF950C}"/>
    <dgm:cxn modelId="{BA001C70-062E-4DD3-A57D-6BD7E453C49C}" type="presOf" srcId="{07B4F805-20D4-4BC2-A365-667098FF337D}" destId="{21855FA6-2BB4-499A-A8A9-433441C6C9C7}" srcOrd="0" destOrd="0" presId="urn:microsoft.com/office/officeart/2005/8/layout/vList2"/>
    <dgm:cxn modelId="{22E6D2E9-025D-4FE7-ADBC-975B6274EA23}" srcId="{ED4ABD43-DDCE-4440-B189-B8BC99419A8C}" destId="{5F2F9BD6-F24E-4255-85FC-E2350396D805}" srcOrd="3" destOrd="0" parTransId="{01AAAC48-EC48-440E-A5E2-88572E88C756}" sibTransId="{1287D65E-3DAA-4426-89B8-BA3E376A4119}"/>
    <dgm:cxn modelId="{A610C3C6-FD98-4CF8-8058-5E1E28A4F7E8}" type="presOf" srcId="{ED4ABD43-DDCE-4440-B189-B8BC99419A8C}" destId="{F4952754-BFC9-4911-B4D0-7A50D557351A}" srcOrd="0" destOrd="0" presId="urn:microsoft.com/office/officeart/2005/8/layout/vList2"/>
    <dgm:cxn modelId="{F05DA65B-F8ED-4E81-94E7-A2A3A92D746E}" srcId="{ED4ABD43-DDCE-4440-B189-B8BC99419A8C}" destId="{6B1D83A1-F256-427B-A1DC-7ADE79857098}" srcOrd="0" destOrd="0" parTransId="{27CE23E2-20D6-4DA6-8FDE-164A9143B325}" sibTransId="{04EB3969-0881-486F-B9ED-3D997F33DE3D}"/>
    <dgm:cxn modelId="{1F5B8AB9-56BA-4B3C-93A2-CD67F067C1A5}" srcId="{ED4ABD43-DDCE-4440-B189-B8BC99419A8C}" destId="{14A0F9A2-BA5E-473C-A26A-07D95F39FF2B}" srcOrd="1" destOrd="0" parTransId="{F428299F-92F4-4EC3-8F69-F35A1F2197D3}" sibTransId="{09F3E21C-1E3E-4245-BD23-D7EF14018618}"/>
    <dgm:cxn modelId="{C3922EF1-C25D-4D0E-A360-802694E5B206}" srcId="{ED4ABD43-DDCE-4440-B189-B8BC99419A8C}" destId="{D32D8361-DF8C-48A0-8647-ACE46C5DA45A}" srcOrd="2" destOrd="0" parTransId="{47CA20CA-28BF-4089-8B81-7E9E84CA28B5}" sibTransId="{9BD60071-19A1-4A88-A60A-8FB6F147096F}"/>
    <dgm:cxn modelId="{8FF67364-7DEB-49FE-8192-3E7830B06CAF}" type="presOf" srcId="{258A2F10-98A6-45AC-9A9C-BB262FDEF029}" destId="{4E4C0534-037E-45A5-BADC-B7406AF7B1C3}" srcOrd="0" destOrd="0" presId="urn:microsoft.com/office/officeart/2005/8/layout/vList2"/>
    <dgm:cxn modelId="{D69FD6EE-E9E5-43FF-86CA-09AFA75CB2C2}" type="presOf" srcId="{D32D8361-DF8C-48A0-8647-ACE46C5DA45A}" destId="{FD5606E7-7379-4F33-830F-006516F4DFDB}" srcOrd="0" destOrd="0" presId="urn:microsoft.com/office/officeart/2005/8/layout/vList2"/>
    <dgm:cxn modelId="{721A12FC-6CA4-4E93-AE77-B928A1B14CE1}" srcId="{ED4ABD43-DDCE-4440-B189-B8BC99419A8C}" destId="{C616A960-C11D-48B4-BA4F-337251C61470}" srcOrd="8" destOrd="0" parTransId="{5B569C4F-E263-4D62-874B-1A2E3B1B9E32}" sibTransId="{ECA1C154-7A47-4D18-B8BB-6870073C2A59}"/>
    <dgm:cxn modelId="{8346098B-6D4A-4876-BD6E-94E423230B8C}" type="presOf" srcId="{63AFF0E2-A007-4F85-97C5-0E10709F7E5C}" destId="{EC4E5CDF-5396-4684-B963-9679F944855F}" srcOrd="0" destOrd="0" presId="urn:microsoft.com/office/officeart/2005/8/layout/vList2"/>
    <dgm:cxn modelId="{0E29C981-1B57-48D5-876F-395BA29D6BA7}" type="presOf" srcId="{B3D81C7E-05E3-49CF-989C-070CE891B722}" destId="{0EB52B51-C389-4A36-BC05-864D852DF5FC}" srcOrd="0" destOrd="0" presId="urn:microsoft.com/office/officeart/2005/8/layout/vList2"/>
    <dgm:cxn modelId="{3CAC8A55-DD07-40E8-8A00-4729478CF17D}" srcId="{ED4ABD43-DDCE-4440-B189-B8BC99419A8C}" destId="{07B4F805-20D4-4BC2-A365-667098FF337D}" srcOrd="7" destOrd="0" parTransId="{E1C34BCD-65C7-4C0E-9A76-8FC4FE780A8E}" sibTransId="{5CF980BE-E654-4424-8AA0-131C7CAB0A00}"/>
    <dgm:cxn modelId="{0540C91C-EAF7-4EFA-B74E-527657268102}" type="presOf" srcId="{6B1D83A1-F256-427B-A1DC-7ADE79857098}" destId="{5F526FD6-3C16-45F7-931B-D3253D84A49B}" srcOrd="0" destOrd="0" presId="urn:microsoft.com/office/officeart/2005/8/layout/vList2"/>
    <dgm:cxn modelId="{6FB93842-5A12-41B3-86BF-64E06F25EF4F}" srcId="{ED4ABD43-DDCE-4440-B189-B8BC99419A8C}" destId="{B3D81C7E-05E3-49CF-989C-070CE891B722}" srcOrd="4" destOrd="0" parTransId="{B5132612-45C6-41E7-B856-574DE76148DF}" sibTransId="{967E2E43-1BFB-45FB-ABC6-E9B961CBA7DF}"/>
    <dgm:cxn modelId="{0E53C646-4BC7-40A4-8EBC-CB6A10ECCF93}" srcId="{ED4ABD43-DDCE-4440-B189-B8BC99419A8C}" destId="{258A2F10-98A6-45AC-9A9C-BB262FDEF029}" srcOrd="5" destOrd="0" parTransId="{D2D2868A-62C4-410B-B3D8-7DF502EAB38D}" sibTransId="{196481A8-5918-4487-AE93-E8C148F56D79}"/>
    <dgm:cxn modelId="{CF44E6D7-8243-4343-9257-F0185984D0A4}" type="presOf" srcId="{14A0F9A2-BA5E-473C-A26A-07D95F39FF2B}" destId="{50B73F1F-44EA-4F89-8398-75FE0BB22E10}" srcOrd="0" destOrd="0" presId="urn:microsoft.com/office/officeart/2005/8/layout/vList2"/>
    <dgm:cxn modelId="{8B043B42-CEA0-49E2-9182-57E5EE364CA8}" type="presParOf" srcId="{F4952754-BFC9-4911-B4D0-7A50D557351A}" destId="{5F526FD6-3C16-45F7-931B-D3253D84A49B}" srcOrd="0" destOrd="0" presId="urn:microsoft.com/office/officeart/2005/8/layout/vList2"/>
    <dgm:cxn modelId="{E323F154-53F9-418D-A3F5-5E1AE7022CBD}" type="presParOf" srcId="{F4952754-BFC9-4911-B4D0-7A50D557351A}" destId="{70B8B93F-D17B-4288-8E8A-4E14EC79485F}" srcOrd="1" destOrd="0" presId="urn:microsoft.com/office/officeart/2005/8/layout/vList2"/>
    <dgm:cxn modelId="{5F65A232-A817-4763-B0A7-CC42A8ACC53E}" type="presParOf" srcId="{F4952754-BFC9-4911-B4D0-7A50D557351A}" destId="{50B73F1F-44EA-4F89-8398-75FE0BB22E10}" srcOrd="2" destOrd="0" presId="urn:microsoft.com/office/officeart/2005/8/layout/vList2"/>
    <dgm:cxn modelId="{8BE3ED8B-3534-4A6B-B916-5ED1F6C5D12C}" type="presParOf" srcId="{F4952754-BFC9-4911-B4D0-7A50D557351A}" destId="{D34EC1E6-6907-428C-9D5F-AF01907B324C}" srcOrd="3" destOrd="0" presId="urn:microsoft.com/office/officeart/2005/8/layout/vList2"/>
    <dgm:cxn modelId="{88AF628F-6B21-43E3-8510-139C0A68CDDB}" type="presParOf" srcId="{F4952754-BFC9-4911-B4D0-7A50D557351A}" destId="{FD5606E7-7379-4F33-830F-006516F4DFDB}" srcOrd="4" destOrd="0" presId="urn:microsoft.com/office/officeart/2005/8/layout/vList2"/>
    <dgm:cxn modelId="{E81F9F7F-3008-4FFD-A34C-B24836CE2789}" type="presParOf" srcId="{F4952754-BFC9-4911-B4D0-7A50D557351A}" destId="{A3A91749-FBEB-4655-AFB4-033C7D74953C}" srcOrd="5" destOrd="0" presId="urn:microsoft.com/office/officeart/2005/8/layout/vList2"/>
    <dgm:cxn modelId="{BF26FA07-DB15-4003-9CD7-79A48440DF7F}" type="presParOf" srcId="{F4952754-BFC9-4911-B4D0-7A50D557351A}" destId="{E1C3FBBC-EA1F-4BAD-A2D7-05E9F414FDC7}" srcOrd="6" destOrd="0" presId="urn:microsoft.com/office/officeart/2005/8/layout/vList2"/>
    <dgm:cxn modelId="{AACCE79E-EBA4-4FA5-BA95-EC663504198B}" type="presParOf" srcId="{F4952754-BFC9-4911-B4D0-7A50D557351A}" destId="{337E9823-B5CB-43BA-8F01-2BD744123BF2}" srcOrd="7" destOrd="0" presId="urn:microsoft.com/office/officeart/2005/8/layout/vList2"/>
    <dgm:cxn modelId="{BF7FE5B6-8D0C-4465-817E-22AFA0D783BE}" type="presParOf" srcId="{F4952754-BFC9-4911-B4D0-7A50D557351A}" destId="{0EB52B51-C389-4A36-BC05-864D852DF5FC}" srcOrd="8" destOrd="0" presId="urn:microsoft.com/office/officeart/2005/8/layout/vList2"/>
    <dgm:cxn modelId="{1732B9D0-DF1E-4D2F-B6A5-8A2A406CF108}" type="presParOf" srcId="{F4952754-BFC9-4911-B4D0-7A50D557351A}" destId="{2D368CEE-5AD2-460D-8088-9CA2F6997FA2}" srcOrd="9" destOrd="0" presId="urn:microsoft.com/office/officeart/2005/8/layout/vList2"/>
    <dgm:cxn modelId="{A1CFA4E7-48B9-4DF3-AB07-876A25DFF48E}" type="presParOf" srcId="{F4952754-BFC9-4911-B4D0-7A50D557351A}" destId="{4E4C0534-037E-45A5-BADC-B7406AF7B1C3}" srcOrd="10" destOrd="0" presId="urn:microsoft.com/office/officeart/2005/8/layout/vList2"/>
    <dgm:cxn modelId="{8C621798-C527-41B7-8DE5-808CFCC784AE}" type="presParOf" srcId="{F4952754-BFC9-4911-B4D0-7A50D557351A}" destId="{C039C7DD-0E08-48C1-A6EC-72D7F9D82548}" srcOrd="11" destOrd="0" presId="urn:microsoft.com/office/officeart/2005/8/layout/vList2"/>
    <dgm:cxn modelId="{743FB023-60A0-4E8B-9CEB-11616042108F}" type="presParOf" srcId="{F4952754-BFC9-4911-B4D0-7A50D557351A}" destId="{EC4E5CDF-5396-4684-B963-9679F944855F}" srcOrd="12" destOrd="0" presId="urn:microsoft.com/office/officeart/2005/8/layout/vList2"/>
    <dgm:cxn modelId="{B00F3713-C00F-423A-A166-9EAAC35C07CE}" type="presParOf" srcId="{F4952754-BFC9-4911-B4D0-7A50D557351A}" destId="{E4EC7552-37A5-4003-B7CF-035B11AA3598}" srcOrd="13" destOrd="0" presId="urn:microsoft.com/office/officeart/2005/8/layout/vList2"/>
    <dgm:cxn modelId="{EBB0F5D1-9D26-4409-8C19-2CA476CCC5AA}" type="presParOf" srcId="{F4952754-BFC9-4911-B4D0-7A50D557351A}" destId="{21855FA6-2BB4-499A-A8A9-433441C6C9C7}" srcOrd="14" destOrd="0" presId="urn:microsoft.com/office/officeart/2005/8/layout/vList2"/>
    <dgm:cxn modelId="{889C6B30-6315-4929-B518-6E19398F2A1F}" type="presParOf" srcId="{F4952754-BFC9-4911-B4D0-7A50D557351A}" destId="{66723406-0C3F-437D-80D6-FA1C8062C148}" srcOrd="15" destOrd="0" presId="urn:microsoft.com/office/officeart/2005/8/layout/vList2"/>
    <dgm:cxn modelId="{A203E2E4-4A48-48D9-B283-388C7A09B2A3}" type="presParOf" srcId="{F4952754-BFC9-4911-B4D0-7A50D557351A}" destId="{08F040B1-2CBD-4876-96AA-45AF94F7D94E}" srcOrd="16" destOrd="0" presId="urn:microsoft.com/office/officeart/2005/8/layout/vList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4A67B12B-F27E-4426-AA87-6EFCC170D45C}">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全文检索搜索引擎</a:t>
          </a:r>
          <a:endParaRPr lang="zh-CN" altLang="en-US" sz="1400" b="1" dirty="0">
            <a:latin typeface="微软雅黑" panose="020B0503020204020204" pitchFamily="34" charset="-122"/>
            <a:ea typeface="微软雅黑" panose="020B0503020204020204" pitchFamily="34" charset="-122"/>
          </a:endParaRPr>
        </a:p>
      </dgm:t>
    </dgm:pt>
    <dgm:pt modelId="{5BEE43B6-8E9E-4602-B465-7FED085A3832}" cxnId="{3A5BA247-2FD8-41F6-A0FA-D35ED6ABC45F}"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9E4612-C65B-423F-A46B-414E3F4A9548}" cxnId="{3A5BA247-2FD8-41F6-A0FA-D35ED6ABC45F}"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一种纯技术型的检索工具。</a:t>
          </a:r>
          <a:endParaRPr lang="zh-CN" altLang="en-US" sz="1400" b="1" dirty="0">
            <a:latin typeface="微软雅黑" panose="020B0503020204020204" pitchFamily="34" charset="-122"/>
            <a:ea typeface="微软雅黑" panose="020B0503020204020204" pitchFamily="34" charset="-122"/>
          </a:endParaRPr>
        </a:p>
      </dgm:t>
    </dgm:pt>
    <dgm:pt modelId="{A57610D4-26F8-4604-B151-839C46B7150C}" cxnId="{6A610126-55CF-4099-BACD-73F722678D52}"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0900141-49FB-4448-A9A4-DDD3FD4ED3EE}" cxnId="{6A610126-55CF-4099-BACD-73F722678D52}"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F607C1B-80D0-4E37-9532-5DEF8092D95F}">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endParaRPr lang="zh-CN" altLang="en-US" sz="1400" b="1" dirty="0">
            <a:latin typeface="微软雅黑" panose="020B0503020204020204" pitchFamily="34" charset="-122"/>
            <a:ea typeface="微软雅黑" panose="020B0503020204020204" pitchFamily="34" charset="-122"/>
          </a:endParaRPr>
        </a:p>
      </dgm:t>
    </dgm:pt>
    <dgm:pt modelId="{129CC8E6-B479-4A11-9A5C-F331665CEF58}" cxnId="{D5DEB2F0-BE16-44F9-82A1-3A74268E722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389A9B5-441E-42CC-BEA3-51AA982AD6CE}" cxnId="{D5DEB2F0-BE16-44F9-82A1-3A74268E722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1C60E65-B106-4C3D-AAF8-FC1FD0A02A4B}">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通过搜索软件（例如一种叫做“蜘蛛”或“网络机器人”的 </a:t>
          </a:r>
          <a:r>
            <a:rPr lang="en-US" altLang="en-US" sz="1400" b="1" dirty="0" smtClean="0">
              <a:latin typeface="微软雅黑" panose="020B0503020204020204" pitchFamily="34" charset="-122"/>
              <a:ea typeface="微软雅黑" panose="020B0503020204020204" pitchFamily="34" charset="-122"/>
            </a:rPr>
            <a:t>Spider </a:t>
          </a:r>
          <a:r>
            <a:rPr lang="zh-CN" altLang="en-US" sz="1400" b="1" dirty="0" smtClean="0">
              <a:latin typeface="微软雅黑" panose="020B0503020204020204" pitchFamily="34" charset="-122"/>
              <a:ea typeface="微软雅黑" panose="020B0503020204020204" pitchFamily="34" charset="-122"/>
            </a:rPr>
            <a:t>程序）到互联网上的各网站收集信息。</a:t>
          </a:r>
          <a:endParaRPr lang="zh-CN" altLang="en-US" sz="1400" b="1" dirty="0">
            <a:latin typeface="微软雅黑" panose="020B0503020204020204" pitchFamily="34" charset="-122"/>
            <a:ea typeface="微软雅黑" panose="020B0503020204020204" pitchFamily="34" charset="-122"/>
          </a:endParaRPr>
        </a:p>
      </dgm:t>
    </dgm:pt>
    <dgm:pt modelId="{C254F781-548E-478F-BAF2-126F5E2F3D7A}" cxnId="{6514846C-E978-4C49-8BB5-1C4EF2E4803B}" type="parTrans">
      <dgm:prSet/>
      <dgm:spPr/>
      <dgm:t>
        <a:bodyPr/>
        <a:lstStyle/>
        <a:p>
          <a:endParaRPr lang="zh-CN" altLang="en-US" sz="1400"/>
        </a:p>
      </dgm:t>
    </dgm:pt>
    <dgm:pt modelId="{8AD171DB-28FE-4ACB-B0C1-15945DC4A62A}" cxnId="{6514846C-E978-4C49-8BB5-1C4EF2E4803B}" type="sibTrans">
      <dgm:prSet/>
      <dgm:spPr/>
      <dgm:t>
        <a:bodyPr/>
        <a:lstStyle/>
        <a:p>
          <a:endParaRPr lang="zh-CN" altLang="en-US" sz="1400"/>
        </a:p>
      </dgm:t>
    </dgm:pt>
    <dgm:pt modelId="{328CB23F-D8F3-4B6A-B4B9-F64BFB9CA47F}">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用户在查询时只要输入关键词，从已经建立的索引数据库里查询（非实时）。</a:t>
          </a:r>
          <a:endParaRPr lang="zh-CN" altLang="en-US" sz="1400" b="1" dirty="0">
            <a:latin typeface="微软雅黑" panose="020B0503020204020204" pitchFamily="34" charset="-122"/>
            <a:ea typeface="微软雅黑" panose="020B0503020204020204" pitchFamily="34" charset="-122"/>
          </a:endParaRPr>
        </a:p>
      </dgm:t>
    </dgm:pt>
    <dgm:pt modelId="{77010FA5-DC68-4DEB-93B3-B53DAC9E6ABC}" cxnId="{021637B2-6265-427F-8249-22D6800BF362}" type="parTrans">
      <dgm:prSet/>
      <dgm:spPr/>
      <dgm:t>
        <a:bodyPr/>
        <a:lstStyle/>
        <a:p>
          <a:endParaRPr lang="zh-CN" altLang="en-US" sz="1400"/>
        </a:p>
      </dgm:t>
    </dgm:pt>
    <dgm:pt modelId="{118F7781-722A-4376-B3E0-5E4C4F274A72}" cxnId="{021637B2-6265-427F-8249-22D6800BF362}" type="sibTrans">
      <dgm:prSet/>
      <dgm:spPr/>
      <dgm:t>
        <a:bodyPr/>
        <a:lstStyle/>
        <a:p>
          <a:endParaRPr lang="zh-CN" altLang="en-US" sz="1400"/>
        </a:p>
      </dgm:t>
    </dgm:pt>
    <dgm:pt modelId="{050C4E28-BA13-4764-8595-89E113C63E70}">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需要定期更新维护数据库。</a:t>
          </a:r>
          <a:endParaRPr lang="zh-CN" altLang="en-US" sz="1400" b="1" dirty="0">
            <a:latin typeface="微软雅黑" panose="020B0503020204020204" pitchFamily="34" charset="-122"/>
            <a:ea typeface="微软雅黑" panose="020B0503020204020204" pitchFamily="34" charset="-122"/>
          </a:endParaRPr>
        </a:p>
      </dgm:t>
    </dgm:pt>
    <dgm:pt modelId="{9464634E-D6F1-4FE9-B86E-6F1B48EA7169}" cxnId="{4554409D-A1B1-4700-B815-DC22BB410C36}" type="parTrans">
      <dgm:prSet/>
      <dgm:spPr/>
      <dgm:t>
        <a:bodyPr/>
        <a:lstStyle/>
        <a:p>
          <a:endParaRPr lang="zh-CN" altLang="en-US"/>
        </a:p>
      </dgm:t>
    </dgm:pt>
    <dgm:pt modelId="{9AB1F0C5-8DF9-4CAC-BABA-22C83EBF2A4D}" cxnId="{4554409D-A1B1-4700-B815-DC22BB410C36}" type="sibTrans">
      <dgm:prSet/>
      <dgm:spPr/>
      <dgm:t>
        <a:bodyPr/>
        <a:lstStyle/>
        <a:p>
          <a:endParaRPr lang="zh-CN" altLang="en-US"/>
        </a:p>
      </dgm:t>
    </dgm:pt>
    <dgm:pt modelId="{5449751D-EB9D-4373-893A-D2F5888DB8FC}">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分类目录搜索引擎</a:t>
          </a:r>
          <a:endParaRPr lang="zh-CN" altLang="en-US" sz="1400" b="1" dirty="0">
            <a:latin typeface="微软雅黑" panose="020B0503020204020204" pitchFamily="34" charset="-122"/>
            <a:ea typeface="微软雅黑" panose="020B0503020204020204" pitchFamily="34" charset="-122"/>
          </a:endParaRPr>
        </a:p>
      </dgm:t>
    </dgm:pt>
    <dgm:pt modelId="{328CCA76-77A8-4316-A94F-1D0317492727}" cxnId="{6D0F46F1-4AC4-4736-B900-19ECDC23E479}" type="parTrans">
      <dgm:prSet/>
      <dgm:spPr/>
      <dgm:t>
        <a:bodyPr/>
        <a:lstStyle/>
        <a:p>
          <a:endParaRPr lang="zh-CN" altLang="en-US"/>
        </a:p>
      </dgm:t>
    </dgm:pt>
    <dgm:pt modelId="{F6B66E90-AD5B-457C-AAB4-88F3EC4A38ED}" cxnId="{6D0F46F1-4AC4-4736-B900-19ECDC23E479}" type="sibTrans">
      <dgm:prSet/>
      <dgm:spPr/>
      <dgm:t>
        <a:bodyPr/>
        <a:lstStyle/>
        <a:p>
          <a:endParaRPr lang="zh-CN" altLang="en-US"/>
        </a:p>
      </dgm:t>
    </dgm:pt>
    <dgm:pt modelId="{CE71DC2E-5525-4979-B6CC-33CC9C5CCDE8}">
      <dgm:prSet custT="1"/>
      <dgm:spPr/>
      <dgm:t>
        <a:bodyPr/>
        <a:lstStyle/>
        <a:p>
          <a:r>
            <a:rPr lang="zh-CN" altLang="en-US" sz="1400" b="1" dirty="0" smtClean="0">
              <a:latin typeface="微软雅黑" panose="020B0503020204020204" pitchFamily="34" charset="-122"/>
              <a:ea typeface="微软雅黑" panose="020B0503020204020204" pitchFamily="34" charset="-122"/>
            </a:rPr>
            <a:t>分类目录搜索也叫做分类网站搜索。 </a:t>
          </a:r>
          <a:endParaRPr lang="zh-CN" altLang="en-US" sz="1400" b="1" dirty="0">
            <a:latin typeface="微软雅黑" panose="020B0503020204020204" pitchFamily="34" charset="-122"/>
            <a:ea typeface="微软雅黑" panose="020B0503020204020204" pitchFamily="34" charset="-122"/>
          </a:endParaRPr>
        </a:p>
      </dgm:t>
    </dgm:pt>
    <dgm:pt modelId="{F8466C81-619C-4EDF-AD7B-C61C08441610}" cxnId="{F5AAB865-104E-411B-9B3C-BEE8F1D0D046}" type="parTrans">
      <dgm:prSet/>
      <dgm:spPr/>
      <dgm:t>
        <a:bodyPr/>
        <a:lstStyle/>
        <a:p>
          <a:endParaRPr lang="zh-CN" altLang="en-US"/>
        </a:p>
      </dgm:t>
    </dgm:pt>
    <dgm:pt modelId="{5B8DBDFD-DE8C-4AEF-97F4-5037A2D9F0E8}" cxnId="{F5AAB865-104E-411B-9B3C-BEE8F1D0D046}" type="sibTrans">
      <dgm:prSet/>
      <dgm:spPr/>
      <dgm:t>
        <a:bodyPr/>
        <a:lstStyle/>
        <a:p>
          <a:endParaRPr lang="zh-CN" altLang="en-US"/>
        </a:p>
      </dgm:t>
    </dgm:pt>
    <dgm:pt modelId="{03B7B585-4274-466B-9BFA-67A3A8D9458C}">
      <dgm:prSet custT="1"/>
      <dgm:spPr/>
      <dgm:t>
        <a:bodyPr/>
        <a:lstStyle/>
        <a:p>
          <a:r>
            <a:rPr lang="zh-CN" altLang="en-US" sz="1400" b="1" dirty="0" smtClean="0">
              <a:latin typeface="微软雅黑" panose="020B0503020204020204" pitchFamily="34" charset="-122"/>
              <a:ea typeface="微软雅黑" panose="020B0503020204020204" pitchFamily="34" charset="-122"/>
            </a:rPr>
            <a:t>查询时只需要按照分类，不需要使用关键词，查询的准确性较好。</a:t>
          </a:r>
          <a:endParaRPr lang="zh-CN" altLang="en-US" sz="1400" b="1" dirty="0">
            <a:latin typeface="微软雅黑" panose="020B0503020204020204" pitchFamily="34" charset="-122"/>
            <a:ea typeface="微软雅黑" panose="020B0503020204020204" pitchFamily="34" charset="-122"/>
          </a:endParaRPr>
        </a:p>
      </dgm:t>
    </dgm:pt>
    <dgm:pt modelId="{A952DB3C-805E-4A71-8677-121621D53B56}" cxnId="{AD1B10FF-C036-4E2D-81C6-4650BD7AE0A2}" type="parTrans">
      <dgm:prSet/>
      <dgm:spPr/>
      <dgm:t>
        <a:bodyPr/>
        <a:lstStyle/>
        <a:p>
          <a:endParaRPr lang="zh-CN" altLang="en-US"/>
        </a:p>
      </dgm:t>
    </dgm:pt>
    <dgm:pt modelId="{760ED4A1-D3FB-4E3E-9FAF-B1345895BD7A}" cxnId="{AD1B10FF-C036-4E2D-81C6-4650BD7AE0A2}" type="sibTrans">
      <dgm:prSet/>
      <dgm:spPr/>
      <dgm:t>
        <a:bodyPr/>
        <a:lstStyle/>
        <a:p>
          <a:endParaRPr lang="zh-CN" altLang="en-US"/>
        </a:p>
      </dgm:t>
    </dgm:pt>
    <dgm:pt modelId="{6339AE21-B307-4792-AF9D-64765A81105C}">
      <dgm:prSet custT="1"/>
      <dgm:spPr/>
      <dgm:t>
        <a:bodyPr/>
        <a:lstStyle/>
        <a:p>
          <a:r>
            <a:rPr lang="zh-CN" altLang="en-US" sz="1400" b="1" dirty="0" smtClean="0">
              <a:latin typeface="微软雅黑" panose="020B0503020204020204" pitchFamily="34" charset="-122"/>
              <a:ea typeface="微软雅黑" panose="020B0503020204020204" pitchFamily="34" charset="-122"/>
            </a:rPr>
            <a:t>查询的结果不是具体的页面，而是被收录网站主页的 </a:t>
          </a:r>
          <a:r>
            <a:rPr lang="en-US" altLang="en-US" sz="1400" b="1" dirty="0" smtClean="0">
              <a:latin typeface="微软雅黑" panose="020B0503020204020204" pitchFamily="34" charset="-122"/>
              <a:ea typeface="微软雅黑" panose="020B0503020204020204" pitchFamily="34" charset="-122"/>
            </a:rPr>
            <a:t>URL </a:t>
          </a:r>
          <a:r>
            <a:rPr lang="zh-CN" altLang="en-US" sz="1400" b="1" dirty="0" smtClean="0">
              <a:latin typeface="微软雅黑" panose="020B0503020204020204" pitchFamily="34" charset="-122"/>
              <a:ea typeface="微软雅黑" panose="020B0503020204020204" pitchFamily="34" charset="-122"/>
            </a:rPr>
            <a:t>地址。</a:t>
          </a:r>
        </a:p>
      </dgm:t>
    </dgm:pt>
    <dgm:pt modelId="{9567897E-214A-48CD-89B6-83D5184D2F2A}" cxnId="{F5A8529D-26B9-45B9-A973-9E127E73CE38}" type="parTrans">
      <dgm:prSet/>
      <dgm:spPr/>
      <dgm:t>
        <a:bodyPr/>
        <a:lstStyle/>
        <a:p>
          <a:endParaRPr lang="zh-CN" altLang="en-US"/>
        </a:p>
      </dgm:t>
    </dgm:pt>
    <dgm:pt modelId="{569B0100-1CBF-4344-9FD1-DFB338417209}" cxnId="{F5A8529D-26B9-45B9-A973-9E127E73CE38}" type="sibTrans">
      <dgm:prSet/>
      <dgm:spPr/>
      <dgm:t>
        <a:bodyPr/>
        <a:lstStyle/>
        <a:p>
          <a:endParaRPr lang="zh-CN" altLang="en-US"/>
        </a:p>
      </dgm:t>
    </dgm:pt>
    <dgm:pt modelId="{C0D8ADDD-B14C-4A4B-8F66-FA1E12F27746}">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按照一定的规则建立一个很大的在线索引数据库。</a:t>
          </a:r>
          <a:endParaRPr lang="zh-CN" altLang="en-US" sz="1400" b="1" dirty="0">
            <a:latin typeface="微软雅黑" panose="020B0503020204020204" pitchFamily="34" charset="-122"/>
            <a:ea typeface="微软雅黑" panose="020B0503020204020204" pitchFamily="34" charset="-122"/>
          </a:endParaRPr>
        </a:p>
      </dgm:t>
    </dgm:pt>
    <dgm:pt modelId="{7673687D-617F-4DD5-A0DC-4CE6C4420FBA}" cxnId="{1995B44A-319A-4391-8AC4-57E9F719C2EF}" type="parTrans">
      <dgm:prSet/>
      <dgm:spPr/>
      <dgm:t>
        <a:bodyPr/>
        <a:lstStyle/>
        <a:p>
          <a:endParaRPr lang="zh-CN" altLang="en-US"/>
        </a:p>
      </dgm:t>
    </dgm:pt>
    <dgm:pt modelId="{B4C73580-2708-4C61-A24E-944871042CDA}" cxnId="{1995B44A-319A-4391-8AC4-57E9F719C2EF}" type="sibTrans">
      <dgm:prSet/>
      <dgm:spPr/>
      <dgm:t>
        <a:bodyPr/>
        <a:lstStyle/>
        <a:p>
          <a:endParaRPr lang="zh-CN" altLang="en-US"/>
        </a:p>
      </dgm:t>
    </dgm:pt>
    <dgm:pt modelId="{18114A28-018D-44D7-AF7A-D60D965430EC}" type="pres">
      <dgm:prSet presAssocID="{640FA84E-D24C-4A71-8726-ABEBB11DBFA7}" presName="Name0" presStyleCnt="0">
        <dgm:presLayoutVars>
          <dgm:dir/>
          <dgm:animLvl val="lvl"/>
          <dgm:resizeHandles val="exact"/>
        </dgm:presLayoutVars>
      </dgm:prSet>
      <dgm:spPr/>
      <dgm:t>
        <a:bodyPr/>
        <a:lstStyle/>
        <a:p>
          <a:endParaRPr lang="zh-CN" altLang="en-US"/>
        </a:p>
      </dgm:t>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t>
        <a:bodyPr/>
        <a:lstStyle/>
        <a:p>
          <a:endParaRPr lang="zh-CN" altLang="en-US"/>
        </a:p>
      </dgm:t>
    </dgm:pt>
    <dgm:pt modelId="{4E1C6945-3361-4332-9057-7162DBC9BE74}" type="pres">
      <dgm:prSet presAssocID="{4A67B12B-F27E-4426-AA87-6EFCC170D45C}" presName="desTx" presStyleLbl="alignAccFollowNode1" presStyleIdx="0" presStyleCnt="2">
        <dgm:presLayoutVars>
          <dgm:bulletEnabled val="1"/>
        </dgm:presLayoutVars>
      </dgm:prSet>
      <dgm:spPr/>
      <dgm:t>
        <a:bodyPr/>
        <a:lstStyle/>
        <a:p>
          <a:endParaRPr lang="zh-CN" altLang="en-US"/>
        </a:p>
      </dgm:t>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t>
        <a:bodyPr/>
        <a:lstStyle/>
        <a:p>
          <a:endParaRPr lang="zh-CN" altLang="en-US"/>
        </a:p>
      </dgm:t>
    </dgm:pt>
    <dgm:pt modelId="{56308F05-9C6F-4168-94D1-139E66E21E29}" type="pres">
      <dgm:prSet presAssocID="{5449751D-EB9D-4373-893A-D2F5888DB8FC}" presName="desTx" presStyleLbl="alignAccFollowNode1" presStyleIdx="1" presStyleCnt="2">
        <dgm:presLayoutVars>
          <dgm:bulletEnabled val="1"/>
        </dgm:presLayoutVars>
      </dgm:prSet>
      <dgm:spPr/>
      <dgm:t>
        <a:bodyPr/>
        <a:lstStyle/>
        <a:p>
          <a:endParaRPr lang="zh-CN" altLang="en-US"/>
        </a:p>
      </dgm:t>
    </dgm:pt>
  </dgm:ptLst>
  <dgm:cxnLst>
    <dgm:cxn modelId="{6514846C-E978-4C49-8BB5-1C4EF2E4803B}" srcId="{4A67B12B-F27E-4426-AA87-6EFCC170D45C}" destId="{61C60E65-B106-4C3D-AAF8-FC1FD0A02A4B}" srcOrd="1" destOrd="0" parTransId="{C254F781-548E-478F-BAF2-126F5E2F3D7A}" sibTransId="{8AD171DB-28FE-4ACB-B0C1-15945DC4A62A}"/>
    <dgm:cxn modelId="{6D0F46F1-4AC4-4736-B900-19ECDC23E479}" srcId="{640FA84E-D24C-4A71-8726-ABEBB11DBFA7}" destId="{5449751D-EB9D-4373-893A-D2F5888DB8FC}" srcOrd="1" destOrd="0" parTransId="{328CCA76-77A8-4316-A94F-1D0317492727}" sibTransId="{F6B66E90-AD5B-457C-AAB4-88F3EC4A38ED}"/>
    <dgm:cxn modelId="{9EC04E04-7BBD-42A1-AFF5-CDFF6F65FF51}" type="presOf" srcId="{4A67B12B-F27E-4426-AA87-6EFCC170D45C}" destId="{73F60847-C5CB-4E1F-92CA-969FDFBB52DB}" srcOrd="0" destOrd="0"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F5A8529D-26B9-45B9-A973-9E127E73CE38}" srcId="{5449751D-EB9D-4373-893A-D2F5888DB8FC}" destId="{6339AE21-B307-4792-AF9D-64765A81105C}" srcOrd="3" destOrd="0" parTransId="{9567897E-214A-48CD-89B6-83D5184D2F2A}" sibTransId="{569B0100-1CBF-4344-9FD1-DFB338417209}"/>
    <dgm:cxn modelId="{021637B2-6265-427F-8249-22D6800BF362}" srcId="{4A67B12B-F27E-4426-AA87-6EFCC170D45C}" destId="{328CB23F-D8F3-4B6A-B4B9-F64BFB9CA47F}" srcOrd="3" destOrd="0" parTransId="{77010FA5-DC68-4DEB-93B3-B53DAC9E6ABC}" sibTransId="{118F7781-722A-4376-B3E0-5E4C4F274A72}"/>
    <dgm:cxn modelId="{4554409D-A1B1-4700-B815-DC22BB410C36}" srcId="{4A67B12B-F27E-4426-AA87-6EFCC170D45C}" destId="{050C4E28-BA13-4764-8595-89E113C63E70}" srcOrd="4" destOrd="0" parTransId="{9464634E-D6F1-4FE9-B86E-6F1B48EA7169}" sibTransId="{9AB1F0C5-8DF9-4CAC-BABA-22C83EBF2A4D}"/>
    <dgm:cxn modelId="{6C8AC5BD-9059-4C85-B5FF-822C28A50264}" type="presOf" srcId="{CE71DC2E-5525-4979-B6CC-33CC9C5CCDE8}" destId="{56308F05-9C6F-4168-94D1-139E66E21E29}" srcOrd="0" destOrd="1" presId="urn:microsoft.com/office/officeart/2005/8/layout/hList1"/>
    <dgm:cxn modelId="{7EF01D21-D98D-474C-8C7F-420E03D07E1A}" type="presOf" srcId="{050C4E28-BA13-4764-8595-89E113C63E70}" destId="{4E1C6945-3361-4332-9057-7162DBC9BE74}" srcOrd="0" destOrd="4" presId="urn:microsoft.com/office/officeart/2005/8/layout/hList1"/>
    <dgm:cxn modelId="{04A54596-543B-4F6D-9EE7-19A93944811E}" type="presOf" srcId="{328CB23F-D8F3-4B6A-B4B9-F64BFB9CA47F}" destId="{4E1C6945-3361-4332-9057-7162DBC9BE74}" srcOrd="0" destOrd="3" presId="urn:microsoft.com/office/officeart/2005/8/layout/hList1"/>
    <dgm:cxn modelId="{AD1B10FF-C036-4E2D-81C6-4650BD7AE0A2}" srcId="{5449751D-EB9D-4373-893A-D2F5888DB8FC}" destId="{03B7B585-4274-466B-9BFA-67A3A8D9458C}" srcOrd="2" destOrd="0" parTransId="{A952DB3C-805E-4A71-8677-121621D53B56}" sibTransId="{760ED4A1-D3FB-4E3E-9FAF-B1345895BD7A}"/>
    <dgm:cxn modelId="{55B80895-AEA4-4B34-A2C3-3A99CBE000CA}" type="presOf" srcId="{09A0DAAE-BBFE-4AB5-AD9D-1D5FFFFCD3E3}" destId="{4E1C6945-3361-4332-9057-7162DBC9BE74}" srcOrd="0" destOrd="0" presId="urn:microsoft.com/office/officeart/2005/8/layout/hList1"/>
    <dgm:cxn modelId="{F2EC2B2A-3CA3-4E1B-A7CD-A463B4F86B4B}" type="presOf" srcId="{03B7B585-4274-466B-9BFA-67A3A8D9458C}" destId="{56308F05-9C6F-4168-94D1-139E66E21E29}" srcOrd="0" destOrd="2" presId="urn:microsoft.com/office/officeart/2005/8/layout/hList1"/>
    <dgm:cxn modelId="{66F6AFA8-7EFE-4A43-9A3D-72A92C3E3AC0}" type="presOf" srcId="{640FA84E-D24C-4A71-8726-ABEBB11DBFA7}" destId="{18114A28-018D-44D7-AF7A-D60D965430EC}" srcOrd="0" destOrd="0" presId="urn:microsoft.com/office/officeart/2005/8/layout/hList1"/>
    <dgm:cxn modelId="{F5AAB865-104E-411B-9B3C-BEE8F1D0D046}" srcId="{5449751D-EB9D-4373-893A-D2F5888DB8FC}" destId="{CE71DC2E-5525-4979-B6CC-33CC9C5CCDE8}" srcOrd="1" destOrd="0" parTransId="{F8466C81-619C-4EDF-AD7B-C61C08441610}" sibTransId="{5B8DBDFD-DE8C-4AEF-97F4-5037A2D9F0E8}"/>
    <dgm:cxn modelId="{4F82438A-4352-41EB-A568-354AB46CCDED}" type="presOf" srcId="{61C60E65-B106-4C3D-AAF8-FC1FD0A02A4B}" destId="{4E1C6945-3361-4332-9057-7162DBC9BE74}" srcOrd="0" destOrd="1" presId="urn:microsoft.com/office/officeart/2005/8/layout/hList1"/>
    <dgm:cxn modelId="{286FC2A6-8859-4845-86F0-9E9BE12E588A}" type="presOf" srcId="{9F607C1B-80D0-4E37-9532-5DEF8092D95F}" destId="{56308F05-9C6F-4168-94D1-139E66E21E29}" srcOrd="0" destOrd="0" presId="urn:microsoft.com/office/officeart/2005/8/layout/hList1"/>
    <dgm:cxn modelId="{975272D0-8E49-407C-BF50-D9C808514A4D}" type="presOf" srcId="{C0D8ADDD-B14C-4A4B-8F66-FA1E12F27746}" destId="{4E1C6945-3361-4332-9057-7162DBC9BE74}" srcOrd="0" destOrd="2" presId="urn:microsoft.com/office/officeart/2005/8/layout/hList1"/>
    <dgm:cxn modelId="{3A5BA247-2FD8-41F6-A0FA-D35ED6ABC45F}" srcId="{640FA84E-D24C-4A71-8726-ABEBB11DBFA7}" destId="{4A67B12B-F27E-4426-AA87-6EFCC170D45C}" srcOrd="0" destOrd="0" parTransId="{5BEE43B6-8E9E-4602-B465-7FED085A3832}" sibTransId="{D99E4612-C65B-423F-A46B-414E3F4A9548}"/>
    <dgm:cxn modelId="{D5DEB2F0-BE16-44F9-82A1-3A74268E7224}" srcId="{5449751D-EB9D-4373-893A-D2F5888DB8FC}" destId="{9F607C1B-80D0-4E37-9532-5DEF8092D95F}" srcOrd="0" destOrd="0" parTransId="{129CC8E6-B479-4A11-9A5C-F331665CEF58}" sibTransId="{E389A9B5-441E-42CC-BEA3-51AA982AD6CE}"/>
    <dgm:cxn modelId="{1995B44A-319A-4391-8AC4-57E9F719C2EF}" srcId="{4A67B12B-F27E-4426-AA87-6EFCC170D45C}" destId="{C0D8ADDD-B14C-4A4B-8F66-FA1E12F27746}" srcOrd="2" destOrd="0" parTransId="{7673687D-617F-4DD5-A0DC-4CE6C4420FBA}" sibTransId="{B4C73580-2708-4C61-A24E-944871042CDA}"/>
    <dgm:cxn modelId="{EF3E2D13-5487-44EF-8C7D-630C24300665}" type="presOf" srcId="{6339AE21-B307-4792-AF9D-64765A81105C}" destId="{56308F05-9C6F-4168-94D1-139E66E21E29}" srcOrd="0" destOrd="3" presId="urn:microsoft.com/office/officeart/2005/8/layout/hList1"/>
    <dgm:cxn modelId="{B96D9B56-5617-48F7-B19C-343E3F206AA8}" type="presOf" srcId="{5449751D-EB9D-4373-893A-D2F5888DB8FC}" destId="{68DA0B6D-3EBF-4324-92AB-1CC040E6E5B2}" srcOrd="0" destOrd="0" presId="urn:microsoft.com/office/officeart/2005/8/layout/hList1"/>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4A67B12B-F27E-4426-AA87-6EFCC170D45C}">
      <dgm:prSet phldrT="[文本]" custT="1"/>
      <dgm:spPr/>
      <dgm:t>
        <a:bodyPr/>
        <a:lstStyle/>
        <a:p>
          <a:r>
            <a:rPr lang="en-US" altLang="en-US" sz="1800" b="1" dirty="0" smtClean="0">
              <a:latin typeface="微软雅黑" panose="020B0503020204020204" pitchFamily="34" charset="-122"/>
              <a:ea typeface="微软雅黑" panose="020B0503020204020204" pitchFamily="34" charset="-122"/>
            </a:rPr>
            <a:t>1. </a:t>
          </a:r>
          <a:r>
            <a:rPr lang="zh-CN" altLang="en-US" sz="1800" b="1" dirty="0" smtClean="0">
              <a:latin typeface="微软雅黑" panose="020B0503020204020204" pitchFamily="34" charset="-122"/>
              <a:ea typeface="微软雅黑" panose="020B0503020204020204" pitchFamily="34" charset="-122"/>
            </a:rPr>
            <a:t>博客</a:t>
          </a:r>
          <a:endParaRPr lang="zh-CN" altLang="en-US" sz="1800" b="1" dirty="0">
            <a:latin typeface="微软雅黑" panose="020B0503020204020204" pitchFamily="34" charset="-122"/>
            <a:ea typeface="微软雅黑" panose="020B0503020204020204" pitchFamily="34" charset="-122"/>
          </a:endParaRPr>
        </a:p>
      </dgm:t>
    </dgm:pt>
    <dgm:pt modelId="{5BEE43B6-8E9E-4602-B465-7FED085A3832}" cxnId="{3A5BA247-2FD8-41F6-A0FA-D35ED6ABC45F}"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99E4612-C65B-423F-A46B-414E3F4A9548}" cxnId="{3A5BA247-2FD8-41F6-A0FA-D35ED6ABC45F}"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smtClean="0">
              <a:latin typeface="微软雅黑" panose="020B0503020204020204" pitchFamily="34" charset="-122"/>
              <a:ea typeface="微软雅黑" panose="020B0503020204020204" pitchFamily="34" charset="-122"/>
            </a:rPr>
            <a:t>万维网日志 </a:t>
          </a:r>
          <a:r>
            <a:rPr lang="en-US" altLang="en-US" sz="1400" b="1" smtClean="0">
              <a:latin typeface="微软雅黑" panose="020B0503020204020204" pitchFamily="34" charset="-122"/>
              <a:ea typeface="微软雅黑" panose="020B0503020204020204" pitchFamily="34" charset="-122"/>
            </a:rPr>
            <a:t>(weblog) </a:t>
          </a:r>
          <a:r>
            <a:rPr lang="zh-CN" altLang="en-US" sz="1400" b="1" smtClean="0">
              <a:latin typeface="微软雅黑" panose="020B0503020204020204" pitchFamily="34" charset="-122"/>
              <a:ea typeface="微软雅黑" panose="020B0503020204020204" pitchFamily="34" charset="-122"/>
            </a:rPr>
            <a:t>的简称。</a:t>
          </a:r>
          <a:endParaRPr lang="zh-CN" altLang="en-US" sz="1400" b="1" dirty="0">
            <a:latin typeface="微软雅黑" panose="020B0503020204020204" pitchFamily="34" charset="-122"/>
            <a:ea typeface="微软雅黑" panose="020B0503020204020204" pitchFamily="34" charset="-122"/>
          </a:endParaRPr>
        </a:p>
      </dgm:t>
    </dgm:pt>
    <dgm:pt modelId="{A57610D4-26F8-4604-B151-839C46B7150C}" cxnId="{6A610126-55CF-4099-BACD-73F722678D52}"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40900141-49FB-4448-A9A4-DDD3FD4ED3EE}" cxnId="{6A610126-55CF-4099-BACD-73F722678D52}"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449751D-EB9D-4373-893A-D2F5888DB8FC}">
      <dgm:prSet phldrT="[文本]" custT="1"/>
      <dgm:spPr/>
      <dgm:t>
        <a:bodyPr/>
        <a:lstStyle/>
        <a:p>
          <a:r>
            <a:rPr lang="en-US" altLang="en-US" sz="1800" b="1" dirty="0" smtClean="0">
              <a:latin typeface="微软雅黑" panose="020B0503020204020204" pitchFamily="34" charset="-122"/>
              <a:ea typeface="微软雅黑" panose="020B0503020204020204" pitchFamily="34" charset="-122"/>
            </a:rPr>
            <a:t>2. </a:t>
          </a:r>
          <a:r>
            <a:rPr lang="zh-CN" altLang="en-US" sz="1800" b="1" dirty="0" smtClean="0">
              <a:latin typeface="微软雅黑" panose="020B0503020204020204" pitchFamily="34" charset="-122"/>
              <a:ea typeface="微软雅黑" panose="020B0503020204020204" pitchFamily="34" charset="-122"/>
            </a:rPr>
            <a:t>微博</a:t>
          </a:r>
          <a:endParaRPr lang="zh-CN" altLang="en-US" sz="1800" b="1" dirty="0">
            <a:latin typeface="微软雅黑" panose="020B0503020204020204" pitchFamily="34" charset="-122"/>
            <a:ea typeface="微软雅黑" panose="020B0503020204020204" pitchFamily="34" charset="-122"/>
          </a:endParaRPr>
        </a:p>
      </dgm:t>
    </dgm:pt>
    <dgm:pt modelId="{328CCA76-77A8-4316-A94F-1D0317492727}" cxnId="{6D0F46F1-4AC4-4736-B900-19ECDC23E479}" type="parTrans">
      <dgm:prSet/>
      <dgm:spPr/>
      <dgm:t>
        <a:bodyPr/>
        <a:lstStyle/>
        <a:p>
          <a:endParaRPr lang="zh-CN" altLang="en-US" sz="1600"/>
        </a:p>
      </dgm:t>
    </dgm:pt>
    <dgm:pt modelId="{F6B66E90-AD5B-457C-AAB4-88F3EC4A38ED}" cxnId="{6D0F46F1-4AC4-4736-B900-19ECDC23E479}" type="sibTrans">
      <dgm:prSet/>
      <dgm:spPr/>
      <dgm:t>
        <a:bodyPr/>
        <a:lstStyle/>
        <a:p>
          <a:endParaRPr lang="zh-CN" altLang="en-US" sz="1600"/>
        </a:p>
      </dgm:t>
    </dgm:pt>
    <dgm:pt modelId="{64E223BE-32F1-486C-B4B4-A6AF93F9F36C}">
      <dgm:prSet custT="1"/>
      <dgm:spPr/>
      <dgm:t>
        <a:bodyPr/>
        <a:lstStyle/>
        <a:p>
          <a:r>
            <a:rPr lang="zh-CN" altLang="en-US" sz="1400" b="1" dirty="0" smtClean="0">
              <a:latin typeface="微软雅黑" panose="020B0503020204020204" pitchFamily="34" charset="-122"/>
              <a:ea typeface="微软雅黑" panose="020B0503020204020204" pitchFamily="34" charset="-122"/>
            </a:rPr>
            <a:t>使网民不仅是互联网上内容的消费者，而且还是互联网上内容的生产者。</a:t>
          </a:r>
        </a:p>
      </dgm:t>
    </dgm:pt>
    <dgm:pt modelId="{5349B983-CC63-40F5-9599-070B484B227A}" cxnId="{BDE0994F-91FE-4665-86F0-4A11BDE9BB10}" type="parTrans">
      <dgm:prSet/>
      <dgm:spPr/>
      <dgm:t>
        <a:bodyPr/>
        <a:lstStyle/>
        <a:p>
          <a:endParaRPr lang="zh-CN" altLang="en-US" sz="1600"/>
        </a:p>
      </dgm:t>
    </dgm:pt>
    <dgm:pt modelId="{72B9F3AD-116E-4F82-9B5B-F5F26528299A}" cxnId="{BDE0994F-91FE-4665-86F0-4A11BDE9BB10}" type="sibTrans">
      <dgm:prSet/>
      <dgm:spPr/>
      <dgm:t>
        <a:bodyPr/>
        <a:lstStyle/>
        <a:p>
          <a:endParaRPr lang="zh-CN" altLang="en-US" sz="1600"/>
        </a:p>
      </dgm:t>
    </dgm:pt>
    <dgm:pt modelId="{A63C9B60-172B-4DC9-9A5C-1AEAC4875897}">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微型博客 </a:t>
          </a:r>
          <a:r>
            <a:rPr lang="en-US" altLang="en-US" sz="1400" b="1" dirty="0" smtClean="0">
              <a:latin typeface="微软雅黑" panose="020B0503020204020204" pitchFamily="34" charset="-122"/>
              <a:ea typeface="微软雅黑" panose="020B0503020204020204" pitchFamily="34" charset="-122"/>
            </a:rPr>
            <a:t>(microblog)</a:t>
          </a:r>
          <a:r>
            <a:rPr lang="zh-CN" altLang="en-US" sz="1400" b="1" dirty="0" smtClean="0">
              <a:latin typeface="微软雅黑" panose="020B0503020204020204" pitchFamily="34" charset="-122"/>
              <a:ea typeface="微软雅黑" panose="020B0503020204020204" pitchFamily="34" charset="-122"/>
            </a:rPr>
            <a:t>，又称为微博客。</a:t>
          </a:r>
          <a:endParaRPr lang="zh-CN" altLang="en-US" sz="1400" b="1" dirty="0">
            <a:latin typeface="微软雅黑" panose="020B0503020204020204" pitchFamily="34" charset="-122"/>
            <a:ea typeface="微软雅黑" panose="020B0503020204020204" pitchFamily="34" charset="-122"/>
          </a:endParaRPr>
        </a:p>
      </dgm:t>
    </dgm:pt>
    <dgm:pt modelId="{6EEAD8AA-246A-4E0F-B3B7-C0CC12FB0CB7}" cxnId="{DF1AD42E-CB2D-42D1-B825-99E8FC2086F1}" type="parTrans">
      <dgm:prSet/>
      <dgm:spPr/>
      <dgm:t>
        <a:bodyPr/>
        <a:lstStyle/>
        <a:p>
          <a:endParaRPr lang="zh-CN" altLang="en-US" sz="1600"/>
        </a:p>
      </dgm:t>
    </dgm:pt>
    <dgm:pt modelId="{7E736B33-8943-43C4-8301-E5C19CBA7CE8}" cxnId="{DF1AD42E-CB2D-42D1-B825-99E8FC2086F1}" type="sibTrans">
      <dgm:prSet/>
      <dgm:spPr/>
      <dgm:t>
        <a:bodyPr/>
        <a:lstStyle/>
        <a:p>
          <a:endParaRPr lang="zh-CN" altLang="en-US" sz="1600"/>
        </a:p>
      </dgm:t>
    </dgm:pt>
    <dgm:pt modelId="{C4C756D0-11A8-4F58-ADD6-109F69DB6D46}">
      <dgm:prSet custT="1"/>
      <dgm:spPr/>
      <dgm:t>
        <a:bodyPr/>
        <a:lstStyle/>
        <a:p>
          <a:r>
            <a:rPr lang="zh-CN" altLang="en-US" sz="1400" b="1" dirty="0" smtClean="0">
              <a:latin typeface="微软雅黑" panose="020B0503020204020204" pitchFamily="34" charset="-122"/>
              <a:ea typeface="微软雅黑" panose="020B0503020204020204" pitchFamily="34" charset="-122"/>
            </a:rPr>
            <a:t>只</a:t>
          </a:r>
          <a:r>
            <a:rPr lang="zh-CN" altLang="en-US" sz="1400" b="1" dirty="0">
              <a:latin typeface="微软雅黑" panose="020B0503020204020204" pitchFamily="34" charset="-122"/>
              <a:ea typeface="微软雅黑" panose="020B0503020204020204" pitchFamily="34" charset="-122"/>
            </a:rPr>
            <a:t>记录片段、碎语，三言两语，现场记录，发发感慨，晒晒心情，永远只针对一个问题进行回答</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D683D10C-57AB-4C10-9769-DBF4097AA893}" cxnId="{4638EDD7-45CD-4B25-8286-1B7EF72C1585}" type="parTrans">
      <dgm:prSet/>
      <dgm:spPr/>
      <dgm:t>
        <a:bodyPr/>
        <a:lstStyle/>
        <a:p>
          <a:endParaRPr lang="zh-CN" altLang="en-US" sz="1600"/>
        </a:p>
      </dgm:t>
    </dgm:pt>
    <dgm:pt modelId="{86F29A84-6C15-4571-8FF5-B3A5C153DFAD}" cxnId="{4638EDD7-45CD-4B25-8286-1B7EF72C1585}" type="sibTrans">
      <dgm:prSet/>
      <dgm:spPr/>
      <dgm:t>
        <a:bodyPr/>
        <a:lstStyle/>
        <a:p>
          <a:endParaRPr lang="zh-CN" altLang="en-US" sz="1600"/>
        </a:p>
      </dgm:t>
    </dgm:pt>
    <dgm:pt modelId="{7CCBB12D-9E4D-487D-8378-589BB6565FF3}">
      <dgm:prSet custT="1"/>
      <dgm:spPr/>
      <dgm:t>
        <a:bodyPr/>
        <a:lstStyle/>
        <a:p>
          <a:r>
            <a:rPr lang="zh-CN" altLang="en-US" sz="1400" b="1" dirty="0" smtClean="0">
              <a:latin typeface="微软雅黑" panose="020B0503020204020204" pitchFamily="34" charset="-122"/>
              <a:ea typeface="微软雅黑" panose="020B0503020204020204" pitchFamily="34" charset="-122"/>
            </a:rPr>
            <a:t>是一种互动及传播性极快的工具。</a:t>
          </a:r>
          <a:endParaRPr lang="zh-CN" altLang="en-US" sz="1400" b="1" dirty="0">
            <a:latin typeface="微软雅黑" panose="020B0503020204020204" pitchFamily="34" charset="-122"/>
            <a:ea typeface="微软雅黑" panose="020B0503020204020204" pitchFamily="34" charset="-122"/>
          </a:endParaRPr>
        </a:p>
      </dgm:t>
    </dgm:pt>
    <dgm:pt modelId="{293005E5-8ACC-47EE-A886-CF5964C56A19}" cxnId="{759464FF-C27D-425C-96F3-EEC7F1676B35}" type="parTrans">
      <dgm:prSet/>
      <dgm:spPr/>
      <dgm:t>
        <a:bodyPr/>
        <a:lstStyle/>
        <a:p>
          <a:endParaRPr lang="zh-CN" altLang="en-US" sz="1600"/>
        </a:p>
      </dgm:t>
    </dgm:pt>
    <dgm:pt modelId="{E387F7B8-20A7-4DEA-856A-6B567157E9D8}" cxnId="{759464FF-C27D-425C-96F3-EEC7F1676B35}" type="sibTrans">
      <dgm:prSet/>
      <dgm:spPr/>
      <dgm:t>
        <a:bodyPr/>
        <a:lstStyle/>
        <a:p>
          <a:endParaRPr lang="zh-CN" altLang="en-US" sz="1600"/>
        </a:p>
      </dgm:t>
    </dgm:pt>
    <dgm:pt modelId="{FD7B538E-BA8B-4398-A456-7F49453E20B7}">
      <dgm:prSet custT="1"/>
      <dgm:spPr/>
      <dgm:t>
        <a:bodyPr/>
        <a:lstStyle/>
        <a:p>
          <a:r>
            <a:rPr lang="zh-CN" altLang="en-US" sz="1400" b="1" dirty="0" smtClean="0">
              <a:latin typeface="微软雅黑" panose="020B0503020204020204" pitchFamily="34" charset="-122"/>
              <a:ea typeface="微软雅黑" panose="020B0503020204020204" pitchFamily="34" charset="-122"/>
            </a:rPr>
            <a:t>开通的多种 </a:t>
          </a:r>
          <a:r>
            <a:rPr lang="en-US" altLang="en-US" sz="1400" b="1" dirty="0" smtClean="0">
              <a:latin typeface="微软雅黑" panose="020B0503020204020204" pitchFamily="34" charset="-122"/>
              <a:ea typeface="微软雅黑" panose="020B0503020204020204" pitchFamily="34" charset="-122"/>
            </a:rPr>
            <a:t>API </a:t>
          </a:r>
          <a:r>
            <a:rPr lang="zh-CN" altLang="en-US" sz="1400" b="1" dirty="0" smtClean="0">
              <a:latin typeface="微软雅黑" panose="020B0503020204020204" pitchFamily="34" charset="-122"/>
              <a:ea typeface="微软雅黑" panose="020B0503020204020204" pitchFamily="34" charset="-122"/>
            </a:rPr>
            <a:t>使用户可通过手机、网络等方式即时更新自己的信息。</a:t>
          </a:r>
          <a:endParaRPr lang="zh-CN" altLang="en-US" sz="1400" b="1" dirty="0">
            <a:latin typeface="微软雅黑" panose="020B0503020204020204" pitchFamily="34" charset="-122"/>
            <a:ea typeface="微软雅黑" panose="020B0503020204020204" pitchFamily="34" charset="-122"/>
          </a:endParaRPr>
        </a:p>
      </dgm:t>
    </dgm:pt>
    <dgm:pt modelId="{9D640870-A10C-44BF-9CD5-3CDCBF003B8C}" cxnId="{B753547C-2B29-4B1B-A72E-60EA9B6F6E91}" type="parTrans">
      <dgm:prSet/>
      <dgm:spPr/>
      <dgm:t>
        <a:bodyPr/>
        <a:lstStyle/>
        <a:p>
          <a:endParaRPr lang="zh-CN" altLang="en-US" sz="1600"/>
        </a:p>
      </dgm:t>
    </dgm:pt>
    <dgm:pt modelId="{2E9E6DAA-946C-403F-87E2-162E0AACC27A}" cxnId="{B753547C-2B29-4B1B-A72E-60EA9B6F6E91}" type="sibTrans">
      <dgm:prSet/>
      <dgm:spPr/>
      <dgm:t>
        <a:bodyPr/>
        <a:lstStyle/>
        <a:p>
          <a:endParaRPr lang="zh-CN" altLang="en-US" sz="1600"/>
        </a:p>
      </dgm:t>
    </dgm:pt>
    <dgm:pt modelId="{18114A28-018D-44D7-AF7A-D60D965430EC}" type="pres">
      <dgm:prSet presAssocID="{640FA84E-D24C-4A71-8726-ABEBB11DBFA7}" presName="Name0" presStyleCnt="0">
        <dgm:presLayoutVars>
          <dgm:dir/>
          <dgm:animLvl val="lvl"/>
          <dgm:resizeHandles val="exact"/>
        </dgm:presLayoutVars>
      </dgm:prSet>
      <dgm:spPr/>
      <dgm:t>
        <a:bodyPr/>
        <a:lstStyle/>
        <a:p>
          <a:endParaRPr lang="zh-CN" altLang="en-US"/>
        </a:p>
      </dgm:t>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t>
        <a:bodyPr/>
        <a:lstStyle/>
        <a:p>
          <a:endParaRPr lang="zh-CN" altLang="en-US"/>
        </a:p>
      </dgm:t>
    </dgm:pt>
    <dgm:pt modelId="{4E1C6945-3361-4332-9057-7162DBC9BE74}" type="pres">
      <dgm:prSet presAssocID="{4A67B12B-F27E-4426-AA87-6EFCC170D45C}" presName="desTx" presStyleLbl="alignAccFollowNode1" presStyleIdx="0" presStyleCnt="2">
        <dgm:presLayoutVars>
          <dgm:bulletEnabled val="1"/>
        </dgm:presLayoutVars>
      </dgm:prSet>
      <dgm:spPr/>
      <dgm:t>
        <a:bodyPr/>
        <a:lstStyle/>
        <a:p>
          <a:endParaRPr lang="zh-CN" altLang="en-US"/>
        </a:p>
      </dgm:t>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t>
        <a:bodyPr/>
        <a:lstStyle/>
        <a:p>
          <a:endParaRPr lang="zh-CN" altLang="en-US"/>
        </a:p>
      </dgm:t>
    </dgm:pt>
    <dgm:pt modelId="{56308F05-9C6F-4168-94D1-139E66E21E29}" type="pres">
      <dgm:prSet presAssocID="{5449751D-EB9D-4373-893A-D2F5888DB8FC}" presName="desTx" presStyleLbl="alignAccFollowNode1" presStyleIdx="1" presStyleCnt="2">
        <dgm:presLayoutVars>
          <dgm:bulletEnabled val="1"/>
        </dgm:presLayoutVars>
      </dgm:prSet>
      <dgm:spPr/>
      <dgm:t>
        <a:bodyPr/>
        <a:lstStyle/>
        <a:p>
          <a:endParaRPr lang="zh-CN" altLang="en-US"/>
        </a:p>
      </dgm:t>
    </dgm:pt>
  </dgm:ptLst>
  <dgm:cxnLst>
    <dgm:cxn modelId="{ACC7B2A1-17E2-4C23-B541-224E817BA20C}" type="presOf" srcId="{C4C756D0-11A8-4F58-ADD6-109F69DB6D46}" destId="{56308F05-9C6F-4168-94D1-139E66E21E29}" srcOrd="0" destOrd="1" presId="urn:microsoft.com/office/officeart/2005/8/layout/hList1"/>
    <dgm:cxn modelId="{66F6AFA8-7EFE-4A43-9A3D-72A92C3E3AC0}" type="presOf" srcId="{640FA84E-D24C-4A71-8726-ABEBB11DBFA7}" destId="{18114A28-018D-44D7-AF7A-D60D965430EC}" srcOrd="0" destOrd="0"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4638EDD7-45CD-4B25-8286-1B7EF72C1585}" srcId="{5449751D-EB9D-4373-893A-D2F5888DB8FC}" destId="{C4C756D0-11A8-4F58-ADD6-109F69DB6D46}" srcOrd="1" destOrd="0" parTransId="{D683D10C-57AB-4C10-9769-DBF4097AA893}" sibTransId="{86F29A84-6C15-4571-8FF5-B3A5C153DFAD}"/>
    <dgm:cxn modelId="{759464FF-C27D-425C-96F3-EEC7F1676B35}" srcId="{5449751D-EB9D-4373-893A-D2F5888DB8FC}" destId="{7CCBB12D-9E4D-487D-8378-589BB6565FF3}" srcOrd="3" destOrd="0" parTransId="{293005E5-8ACC-47EE-A886-CF5964C56A19}" sibTransId="{E387F7B8-20A7-4DEA-856A-6B567157E9D8}"/>
    <dgm:cxn modelId="{F55C9EEB-F37C-4E56-889B-76432DD5F50F}" type="presOf" srcId="{7CCBB12D-9E4D-487D-8378-589BB6565FF3}" destId="{56308F05-9C6F-4168-94D1-139E66E21E29}" srcOrd="0" destOrd="3" presId="urn:microsoft.com/office/officeart/2005/8/layout/hList1"/>
    <dgm:cxn modelId="{6D0F46F1-4AC4-4736-B900-19ECDC23E479}" srcId="{640FA84E-D24C-4A71-8726-ABEBB11DBFA7}" destId="{5449751D-EB9D-4373-893A-D2F5888DB8FC}" srcOrd="1" destOrd="0" parTransId="{328CCA76-77A8-4316-A94F-1D0317492727}" sibTransId="{F6B66E90-AD5B-457C-AAB4-88F3EC4A38ED}"/>
    <dgm:cxn modelId="{DF1AD42E-CB2D-42D1-B825-99E8FC2086F1}" srcId="{5449751D-EB9D-4373-893A-D2F5888DB8FC}" destId="{A63C9B60-172B-4DC9-9A5C-1AEAC4875897}" srcOrd="0" destOrd="0" parTransId="{6EEAD8AA-246A-4E0F-B3B7-C0CC12FB0CB7}" sibTransId="{7E736B33-8943-43C4-8301-E5C19CBA7CE8}"/>
    <dgm:cxn modelId="{B753547C-2B29-4B1B-A72E-60EA9B6F6E91}" srcId="{5449751D-EB9D-4373-893A-D2F5888DB8FC}" destId="{FD7B538E-BA8B-4398-A456-7F49453E20B7}" srcOrd="2" destOrd="0" parTransId="{9D640870-A10C-44BF-9CD5-3CDCBF003B8C}" sibTransId="{2E9E6DAA-946C-403F-87E2-162E0AACC27A}"/>
    <dgm:cxn modelId="{459C802C-FBE1-44FB-907E-8CB3451091E5}" type="presOf" srcId="{FD7B538E-BA8B-4398-A456-7F49453E20B7}" destId="{56308F05-9C6F-4168-94D1-139E66E21E29}" srcOrd="0" destOrd="2" presId="urn:microsoft.com/office/officeart/2005/8/layout/hList1"/>
    <dgm:cxn modelId="{424DF999-509C-4CBE-938B-E6AB41036969}" type="presOf" srcId="{09A0DAAE-BBFE-4AB5-AD9D-1D5FFFFCD3E3}" destId="{4E1C6945-3361-4332-9057-7162DBC9BE74}" srcOrd="0" destOrd="0" presId="urn:microsoft.com/office/officeart/2005/8/layout/hList1"/>
    <dgm:cxn modelId="{B96D9B56-5617-48F7-B19C-343E3F206AA8}" type="presOf" srcId="{5449751D-EB9D-4373-893A-D2F5888DB8FC}" destId="{68DA0B6D-3EBF-4324-92AB-1CC040E6E5B2}" srcOrd="0" destOrd="0" presId="urn:microsoft.com/office/officeart/2005/8/layout/hList1"/>
    <dgm:cxn modelId="{7D5A0A0D-4290-4EEE-BE5D-94B3943B33FB}" type="presOf" srcId="{64E223BE-32F1-486C-B4B4-A6AF93F9F36C}" destId="{4E1C6945-3361-4332-9057-7162DBC9BE74}" srcOrd="0" destOrd="1" presId="urn:microsoft.com/office/officeart/2005/8/layout/hList1"/>
    <dgm:cxn modelId="{BDE0994F-91FE-4665-86F0-4A11BDE9BB10}" srcId="{4A67B12B-F27E-4426-AA87-6EFCC170D45C}" destId="{64E223BE-32F1-486C-B4B4-A6AF93F9F36C}" srcOrd="1" destOrd="0" parTransId="{5349B983-CC63-40F5-9599-070B484B227A}" sibTransId="{72B9F3AD-116E-4F82-9B5B-F5F26528299A}"/>
    <dgm:cxn modelId="{3A5BA247-2FD8-41F6-A0FA-D35ED6ABC45F}" srcId="{640FA84E-D24C-4A71-8726-ABEBB11DBFA7}" destId="{4A67B12B-F27E-4426-AA87-6EFCC170D45C}" srcOrd="0" destOrd="0" parTransId="{5BEE43B6-8E9E-4602-B465-7FED085A3832}" sibTransId="{D99E4612-C65B-423F-A46B-414E3F4A9548}"/>
    <dgm:cxn modelId="{8551894B-0E24-43B6-ADCF-1077DF74389C}" type="presOf" srcId="{A63C9B60-172B-4DC9-9A5C-1AEAC4875897}" destId="{56308F05-9C6F-4168-94D1-139E66E21E29}" srcOrd="0" destOrd="0" presId="urn:microsoft.com/office/officeart/2005/8/layout/hList1"/>
    <dgm:cxn modelId="{9EC04E04-7BBD-42A1-AFF5-CDFF6F65FF51}" type="presOf" srcId="{4A67B12B-F27E-4426-AA87-6EFCC170D45C}" destId="{73F60847-C5CB-4E1F-92CA-969FDFBB52DB}" srcOrd="0" destOrd="0" presId="urn:microsoft.com/office/officeart/2005/8/layout/hList1"/>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3811477" cy="1589100"/>
        <a:chOff x="0" y="0"/>
        <a:chExt cx="3811477" cy="1589100"/>
      </a:xfrm>
    </dsp:grpSpPr>
    <dsp:sp modelId="{7908BCB8-DE9B-4BF1-8D07-3A3FD24C7968}">
      <dsp:nvSpPr>
        <dsp:cNvPr id="3" name="圆角矩形 2"/>
        <dsp:cNvSpPr/>
      </dsp:nvSpPr>
      <dsp:spPr bwMode="white">
        <a:xfrm>
          <a:off x="0" y="0"/>
          <a:ext cx="3811477" cy="482981"/>
        </a:xfrm>
        <a:prstGeom prst="roundRect">
          <a:avLst>
            <a:gd name="adj" fmla="val 10000"/>
          </a:avLst>
        </a:prstGeom>
        <a:sp3d prstMaterial="dkEdge">
          <a:bevelT w="8200" h="38100"/>
        </a:sp3d>
      </dsp:spPr>
      <dsp:style>
        <a:lnRef idx="0">
          <a:schemeClr val="lt1"/>
        </a:lnRef>
        <a:fillRef idx="2">
          <a:schemeClr val="accent1"/>
        </a:fillRef>
        <a:effectRef idx="1">
          <a:scrgbClr r="0" g="0" b="0"/>
        </a:effectRef>
        <a:fontRef idx="minor">
          <a:schemeClr val="dk1"/>
        </a:fontRef>
      </dsp:style>
      <dsp:txBody>
        <a:bodyPr lIns="60960" tIns="60960" rIns="60960" bIns="6096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600" b="1" dirty="0" smtClean="0">
              <a:latin typeface="微软雅黑" panose="020B0503020204020204" pitchFamily="34" charset="-122"/>
              <a:ea typeface="微软雅黑" panose="020B0503020204020204" pitchFamily="34" charset="-122"/>
            </a:rPr>
            <a:t>不同于网络应用</a:t>
          </a:r>
          <a:endParaRPr lang="zh-CN" altLang="en-US" sz="1600" b="1" dirty="0">
            <a:latin typeface="微软雅黑" panose="020B0503020204020204" pitchFamily="34" charset="-122"/>
            <a:ea typeface="微软雅黑" panose="020B0503020204020204" pitchFamily="34" charset="-122"/>
          </a:endParaRPr>
        </a:p>
      </dsp:txBody>
      <dsp:txXfrm>
        <a:off x="0" y="0"/>
        <a:ext cx="3811477" cy="482981"/>
      </dsp:txXfrm>
    </dsp:sp>
    <dsp:sp modelId="{F381CC4E-322C-45E6-B7E7-4ED70FA8CF2E}">
      <dsp:nvSpPr>
        <dsp:cNvPr id="4" name="圆角矩形 3"/>
        <dsp:cNvSpPr/>
      </dsp:nvSpPr>
      <dsp:spPr bwMode="white">
        <a:xfrm>
          <a:off x="0" y="526640"/>
          <a:ext cx="1828924" cy="325047"/>
        </a:xfrm>
        <a:prstGeom prst="roundRect">
          <a:avLst>
            <a:gd name="adj" fmla="val 10000"/>
          </a:avLst>
        </a:prstGeom>
        <a:sp3d prstMaterial="dkEdge">
          <a:bevelT w="8200" h="38100"/>
        </a:sp3d>
      </dsp:spPr>
      <dsp:style>
        <a:lnRef idx="0">
          <a:schemeClr val="lt1"/>
        </a:lnRef>
        <a:fillRef idx="2">
          <a:schemeClr val="accent3">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sz="1400" b="1" dirty="0" smtClean="0">
              <a:latin typeface="微软雅黑" panose="020B0503020204020204" pitchFamily="34" charset="-122"/>
              <a:ea typeface="微软雅黑" panose="020B0503020204020204" pitchFamily="34" charset="-122"/>
            </a:rPr>
            <a:t>万维网</a:t>
          </a:r>
          <a:endParaRPr lang="en-US" altLang="zh-CN" sz="1400" b="1" dirty="0" smtClean="0">
            <a:latin typeface="微软雅黑" panose="020B0503020204020204" pitchFamily="34" charset="-122"/>
            <a:ea typeface="微软雅黑" panose="020B0503020204020204" pitchFamily="34" charset="-122"/>
          </a:endParaRPr>
        </a:p>
      </dsp:txBody>
      <dsp:txXfrm>
        <a:off x="0" y="526640"/>
        <a:ext cx="1828924" cy="325047"/>
      </dsp:txXfrm>
    </dsp:sp>
    <dsp:sp modelId="{49899EA7-F8C0-4BB7-A6AD-5F40B1731420}">
      <dsp:nvSpPr>
        <dsp:cNvPr id="5" name="圆角矩形 4"/>
        <dsp:cNvSpPr/>
      </dsp:nvSpPr>
      <dsp:spPr bwMode="white">
        <a:xfrm>
          <a:off x="0" y="895347"/>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电子邮件</a:t>
          </a:r>
          <a:endParaRPr lang="en-US" altLang="zh-CN" sz="1400" b="1" dirty="0" smtClean="0">
            <a:latin typeface="微软雅黑" panose="020B0503020204020204" pitchFamily="34" charset="-122"/>
            <a:ea typeface="微软雅黑" panose="020B0503020204020204" pitchFamily="34" charset="-122"/>
          </a:endParaRPr>
        </a:p>
      </dsp:txBody>
      <dsp:txXfrm>
        <a:off x="0" y="895347"/>
        <a:ext cx="1828924" cy="325047"/>
      </dsp:txXfrm>
    </dsp:sp>
    <dsp:sp modelId="{D772C529-9144-4F64-AC62-C41998E87A93}">
      <dsp:nvSpPr>
        <dsp:cNvPr id="6" name="圆角矩形 5"/>
        <dsp:cNvSpPr/>
      </dsp:nvSpPr>
      <dsp:spPr bwMode="white">
        <a:xfrm>
          <a:off x="0" y="1264053"/>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文件传输</a:t>
          </a:r>
          <a:endParaRPr lang="en-US" altLang="zh-CN" sz="1400" b="1" dirty="0" smtClean="0">
            <a:latin typeface="微软雅黑" panose="020B0503020204020204" pitchFamily="34" charset="-122"/>
            <a:ea typeface="微软雅黑" panose="020B0503020204020204" pitchFamily="34" charset="-122"/>
          </a:endParaRPr>
        </a:p>
      </dsp:txBody>
      <dsp:txXfrm>
        <a:off x="0" y="1264053"/>
        <a:ext cx="1828924" cy="325047"/>
      </dsp:txXfrm>
    </dsp:sp>
    <dsp:sp modelId="{1F36E606-4D05-483A-959D-7AFAA3F99964}">
      <dsp:nvSpPr>
        <dsp:cNvPr id="7" name="圆角矩形 6"/>
        <dsp:cNvSpPr/>
      </dsp:nvSpPr>
      <dsp:spPr bwMode="white">
        <a:xfrm>
          <a:off x="1982553" y="526640"/>
          <a:ext cx="1828924" cy="325047"/>
        </a:xfrm>
        <a:prstGeom prst="roundRect">
          <a:avLst>
            <a:gd name="adj" fmla="val 10000"/>
          </a:avLst>
        </a:prstGeom>
        <a:sp3d prstMaterial="dkEdge">
          <a:bevelT w="8200" h="38100"/>
        </a:sp3d>
      </dsp:spPr>
      <dsp:style>
        <a:lnRef idx="0">
          <a:schemeClr val="lt1"/>
        </a:lnRef>
        <a:fillRef idx="2">
          <a:schemeClr val="accent3">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sz="1400" b="1" dirty="0" smtClean="0">
              <a:latin typeface="微软雅黑" panose="020B0503020204020204" pitchFamily="34" charset="-122"/>
              <a:ea typeface="微软雅黑" panose="020B0503020204020204" pitchFamily="34" charset="-122"/>
            </a:rPr>
            <a:t>HTTP</a:t>
          </a:r>
          <a:endParaRPr lang="en-US" altLang="zh-CN" sz="1400" b="1" dirty="0" smtClean="0">
            <a:latin typeface="微软雅黑" panose="020B0503020204020204" pitchFamily="34" charset="-122"/>
            <a:ea typeface="微软雅黑" panose="020B0503020204020204" pitchFamily="34" charset="-122"/>
          </a:endParaRPr>
        </a:p>
      </dsp:txBody>
      <dsp:txXfrm>
        <a:off x="1982553" y="526640"/>
        <a:ext cx="1828924" cy="325047"/>
      </dsp:txXfrm>
    </dsp:sp>
    <dsp:sp modelId="{07CD9CA8-8213-4B82-96DE-5A2E23AB39DC}">
      <dsp:nvSpPr>
        <dsp:cNvPr id="8" name="圆角矩形 7"/>
        <dsp:cNvSpPr/>
      </dsp:nvSpPr>
      <dsp:spPr bwMode="white">
        <a:xfrm>
          <a:off x="1982553" y="895347"/>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altLang="zh-CN" sz="1400" b="1" dirty="0" smtClean="0">
              <a:latin typeface="微软雅黑" panose="020B0503020204020204" pitchFamily="34" charset="-122"/>
              <a:ea typeface="微软雅黑" panose="020B0503020204020204" pitchFamily="34" charset="-122"/>
            </a:rPr>
            <a:t>SMTP</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sp:txBody>
      <dsp:txXfrm>
        <a:off x="1982553" y="895347"/>
        <a:ext cx="1828924" cy="325047"/>
      </dsp:txXfrm>
    </dsp:sp>
    <dsp:sp modelId="{629FD194-4F20-42AB-A0D3-D63455B286FC}">
      <dsp:nvSpPr>
        <dsp:cNvPr id="9" name="圆角矩形 8"/>
        <dsp:cNvSpPr/>
      </dsp:nvSpPr>
      <dsp:spPr bwMode="white">
        <a:xfrm>
          <a:off x="1982553" y="1264053"/>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altLang="zh-CN" sz="1400" b="1" dirty="0" smtClean="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sp:txBody>
      <dsp:txXfrm>
        <a:off x="1982553" y="1264053"/>
        <a:ext cx="1828924" cy="325047"/>
      </dsp:txXfrm>
    </dsp:sp>
  </dsp:spTree>
</dsp:drawing>
</file>

<file path=ppt/diagrams/drawing2.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3811477" cy="1589100"/>
        <a:chOff x="0" y="0"/>
        <a:chExt cx="3811477" cy="1589100"/>
      </a:xfrm>
    </dsp:grpSpPr>
    <dsp:sp modelId="{7908BCB8-DE9B-4BF1-8D07-3A3FD24C7968}">
      <dsp:nvSpPr>
        <dsp:cNvPr id="3" name="圆角矩形 2"/>
        <dsp:cNvSpPr/>
      </dsp:nvSpPr>
      <dsp:spPr bwMode="white">
        <a:xfrm>
          <a:off x="0" y="0"/>
          <a:ext cx="3811477" cy="482981"/>
        </a:xfrm>
        <a:prstGeom prst="roundRect">
          <a:avLst>
            <a:gd name="adj" fmla="val 10000"/>
          </a:avLst>
        </a:prstGeom>
        <a:sp3d prstMaterial="dkEdge">
          <a:bevelT w="8200" h="38100"/>
        </a:sp3d>
      </dsp:spPr>
      <dsp:style>
        <a:lnRef idx="0">
          <a:schemeClr val="lt1"/>
        </a:lnRef>
        <a:fillRef idx="2">
          <a:schemeClr val="accent2"/>
        </a:fillRef>
        <a:effectRef idx="1">
          <a:scrgbClr r="0" g="0" b="0"/>
        </a:effectRef>
        <a:fontRef idx="minor">
          <a:schemeClr val="dk1"/>
        </a:fontRef>
      </dsp:style>
      <dsp:txBody>
        <a:bodyPr lIns="60960" tIns="60960" rIns="60960" bIns="6096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600" b="1" dirty="0" smtClean="0">
              <a:latin typeface="微软雅黑" panose="020B0503020204020204" pitchFamily="34" charset="-122"/>
              <a:ea typeface="微软雅黑" panose="020B0503020204020204" pitchFamily="34" charset="-122"/>
            </a:rPr>
            <a:t>许多都基于客户服务器方式</a:t>
          </a:r>
          <a:endParaRPr lang="zh-CN" altLang="en-US" sz="1600" b="1" dirty="0">
            <a:latin typeface="微软雅黑" panose="020B0503020204020204" pitchFamily="34" charset="-122"/>
            <a:ea typeface="微软雅黑" panose="020B0503020204020204" pitchFamily="34" charset="-122"/>
          </a:endParaRPr>
        </a:p>
      </dsp:txBody>
      <dsp:txXfrm>
        <a:off x="0" y="0"/>
        <a:ext cx="3811477" cy="482981"/>
      </dsp:txXfrm>
    </dsp:sp>
    <dsp:sp modelId="{F381CC4E-322C-45E6-B7E7-4ED70FA8CF2E}">
      <dsp:nvSpPr>
        <dsp:cNvPr id="4" name="圆角矩形 3"/>
        <dsp:cNvSpPr/>
      </dsp:nvSpPr>
      <dsp:spPr bwMode="white">
        <a:xfrm>
          <a:off x="0" y="526640"/>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客户 </a:t>
          </a:r>
          <a:r>
            <a:rPr lang="en-US" altLang="zh-CN" sz="1400" b="1" dirty="0" smtClean="0">
              <a:latin typeface="微软雅黑" panose="020B0503020204020204" pitchFamily="34" charset="-122"/>
              <a:ea typeface="微软雅黑" panose="020B0503020204020204" pitchFamily="34" charset="-122"/>
            </a:rPr>
            <a:t>(client)</a:t>
          </a:r>
        </a:p>
      </dsp:txBody>
      <dsp:txXfrm>
        <a:off x="0" y="526640"/>
        <a:ext cx="1828924" cy="325047"/>
      </dsp:txXfrm>
    </dsp:sp>
    <dsp:sp modelId="{49899EA7-F8C0-4BB7-A6AD-5F40B1731420}">
      <dsp:nvSpPr>
        <dsp:cNvPr id="5" name="圆角矩形 4"/>
        <dsp:cNvSpPr/>
      </dsp:nvSpPr>
      <dsp:spPr bwMode="white">
        <a:xfrm>
          <a:off x="0" y="895347"/>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服务请求方</a:t>
          </a:r>
          <a:endParaRPr lang="en-US" altLang="zh-CN" sz="1400" b="1" dirty="0" smtClean="0">
            <a:latin typeface="微软雅黑" panose="020B0503020204020204" pitchFamily="34" charset="-122"/>
            <a:ea typeface="微软雅黑" panose="020B0503020204020204" pitchFamily="34" charset="-122"/>
          </a:endParaRPr>
        </a:p>
      </dsp:txBody>
      <dsp:txXfrm>
        <a:off x="0" y="895347"/>
        <a:ext cx="1828924" cy="325047"/>
      </dsp:txXfrm>
    </dsp:sp>
    <dsp:sp modelId="{D772C529-9144-4F64-AC62-C41998E87A93}">
      <dsp:nvSpPr>
        <dsp:cNvPr id="6" name="圆角矩形 5"/>
        <dsp:cNvSpPr/>
      </dsp:nvSpPr>
      <dsp:spPr bwMode="white">
        <a:xfrm>
          <a:off x="0" y="1264053"/>
          <a:ext cx="1828924" cy="325047"/>
        </a:xfrm>
        <a:prstGeom prst="roundRect">
          <a:avLst>
            <a:gd name="adj" fmla="val 10000"/>
          </a:avLst>
        </a:prstGeom>
        <a:sp3d prstMaterial="dkEdge">
          <a:bevelT w="8200" h="38100"/>
        </a:sp3d>
      </dsp:spPr>
      <dsp:style>
        <a:lnRef idx="0">
          <a:schemeClr val="lt1"/>
        </a:lnRef>
        <a:fillRef idx="2">
          <a:schemeClr val="accent6">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en-US" altLang="zh-CN" sz="1400" b="1" dirty="0" smtClean="0">
            <a:latin typeface="微软雅黑" panose="020B0503020204020204" pitchFamily="34" charset="-122"/>
            <a:ea typeface="微软雅黑" panose="020B0503020204020204" pitchFamily="34" charset="-122"/>
          </a:endParaRPr>
        </a:p>
      </dsp:txBody>
      <dsp:txXfrm>
        <a:off x="0" y="1264053"/>
        <a:ext cx="1828924" cy="325047"/>
      </dsp:txXfrm>
    </dsp:sp>
    <dsp:sp modelId="{1F36E606-4D05-483A-959D-7AFAA3F99964}">
      <dsp:nvSpPr>
        <dsp:cNvPr id="7" name="圆角矩形 6"/>
        <dsp:cNvSpPr/>
      </dsp:nvSpPr>
      <dsp:spPr bwMode="white">
        <a:xfrm>
          <a:off x="1982553" y="526640"/>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服务器 </a:t>
          </a:r>
          <a:r>
            <a:rPr lang="en-US" altLang="zh-CN" sz="1400" b="1" dirty="0" smtClean="0">
              <a:latin typeface="微软雅黑" panose="020B0503020204020204" pitchFamily="34" charset="-122"/>
              <a:ea typeface="微软雅黑" panose="020B0503020204020204" pitchFamily="34" charset="-122"/>
            </a:rPr>
            <a:t>(server)</a:t>
          </a:r>
        </a:p>
      </dsp:txBody>
      <dsp:txXfrm>
        <a:off x="1982553" y="526640"/>
        <a:ext cx="1828924" cy="325047"/>
      </dsp:txXfrm>
    </dsp:sp>
    <dsp:sp modelId="{07CD9CA8-8213-4B82-96DE-5A2E23AB39DC}">
      <dsp:nvSpPr>
        <dsp:cNvPr id="8" name="圆角矩形 7"/>
        <dsp:cNvSpPr/>
      </dsp:nvSpPr>
      <dsp:spPr bwMode="white">
        <a:xfrm>
          <a:off x="1982553" y="895347"/>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sp:txBody>
      <dsp:txXfrm>
        <a:off x="1982553" y="895347"/>
        <a:ext cx="1828924" cy="325047"/>
      </dsp:txXfrm>
    </dsp:sp>
    <dsp:sp modelId="{629FD194-4F20-42AB-A0D3-D63455B286FC}">
      <dsp:nvSpPr>
        <dsp:cNvPr id="9" name="圆角矩形 8"/>
        <dsp:cNvSpPr/>
      </dsp:nvSpPr>
      <dsp:spPr bwMode="white">
        <a:xfrm>
          <a:off x="1982553" y="1264053"/>
          <a:ext cx="1828924" cy="325047"/>
        </a:xfrm>
        <a:prstGeom prst="roundRect">
          <a:avLst>
            <a:gd name="adj" fmla="val 10000"/>
          </a:avLst>
        </a:prstGeom>
        <a:sp3d prstMaterial="dkEdge">
          <a:bevelT w="8200" h="38100"/>
        </a:sp3d>
      </dsp:spPr>
      <dsp:style>
        <a:lnRef idx="0">
          <a:schemeClr val="lt1"/>
        </a:lnRef>
        <a:fillRef idx="2">
          <a:schemeClr val="accent6">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zh-CN" altLang="en-US" sz="1400" b="1" dirty="0">
            <a:latin typeface="微软雅黑" panose="020B0503020204020204" pitchFamily="34" charset="-122"/>
            <a:ea typeface="微软雅黑" panose="020B0503020204020204" pitchFamily="34" charset="-122"/>
          </a:endParaRPr>
        </a:p>
      </dsp:txBody>
      <dsp:txXfrm>
        <a:off x="1982553" y="1264053"/>
        <a:ext cx="1828924" cy="32504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69D0B0-1884-46A2-8F10-145B05B89842}">
      <dsp:nvSpPr>
        <dsp:cNvPr id="0" name=""/>
        <dsp:cNvSpPr/>
      </dsp:nvSpPr>
      <dsp:spPr>
        <a:xfrm>
          <a:off x="31" y="25026"/>
          <a:ext cx="3025569" cy="5760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smtClean="0">
              <a:latin typeface="微软雅黑" panose="020B0503020204020204" pitchFamily="34" charset="-122"/>
              <a:ea typeface="微软雅黑" panose="020B0503020204020204" pitchFamily="34" charset="-122"/>
            </a:rPr>
            <a:t>递归查询</a:t>
          </a:r>
          <a:endParaRPr lang="zh-CN" altLang="en-US" sz="1800" b="1" kern="1200" dirty="0">
            <a:latin typeface="微软雅黑" panose="020B0503020204020204" pitchFamily="34" charset="-122"/>
            <a:ea typeface="微软雅黑" panose="020B0503020204020204" pitchFamily="34" charset="-122"/>
          </a:endParaRPr>
        </a:p>
      </dsp:txBody>
      <dsp:txXfrm>
        <a:off x="31" y="25026"/>
        <a:ext cx="3025569" cy="576000"/>
      </dsp:txXfrm>
    </dsp:sp>
    <dsp:sp modelId="{03A5736B-9407-4E51-943F-C4127641647B}">
      <dsp:nvSpPr>
        <dsp:cNvPr id="0" name=""/>
        <dsp:cNvSpPr/>
      </dsp:nvSpPr>
      <dsp:spPr>
        <a:xfrm>
          <a:off x="31" y="601026"/>
          <a:ext cx="3025569" cy="2216587"/>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通常，主机向本地域名服务器查询时使用。</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若不知道，就以 </a:t>
          </a:r>
          <a:r>
            <a:rPr lang="en-US" altLang="en-US" sz="1600" b="1" kern="1200" dirty="0" smtClean="0">
              <a:latin typeface="微软雅黑" panose="020B0503020204020204" pitchFamily="34" charset="-122"/>
              <a:ea typeface="微软雅黑" panose="020B0503020204020204" pitchFamily="34" charset="-122"/>
            </a:rPr>
            <a:t>DNS </a:t>
          </a:r>
          <a:r>
            <a:rPr lang="zh-CN" altLang="en-US" sz="1600" b="1" kern="1200" dirty="0" smtClean="0">
              <a:latin typeface="微软雅黑" panose="020B0503020204020204" pitchFamily="34" charset="-122"/>
              <a:ea typeface="微软雅黑" panose="020B0503020204020204" pitchFamily="34" charset="-122"/>
            </a:rPr>
            <a:t>客户的身份，向其他根域名服务器继续发出查询请求报文。</a:t>
          </a:r>
          <a:endParaRPr lang="zh-CN" altLang="en-US" sz="1600" b="1" kern="1200" dirty="0">
            <a:latin typeface="微软雅黑" panose="020B0503020204020204" pitchFamily="34" charset="-122"/>
            <a:ea typeface="微软雅黑" panose="020B0503020204020204" pitchFamily="34" charset="-122"/>
          </a:endParaRPr>
        </a:p>
      </dsp:txBody>
      <dsp:txXfrm>
        <a:off x="31" y="601026"/>
        <a:ext cx="3025569" cy="2216587"/>
      </dsp:txXfrm>
    </dsp:sp>
    <dsp:sp modelId="{B2079A84-D30A-43B1-81D6-28B09A3A7626}">
      <dsp:nvSpPr>
        <dsp:cNvPr id="0" name=""/>
        <dsp:cNvSpPr/>
      </dsp:nvSpPr>
      <dsp:spPr>
        <a:xfrm>
          <a:off x="3449180" y="25026"/>
          <a:ext cx="3025569" cy="5760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smtClean="0">
              <a:latin typeface="微软雅黑" panose="020B0503020204020204" pitchFamily="34" charset="-122"/>
              <a:ea typeface="微软雅黑" panose="020B0503020204020204" pitchFamily="34" charset="-122"/>
            </a:rPr>
            <a:t>迭代查询</a:t>
          </a:r>
          <a:endParaRPr lang="zh-CN" altLang="en-US" sz="1800" b="1" kern="1200" dirty="0">
            <a:latin typeface="微软雅黑" panose="020B0503020204020204" pitchFamily="34" charset="-122"/>
            <a:ea typeface="微软雅黑" panose="020B0503020204020204" pitchFamily="34" charset="-122"/>
          </a:endParaRPr>
        </a:p>
      </dsp:txBody>
      <dsp:txXfrm>
        <a:off x="3449180" y="25026"/>
        <a:ext cx="3025569" cy="576000"/>
      </dsp:txXfrm>
    </dsp:sp>
    <dsp:sp modelId="{802EC7D4-495D-4461-A980-1E7E46187315}">
      <dsp:nvSpPr>
        <dsp:cNvPr id="0" name=""/>
        <dsp:cNvSpPr/>
      </dsp:nvSpPr>
      <dsp:spPr>
        <a:xfrm>
          <a:off x="3449180" y="601026"/>
          <a:ext cx="3025569" cy="2216587"/>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本地域名服务器向根域名服务器查询时使用。</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要么给出所要查询的 </a:t>
          </a:r>
          <a:r>
            <a:rPr lang="en-US" altLang="en-US" sz="1600" b="1" kern="1200" dirty="0" smtClean="0">
              <a:latin typeface="微软雅黑" panose="020B0503020204020204" pitchFamily="34" charset="-122"/>
              <a:ea typeface="微软雅黑" panose="020B0503020204020204" pitchFamily="34" charset="-122"/>
            </a:rPr>
            <a:t>IP </a:t>
          </a:r>
          <a:r>
            <a:rPr lang="zh-CN" altLang="en-US" sz="1600" b="1" kern="1200" dirty="0" smtClean="0">
              <a:latin typeface="微软雅黑" panose="020B0503020204020204" pitchFamily="34" charset="-122"/>
              <a:ea typeface="微软雅黑" panose="020B0503020204020204" pitchFamily="34" charset="-122"/>
            </a:rPr>
            <a:t>地址，要么告诉下一个要查询的域名服务器的 </a:t>
          </a:r>
          <a:r>
            <a:rPr lang="en-US" altLang="zh-CN" sz="1600" b="1" kern="1200" dirty="0" smtClean="0">
              <a:latin typeface="微软雅黑" panose="020B0503020204020204" pitchFamily="34" charset="-122"/>
              <a:ea typeface="微软雅黑" panose="020B0503020204020204" pitchFamily="34" charset="-122"/>
            </a:rPr>
            <a:t>IP </a:t>
          </a:r>
          <a:r>
            <a:rPr lang="zh-CN" altLang="en-US" sz="1600" b="1" kern="1200" dirty="0" smtClean="0">
              <a:latin typeface="微软雅黑" panose="020B0503020204020204" pitchFamily="34" charset="-122"/>
              <a:ea typeface="微软雅黑" panose="020B0503020204020204" pitchFamily="34" charset="-122"/>
            </a:rPr>
            <a:t>地址。</a:t>
          </a:r>
        </a:p>
        <a:p>
          <a:pPr marL="171450" lvl="1" indent="-171450" algn="l" defTabSz="711200">
            <a:lnSpc>
              <a:spcPct val="90000"/>
            </a:lnSpc>
            <a:spcBef>
              <a:spcPct val="0"/>
            </a:spcBef>
            <a:spcAft>
              <a:spcPct val="15000"/>
            </a:spcAft>
            <a:buChar char="••"/>
          </a:pPr>
          <a:r>
            <a:rPr lang="zh-CN" altLang="en-US" sz="1600" b="1" kern="1200" dirty="0" smtClean="0">
              <a:latin typeface="微软雅黑" panose="020B0503020204020204" pitchFamily="34" charset="-122"/>
              <a:ea typeface="微软雅黑" panose="020B0503020204020204" pitchFamily="34" charset="-122"/>
            </a:rPr>
            <a:t>本地域名服务器继续后续查询。</a:t>
          </a:r>
        </a:p>
      </dsp:txBody>
      <dsp:txXfrm>
        <a:off x="3449180" y="601026"/>
        <a:ext cx="3025569" cy="2216587"/>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526FD6-3C16-45F7-931B-D3253D84A49B}">
      <dsp:nvSpPr>
        <dsp:cNvPr id="0" name=""/>
        <dsp:cNvSpPr/>
      </dsp:nvSpPr>
      <dsp:spPr>
        <a:xfrm>
          <a:off x="0" y="672"/>
          <a:ext cx="8048776" cy="350542"/>
        </a:xfrm>
        <a:prstGeom prst="roundRect">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altLang="zh-CN" sz="1400" b="1" kern="1200" dirty="0" smtClean="0">
              <a:solidFill>
                <a:schemeClr val="bg1"/>
              </a:solidFill>
              <a:latin typeface="微软雅黑" pitchFamily="34" charset="-122"/>
              <a:ea typeface="微软雅黑" pitchFamily="34" charset="-122"/>
            </a:rPr>
            <a:t>	</a:t>
          </a:r>
          <a:r>
            <a:rPr lang="zh-CN" sz="1600" b="1" kern="1200" dirty="0" smtClean="0">
              <a:solidFill>
                <a:schemeClr val="bg1"/>
              </a:solidFill>
              <a:latin typeface="微软雅黑" pitchFamily="34" charset="-122"/>
              <a:ea typeface="微软雅黑" pitchFamily="34" charset="-122"/>
            </a:rPr>
            <a:t>方法（操作）</a:t>
          </a:r>
          <a:r>
            <a:rPr lang="en-US" sz="1600" b="1" kern="1200" dirty="0" smtClean="0">
              <a:solidFill>
                <a:schemeClr val="bg1"/>
              </a:solidFill>
              <a:latin typeface="微软雅黑" pitchFamily="34" charset="-122"/>
              <a:ea typeface="微软雅黑" pitchFamily="34" charset="-122"/>
            </a:rPr>
            <a:t>				</a:t>
          </a:r>
          <a:r>
            <a:rPr lang="zh-CN" sz="1600" b="1" kern="1200" dirty="0" smtClean="0">
              <a:solidFill>
                <a:schemeClr val="bg1"/>
              </a:solidFill>
              <a:latin typeface="微软雅黑" pitchFamily="34" charset="-122"/>
              <a:ea typeface="微软雅黑" pitchFamily="34" charset="-122"/>
            </a:rPr>
            <a:t>意义</a:t>
          </a:r>
          <a:endParaRPr lang="zh-CN" sz="1600" kern="1200" dirty="0">
            <a:solidFill>
              <a:schemeClr val="bg1"/>
            </a:solidFill>
            <a:latin typeface="微软雅黑" pitchFamily="34" charset="-122"/>
            <a:ea typeface="微软雅黑" pitchFamily="34" charset="-122"/>
          </a:endParaRPr>
        </a:p>
      </dsp:txBody>
      <dsp:txXfrm>
        <a:off x="17112" y="17784"/>
        <a:ext cx="8014552" cy="316318"/>
      </dsp:txXfrm>
    </dsp:sp>
    <dsp:sp modelId="{50B73F1F-44EA-4F89-8398-75FE0BB22E10}">
      <dsp:nvSpPr>
        <dsp:cNvPr id="0" name=""/>
        <dsp:cNvSpPr/>
      </dsp:nvSpPr>
      <dsp:spPr>
        <a:xfrm>
          <a:off x="0" y="362001"/>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OPTION		  </a:t>
          </a:r>
          <a:r>
            <a:rPr lang="zh-CN" sz="1400" b="1" kern="1200" dirty="0" smtClean="0">
              <a:solidFill>
                <a:schemeClr val="tx1"/>
              </a:solidFill>
              <a:latin typeface="微软雅黑" pitchFamily="34" charset="-122"/>
              <a:ea typeface="微软雅黑" pitchFamily="34" charset="-122"/>
            </a:rPr>
            <a:t>请求一些选项的信息</a:t>
          </a:r>
          <a:endParaRPr lang="zh-CN" sz="1400" kern="1200" dirty="0">
            <a:solidFill>
              <a:schemeClr val="tx1"/>
            </a:solidFill>
            <a:latin typeface="微软雅黑" pitchFamily="34" charset="-122"/>
            <a:ea typeface="微软雅黑" pitchFamily="34" charset="-122"/>
          </a:endParaRPr>
        </a:p>
      </dsp:txBody>
      <dsp:txXfrm>
        <a:off x="17112" y="379113"/>
        <a:ext cx="8014552" cy="316318"/>
      </dsp:txXfrm>
    </dsp:sp>
    <dsp:sp modelId="{FD5606E7-7379-4F33-830F-006516F4DFDB}">
      <dsp:nvSpPr>
        <dsp:cNvPr id="0" name=""/>
        <dsp:cNvSpPr/>
      </dsp:nvSpPr>
      <dsp:spPr>
        <a:xfrm>
          <a:off x="0" y="723330"/>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GET               		  </a:t>
          </a:r>
          <a:r>
            <a:rPr lang="zh-CN" sz="1400" b="1" kern="1200" dirty="0" smtClean="0">
              <a:solidFill>
                <a:schemeClr val="tx1"/>
              </a:solidFill>
              <a:latin typeface="微软雅黑" pitchFamily="34" charset="-122"/>
              <a:ea typeface="微软雅黑" pitchFamily="34" charset="-122"/>
            </a:rPr>
            <a:t>请求读取由 </a:t>
          </a:r>
          <a:r>
            <a:rPr lang="en-US" sz="1400" b="1" kern="1200" dirty="0" smtClean="0">
              <a:solidFill>
                <a:schemeClr val="tx1"/>
              </a:solidFill>
              <a:latin typeface="微软雅黑" pitchFamily="34" charset="-122"/>
              <a:ea typeface="微软雅黑" pitchFamily="34" charset="-122"/>
            </a:rPr>
            <a:t>URL</a:t>
          </a:r>
          <a:r>
            <a:rPr lang="zh-CN" sz="1400" b="1" kern="1200" dirty="0" smtClean="0">
              <a:solidFill>
                <a:schemeClr val="tx1"/>
              </a:solidFill>
              <a:latin typeface="微软雅黑" pitchFamily="34" charset="-122"/>
              <a:ea typeface="微软雅黑" pitchFamily="34" charset="-122"/>
            </a:rPr>
            <a:t>所标志的信息</a:t>
          </a:r>
          <a:endParaRPr lang="zh-CN" sz="1400" kern="1200" dirty="0">
            <a:solidFill>
              <a:schemeClr val="tx1"/>
            </a:solidFill>
            <a:latin typeface="微软雅黑" pitchFamily="34" charset="-122"/>
            <a:ea typeface="微软雅黑" pitchFamily="34" charset="-122"/>
          </a:endParaRPr>
        </a:p>
      </dsp:txBody>
      <dsp:txXfrm>
        <a:off x="17112" y="740442"/>
        <a:ext cx="8014552" cy="316318"/>
      </dsp:txXfrm>
    </dsp:sp>
    <dsp:sp modelId="{E1C3FBBC-EA1F-4BAD-A2D7-05E9F414FDC7}">
      <dsp:nvSpPr>
        <dsp:cNvPr id="0" name=""/>
        <dsp:cNvSpPr/>
      </dsp:nvSpPr>
      <dsp:spPr>
        <a:xfrm>
          <a:off x="0" y="1084659"/>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HEAD              	  </a:t>
          </a:r>
          <a:r>
            <a:rPr lang="zh-CN" sz="1400" b="1" kern="1200" dirty="0" smtClean="0">
              <a:solidFill>
                <a:schemeClr val="tx1"/>
              </a:solidFill>
              <a:latin typeface="微软雅黑" pitchFamily="34" charset="-122"/>
              <a:ea typeface="微软雅黑" pitchFamily="34" charset="-122"/>
            </a:rPr>
            <a:t>请求读取由 </a:t>
          </a:r>
          <a:r>
            <a:rPr lang="en-US" sz="1400" b="1" kern="1200" dirty="0" smtClean="0">
              <a:solidFill>
                <a:schemeClr val="tx1"/>
              </a:solidFill>
              <a:latin typeface="微软雅黑" pitchFamily="34" charset="-122"/>
              <a:ea typeface="微软雅黑" pitchFamily="34" charset="-122"/>
            </a:rPr>
            <a:t>URL</a:t>
          </a:r>
          <a:r>
            <a:rPr lang="zh-CN" sz="1400" b="1" kern="1200" dirty="0" smtClean="0">
              <a:solidFill>
                <a:schemeClr val="tx1"/>
              </a:solidFill>
              <a:latin typeface="微软雅黑" pitchFamily="34" charset="-122"/>
              <a:ea typeface="微软雅黑" pitchFamily="34" charset="-122"/>
            </a:rPr>
            <a:t>所标志的信息的首部</a:t>
          </a:r>
          <a:endParaRPr lang="zh-CN" sz="1400" kern="1200" dirty="0">
            <a:solidFill>
              <a:schemeClr val="tx1"/>
            </a:solidFill>
            <a:latin typeface="微软雅黑" pitchFamily="34" charset="-122"/>
            <a:ea typeface="微软雅黑" pitchFamily="34" charset="-122"/>
          </a:endParaRPr>
        </a:p>
      </dsp:txBody>
      <dsp:txXfrm>
        <a:off x="17112" y="1101771"/>
        <a:ext cx="8014552" cy="316318"/>
      </dsp:txXfrm>
    </dsp:sp>
    <dsp:sp modelId="{0EB52B51-C389-4A36-BC05-864D852DF5FC}">
      <dsp:nvSpPr>
        <dsp:cNvPr id="0" name=""/>
        <dsp:cNvSpPr/>
      </dsp:nvSpPr>
      <dsp:spPr>
        <a:xfrm>
          <a:off x="0" y="1445988"/>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POST     	    	  </a:t>
          </a:r>
          <a:r>
            <a:rPr lang="zh-CN" sz="1400" b="1" kern="1200" dirty="0" smtClean="0">
              <a:solidFill>
                <a:schemeClr val="tx1"/>
              </a:solidFill>
              <a:latin typeface="微软雅黑" pitchFamily="34" charset="-122"/>
              <a:ea typeface="微软雅黑" pitchFamily="34" charset="-122"/>
            </a:rPr>
            <a:t>给服务器添加信息（例如，注释）</a:t>
          </a:r>
          <a:endParaRPr lang="zh-CN" sz="1400" kern="1200" dirty="0">
            <a:solidFill>
              <a:schemeClr val="tx1"/>
            </a:solidFill>
            <a:latin typeface="微软雅黑" pitchFamily="34" charset="-122"/>
            <a:ea typeface="微软雅黑" pitchFamily="34" charset="-122"/>
          </a:endParaRPr>
        </a:p>
      </dsp:txBody>
      <dsp:txXfrm>
        <a:off x="17112" y="1463100"/>
        <a:ext cx="8014552" cy="316318"/>
      </dsp:txXfrm>
    </dsp:sp>
    <dsp:sp modelId="{4E4C0534-037E-45A5-BADC-B7406AF7B1C3}">
      <dsp:nvSpPr>
        <dsp:cNvPr id="0" name=""/>
        <dsp:cNvSpPr/>
      </dsp:nvSpPr>
      <dsp:spPr>
        <a:xfrm>
          <a:off x="0" y="1807316"/>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PUT			  </a:t>
          </a:r>
          <a:r>
            <a:rPr lang="zh-CN" sz="1400" b="1" kern="1200" dirty="0" smtClean="0">
              <a:solidFill>
                <a:schemeClr val="tx1"/>
              </a:solidFill>
              <a:latin typeface="微软雅黑" pitchFamily="34" charset="-122"/>
              <a:ea typeface="微软雅黑" pitchFamily="34" charset="-122"/>
            </a:rPr>
            <a:t>在指明的 </a:t>
          </a:r>
          <a:r>
            <a:rPr lang="en-US" sz="1400" b="1" kern="1200" dirty="0" smtClean="0">
              <a:solidFill>
                <a:schemeClr val="tx1"/>
              </a:solidFill>
              <a:latin typeface="微软雅黑" pitchFamily="34" charset="-122"/>
              <a:ea typeface="微软雅黑" pitchFamily="34" charset="-122"/>
            </a:rPr>
            <a:t>URL</a:t>
          </a:r>
          <a:r>
            <a:rPr lang="zh-CN" sz="1400" b="1" kern="1200" dirty="0" smtClean="0">
              <a:solidFill>
                <a:schemeClr val="tx1"/>
              </a:solidFill>
              <a:latin typeface="微软雅黑" pitchFamily="34" charset="-122"/>
              <a:ea typeface="微软雅黑" pitchFamily="34" charset="-122"/>
            </a:rPr>
            <a:t>下存储一个文档</a:t>
          </a:r>
          <a:endParaRPr lang="zh-CN" sz="1400" kern="1200" dirty="0">
            <a:solidFill>
              <a:schemeClr val="tx1"/>
            </a:solidFill>
            <a:latin typeface="微软雅黑" pitchFamily="34" charset="-122"/>
            <a:ea typeface="微软雅黑" pitchFamily="34" charset="-122"/>
          </a:endParaRPr>
        </a:p>
      </dsp:txBody>
      <dsp:txXfrm>
        <a:off x="17112" y="1824428"/>
        <a:ext cx="8014552" cy="316318"/>
      </dsp:txXfrm>
    </dsp:sp>
    <dsp:sp modelId="{EC4E5CDF-5396-4684-B963-9679F944855F}">
      <dsp:nvSpPr>
        <dsp:cNvPr id="0" name=""/>
        <dsp:cNvSpPr/>
      </dsp:nvSpPr>
      <dsp:spPr>
        <a:xfrm>
          <a:off x="0" y="2168645"/>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DELETE		  </a:t>
          </a:r>
          <a:r>
            <a:rPr lang="zh-CN" sz="1400" b="1" kern="1200" dirty="0" smtClean="0">
              <a:solidFill>
                <a:schemeClr val="tx1"/>
              </a:solidFill>
              <a:latin typeface="微软雅黑" pitchFamily="34" charset="-122"/>
              <a:ea typeface="微软雅黑" pitchFamily="34" charset="-122"/>
            </a:rPr>
            <a:t>删除指明的 </a:t>
          </a:r>
          <a:r>
            <a:rPr lang="en-US" sz="1400" b="1" kern="1200" dirty="0" smtClean="0">
              <a:solidFill>
                <a:schemeClr val="tx1"/>
              </a:solidFill>
              <a:latin typeface="微软雅黑" pitchFamily="34" charset="-122"/>
              <a:ea typeface="微软雅黑" pitchFamily="34" charset="-122"/>
            </a:rPr>
            <a:t>URL</a:t>
          </a:r>
          <a:r>
            <a:rPr lang="zh-CN" sz="1400" b="1" kern="1200" dirty="0" smtClean="0">
              <a:solidFill>
                <a:schemeClr val="tx1"/>
              </a:solidFill>
              <a:latin typeface="微软雅黑" pitchFamily="34" charset="-122"/>
              <a:ea typeface="微软雅黑" pitchFamily="34" charset="-122"/>
            </a:rPr>
            <a:t>所标志的资源</a:t>
          </a:r>
          <a:endParaRPr lang="zh-CN" sz="1400" kern="1200" dirty="0">
            <a:solidFill>
              <a:schemeClr val="tx1"/>
            </a:solidFill>
            <a:latin typeface="微软雅黑" pitchFamily="34" charset="-122"/>
            <a:ea typeface="微软雅黑" pitchFamily="34" charset="-122"/>
          </a:endParaRPr>
        </a:p>
      </dsp:txBody>
      <dsp:txXfrm>
        <a:off x="17112" y="2185757"/>
        <a:ext cx="8014552" cy="316318"/>
      </dsp:txXfrm>
    </dsp:sp>
    <dsp:sp modelId="{21855FA6-2BB4-499A-A8A9-433441C6C9C7}">
      <dsp:nvSpPr>
        <dsp:cNvPr id="0" name=""/>
        <dsp:cNvSpPr/>
      </dsp:nvSpPr>
      <dsp:spPr>
        <a:xfrm>
          <a:off x="0" y="2529974"/>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TRACE			  </a:t>
          </a:r>
          <a:r>
            <a:rPr lang="zh-CN" sz="1400" b="1" kern="1200" dirty="0" smtClean="0">
              <a:solidFill>
                <a:schemeClr val="tx1"/>
              </a:solidFill>
              <a:latin typeface="微软雅黑" pitchFamily="34" charset="-122"/>
              <a:ea typeface="微软雅黑" pitchFamily="34" charset="-122"/>
            </a:rPr>
            <a:t>用来进行环回测试的请求报文</a:t>
          </a:r>
          <a:endParaRPr lang="zh-CN" sz="1400" kern="1200" dirty="0">
            <a:solidFill>
              <a:schemeClr val="tx1"/>
            </a:solidFill>
            <a:latin typeface="微软雅黑" pitchFamily="34" charset="-122"/>
            <a:ea typeface="微软雅黑" pitchFamily="34" charset="-122"/>
          </a:endParaRPr>
        </a:p>
      </dsp:txBody>
      <dsp:txXfrm>
        <a:off x="17112" y="2547086"/>
        <a:ext cx="8014552" cy="316318"/>
      </dsp:txXfrm>
    </dsp:sp>
    <dsp:sp modelId="{08F040B1-2CBD-4876-96AA-45AF94F7D94E}">
      <dsp:nvSpPr>
        <dsp:cNvPr id="0" name=""/>
        <dsp:cNvSpPr/>
      </dsp:nvSpPr>
      <dsp:spPr>
        <a:xfrm>
          <a:off x="0" y="2891303"/>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l" defTabSz="622300" rtl="0">
            <a:lnSpc>
              <a:spcPct val="90000"/>
            </a:lnSpc>
            <a:spcBef>
              <a:spcPct val="0"/>
            </a:spcBef>
            <a:spcAft>
              <a:spcPct val="35000"/>
            </a:spcAft>
          </a:pPr>
          <a:r>
            <a:rPr lang="en-US" sz="1400" b="1" kern="1200" dirty="0" smtClean="0">
              <a:solidFill>
                <a:schemeClr val="tx1"/>
              </a:solidFill>
              <a:latin typeface="微软雅黑" pitchFamily="34" charset="-122"/>
              <a:ea typeface="微软雅黑" pitchFamily="34" charset="-122"/>
            </a:rPr>
            <a:t>	CONNECT		  </a:t>
          </a:r>
          <a:r>
            <a:rPr lang="zh-CN" sz="1400" b="1" kern="1200" dirty="0" smtClean="0">
              <a:solidFill>
                <a:schemeClr val="tx1"/>
              </a:solidFill>
              <a:latin typeface="微软雅黑" pitchFamily="34" charset="-122"/>
              <a:ea typeface="微软雅黑" pitchFamily="34" charset="-122"/>
            </a:rPr>
            <a:t>用于代理服务器</a:t>
          </a:r>
          <a:endParaRPr lang="zh-CN" sz="1400" kern="1200" dirty="0">
            <a:solidFill>
              <a:schemeClr val="tx1"/>
            </a:solidFill>
            <a:latin typeface="微软雅黑" pitchFamily="34" charset="-122"/>
            <a:ea typeface="微软雅黑" pitchFamily="34" charset="-122"/>
          </a:endParaRPr>
        </a:p>
      </dsp:txBody>
      <dsp:txXfrm>
        <a:off x="17112" y="2908415"/>
        <a:ext cx="8014552" cy="316318"/>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5" y="12560"/>
          <a:ext cx="3359257" cy="4608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lvl="0" algn="ctr" defTabSz="622300">
            <a:lnSpc>
              <a:spcPct val="90000"/>
            </a:lnSpc>
            <a:spcBef>
              <a:spcPct val="0"/>
            </a:spcBef>
            <a:spcAft>
              <a:spcPct val="35000"/>
            </a:spcAft>
          </a:pPr>
          <a:r>
            <a:rPr lang="zh-CN" altLang="en-US" sz="1400" b="1" kern="1200" dirty="0" smtClean="0">
              <a:latin typeface="微软雅黑" panose="020B0503020204020204" pitchFamily="34" charset="-122"/>
              <a:ea typeface="微软雅黑" panose="020B0503020204020204" pitchFamily="34" charset="-122"/>
            </a:rPr>
            <a:t>全文检索搜索引擎</a:t>
          </a:r>
          <a:endParaRPr lang="zh-CN" altLang="en-US" sz="1400" b="1" kern="1200" dirty="0">
            <a:latin typeface="微软雅黑" panose="020B0503020204020204" pitchFamily="34" charset="-122"/>
            <a:ea typeface="微软雅黑" panose="020B0503020204020204" pitchFamily="34" charset="-122"/>
          </a:endParaRPr>
        </a:p>
      </dsp:txBody>
      <dsp:txXfrm>
        <a:off x="35" y="12560"/>
        <a:ext cx="3359257" cy="460800"/>
      </dsp:txXfrm>
    </dsp:sp>
    <dsp:sp modelId="{4E1C6945-3361-4332-9057-7162DBC9BE74}">
      <dsp:nvSpPr>
        <dsp:cNvPr id="0" name=""/>
        <dsp:cNvSpPr/>
      </dsp:nvSpPr>
      <dsp:spPr>
        <a:xfrm>
          <a:off x="35" y="473360"/>
          <a:ext cx="3359257" cy="307989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一种纯技术型的检索工具。</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通过搜索软件（例如一种叫做“蜘蛛”或“网络机器人”的 </a:t>
          </a:r>
          <a:r>
            <a:rPr lang="en-US" altLang="en-US" sz="1400" b="1" kern="1200" dirty="0" smtClean="0">
              <a:latin typeface="微软雅黑" panose="020B0503020204020204" pitchFamily="34" charset="-122"/>
              <a:ea typeface="微软雅黑" panose="020B0503020204020204" pitchFamily="34" charset="-122"/>
            </a:rPr>
            <a:t>Spider </a:t>
          </a:r>
          <a:r>
            <a:rPr lang="zh-CN" altLang="en-US" sz="1400" b="1" kern="1200" dirty="0" smtClean="0">
              <a:latin typeface="微软雅黑" panose="020B0503020204020204" pitchFamily="34" charset="-122"/>
              <a:ea typeface="微软雅黑" panose="020B0503020204020204" pitchFamily="34" charset="-122"/>
            </a:rPr>
            <a:t>程序）到互联网上的各网站收集信息。</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按照一定的规则建立一个很大的在线索引数据库。</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用户在查询时只要输入关键词，从已经建立的索引数据库里查询（非实时）。</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需要定期更新维护数据库。</a:t>
          </a:r>
          <a:endParaRPr lang="zh-CN" altLang="en-US" sz="1400" b="1" kern="1200" dirty="0">
            <a:latin typeface="微软雅黑" panose="020B0503020204020204" pitchFamily="34" charset="-122"/>
            <a:ea typeface="微软雅黑" panose="020B0503020204020204" pitchFamily="34" charset="-122"/>
          </a:endParaRPr>
        </a:p>
      </dsp:txBody>
      <dsp:txXfrm>
        <a:off x="35" y="473360"/>
        <a:ext cx="3359257" cy="3079890"/>
      </dsp:txXfrm>
    </dsp:sp>
    <dsp:sp modelId="{68DA0B6D-3EBF-4324-92AB-1CC040E6E5B2}">
      <dsp:nvSpPr>
        <dsp:cNvPr id="0" name=""/>
        <dsp:cNvSpPr/>
      </dsp:nvSpPr>
      <dsp:spPr>
        <a:xfrm>
          <a:off x="3829589" y="12560"/>
          <a:ext cx="3359257" cy="4608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lvl="0" algn="ctr" defTabSz="622300">
            <a:lnSpc>
              <a:spcPct val="90000"/>
            </a:lnSpc>
            <a:spcBef>
              <a:spcPct val="0"/>
            </a:spcBef>
            <a:spcAft>
              <a:spcPct val="35000"/>
            </a:spcAft>
          </a:pPr>
          <a:r>
            <a:rPr lang="zh-CN" altLang="en-US" sz="1400" b="1" kern="1200" dirty="0" smtClean="0">
              <a:latin typeface="微软雅黑" panose="020B0503020204020204" pitchFamily="34" charset="-122"/>
              <a:ea typeface="微软雅黑" panose="020B0503020204020204" pitchFamily="34" charset="-122"/>
            </a:rPr>
            <a:t>分类目录搜索引擎</a:t>
          </a:r>
          <a:endParaRPr lang="zh-CN" altLang="en-US" sz="1400" b="1" kern="1200" dirty="0">
            <a:latin typeface="微软雅黑" panose="020B0503020204020204" pitchFamily="34" charset="-122"/>
            <a:ea typeface="微软雅黑" panose="020B0503020204020204" pitchFamily="34" charset="-122"/>
          </a:endParaRPr>
        </a:p>
      </dsp:txBody>
      <dsp:txXfrm>
        <a:off x="3829589" y="12560"/>
        <a:ext cx="3359257" cy="460800"/>
      </dsp:txXfrm>
    </dsp:sp>
    <dsp:sp modelId="{56308F05-9C6F-4168-94D1-139E66E21E29}">
      <dsp:nvSpPr>
        <dsp:cNvPr id="0" name=""/>
        <dsp:cNvSpPr/>
      </dsp:nvSpPr>
      <dsp:spPr>
        <a:xfrm>
          <a:off x="3829589" y="473360"/>
          <a:ext cx="3359257" cy="307989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分类目录搜索也叫做分类网站搜索。 </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查询时只需要按照分类，不需要使用关键词，查询的准确性较好。</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查询的结果不是具体的页面，而是被收录网站主页的 </a:t>
          </a:r>
          <a:r>
            <a:rPr lang="en-US" altLang="en-US" sz="1400" b="1" kern="1200" dirty="0" smtClean="0">
              <a:latin typeface="微软雅黑" panose="020B0503020204020204" pitchFamily="34" charset="-122"/>
              <a:ea typeface="微软雅黑" panose="020B0503020204020204" pitchFamily="34" charset="-122"/>
            </a:rPr>
            <a:t>URL </a:t>
          </a:r>
          <a:r>
            <a:rPr lang="zh-CN" altLang="en-US" sz="1400" b="1" kern="1200" dirty="0" smtClean="0">
              <a:latin typeface="微软雅黑" panose="020B0503020204020204" pitchFamily="34" charset="-122"/>
              <a:ea typeface="微软雅黑" panose="020B0503020204020204" pitchFamily="34" charset="-122"/>
            </a:rPr>
            <a:t>地址。</a:t>
          </a:r>
        </a:p>
      </dsp:txBody>
      <dsp:txXfrm>
        <a:off x="3829589" y="473360"/>
        <a:ext cx="3359257" cy="3079890"/>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5" y="1090"/>
          <a:ext cx="3359257" cy="864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en-US" altLang="en-US" sz="1800" b="1" kern="1200" dirty="0" smtClean="0">
              <a:latin typeface="微软雅黑" panose="020B0503020204020204" pitchFamily="34" charset="-122"/>
              <a:ea typeface="微软雅黑" panose="020B0503020204020204" pitchFamily="34" charset="-122"/>
            </a:rPr>
            <a:t>1. </a:t>
          </a:r>
          <a:r>
            <a:rPr lang="zh-CN" altLang="en-US" sz="1800" b="1" kern="1200" dirty="0" smtClean="0">
              <a:latin typeface="微软雅黑" panose="020B0503020204020204" pitchFamily="34" charset="-122"/>
              <a:ea typeface="微软雅黑" panose="020B0503020204020204" pitchFamily="34" charset="-122"/>
            </a:rPr>
            <a:t>博客</a:t>
          </a:r>
          <a:endParaRPr lang="zh-CN" altLang="en-US" sz="1800" b="1" kern="1200" dirty="0">
            <a:latin typeface="微软雅黑" panose="020B0503020204020204" pitchFamily="34" charset="-122"/>
            <a:ea typeface="微软雅黑" panose="020B0503020204020204" pitchFamily="34" charset="-122"/>
          </a:endParaRPr>
        </a:p>
      </dsp:txBody>
      <dsp:txXfrm>
        <a:off x="35" y="1090"/>
        <a:ext cx="3359257" cy="864000"/>
      </dsp:txXfrm>
    </dsp:sp>
    <dsp:sp modelId="{4E1C6945-3361-4332-9057-7162DBC9BE74}">
      <dsp:nvSpPr>
        <dsp:cNvPr id="0" name=""/>
        <dsp:cNvSpPr/>
      </dsp:nvSpPr>
      <dsp:spPr>
        <a:xfrm>
          <a:off x="35" y="865090"/>
          <a:ext cx="3359257" cy="22646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smtClean="0">
              <a:latin typeface="微软雅黑" panose="020B0503020204020204" pitchFamily="34" charset="-122"/>
              <a:ea typeface="微软雅黑" panose="020B0503020204020204" pitchFamily="34" charset="-122"/>
            </a:rPr>
            <a:t>万维网日志 </a:t>
          </a:r>
          <a:r>
            <a:rPr lang="en-US" altLang="en-US" sz="1400" b="1" kern="1200" smtClean="0">
              <a:latin typeface="微软雅黑" panose="020B0503020204020204" pitchFamily="34" charset="-122"/>
              <a:ea typeface="微软雅黑" panose="020B0503020204020204" pitchFamily="34" charset="-122"/>
            </a:rPr>
            <a:t>(weblog) </a:t>
          </a:r>
          <a:r>
            <a:rPr lang="zh-CN" altLang="en-US" sz="1400" b="1" kern="1200" smtClean="0">
              <a:latin typeface="微软雅黑" panose="020B0503020204020204" pitchFamily="34" charset="-122"/>
              <a:ea typeface="微软雅黑" panose="020B0503020204020204" pitchFamily="34" charset="-122"/>
            </a:rPr>
            <a:t>的简称。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使网民不仅是互联网上内容的消费者，而且还是互联网上内容的生产者。</a:t>
          </a:r>
        </a:p>
      </dsp:txBody>
      <dsp:txXfrm>
        <a:off x="35" y="865090"/>
        <a:ext cx="3359257" cy="2264625"/>
      </dsp:txXfrm>
    </dsp:sp>
    <dsp:sp modelId="{68DA0B6D-3EBF-4324-92AB-1CC040E6E5B2}">
      <dsp:nvSpPr>
        <dsp:cNvPr id="0" name=""/>
        <dsp:cNvSpPr/>
      </dsp:nvSpPr>
      <dsp:spPr>
        <a:xfrm>
          <a:off x="3829589" y="1090"/>
          <a:ext cx="3359257" cy="8640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en-US" altLang="en-US" sz="1800" b="1" kern="1200" dirty="0" smtClean="0">
              <a:latin typeface="微软雅黑" panose="020B0503020204020204" pitchFamily="34" charset="-122"/>
              <a:ea typeface="微软雅黑" panose="020B0503020204020204" pitchFamily="34" charset="-122"/>
            </a:rPr>
            <a:t>2. </a:t>
          </a:r>
          <a:r>
            <a:rPr lang="zh-CN" altLang="en-US" sz="1800" b="1" kern="1200" dirty="0" smtClean="0">
              <a:latin typeface="微软雅黑" panose="020B0503020204020204" pitchFamily="34" charset="-122"/>
              <a:ea typeface="微软雅黑" panose="020B0503020204020204" pitchFamily="34" charset="-122"/>
            </a:rPr>
            <a:t>微博</a:t>
          </a:r>
          <a:endParaRPr lang="zh-CN" altLang="en-US" sz="1800" b="1" kern="1200" dirty="0">
            <a:latin typeface="微软雅黑" panose="020B0503020204020204" pitchFamily="34" charset="-122"/>
            <a:ea typeface="微软雅黑" panose="020B0503020204020204" pitchFamily="34" charset="-122"/>
          </a:endParaRPr>
        </a:p>
      </dsp:txBody>
      <dsp:txXfrm>
        <a:off x="3829589" y="1090"/>
        <a:ext cx="3359257" cy="864000"/>
      </dsp:txXfrm>
    </dsp:sp>
    <dsp:sp modelId="{56308F05-9C6F-4168-94D1-139E66E21E29}">
      <dsp:nvSpPr>
        <dsp:cNvPr id="0" name=""/>
        <dsp:cNvSpPr/>
      </dsp:nvSpPr>
      <dsp:spPr>
        <a:xfrm>
          <a:off x="3829589" y="865090"/>
          <a:ext cx="3359257" cy="2264625"/>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微型博客 </a:t>
          </a:r>
          <a:r>
            <a:rPr lang="en-US" altLang="en-US" sz="1400" b="1" kern="1200" dirty="0" smtClean="0">
              <a:latin typeface="微软雅黑" panose="020B0503020204020204" pitchFamily="34" charset="-122"/>
              <a:ea typeface="微软雅黑" panose="020B0503020204020204" pitchFamily="34" charset="-122"/>
            </a:rPr>
            <a:t>(microblog)</a:t>
          </a:r>
          <a:r>
            <a:rPr lang="zh-CN" altLang="en-US" sz="1400" b="1" kern="1200" dirty="0" smtClean="0">
              <a:latin typeface="微软雅黑" panose="020B0503020204020204" pitchFamily="34" charset="-122"/>
              <a:ea typeface="微软雅黑" panose="020B0503020204020204" pitchFamily="34" charset="-122"/>
            </a:rPr>
            <a:t>，又称为微博客。</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只</a:t>
          </a:r>
          <a:r>
            <a:rPr lang="zh-CN" altLang="en-US" sz="1400" b="1" kern="1200" dirty="0">
              <a:latin typeface="微软雅黑" panose="020B0503020204020204" pitchFamily="34" charset="-122"/>
              <a:ea typeface="微软雅黑" panose="020B0503020204020204" pitchFamily="34" charset="-122"/>
            </a:rPr>
            <a:t>记录片段、碎语，三言两语，现场记录，发发感慨，晒晒心情，永远只针对一个问题进行回答</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开通的多种 </a:t>
          </a:r>
          <a:r>
            <a:rPr lang="en-US" altLang="en-US" sz="1400" b="1" kern="1200" dirty="0" smtClean="0">
              <a:latin typeface="微软雅黑" panose="020B0503020204020204" pitchFamily="34" charset="-122"/>
              <a:ea typeface="微软雅黑" panose="020B0503020204020204" pitchFamily="34" charset="-122"/>
            </a:rPr>
            <a:t>API </a:t>
          </a:r>
          <a:r>
            <a:rPr lang="zh-CN" altLang="en-US" sz="1400" b="1" kern="1200" dirty="0" smtClean="0">
              <a:latin typeface="微软雅黑" panose="020B0503020204020204" pitchFamily="34" charset="-122"/>
              <a:ea typeface="微软雅黑" panose="020B0503020204020204" pitchFamily="34" charset="-122"/>
            </a:rPr>
            <a:t>使用户可通过手机、网络等方式即时更新自己的信息。</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smtClean="0">
              <a:latin typeface="微软雅黑" panose="020B0503020204020204" pitchFamily="34" charset="-122"/>
              <a:ea typeface="微软雅黑" panose="020B0503020204020204" pitchFamily="34" charset="-122"/>
            </a:rPr>
            <a:t>是一种互动及传播性极快的工具。</a:t>
          </a:r>
          <a:endParaRPr lang="zh-CN" altLang="en-US" sz="1400" b="1" kern="1200" dirty="0">
            <a:latin typeface="微软雅黑" panose="020B0503020204020204" pitchFamily="34" charset="-122"/>
            <a:ea typeface="微软雅黑" panose="020B0503020204020204" pitchFamily="34" charset="-122"/>
          </a:endParaRPr>
        </a:p>
      </dsp:txBody>
      <dsp:txXfrm>
        <a:off x="3829589" y="865090"/>
        <a:ext cx="3359257" cy="2264625"/>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alignNode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b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callout">
    <dgm:scene3d>
      <a:camera prst="orthographicFront"/>
      <a:lightRig rig="threePt" dir="t"/>
    </dgm:scene3d>
    <dgm:txPr/>
    <dgm:style>
      <a:lnRef idx="1">
        <a:scrgbClr r="0" g="0" b="0"/>
      </a:lnRef>
      <a:fillRef idx="2">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f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2">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alignNode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b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callout">
    <dgm:scene3d>
      <a:camera prst="orthographicFront"/>
      <a:lightRig rig="threePt" dir="t"/>
    </dgm:scene3d>
    <dgm:txPr/>
    <dgm:style>
      <a:lnRef idx="1">
        <a:scrgbClr r="0" g="0" b="0"/>
      </a:lnRef>
      <a:fillRef idx="2">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f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2">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7.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33.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8.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1.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0.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0.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2.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0.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4.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5.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6.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7.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9.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9.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9.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UDP</a:t>
            </a:r>
            <a:r>
              <a:rPr lang="zh-CN" altLang="en-US" dirty="0" smtClean="0"/>
              <a:t>服务器由于只提供无连接服务，因此不使用</a:t>
            </a:r>
            <a:r>
              <a:rPr lang="en-US" altLang="zh-CN" dirty="0" smtClean="0"/>
              <a:t>listen</a:t>
            </a:r>
            <a:r>
              <a:rPr lang="zh-CN" altLang="en-US" dirty="0" smtClean="0"/>
              <a:t>和</a:t>
            </a:r>
            <a:r>
              <a:rPr lang="en-US" altLang="zh-CN" dirty="0" smtClean="0"/>
              <a:t>accept</a:t>
            </a:r>
            <a:r>
              <a:rPr lang="zh-CN" altLang="en-US" dirty="0" smtClean="0"/>
              <a:t>系统调用。</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在</a:t>
            </a:r>
            <a:r>
              <a:rPr lang="en-US" altLang="zh-CN" dirty="0" smtClean="0"/>
              <a:t>connect</a:t>
            </a:r>
            <a:r>
              <a:rPr lang="zh-CN" altLang="en-US" dirty="0" smtClean="0"/>
              <a:t>系统调用中，客户必须指明远地端点（即远地服务器的</a:t>
            </a:r>
            <a:r>
              <a:rPr lang="en-US" altLang="zh-CN" dirty="0" smtClean="0"/>
              <a:t>IP</a:t>
            </a:r>
            <a:r>
              <a:rPr lang="zh-CN" altLang="en-US" dirty="0" smtClean="0"/>
              <a:t>地址和端口号）。</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调用用</a:t>
            </a:r>
            <a:r>
              <a:rPr lang="en-US" altLang="zh-CN" dirty="0" smtClean="0"/>
              <a:t>send</a:t>
            </a:r>
            <a:r>
              <a:rPr lang="zh-CN" altLang="en-US" dirty="0" smtClean="0"/>
              <a:t>需要三个变量：数据要发往的套接字的描述符、要发送的数据的地址以及数据的长度。</a:t>
            </a:r>
            <a:endParaRPr lang="en-US" altLang="zh-CN" dirty="0" smtClean="0"/>
          </a:p>
          <a:p>
            <a:r>
              <a:rPr lang="zh-CN" altLang="en-US" dirty="0" smtClean="0"/>
              <a:t>通常</a:t>
            </a:r>
            <a:r>
              <a:rPr lang="en-US" altLang="zh-CN" dirty="0" smtClean="0"/>
              <a:t>send</a:t>
            </a:r>
            <a:r>
              <a:rPr lang="zh-CN" altLang="en-US" dirty="0" smtClean="0"/>
              <a:t>调用把数据复制到操作系统内核的缓存中。若系统的缓存已满，</a:t>
            </a:r>
            <a:r>
              <a:rPr lang="en-US" altLang="zh-CN" dirty="0" smtClean="0"/>
              <a:t>send</a:t>
            </a:r>
            <a:r>
              <a:rPr lang="zh-CN" altLang="en-US" dirty="0" smtClean="0"/>
              <a:t>就暂时阻塞，直到缓存有空间存放新的数据。</a:t>
            </a:r>
            <a:endParaRPr lang="zh-CN" altLang="en-US" dirty="0" smtClean="0"/>
          </a:p>
          <a:p>
            <a:endParaRPr lang="en-US" altLang="zh-CN" dirty="0" smtClean="0"/>
          </a:p>
          <a:p>
            <a:r>
              <a:rPr lang="zh-CN" altLang="en-US" dirty="0" smtClean="0"/>
              <a:t>调用</a:t>
            </a:r>
            <a:r>
              <a:rPr lang="en-US" altLang="zh-CN" dirty="0" err="1" smtClean="0"/>
              <a:t>recv</a:t>
            </a:r>
            <a:r>
              <a:rPr lang="zh-CN" altLang="en-US" dirty="0" smtClean="0"/>
              <a:t>也需要三个变量：要使用的套接字的描述符、缓存的地址以及缓存空间的长度。</a:t>
            </a:r>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image" Target="../media/image1.GIF"/><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0" name="Line 3"/>
          <p:cNvSpPr>
            <a:spLocks noChangeShapeType="1"/>
          </p:cNvSpPr>
          <p:nvPr userDrawn="1"/>
        </p:nvSpPr>
        <p:spPr bwMode="auto">
          <a:xfrm>
            <a:off x="1266568" y="4803998"/>
            <a:ext cx="6942395" cy="0"/>
          </a:xfrm>
          <a:prstGeom prst="line">
            <a:avLst/>
          </a:prstGeom>
          <a:noFill/>
          <a:ln w="1905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 name="Line 3"/>
          <p:cNvSpPr>
            <a:spLocks noChangeShapeType="1"/>
          </p:cNvSpPr>
          <p:nvPr userDrawn="1"/>
        </p:nvSpPr>
        <p:spPr bwMode="auto">
          <a:xfrm>
            <a:off x="0" y="428092"/>
            <a:ext cx="9144000" cy="0"/>
          </a:xfrm>
          <a:prstGeom prst="line">
            <a:avLst/>
          </a:prstGeom>
          <a:noFill/>
          <a:ln w="2540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 name="矩形 20"/>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2" name="图片 31"/>
          <p:cNvPicPr>
            <a:picLocks noChangeAspect="1"/>
          </p:cNvPicPr>
          <p:nvPr userDrawn="1"/>
        </p:nvPicPr>
        <p:blipFill>
          <a:blip r:embed="rId12"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3.png"/><Relationship Id="rId1" Type="http://schemas.openxmlformats.org/officeDocument/2006/relationships/image" Target="../media/image2.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9" Type="http://schemas.openxmlformats.org/officeDocument/2006/relationships/diagramColors" Target="../diagrams/colors2.xml"/><Relationship Id="rId8" Type="http://schemas.openxmlformats.org/officeDocument/2006/relationships/diagramQuickStyle" Target="../diagrams/quickStyle2.xml"/><Relationship Id="rId7" Type="http://schemas.openxmlformats.org/officeDocument/2006/relationships/diagramLayout" Target="../diagrams/layout2.xml"/><Relationship Id="rId6" Type="http://schemas.openxmlformats.org/officeDocument/2006/relationships/diagramData" Target="../diagrams/data2.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1" Type="http://schemas.openxmlformats.org/officeDocument/2006/relationships/slideLayout" Target="../slideLayouts/slideLayout2.xml"/><Relationship Id="rId10" Type="http://schemas.microsoft.com/office/2007/relationships/diagramDrawing" Target="../diagrams/drawing2.xml"/><Relationship Id="rId1" Type="http://schemas.openxmlformats.org/officeDocument/2006/relationships/diagramData" Target="../diagrams/data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4.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7" Type="http://schemas.openxmlformats.org/officeDocument/2006/relationships/notesSlide" Target="../notesSlides/notesSlide5.xml"/><Relationship Id="rId6" Type="http://schemas.openxmlformats.org/officeDocument/2006/relationships/slideLayout" Target="../slideLayouts/slideLayout2.xml"/><Relationship Id="rId5" Type="http://schemas.microsoft.com/office/2007/relationships/diagramDrawing" Target="../diagrams/drawing3.xml"/><Relationship Id="rId4" Type="http://schemas.openxmlformats.org/officeDocument/2006/relationships/diagramColors" Target="../diagrams/colors3.xml"/><Relationship Id="rId3" Type="http://schemas.openxmlformats.org/officeDocument/2006/relationships/diagramQuickStyle" Target="../diagrams/quickStyle3.xml"/><Relationship Id="rId2" Type="http://schemas.openxmlformats.org/officeDocument/2006/relationships/diagramLayout" Target="../diagrams/layout3.xml"/><Relationship Id="rId1" Type="http://schemas.openxmlformats.org/officeDocument/2006/relationships/diagramData" Target="../diagrams/data3.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6.png"/></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vmlDrawing" Target="../drawings/vmlDrawing1.vml"/><Relationship Id="rId3" Type="http://schemas.openxmlformats.org/officeDocument/2006/relationships/slideLayout" Target="../slideLayouts/slideLayout2.xml"/><Relationship Id="rId2" Type="http://schemas.openxmlformats.org/officeDocument/2006/relationships/image" Target="../media/image7.wmf"/><Relationship Id="rId1" Type="http://schemas.openxmlformats.org/officeDocument/2006/relationships/oleObject" Target="../embeddings/oleObject1.bin"/></Relationships>
</file>

<file path=ppt/slides/_rels/slide38.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vmlDrawing" Target="../drawings/vmlDrawing2.vml"/><Relationship Id="rId3" Type="http://schemas.openxmlformats.org/officeDocument/2006/relationships/slideLayout" Target="../slideLayouts/slideLayout2.xml"/><Relationship Id="rId2" Type="http://schemas.openxmlformats.org/officeDocument/2006/relationships/image" Target="../media/image7.wmf"/><Relationship Id="rId1" Type="http://schemas.openxmlformats.org/officeDocument/2006/relationships/oleObject" Target="../embeddings/oleObject2.bin"/></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4" Type="http://schemas.openxmlformats.org/officeDocument/2006/relationships/vmlDrawing" Target="../drawings/vmlDrawing3.vml"/><Relationship Id="rId3" Type="http://schemas.openxmlformats.org/officeDocument/2006/relationships/slideLayout" Target="../slideLayouts/slideLayout2.xml"/><Relationship Id="rId2" Type="http://schemas.openxmlformats.org/officeDocument/2006/relationships/image" Target="../media/image7.wmf"/><Relationship Id="rId1" Type="http://schemas.openxmlformats.org/officeDocument/2006/relationships/oleObject" Target="../embeddings/oleObject3.bin"/></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8.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6" Type="http://schemas.openxmlformats.org/officeDocument/2006/relationships/vmlDrawing" Target="../drawings/vmlDrawing4.vml"/><Relationship Id="rId5" Type="http://schemas.openxmlformats.org/officeDocument/2006/relationships/slideLayout" Target="../slideLayouts/slideLayout2.xml"/><Relationship Id="rId4" Type="http://schemas.openxmlformats.org/officeDocument/2006/relationships/image" Target="../media/image7.wmf"/><Relationship Id="rId3" Type="http://schemas.openxmlformats.org/officeDocument/2006/relationships/oleObject" Target="../embeddings/oleObject4.bin"/><Relationship Id="rId2" Type="http://schemas.openxmlformats.org/officeDocument/2006/relationships/image" Target="../media/image6.png"/><Relationship Id="rId1" Type="http://schemas.openxmlformats.org/officeDocument/2006/relationships/image" Target="../media/image5.png"/></Relationships>
</file>

<file path=ppt/slides/_rels/slide64.xml.rels><?xml version="1.0" encoding="UTF-8" standalone="yes"?>
<Relationships xmlns="http://schemas.openxmlformats.org/package/2006/relationships"><Relationship Id="rId6" Type="http://schemas.openxmlformats.org/officeDocument/2006/relationships/vmlDrawing" Target="../drawings/vmlDrawing5.vml"/><Relationship Id="rId5" Type="http://schemas.openxmlformats.org/officeDocument/2006/relationships/slideLayout" Target="../slideLayouts/slideLayout2.xml"/><Relationship Id="rId4" Type="http://schemas.openxmlformats.org/officeDocument/2006/relationships/image" Target="../media/image7.wmf"/><Relationship Id="rId3" Type="http://schemas.openxmlformats.org/officeDocument/2006/relationships/oleObject" Target="../embeddings/oleObject5.bin"/><Relationship Id="rId2" Type="http://schemas.openxmlformats.org/officeDocument/2006/relationships/image" Target="../media/image6.png"/><Relationship Id="rId1" Type="http://schemas.openxmlformats.org/officeDocument/2006/relationships/image" Target="../media/image5.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6.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7" Type="http://schemas.openxmlformats.org/officeDocument/2006/relationships/notesSlide" Target="../notesSlides/notesSlide8.xml"/><Relationship Id="rId6" Type="http://schemas.openxmlformats.org/officeDocument/2006/relationships/vmlDrawing" Target="../drawings/vmlDrawing6.vml"/><Relationship Id="rId5" Type="http://schemas.openxmlformats.org/officeDocument/2006/relationships/slideLayout" Target="../slideLayouts/slideLayout2.xml"/><Relationship Id="rId4" Type="http://schemas.openxmlformats.org/officeDocument/2006/relationships/image" Target="../media/image5.png"/><Relationship Id="rId3" Type="http://schemas.openxmlformats.org/officeDocument/2006/relationships/image" Target="../media/image9.png"/><Relationship Id="rId2" Type="http://schemas.openxmlformats.org/officeDocument/2006/relationships/image" Target="../media/image7.wmf"/><Relationship Id="rId1" Type="http://schemas.openxmlformats.org/officeDocument/2006/relationships/oleObject" Target="../embeddings/oleObject6.bin"/></Relationships>
</file>

<file path=ppt/slides/_rels/slide75.xml.rels><?xml version="1.0" encoding="UTF-8" standalone="yes"?>
<Relationships xmlns="http://schemas.openxmlformats.org/package/2006/relationships"><Relationship Id="rId6" Type="http://schemas.openxmlformats.org/officeDocument/2006/relationships/vmlDrawing" Target="../drawings/vmlDrawing7.vml"/><Relationship Id="rId5" Type="http://schemas.openxmlformats.org/officeDocument/2006/relationships/slideLayout" Target="../slideLayouts/slideLayout2.xml"/><Relationship Id="rId4" Type="http://schemas.openxmlformats.org/officeDocument/2006/relationships/image" Target="../media/image9.png"/><Relationship Id="rId3" Type="http://schemas.openxmlformats.org/officeDocument/2006/relationships/image" Target="../media/image7.wmf"/><Relationship Id="rId2" Type="http://schemas.openxmlformats.org/officeDocument/2006/relationships/oleObject" Target="../embeddings/oleObject7.bin"/><Relationship Id="rId1" Type="http://schemas.openxmlformats.org/officeDocument/2006/relationships/image" Target="../media/image5.png"/></Relationships>
</file>

<file path=ppt/slides/_rels/slide76.xml.rels><?xml version="1.0" encoding="UTF-8" standalone="yes"?>
<Relationships xmlns="http://schemas.openxmlformats.org/package/2006/relationships"><Relationship Id="rId6" Type="http://schemas.openxmlformats.org/officeDocument/2006/relationships/vmlDrawing" Target="../drawings/vmlDrawing8.vml"/><Relationship Id="rId5" Type="http://schemas.openxmlformats.org/officeDocument/2006/relationships/slideLayout" Target="../slideLayouts/slideLayout2.xml"/><Relationship Id="rId4" Type="http://schemas.openxmlformats.org/officeDocument/2006/relationships/image" Target="../media/image9.png"/><Relationship Id="rId3" Type="http://schemas.openxmlformats.org/officeDocument/2006/relationships/image" Target="../media/image7.wmf"/><Relationship Id="rId2" Type="http://schemas.openxmlformats.org/officeDocument/2006/relationships/oleObject" Target="../embeddings/oleObject8.bin"/><Relationship Id="rId1" Type="http://schemas.openxmlformats.org/officeDocument/2006/relationships/image" Target="../media/image5.png"/></Relationships>
</file>

<file path=ppt/slides/_rels/slide77.xml.rels><?xml version="1.0" encoding="UTF-8" standalone="yes"?>
<Relationships xmlns="http://schemas.openxmlformats.org/package/2006/relationships"><Relationship Id="rId6" Type="http://schemas.openxmlformats.org/officeDocument/2006/relationships/vmlDrawing" Target="../drawings/vmlDrawing9.vml"/><Relationship Id="rId5" Type="http://schemas.openxmlformats.org/officeDocument/2006/relationships/slideLayout" Target="../slideLayouts/slideLayout2.xml"/><Relationship Id="rId4" Type="http://schemas.openxmlformats.org/officeDocument/2006/relationships/image" Target="../media/image7.wmf"/><Relationship Id="rId3" Type="http://schemas.openxmlformats.org/officeDocument/2006/relationships/oleObject" Target="../embeddings/oleObject9.bin"/><Relationship Id="rId2" Type="http://schemas.openxmlformats.org/officeDocument/2006/relationships/image" Target="../media/image9.png"/><Relationship Id="rId1" Type="http://schemas.openxmlformats.org/officeDocument/2006/relationships/image" Target="../media/image5.png"/></Relationships>
</file>

<file path=ppt/slides/_rels/slide78.xml.rels><?xml version="1.0" encoding="UTF-8" standalone="yes"?>
<Relationships xmlns="http://schemas.openxmlformats.org/package/2006/relationships"><Relationship Id="rId6" Type="http://schemas.openxmlformats.org/officeDocument/2006/relationships/vmlDrawing" Target="../drawings/vmlDrawing10.vml"/><Relationship Id="rId5" Type="http://schemas.openxmlformats.org/officeDocument/2006/relationships/slideLayout" Target="../slideLayouts/slideLayout2.xml"/><Relationship Id="rId4" Type="http://schemas.openxmlformats.org/officeDocument/2006/relationships/image" Target="../media/image7.wmf"/><Relationship Id="rId3" Type="http://schemas.openxmlformats.org/officeDocument/2006/relationships/oleObject" Target="../embeddings/oleObject10.bin"/><Relationship Id="rId2" Type="http://schemas.openxmlformats.org/officeDocument/2006/relationships/image" Target="../media/image9.png"/><Relationship Id="rId1" Type="http://schemas.openxmlformats.org/officeDocument/2006/relationships/image" Target="../media/image5.png"/></Relationships>
</file>

<file path=ppt/slides/_rels/slide79.xml.rels><?xml version="1.0" encoding="UTF-8" standalone="yes"?>
<Relationships xmlns="http://schemas.openxmlformats.org/package/2006/relationships"><Relationship Id="rId6" Type="http://schemas.openxmlformats.org/officeDocument/2006/relationships/vmlDrawing" Target="../drawings/vmlDrawing11.vml"/><Relationship Id="rId5" Type="http://schemas.openxmlformats.org/officeDocument/2006/relationships/slideLayout" Target="../slideLayouts/slideLayout2.xml"/><Relationship Id="rId4" Type="http://schemas.openxmlformats.org/officeDocument/2006/relationships/image" Target="../media/image7.wmf"/><Relationship Id="rId3" Type="http://schemas.openxmlformats.org/officeDocument/2006/relationships/oleObject" Target="../embeddings/oleObject11.bin"/><Relationship Id="rId2" Type="http://schemas.openxmlformats.org/officeDocument/2006/relationships/image" Target="../media/image9.png"/><Relationship Id="rId1" Type="http://schemas.openxmlformats.org/officeDocument/2006/relationships/image" Target="../media/image5.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4.xml"/><Relationship Id="rId4" Type="http://schemas.openxmlformats.org/officeDocument/2006/relationships/diagramColors" Target="../diagrams/colors4.xml"/><Relationship Id="rId3" Type="http://schemas.openxmlformats.org/officeDocument/2006/relationships/diagramQuickStyle" Target="../diagrams/quickStyle4.xml"/><Relationship Id="rId2" Type="http://schemas.openxmlformats.org/officeDocument/2006/relationships/diagramLayout" Target="../diagrams/layout4.xml"/><Relationship Id="rId1" Type="http://schemas.openxmlformats.org/officeDocument/2006/relationships/diagramData" Target="../diagrams/data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0.jpe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9.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9.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xml"/><Relationship Id="rId4" Type="http://schemas.openxmlformats.org/officeDocument/2006/relationships/diagramColors" Target="../diagrams/colors5.xml"/><Relationship Id="rId3" Type="http://schemas.openxmlformats.org/officeDocument/2006/relationships/diagramQuickStyle" Target="../diagrams/quickStyle5.xml"/><Relationship Id="rId2" Type="http://schemas.openxmlformats.org/officeDocument/2006/relationships/diagramLayout" Target="../diagrams/layout5.xml"/><Relationship Id="rId1" Type="http://schemas.openxmlformats.org/officeDocument/2006/relationships/diagramData" Target="../diagrams/data5.xml"/></Relationships>
</file>

<file path=ppt/slides/_rels/slide11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2.jpeg"/><Relationship Id="rId1" Type="http://schemas.openxmlformats.org/officeDocument/2006/relationships/image" Target="../media/image11.jpe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6.xml"/><Relationship Id="rId4" Type="http://schemas.openxmlformats.org/officeDocument/2006/relationships/diagramColors" Target="../diagrams/colors6.xml"/><Relationship Id="rId3" Type="http://schemas.openxmlformats.org/officeDocument/2006/relationships/diagramQuickStyle" Target="../diagrams/quickStyle6.xml"/><Relationship Id="rId2" Type="http://schemas.openxmlformats.org/officeDocument/2006/relationships/diagramLayout" Target="../diagrams/layout6.xml"/><Relationship Id="rId1" Type="http://schemas.openxmlformats.org/officeDocument/2006/relationships/diagramData" Target="../diagrams/data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6" Type="http://schemas.openxmlformats.org/officeDocument/2006/relationships/vmlDrawing" Target="../drawings/vmlDrawing12.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13.bin"/><Relationship Id="rId2" Type="http://schemas.openxmlformats.org/officeDocument/2006/relationships/image" Target="../media/image13.emf"/><Relationship Id="rId1" Type="http://schemas.openxmlformats.org/officeDocument/2006/relationships/oleObject" Target="../embeddings/oleObject12.bin"/></Relationships>
</file>

<file path=ppt/slides/_rels/slide126.xml.rels><?xml version="1.0" encoding="UTF-8" standalone="yes"?>
<Relationships xmlns="http://schemas.openxmlformats.org/package/2006/relationships"><Relationship Id="rId6" Type="http://schemas.openxmlformats.org/officeDocument/2006/relationships/vmlDrawing" Target="../drawings/vmlDrawing13.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15.bin"/><Relationship Id="rId2" Type="http://schemas.openxmlformats.org/officeDocument/2006/relationships/image" Target="../media/image13.emf"/><Relationship Id="rId1" Type="http://schemas.openxmlformats.org/officeDocument/2006/relationships/oleObject" Target="../embeddings/oleObject14.bin"/></Relationships>
</file>

<file path=ppt/slides/_rels/slide127.xml.rels><?xml version="1.0" encoding="UTF-8" standalone="yes"?>
<Relationships xmlns="http://schemas.openxmlformats.org/package/2006/relationships"><Relationship Id="rId6" Type="http://schemas.openxmlformats.org/officeDocument/2006/relationships/vmlDrawing" Target="../drawings/vmlDrawing14.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17.bin"/><Relationship Id="rId2" Type="http://schemas.openxmlformats.org/officeDocument/2006/relationships/image" Target="../media/image13.emf"/><Relationship Id="rId1" Type="http://schemas.openxmlformats.org/officeDocument/2006/relationships/oleObject" Target="../embeddings/oleObject16.bin"/></Relationships>
</file>

<file path=ppt/slides/_rels/slide128.xml.rels><?xml version="1.0" encoding="UTF-8" standalone="yes"?>
<Relationships xmlns="http://schemas.openxmlformats.org/package/2006/relationships"><Relationship Id="rId6" Type="http://schemas.openxmlformats.org/officeDocument/2006/relationships/vmlDrawing" Target="../drawings/vmlDrawing15.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19.bin"/><Relationship Id="rId2" Type="http://schemas.openxmlformats.org/officeDocument/2006/relationships/image" Target="../media/image13.emf"/><Relationship Id="rId1" Type="http://schemas.openxmlformats.org/officeDocument/2006/relationships/oleObject" Target="../embeddings/oleObject18.bin"/></Relationships>
</file>

<file path=ppt/slides/_rels/slide129.xml.rels><?xml version="1.0" encoding="UTF-8" standalone="yes"?>
<Relationships xmlns="http://schemas.openxmlformats.org/package/2006/relationships"><Relationship Id="rId6" Type="http://schemas.openxmlformats.org/officeDocument/2006/relationships/vmlDrawing" Target="../drawings/vmlDrawing16.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21.bin"/><Relationship Id="rId2" Type="http://schemas.openxmlformats.org/officeDocument/2006/relationships/image" Target="../media/image13.emf"/><Relationship Id="rId1" Type="http://schemas.openxmlformats.org/officeDocument/2006/relationships/oleObject" Target="../embeddings/oleObject20.bin"/></Relationships>
</file>

<file path=ppt/slides/_rels/slide130.xml.rels><?xml version="1.0" encoding="UTF-8" standalone="yes"?>
<Relationships xmlns="http://schemas.openxmlformats.org/package/2006/relationships"><Relationship Id="rId9" Type="http://schemas.openxmlformats.org/officeDocument/2006/relationships/vmlDrawing" Target="../drawings/vmlDrawing17.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25.bin"/><Relationship Id="rId5" Type="http://schemas.openxmlformats.org/officeDocument/2006/relationships/image" Target="../media/image13.emf"/><Relationship Id="rId4" Type="http://schemas.openxmlformats.org/officeDocument/2006/relationships/oleObject" Target="../embeddings/oleObject24.bin"/><Relationship Id="rId3" Type="http://schemas.openxmlformats.org/officeDocument/2006/relationships/oleObject" Target="../embeddings/oleObject23.bin"/><Relationship Id="rId2" Type="http://schemas.openxmlformats.org/officeDocument/2006/relationships/image" Target="../media/image7.wmf"/><Relationship Id="rId10" Type="http://schemas.openxmlformats.org/officeDocument/2006/relationships/notesSlide" Target="../notesSlides/notesSlide13.xml"/><Relationship Id="rId1" Type="http://schemas.openxmlformats.org/officeDocument/2006/relationships/oleObject" Target="../embeddings/oleObject22.bin"/></Relationships>
</file>

<file path=ppt/slides/_rels/slide131.xml.rels><?xml version="1.0" encoding="UTF-8" standalone="yes"?>
<Relationships xmlns="http://schemas.openxmlformats.org/package/2006/relationships"><Relationship Id="rId9" Type="http://schemas.openxmlformats.org/officeDocument/2006/relationships/vmlDrawing" Target="../drawings/vmlDrawing18.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29.bin"/><Relationship Id="rId5" Type="http://schemas.openxmlformats.org/officeDocument/2006/relationships/image" Target="../media/image13.emf"/><Relationship Id="rId4" Type="http://schemas.openxmlformats.org/officeDocument/2006/relationships/oleObject" Target="../embeddings/oleObject28.bin"/><Relationship Id="rId3" Type="http://schemas.openxmlformats.org/officeDocument/2006/relationships/oleObject" Target="../embeddings/oleObject27.bin"/><Relationship Id="rId2" Type="http://schemas.openxmlformats.org/officeDocument/2006/relationships/image" Target="../media/image7.wmf"/><Relationship Id="rId10" Type="http://schemas.openxmlformats.org/officeDocument/2006/relationships/notesSlide" Target="../notesSlides/notesSlide14.xml"/><Relationship Id="rId1" Type="http://schemas.openxmlformats.org/officeDocument/2006/relationships/oleObject" Target="../embeddings/oleObject26.bin"/></Relationships>
</file>

<file path=ppt/slides/_rels/slide132.xml.rels><?xml version="1.0" encoding="UTF-8" standalone="yes"?>
<Relationships xmlns="http://schemas.openxmlformats.org/package/2006/relationships"><Relationship Id="rId9" Type="http://schemas.openxmlformats.org/officeDocument/2006/relationships/vmlDrawing" Target="../drawings/vmlDrawing19.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33.bin"/><Relationship Id="rId5" Type="http://schemas.openxmlformats.org/officeDocument/2006/relationships/image" Target="../media/image13.emf"/><Relationship Id="rId4" Type="http://schemas.openxmlformats.org/officeDocument/2006/relationships/oleObject" Target="../embeddings/oleObject32.bin"/><Relationship Id="rId3" Type="http://schemas.openxmlformats.org/officeDocument/2006/relationships/oleObject" Target="../embeddings/oleObject31.bin"/><Relationship Id="rId2" Type="http://schemas.openxmlformats.org/officeDocument/2006/relationships/image" Target="../media/image7.wmf"/><Relationship Id="rId10" Type="http://schemas.openxmlformats.org/officeDocument/2006/relationships/notesSlide" Target="../notesSlides/notesSlide15.xml"/><Relationship Id="rId1" Type="http://schemas.openxmlformats.org/officeDocument/2006/relationships/oleObject" Target="../embeddings/oleObject30.bin"/></Relationships>
</file>

<file path=ppt/slides/_rels/slide133.xml.rels><?xml version="1.0" encoding="UTF-8" standalone="yes"?>
<Relationships xmlns="http://schemas.openxmlformats.org/package/2006/relationships"><Relationship Id="rId9" Type="http://schemas.openxmlformats.org/officeDocument/2006/relationships/vmlDrawing" Target="../drawings/vmlDrawing20.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37.bin"/><Relationship Id="rId5" Type="http://schemas.openxmlformats.org/officeDocument/2006/relationships/image" Target="../media/image13.emf"/><Relationship Id="rId4" Type="http://schemas.openxmlformats.org/officeDocument/2006/relationships/oleObject" Target="../embeddings/oleObject36.bin"/><Relationship Id="rId3" Type="http://schemas.openxmlformats.org/officeDocument/2006/relationships/oleObject" Target="../embeddings/oleObject35.bin"/><Relationship Id="rId2" Type="http://schemas.openxmlformats.org/officeDocument/2006/relationships/image" Target="../media/image7.wmf"/><Relationship Id="rId10" Type="http://schemas.openxmlformats.org/officeDocument/2006/relationships/notesSlide" Target="../notesSlides/notesSlide16.xml"/><Relationship Id="rId1" Type="http://schemas.openxmlformats.org/officeDocument/2006/relationships/oleObject" Target="../embeddings/oleObject34.bin"/></Relationships>
</file>

<file path=ppt/slides/_rels/slide134.xml.rels><?xml version="1.0" encoding="UTF-8" standalone="yes"?>
<Relationships xmlns="http://schemas.openxmlformats.org/package/2006/relationships"><Relationship Id="rId9" Type="http://schemas.openxmlformats.org/officeDocument/2006/relationships/vmlDrawing" Target="../drawings/vmlDrawing21.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41.bin"/><Relationship Id="rId5" Type="http://schemas.openxmlformats.org/officeDocument/2006/relationships/image" Target="../media/image13.emf"/><Relationship Id="rId4" Type="http://schemas.openxmlformats.org/officeDocument/2006/relationships/oleObject" Target="../embeddings/oleObject40.bin"/><Relationship Id="rId3" Type="http://schemas.openxmlformats.org/officeDocument/2006/relationships/oleObject" Target="../embeddings/oleObject39.bin"/><Relationship Id="rId2" Type="http://schemas.openxmlformats.org/officeDocument/2006/relationships/image" Target="../media/image7.wmf"/><Relationship Id="rId10" Type="http://schemas.openxmlformats.org/officeDocument/2006/relationships/notesSlide" Target="../notesSlides/notesSlide17.xml"/><Relationship Id="rId1" Type="http://schemas.openxmlformats.org/officeDocument/2006/relationships/oleObject" Target="../embeddings/oleObject38.bin"/></Relationships>
</file>

<file path=ppt/slides/_rels/slide135.xml.rels><?xml version="1.0" encoding="UTF-8" standalone="yes"?>
<Relationships xmlns="http://schemas.openxmlformats.org/package/2006/relationships"><Relationship Id="rId9" Type="http://schemas.openxmlformats.org/officeDocument/2006/relationships/vmlDrawing" Target="../drawings/vmlDrawing22.vml"/><Relationship Id="rId8" Type="http://schemas.openxmlformats.org/officeDocument/2006/relationships/slideLayout" Target="../slideLayouts/slideLayout2.xml"/><Relationship Id="rId7" Type="http://schemas.openxmlformats.org/officeDocument/2006/relationships/image" Target="../media/image14.emf"/><Relationship Id="rId6" Type="http://schemas.openxmlformats.org/officeDocument/2006/relationships/oleObject" Target="../embeddings/oleObject45.bin"/><Relationship Id="rId5" Type="http://schemas.openxmlformats.org/officeDocument/2006/relationships/image" Target="../media/image13.emf"/><Relationship Id="rId4" Type="http://schemas.openxmlformats.org/officeDocument/2006/relationships/oleObject" Target="../embeddings/oleObject44.bin"/><Relationship Id="rId3" Type="http://schemas.openxmlformats.org/officeDocument/2006/relationships/oleObject" Target="../embeddings/oleObject43.bin"/><Relationship Id="rId2" Type="http://schemas.openxmlformats.org/officeDocument/2006/relationships/image" Target="../media/image7.wmf"/><Relationship Id="rId1" Type="http://schemas.openxmlformats.org/officeDocument/2006/relationships/oleObject" Target="../embeddings/oleObject42.bin"/></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6" Type="http://schemas.openxmlformats.org/officeDocument/2006/relationships/vmlDrawing" Target="../drawings/vmlDrawing23.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47.bin"/><Relationship Id="rId2" Type="http://schemas.openxmlformats.org/officeDocument/2006/relationships/image" Target="../media/image13.emf"/><Relationship Id="rId1" Type="http://schemas.openxmlformats.org/officeDocument/2006/relationships/oleObject" Target="../embeddings/oleObject46.bin"/></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6" Type="http://schemas.openxmlformats.org/officeDocument/2006/relationships/vmlDrawing" Target="../drawings/vmlDrawing24.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49.bin"/><Relationship Id="rId2" Type="http://schemas.openxmlformats.org/officeDocument/2006/relationships/image" Target="../media/image13.emf"/><Relationship Id="rId1" Type="http://schemas.openxmlformats.org/officeDocument/2006/relationships/oleObject" Target="../embeddings/oleObject48.bin"/></Relationships>
</file>

<file path=ppt/slides/_rels/slide152.xml.rels><?xml version="1.0" encoding="UTF-8" standalone="yes"?>
<Relationships xmlns="http://schemas.openxmlformats.org/package/2006/relationships"><Relationship Id="rId4" Type="http://schemas.openxmlformats.org/officeDocument/2006/relationships/vmlDrawing" Target="../drawings/vmlDrawing25.vml"/><Relationship Id="rId3" Type="http://schemas.openxmlformats.org/officeDocument/2006/relationships/slideLayout" Target="../slideLayouts/slideLayout2.xml"/><Relationship Id="rId2" Type="http://schemas.openxmlformats.org/officeDocument/2006/relationships/image" Target="../media/image15.emf"/><Relationship Id="rId1" Type="http://schemas.openxmlformats.org/officeDocument/2006/relationships/oleObject" Target="../embeddings/oleObject50.bin"/></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6.png"/></Relationships>
</file>

<file path=ppt/slides/_rels/slide15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6.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6" Type="http://schemas.openxmlformats.org/officeDocument/2006/relationships/vmlDrawing" Target="../drawings/vmlDrawing26.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52.bin"/><Relationship Id="rId2" Type="http://schemas.openxmlformats.org/officeDocument/2006/relationships/image" Target="../media/image13.emf"/><Relationship Id="rId1" Type="http://schemas.openxmlformats.org/officeDocument/2006/relationships/oleObject" Target="../embeddings/oleObject51.bin"/></Relationships>
</file>

<file path=ppt/slides/_rels/slide160.xml.rels><?xml version="1.0" encoding="UTF-8" standalone="yes"?>
<Relationships xmlns="http://schemas.openxmlformats.org/package/2006/relationships"><Relationship Id="rId6" Type="http://schemas.openxmlformats.org/officeDocument/2006/relationships/vmlDrawing" Target="../drawings/vmlDrawing27.vml"/><Relationship Id="rId5" Type="http://schemas.openxmlformats.org/officeDocument/2006/relationships/slideLayout" Target="../slideLayouts/slideLayout2.xml"/><Relationship Id="rId4" Type="http://schemas.openxmlformats.org/officeDocument/2006/relationships/image" Target="../media/image14.emf"/><Relationship Id="rId3" Type="http://schemas.openxmlformats.org/officeDocument/2006/relationships/oleObject" Target="../embeddings/oleObject54.bin"/><Relationship Id="rId2" Type="http://schemas.openxmlformats.org/officeDocument/2006/relationships/image" Target="../media/image13.emf"/><Relationship Id="rId1" Type="http://schemas.openxmlformats.org/officeDocument/2006/relationships/oleObject" Target="../embeddings/oleObject53.bin"/></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9.png"/><Relationship Id="rId1" Type="http://schemas.openxmlformats.org/officeDocument/2006/relationships/image" Target="../media/image5.png"/></Relationships>
</file>

<file path=ppt/slides/_rels/slide17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9.png"/><Relationship Id="rId1" Type="http://schemas.openxmlformats.org/officeDocument/2006/relationships/image" Target="../media/image5.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9.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9.png"/><Relationship Id="rId2" Type="http://schemas.openxmlformats.org/officeDocument/2006/relationships/image" Target="../media/image17.wmf"/><Relationship Id="rId1" Type="http://schemas.openxmlformats.org/officeDocument/2006/relationships/image" Target="../media/image5.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6" Type="http://schemas.openxmlformats.org/officeDocument/2006/relationships/vmlDrawing" Target="../drawings/vmlDrawing28.vml"/><Relationship Id="rId5" Type="http://schemas.openxmlformats.org/officeDocument/2006/relationships/slideLayout" Target="../slideLayouts/slideLayout2.xml"/><Relationship Id="rId4" Type="http://schemas.openxmlformats.org/officeDocument/2006/relationships/image" Target="../media/image9.png"/><Relationship Id="rId3" Type="http://schemas.openxmlformats.org/officeDocument/2006/relationships/image" Target="../media/image5.png"/><Relationship Id="rId2" Type="http://schemas.openxmlformats.org/officeDocument/2006/relationships/image" Target="../media/image7.wmf"/><Relationship Id="rId1" Type="http://schemas.openxmlformats.org/officeDocument/2006/relationships/oleObject" Target="../embeddings/oleObject55.bin"/></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image" Target="../media/image5.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5" Type="http://schemas.openxmlformats.org/officeDocument/2006/relationships/vmlDrawing" Target="../drawings/vmlDrawing29.vml"/><Relationship Id="rId4" Type="http://schemas.openxmlformats.org/officeDocument/2006/relationships/slideLayout" Target="../slideLayouts/slideLayout2.xml"/><Relationship Id="rId3" Type="http://schemas.openxmlformats.org/officeDocument/2006/relationships/image" Target="../media/image19.wmf"/><Relationship Id="rId2" Type="http://schemas.openxmlformats.org/officeDocument/2006/relationships/image" Target="../media/image18.wmf"/><Relationship Id="rId1" Type="http://schemas.openxmlformats.org/officeDocument/2006/relationships/oleObject" Target="../embeddings/oleObject56.bin"/></Relationships>
</file>

<file path=ppt/slides/_rels/slide262.xml.rels><?xml version="1.0" encoding="UTF-8" standalone="yes"?>
<Relationships xmlns="http://schemas.openxmlformats.org/package/2006/relationships"><Relationship Id="rId5" Type="http://schemas.openxmlformats.org/officeDocument/2006/relationships/vmlDrawing" Target="../drawings/vmlDrawing30.vml"/><Relationship Id="rId4" Type="http://schemas.openxmlformats.org/officeDocument/2006/relationships/slideLayout" Target="../slideLayouts/slideLayout2.xml"/><Relationship Id="rId3" Type="http://schemas.openxmlformats.org/officeDocument/2006/relationships/image" Target="../media/image19.wmf"/><Relationship Id="rId2" Type="http://schemas.openxmlformats.org/officeDocument/2006/relationships/image" Target="../media/image18.wmf"/><Relationship Id="rId1" Type="http://schemas.openxmlformats.org/officeDocument/2006/relationships/oleObject" Target="../embeddings/oleObject57.bin"/></Relationships>
</file>

<file path=ppt/slides/_rels/slide263.xml.rels><?xml version="1.0" encoding="UTF-8" standalone="yes"?>
<Relationships xmlns="http://schemas.openxmlformats.org/package/2006/relationships"><Relationship Id="rId5" Type="http://schemas.openxmlformats.org/officeDocument/2006/relationships/vmlDrawing" Target="../drawings/vmlDrawing31.vml"/><Relationship Id="rId4" Type="http://schemas.openxmlformats.org/officeDocument/2006/relationships/slideLayout" Target="../slideLayouts/slideLayout2.xml"/><Relationship Id="rId3" Type="http://schemas.openxmlformats.org/officeDocument/2006/relationships/image" Target="../media/image19.wmf"/><Relationship Id="rId2" Type="http://schemas.openxmlformats.org/officeDocument/2006/relationships/image" Target="../media/image18.wmf"/><Relationship Id="rId1" Type="http://schemas.openxmlformats.org/officeDocument/2006/relationships/oleObject" Target="../embeddings/oleObject58.bin"/></Relationships>
</file>

<file path=ppt/slides/_rels/slide264.xml.rels><?xml version="1.0" encoding="UTF-8" standalone="yes"?>
<Relationships xmlns="http://schemas.openxmlformats.org/package/2006/relationships"><Relationship Id="rId5" Type="http://schemas.openxmlformats.org/officeDocument/2006/relationships/vmlDrawing" Target="../drawings/vmlDrawing32.vml"/><Relationship Id="rId4" Type="http://schemas.openxmlformats.org/officeDocument/2006/relationships/slideLayout" Target="../slideLayouts/slideLayout2.xml"/><Relationship Id="rId3" Type="http://schemas.openxmlformats.org/officeDocument/2006/relationships/image" Target="../media/image19.wmf"/><Relationship Id="rId2" Type="http://schemas.openxmlformats.org/officeDocument/2006/relationships/image" Target="../media/image18.wmf"/><Relationship Id="rId1" Type="http://schemas.openxmlformats.org/officeDocument/2006/relationships/oleObject" Target="../embeddings/oleObject59.bin"/></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9.png"/><Relationship Id="rId1" Type="http://schemas.openxmlformats.org/officeDocument/2006/relationships/image" Target="../media/image5.png"/></Relationships>
</file>

<file path=ppt/slides/_rels/slide268.xml.rels><?xml version="1.0" encoding="UTF-8" standalone="yes"?>
<Relationships xmlns="http://schemas.openxmlformats.org/package/2006/relationships"><Relationship Id="rId9" Type="http://schemas.openxmlformats.org/officeDocument/2006/relationships/vmlDrawing" Target="../drawings/vmlDrawing33.vml"/><Relationship Id="rId8" Type="http://schemas.openxmlformats.org/officeDocument/2006/relationships/slideLayout" Target="../slideLayouts/slideLayout2.xml"/><Relationship Id="rId7" Type="http://schemas.openxmlformats.org/officeDocument/2006/relationships/oleObject" Target="../embeddings/oleObject64.bin"/><Relationship Id="rId6" Type="http://schemas.openxmlformats.org/officeDocument/2006/relationships/oleObject" Target="../embeddings/oleObject63.bin"/><Relationship Id="rId5" Type="http://schemas.openxmlformats.org/officeDocument/2006/relationships/oleObject" Target="../embeddings/oleObject62.bin"/><Relationship Id="rId4" Type="http://schemas.openxmlformats.org/officeDocument/2006/relationships/image" Target="../media/image7.wmf"/><Relationship Id="rId3" Type="http://schemas.openxmlformats.org/officeDocument/2006/relationships/oleObject" Target="../embeddings/oleObject61.bin"/><Relationship Id="rId2" Type="http://schemas.openxmlformats.org/officeDocument/2006/relationships/image" Target="../media/image18.wmf"/><Relationship Id="rId10" Type="http://schemas.openxmlformats.org/officeDocument/2006/relationships/notesSlide" Target="../notesSlides/notesSlide28.xml"/><Relationship Id="rId1" Type="http://schemas.openxmlformats.org/officeDocument/2006/relationships/oleObject" Target="../embeddings/oleObject60.bin"/></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9.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smtClean="0">
                <a:solidFill>
                  <a:schemeClr val="bg1"/>
                </a:solidFill>
                <a:latin typeface="微软雅黑" panose="020B0503020204020204" pitchFamily="34" charset="-122"/>
                <a:ea typeface="微软雅黑" panose="020B0503020204020204" pitchFamily="34" charset="-122"/>
              </a:rPr>
              <a:t>应</a:t>
            </a:r>
            <a:r>
              <a:rPr lang="zh-CN" altLang="en-US" sz="2400"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用</a:t>
            </a:r>
            <a:r>
              <a:rPr lang="zh-CN" altLang="en-US" sz="2400"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层</a:t>
            </a:r>
            <a:endParaRPr lang="fr-FR" altLang="zh-CN" sz="55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smtClean="0">
                <a:solidFill>
                  <a:schemeClr val="bg1"/>
                </a:solidFill>
                <a:latin typeface="微软雅黑" panose="020B0503020204020204" pitchFamily="34" charset="-122"/>
                <a:ea typeface="微软雅黑" panose="020B0503020204020204" pitchFamily="34" charset="-122"/>
              </a:rPr>
              <a:t>第 6 章</a:t>
            </a:r>
            <a:endParaRPr lang="fr-FR" altLang="zh-CN" sz="2800" b="1" dirty="0">
              <a:solidFill>
                <a:schemeClr val="bg1"/>
              </a:solidFill>
              <a:latin typeface="微软雅黑" panose="020B0503020204020204" pitchFamily="34" charset="-122"/>
              <a:ea typeface="微软雅黑" panose="020B0503020204020204" pitchFamily="34" charset="-122"/>
            </a:endParaRP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anose="020B0503020204020204" pitchFamily="34" charset="-122"/>
                <a:ea typeface="微软雅黑" panose="020B0503020204020204" pitchFamily="34" charset="-122"/>
              </a:rPr>
              <a:t>谢希仁  编著</a:t>
            </a:r>
            <a:endParaRPr lang="fr-FR" sz="1200" b="1" dirty="0">
              <a:solidFill>
                <a:srgbClr val="00B0F0"/>
              </a:solidFill>
              <a:latin typeface="微软雅黑" panose="020B0503020204020204" pitchFamily="34" charset="-122"/>
              <a:ea typeface="微软雅黑" panose="020B0503020204020204" pitchFamily="34" charset="-122"/>
            </a:endParaRP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anose="020B0503020204020204" pitchFamily="34" charset="-122"/>
                <a:ea typeface="微软雅黑" panose="020B0503020204020204" pitchFamily="34" charset="-122"/>
              </a:rPr>
              <a:t>计算机网络（</a:t>
            </a:r>
            <a:r>
              <a:rPr lang="fr-FR" sz="1600" b="1" dirty="0" smtClean="0">
                <a:solidFill>
                  <a:srgbClr val="00B0F0"/>
                </a:solidFill>
                <a:latin typeface="微软雅黑" panose="020B0503020204020204" pitchFamily="34" charset="-122"/>
                <a:ea typeface="微软雅黑" panose="020B0503020204020204" pitchFamily="34" charset="-122"/>
              </a:rPr>
              <a:t>第 8 版</a:t>
            </a:r>
            <a:r>
              <a:rPr lang="fr-FR" sz="1600" b="1" dirty="0">
                <a:solidFill>
                  <a:srgbClr val="00B0F0"/>
                </a:solidFill>
                <a:latin typeface="微软雅黑" panose="020B0503020204020204" pitchFamily="34" charset="-122"/>
                <a:ea typeface="微软雅黑" panose="020B0503020204020204" pitchFamily="34" charset="-122"/>
              </a:rPr>
              <a:t>）</a:t>
            </a:r>
            <a:endParaRPr lang="fr-FR" sz="1600" b="1" dirty="0">
              <a:solidFill>
                <a:srgbClr val="00B0F0"/>
              </a:solidFill>
              <a:latin typeface="微软雅黑" panose="020B0503020204020204" pitchFamily="34" charset="-122"/>
              <a:ea typeface="微软雅黑" panose="020B0503020204020204" pitchFamily="34" charset="-122"/>
            </a:endParaRP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ea typeface="微软雅黑" panose="020B0503020204020204" pitchFamily="34" charset="-122"/>
              </a:rPr>
              <a:t>计算机网络体系结构</a:t>
            </a:r>
            <a:endParaRPr lang="zh-CN" altLang="en-US" sz="2000" b="1" dirty="0">
              <a:solidFill>
                <a:schemeClr val="bg1"/>
              </a:solidFill>
              <a:ea typeface="微软雅黑" panose="020B0503020204020204" pitchFamily="34" charset="-122"/>
            </a:endParaRPr>
          </a:p>
        </p:txBody>
      </p:sp>
      <p:sp>
        <p:nvSpPr>
          <p:cNvPr id="48" name="圆角矩形 47"/>
          <p:cNvSpPr/>
          <p:nvPr/>
        </p:nvSpPr>
        <p:spPr>
          <a:xfrm>
            <a:off x="505072" y="108165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3473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应用层</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58" name="Text Box 23"/>
            <p:cNvSpPr txBox="1">
              <a:spLocks noChangeArrowheads="1"/>
            </p:cNvSpPr>
            <p:nvPr/>
          </p:nvSpPr>
          <p:spPr bwMode="auto">
            <a:xfrm>
              <a:off x="2006602" y="2706561"/>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运输层</a:t>
              </a:r>
              <a:endParaRPr kumimoji="1" lang="zh-CN" altLang="en-US" sz="1100" b="1" dirty="0">
                <a:latin typeface="微软雅黑" panose="020B0503020204020204" pitchFamily="34" charset="-122"/>
                <a:ea typeface="微软雅黑" panose="020B0503020204020204" pitchFamily="34" charset="-122"/>
              </a:endParaRP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网络层</a:t>
              </a:r>
              <a:endParaRPr kumimoji="1" lang="zh-CN" altLang="en-US" sz="1100" b="1" dirty="0">
                <a:latin typeface="微软雅黑" panose="020B0503020204020204" pitchFamily="34" charset="-122"/>
                <a:ea typeface="微软雅黑" panose="020B0503020204020204" pitchFamily="34" charset="-122"/>
              </a:endParaRP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endParaRPr kumimoji="1" lang="zh-CN" altLang="en-US" sz="1100" b="1">
                <a:latin typeface="微软雅黑" panose="020B0503020204020204" pitchFamily="34" charset="-122"/>
                <a:ea typeface="微软雅黑" panose="020B0503020204020204" pitchFamily="34" charset="-122"/>
              </a:endParaRP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endParaRPr kumimoji="1" lang="zh-CN" altLang="en-US" sz="1100" b="1">
                <a:latin typeface="微软雅黑" panose="020B0503020204020204" pitchFamily="34" charset="-122"/>
                <a:ea typeface="微软雅黑" panose="020B0503020204020204" pitchFamily="34" charset="-122"/>
              </a:endParaRP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endParaRPr kumimoji="1" lang="zh-CN" altLang="en-US" sz="1100" b="1" dirty="0">
                <a:latin typeface="微软雅黑" panose="020B0503020204020204" pitchFamily="34" charset="-122"/>
                <a:ea typeface="微软雅黑" panose="020B0503020204020204" pitchFamily="34" charset="-122"/>
              </a:endParaRP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endParaRPr kumimoji="1" lang="zh-CN" altLang="en-US" sz="1100" b="1">
                <a:latin typeface="微软雅黑" panose="020B0503020204020204" pitchFamily="34" charset="-122"/>
                <a:ea typeface="微软雅黑" panose="020B0503020204020204" pitchFamily="34" charset="-122"/>
              </a:endParaRP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6</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5</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4</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3</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2</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1</a:t>
              </a:r>
              <a:endParaRPr kumimoji="1" lang="en-US" altLang="zh-CN" sz="1100" b="1" dirty="0">
                <a:latin typeface="微软雅黑" panose="020B0503020204020204" pitchFamily="34" charset="-122"/>
                <a:ea typeface="微软雅黑" panose="020B0503020204020204" pitchFamily="34" charset="-122"/>
              </a:endParaRPr>
            </a:p>
          </p:txBody>
        </p:sp>
      </p:grpSp>
      <p:sp>
        <p:nvSpPr>
          <p:cNvPr id="65" name="Text Box 13"/>
          <p:cNvSpPr txBox="1">
            <a:spLocks noChangeArrowheads="1"/>
          </p:cNvSpPr>
          <p:nvPr/>
        </p:nvSpPr>
        <p:spPr bwMode="auto">
          <a:xfrm>
            <a:off x="1156623" y="119818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smtClean="0">
                <a:solidFill>
                  <a:srgbClr val="000099"/>
                </a:solidFill>
                <a:latin typeface="微软雅黑" panose="020B0503020204020204" pitchFamily="34" charset="-122"/>
                <a:ea typeface="微软雅黑" panose="020B0503020204020204" pitchFamily="34" charset="-122"/>
              </a:rPr>
              <a:t>的</a:t>
            </a:r>
            <a:r>
              <a:rPr kumimoji="1" lang="zh-CN" altLang="en-US" sz="1400" b="1" dirty="0">
                <a:solidFill>
                  <a:srgbClr val="000099"/>
                </a:solidFill>
                <a:latin typeface="微软雅黑" panose="020B0503020204020204" pitchFamily="34" charset="-122"/>
                <a:ea typeface="微软雅黑" panose="020B0503020204020204" pitchFamily="34" charset="-122"/>
              </a:rPr>
              <a:t>七</a:t>
            </a:r>
            <a:r>
              <a:rPr kumimoji="1" lang="zh-CN" altLang="en-US" sz="1400" b="1" dirty="0" smtClean="0">
                <a:solidFill>
                  <a:srgbClr val="000099"/>
                </a:solidFill>
                <a:latin typeface="微软雅黑" panose="020B0503020204020204" pitchFamily="34" charset="-122"/>
                <a:ea typeface="微软雅黑" panose="020B0503020204020204" pitchFamily="34" charset="-122"/>
              </a:rPr>
              <a:t>层</a:t>
            </a:r>
            <a:r>
              <a:rPr kumimoji="1" lang="zh-CN" altLang="en-US" sz="1400" b="1" dirty="0">
                <a:solidFill>
                  <a:srgbClr val="000099"/>
                </a:solidFill>
                <a:latin typeface="微软雅黑" panose="020B0503020204020204" pitchFamily="34" charset="-122"/>
                <a:ea typeface="微软雅黑" panose="020B0503020204020204" pitchFamily="34" charset="-122"/>
              </a:rPr>
              <a:t>协议</a:t>
            </a:r>
            <a:r>
              <a:rPr kumimoji="1" lang="zh-CN" altLang="en-US" sz="1400" b="1" dirty="0" smtClean="0">
                <a:solidFill>
                  <a:srgbClr val="000099"/>
                </a:solidFill>
                <a:latin typeface="微软雅黑" panose="020B0503020204020204" pitchFamily="34" charset="-122"/>
                <a:ea typeface="微软雅黑" panose="020B0503020204020204" pitchFamily="34" charset="-122"/>
              </a:rPr>
              <a:t>体系结构</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66" name="Text Box 12"/>
          <p:cNvSpPr txBox="1">
            <a:spLocks noChangeArrowheads="1"/>
          </p:cNvSpPr>
          <p:nvPr/>
        </p:nvSpPr>
        <p:spPr bwMode="auto">
          <a:xfrm>
            <a:off x="3432593" y="118706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smtClean="0">
                <a:latin typeface="微软雅黑" panose="020B0503020204020204" pitchFamily="34" charset="-122"/>
                <a:ea typeface="微软雅黑" panose="020B0503020204020204" pitchFamily="34" charset="-122"/>
              </a:rPr>
              <a:t>的四层协议体系结构</a:t>
            </a:r>
            <a:endParaRPr kumimoji="1" lang="zh-CN" altLang="en-US" sz="1400" b="1" dirty="0">
              <a:latin typeface="微软雅黑" panose="020B0503020204020204" pitchFamily="34" charset="-122"/>
              <a:ea typeface="微软雅黑" panose="020B0503020204020204" pitchFamily="34" charset="-122"/>
            </a:endParaRPr>
          </a:p>
        </p:txBody>
      </p:sp>
      <p:sp>
        <p:nvSpPr>
          <p:cNvPr id="67" name="Text Box 95"/>
          <p:cNvSpPr txBox="1">
            <a:spLocks noChangeArrowheads="1"/>
          </p:cNvSpPr>
          <p:nvPr/>
        </p:nvSpPr>
        <p:spPr bwMode="auto">
          <a:xfrm>
            <a:off x="1993066" y="383660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68" name="Text Box 96"/>
          <p:cNvSpPr txBox="1">
            <a:spLocks noChangeArrowheads="1"/>
          </p:cNvSpPr>
          <p:nvPr/>
        </p:nvSpPr>
        <p:spPr bwMode="auto">
          <a:xfrm>
            <a:off x="4328191" y="383660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endParaRPr kumimoji="1" lang="en-US" altLang="zh-CN" sz="1200" b="1" dirty="0">
              <a:latin typeface="微软雅黑" panose="020B0503020204020204" pitchFamily="34" charset="-122"/>
              <a:ea typeface="微软雅黑" panose="020B0503020204020204" pitchFamily="34" charset="-122"/>
            </a:endParaRPr>
          </a:p>
        </p:txBody>
      </p:sp>
      <p:sp>
        <p:nvSpPr>
          <p:cNvPr id="69" name="Text Box 97"/>
          <p:cNvSpPr txBox="1">
            <a:spLocks noChangeArrowheads="1"/>
          </p:cNvSpPr>
          <p:nvPr/>
        </p:nvSpPr>
        <p:spPr bwMode="auto">
          <a:xfrm>
            <a:off x="6655970" y="384462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endParaRPr kumimoji="1" lang="en-US" altLang="zh-CN" sz="1200" b="1">
              <a:latin typeface="微软雅黑" panose="020B0503020204020204" pitchFamily="34" charset="-122"/>
              <a:ea typeface="微软雅黑" panose="020B0503020204020204" pitchFamily="34" charset="-122"/>
            </a:endParaRPr>
          </a:p>
        </p:txBody>
      </p:sp>
      <p:sp>
        <p:nvSpPr>
          <p:cNvPr id="70" name="Text Box 113"/>
          <p:cNvSpPr txBox="1">
            <a:spLocks noChangeArrowheads="1"/>
          </p:cNvSpPr>
          <p:nvPr/>
        </p:nvSpPr>
        <p:spPr bwMode="auto">
          <a:xfrm>
            <a:off x="5946357" y="118230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71" name="组合 70"/>
          <p:cNvGrpSpPr/>
          <p:nvPr/>
        </p:nvGrpSpPr>
        <p:grpSpPr>
          <a:xfrm>
            <a:off x="3578724" y="150298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4    </a:t>
              </a:r>
              <a:r>
                <a:rPr kumimoji="1" lang="zh-CN" altLang="en-US" sz="1100" b="1" dirty="0" smtClean="0">
                  <a:solidFill>
                    <a:srgbClr val="C00000"/>
                  </a:solidFill>
                  <a:latin typeface="微软雅黑" panose="020B0503020204020204" pitchFamily="34" charset="-122"/>
                  <a:ea typeface="微软雅黑" panose="020B0503020204020204" pitchFamily="34" charset="-122"/>
                </a:rPr>
                <a:t>应用层</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1    </a:t>
              </a:r>
              <a:r>
                <a:rPr kumimoji="1" lang="zh-CN" altLang="en-US" sz="1100" b="1" dirty="0" smtClean="0">
                  <a:latin typeface="微软雅黑" panose="020B0503020204020204" pitchFamily="34" charset="-122"/>
                  <a:ea typeface="微软雅黑" panose="020B0503020204020204" pitchFamily="34" charset="-122"/>
                </a:rPr>
                <a:t>网络</a:t>
              </a:r>
              <a:r>
                <a:rPr kumimoji="1" lang="zh-CN" altLang="en-US" sz="1100" b="1" dirty="0">
                  <a:latin typeface="微软雅黑" panose="020B0503020204020204" pitchFamily="34" charset="-122"/>
                  <a:ea typeface="微软雅黑" panose="020B0503020204020204" pitchFamily="34" charset="-122"/>
                </a:rPr>
                <a:t>接口层</a:t>
              </a:r>
              <a:endParaRPr kumimoji="1" lang="zh-CN" altLang="en-US" sz="1100" b="1" dirty="0">
                <a:latin typeface="微软雅黑" panose="020B0503020204020204" pitchFamily="34" charset="-122"/>
                <a:ea typeface="微软雅黑" panose="020B0503020204020204" pitchFamily="34" charset="-122"/>
              </a:endParaRP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2    </a:t>
              </a:r>
              <a:r>
                <a:rPr kumimoji="1" lang="zh-CN" altLang="en-US" sz="1100" b="1" dirty="0" smtClean="0">
                  <a:latin typeface="微软雅黑" panose="020B0503020204020204" pitchFamily="34" charset="-122"/>
                  <a:ea typeface="微软雅黑" panose="020B0503020204020204" pitchFamily="34" charset="-122"/>
                </a:rPr>
                <a:t>网</a:t>
              </a:r>
              <a:r>
                <a:rPr kumimoji="1" lang="zh-CN" altLang="en-US" sz="1100" b="1" dirty="0">
                  <a:latin typeface="微软雅黑" panose="020B0503020204020204" pitchFamily="34" charset="-122"/>
                  <a:ea typeface="微软雅黑" panose="020B0503020204020204" pitchFamily="34" charset="-122"/>
                </a:rPr>
                <a:t>际层 </a:t>
              </a:r>
              <a:r>
                <a:rPr kumimoji="1" lang="en-US" altLang="zh-CN" sz="1100" b="1" dirty="0">
                  <a:latin typeface="微软雅黑" panose="020B0503020204020204" pitchFamily="34" charset="-122"/>
                  <a:ea typeface="微软雅黑" panose="020B0503020204020204" pitchFamily="34" charset="-122"/>
                </a:rPr>
                <a:t>IP</a:t>
              </a:r>
              <a:endParaRPr kumimoji="1" lang="en-US" altLang="zh-CN" sz="1100" b="1" dirty="0">
                <a:latin typeface="微软雅黑" panose="020B0503020204020204" pitchFamily="34" charset="-122"/>
                <a:ea typeface="微软雅黑" panose="020B0503020204020204" pitchFamily="34" charset="-122"/>
              </a:endParaRP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endParaRPr kumimoji="1" lang="zh-CN" altLang="en-US" sz="1100" b="1" dirty="0">
                <a:latin typeface="微软雅黑" panose="020B0503020204020204" pitchFamily="34" charset="-122"/>
                <a:ea typeface="微软雅黑" panose="020B0503020204020204" pitchFamily="34" charset="-122"/>
              </a:endParaRP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endParaRPr kumimoji="1" lang="en-US" altLang="zh-CN" sz="1100" b="1" dirty="0">
                <a:latin typeface="微软雅黑" panose="020B0503020204020204" pitchFamily="34" charset="-122"/>
                <a:ea typeface="微软雅黑" panose="020B0503020204020204" pitchFamily="34" charset="-122"/>
              </a:endParaRP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smtClean="0">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r>
                <a:rPr kumimoji="1" lang="zh-CN" altLang="en-US" sz="1100" b="1" dirty="0" smtClean="0">
                  <a:latin typeface="微软雅黑" panose="020B0503020204020204" pitchFamily="34" charset="-122"/>
                  <a:ea typeface="微软雅黑" panose="020B0503020204020204" pitchFamily="34" charset="-122"/>
                </a:rPr>
                <a:t>运输层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endParaRPr kumimoji="1" lang="en-US" altLang="zh-CN" sz="1100" b="1" dirty="0">
                <a:latin typeface="微软雅黑" panose="020B0503020204020204" pitchFamily="34" charset="-122"/>
                <a:ea typeface="微软雅黑" panose="020B0503020204020204" pitchFamily="34" charset="-122"/>
              </a:endParaRP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endParaRPr kumimoji="1" lang="zh-CN" altLang="en-US" sz="1100" b="1" dirty="0">
                <a:latin typeface="微软雅黑" panose="020B0503020204020204" pitchFamily="34" charset="-122"/>
                <a:ea typeface="微软雅黑" panose="020B0503020204020204" pitchFamily="34" charset="-122"/>
              </a:endParaRPr>
            </a:p>
          </p:txBody>
        </p:sp>
      </p:grpSp>
      <p:cxnSp>
        <p:nvCxnSpPr>
          <p:cNvPr id="82" name="直接连接符 81"/>
          <p:cNvCxnSpPr/>
          <p:nvPr/>
        </p:nvCxnSpPr>
        <p:spPr>
          <a:xfrm>
            <a:off x="5334249" y="320494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3368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3481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运输层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网络层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应用层</a:t>
              </a:r>
              <a:endParaRPr kumimoji="1" lang="zh-CN" altLang="en-US" sz="1100" b="1" dirty="0">
                <a:solidFill>
                  <a:srgbClr val="FFFF00"/>
                </a:solidFill>
                <a:latin typeface="微软雅黑" panose="020B0503020204020204" pitchFamily="34" charset="-122"/>
                <a:ea typeface="微软雅黑" panose="020B0503020204020204" pitchFamily="34" charset="-122"/>
              </a:endParaRP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0"/>
          <p:cNvSpPr>
            <a:spLocks noChangeArrowheads="1"/>
          </p:cNvSpPr>
          <p:nvPr/>
        </p:nvSpPr>
        <p:spPr bwMode="auto">
          <a:xfrm>
            <a:off x="1684337" y="275149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3" name="Rectangle 11"/>
          <p:cNvSpPr>
            <a:spLocks noChangeArrowheads="1"/>
          </p:cNvSpPr>
          <p:nvPr/>
        </p:nvSpPr>
        <p:spPr bwMode="auto">
          <a:xfrm>
            <a:off x="1684337" y="315919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4" name="Rectangle 12"/>
          <p:cNvSpPr>
            <a:spLocks noChangeArrowheads="1"/>
          </p:cNvSpPr>
          <p:nvPr/>
        </p:nvSpPr>
        <p:spPr bwMode="auto">
          <a:xfrm>
            <a:off x="1684337" y="3556246"/>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5" name="Rectangle 13"/>
          <p:cNvSpPr>
            <a:spLocks noChangeArrowheads="1"/>
          </p:cNvSpPr>
          <p:nvPr/>
        </p:nvSpPr>
        <p:spPr bwMode="auto">
          <a:xfrm>
            <a:off x="1684337" y="397305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6" name="Rectangle 9"/>
          <p:cNvSpPr>
            <a:spLocks noChangeArrowheads="1"/>
          </p:cNvSpPr>
          <p:nvPr/>
        </p:nvSpPr>
        <p:spPr bwMode="auto">
          <a:xfrm>
            <a:off x="1684337" y="723165"/>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7" name="Rectangle 10"/>
          <p:cNvSpPr>
            <a:spLocks noChangeArrowheads="1"/>
          </p:cNvSpPr>
          <p:nvPr/>
        </p:nvSpPr>
        <p:spPr bwMode="auto">
          <a:xfrm>
            <a:off x="1684337" y="113927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8" name="Rectangle 11"/>
          <p:cNvSpPr>
            <a:spLocks noChangeArrowheads="1"/>
          </p:cNvSpPr>
          <p:nvPr/>
        </p:nvSpPr>
        <p:spPr bwMode="auto">
          <a:xfrm>
            <a:off x="1684337" y="153783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9" name="Rectangle 12"/>
          <p:cNvSpPr>
            <a:spLocks noChangeArrowheads="1"/>
          </p:cNvSpPr>
          <p:nvPr/>
        </p:nvSpPr>
        <p:spPr bwMode="auto">
          <a:xfrm>
            <a:off x="1684337" y="195317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20" name="Rectangle 13"/>
          <p:cNvSpPr>
            <a:spLocks noChangeArrowheads="1"/>
          </p:cNvSpPr>
          <p:nvPr/>
        </p:nvSpPr>
        <p:spPr bwMode="auto">
          <a:xfrm>
            <a:off x="1684337" y="235169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21" name="Rectangle 17"/>
          <p:cNvSpPr>
            <a:spLocks noChangeArrowheads="1"/>
          </p:cNvSpPr>
          <p:nvPr/>
        </p:nvSpPr>
        <p:spPr bwMode="auto">
          <a:xfrm>
            <a:off x="1716084" y="626374"/>
            <a:ext cx="5662177" cy="37856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系统 </a:t>
            </a:r>
            <a:r>
              <a:rPr lang="en-US" altLang="zh-CN" sz="2000" b="1" dirty="0">
                <a:solidFill>
                  <a:schemeClr val="bg1"/>
                </a:solidFill>
                <a:latin typeface="微软雅黑" panose="020B0503020204020204" pitchFamily="34" charset="-122"/>
                <a:ea typeface="微软雅黑" panose="020B0503020204020204" pitchFamily="34" charset="-122"/>
              </a:rPr>
              <a:t>DNS</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文件传送协议</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远程终端</a:t>
            </a:r>
            <a:r>
              <a:rPr lang="zh-CN" altLang="en-US" sz="2000" b="1" dirty="0">
                <a:solidFill>
                  <a:schemeClr val="bg1"/>
                </a:solidFill>
                <a:latin typeface="微软雅黑" panose="020B0503020204020204" pitchFamily="34" charset="-122"/>
                <a:ea typeface="微软雅黑" panose="020B0503020204020204" pitchFamily="34" charset="-122"/>
              </a:rPr>
              <a:t>协议 </a:t>
            </a:r>
            <a:r>
              <a:rPr lang="en-US" altLang="zh-CN" sz="2000" b="1" dirty="0">
                <a:solidFill>
                  <a:schemeClr val="bg1"/>
                </a:solidFill>
                <a:latin typeface="微软雅黑" panose="020B0503020204020204" pitchFamily="34" charset="-122"/>
                <a:ea typeface="微软雅黑" panose="020B0503020204020204" pitchFamily="34" charset="-122"/>
              </a:rPr>
              <a:t>TELNET</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 </a:t>
            </a:r>
            <a:r>
              <a:rPr lang="en-US" altLang="zh-CN" sz="2000" b="1" dirty="0">
                <a:solidFill>
                  <a:schemeClr val="bg1"/>
                </a:solidFill>
                <a:latin typeface="微软雅黑" panose="020B0503020204020204" pitchFamily="34" charset="-122"/>
                <a:ea typeface="微软雅黑" panose="020B0503020204020204" pitchFamily="34" charset="-122"/>
              </a:rPr>
              <a:t>WWW</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动态</a:t>
            </a:r>
            <a:r>
              <a:rPr lang="zh-CN" altLang="en-US" sz="2000" b="1" dirty="0">
                <a:solidFill>
                  <a:schemeClr val="bg1"/>
                </a:solidFill>
                <a:latin typeface="微软雅黑" panose="020B0503020204020204" pitchFamily="34" charset="-122"/>
                <a:ea typeface="微软雅黑" panose="020B0503020204020204" pitchFamily="34" charset="-122"/>
              </a:rPr>
              <a:t>主机配置协议 </a:t>
            </a:r>
            <a:r>
              <a:rPr lang="en-US" altLang="zh-CN" sz="2000" b="1" dirty="0">
                <a:solidFill>
                  <a:schemeClr val="bg1"/>
                </a:solidFill>
                <a:latin typeface="微软雅黑" panose="020B0503020204020204" pitchFamily="34" charset="-122"/>
                <a:ea typeface="微软雅黑" panose="020B0503020204020204" pitchFamily="34" charset="-122"/>
              </a:rPr>
              <a:t>DHCP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6.7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简单</a:t>
            </a:r>
            <a:r>
              <a:rPr lang="zh-CN" altLang="en-US" sz="2000" b="1" dirty="0">
                <a:solidFill>
                  <a:schemeClr val="bg1"/>
                </a:solidFill>
                <a:latin typeface="微软雅黑" panose="020B0503020204020204" pitchFamily="34" charset="-122"/>
                <a:ea typeface="微软雅黑" panose="020B0503020204020204" pitchFamily="34" charset="-122"/>
              </a:rPr>
              <a:t>网络管理协议 </a:t>
            </a:r>
            <a:r>
              <a:rPr lang="en-US" altLang="zh-CN" sz="2000" b="1" dirty="0">
                <a:solidFill>
                  <a:schemeClr val="bg1"/>
                </a:solidFill>
                <a:latin typeface="微软雅黑" panose="020B0503020204020204" pitchFamily="34" charset="-122"/>
                <a:ea typeface="微软雅黑" panose="020B0503020204020204" pitchFamily="34" charset="-122"/>
              </a:rPr>
              <a:t>SNMP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6.8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应用</a:t>
            </a:r>
            <a:r>
              <a:rPr lang="zh-CN" altLang="en-US" sz="2000" b="1" dirty="0">
                <a:solidFill>
                  <a:schemeClr val="bg1"/>
                </a:solidFill>
                <a:latin typeface="微软雅黑" panose="020B0503020204020204" pitchFamily="34" charset="-122"/>
                <a:ea typeface="微软雅黑" panose="020B0503020204020204" pitchFamily="34" charset="-122"/>
              </a:rPr>
              <a:t>进程跨越网络的通信</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6.9  </a:t>
            </a:r>
            <a:r>
              <a:rPr lang="en-US" altLang="zh-CN" sz="2000" b="1" dirty="0" smtClean="0">
                <a:solidFill>
                  <a:schemeClr val="bg1"/>
                </a:solidFill>
                <a:latin typeface="微软雅黑" panose="020B0503020204020204" pitchFamily="34" charset="-122"/>
                <a:ea typeface="微软雅黑" panose="020B0503020204020204" pitchFamily="34" charset="-122"/>
              </a:rPr>
              <a:t>                                                  P2P </a:t>
            </a:r>
            <a:r>
              <a:rPr lang="zh-CN" altLang="en-US" sz="2000" b="1" dirty="0">
                <a:solidFill>
                  <a:schemeClr val="bg1"/>
                </a:solidFill>
                <a:latin typeface="微软雅黑" panose="020B0503020204020204" pitchFamily="34" charset="-122"/>
                <a:ea typeface="微软雅黑" panose="020B0503020204020204" pitchFamily="34" charset="-122"/>
              </a:rPr>
              <a:t>应用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应用层</a:t>
            </a:r>
            <a:r>
              <a:rPr lang="zh-CN" altLang="en-US" sz="2400" b="1" dirty="0" smtClean="0">
                <a:solidFill>
                  <a:schemeClr val="bg1"/>
                </a:solidFill>
                <a:latin typeface="微软雅黑" panose="020B0503020204020204" pitchFamily="34" charset="-122"/>
                <a:ea typeface="微软雅黑" panose="020B0503020204020204" pitchFamily="34" charset="-122"/>
              </a:rPr>
              <a:t>协议</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3" name="Rectangle 8"/>
          <p:cNvSpPr>
            <a:spLocks noChangeArrowheads="1"/>
          </p:cNvSpPr>
          <p:nvPr/>
        </p:nvSpPr>
        <p:spPr bwMode="auto">
          <a:xfrm>
            <a:off x="545143" y="1009181"/>
            <a:ext cx="8053711" cy="2365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精确定义</a:t>
            </a:r>
            <a:r>
              <a:rPr lang="zh-CN" altLang="en-US" sz="2000" b="1" dirty="0" smtClean="0">
                <a:solidFill>
                  <a:srgbClr val="0000FF"/>
                </a:solidFill>
                <a:latin typeface="微软雅黑" panose="020B0503020204020204" pitchFamily="34" charset="-122"/>
                <a:ea typeface="微软雅黑" panose="020B0503020204020204" pitchFamily="34" charset="-122"/>
              </a:rPr>
              <a:t>不同</a:t>
            </a:r>
            <a:r>
              <a:rPr lang="zh-CN" altLang="en-US" sz="2000" b="1" dirty="0">
                <a:solidFill>
                  <a:srgbClr val="0000FF"/>
                </a:solidFill>
                <a:latin typeface="微软雅黑" panose="020B0503020204020204" pitchFamily="34" charset="-122"/>
                <a:ea typeface="微软雅黑" panose="020B0503020204020204" pitchFamily="34" charset="-122"/>
              </a:rPr>
              <a:t>主机中的多个</a:t>
            </a:r>
            <a:r>
              <a:rPr lang="zh-CN" altLang="en-US" sz="2000" b="1" dirty="0">
                <a:solidFill>
                  <a:srgbClr val="C00000"/>
                </a:solidFill>
                <a:latin typeface="微软雅黑" panose="020B0503020204020204" pitchFamily="34" charset="-122"/>
                <a:ea typeface="微软雅黑" panose="020B0503020204020204" pitchFamily="34" charset="-122"/>
              </a:rPr>
              <a:t>应用进程之间</a:t>
            </a:r>
            <a:r>
              <a:rPr lang="zh-CN" altLang="en-US" sz="2000" b="1" dirty="0">
                <a:solidFill>
                  <a:srgbClr val="0000FF"/>
                </a:solidFill>
                <a:latin typeface="微软雅黑" panose="020B0503020204020204" pitchFamily="34" charset="-122"/>
                <a:ea typeface="微软雅黑" panose="020B0503020204020204" pitchFamily="34" charset="-122"/>
              </a:rPr>
              <a:t>的</a:t>
            </a:r>
            <a:r>
              <a:rPr lang="zh-CN" altLang="en-US" sz="2000" b="1" dirty="0" smtClean="0">
                <a:solidFill>
                  <a:srgbClr val="0000FF"/>
                </a:solidFill>
                <a:latin typeface="微软雅黑" panose="020B0503020204020204" pitchFamily="34" charset="-122"/>
                <a:ea typeface="微软雅黑" panose="020B0503020204020204" pitchFamily="34" charset="-122"/>
              </a:rPr>
              <a:t>通信规则。</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包括：</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应用进程交换的报文类型，如请求报文和响应报文。</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各种报文类型的语法，如报文中的各个字段及其详细描述。</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字段的</a:t>
            </a:r>
            <a:r>
              <a:rPr lang="zh-CN" altLang="en-US" sz="2000" b="1" dirty="0" smtClean="0">
                <a:latin typeface="微软雅黑" panose="020B0503020204020204" pitchFamily="34" charset="-122"/>
                <a:ea typeface="微软雅黑" panose="020B0503020204020204" pitchFamily="34" charset="-122"/>
              </a:rPr>
              <a:t>语义，即包含在字段中的信息的含义。</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进程何时、如何发送报文，以及对报文进行响应的规则。</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应用层</a:t>
            </a:r>
            <a:r>
              <a:rPr lang="zh-CN" altLang="en-US" sz="2400" b="1" dirty="0" smtClean="0">
                <a:solidFill>
                  <a:schemeClr val="bg1"/>
                </a:solidFill>
                <a:latin typeface="微软雅黑" panose="020B0503020204020204" pitchFamily="34" charset="-122"/>
                <a:ea typeface="微软雅黑" panose="020B0503020204020204" pitchFamily="34" charset="-122"/>
              </a:rPr>
              <a:t>协议</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689500" y="1207367"/>
          <a:ext cx="3811477" cy="15891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aphicFrame>
        <p:nvGraphicFramePr>
          <p:cNvPr id="6" name="图示 5"/>
          <p:cNvGraphicFramePr/>
          <p:nvPr/>
        </p:nvGraphicFramePr>
        <p:xfrm>
          <a:off x="4702207" y="1207367"/>
          <a:ext cx="3811477" cy="15891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graphicEl>
                                              <a:dgm id="{7908BCB8-DE9B-4BF1-8D07-3A3FD24C7968}"/>
                                            </p:graphicEl>
                                          </p:spTgt>
                                        </p:tgtEl>
                                        <p:attrNameLst>
                                          <p:attrName>style.visibility</p:attrName>
                                        </p:attrNameLst>
                                      </p:cBhvr>
                                      <p:to>
                                        <p:strVal val="visible"/>
                                      </p:to>
                                    </p:set>
                                    <p:animEffect transition="in" filter="wipe(up)">
                                      <p:cBhvr>
                                        <p:cTn id="7" dur="1000"/>
                                        <p:tgtEl>
                                          <p:spTgt spid="2">
                                            <p:graphicEl>
                                              <a:dgm id="{7908BCB8-DE9B-4BF1-8D07-3A3FD24C7968}"/>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
                                            <p:graphicEl>
                                              <a:dgm id="{F381CC4E-322C-45E6-B7E7-4ED70FA8CF2E}"/>
                                            </p:graphicEl>
                                          </p:spTgt>
                                        </p:tgtEl>
                                        <p:attrNameLst>
                                          <p:attrName>style.visibility</p:attrName>
                                        </p:attrNameLst>
                                      </p:cBhvr>
                                      <p:to>
                                        <p:strVal val="visible"/>
                                      </p:to>
                                    </p:set>
                                    <p:animEffect transition="in" filter="wipe(up)">
                                      <p:cBhvr>
                                        <p:cTn id="12" dur="1000"/>
                                        <p:tgtEl>
                                          <p:spTgt spid="2">
                                            <p:graphicEl>
                                              <a:dgm id="{F381CC4E-322C-45E6-B7E7-4ED70FA8CF2E}"/>
                                            </p:graphicEl>
                                          </p:spTgt>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
                                            <p:graphicEl>
                                              <a:dgm id="{1F36E606-4D05-483A-959D-7AFAA3F99964}"/>
                                            </p:graphicEl>
                                          </p:spTgt>
                                        </p:tgtEl>
                                        <p:attrNameLst>
                                          <p:attrName>style.visibility</p:attrName>
                                        </p:attrNameLst>
                                      </p:cBhvr>
                                      <p:to>
                                        <p:strVal val="visible"/>
                                      </p:to>
                                    </p:set>
                                    <p:animEffect transition="in" filter="wipe(up)">
                                      <p:cBhvr>
                                        <p:cTn id="16" dur="1000"/>
                                        <p:tgtEl>
                                          <p:spTgt spid="2">
                                            <p:graphicEl>
                                              <a:dgm id="{1F36E606-4D05-483A-959D-7AFAA3F99964}"/>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
                                            <p:graphicEl>
                                              <a:dgm id="{49899EA7-F8C0-4BB7-A6AD-5F40B1731420}"/>
                                            </p:graphicEl>
                                          </p:spTgt>
                                        </p:tgtEl>
                                        <p:attrNameLst>
                                          <p:attrName>style.visibility</p:attrName>
                                        </p:attrNameLst>
                                      </p:cBhvr>
                                      <p:to>
                                        <p:strVal val="visible"/>
                                      </p:to>
                                    </p:set>
                                    <p:animEffect transition="in" filter="wipe(up)">
                                      <p:cBhvr>
                                        <p:cTn id="21" dur="1000"/>
                                        <p:tgtEl>
                                          <p:spTgt spid="2">
                                            <p:graphicEl>
                                              <a:dgm id="{49899EA7-F8C0-4BB7-A6AD-5F40B1731420}"/>
                                            </p:graphicEl>
                                          </p:spTgt>
                                        </p:tgtEl>
                                      </p:cBhvr>
                                    </p:animEffect>
                                  </p:childTnLst>
                                </p:cTn>
                              </p:par>
                            </p:childTnLst>
                          </p:cTn>
                        </p:par>
                        <p:par>
                          <p:cTn id="22" fill="hold">
                            <p:stCondLst>
                              <p:cond delay="1000"/>
                            </p:stCondLst>
                            <p:childTnLst>
                              <p:par>
                                <p:cTn id="23" presetID="22" presetClass="entr" presetSubtype="1" fill="hold" grpId="0" nodeType="afterEffect">
                                  <p:stCondLst>
                                    <p:cond delay="0"/>
                                  </p:stCondLst>
                                  <p:childTnLst>
                                    <p:set>
                                      <p:cBhvr>
                                        <p:cTn id="24" dur="1" fill="hold">
                                          <p:stCondLst>
                                            <p:cond delay="0"/>
                                          </p:stCondLst>
                                        </p:cTn>
                                        <p:tgtEl>
                                          <p:spTgt spid="2">
                                            <p:graphicEl>
                                              <a:dgm id="{07CD9CA8-8213-4B82-96DE-5A2E23AB39DC}"/>
                                            </p:graphicEl>
                                          </p:spTgt>
                                        </p:tgtEl>
                                        <p:attrNameLst>
                                          <p:attrName>style.visibility</p:attrName>
                                        </p:attrNameLst>
                                      </p:cBhvr>
                                      <p:to>
                                        <p:strVal val="visible"/>
                                      </p:to>
                                    </p:set>
                                    <p:animEffect transition="in" filter="wipe(up)">
                                      <p:cBhvr>
                                        <p:cTn id="25" dur="1000"/>
                                        <p:tgtEl>
                                          <p:spTgt spid="2">
                                            <p:graphicEl>
                                              <a:dgm id="{07CD9CA8-8213-4B82-96DE-5A2E23AB39DC}"/>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2">
                                            <p:graphicEl>
                                              <a:dgm id="{D772C529-9144-4F64-AC62-C41998E87A93}"/>
                                            </p:graphicEl>
                                          </p:spTgt>
                                        </p:tgtEl>
                                        <p:attrNameLst>
                                          <p:attrName>style.visibility</p:attrName>
                                        </p:attrNameLst>
                                      </p:cBhvr>
                                      <p:to>
                                        <p:strVal val="visible"/>
                                      </p:to>
                                    </p:set>
                                    <p:animEffect transition="in" filter="wipe(up)">
                                      <p:cBhvr>
                                        <p:cTn id="30" dur="1000"/>
                                        <p:tgtEl>
                                          <p:spTgt spid="2">
                                            <p:graphicEl>
                                              <a:dgm id="{D772C529-9144-4F64-AC62-C41998E87A93}"/>
                                            </p:graphicEl>
                                          </p:spTgt>
                                        </p:tgtEl>
                                      </p:cBhvr>
                                    </p:animEffect>
                                  </p:childTnLst>
                                </p:cTn>
                              </p:par>
                            </p:childTnLst>
                          </p:cTn>
                        </p:par>
                        <p:par>
                          <p:cTn id="31" fill="hold">
                            <p:stCondLst>
                              <p:cond delay="1000"/>
                            </p:stCondLst>
                            <p:childTnLst>
                              <p:par>
                                <p:cTn id="32" presetID="22" presetClass="entr" presetSubtype="1" fill="hold" grpId="0" nodeType="afterEffect">
                                  <p:stCondLst>
                                    <p:cond delay="0"/>
                                  </p:stCondLst>
                                  <p:childTnLst>
                                    <p:set>
                                      <p:cBhvr>
                                        <p:cTn id="33" dur="1" fill="hold">
                                          <p:stCondLst>
                                            <p:cond delay="0"/>
                                          </p:stCondLst>
                                        </p:cTn>
                                        <p:tgtEl>
                                          <p:spTgt spid="2">
                                            <p:graphicEl>
                                              <a:dgm id="{629FD194-4F20-42AB-A0D3-D63455B286FC}"/>
                                            </p:graphicEl>
                                          </p:spTgt>
                                        </p:tgtEl>
                                        <p:attrNameLst>
                                          <p:attrName>style.visibility</p:attrName>
                                        </p:attrNameLst>
                                      </p:cBhvr>
                                      <p:to>
                                        <p:strVal val="visible"/>
                                      </p:to>
                                    </p:set>
                                    <p:animEffect transition="in" filter="wipe(up)">
                                      <p:cBhvr>
                                        <p:cTn id="34" dur="1000"/>
                                        <p:tgtEl>
                                          <p:spTgt spid="2">
                                            <p:graphicEl>
                                              <a:dgm id="{629FD194-4F20-42AB-A0D3-D63455B286F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6">
                                            <p:graphicEl>
                                              <a:dgm id="{7908BCB8-DE9B-4BF1-8D07-3A3FD24C7968}"/>
                                            </p:graphicEl>
                                          </p:spTgt>
                                        </p:tgtEl>
                                        <p:attrNameLst>
                                          <p:attrName>style.visibility</p:attrName>
                                        </p:attrNameLst>
                                      </p:cBhvr>
                                      <p:to>
                                        <p:strVal val="visible"/>
                                      </p:to>
                                    </p:set>
                                    <p:animEffect transition="in" filter="wipe(up)">
                                      <p:cBhvr>
                                        <p:cTn id="39" dur="1000"/>
                                        <p:tgtEl>
                                          <p:spTgt spid="6">
                                            <p:graphicEl>
                                              <a:dgm id="{7908BCB8-DE9B-4BF1-8D07-3A3FD24C7968}"/>
                                            </p:graphicEl>
                                          </p:spTgt>
                                        </p:tgtEl>
                                      </p:cBhvr>
                                    </p:animEffect>
                                  </p:childTnLst>
                                </p:cTn>
                              </p:par>
                            </p:childTnLst>
                          </p:cTn>
                        </p:par>
                        <p:par>
                          <p:cTn id="40" fill="hold">
                            <p:stCondLst>
                              <p:cond delay="1000"/>
                            </p:stCondLst>
                            <p:childTnLst>
                              <p:par>
                                <p:cTn id="41" presetID="22" presetClass="entr" presetSubtype="1" fill="hold" grpId="0" nodeType="afterEffect">
                                  <p:stCondLst>
                                    <p:cond delay="0"/>
                                  </p:stCondLst>
                                  <p:childTnLst>
                                    <p:set>
                                      <p:cBhvr>
                                        <p:cTn id="42" dur="1" fill="hold">
                                          <p:stCondLst>
                                            <p:cond delay="0"/>
                                          </p:stCondLst>
                                        </p:cTn>
                                        <p:tgtEl>
                                          <p:spTgt spid="6">
                                            <p:graphicEl>
                                              <a:dgm id="{F381CC4E-322C-45E6-B7E7-4ED70FA8CF2E}"/>
                                            </p:graphicEl>
                                          </p:spTgt>
                                        </p:tgtEl>
                                        <p:attrNameLst>
                                          <p:attrName>style.visibility</p:attrName>
                                        </p:attrNameLst>
                                      </p:cBhvr>
                                      <p:to>
                                        <p:strVal val="visible"/>
                                      </p:to>
                                    </p:set>
                                    <p:animEffect transition="in" filter="wipe(up)">
                                      <p:cBhvr>
                                        <p:cTn id="43" dur="1000"/>
                                        <p:tgtEl>
                                          <p:spTgt spid="6">
                                            <p:graphicEl>
                                              <a:dgm id="{F381CC4E-322C-45E6-B7E7-4ED70FA8CF2E}"/>
                                            </p:graphicEl>
                                          </p:spTgt>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6">
                                            <p:graphicEl>
                                              <a:dgm id="{1F36E606-4D05-483A-959D-7AFAA3F99964}"/>
                                            </p:graphicEl>
                                          </p:spTgt>
                                        </p:tgtEl>
                                        <p:attrNameLst>
                                          <p:attrName>style.visibility</p:attrName>
                                        </p:attrNameLst>
                                      </p:cBhvr>
                                      <p:to>
                                        <p:strVal val="visible"/>
                                      </p:to>
                                    </p:set>
                                    <p:animEffect transition="in" filter="wipe(up)">
                                      <p:cBhvr>
                                        <p:cTn id="47" dur="1000"/>
                                        <p:tgtEl>
                                          <p:spTgt spid="6">
                                            <p:graphicEl>
                                              <a:dgm id="{1F36E606-4D05-483A-959D-7AFAA3F99964}"/>
                                            </p:graphicEl>
                                          </p:spTgt>
                                        </p:tgtEl>
                                      </p:cBhvr>
                                    </p:animEffect>
                                  </p:childTnLst>
                                </p:cTn>
                              </p:par>
                            </p:childTnLst>
                          </p:cTn>
                        </p:par>
                        <p:par>
                          <p:cTn id="48" fill="hold">
                            <p:stCondLst>
                              <p:cond delay="3000"/>
                            </p:stCondLst>
                            <p:childTnLst>
                              <p:par>
                                <p:cTn id="49" presetID="22" presetClass="entr" presetSubtype="1" fill="hold" grpId="0" nodeType="afterEffect">
                                  <p:stCondLst>
                                    <p:cond delay="0"/>
                                  </p:stCondLst>
                                  <p:childTnLst>
                                    <p:set>
                                      <p:cBhvr>
                                        <p:cTn id="50" dur="1" fill="hold">
                                          <p:stCondLst>
                                            <p:cond delay="0"/>
                                          </p:stCondLst>
                                        </p:cTn>
                                        <p:tgtEl>
                                          <p:spTgt spid="6">
                                            <p:graphicEl>
                                              <a:dgm id="{49899EA7-F8C0-4BB7-A6AD-5F40B1731420}"/>
                                            </p:graphicEl>
                                          </p:spTgt>
                                        </p:tgtEl>
                                        <p:attrNameLst>
                                          <p:attrName>style.visibility</p:attrName>
                                        </p:attrNameLst>
                                      </p:cBhvr>
                                      <p:to>
                                        <p:strVal val="visible"/>
                                      </p:to>
                                    </p:set>
                                    <p:animEffect transition="in" filter="wipe(up)">
                                      <p:cBhvr>
                                        <p:cTn id="51" dur="1000"/>
                                        <p:tgtEl>
                                          <p:spTgt spid="6">
                                            <p:graphicEl>
                                              <a:dgm id="{49899EA7-F8C0-4BB7-A6AD-5F40B1731420}"/>
                                            </p:graphicEl>
                                          </p:spTgt>
                                        </p:tgtEl>
                                      </p:cBhvr>
                                    </p:animEffect>
                                  </p:childTnLst>
                                </p:cTn>
                              </p:par>
                            </p:childTnLst>
                          </p:cTn>
                        </p:par>
                        <p:par>
                          <p:cTn id="52" fill="hold">
                            <p:stCondLst>
                              <p:cond delay="4000"/>
                            </p:stCondLst>
                            <p:childTnLst>
                              <p:par>
                                <p:cTn id="53" presetID="22" presetClass="entr" presetSubtype="1" fill="hold" grpId="0" nodeType="afterEffect">
                                  <p:stCondLst>
                                    <p:cond delay="0"/>
                                  </p:stCondLst>
                                  <p:childTnLst>
                                    <p:set>
                                      <p:cBhvr>
                                        <p:cTn id="54" dur="1" fill="hold">
                                          <p:stCondLst>
                                            <p:cond delay="0"/>
                                          </p:stCondLst>
                                        </p:cTn>
                                        <p:tgtEl>
                                          <p:spTgt spid="6">
                                            <p:graphicEl>
                                              <a:dgm id="{07CD9CA8-8213-4B82-96DE-5A2E23AB39DC}"/>
                                            </p:graphicEl>
                                          </p:spTgt>
                                        </p:tgtEl>
                                        <p:attrNameLst>
                                          <p:attrName>style.visibility</p:attrName>
                                        </p:attrNameLst>
                                      </p:cBhvr>
                                      <p:to>
                                        <p:strVal val="visible"/>
                                      </p:to>
                                    </p:set>
                                    <p:animEffect transition="in" filter="wipe(up)">
                                      <p:cBhvr>
                                        <p:cTn id="55" dur="1000"/>
                                        <p:tgtEl>
                                          <p:spTgt spid="6">
                                            <p:graphicEl>
                                              <a:dgm id="{07CD9CA8-8213-4B82-96DE-5A2E23AB39DC}"/>
                                            </p:graphicEl>
                                          </p:spTgt>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6">
                                            <p:graphicEl>
                                              <a:dgm id="{D772C529-9144-4F64-AC62-C41998E87A93}"/>
                                            </p:graphicEl>
                                          </p:spTgt>
                                        </p:tgtEl>
                                        <p:attrNameLst>
                                          <p:attrName>style.visibility</p:attrName>
                                        </p:attrNameLst>
                                      </p:cBhvr>
                                      <p:to>
                                        <p:strVal val="visible"/>
                                      </p:to>
                                    </p:set>
                                    <p:animEffect transition="in" filter="wipe(up)">
                                      <p:cBhvr>
                                        <p:cTn id="59" dur="1000"/>
                                        <p:tgtEl>
                                          <p:spTgt spid="6">
                                            <p:graphicEl>
                                              <a:dgm id="{D772C529-9144-4F64-AC62-C41998E87A93}"/>
                                            </p:graphicEl>
                                          </p:spTgt>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6">
                                            <p:graphicEl>
                                              <a:dgm id="{629FD194-4F20-42AB-A0D3-D63455B286FC}"/>
                                            </p:graphicEl>
                                          </p:spTgt>
                                        </p:tgtEl>
                                        <p:attrNameLst>
                                          <p:attrName>style.visibility</p:attrName>
                                        </p:attrNameLst>
                                      </p:cBhvr>
                                      <p:to>
                                        <p:strVal val="visible"/>
                                      </p:to>
                                    </p:set>
                                    <p:animEffect transition="in" filter="wipe(up)">
                                      <p:cBhvr>
                                        <p:cTn id="63" dur="1000"/>
                                        <p:tgtEl>
                                          <p:spTgt spid="6">
                                            <p:graphicEl>
                                              <a:dgm id="{629FD194-4F20-42AB-A0D3-D63455B286FC}"/>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Dgm bld="lvlOne"/>
        </p:bldSub>
      </p:bldGraphic>
      <p:bldGraphic spid="6" grpId="0" uiExpand="1">
        <p:bldSub>
          <a:bldDgm bld="lvlOne"/>
        </p:bldSub>
      </p:bldGraphic>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29135" y="138340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4" name="Rectangle 10"/>
          <p:cNvSpPr>
            <a:spLocks noChangeArrowheads="1"/>
          </p:cNvSpPr>
          <p:nvPr/>
        </p:nvSpPr>
        <p:spPr bwMode="auto">
          <a:xfrm>
            <a:off x="2629135" y="1989829"/>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5" name="Rectangle 11"/>
          <p:cNvSpPr>
            <a:spLocks noChangeArrowheads="1"/>
          </p:cNvSpPr>
          <p:nvPr/>
        </p:nvSpPr>
        <p:spPr bwMode="auto">
          <a:xfrm>
            <a:off x="2629135" y="260736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dirty="0">
              <a:solidFill>
                <a:srgbClr val="FFFFFF"/>
              </a:solidFill>
              <a:latin typeface="宋体" panose="02010600030101010101" pitchFamily="2" charset="-122"/>
            </a:endParaRPr>
          </a:p>
        </p:txBody>
      </p:sp>
      <p:sp>
        <p:nvSpPr>
          <p:cNvPr id="16" name="Line 16"/>
          <p:cNvSpPr>
            <a:spLocks noChangeShapeType="1"/>
          </p:cNvSpPr>
          <p:nvPr/>
        </p:nvSpPr>
        <p:spPr bwMode="auto">
          <a:xfrm>
            <a:off x="3637198" y="1311966"/>
            <a:ext cx="0" cy="1800225"/>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1129404"/>
            <a:ext cx="5472113"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系统概述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互联网</a:t>
            </a:r>
            <a:r>
              <a:rPr lang="zh-CN" altLang="en-US" sz="2000" b="1" dirty="0">
                <a:solidFill>
                  <a:schemeClr val="bg1"/>
                </a:solidFill>
                <a:latin typeface="微软雅黑" panose="020B0503020204020204" pitchFamily="34" charset="-122"/>
                <a:ea typeface="微软雅黑" panose="020B0503020204020204" pitchFamily="34" charset="-122"/>
              </a:rPr>
              <a:t>的域名结构</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8" name="Rectangle 27"/>
          <p:cNvSpPr>
            <a:spLocks noChangeArrowheads="1"/>
          </p:cNvSpPr>
          <p:nvPr/>
        </p:nvSpPr>
        <p:spPr bwMode="auto">
          <a:xfrm>
            <a:off x="639730" y="1383404"/>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9" name="Rectangle 29"/>
          <p:cNvSpPr>
            <a:spLocks noChangeArrowheads="1"/>
          </p:cNvSpPr>
          <p:nvPr/>
        </p:nvSpPr>
        <p:spPr bwMode="auto">
          <a:xfrm>
            <a:off x="648619" y="1478336"/>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6.1</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域名系统 </a:t>
            </a:r>
            <a:r>
              <a:rPr lang="en-US" altLang="zh-CN" sz="2000" b="1" dirty="0">
                <a:solidFill>
                  <a:schemeClr val="bg1"/>
                </a:solidFill>
                <a:latin typeface="微软雅黑" panose="020B0503020204020204" pitchFamily="34" charset="-122"/>
                <a:ea typeface="微软雅黑" panose="020B0503020204020204" pitchFamily="34" charset="-122"/>
              </a:rPr>
              <a:t>DNS</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807867" y="2522620"/>
            <a:ext cx="7279689" cy="188957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6.1.1  </a:t>
            </a:r>
            <a:r>
              <a:rPr lang="zh-CN" altLang="en-US" sz="2400" b="1" dirty="0">
                <a:solidFill>
                  <a:schemeClr val="bg1"/>
                </a:solidFill>
                <a:latin typeface="微软雅黑" panose="020B0503020204020204" pitchFamily="34" charset="-122"/>
                <a:ea typeface="微软雅黑" panose="020B0503020204020204" pitchFamily="34" charset="-122"/>
              </a:rPr>
              <a:t>域名系统概述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8"/>
          <p:cNvSpPr>
            <a:spLocks noChangeArrowheads="1"/>
          </p:cNvSpPr>
          <p:nvPr/>
        </p:nvSpPr>
        <p:spPr bwMode="auto">
          <a:xfrm>
            <a:off x="545143" y="1003858"/>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域名</a:t>
            </a:r>
            <a:r>
              <a:rPr lang="zh-CN" altLang="en-US" sz="2000" b="1" dirty="0" smtClean="0">
                <a:solidFill>
                  <a:srgbClr val="C00000"/>
                </a:solidFill>
                <a:latin typeface="微软雅黑" panose="020B0503020204020204" pitchFamily="34" charset="-122"/>
                <a:ea typeface="微软雅黑" panose="020B0503020204020204" pitchFamily="34" charset="-122"/>
              </a:rPr>
              <a:t>系统 </a:t>
            </a:r>
            <a:r>
              <a:rPr lang="en-US" altLang="zh-CN" sz="2000" b="1" dirty="0" smtClean="0">
                <a:solidFill>
                  <a:srgbClr val="C00000"/>
                </a:solidFill>
                <a:latin typeface="微软雅黑" panose="020B0503020204020204" pitchFamily="34" charset="-122"/>
                <a:ea typeface="微软雅黑" panose="020B0503020204020204" pitchFamily="34" charset="-122"/>
              </a:rPr>
              <a:t>DNS </a:t>
            </a:r>
            <a:r>
              <a:rPr lang="en-US" altLang="zh-CN" sz="2000" b="1" dirty="0">
                <a:latin typeface="微软雅黑" panose="020B0503020204020204" pitchFamily="34" charset="-122"/>
                <a:ea typeface="微软雅黑" panose="020B0503020204020204" pitchFamily="34" charset="-122"/>
              </a:rPr>
              <a:t>(Domain Name System</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互联网使用的命名</a:t>
            </a:r>
            <a:r>
              <a:rPr lang="zh-CN" altLang="en-US" sz="2000" b="1" dirty="0" smtClean="0">
                <a:latin typeface="微软雅黑" panose="020B0503020204020204" pitchFamily="34" charset="-122"/>
                <a:ea typeface="微软雅黑" panose="020B0503020204020204" pitchFamily="34" charset="-122"/>
              </a:rPr>
              <a:t>系统。</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用来把人们使用的机器</a:t>
            </a:r>
            <a:r>
              <a:rPr lang="zh-CN" altLang="en-US" sz="2000" b="1" dirty="0">
                <a:solidFill>
                  <a:srgbClr val="0000FF"/>
                </a:solidFill>
                <a:latin typeface="微软雅黑" panose="020B0503020204020204" pitchFamily="34" charset="-122"/>
                <a:ea typeface="微软雅黑" panose="020B0503020204020204" pitchFamily="34" charset="-122"/>
              </a:rPr>
              <a:t>名字（域名）转换为 </a:t>
            </a:r>
            <a:r>
              <a:rPr lang="en-US" altLang="zh-CN" sz="2000" b="1" dirty="0">
                <a:solidFill>
                  <a:srgbClr val="0000FF"/>
                </a:solidFill>
                <a:latin typeface="微软雅黑" panose="020B0503020204020204" pitchFamily="34" charset="-122"/>
                <a:ea typeface="微软雅黑" panose="020B0503020204020204" pitchFamily="34" charset="-122"/>
              </a:rPr>
              <a:t>IP </a:t>
            </a:r>
            <a:r>
              <a:rPr lang="zh-CN" altLang="en-US" sz="2000" b="1" dirty="0" smtClean="0">
                <a:solidFill>
                  <a:srgbClr val="0000FF"/>
                </a:solidFill>
                <a:latin typeface="微软雅黑" panose="020B0503020204020204" pitchFamily="34" charset="-122"/>
                <a:ea typeface="微软雅黑" panose="020B0503020204020204" pitchFamily="34" charset="-122"/>
              </a:rPr>
              <a:t>地址。</a:t>
            </a:r>
            <a:endParaRPr lang="en-US" altLang="zh-CN" sz="2000" b="1" dirty="0">
              <a:solidFill>
                <a:srgbClr val="0000FF"/>
              </a:solidFill>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为互联网的各种网络应用提供了核心服务。</a:t>
            </a:r>
            <a:endParaRPr lang="en-US" altLang="zh-CN" sz="2000" b="1" dirty="0">
              <a:latin typeface="微软雅黑" panose="020B0503020204020204" pitchFamily="34" charset="-122"/>
              <a:ea typeface="微软雅黑" panose="020B0503020204020204" pitchFamily="34" charset="-122"/>
            </a:endParaRPr>
          </a:p>
        </p:txBody>
      </p:sp>
      <p:grpSp>
        <p:nvGrpSpPr>
          <p:cNvPr id="40" name="组合 39"/>
          <p:cNvGrpSpPr/>
          <p:nvPr/>
        </p:nvGrpSpPr>
        <p:grpSpPr>
          <a:xfrm>
            <a:off x="845702" y="2665944"/>
            <a:ext cx="7043565" cy="1650084"/>
            <a:chOff x="845702" y="2665944"/>
            <a:chExt cx="7043565" cy="1650084"/>
          </a:xfrm>
        </p:grpSpPr>
        <p:sp>
          <p:nvSpPr>
            <p:cNvPr id="8" name="矩形 7"/>
            <p:cNvSpPr/>
            <p:nvPr/>
          </p:nvSpPr>
          <p:spPr>
            <a:xfrm>
              <a:off x="2240258" y="2665944"/>
              <a:ext cx="2909323" cy="276999"/>
            </a:xfrm>
            <a:prstGeom prst="rect">
              <a:avLst/>
            </a:prstGeom>
          </p:spPr>
          <p:txBody>
            <a:bodyPr wrap="none">
              <a:spAutoFit/>
            </a:bodyPr>
            <a:lstStyle/>
            <a:p>
              <a:pPr algn="ctr"/>
              <a:r>
                <a:rPr lang="zh-CN" altLang="en-US" sz="1200" b="1" dirty="0" smtClean="0">
                  <a:latin typeface="微软雅黑" panose="020B0503020204020204" pitchFamily="34" charset="-122"/>
                  <a:ea typeface="微软雅黑" panose="020B0503020204020204" pitchFamily="34" charset="-122"/>
                </a:rPr>
                <a:t>查询 </a:t>
              </a:r>
              <a:r>
                <a:rPr lang="en-US" altLang="zh-CN" sz="1200" b="1" dirty="0" smtClean="0">
                  <a:latin typeface="微软雅黑" panose="020B0503020204020204" pitchFamily="34" charset="-122"/>
                  <a:ea typeface="微软雅黑" panose="020B0503020204020204" pitchFamily="34" charset="-122"/>
                </a:rPr>
                <a:t>www.myschool.edu </a:t>
              </a:r>
              <a:r>
                <a:rPr lang="zh-CN" altLang="en-US" sz="1200" b="1" dirty="0" smtClean="0">
                  <a:latin typeface="微软雅黑" panose="020B0503020204020204" pitchFamily="34" charset="-122"/>
                  <a:ea typeface="微软雅黑" panose="020B0503020204020204" pitchFamily="34" charset="-122"/>
                </a:rPr>
                <a:t>的 </a:t>
              </a:r>
              <a:r>
                <a:rPr lang="en-US" altLang="zh-CN" sz="1200" b="1" dirty="0" smtClean="0">
                  <a:latin typeface="微软雅黑" panose="020B0503020204020204" pitchFamily="34" charset="-122"/>
                  <a:ea typeface="微软雅黑" panose="020B0503020204020204" pitchFamily="34" charset="-122"/>
                </a:rPr>
                <a:t>IP </a:t>
              </a:r>
              <a:r>
                <a:rPr lang="zh-CN" altLang="en-US" sz="1200" b="1" dirty="0" smtClean="0">
                  <a:latin typeface="微软雅黑" panose="020B0503020204020204" pitchFamily="34" charset="-122"/>
                  <a:ea typeface="微软雅黑" panose="020B0503020204020204" pitchFamily="34" charset="-122"/>
                </a:rPr>
                <a:t>地址</a:t>
              </a:r>
              <a:endParaRPr lang="zh-CN" altLang="en-US" sz="1200" dirty="0"/>
            </a:p>
          </p:txBody>
        </p:sp>
        <p:sp>
          <p:nvSpPr>
            <p:cNvPr id="16" name="矩形 15"/>
            <p:cNvSpPr/>
            <p:nvPr/>
          </p:nvSpPr>
          <p:spPr>
            <a:xfrm>
              <a:off x="5064582" y="4008251"/>
              <a:ext cx="1334020"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211.44.55.66</a:t>
              </a:r>
              <a:endParaRPr lang="zh-CN" altLang="en-US" sz="1400" dirty="0"/>
            </a:p>
          </p:txBody>
        </p:sp>
        <p:sp>
          <p:nvSpPr>
            <p:cNvPr id="10" name="云形 9"/>
            <p:cNvSpPr/>
            <p:nvPr/>
          </p:nvSpPr>
          <p:spPr>
            <a:xfrm>
              <a:off x="5318528" y="2683699"/>
              <a:ext cx="1787626" cy="1219649"/>
            </a:xfrm>
            <a:prstGeom prst="cloud">
              <a:avLst/>
            </a:prstGeom>
            <a:solidFill>
              <a:schemeClr val="bg1"/>
            </a:solidFill>
            <a:ln w="12700">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18" name="图片 17"/>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544615" y="3640097"/>
              <a:ext cx="297954" cy="417136"/>
            </a:xfrm>
            <a:prstGeom prst="rect">
              <a:avLst/>
            </a:prstGeom>
          </p:spPr>
        </p:pic>
        <p:sp>
          <p:nvSpPr>
            <p:cNvPr id="3" name="圆角矩形 2"/>
            <p:cNvSpPr/>
            <p:nvPr/>
          </p:nvSpPr>
          <p:spPr>
            <a:xfrm>
              <a:off x="5145486" y="2759941"/>
              <a:ext cx="773085" cy="406121"/>
            </a:xfrm>
            <a:prstGeom prst="roundRect">
              <a:avLst/>
            </a:prstGeom>
            <a:solidFill>
              <a:srgbClr val="00B0F0"/>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latin typeface="微软雅黑" panose="020B0503020204020204" pitchFamily="34" charset="-122"/>
                  <a:ea typeface="微软雅黑" panose="020B0503020204020204" pitchFamily="34" charset="-122"/>
                </a:rPr>
                <a:t>DNS</a:t>
              </a:r>
              <a:endParaRPr lang="zh-CN" altLang="en-US" sz="1600" b="1" dirty="0">
                <a:latin typeface="微软雅黑" panose="020B0503020204020204" pitchFamily="34" charset="-122"/>
                <a:ea typeface="微软雅黑" panose="020B0503020204020204" pitchFamily="34" charset="-122"/>
              </a:endParaRPr>
            </a:p>
          </p:txBody>
        </p:sp>
        <p:sp>
          <p:nvSpPr>
            <p:cNvPr id="23" name="矩形 22"/>
            <p:cNvSpPr/>
            <p:nvPr/>
          </p:nvSpPr>
          <p:spPr>
            <a:xfrm>
              <a:off x="2764650" y="2969044"/>
              <a:ext cx="1919116" cy="276999"/>
            </a:xfrm>
            <a:prstGeom prst="rect">
              <a:avLst/>
            </a:prstGeom>
          </p:spPr>
          <p:txBody>
            <a:bodyPr wrap="none">
              <a:spAutoFit/>
            </a:bodyPr>
            <a:lstStyle/>
            <a:p>
              <a:pPr algn="ctr"/>
              <a:r>
                <a:rPr lang="en-US" altLang="zh-CN" sz="1200" b="1" dirty="0" smtClean="0">
                  <a:latin typeface="微软雅黑" panose="020B0503020204020204" pitchFamily="34" charset="-122"/>
                  <a:ea typeface="微软雅黑" panose="020B0503020204020204" pitchFamily="34" charset="-122"/>
                </a:rPr>
                <a:t>IP </a:t>
              </a:r>
              <a:r>
                <a:rPr lang="zh-CN" altLang="en-US" sz="1200" b="1" dirty="0" smtClean="0">
                  <a:latin typeface="微软雅黑" panose="020B0503020204020204" pitchFamily="34" charset="-122"/>
                  <a:ea typeface="微软雅黑" panose="020B0503020204020204" pitchFamily="34" charset="-122"/>
                </a:rPr>
                <a:t>地址为 </a:t>
              </a:r>
              <a:r>
                <a:rPr lang="en-US" altLang="zh-CN" sz="1200" b="1" dirty="0" smtClean="0">
                  <a:latin typeface="微软雅黑" panose="020B0503020204020204" pitchFamily="34" charset="-122"/>
                  <a:ea typeface="微软雅黑" panose="020B0503020204020204" pitchFamily="34" charset="-122"/>
                </a:rPr>
                <a:t>211.44.55.66</a:t>
              </a:r>
              <a:endParaRPr lang="zh-CN" altLang="en-US" sz="1200" dirty="0"/>
            </a:p>
          </p:txBody>
        </p:sp>
        <p:grpSp>
          <p:nvGrpSpPr>
            <p:cNvPr id="26" name="组合 25"/>
            <p:cNvGrpSpPr/>
            <p:nvPr/>
          </p:nvGrpSpPr>
          <p:grpSpPr>
            <a:xfrm>
              <a:off x="1696121" y="2698471"/>
              <a:ext cx="640530" cy="640531"/>
              <a:chOff x="1749336" y="2998394"/>
              <a:chExt cx="640530" cy="640531"/>
            </a:xfrm>
          </p:grpSpPr>
          <p:pic>
            <p:nvPicPr>
              <p:cNvPr id="1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49336" y="2998394"/>
                <a:ext cx="640530" cy="640531"/>
              </a:xfrm>
              <a:prstGeom prst="rect">
                <a:avLst/>
              </a:prstGeom>
              <a:noFill/>
              <a:extLst>
                <a:ext uri="{909E8E84-426E-40DD-AFC4-6F175D3DCCD1}">
                  <a14:hiddenFill xmlns:a14="http://schemas.microsoft.com/office/drawing/2010/main">
                    <a:solidFill>
                      <a:srgbClr val="FFFFFF"/>
                    </a:solidFill>
                  </a14:hiddenFill>
                </a:ext>
              </a:extLst>
            </p:spPr>
          </p:pic>
          <p:sp>
            <p:nvSpPr>
              <p:cNvPr id="24" name="文本框 23"/>
              <p:cNvSpPr txBox="1"/>
              <p:nvPr/>
            </p:nvSpPr>
            <p:spPr>
              <a:xfrm>
                <a:off x="1763811" y="3117525"/>
                <a:ext cx="602363" cy="261610"/>
              </a:xfrm>
              <a:prstGeom prst="rect">
                <a:avLst/>
              </a:prstGeom>
              <a:noFill/>
            </p:spPr>
            <p:txBody>
              <a:bodyPr wrap="square" rtlCol="0">
                <a:spAutoFit/>
              </a:bodyPr>
              <a:lstStyle/>
              <a:p>
                <a:pPr algn="ctr"/>
                <a:r>
                  <a:rPr lang="zh-CN" altLang="en-US" sz="1100" b="1" dirty="0" smtClean="0">
                    <a:solidFill>
                      <a:srgbClr val="FFFF00"/>
                    </a:solidFill>
                    <a:latin typeface="微软雅黑" panose="020B0503020204020204" pitchFamily="34" charset="-122"/>
                    <a:ea typeface="微软雅黑" panose="020B0503020204020204" pitchFamily="34" charset="-122"/>
                  </a:rPr>
                  <a:t>浏览器</a:t>
                </a:r>
                <a:endParaRPr lang="zh-CN" altLang="en-US" sz="1100" b="1" dirty="0">
                  <a:solidFill>
                    <a:srgbClr val="FFFF00"/>
                  </a:solidFill>
                  <a:latin typeface="微软雅黑" panose="020B0503020204020204" pitchFamily="34" charset="-122"/>
                  <a:ea typeface="微软雅黑" panose="020B0503020204020204" pitchFamily="34" charset="-122"/>
                </a:endParaRPr>
              </a:p>
            </p:txBody>
          </p:sp>
        </p:grpSp>
        <p:sp>
          <p:nvSpPr>
            <p:cNvPr id="25" name="矩形 24"/>
            <p:cNvSpPr/>
            <p:nvPr/>
          </p:nvSpPr>
          <p:spPr>
            <a:xfrm>
              <a:off x="5869485" y="3154596"/>
              <a:ext cx="723275" cy="307777"/>
            </a:xfrm>
            <a:prstGeom prst="rect">
              <a:avLst/>
            </a:prstGeom>
          </p:spPr>
          <p:txBody>
            <a:bodyPr wrap="none">
              <a:spAutoFit/>
            </a:bodyPr>
            <a:lstStyle/>
            <a:p>
              <a:r>
                <a:rPr lang="zh-CN" altLang="en-US" sz="1400" b="1" dirty="0">
                  <a:solidFill>
                    <a:srgbClr val="000066"/>
                  </a:solidFill>
                  <a:latin typeface="微软雅黑" panose="020B0503020204020204" pitchFamily="34" charset="-122"/>
                  <a:ea typeface="微软雅黑" panose="020B0503020204020204" pitchFamily="34" charset="-122"/>
                </a:rPr>
                <a:t>互联网</a:t>
              </a:r>
              <a:endParaRPr lang="zh-CN" altLang="en-US" sz="1400" b="1" dirty="0">
                <a:solidFill>
                  <a:srgbClr val="000066"/>
                </a:solidFill>
                <a:latin typeface="微软雅黑" panose="020B0503020204020204" pitchFamily="34" charset="-122"/>
                <a:ea typeface="微软雅黑" panose="020B0503020204020204" pitchFamily="34" charset="-122"/>
              </a:endParaRPr>
            </a:p>
          </p:txBody>
        </p:sp>
        <p:cxnSp>
          <p:nvCxnSpPr>
            <p:cNvPr id="27" name="直接箭头连接符 26"/>
            <p:cNvCxnSpPr/>
            <p:nvPr/>
          </p:nvCxnSpPr>
          <p:spPr>
            <a:xfrm>
              <a:off x="2312959" y="3146458"/>
              <a:ext cx="3192435" cy="756890"/>
            </a:xfrm>
            <a:prstGeom prst="straightConnector1">
              <a:avLst/>
            </a:prstGeom>
            <a:ln w="19050">
              <a:solidFill>
                <a:schemeClr val="tx1"/>
              </a:solidFill>
              <a:prstDash val="sysDash"/>
              <a:tailEnd type="triangle"/>
            </a:ln>
          </p:spPr>
          <p:style>
            <a:lnRef idx="1">
              <a:schemeClr val="dk1"/>
            </a:lnRef>
            <a:fillRef idx="0">
              <a:schemeClr val="dk1"/>
            </a:fillRef>
            <a:effectRef idx="0">
              <a:schemeClr val="dk1"/>
            </a:effectRef>
            <a:fontRef idx="minor">
              <a:schemeClr val="tx1"/>
            </a:fontRef>
          </p:style>
        </p:cxnSp>
        <p:pic>
          <p:nvPicPr>
            <p:cNvPr id="33" name="图片 3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6820787" y="3286709"/>
              <a:ext cx="297954" cy="417136"/>
            </a:xfrm>
            <a:prstGeom prst="rect">
              <a:avLst/>
            </a:prstGeom>
          </p:spPr>
        </p:pic>
        <p:sp>
          <p:nvSpPr>
            <p:cNvPr id="34" name="矩形 33"/>
            <p:cNvSpPr/>
            <p:nvPr/>
          </p:nvSpPr>
          <p:spPr>
            <a:xfrm>
              <a:off x="6555247" y="3648022"/>
              <a:ext cx="1334020"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200.11.22.33</a:t>
              </a:r>
              <a:endParaRPr lang="zh-CN" altLang="en-US" sz="1400" dirty="0"/>
            </a:p>
          </p:txBody>
        </p:sp>
        <p:sp>
          <p:nvSpPr>
            <p:cNvPr id="35" name="矩形 34"/>
            <p:cNvSpPr/>
            <p:nvPr/>
          </p:nvSpPr>
          <p:spPr>
            <a:xfrm>
              <a:off x="845702" y="3340059"/>
              <a:ext cx="2208811" cy="276999"/>
            </a:xfrm>
            <a:prstGeom prst="rect">
              <a:avLst/>
            </a:prstGeom>
          </p:spPr>
          <p:txBody>
            <a:bodyPr wrap="none">
              <a:spAutoFit/>
            </a:bodyPr>
            <a:lstStyle/>
            <a:p>
              <a:pPr algn="ctr"/>
              <a:r>
                <a:rPr lang="en-US" altLang="zh-CN" sz="1200" b="1" dirty="0" smtClean="0">
                  <a:latin typeface="微软雅黑" panose="020B0503020204020204" pitchFamily="34" charset="-122"/>
                  <a:ea typeface="微软雅黑" panose="020B0503020204020204" pitchFamily="34" charset="-122"/>
                </a:rPr>
                <a:t>http://www.myschool.edu</a:t>
              </a:r>
              <a:endParaRPr lang="zh-CN" altLang="en-US" sz="1200" dirty="0"/>
            </a:p>
          </p:txBody>
        </p:sp>
        <p:grpSp>
          <p:nvGrpSpPr>
            <p:cNvPr id="38" name="组合 37"/>
            <p:cNvGrpSpPr/>
            <p:nvPr/>
          </p:nvGrpSpPr>
          <p:grpSpPr>
            <a:xfrm>
              <a:off x="2284350" y="2920745"/>
              <a:ext cx="2861961" cy="87320"/>
              <a:chOff x="2977656" y="2920745"/>
              <a:chExt cx="1954758" cy="87320"/>
            </a:xfrm>
          </p:grpSpPr>
          <p:cxnSp>
            <p:nvCxnSpPr>
              <p:cNvPr id="5" name="直接箭头连接符 4"/>
              <p:cNvCxnSpPr/>
              <p:nvPr/>
            </p:nvCxnSpPr>
            <p:spPr>
              <a:xfrm>
                <a:off x="2977656" y="2920745"/>
                <a:ext cx="1954758" cy="0"/>
              </a:xfrm>
              <a:prstGeom prst="straightConnector1">
                <a:avLst/>
              </a:prstGeom>
              <a:ln w="19050">
                <a:solidFill>
                  <a:srgbClr val="CC00CC"/>
                </a:solidFill>
                <a:tailEnd type="triangle"/>
              </a:ln>
            </p:spPr>
            <p:style>
              <a:lnRef idx="1">
                <a:schemeClr val="dk1"/>
              </a:lnRef>
              <a:fillRef idx="0">
                <a:schemeClr val="dk1"/>
              </a:fillRef>
              <a:effectRef idx="0">
                <a:schemeClr val="dk1"/>
              </a:effectRef>
              <a:fontRef idx="minor">
                <a:schemeClr val="tx1"/>
              </a:fontRef>
            </p:style>
          </p:cxnSp>
          <p:cxnSp>
            <p:nvCxnSpPr>
              <p:cNvPr id="9" name="直接箭头连接符 8"/>
              <p:cNvCxnSpPr/>
              <p:nvPr/>
            </p:nvCxnSpPr>
            <p:spPr>
              <a:xfrm>
                <a:off x="2977656" y="3008065"/>
                <a:ext cx="1954758" cy="0"/>
              </a:xfrm>
              <a:prstGeom prst="straightConnector1">
                <a:avLst/>
              </a:prstGeom>
              <a:ln w="19050">
                <a:solidFill>
                  <a:srgbClr val="000099"/>
                </a:solidFill>
                <a:headEnd type="triangle" w="med" len="med"/>
                <a:tailEnd type="none" w="med" len="med"/>
              </a:ln>
            </p:spPr>
            <p:style>
              <a:lnRef idx="1">
                <a:schemeClr val="dk1"/>
              </a:lnRef>
              <a:fillRef idx="0">
                <a:schemeClr val="dk1"/>
              </a:fillRef>
              <a:effectRef idx="0">
                <a:schemeClr val="dk1"/>
              </a:effectRef>
              <a:fontRef idx="minor">
                <a:schemeClr val="tx1"/>
              </a:fontRef>
            </p:style>
          </p:cxn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6.1.1  </a:t>
            </a:r>
            <a:r>
              <a:rPr lang="zh-CN" altLang="en-US" sz="2400" b="1" dirty="0">
                <a:solidFill>
                  <a:schemeClr val="bg1"/>
                </a:solidFill>
                <a:latin typeface="微软雅黑" panose="020B0503020204020204" pitchFamily="34" charset="-122"/>
                <a:ea typeface="微软雅黑" panose="020B0503020204020204" pitchFamily="34" charset="-122"/>
              </a:rPr>
              <a:t>域名系统概述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8"/>
          <p:cNvSpPr>
            <a:spLocks noChangeArrowheads="1"/>
          </p:cNvSpPr>
          <p:nvPr/>
        </p:nvSpPr>
        <p:spPr bwMode="auto">
          <a:xfrm>
            <a:off x="545143" y="1003858"/>
            <a:ext cx="8053711" cy="441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域名</a:t>
            </a:r>
            <a:r>
              <a:rPr lang="zh-CN" altLang="en-US" sz="2000" b="1" dirty="0" smtClean="0">
                <a:latin typeface="微软雅黑" panose="020B0503020204020204" pitchFamily="34" charset="-122"/>
                <a:ea typeface="微软雅黑" panose="020B0503020204020204" pitchFamily="34" charset="-122"/>
              </a:rPr>
              <a:t>采用层次</a:t>
            </a:r>
            <a:r>
              <a:rPr lang="zh-CN" altLang="en-US" sz="2000" b="1" dirty="0">
                <a:solidFill>
                  <a:srgbClr val="C00000"/>
                </a:solidFill>
                <a:latin typeface="微软雅黑" panose="020B0503020204020204" pitchFamily="34" charset="-122"/>
                <a:ea typeface="微软雅黑" panose="020B0503020204020204" pitchFamily="34" charset="-122"/>
              </a:rPr>
              <a:t>树状结构</a:t>
            </a:r>
            <a:r>
              <a:rPr lang="zh-CN" altLang="en-US" sz="2000" b="1" dirty="0">
                <a:latin typeface="微软雅黑" panose="020B0503020204020204" pitchFamily="34" charset="-122"/>
                <a:ea typeface="微软雅黑" panose="020B0503020204020204" pitchFamily="34" charset="-122"/>
              </a:rPr>
              <a:t>的命名</a:t>
            </a:r>
            <a:r>
              <a:rPr lang="zh-CN" altLang="en-US" sz="2000" b="1" dirty="0" smtClean="0">
                <a:latin typeface="微软雅黑" panose="020B0503020204020204" pitchFamily="34" charset="-122"/>
                <a:ea typeface="微软雅黑" panose="020B0503020204020204" pitchFamily="34" charset="-122"/>
              </a:rPr>
              <a:t>方法：</a:t>
            </a:r>
            <a:r>
              <a:rPr lang="en-US" altLang="zh-CN" sz="2000" b="1" dirty="0">
                <a:latin typeface="微软雅黑" panose="020B0503020204020204" pitchFamily="34" charset="-122"/>
                <a:ea typeface="微软雅黑" panose="020B0503020204020204" pitchFamily="34" charset="-122"/>
              </a:rPr>
              <a:t>www.myschool.edu</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grpSp>
        <p:nvGrpSpPr>
          <p:cNvPr id="2" name="组合 1"/>
          <p:cNvGrpSpPr/>
          <p:nvPr/>
        </p:nvGrpSpPr>
        <p:grpSpPr>
          <a:xfrm>
            <a:off x="6641647" y="1375130"/>
            <a:ext cx="2236132" cy="1862998"/>
            <a:chOff x="4235802" y="1499417"/>
            <a:chExt cx="2236132" cy="1862998"/>
          </a:xfrm>
        </p:grpSpPr>
        <p:sp>
          <p:nvSpPr>
            <p:cNvPr id="5" name="Rectangle 122"/>
            <p:cNvSpPr>
              <a:spLocks noChangeArrowheads="1"/>
            </p:cNvSpPr>
            <p:nvPr/>
          </p:nvSpPr>
          <p:spPr bwMode="auto">
            <a:xfrm>
              <a:off x="4774221" y="1499417"/>
              <a:ext cx="409790" cy="324229"/>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根</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9" name="Text Box 105"/>
            <p:cNvSpPr txBox="1">
              <a:spLocks noChangeArrowheads="1"/>
            </p:cNvSpPr>
            <p:nvPr/>
          </p:nvSpPr>
          <p:spPr bwMode="auto">
            <a:xfrm>
              <a:off x="5796446" y="2634960"/>
              <a:ext cx="357612" cy="307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25" name="Text Box 124"/>
            <p:cNvSpPr txBox="1">
              <a:spLocks noChangeArrowheads="1"/>
            </p:cNvSpPr>
            <p:nvPr/>
          </p:nvSpPr>
          <p:spPr bwMode="auto">
            <a:xfrm>
              <a:off x="4868740" y="2687209"/>
              <a:ext cx="10502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err="1" smtClean="0">
                  <a:solidFill>
                    <a:schemeClr val="tx1"/>
                  </a:solidFill>
                  <a:latin typeface="微软雅黑" panose="020B0503020204020204" pitchFamily="34" charset="-122"/>
                  <a:ea typeface="微软雅黑" panose="020B0503020204020204" pitchFamily="34" charset="-122"/>
                </a:rPr>
                <a:t>myschool</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28" name="Line 142"/>
            <p:cNvSpPr>
              <a:spLocks noChangeShapeType="1"/>
            </p:cNvSpPr>
            <p:nvPr/>
          </p:nvSpPr>
          <p:spPr bwMode="auto">
            <a:xfrm>
              <a:off x="5304275" y="2420677"/>
              <a:ext cx="81165" cy="3242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43"/>
            <p:cNvSpPr>
              <a:spLocks noChangeShapeType="1"/>
            </p:cNvSpPr>
            <p:nvPr/>
          </p:nvSpPr>
          <p:spPr bwMode="auto">
            <a:xfrm>
              <a:off x="5304275" y="2433600"/>
              <a:ext cx="557632" cy="291127"/>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44"/>
            <p:cNvSpPr>
              <a:spLocks noChangeShapeType="1"/>
            </p:cNvSpPr>
            <p:nvPr/>
          </p:nvSpPr>
          <p:spPr bwMode="auto">
            <a:xfrm flipV="1">
              <a:off x="4893212" y="2445345"/>
              <a:ext cx="411062" cy="27938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5" name="Group 162"/>
            <p:cNvGrpSpPr/>
            <p:nvPr/>
          </p:nvGrpSpPr>
          <p:grpSpPr bwMode="auto">
            <a:xfrm>
              <a:off x="4566141" y="2421987"/>
              <a:ext cx="341067" cy="118649"/>
              <a:chOff x="2875" y="1143"/>
              <a:chExt cx="330" cy="132"/>
            </a:xfrm>
          </p:grpSpPr>
          <p:sp>
            <p:nvSpPr>
              <p:cNvPr id="56" name="Line 16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16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16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16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8" name="Group 177"/>
            <p:cNvGrpSpPr/>
            <p:nvPr/>
          </p:nvGrpSpPr>
          <p:grpSpPr bwMode="auto">
            <a:xfrm>
              <a:off x="5642797" y="2421987"/>
              <a:ext cx="341067" cy="118649"/>
              <a:chOff x="2875" y="1143"/>
              <a:chExt cx="330" cy="132"/>
            </a:xfrm>
          </p:grpSpPr>
          <p:sp>
            <p:nvSpPr>
              <p:cNvPr id="44" name="Line 17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Line 17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Line 18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18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73" name="Text Box 150"/>
            <p:cNvSpPr txBox="1">
              <a:spLocks noChangeArrowheads="1"/>
            </p:cNvSpPr>
            <p:nvPr/>
          </p:nvSpPr>
          <p:spPr bwMode="auto">
            <a:xfrm>
              <a:off x="5268039" y="3054633"/>
              <a:ext cx="641410" cy="30778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www</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74" name="Text Box 152"/>
            <p:cNvSpPr txBox="1">
              <a:spLocks noChangeArrowheads="1"/>
            </p:cNvSpPr>
            <p:nvPr/>
          </p:nvSpPr>
          <p:spPr bwMode="auto">
            <a:xfrm>
              <a:off x="4632836" y="263460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76" name="Line 154"/>
            <p:cNvSpPr>
              <a:spLocks noChangeShapeType="1"/>
            </p:cNvSpPr>
            <p:nvPr/>
          </p:nvSpPr>
          <p:spPr bwMode="auto">
            <a:xfrm>
              <a:off x="5469063" y="2955536"/>
              <a:ext cx="130465" cy="186024"/>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Text Box 107"/>
            <p:cNvSpPr txBox="1">
              <a:spLocks noChangeArrowheads="1"/>
            </p:cNvSpPr>
            <p:nvPr/>
          </p:nvSpPr>
          <p:spPr bwMode="auto">
            <a:xfrm>
              <a:off x="4521599" y="2165889"/>
              <a:ext cx="5725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smtClean="0">
                  <a:solidFill>
                    <a:schemeClr val="tx1"/>
                  </a:solidFill>
                  <a:latin typeface="微软雅黑" panose="020B0503020204020204" pitchFamily="34" charset="-122"/>
                  <a:ea typeface="微软雅黑" panose="020B0503020204020204" pitchFamily="34" charset="-122"/>
                </a:rPr>
                <a:t>com</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02" name="Text Box 109"/>
            <p:cNvSpPr txBox="1">
              <a:spLocks noChangeArrowheads="1"/>
            </p:cNvSpPr>
            <p:nvPr/>
          </p:nvSpPr>
          <p:spPr bwMode="auto">
            <a:xfrm>
              <a:off x="5053565" y="2165889"/>
              <a:ext cx="524328"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03" name="Text Box 110"/>
            <p:cNvSpPr txBox="1">
              <a:spLocks noChangeArrowheads="1"/>
            </p:cNvSpPr>
            <p:nvPr/>
          </p:nvSpPr>
          <p:spPr bwMode="auto">
            <a:xfrm>
              <a:off x="5599528" y="2165889"/>
              <a:ext cx="525600"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gov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10" name="Line 134"/>
            <p:cNvSpPr>
              <a:spLocks noChangeShapeType="1"/>
            </p:cNvSpPr>
            <p:nvPr/>
          </p:nvSpPr>
          <p:spPr bwMode="auto">
            <a:xfrm flipH="1">
              <a:off x="4427415" y="1791531"/>
              <a:ext cx="559882" cy="4361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135"/>
            <p:cNvSpPr>
              <a:spLocks noChangeShapeType="1"/>
            </p:cNvSpPr>
            <p:nvPr/>
          </p:nvSpPr>
          <p:spPr bwMode="auto">
            <a:xfrm flipH="1">
              <a:off x="4785027" y="1800409"/>
              <a:ext cx="187090" cy="42727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136"/>
            <p:cNvSpPr>
              <a:spLocks noChangeShapeType="1"/>
            </p:cNvSpPr>
            <p:nvPr/>
          </p:nvSpPr>
          <p:spPr bwMode="auto">
            <a:xfrm>
              <a:off x="4987388" y="1809942"/>
              <a:ext cx="316887" cy="42878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Line 137"/>
            <p:cNvSpPr>
              <a:spLocks noChangeShapeType="1"/>
            </p:cNvSpPr>
            <p:nvPr/>
          </p:nvSpPr>
          <p:spPr bwMode="auto">
            <a:xfrm>
              <a:off x="4984843" y="1800544"/>
              <a:ext cx="866668" cy="4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138"/>
            <p:cNvSpPr>
              <a:spLocks noChangeShapeType="1"/>
            </p:cNvSpPr>
            <p:nvPr/>
          </p:nvSpPr>
          <p:spPr bwMode="auto">
            <a:xfrm>
              <a:off x="5001387" y="1792321"/>
              <a:ext cx="1259701" cy="43935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7" name="Text Box 141"/>
            <p:cNvSpPr txBox="1">
              <a:spLocks noChangeArrowheads="1"/>
            </p:cNvSpPr>
            <p:nvPr/>
          </p:nvSpPr>
          <p:spPr bwMode="auto">
            <a:xfrm>
              <a:off x="423580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18" name="Text Box 207"/>
            <p:cNvSpPr txBox="1">
              <a:spLocks noChangeArrowheads="1"/>
            </p:cNvSpPr>
            <p:nvPr/>
          </p:nvSpPr>
          <p:spPr bwMode="auto">
            <a:xfrm>
              <a:off x="611432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grpSp>
      <p:sp>
        <p:nvSpPr>
          <p:cNvPr id="119" name="Rectangle 8"/>
          <p:cNvSpPr>
            <a:spLocks noChangeArrowheads="1"/>
          </p:cNvSpPr>
          <p:nvPr/>
        </p:nvSpPr>
        <p:spPr bwMode="auto">
          <a:xfrm>
            <a:off x="545143" y="1419520"/>
            <a:ext cx="5786583"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是一个联机</a:t>
            </a:r>
            <a:r>
              <a:rPr lang="zh-CN" altLang="en-US" sz="2000" b="1" dirty="0">
                <a:solidFill>
                  <a:srgbClr val="C00000"/>
                </a:solidFill>
                <a:latin typeface="微软雅黑" panose="020B0503020204020204" pitchFamily="34" charset="-122"/>
                <a:ea typeface="微软雅黑" panose="020B0503020204020204" pitchFamily="34" charset="-122"/>
              </a:rPr>
              <a:t>分布式数据库系统</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采用</a:t>
            </a:r>
            <a:r>
              <a:rPr lang="zh-CN" altLang="en-US" sz="2000" b="1" dirty="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域名</a:t>
            </a:r>
            <a:r>
              <a:rPr lang="zh-CN" altLang="en-US" sz="2000" b="1" dirty="0" smtClean="0">
                <a:latin typeface="微软雅黑" panose="020B0503020204020204" pitchFamily="34" charset="-122"/>
                <a:ea typeface="微软雅黑" panose="020B0503020204020204" pitchFamily="34" charset="-122"/>
              </a:rPr>
              <a:t>到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解析是</a:t>
            </a:r>
            <a:r>
              <a:rPr lang="zh-CN" altLang="en-US" sz="2000" b="1" dirty="0">
                <a:latin typeface="微软雅黑" panose="020B0503020204020204" pitchFamily="34" charset="-122"/>
                <a:ea typeface="微软雅黑" panose="020B0503020204020204" pitchFamily="34" charset="-122"/>
              </a:rPr>
              <a:t>由若干个</a:t>
            </a:r>
            <a:r>
              <a:rPr lang="zh-CN" altLang="en-US" sz="2000" b="1" dirty="0">
                <a:solidFill>
                  <a:srgbClr val="C00000"/>
                </a:solidFill>
                <a:latin typeface="微软雅黑" panose="020B0503020204020204" pitchFamily="34" charset="-122"/>
                <a:ea typeface="微软雅黑" panose="020B0503020204020204" pitchFamily="34" charset="-122"/>
              </a:rPr>
              <a:t>域名服务器程序</a:t>
            </a:r>
            <a:r>
              <a:rPr lang="zh-CN" altLang="en-US" sz="2000" b="1" dirty="0">
                <a:latin typeface="微软雅黑" panose="020B0503020204020204" pitchFamily="34" charset="-122"/>
                <a:ea typeface="微软雅黑" panose="020B0503020204020204" pitchFamily="34" charset="-122"/>
              </a:rPr>
              <a:t>共同</a:t>
            </a:r>
            <a:r>
              <a:rPr lang="zh-CN" altLang="en-US" sz="2000" b="1" dirty="0" smtClean="0">
                <a:latin typeface="微软雅黑" panose="020B0503020204020204" pitchFamily="34" charset="-122"/>
                <a:ea typeface="微软雅黑" panose="020B0503020204020204" pitchFamily="34" charset="-122"/>
              </a:rPr>
              <a:t>完成。</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域名</a:t>
            </a:r>
            <a:r>
              <a:rPr lang="zh-CN" altLang="en-US" sz="2000" b="1" dirty="0">
                <a:latin typeface="微软雅黑" panose="020B0503020204020204" pitchFamily="34" charset="-122"/>
                <a:ea typeface="微软雅黑" panose="020B0503020204020204" pitchFamily="34" charset="-122"/>
              </a:rPr>
              <a:t>服务器程序在专设的结点上运行，运行该程序的机器称为</a:t>
            </a:r>
            <a:r>
              <a:rPr lang="zh-CN" altLang="en-US" sz="2000" b="1" dirty="0">
                <a:solidFill>
                  <a:srgbClr val="C00000"/>
                </a:solidFill>
                <a:latin typeface="微软雅黑" panose="020B0503020204020204" pitchFamily="34" charset="-122"/>
                <a:ea typeface="微软雅黑" panose="020B0503020204020204" pitchFamily="34" charset="-122"/>
              </a:rPr>
              <a:t>域名服务器。</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19">
                                            <p:txEl>
                                              <p:pRg st="0" end="0"/>
                                            </p:txEl>
                                          </p:spTgt>
                                        </p:tgtEl>
                                        <p:attrNameLst>
                                          <p:attrName>style.visibility</p:attrName>
                                        </p:attrNameLst>
                                      </p:cBhvr>
                                      <p:to>
                                        <p:strVal val="visible"/>
                                      </p:to>
                                    </p:set>
                                    <p:animEffect transition="in" filter="wipe(up)">
                                      <p:cBhvr>
                                        <p:cTn id="12" dur="1000"/>
                                        <p:tgtEl>
                                          <p:spTgt spid="11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9">
                                            <p:txEl>
                                              <p:pRg st="1" end="1"/>
                                            </p:txEl>
                                          </p:spTgt>
                                        </p:tgtEl>
                                        <p:attrNameLst>
                                          <p:attrName>style.visibility</p:attrName>
                                        </p:attrNameLst>
                                      </p:cBhvr>
                                      <p:to>
                                        <p:strVal val="visible"/>
                                      </p:to>
                                    </p:set>
                                    <p:animEffect transition="in" filter="wipe(up)">
                                      <p:cBhvr>
                                        <p:cTn id="17" dur="1000"/>
                                        <p:tgtEl>
                                          <p:spTgt spid="119">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19">
                                            <p:txEl>
                                              <p:pRg st="2" end="2"/>
                                            </p:txEl>
                                          </p:spTgt>
                                        </p:tgtEl>
                                        <p:attrNameLst>
                                          <p:attrName>style.visibility</p:attrName>
                                        </p:attrNameLst>
                                      </p:cBhvr>
                                      <p:to>
                                        <p:strVal val="visible"/>
                                      </p:to>
                                    </p:set>
                                    <p:animEffect transition="in" filter="wipe(up)">
                                      <p:cBhvr>
                                        <p:cTn id="22" dur="1000"/>
                                        <p:tgtEl>
                                          <p:spTgt spid="11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uiExpand="1"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100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63099" y="577797"/>
            <a:ext cx="22365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解析过程要点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807867" y="1008671"/>
            <a:ext cx="7279689" cy="34923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文本框 7"/>
          <p:cNvSpPr txBox="1"/>
          <p:nvPr/>
        </p:nvSpPr>
        <p:spPr>
          <a:xfrm>
            <a:off x="2714425" y="1321580"/>
            <a:ext cx="504892" cy="276999"/>
          </a:xfrm>
          <a:prstGeom prst="rect">
            <a:avLst/>
          </a:prstGeom>
          <a:noFill/>
          <a:ln>
            <a:noFill/>
          </a:ln>
        </p:spPr>
        <p:txBody>
          <a:bodyPr wrap="square" rtlCol="0" anchor="ctr">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rPr>
              <a:t>客户</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grpSp>
        <p:nvGrpSpPr>
          <p:cNvPr id="21" name="Group 233"/>
          <p:cNvGrpSpPr/>
          <p:nvPr/>
        </p:nvGrpSpPr>
        <p:grpSpPr bwMode="auto">
          <a:xfrm>
            <a:off x="5317724" y="3466759"/>
            <a:ext cx="488272" cy="699122"/>
            <a:chOff x="1441" y="3172"/>
            <a:chExt cx="355" cy="585"/>
          </a:xfrm>
        </p:grpSpPr>
        <p:sp>
          <p:nvSpPr>
            <p:cNvPr id="22" name="Freeform 234"/>
            <p:cNvSpPr/>
            <p:nvPr/>
          </p:nvSpPr>
          <p:spPr bwMode="auto">
            <a:xfrm>
              <a:off x="1441" y="3172"/>
              <a:ext cx="355" cy="585"/>
            </a:xfrm>
            <a:custGeom>
              <a:avLst/>
              <a:gdLst>
                <a:gd name="T0" fmla="*/ 355 w 7809"/>
                <a:gd name="T1" fmla="*/ 0 h 12860"/>
                <a:gd name="T2" fmla="*/ 355 w 7809"/>
                <a:gd name="T3" fmla="*/ 0 h 12860"/>
                <a:gd name="T4" fmla="*/ 355 w 7809"/>
                <a:gd name="T5" fmla="*/ 0 h 12860"/>
                <a:gd name="T6" fmla="*/ 355 w 7809"/>
                <a:gd name="T7" fmla="*/ 466 h 12860"/>
                <a:gd name="T8" fmla="*/ 235 w 7809"/>
                <a:gd name="T9" fmla="*/ 585 h 12860"/>
                <a:gd name="T10" fmla="*/ 0 w 7809"/>
                <a:gd name="T11" fmla="*/ 585 h 12860"/>
                <a:gd name="T12" fmla="*/ 0 w 7809"/>
                <a:gd name="T13" fmla="*/ 119 h 12860"/>
                <a:gd name="T14" fmla="*/ 119 w 7809"/>
                <a:gd name="T15" fmla="*/ 0 h 12860"/>
                <a:gd name="T16" fmla="*/ 355 w 7809"/>
                <a:gd name="T17" fmla="*/ 0 h 128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09" h="12860">
                  <a:moveTo>
                    <a:pt x="7809" y="0"/>
                  </a:moveTo>
                  <a:lnTo>
                    <a:pt x="7809" y="0"/>
                  </a:lnTo>
                  <a:lnTo>
                    <a:pt x="7809" y="10235"/>
                  </a:lnTo>
                  <a:lnTo>
                    <a:pt x="5174" y="12860"/>
                  </a:lnTo>
                  <a:lnTo>
                    <a:pt x="0" y="12860"/>
                  </a:lnTo>
                  <a:lnTo>
                    <a:pt x="0" y="2625"/>
                  </a:lnTo>
                  <a:lnTo>
                    <a:pt x="2628" y="1"/>
                  </a:lnTo>
                  <a:lnTo>
                    <a:pt x="7809" y="0"/>
                  </a:lnTo>
                  <a:close/>
                </a:path>
              </a:pathLst>
            </a:custGeom>
            <a:solidFill>
              <a:srgbClr val="5781A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3" name="Rectangle 235"/>
            <p:cNvSpPr>
              <a:spLocks noChangeArrowheads="1"/>
            </p:cNvSpPr>
            <p:nvPr/>
          </p:nvSpPr>
          <p:spPr bwMode="auto">
            <a:xfrm>
              <a:off x="1441" y="3292"/>
              <a:ext cx="235" cy="465"/>
            </a:xfrm>
            <a:prstGeom prst="rect">
              <a:avLst/>
            </a:prstGeom>
            <a:solidFill>
              <a:srgbClr val="5781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4" name="Freeform 236"/>
            <p:cNvSpPr/>
            <p:nvPr/>
          </p:nvSpPr>
          <p:spPr bwMode="auto">
            <a:xfrm>
              <a:off x="1676" y="3172"/>
              <a:ext cx="120" cy="585"/>
            </a:xfrm>
            <a:custGeom>
              <a:avLst/>
              <a:gdLst>
                <a:gd name="T0" fmla="*/ 120 w 2635"/>
                <a:gd name="T1" fmla="*/ 0 h 12860"/>
                <a:gd name="T2" fmla="*/ 0 w 2635"/>
                <a:gd name="T3" fmla="*/ 119 h 12860"/>
                <a:gd name="T4" fmla="*/ 0 w 2635"/>
                <a:gd name="T5" fmla="*/ 585 h 12860"/>
                <a:gd name="T6" fmla="*/ 120 w 2635"/>
                <a:gd name="T7" fmla="*/ 466 h 12860"/>
                <a:gd name="T8" fmla="*/ 120 w 2635"/>
                <a:gd name="T9" fmla="*/ 0 h 128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35" h="12860">
                  <a:moveTo>
                    <a:pt x="2635" y="0"/>
                  </a:moveTo>
                  <a:lnTo>
                    <a:pt x="0" y="2625"/>
                  </a:lnTo>
                  <a:lnTo>
                    <a:pt x="0" y="12860"/>
                  </a:lnTo>
                  <a:lnTo>
                    <a:pt x="2635" y="10235"/>
                  </a:lnTo>
                  <a:lnTo>
                    <a:pt x="2635" y="0"/>
                  </a:lnTo>
                  <a:close/>
                </a:path>
              </a:pathLst>
            </a:custGeom>
            <a:solidFill>
              <a:srgbClr val="32537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5" name="Freeform 237"/>
            <p:cNvSpPr/>
            <p:nvPr/>
          </p:nvSpPr>
          <p:spPr bwMode="auto">
            <a:xfrm>
              <a:off x="1441" y="3172"/>
              <a:ext cx="355" cy="120"/>
            </a:xfrm>
            <a:custGeom>
              <a:avLst/>
              <a:gdLst>
                <a:gd name="T0" fmla="*/ 0 w 7809"/>
                <a:gd name="T1" fmla="*/ 120 h 2625"/>
                <a:gd name="T2" fmla="*/ 235 w 7809"/>
                <a:gd name="T3" fmla="*/ 120 h 2625"/>
                <a:gd name="T4" fmla="*/ 355 w 7809"/>
                <a:gd name="T5" fmla="*/ 0 h 2625"/>
                <a:gd name="T6" fmla="*/ 119 w 7809"/>
                <a:gd name="T7" fmla="*/ 0 h 2625"/>
                <a:gd name="T8" fmla="*/ 0 w 7809"/>
                <a:gd name="T9" fmla="*/ 120 h 2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09" h="2625">
                  <a:moveTo>
                    <a:pt x="0" y="2625"/>
                  </a:moveTo>
                  <a:lnTo>
                    <a:pt x="5174" y="2625"/>
                  </a:lnTo>
                  <a:lnTo>
                    <a:pt x="7809" y="0"/>
                  </a:lnTo>
                  <a:lnTo>
                    <a:pt x="2628" y="1"/>
                  </a:lnTo>
                  <a:lnTo>
                    <a:pt x="0" y="2625"/>
                  </a:lnTo>
                  <a:close/>
                </a:path>
              </a:pathLst>
            </a:custGeom>
            <a:solidFill>
              <a:srgbClr val="83A7C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6" name="Rectangle 238"/>
            <p:cNvSpPr>
              <a:spLocks noChangeArrowheads="1"/>
            </p:cNvSpPr>
            <p:nvPr/>
          </p:nvSpPr>
          <p:spPr bwMode="auto">
            <a:xfrm>
              <a:off x="1515" y="3304"/>
              <a:ext cx="154" cy="57"/>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7" name="Rectangle 239"/>
            <p:cNvSpPr>
              <a:spLocks noChangeArrowheads="1"/>
            </p:cNvSpPr>
            <p:nvPr/>
          </p:nvSpPr>
          <p:spPr bwMode="auto">
            <a:xfrm>
              <a:off x="1530" y="3317"/>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8" name="Rectangle 240"/>
            <p:cNvSpPr>
              <a:spLocks noChangeArrowheads="1"/>
            </p:cNvSpPr>
            <p:nvPr/>
          </p:nvSpPr>
          <p:spPr bwMode="auto">
            <a:xfrm>
              <a:off x="1530" y="3317"/>
              <a:ext cx="127" cy="12"/>
            </a:xfrm>
            <a:prstGeom prst="rect">
              <a:avLst/>
            </a:prstGeom>
            <a:noFill/>
            <a:ln w="3175">
              <a:solidFill>
                <a:srgbClr val="1F1A17"/>
              </a:solidFill>
              <a:miter lim="800000"/>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9" name="Rectangle 241"/>
            <p:cNvSpPr>
              <a:spLocks noChangeArrowheads="1"/>
            </p:cNvSpPr>
            <p:nvPr/>
          </p:nvSpPr>
          <p:spPr bwMode="auto">
            <a:xfrm>
              <a:off x="1515" y="3373"/>
              <a:ext cx="154" cy="116"/>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0" name="Rectangle 242"/>
            <p:cNvSpPr>
              <a:spLocks noChangeArrowheads="1"/>
            </p:cNvSpPr>
            <p:nvPr/>
          </p:nvSpPr>
          <p:spPr bwMode="auto">
            <a:xfrm>
              <a:off x="1515" y="3499"/>
              <a:ext cx="154" cy="231"/>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1" name="Rectangle 243"/>
            <p:cNvSpPr>
              <a:spLocks noChangeArrowheads="1"/>
            </p:cNvSpPr>
            <p:nvPr/>
          </p:nvSpPr>
          <p:spPr bwMode="auto">
            <a:xfrm>
              <a:off x="1530" y="3400"/>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2" name="Rectangle 244"/>
            <p:cNvSpPr>
              <a:spLocks noChangeArrowheads="1"/>
            </p:cNvSpPr>
            <p:nvPr/>
          </p:nvSpPr>
          <p:spPr bwMode="auto">
            <a:xfrm>
              <a:off x="1530" y="3400"/>
              <a:ext cx="127" cy="12"/>
            </a:xfrm>
            <a:prstGeom prst="rect">
              <a:avLst/>
            </a:prstGeom>
            <a:noFill/>
            <a:ln w="3175">
              <a:solidFill>
                <a:srgbClr val="1F1A17"/>
              </a:solidFill>
              <a:miter lim="800000"/>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33" name="矩形 32"/>
          <p:cNvSpPr/>
          <p:nvPr/>
        </p:nvSpPr>
        <p:spPr>
          <a:xfrm>
            <a:off x="5665317" y="3664804"/>
            <a:ext cx="815070" cy="276999"/>
          </a:xfrm>
          <a:prstGeom prst="rect">
            <a:avLst/>
          </a:prstGeom>
        </p:spPr>
        <p:txBody>
          <a:bodyPr wrap="square">
            <a:spAutoFit/>
          </a:bodyPr>
          <a:lstStyle/>
          <a:p>
            <a:pPr algn="ctr"/>
            <a:r>
              <a:rPr lang="zh-CN" altLang="en-US" sz="1200" b="1" dirty="0" smtClean="0">
                <a:latin typeface="微软雅黑" panose="020B0503020204020204" pitchFamily="34" charset="-122"/>
                <a:ea typeface="微软雅黑" panose="020B0503020204020204" pitchFamily="34" charset="-122"/>
              </a:rPr>
              <a:t>服务器</a:t>
            </a:r>
            <a:endParaRPr lang="zh-CN" altLang="en-US" sz="1200" dirty="0"/>
          </a:p>
        </p:txBody>
      </p:sp>
      <p:cxnSp>
        <p:nvCxnSpPr>
          <p:cNvPr id="34" name="直接箭头连接符 33"/>
          <p:cNvCxnSpPr/>
          <p:nvPr/>
        </p:nvCxnSpPr>
        <p:spPr>
          <a:xfrm>
            <a:off x="3169328" y="2417626"/>
            <a:ext cx="953457" cy="0"/>
          </a:xfrm>
          <a:prstGeom prst="straightConnector1">
            <a:avLst/>
          </a:prstGeom>
          <a:ln w="38100">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nvCxnSpPr>
        <p:spPr>
          <a:xfrm>
            <a:off x="3170724" y="2259928"/>
            <a:ext cx="960116" cy="1"/>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6050932" y="1175504"/>
            <a:ext cx="523017" cy="718723"/>
            <a:chOff x="5309611" y="1717945"/>
            <a:chExt cx="523017" cy="718723"/>
          </a:xfrm>
        </p:grpSpPr>
        <p:grpSp>
          <p:nvGrpSpPr>
            <p:cNvPr id="10" name="组合 9"/>
            <p:cNvGrpSpPr/>
            <p:nvPr/>
          </p:nvGrpSpPr>
          <p:grpSpPr>
            <a:xfrm>
              <a:off x="5309611" y="1717945"/>
              <a:ext cx="523017" cy="718723"/>
              <a:chOff x="5309612" y="1480331"/>
              <a:chExt cx="585650" cy="956337"/>
            </a:xfrm>
          </p:grpSpPr>
          <p:sp>
            <p:nvSpPr>
              <p:cNvPr id="12"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4"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5"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7"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8"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9"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11"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20" name="矩形 19"/>
          <p:cNvSpPr/>
          <p:nvPr/>
        </p:nvSpPr>
        <p:spPr>
          <a:xfrm>
            <a:off x="6544499" y="1389508"/>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cxnSp>
        <p:nvCxnSpPr>
          <p:cNvPr id="36" name="直接箭头连接符 35"/>
          <p:cNvCxnSpPr/>
          <p:nvPr/>
        </p:nvCxnSpPr>
        <p:spPr>
          <a:xfrm flipV="1">
            <a:off x="4792931" y="1467848"/>
            <a:ext cx="1209158" cy="617697"/>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4797661" y="1600666"/>
            <a:ext cx="1177012" cy="612650"/>
          </a:xfrm>
          <a:prstGeom prst="straightConnector1">
            <a:avLst/>
          </a:prstGeom>
          <a:ln w="38100">
            <a:solidFill>
              <a:srgbClr val="0070C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1673555" y="2224041"/>
            <a:ext cx="559954" cy="597887"/>
            <a:chOff x="2004574" y="2821838"/>
            <a:chExt cx="559954" cy="597887"/>
          </a:xfrm>
        </p:grpSpPr>
        <p:grpSp>
          <p:nvGrpSpPr>
            <p:cNvPr id="39" name="组合 38"/>
            <p:cNvGrpSpPr/>
            <p:nvPr/>
          </p:nvGrpSpPr>
          <p:grpSpPr>
            <a:xfrm>
              <a:off x="2007378" y="2821838"/>
              <a:ext cx="557150" cy="597887"/>
              <a:chOff x="1143777" y="1614707"/>
              <a:chExt cx="557150" cy="597887"/>
            </a:xfrm>
          </p:grpSpPr>
          <p:sp>
            <p:nvSpPr>
              <p:cNvPr id="41" name="Freeform 124"/>
              <p:cNvSpPr>
                <a:spLocks noEditPoints="1"/>
              </p:cNvSpPr>
              <p:nvPr/>
            </p:nvSpPr>
            <p:spPr bwMode="auto">
              <a:xfrm>
                <a:off x="1143777" y="1614707"/>
                <a:ext cx="557150" cy="497542"/>
              </a:xfrm>
              <a:custGeom>
                <a:avLst/>
                <a:gdLst>
                  <a:gd name="T0" fmla="*/ 0 w 2287"/>
                  <a:gd name="T1" fmla="*/ 0 h 1907"/>
                  <a:gd name="T2" fmla="*/ 571 w 2287"/>
                  <a:gd name="T3" fmla="*/ 0 h 1907"/>
                  <a:gd name="T4" fmla="*/ 571 w 2287"/>
                  <a:gd name="T5" fmla="*/ 476 h 1907"/>
                  <a:gd name="T6" fmla="*/ 0 w 2287"/>
                  <a:gd name="T7" fmla="*/ 476 h 1907"/>
                  <a:gd name="T8" fmla="*/ 0 w 2287"/>
                  <a:gd name="T9" fmla="*/ 0 h 1907"/>
                  <a:gd name="T10" fmla="*/ 50 w 2287"/>
                  <a:gd name="T11" fmla="*/ 48 h 1907"/>
                  <a:gd name="T12" fmla="*/ 525 w 2287"/>
                  <a:gd name="T13" fmla="*/ 48 h 1907"/>
                  <a:gd name="T14" fmla="*/ 525 w 2287"/>
                  <a:gd name="T15" fmla="*/ 403 h 1907"/>
                  <a:gd name="T16" fmla="*/ 50 w 2287"/>
                  <a:gd name="T17" fmla="*/ 403 h 1907"/>
                  <a:gd name="T18" fmla="*/ 50 w 2287"/>
                  <a:gd name="T19" fmla="*/ 48 h 19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87" h="1907">
                    <a:moveTo>
                      <a:pt x="0" y="0"/>
                    </a:moveTo>
                    <a:lnTo>
                      <a:pt x="2287" y="0"/>
                    </a:lnTo>
                    <a:lnTo>
                      <a:pt x="2287" y="1907"/>
                    </a:lnTo>
                    <a:lnTo>
                      <a:pt x="0" y="1907"/>
                    </a:lnTo>
                    <a:lnTo>
                      <a:pt x="0" y="0"/>
                    </a:lnTo>
                    <a:close/>
                    <a:moveTo>
                      <a:pt x="202" y="194"/>
                    </a:moveTo>
                    <a:lnTo>
                      <a:pt x="2104" y="194"/>
                    </a:lnTo>
                    <a:lnTo>
                      <a:pt x="2104" y="1615"/>
                    </a:lnTo>
                    <a:lnTo>
                      <a:pt x="202" y="1615"/>
                    </a:lnTo>
                    <a:lnTo>
                      <a:pt x="202" y="194"/>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2" name="Rectangle 128"/>
              <p:cNvSpPr>
                <a:spLocks noChangeArrowheads="1"/>
              </p:cNvSpPr>
              <p:nvPr/>
            </p:nvSpPr>
            <p:spPr bwMode="auto">
              <a:xfrm>
                <a:off x="1241351" y="2171829"/>
                <a:ext cx="374686" cy="40765"/>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3" name="Rectangle 130"/>
              <p:cNvSpPr>
                <a:spLocks noChangeArrowheads="1"/>
              </p:cNvSpPr>
              <p:nvPr/>
            </p:nvSpPr>
            <p:spPr bwMode="auto">
              <a:xfrm>
                <a:off x="1321362" y="2114340"/>
                <a:ext cx="222470" cy="33448"/>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4" name="Rectangle 131"/>
              <p:cNvSpPr>
                <a:spLocks noChangeArrowheads="1"/>
              </p:cNvSpPr>
              <p:nvPr/>
            </p:nvSpPr>
            <p:spPr bwMode="auto">
              <a:xfrm>
                <a:off x="1339902" y="2147788"/>
                <a:ext cx="182464" cy="19860"/>
              </a:xfrm>
              <a:prstGeom prst="rect">
                <a:avLst/>
              </a:prstGeom>
              <a:solidFill>
                <a:srgbClr val="00426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nvGrpSpPr>
              <p:cNvPr id="45" name="组合 44"/>
              <p:cNvGrpSpPr/>
              <p:nvPr/>
            </p:nvGrpSpPr>
            <p:grpSpPr>
              <a:xfrm>
                <a:off x="1178904" y="1656517"/>
                <a:ext cx="490799" cy="391971"/>
                <a:chOff x="1892703" y="3643061"/>
                <a:chExt cx="490799" cy="391971"/>
              </a:xfrm>
            </p:grpSpPr>
            <p:sp>
              <p:nvSpPr>
                <p:cNvPr id="46" name="Rectangle 123"/>
                <p:cNvSpPr>
                  <a:spLocks noChangeArrowheads="1"/>
                </p:cNvSpPr>
                <p:nvPr/>
              </p:nvSpPr>
              <p:spPr bwMode="auto">
                <a:xfrm>
                  <a:off x="1892703" y="3643061"/>
                  <a:ext cx="490799" cy="391971"/>
                </a:xfrm>
                <a:prstGeom prst="rect">
                  <a:avLst/>
                </a:prstGeom>
                <a:solidFill>
                  <a:srgbClr val="CCBF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7" name="Rectangle 125"/>
                <p:cNvSpPr>
                  <a:spLocks noChangeArrowheads="1"/>
                </p:cNvSpPr>
                <p:nvPr/>
              </p:nvSpPr>
              <p:spPr bwMode="auto">
                <a:xfrm>
                  <a:off x="1906363" y="3651423"/>
                  <a:ext cx="464454" cy="9407"/>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8" name="Rectangle 126"/>
                <p:cNvSpPr>
                  <a:spLocks noChangeArrowheads="1"/>
                </p:cNvSpPr>
                <p:nvPr/>
              </p:nvSpPr>
              <p:spPr bwMode="auto">
                <a:xfrm>
                  <a:off x="1906363" y="3653514"/>
                  <a:ext cx="9757" cy="36584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9" name="Rectangle 127"/>
                <p:cNvSpPr>
                  <a:spLocks noChangeArrowheads="1"/>
                </p:cNvSpPr>
                <p:nvPr/>
              </p:nvSpPr>
              <p:spPr bwMode="auto">
                <a:xfrm>
                  <a:off x="1906363" y="4014128"/>
                  <a:ext cx="463479" cy="83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0" name="Rectangle 129"/>
                <p:cNvSpPr>
                  <a:spLocks noChangeArrowheads="1"/>
                </p:cNvSpPr>
                <p:nvPr/>
              </p:nvSpPr>
              <p:spPr bwMode="auto">
                <a:xfrm>
                  <a:off x="2362036" y="3651423"/>
                  <a:ext cx="8782" cy="3710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grpSp>
        <p:sp>
          <p:nvSpPr>
            <p:cNvPr id="40" name="文本框 39"/>
            <p:cNvSpPr txBox="1"/>
            <p:nvPr/>
          </p:nvSpPr>
          <p:spPr>
            <a:xfrm>
              <a:off x="2004574" y="2859996"/>
              <a:ext cx="547674" cy="415498"/>
            </a:xfrm>
            <a:prstGeom prst="rect">
              <a:avLst/>
            </a:prstGeom>
            <a:noFill/>
            <a:ln>
              <a:noFill/>
            </a:ln>
          </p:spPr>
          <p:txBody>
            <a:bodyPr wrap="square" rtlCol="0" anchor="ctr">
              <a:spAutoFit/>
            </a:bodyPr>
            <a:lstStyle/>
            <a:p>
              <a:pPr algn="ctr"/>
              <a:r>
                <a:rPr lang="zh-CN" altLang="en-US" sz="1050" b="1" dirty="0" smtClean="0">
                  <a:latin typeface="微软雅黑" panose="020B0503020204020204" pitchFamily="34" charset="-122"/>
                  <a:ea typeface="微软雅黑" panose="020B0503020204020204" pitchFamily="34" charset="-122"/>
                </a:rPr>
                <a:t>应用进程</a:t>
              </a:r>
              <a:endParaRPr lang="zh-CN" altLang="en-US" sz="1050" b="1" dirty="0">
                <a:latin typeface="微软雅黑" panose="020B0503020204020204" pitchFamily="34" charset="-122"/>
                <a:ea typeface="微软雅黑" panose="020B0503020204020204" pitchFamily="34" charset="-122"/>
              </a:endParaRPr>
            </a:p>
          </p:txBody>
        </p:sp>
      </p:grpSp>
      <p:sp>
        <p:nvSpPr>
          <p:cNvPr id="73" name="矩形 72"/>
          <p:cNvSpPr/>
          <p:nvPr/>
        </p:nvSpPr>
        <p:spPr>
          <a:xfrm>
            <a:off x="2793891" y="1596600"/>
            <a:ext cx="345961" cy="1440162"/>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ysClr val="windowText" lastClr="000000"/>
                </a:solidFill>
                <a:latin typeface="微软雅黑" panose="020B0503020204020204" pitchFamily="34" charset="-122"/>
                <a:ea typeface="微软雅黑" panose="020B0503020204020204" pitchFamily="34" charset="-122"/>
              </a:rPr>
              <a:t>解析程序</a:t>
            </a:r>
            <a:endParaRPr lang="zh-CN" altLang="en-US" sz="1400" dirty="0">
              <a:solidFill>
                <a:sysClr val="windowText" lastClr="000000"/>
              </a:solidFill>
            </a:endParaRPr>
          </a:p>
        </p:txBody>
      </p:sp>
      <p:sp>
        <p:nvSpPr>
          <p:cNvPr id="74" name="圆角右箭头 73"/>
          <p:cNvSpPr/>
          <p:nvPr/>
        </p:nvSpPr>
        <p:spPr>
          <a:xfrm>
            <a:off x="1869235" y="1746270"/>
            <a:ext cx="901666" cy="461528"/>
          </a:xfrm>
          <a:prstGeom prst="bentArrow">
            <a:avLst>
              <a:gd name="adj1" fmla="val 11913"/>
              <a:gd name="adj2" fmla="val 15020"/>
              <a:gd name="adj3" fmla="val 25000"/>
              <a:gd name="adj4" fmla="val 41706"/>
            </a:avLst>
          </a:prstGeom>
          <a:solidFill>
            <a:srgbClr val="0099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1" name="组合 50"/>
          <p:cNvGrpSpPr/>
          <p:nvPr/>
        </p:nvGrpSpPr>
        <p:grpSpPr>
          <a:xfrm>
            <a:off x="6046202" y="1961446"/>
            <a:ext cx="523017" cy="718723"/>
            <a:chOff x="5309611" y="1717945"/>
            <a:chExt cx="523017" cy="718723"/>
          </a:xfrm>
        </p:grpSpPr>
        <p:grpSp>
          <p:nvGrpSpPr>
            <p:cNvPr id="52" name="组合 51"/>
            <p:cNvGrpSpPr/>
            <p:nvPr/>
          </p:nvGrpSpPr>
          <p:grpSpPr>
            <a:xfrm>
              <a:off x="5309611" y="1717945"/>
              <a:ext cx="523017" cy="718723"/>
              <a:chOff x="5309612" y="1480331"/>
              <a:chExt cx="585650" cy="956337"/>
            </a:xfrm>
          </p:grpSpPr>
          <p:sp>
            <p:nvSpPr>
              <p:cNvPr id="54"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6"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7"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53"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5" name="直接箭头连接符 74"/>
          <p:cNvCxnSpPr/>
          <p:nvPr/>
        </p:nvCxnSpPr>
        <p:spPr>
          <a:xfrm>
            <a:off x="4792931" y="2321087"/>
            <a:ext cx="1204428" cy="1527"/>
          </a:xfrm>
          <a:prstGeom prst="straightConnector1">
            <a:avLst/>
          </a:prstGeom>
          <a:ln w="38100">
            <a:solidFill>
              <a:srgbClr val="80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792931" y="2426967"/>
            <a:ext cx="1141500" cy="0"/>
          </a:xfrm>
          <a:prstGeom prst="straightConnector1">
            <a:avLst/>
          </a:prstGeom>
          <a:ln w="38100">
            <a:solidFill>
              <a:srgbClr val="CC66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6539769" y="2161348"/>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grpSp>
        <p:nvGrpSpPr>
          <p:cNvPr id="62" name="组合 61"/>
          <p:cNvGrpSpPr/>
          <p:nvPr/>
        </p:nvGrpSpPr>
        <p:grpSpPr>
          <a:xfrm>
            <a:off x="6034957" y="2759441"/>
            <a:ext cx="523017" cy="718723"/>
            <a:chOff x="5309611" y="1717945"/>
            <a:chExt cx="523017" cy="718723"/>
          </a:xfrm>
        </p:grpSpPr>
        <p:grpSp>
          <p:nvGrpSpPr>
            <p:cNvPr id="63" name="组合 62"/>
            <p:cNvGrpSpPr/>
            <p:nvPr/>
          </p:nvGrpSpPr>
          <p:grpSpPr>
            <a:xfrm>
              <a:off x="5309611" y="1717945"/>
              <a:ext cx="523017" cy="718723"/>
              <a:chOff x="5309612" y="1480331"/>
              <a:chExt cx="585650" cy="956337"/>
            </a:xfrm>
          </p:grpSpPr>
          <p:sp>
            <p:nvSpPr>
              <p:cNvPr id="65"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6"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7"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8"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9"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0"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1"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2"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64"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7" name="直接箭头连接符 76"/>
          <p:cNvCxnSpPr/>
          <p:nvPr/>
        </p:nvCxnSpPr>
        <p:spPr>
          <a:xfrm>
            <a:off x="4798091" y="2547446"/>
            <a:ext cx="1188023" cy="512659"/>
          </a:xfrm>
          <a:prstGeom prst="straightConnector1">
            <a:avLst/>
          </a:prstGeom>
          <a:ln w="38100">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a:off x="4792931" y="2656744"/>
            <a:ext cx="1130255" cy="500667"/>
          </a:xfrm>
          <a:prstGeom prst="straightConnector1">
            <a:avLst/>
          </a:prstGeom>
          <a:ln w="38100">
            <a:solidFill>
              <a:srgbClr val="0099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6528524" y="2961690"/>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grpSp>
        <p:nvGrpSpPr>
          <p:cNvPr id="81" name="组合 80"/>
          <p:cNvGrpSpPr/>
          <p:nvPr/>
        </p:nvGrpSpPr>
        <p:grpSpPr>
          <a:xfrm>
            <a:off x="4158256" y="2032844"/>
            <a:ext cx="523017" cy="718723"/>
            <a:chOff x="5309611" y="1717945"/>
            <a:chExt cx="523017" cy="718723"/>
          </a:xfrm>
        </p:grpSpPr>
        <p:grpSp>
          <p:nvGrpSpPr>
            <p:cNvPr id="82" name="组合 81"/>
            <p:cNvGrpSpPr/>
            <p:nvPr/>
          </p:nvGrpSpPr>
          <p:grpSpPr>
            <a:xfrm>
              <a:off x="5309611" y="1717945"/>
              <a:ext cx="523017" cy="718723"/>
              <a:chOff x="5309612" y="1480331"/>
              <a:chExt cx="585650" cy="956337"/>
            </a:xfrm>
          </p:grpSpPr>
          <p:sp>
            <p:nvSpPr>
              <p:cNvPr id="84"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6"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7"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83"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92" name="矩形 91"/>
          <p:cNvSpPr/>
          <p:nvPr/>
        </p:nvSpPr>
        <p:spPr>
          <a:xfrm>
            <a:off x="3947988" y="1596600"/>
            <a:ext cx="954107" cy="461665"/>
          </a:xfrm>
          <a:prstGeom prst="rect">
            <a:avLst/>
          </a:prstGeom>
        </p:spPr>
        <p:txBody>
          <a:bodyPr wrap="none">
            <a:spAutoFit/>
          </a:bodyPr>
          <a:lstStyle/>
          <a:p>
            <a:pPr algn="ctr"/>
            <a:r>
              <a:rPr lang="zh-CN" altLang="en-US" sz="1200" b="1" dirty="0" smtClean="0">
                <a:solidFill>
                  <a:srgbClr val="0000FF"/>
                </a:solidFill>
                <a:latin typeface="微软雅黑" panose="020B0503020204020204" pitchFamily="34" charset="-122"/>
                <a:ea typeface="微软雅黑" panose="020B0503020204020204" pitchFamily="34" charset="-122"/>
              </a:rPr>
              <a:t>本地</a:t>
            </a:r>
            <a:endParaRPr lang="en-US" altLang="zh-CN" sz="1200" b="1" dirty="0" smtClean="0">
              <a:solidFill>
                <a:srgbClr val="0000FF"/>
              </a:solidFill>
              <a:latin typeface="微软雅黑" panose="020B0503020204020204" pitchFamily="34" charset="-122"/>
              <a:ea typeface="微软雅黑" panose="020B0503020204020204" pitchFamily="34" charset="-122"/>
            </a:endParaRPr>
          </a:p>
          <a:p>
            <a:pPr algn="ctr"/>
            <a:r>
              <a:rPr lang="zh-CN" altLang="en-US" sz="1200" b="1" dirty="0" smtClean="0">
                <a:solidFill>
                  <a:srgbClr val="0000FF"/>
                </a:solidFill>
                <a:latin typeface="微软雅黑" panose="020B0503020204020204" pitchFamily="34" charset="-122"/>
                <a:ea typeface="微软雅黑" panose="020B0503020204020204" pitchFamily="34" charset="-122"/>
              </a:rPr>
              <a:t>域名</a:t>
            </a:r>
            <a:r>
              <a:rPr lang="zh-CN" altLang="en-US" sz="1200" b="1" dirty="0">
                <a:solidFill>
                  <a:srgbClr val="0000FF"/>
                </a:solidFill>
                <a:latin typeface="微软雅黑" panose="020B0503020204020204" pitchFamily="34" charset="-122"/>
                <a:ea typeface="微软雅黑" panose="020B0503020204020204" pitchFamily="34" charset="-122"/>
              </a:rPr>
              <a:t>服务器</a:t>
            </a:r>
            <a:endParaRPr lang="zh-CN" altLang="en-US" sz="1200" dirty="0">
              <a:solidFill>
                <a:srgbClr val="0000FF"/>
              </a:solidFill>
            </a:endParaRPr>
          </a:p>
        </p:txBody>
      </p:sp>
      <p:sp>
        <p:nvSpPr>
          <p:cNvPr id="93" name="圆角右箭头 92"/>
          <p:cNvSpPr/>
          <p:nvPr/>
        </p:nvSpPr>
        <p:spPr>
          <a:xfrm flipV="1">
            <a:off x="2054947" y="2902529"/>
            <a:ext cx="3213933" cy="928144"/>
          </a:xfrm>
          <a:prstGeom prst="bentArrow">
            <a:avLst>
              <a:gd name="adj1" fmla="val 5245"/>
              <a:gd name="adj2" fmla="val 6893"/>
              <a:gd name="adj3" fmla="val 14998"/>
              <a:gd name="adj4" fmla="val 41706"/>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圆角右箭头 93"/>
          <p:cNvSpPr/>
          <p:nvPr/>
        </p:nvSpPr>
        <p:spPr>
          <a:xfrm rot="5400000" flipH="1" flipV="1">
            <a:off x="3020293" y="1710968"/>
            <a:ext cx="1065272" cy="3396398"/>
          </a:xfrm>
          <a:prstGeom prst="bentArrow">
            <a:avLst>
              <a:gd name="adj1" fmla="val 5245"/>
              <a:gd name="adj2" fmla="val 6088"/>
              <a:gd name="adj3" fmla="val 12584"/>
              <a:gd name="adj4" fmla="val 41706"/>
            </a:avLst>
          </a:prstGeom>
          <a:solidFill>
            <a:srgbClr val="9933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圆角右箭头 94"/>
          <p:cNvSpPr/>
          <p:nvPr/>
        </p:nvSpPr>
        <p:spPr>
          <a:xfrm rot="16200000" flipH="1">
            <a:off x="2228242" y="1689761"/>
            <a:ext cx="282418" cy="785149"/>
          </a:xfrm>
          <a:prstGeom prst="bentArrow">
            <a:avLst>
              <a:gd name="adj1" fmla="val 19310"/>
              <a:gd name="adj2" fmla="val 25803"/>
              <a:gd name="adj3" fmla="val 36096"/>
              <a:gd name="adj4" fmla="val 23212"/>
            </a:avLst>
          </a:prstGeom>
          <a:solidFill>
            <a:srgbClr val="0066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矩形 1"/>
          <p:cNvSpPr/>
          <p:nvPr/>
        </p:nvSpPr>
        <p:spPr>
          <a:xfrm>
            <a:off x="4659179" y="4117443"/>
            <a:ext cx="1691040" cy="276999"/>
          </a:xfrm>
          <a:prstGeom prst="rect">
            <a:avLst/>
          </a:prstGeom>
        </p:spPr>
        <p:txBody>
          <a:bodyPr wrap="none">
            <a:spAutoFit/>
          </a:bodyPr>
          <a:lstStyle/>
          <a:p>
            <a:r>
              <a:rPr lang="en-US" altLang="zh-CN" sz="1200" b="1" dirty="0">
                <a:latin typeface="微软雅黑" panose="020B0503020204020204" pitchFamily="34" charset="-122"/>
                <a:ea typeface="微软雅黑" panose="020B0503020204020204" pitchFamily="34" charset="-122"/>
              </a:rPr>
              <a:t>www.myschool.edu</a:t>
            </a:r>
            <a:endParaRPr lang="zh-CN" altLang="en-US" sz="1200" dirty="0"/>
          </a:p>
        </p:txBody>
      </p:sp>
      <p:sp>
        <p:nvSpPr>
          <p:cNvPr id="4" name="矩形 3"/>
          <p:cNvSpPr/>
          <p:nvPr/>
        </p:nvSpPr>
        <p:spPr>
          <a:xfrm>
            <a:off x="2526185" y="2989214"/>
            <a:ext cx="904799"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resolver</a:t>
            </a:r>
            <a:endParaRPr lang="zh-CN" altLang="en-US" sz="1400" b="1" dirty="0">
              <a:latin typeface="微软雅黑" panose="020B0503020204020204" pitchFamily="34" charset="-122"/>
              <a:ea typeface="微软雅黑" panose="020B0503020204020204" pitchFamily="34" charset="-122"/>
            </a:endParaRPr>
          </a:p>
        </p:txBody>
      </p:sp>
      <p:sp>
        <p:nvSpPr>
          <p:cNvPr id="3" name="矩形 2"/>
          <p:cNvSpPr/>
          <p:nvPr/>
        </p:nvSpPr>
        <p:spPr>
          <a:xfrm>
            <a:off x="3280042" y="1056188"/>
            <a:ext cx="2385275" cy="338554"/>
          </a:xfrm>
          <a:prstGeom prst="rect">
            <a:avLst/>
          </a:prstGeom>
          <a:solidFill>
            <a:srgbClr val="000099"/>
          </a:solidFill>
          <a:ln>
            <a:noFill/>
          </a:ln>
        </p:spPr>
        <p:txBody>
          <a:bodyPr wrap="square">
            <a:spAutoFit/>
          </a:bodyP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DNS </a:t>
            </a:r>
            <a:r>
              <a:rPr lang="zh-CN" altLang="en-US" sz="1600" b="1" dirty="0" smtClean="0">
                <a:solidFill>
                  <a:schemeClr val="bg1"/>
                </a:solidFill>
                <a:latin typeface="微软雅黑" panose="020B0503020204020204" pitchFamily="34" charset="-122"/>
                <a:ea typeface="微软雅黑" panose="020B0503020204020204" pitchFamily="34" charset="-122"/>
              </a:rPr>
              <a:t>使用 </a:t>
            </a:r>
            <a:r>
              <a:rPr lang="en-US" altLang="zh-CN" sz="1600" b="1" dirty="0" smtClean="0">
                <a:solidFill>
                  <a:schemeClr val="bg1"/>
                </a:solidFill>
                <a:latin typeface="微软雅黑" panose="020B0503020204020204" pitchFamily="34" charset="-122"/>
                <a:ea typeface="微软雅黑" panose="020B0503020204020204" pitchFamily="34" charset="-122"/>
              </a:rPr>
              <a:t>UDP </a:t>
            </a:r>
            <a:r>
              <a:rPr lang="zh-CN" altLang="en-US" sz="1600" b="1" dirty="0" smtClean="0">
                <a:solidFill>
                  <a:schemeClr val="bg1"/>
                </a:solidFill>
                <a:latin typeface="微软雅黑" panose="020B0503020204020204" pitchFamily="34" charset="-122"/>
                <a:ea typeface="微软雅黑" panose="020B0503020204020204" pitchFamily="34" charset="-122"/>
              </a:rPr>
              <a:t>通信</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000"/>
                                        <p:tgtEl>
                                          <p:spTgt spid="74"/>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right)">
                                      <p:cBhvr>
                                        <p:cTn id="16" dur="1000"/>
                                        <p:tgtEl>
                                          <p:spTgt spid="34"/>
                                        </p:tgtEl>
                                      </p:cBhvr>
                                    </p:animEffect>
                                  </p:childTnLst>
                                </p:cTn>
                              </p:par>
                            </p:childTnLst>
                          </p:cTn>
                        </p:par>
                        <p:par>
                          <p:cTn id="17" fill="hold">
                            <p:stCondLst>
                              <p:cond delay="1000"/>
                            </p:stCondLst>
                            <p:childTnLst>
                              <p:par>
                                <p:cTn id="18" presetID="22" presetClass="entr" presetSubtype="2" fill="hold" grpId="0" nodeType="afterEffect">
                                  <p:stCondLst>
                                    <p:cond delay="0"/>
                                  </p:stCondLst>
                                  <p:childTnLst>
                                    <p:set>
                                      <p:cBhvr>
                                        <p:cTn id="19" dur="1" fill="hold">
                                          <p:stCondLst>
                                            <p:cond delay="0"/>
                                          </p:stCondLst>
                                        </p:cTn>
                                        <p:tgtEl>
                                          <p:spTgt spid="95"/>
                                        </p:tgtEl>
                                        <p:attrNameLst>
                                          <p:attrName>style.visibility</p:attrName>
                                        </p:attrNameLst>
                                      </p:cBhvr>
                                      <p:to>
                                        <p:strVal val="visible"/>
                                      </p:to>
                                    </p:set>
                                    <p:animEffect transition="in" filter="wipe(right)">
                                      <p:cBhvr>
                                        <p:cTn id="20" dur="1000"/>
                                        <p:tgtEl>
                                          <p:spTgt spid="9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wipe(left)">
                                      <p:cBhvr>
                                        <p:cTn id="25" dur="1000"/>
                                        <p:tgtEl>
                                          <p:spTgt spid="93"/>
                                        </p:tgtEl>
                                      </p:cBhvr>
                                    </p:animEffect>
                                  </p:childTnLst>
                                </p:cTn>
                              </p:par>
                            </p:childTnLst>
                          </p:cTn>
                        </p:par>
                        <p:par>
                          <p:cTn id="26" fill="hold">
                            <p:stCondLst>
                              <p:cond delay="1000"/>
                            </p:stCondLst>
                            <p:childTnLst>
                              <p:par>
                                <p:cTn id="27" presetID="22" presetClass="entr" presetSubtype="2" fill="hold" grpId="0"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right)">
                                      <p:cBhvr>
                                        <p:cTn id="29" dur="1000"/>
                                        <p:tgtEl>
                                          <p:spTgt spid="9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1000"/>
                                        <p:tgtEl>
                                          <p:spTgt spid="36"/>
                                        </p:tgtEl>
                                      </p:cBhvr>
                                    </p:animEffect>
                                  </p:childTnLst>
                                </p:cTn>
                              </p:par>
                            </p:childTnLst>
                          </p:cTn>
                        </p:par>
                        <p:par>
                          <p:cTn id="35" fill="hold">
                            <p:stCondLst>
                              <p:cond delay="1000"/>
                            </p:stCondLst>
                            <p:childTnLst>
                              <p:par>
                                <p:cTn id="36" presetID="22" presetClass="entr" presetSubtype="2"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right)">
                                      <p:cBhvr>
                                        <p:cTn id="38" dur="1000"/>
                                        <p:tgtEl>
                                          <p:spTgt spid="37"/>
                                        </p:tgtEl>
                                      </p:cBhvr>
                                    </p:animEffect>
                                  </p:childTnLst>
                                </p:cTn>
                              </p:par>
                            </p:childTnLst>
                          </p:cTn>
                        </p:par>
                        <p:par>
                          <p:cTn id="39" fill="hold">
                            <p:stCondLst>
                              <p:cond delay="2000"/>
                            </p:stCondLst>
                            <p:childTnLst>
                              <p:par>
                                <p:cTn id="40" presetID="22" presetClass="entr" presetSubtype="8" fill="hold" nodeType="after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left)">
                                      <p:cBhvr>
                                        <p:cTn id="42" dur="1000"/>
                                        <p:tgtEl>
                                          <p:spTgt spid="75"/>
                                        </p:tgtEl>
                                      </p:cBhvr>
                                    </p:animEffect>
                                  </p:childTnLst>
                                </p:cTn>
                              </p:par>
                            </p:childTnLst>
                          </p:cTn>
                        </p:par>
                        <p:par>
                          <p:cTn id="43" fill="hold">
                            <p:stCondLst>
                              <p:cond delay="3000"/>
                            </p:stCondLst>
                            <p:childTnLst>
                              <p:par>
                                <p:cTn id="44" presetID="22" presetClass="entr" presetSubtype="2"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right)">
                                      <p:cBhvr>
                                        <p:cTn id="46" dur="1000"/>
                                        <p:tgtEl>
                                          <p:spTgt spid="76"/>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77"/>
                                        </p:tgtEl>
                                        <p:attrNameLst>
                                          <p:attrName>style.visibility</p:attrName>
                                        </p:attrNameLst>
                                      </p:cBhvr>
                                      <p:to>
                                        <p:strVal val="visible"/>
                                      </p:to>
                                    </p:set>
                                    <p:animEffect transition="in" filter="wipe(left)">
                                      <p:cBhvr>
                                        <p:cTn id="50" dur="1000"/>
                                        <p:tgtEl>
                                          <p:spTgt spid="77"/>
                                        </p:tgtEl>
                                      </p:cBhvr>
                                    </p:animEffect>
                                  </p:childTnLst>
                                </p:cTn>
                              </p:par>
                            </p:childTnLst>
                          </p:cTn>
                        </p:par>
                        <p:par>
                          <p:cTn id="51" fill="hold">
                            <p:stCondLst>
                              <p:cond delay="5000"/>
                            </p:stCondLst>
                            <p:childTnLst>
                              <p:par>
                                <p:cTn id="52" presetID="22" presetClass="entr" presetSubtype="2" fill="hold" nodeType="after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right)">
                                      <p:cBhvr>
                                        <p:cTn id="54"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3" grpId="0" animBg="1"/>
      <p:bldP spid="94" grpId="0" animBg="1"/>
      <p:bldP spid="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6.1.2   </a:t>
            </a:r>
            <a:r>
              <a:rPr lang="zh-CN" altLang="en-US" sz="2400" b="1" dirty="0">
                <a:solidFill>
                  <a:schemeClr val="bg1"/>
                </a:solidFill>
                <a:latin typeface="微软雅黑" panose="020B0503020204020204" pitchFamily="34" charset="-122"/>
                <a:ea typeface="微软雅黑" panose="020B0503020204020204" pitchFamily="34" charset="-122"/>
              </a:rPr>
              <a:t>互联网的域名结构</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10" name="Rectangle 8"/>
          <p:cNvSpPr>
            <a:spLocks noChangeArrowheads="1"/>
          </p:cNvSpPr>
          <p:nvPr/>
        </p:nvSpPr>
        <p:spPr bwMode="auto">
          <a:xfrm>
            <a:off x="545143" y="1028509"/>
            <a:ext cx="8053711" cy="27853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命名</a:t>
            </a:r>
            <a:r>
              <a:rPr lang="zh-CN" altLang="en-US" sz="2000" b="1" dirty="0" smtClean="0">
                <a:solidFill>
                  <a:srgbClr val="C00000"/>
                </a:solidFill>
                <a:latin typeface="微软雅黑" panose="020B0503020204020204" pitchFamily="34" charset="-122"/>
                <a:ea typeface="微软雅黑" panose="020B0503020204020204" pitchFamily="34" charset="-122"/>
              </a:rPr>
              <a:t>方法：</a:t>
            </a:r>
            <a:r>
              <a:rPr lang="zh-CN" altLang="en-US" sz="2000" b="1" dirty="0" smtClean="0">
                <a:latin typeface="微软雅黑" panose="020B0503020204020204" pitchFamily="34" charset="-122"/>
                <a:ea typeface="微软雅黑" panose="020B0503020204020204" pitchFamily="34" charset="-122"/>
              </a:rPr>
              <a:t>层次</a:t>
            </a:r>
            <a:r>
              <a:rPr lang="zh-CN" altLang="en-US" sz="2000" b="1" dirty="0">
                <a:solidFill>
                  <a:srgbClr val="0000FF"/>
                </a:solidFill>
                <a:latin typeface="微软雅黑" panose="020B0503020204020204" pitchFamily="34" charset="-122"/>
                <a:ea typeface="微软雅黑" panose="020B0503020204020204" pitchFamily="34" charset="-122"/>
              </a:rPr>
              <a:t>树状</a:t>
            </a:r>
            <a:r>
              <a:rPr lang="zh-CN" altLang="en-US" sz="2000" b="1" dirty="0" smtClean="0">
                <a:latin typeface="微软雅黑" panose="020B0503020204020204" pitchFamily="34" charset="-122"/>
                <a:ea typeface="微软雅黑" panose="020B0503020204020204" pitchFamily="34" charset="-122"/>
              </a:rPr>
              <a:t>结构方法。</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任何一个连接在互联网上的主机或路由器，都有一个</a:t>
            </a:r>
            <a:r>
              <a:rPr lang="zh-CN" altLang="en-US" sz="2000" b="1" dirty="0">
                <a:solidFill>
                  <a:srgbClr val="0000FF"/>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的层次结构的名字，即</a:t>
            </a:r>
            <a:r>
              <a:rPr lang="zh-CN" altLang="en-US" sz="2000" b="1" dirty="0" smtClean="0">
                <a:solidFill>
                  <a:srgbClr val="0000FF"/>
                </a:solidFill>
                <a:latin typeface="微软雅黑" panose="020B0503020204020204" pitchFamily="34" charset="-122"/>
                <a:ea typeface="微软雅黑" panose="020B0503020204020204" pitchFamily="34" charset="-122"/>
              </a:rPr>
              <a:t>域名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domain name)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域 </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domain</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名字空间中一个</a:t>
            </a:r>
            <a:r>
              <a:rPr lang="zh-CN" altLang="en-US" sz="2000" b="1" dirty="0">
                <a:solidFill>
                  <a:srgbClr val="0000FF"/>
                </a:solidFill>
                <a:latin typeface="微软雅黑" panose="020B0503020204020204" pitchFamily="34" charset="-122"/>
                <a:ea typeface="微软雅黑" panose="020B0503020204020204" pitchFamily="34" charset="-122"/>
              </a:rPr>
              <a:t>可被管理</a:t>
            </a:r>
            <a:r>
              <a:rPr lang="zh-CN" altLang="en-US" sz="2000" b="1" dirty="0">
                <a:latin typeface="微软雅黑" panose="020B0503020204020204" pitchFamily="34" charset="-122"/>
                <a:ea typeface="微软雅黑" panose="020B0503020204020204" pitchFamily="34" charset="-122"/>
              </a:rPr>
              <a:t>的划分。</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划分为</a:t>
            </a:r>
            <a:r>
              <a:rPr lang="zh-CN" altLang="en-US" sz="2000" b="1" dirty="0">
                <a:solidFill>
                  <a:srgbClr val="0000FF"/>
                </a:solidFill>
                <a:latin typeface="微软雅黑" panose="020B0503020204020204" pitchFamily="34" charset="-122"/>
                <a:ea typeface="微软雅黑" panose="020B0503020204020204" pitchFamily="34" charset="-122"/>
              </a:rPr>
              <a:t>子域，</a:t>
            </a:r>
            <a:r>
              <a:rPr lang="zh-CN" altLang="en-US" sz="2000" b="1" dirty="0">
                <a:latin typeface="微软雅黑" panose="020B0503020204020204" pitchFamily="34" charset="-122"/>
                <a:ea typeface="微软雅黑" panose="020B0503020204020204" pitchFamily="34" charset="-122"/>
              </a:rPr>
              <a:t>而子域还可继续划分为子域的子域，这样就形成了顶级域、二级域、三级域，等等。</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545143" y="1922839"/>
            <a:ext cx="8053711" cy="23206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6.1.2   </a:t>
            </a:r>
            <a:r>
              <a:rPr lang="zh-CN" altLang="en-US" sz="2400" b="1" dirty="0">
                <a:solidFill>
                  <a:schemeClr val="bg1"/>
                </a:solidFill>
                <a:latin typeface="微软雅黑" panose="020B0503020204020204" pitchFamily="34" charset="-122"/>
                <a:ea typeface="微软雅黑" panose="020B0503020204020204" pitchFamily="34" charset="-122"/>
              </a:rPr>
              <a:t>互联网的域名结构</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10" name="Rectangle 8"/>
          <p:cNvSpPr>
            <a:spLocks noChangeArrowheads="1"/>
          </p:cNvSpPr>
          <p:nvPr/>
        </p:nvSpPr>
        <p:spPr bwMode="auto">
          <a:xfrm>
            <a:off x="545143" y="1028509"/>
            <a:ext cx="8053711"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域名结构</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层次结构。</a:t>
            </a:r>
            <a:r>
              <a:rPr lang="zh-CN" altLang="en-US" sz="2000" b="1" dirty="0" smtClean="0">
                <a:latin typeface="微软雅黑" panose="020B0503020204020204" pitchFamily="34" charset="-122"/>
                <a:ea typeface="微软雅黑" panose="020B0503020204020204" pitchFamily="34" charset="-122"/>
              </a:rPr>
              <a:t>由标号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label</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序列</a:t>
            </a:r>
            <a:r>
              <a:rPr lang="zh-CN" altLang="en-US" sz="2000" b="1" dirty="0">
                <a:latin typeface="微软雅黑" panose="020B0503020204020204" pitchFamily="34" charset="-122"/>
                <a:ea typeface="微软雅黑" panose="020B0503020204020204" pitchFamily="34" charset="-122"/>
              </a:rPr>
              <a:t>组成，各标号之间用</a:t>
            </a:r>
            <a:r>
              <a:rPr lang="zh-CN" altLang="en-US" sz="2000" b="1" dirty="0" smtClean="0">
                <a:latin typeface="微软雅黑" panose="020B0503020204020204" pitchFamily="34" charset="-122"/>
                <a:ea typeface="微软雅黑" panose="020B0503020204020204" pitchFamily="34" charset="-122"/>
              </a:rPr>
              <a:t>点（</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隔开，各</a:t>
            </a:r>
            <a:r>
              <a:rPr lang="zh-CN" altLang="en-US" sz="2000" b="1" dirty="0">
                <a:latin typeface="微软雅黑" panose="020B0503020204020204" pitchFamily="34" charset="-122"/>
                <a:ea typeface="微软雅黑" panose="020B0503020204020204" pitchFamily="34" charset="-122"/>
              </a:rPr>
              <a:t>标号分别代表不同级别的域名</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7" name="矩形 16"/>
          <p:cNvSpPr/>
          <p:nvPr/>
        </p:nvSpPr>
        <p:spPr>
          <a:xfrm>
            <a:off x="2902003" y="2848210"/>
            <a:ext cx="2134148" cy="400110"/>
          </a:xfrm>
          <a:prstGeom prst="rect">
            <a:avLst/>
          </a:prstGeom>
          <a:noFill/>
          <a:ln w="38100">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7"/>
          <p:cNvSpPr txBox="1">
            <a:spLocks noChangeArrowheads="1"/>
          </p:cNvSpPr>
          <p:nvPr/>
        </p:nvSpPr>
        <p:spPr bwMode="auto">
          <a:xfrm>
            <a:off x="3021625" y="2848210"/>
            <a:ext cx="2014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rgbClr val="C00000"/>
                </a:solidFill>
                <a:latin typeface="微软雅黑" panose="020B0503020204020204" pitchFamily="34" charset="-122"/>
                <a:ea typeface="微软雅黑" panose="020B0503020204020204" pitchFamily="34" charset="-122"/>
              </a:rPr>
              <a:t>mail.cctv.com </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grpSp>
        <p:nvGrpSpPr>
          <p:cNvPr id="14" name="组合 13"/>
          <p:cNvGrpSpPr/>
          <p:nvPr/>
        </p:nvGrpSpPr>
        <p:grpSpPr>
          <a:xfrm>
            <a:off x="2242227" y="3156184"/>
            <a:ext cx="3654627" cy="914180"/>
            <a:chOff x="2014957" y="2987504"/>
            <a:chExt cx="3654627" cy="914180"/>
          </a:xfrm>
        </p:grpSpPr>
        <p:sp>
          <p:nvSpPr>
            <p:cNvPr id="7" name="Text Box 8"/>
            <p:cNvSpPr txBox="1">
              <a:spLocks noChangeArrowheads="1"/>
            </p:cNvSpPr>
            <p:nvPr/>
          </p:nvSpPr>
          <p:spPr bwMode="auto">
            <a:xfrm>
              <a:off x="2123250" y="3274842"/>
              <a:ext cx="336181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b="1" dirty="0">
                  <a:latin typeface="微软雅黑" panose="020B0503020204020204" pitchFamily="34" charset="-122"/>
                  <a:ea typeface="微软雅黑" panose="020B0503020204020204" pitchFamily="34" charset="-122"/>
                </a:rPr>
                <a:t>三级域名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二</a:t>
              </a:r>
              <a:r>
                <a:rPr lang="zh-CN" altLang="en-US" b="1" dirty="0">
                  <a:latin typeface="微软雅黑" panose="020B0503020204020204" pitchFamily="34" charset="-122"/>
                  <a:ea typeface="微软雅黑" panose="020B0503020204020204" pitchFamily="34" charset="-122"/>
                </a:rPr>
                <a:t>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顶级</a:t>
              </a:r>
              <a:r>
                <a:rPr lang="zh-CN" altLang="en-US" b="1" dirty="0">
                  <a:latin typeface="微软雅黑" panose="020B0503020204020204" pitchFamily="34" charset="-122"/>
                  <a:ea typeface="微软雅黑" panose="020B0503020204020204" pitchFamily="34" charset="-122"/>
                </a:rPr>
                <a:t>域名</a:t>
              </a:r>
              <a:endParaRPr lang="zh-CN" altLang="en-US" b="1" dirty="0">
                <a:latin typeface="微软雅黑" panose="020B0503020204020204" pitchFamily="34" charset="-122"/>
                <a:ea typeface="微软雅黑" panose="020B0503020204020204" pitchFamily="34" charset="-122"/>
              </a:endParaRPr>
            </a:p>
          </p:txBody>
        </p:sp>
        <p:sp>
          <p:nvSpPr>
            <p:cNvPr id="8" name="Line 9"/>
            <p:cNvSpPr>
              <a:spLocks noChangeShapeType="1"/>
            </p:cNvSpPr>
            <p:nvPr/>
          </p:nvSpPr>
          <p:spPr bwMode="auto">
            <a:xfrm flipV="1">
              <a:off x="3784308" y="2987504"/>
              <a:ext cx="0"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10"/>
            <p:cNvSpPr>
              <a:spLocks noChangeShapeType="1"/>
            </p:cNvSpPr>
            <p:nvPr/>
          </p:nvSpPr>
          <p:spPr bwMode="auto">
            <a:xfrm flipV="1">
              <a:off x="2674733" y="3013694"/>
              <a:ext cx="504825"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1"/>
            <p:cNvSpPr>
              <a:spLocks noChangeShapeType="1"/>
            </p:cNvSpPr>
            <p:nvPr/>
          </p:nvSpPr>
          <p:spPr bwMode="auto">
            <a:xfrm flipH="1" flipV="1">
              <a:off x="4276776" y="3013698"/>
              <a:ext cx="504825"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 name="矩形 2"/>
            <p:cNvSpPr/>
            <p:nvPr/>
          </p:nvSpPr>
          <p:spPr>
            <a:xfrm>
              <a:off x="2014957" y="3563130"/>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smtClean="0">
                  <a:solidFill>
                    <a:srgbClr val="0000FF"/>
                  </a:solidFill>
                  <a:latin typeface="微软雅黑" panose="020B0503020204020204" pitchFamily="34" charset="-122"/>
                  <a:ea typeface="微软雅黑" panose="020B0503020204020204" pitchFamily="34" charset="-122"/>
                </a:rPr>
                <a:t>级别最低）</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2" name="矩形 11"/>
            <p:cNvSpPr/>
            <p:nvPr/>
          </p:nvSpPr>
          <p:spPr>
            <a:xfrm>
              <a:off x="4253812" y="3563130"/>
              <a:ext cx="1415772" cy="338554"/>
            </a:xfrm>
            <a:prstGeom prst="rect">
              <a:avLst/>
            </a:prstGeom>
          </p:spPr>
          <p:txBody>
            <a:bodyPr wrap="none">
              <a:spAutoFit/>
            </a:bodyPr>
            <a:lstStyle/>
            <a:p>
              <a:r>
                <a:rPr lang="zh-CN" altLang="en-US" sz="1600" b="1" dirty="0" smtClean="0">
                  <a:solidFill>
                    <a:srgbClr val="9900FF"/>
                  </a:solidFill>
                  <a:latin typeface="微软雅黑" panose="020B0503020204020204" pitchFamily="34" charset="-122"/>
                  <a:ea typeface="微软雅黑" panose="020B0503020204020204" pitchFamily="34" charset="-122"/>
                </a:rPr>
                <a:t>（级别最高）</a:t>
              </a:r>
              <a:endParaRPr lang="zh-CN" altLang="en-US" sz="1600" b="1" dirty="0">
                <a:solidFill>
                  <a:srgbClr val="9900FF"/>
                </a:solidFill>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316609" y="2062198"/>
            <a:ext cx="2816797" cy="916986"/>
            <a:chOff x="3660125" y="2092751"/>
            <a:chExt cx="2816797" cy="1090208"/>
          </a:xfrm>
        </p:grpSpPr>
        <p:sp>
          <p:nvSpPr>
            <p:cNvPr id="4" name="矩形 3"/>
            <p:cNvSpPr/>
            <p:nvPr/>
          </p:nvSpPr>
          <p:spPr>
            <a:xfrm>
              <a:off x="3660125" y="2092751"/>
              <a:ext cx="2816797" cy="402508"/>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每一个标号不</a:t>
              </a:r>
              <a:r>
                <a:rPr lang="zh-CN" altLang="en-US" sz="1600" b="1" dirty="0" smtClean="0">
                  <a:latin typeface="微软雅黑" panose="020B0503020204020204" pitchFamily="34" charset="-122"/>
                  <a:ea typeface="微软雅黑" panose="020B0503020204020204" pitchFamily="34" charset="-122"/>
                </a:rPr>
                <a:t>超过 </a:t>
              </a:r>
              <a:r>
                <a:rPr lang="en-US" altLang="zh-CN" sz="1600" b="1" dirty="0" smtClean="0">
                  <a:latin typeface="微软雅黑" panose="020B0503020204020204" pitchFamily="34" charset="-122"/>
                  <a:ea typeface="微软雅黑" panose="020B0503020204020204" pitchFamily="34" charset="-122"/>
                </a:rPr>
                <a:t>63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endParaRPr lang="zh-CN" altLang="en-US" sz="1600" b="1" dirty="0">
                <a:latin typeface="微软雅黑" panose="020B0503020204020204" pitchFamily="34" charset="-122"/>
                <a:ea typeface="微软雅黑" panose="020B0503020204020204" pitchFamily="34" charset="-122"/>
              </a:endParaRPr>
            </a:p>
          </p:txBody>
        </p:sp>
        <p:sp>
          <p:nvSpPr>
            <p:cNvPr id="20" name="Line 11"/>
            <p:cNvSpPr>
              <a:spLocks noChangeShapeType="1"/>
            </p:cNvSpPr>
            <p:nvPr/>
          </p:nvSpPr>
          <p:spPr bwMode="auto">
            <a:xfrm>
              <a:off x="6104848" y="2502619"/>
              <a:ext cx="220054" cy="68034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19" name="组合 18"/>
          <p:cNvGrpSpPr/>
          <p:nvPr/>
        </p:nvGrpSpPr>
        <p:grpSpPr>
          <a:xfrm>
            <a:off x="1751022" y="2400264"/>
            <a:ext cx="1826141" cy="556780"/>
            <a:chOff x="4242919" y="2380321"/>
            <a:chExt cx="1826141" cy="661958"/>
          </a:xfrm>
        </p:grpSpPr>
        <p:sp>
          <p:nvSpPr>
            <p:cNvPr id="5" name="矩形 4"/>
            <p:cNvSpPr/>
            <p:nvPr/>
          </p:nvSpPr>
          <p:spPr>
            <a:xfrm>
              <a:off x="4242919" y="2380321"/>
              <a:ext cx="1826141" cy="338555"/>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不区分大小写字母</a:t>
              </a:r>
              <a:endParaRPr lang="zh-CN" altLang="en-US" sz="1600" b="1" dirty="0">
                <a:latin typeface="微软雅黑" panose="020B0503020204020204" pitchFamily="34" charset="-122"/>
                <a:ea typeface="微软雅黑" panose="020B0503020204020204" pitchFamily="34" charset="-122"/>
              </a:endParaRPr>
            </a:p>
          </p:txBody>
        </p:sp>
        <p:sp>
          <p:nvSpPr>
            <p:cNvPr id="21" name="Line 11"/>
            <p:cNvSpPr>
              <a:spLocks noChangeShapeType="1"/>
            </p:cNvSpPr>
            <p:nvPr/>
          </p:nvSpPr>
          <p:spPr bwMode="auto">
            <a:xfrm>
              <a:off x="5797824" y="2718876"/>
              <a:ext cx="100900" cy="323403"/>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22" name="组合 21"/>
          <p:cNvGrpSpPr/>
          <p:nvPr/>
        </p:nvGrpSpPr>
        <p:grpSpPr>
          <a:xfrm>
            <a:off x="4912310" y="2212153"/>
            <a:ext cx="3148621" cy="630485"/>
            <a:chOff x="4928337" y="2765085"/>
            <a:chExt cx="3148621" cy="630485"/>
          </a:xfrm>
        </p:grpSpPr>
        <p:sp>
          <p:nvSpPr>
            <p:cNvPr id="11" name="矩形 10"/>
            <p:cNvSpPr/>
            <p:nvPr/>
          </p:nvSpPr>
          <p:spPr>
            <a:xfrm>
              <a:off x="4928339" y="2765085"/>
              <a:ext cx="3148619"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完整域名总共不</a:t>
              </a:r>
              <a:r>
                <a:rPr lang="zh-CN" altLang="en-US" sz="1600" b="1" dirty="0" smtClean="0">
                  <a:latin typeface="微软雅黑" panose="020B0503020204020204" pitchFamily="34" charset="-122"/>
                  <a:ea typeface="微软雅黑" panose="020B0503020204020204" pitchFamily="34" charset="-122"/>
                </a:rPr>
                <a:t>超过 </a:t>
              </a:r>
              <a:r>
                <a:rPr lang="en-US" altLang="zh-CN" sz="1600" b="1" dirty="0" smtClean="0">
                  <a:latin typeface="微软雅黑" panose="020B0503020204020204" pitchFamily="34" charset="-122"/>
                  <a:ea typeface="微软雅黑" panose="020B0503020204020204" pitchFamily="34" charset="-122"/>
                </a:rPr>
                <a:t>255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endParaRPr lang="zh-CN" altLang="en-US" sz="1600" b="1" dirty="0">
                <a:latin typeface="微软雅黑" panose="020B0503020204020204" pitchFamily="34" charset="-122"/>
                <a:ea typeface="微软雅黑" panose="020B0503020204020204" pitchFamily="34" charset="-122"/>
              </a:endParaRPr>
            </a:p>
          </p:txBody>
        </p:sp>
        <p:sp>
          <p:nvSpPr>
            <p:cNvPr id="23" name="Line 11"/>
            <p:cNvSpPr>
              <a:spLocks noChangeShapeType="1"/>
            </p:cNvSpPr>
            <p:nvPr/>
          </p:nvSpPr>
          <p:spPr bwMode="auto">
            <a:xfrm flipH="1">
              <a:off x="4928337" y="3047553"/>
              <a:ext cx="197159" cy="348017"/>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24" name="矩形 23"/>
          <p:cNvSpPr/>
          <p:nvPr/>
        </p:nvSpPr>
        <p:spPr>
          <a:xfrm>
            <a:off x="6136955" y="2716147"/>
            <a:ext cx="2050884" cy="1015663"/>
          </a:xfrm>
          <a:prstGeom prst="rect">
            <a:avLst/>
          </a:prstGeom>
          <a:solidFill>
            <a:schemeClr val="bg1"/>
          </a:solidFill>
        </p:spPr>
        <p:txBody>
          <a:bodyPr wrap="square">
            <a:spAutoFit/>
          </a:bodyPr>
          <a:lstStyle/>
          <a:p>
            <a:pPr>
              <a:lnSpc>
                <a:spcPts val="2400"/>
              </a:lnSpc>
            </a:pPr>
            <a:r>
              <a:rPr lang="zh-CN" altLang="en-US" sz="1600" b="1" dirty="0" smtClean="0">
                <a:solidFill>
                  <a:srgbClr val="C00000"/>
                </a:solidFill>
                <a:latin typeface="微软雅黑" panose="020B0503020204020204" pitchFamily="34" charset="-122"/>
                <a:ea typeface="微软雅黑" panose="020B0503020204020204" pitchFamily="34" charset="-122"/>
              </a:rPr>
              <a:t>注意：</a:t>
            </a:r>
            <a:r>
              <a:rPr lang="zh-CN" altLang="en-US" sz="1600" b="1" dirty="0" smtClean="0">
                <a:latin typeface="微软雅黑" panose="020B0503020204020204" pitchFamily="34" charset="-122"/>
                <a:ea typeface="微软雅黑" panose="020B0503020204020204" pitchFamily="34" charset="-122"/>
              </a:rPr>
              <a:t>域名</a:t>
            </a:r>
            <a:r>
              <a:rPr lang="zh-CN" altLang="en-US" sz="1600" b="1" dirty="0">
                <a:latin typeface="微软雅黑" panose="020B0503020204020204" pitchFamily="34" charset="-122"/>
                <a:ea typeface="微软雅黑" panose="020B0503020204020204" pitchFamily="34" charset="-122"/>
              </a:rPr>
              <a:t>只是个逻辑概念，并不代表计算机所在的物理地点。</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1000"/>
                                        <p:tgtEl>
                                          <p:spTgt spid="18"/>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10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7"/>
                                        </p:tgtEl>
                                        <p:attrNameLst>
                                          <p:attrName>style.visibility</p:attrName>
                                        </p:attrNameLst>
                                      </p:cBhvr>
                                      <p:tavLst>
                                        <p:tav tm="0">
                                          <p:val>
                                            <p:strVal val="hidden"/>
                                          </p:val>
                                        </p:tav>
                                        <p:tav tm="50000">
                                          <p:val>
                                            <p:strVal val="visible"/>
                                          </p:val>
                                        </p:tav>
                                      </p:tavLst>
                                    </p:anim>
                                  </p:childTnLst>
                                </p:cTn>
                              </p:par>
                              <p:par>
                                <p:cTn id="24" presetID="22" presetClass="entr" presetSubtype="1"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10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2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5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140236" y="577386"/>
            <a:ext cx="4882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全球顶级域名 </a:t>
            </a:r>
            <a:r>
              <a:rPr lang="en-US" altLang="zh-CN" sz="2000" b="1" dirty="0">
                <a:solidFill>
                  <a:schemeClr val="bg1"/>
                </a:solidFill>
                <a:latin typeface="微软雅黑" panose="020B0503020204020204" pitchFamily="34" charset="-122"/>
                <a:ea typeface="微软雅黑" panose="020B0503020204020204" pitchFamily="34" charset="-122"/>
              </a:rPr>
              <a:t>TLD (Top Level Domain)</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0" name="组合 19"/>
          <p:cNvGrpSpPr/>
          <p:nvPr/>
        </p:nvGrpSpPr>
        <p:grpSpPr>
          <a:xfrm>
            <a:off x="1064087" y="1019586"/>
            <a:ext cx="5341046" cy="2984244"/>
            <a:chOff x="1064087" y="1019585"/>
            <a:chExt cx="5341046" cy="3232819"/>
          </a:xfrm>
        </p:grpSpPr>
        <p:sp>
          <p:nvSpPr>
            <p:cNvPr id="4" name="任意多边形 3"/>
            <p:cNvSpPr/>
            <p:nvPr/>
          </p:nvSpPr>
          <p:spPr>
            <a:xfrm>
              <a:off x="1064087"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国家顶级域名 </a:t>
              </a:r>
              <a:r>
                <a:rPr lang="en-US" altLang="en-US" sz="1400" b="1" kern="1200" dirty="0" err="1" smtClean="0">
                  <a:latin typeface="微软雅黑" panose="020B0503020204020204" pitchFamily="34" charset="-122"/>
                  <a:ea typeface="微软雅黑" panose="020B0503020204020204" pitchFamily="34" charset="-122"/>
                </a:rPr>
                <a:t>nTLD</a:t>
              </a:r>
              <a:endParaRPr lang="zh-CN" altLang="en-US" sz="1400"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233644" y="1894719"/>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采用 </a:t>
              </a:r>
              <a:r>
                <a:rPr lang="en-US" altLang="en-US" sz="1400" b="1" kern="1200" dirty="0" smtClean="0">
                  <a:latin typeface="微软雅黑" panose="020B0503020204020204" pitchFamily="34" charset="-122"/>
                  <a:ea typeface="微软雅黑" panose="020B0503020204020204" pitchFamily="34" charset="-122"/>
                </a:rPr>
                <a:t>ISO 3166</a:t>
              </a:r>
              <a:r>
                <a:rPr lang="zh-CN" altLang="en-US" sz="1400" b="1" kern="1200" dirty="0" smtClean="0">
                  <a:latin typeface="微软雅黑" panose="020B0503020204020204" pitchFamily="34" charset="-122"/>
                  <a:ea typeface="微软雅黑" panose="020B0503020204020204" pitchFamily="34" charset="-122"/>
                </a:rPr>
                <a:t>的规定</a:t>
              </a:r>
              <a:endParaRPr lang="zh-CN" altLang="en-US" sz="1400" b="1"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1233644" y="2649686"/>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1241735"/>
                <a:satOff val="4976"/>
                <a:lumOff val="1078"/>
                <a:alphaOff val="0"/>
              </a:schemeClr>
            </a:fillRef>
            <a:effectRef idx="1">
              <a:schemeClr val="accent5">
                <a:hueOff val="-1241735"/>
                <a:satOff val="4976"/>
                <a:lumOff val="1078"/>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又常记为 </a:t>
              </a:r>
              <a:r>
                <a:rPr lang="en-US" altLang="en-US" sz="1400" b="1" kern="1200" dirty="0" err="1" smtClean="0">
                  <a:latin typeface="微软雅黑" panose="020B0503020204020204" pitchFamily="34" charset="-122"/>
                  <a:ea typeface="微软雅黑" panose="020B0503020204020204" pitchFamily="34" charset="-122"/>
                </a:rPr>
                <a:t>ccTLD</a:t>
              </a:r>
              <a:endParaRPr lang="zh-CN" altLang="en-US" sz="1400" b="1" kern="1200" dirty="0">
                <a:latin typeface="微软雅黑" panose="020B0503020204020204" pitchFamily="34" charset="-122"/>
                <a:ea typeface="微软雅黑" panose="020B0503020204020204" pitchFamily="34" charset="-122"/>
              </a:endParaRPr>
            </a:p>
          </p:txBody>
        </p:sp>
        <p:sp>
          <p:nvSpPr>
            <p:cNvPr id="9" name="任意多边形 8"/>
            <p:cNvSpPr/>
            <p:nvPr/>
          </p:nvSpPr>
          <p:spPr>
            <a:xfrm>
              <a:off x="1233644" y="3404653"/>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2483469"/>
                <a:satOff val="9953"/>
                <a:lumOff val="2157"/>
                <a:alphaOff val="0"/>
              </a:schemeClr>
            </a:fillRef>
            <a:effectRef idx="1">
              <a:schemeClr val="accent5">
                <a:hueOff val="-2483469"/>
                <a:satOff val="9953"/>
                <a:lumOff val="2157"/>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200" b="1" kern="1200" dirty="0" smtClean="0">
                  <a:latin typeface="微软雅黑" panose="020B0503020204020204" pitchFamily="34" charset="-122"/>
                  <a:ea typeface="微软雅黑" panose="020B0503020204020204" pitchFamily="34" charset="-122"/>
                </a:rPr>
                <a:t>总数已达 </a:t>
              </a:r>
              <a:r>
                <a:rPr lang="en-US" altLang="en-US" sz="1200" b="1" kern="1200" dirty="0" smtClean="0">
                  <a:latin typeface="微软雅黑" panose="020B0503020204020204" pitchFamily="34" charset="-122"/>
                  <a:ea typeface="微软雅黑" panose="020B0503020204020204" pitchFamily="34" charset="-122"/>
                </a:rPr>
                <a:t>316 </a:t>
              </a:r>
              <a:r>
                <a:rPr lang="zh-CN" altLang="en-US" sz="1200" b="1" kern="1200" dirty="0" smtClean="0">
                  <a:latin typeface="微软雅黑" panose="020B0503020204020204" pitchFamily="34" charset="-122"/>
                  <a:ea typeface="微软雅黑" panose="020B0503020204020204" pitchFamily="34" charset="-122"/>
                </a:rPr>
                <a:t>个</a:t>
              </a:r>
              <a:endParaRPr lang="zh-CN" altLang="en-US" sz="1200" b="1" kern="1200" dirty="0">
                <a:latin typeface="微软雅黑" panose="020B0503020204020204" pitchFamily="34" charset="-122"/>
                <a:ea typeface="微软雅黑" panose="020B0503020204020204" pitchFamily="34" charset="-122"/>
              </a:endParaRPr>
            </a:p>
          </p:txBody>
        </p:sp>
        <p:sp>
          <p:nvSpPr>
            <p:cNvPr id="10" name="任意多边形 9"/>
            <p:cNvSpPr/>
            <p:nvPr/>
          </p:nvSpPr>
          <p:spPr>
            <a:xfrm>
              <a:off x="2886825"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通用顶级域名 </a:t>
              </a:r>
              <a:r>
                <a:rPr lang="en-US" altLang="en-US" sz="1400" b="1" kern="1200" dirty="0" err="1" smtClean="0">
                  <a:latin typeface="微软雅黑" panose="020B0503020204020204" pitchFamily="34" charset="-122"/>
                  <a:ea typeface="微软雅黑" panose="020B0503020204020204" pitchFamily="34" charset="-122"/>
                </a:rPr>
                <a:t>gTLD</a:t>
              </a:r>
              <a:endParaRPr lang="zh-CN" altLang="en-US" sz="1400" b="1" kern="1200" dirty="0">
                <a:latin typeface="微软雅黑" panose="020B0503020204020204" pitchFamily="34" charset="-122"/>
                <a:ea typeface="微软雅黑" panose="020B0503020204020204" pitchFamily="34" charset="-122"/>
              </a:endParaRPr>
            </a:p>
          </p:txBody>
        </p:sp>
        <p:sp>
          <p:nvSpPr>
            <p:cNvPr id="11" name="任意多边形 10"/>
            <p:cNvSpPr/>
            <p:nvPr/>
          </p:nvSpPr>
          <p:spPr>
            <a:xfrm>
              <a:off x="3056382"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3725204"/>
                <a:satOff val="14929"/>
                <a:lumOff val="3235"/>
                <a:alphaOff val="0"/>
              </a:schemeClr>
            </a:fillRef>
            <a:effectRef idx="1">
              <a:schemeClr val="accent5">
                <a:hueOff val="-3725204"/>
                <a:satOff val="14929"/>
                <a:lumOff val="3235"/>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en-US" altLang="en-US" sz="1400" b="1" kern="1200" dirty="0" smtClean="0">
                  <a:latin typeface="微软雅黑" panose="020B0503020204020204" pitchFamily="34" charset="-122"/>
                  <a:ea typeface="微软雅黑" panose="020B0503020204020204" pitchFamily="34" charset="-122"/>
                </a:rPr>
                <a:t>com</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net</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smtClean="0">
                  <a:latin typeface="微软雅黑" panose="020B0503020204020204" pitchFamily="34" charset="-122"/>
                  <a:ea typeface="微软雅黑" panose="020B0503020204020204" pitchFamily="34" charset="-122"/>
                </a:rPr>
                <a:t>org</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err="1" smtClean="0">
                  <a:latin typeface="微软雅黑" panose="020B0503020204020204" pitchFamily="34" charset="-122"/>
                  <a:ea typeface="微软雅黑" panose="020B0503020204020204" pitchFamily="34" charset="-122"/>
                </a:rPr>
                <a:t>edu</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err="1" smtClean="0">
                  <a:latin typeface="微软雅黑" panose="020B0503020204020204" pitchFamily="34" charset="-122"/>
                  <a:ea typeface="微软雅黑" panose="020B0503020204020204" pitchFamily="34" charset="-122"/>
                </a:rPr>
                <a:t>gov</a:t>
              </a:r>
              <a:r>
                <a:rPr lang="en-US" altLang="zh-CN" sz="1400" b="1" kern="1200" dirty="0" smtClean="0">
                  <a:latin typeface="微软雅黑" panose="020B0503020204020204" pitchFamily="34" charset="-122"/>
                  <a:ea typeface="微软雅黑" panose="020B0503020204020204" pitchFamily="34" charset="-122"/>
                </a:rPr>
                <a:t> </a:t>
              </a:r>
              <a:r>
                <a:rPr lang="zh-CN" altLang="en-US" sz="1400" b="1" kern="1200" dirty="0" smtClean="0">
                  <a:latin typeface="微软雅黑" panose="020B0503020204020204" pitchFamily="34" charset="-122"/>
                  <a:ea typeface="微软雅黑" panose="020B0503020204020204" pitchFamily="34" charset="-122"/>
                </a:rPr>
                <a:t>等</a:t>
              </a:r>
              <a:endParaRPr lang="zh-CN" altLang="en-US" sz="1400" b="1" kern="1200" dirty="0">
                <a:latin typeface="微软雅黑" panose="020B0503020204020204" pitchFamily="34" charset="-122"/>
                <a:ea typeface="微软雅黑" panose="020B0503020204020204" pitchFamily="34" charset="-122"/>
              </a:endParaRPr>
            </a:p>
          </p:txBody>
        </p:sp>
        <p:sp>
          <p:nvSpPr>
            <p:cNvPr id="12" name="任意多边形 11"/>
            <p:cNvSpPr/>
            <p:nvPr/>
          </p:nvSpPr>
          <p:spPr>
            <a:xfrm>
              <a:off x="3056382"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4966938"/>
                <a:satOff val="19906"/>
                <a:lumOff val="4314"/>
                <a:alphaOff val="0"/>
              </a:schemeClr>
            </a:fillRef>
            <a:effectRef idx="1">
              <a:schemeClr val="accent5">
                <a:hueOff val="-4966938"/>
                <a:satOff val="19906"/>
                <a:lumOff val="4314"/>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总数已达 </a:t>
              </a:r>
              <a:r>
                <a:rPr lang="en-US" altLang="en-US" sz="1400" b="1" kern="1200" dirty="0" smtClean="0">
                  <a:latin typeface="微软雅黑" panose="020B0503020204020204" pitchFamily="34" charset="-122"/>
                  <a:ea typeface="微软雅黑" panose="020B0503020204020204" pitchFamily="34" charset="-122"/>
                </a:rPr>
                <a:t>20 </a:t>
              </a:r>
              <a:r>
                <a:rPr lang="zh-CN" altLang="en-US" sz="1400" b="1" kern="1200" dirty="0" smtClean="0">
                  <a:latin typeface="微软雅黑" panose="020B0503020204020204" pitchFamily="34" charset="-122"/>
                  <a:ea typeface="微软雅黑" panose="020B0503020204020204" pitchFamily="34" charset="-122"/>
                </a:rPr>
                <a:t>个</a:t>
              </a:r>
              <a:endParaRPr lang="zh-CN" altLang="en-US" sz="1400" b="1" kern="1200" dirty="0">
                <a:latin typeface="微软雅黑" panose="020B0503020204020204" pitchFamily="34" charset="-122"/>
                <a:ea typeface="微软雅黑" panose="020B0503020204020204" pitchFamily="34" charset="-122"/>
              </a:endParaRPr>
            </a:p>
          </p:txBody>
        </p:sp>
        <p:sp>
          <p:nvSpPr>
            <p:cNvPr id="13" name="任意多边形 12"/>
            <p:cNvSpPr/>
            <p:nvPr/>
          </p:nvSpPr>
          <p:spPr>
            <a:xfrm>
              <a:off x="4709563"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t"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基础结构域名</a:t>
              </a:r>
              <a:r>
                <a:rPr lang="en-US" altLang="en-US" sz="1400" b="1" kern="1200" dirty="0" smtClean="0">
                  <a:latin typeface="微软雅黑" panose="020B0503020204020204" pitchFamily="34" charset="-122"/>
                  <a:ea typeface="微软雅黑" panose="020B0503020204020204" pitchFamily="34" charset="-122"/>
                </a:rPr>
                <a:t>(infrastructure domain)</a:t>
              </a:r>
              <a:endParaRPr lang="zh-CN" altLang="en-US" sz="1400" b="1" kern="1200" dirty="0">
                <a:latin typeface="微软雅黑" panose="020B0503020204020204" pitchFamily="34" charset="-122"/>
                <a:ea typeface="微软雅黑" panose="020B0503020204020204" pitchFamily="34" charset="-122"/>
              </a:endParaRPr>
            </a:p>
          </p:txBody>
        </p:sp>
        <p:sp>
          <p:nvSpPr>
            <p:cNvPr id="14" name="任意多边形 13"/>
            <p:cNvSpPr/>
            <p:nvPr/>
          </p:nvSpPr>
          <p:spPr>
            <a:xfrm>
              <a:off x="4879120"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6208672"/>
                <a:satOff val="24882"/>
                <a:lumOff val="5392"/>
                <a:alphaOff val="0"/>
              </a:schemeClr>
            </a:fillRef>
            <a:effectRef idx="1">
              <a:schemeClr val="accent5">
                <a:hueOff val="-6208672"/>
                <a:satOff val="24882"/>
                <a:lumOff val="5392"/>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只有一个：</a:t>
              </a:r>
              <a:r>
                <a:rPr lang="en-US" altLang="en-US" sz="1400" b="1" kern="1200" dirty="0" err="1" smtClean="0">
                  <a:latin typeface="微软雅黑" panose="020B0503020204020204" pitchFamily="34" charset="-122"/>
                  <a:ea typeface="微软雅黑" panose="020B0503020204020204" pitchFamily="34" charset="-122"/>
                </a:rPr>
                <a:t>arpa</a:t>
              </a:r>
              <a:endParaRPr lang="zh-CN" altLang="en-US" sz="1400" b="1" kern="1200" dirty="0">
                <a:latin typeface="微软雅黑" panose="020B0503020204020204" pitchFamily="34" charset="-122"/>
                <a:ea typeface="微软雅黑" panose="020B0503020204020204" pitchFamily="34" charset="-122"/>
              </a:endParaRPr>
            </a:p>
          </p:txBody>
        </p:sp>
        <p:sp>
          <p:nvSpPr>
            <p:cNvPr id="15" name="任意多边形 14"/>
            <p:cNvSpPr/>
            <p:nvPr/>
          </p:nvSpPr>
          <p:spPr>
            <a:xfrm>
              <a:off x="4879120"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7450407"/>
                <a:satOff val="29858"/>
                <a:lumOff val="6471"/>
                <a:alphaOff val="0"/>
              </a:schemeClr>
            </a:fillRef>
            <a:effectRef idx="1">
              <a:schemeClr val="accent5">
                <a:hueOff val="-7450407"/>
                <a:satOff val="29858"/>
                <a:lumOff val="6471"/>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用于反向域名解析，又称为反向域名</a:t>
              </a:r>
              <a:endParaRPr lang="zh-CN" altLang="en-US" sz="1400" b="1" kern="1200"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6532301" y="1019586"/>
            <a:ext cx="1695570" cy="2984244"/>
            <a:chOff x="6532301" y="1019585"/>
            <a:chExt cx="1695570" cy="3232819"/>
          </a:xfrm>
        </p:grpSpPr>
        <p:sp>
          <p:nvSpPr>
            <p:cNvPr id="16" name="任意多边形 15"/>
            <p:cNvSpPr/>
            <p:nvPr/>
          </p:nvSpPr>
          <p:spPr>
            <a:xfrm>
              <a:off x="6532301"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a:ln w="19050">
              <a:solidFill>
                <a:srgbClr val="000066"/>
              </a:solidFill>
              <a:prstDash val="sysDash"/>
            </a:ln>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新顶级域名</a:t>
              </a:r>
              <a:endParaRPr lang="en-US" altLang="zh-CN" sz="1400" b="1" kern="1200" dirty="0" smtClean="0">
                <a:latin typeface="微软雅黑" panose="020B0503020204020204" pitchFamily="34" charset="-122"/>
                <a:ea typeface="微软雅黑" panose="020B0503020204020204" pitchFamily="34" charset="-122"/>
              </a:endParaRPr>
            </a:p>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New </a:t>
              </a:r>
              <a:r>
                <a:rPr lang="en-US" altLang="en-US" sz="1400" b="1" kern="1200" dirty="0" err="1" smtClean="0">
                  <a:latin typeface="微软雅黑" panose="020B0503020204020204" pitchFamily="34" charset="-122"/>
                  <a:ea typeface="微软雅黑" panose="020B0503020204020204" pitchFamily="34" charset="-122"/>
                </a:rPr>
                <a:t>gTLD</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p:txBody>
        </p:sp>
        <p:sp>
          <p:nvSpPr>
            <p:cNvPr id="17" name="任意多边形 16"/>
            <p:cNvSpPr/>
            <p:nvPr/>
          </p:nvSpPr>
          <p:spPr>
            <a:xfrm>
              <a:off x="6701858"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8692142"/>
                <a:satOff val="34835"/>
                <a:lumOff val="7549"/>
                <a:alphaOff val="0"/>
              </a:schemeClr>
            </a:fillRef>
            <a:effectRef idx="1">
              <a:schemeClr val="accent5">
                <a:hueOff val="-8692142"/>
                <a:satOff val="34835"/>
                <a:lumOff val="7549"/>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任何公司、机构都有权向</a:t>
              </a:r>
              <a:r>
                <a:rPr lang="en-US" altLang="en-US" sz="1400" b="1" kern="1200" dirty="0" smtClean="0">
                  <a:latin typeface="微软雅黑" panose="020B0503020204020204" pitchFamily="34" charset="-122"/>
                  <a:ea typeface="微软雅黑" panose="020B0503020204020204" pitchFamily="34" charset="-122"/>
                </a:rPr>
                <a:t>ICANN </a:t>
              </a:r>
              <a:r>
                <a:rPr lang="zh-CN" altLang="en-US" sz="1400" b="1" kern="1200" dirty="0" smtClean="0">
                  <a:latin typeface="微软雅黑" panose="020B0503020204020204" pitchFamily="34" charset="-122"/>
                  <a:ea typeface="微软雅黑" panose="020B0503020204020204" pitchFamily="34" charset="-122"/>
                </a:rPr>
                <a:t>申请新的顶级域</a:t>
              </a:r>
              <a:endParaRPr lang="zh-CN" altLang="en-US" sz="1400" b="1" kern="1200" dirty="0">
                <a:latin typeface="微软雅黑" panose="020B0503020204020204" pitchFamily="34" charset="-122"/>
                <a:ea typeface="微软雅黑" panose="020B0503020204020204" pitchFamily="34" charset="-122"/>
              </a:endParaRPr>
            </a:p>
          </p:txBody>
        </p:sp>
        <p:sp>
          <p:nvSpPr>
            <p:cNvPr id="18" name="任意多边形 17"/>
            <p:cNvSpPr/>
            <p:nvPr/>
          </p:nvSpPr>
          <p:spPr>
            <a:xfrm>
              <a:off x="6701858"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9933876"/>
                <a:satOff val="39811"/>
                <a:lumOff val="8628"/>
                <a:alphaOff val="0"/>
              </a:schemeClr>
            </a:fillRef>
            <a:effectRef idx="1">
              <a:schemeClr val="accent5">
                <a:hueOff val="-9933876"/>
                <a:satOff val="39811"/>
                <a:lumOff val="8628"/>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真正的企业网络商标</a:t>
              </a:r>
              <a:endParaRPr lang="zh-CN" altLang="en-US" sz="1400" b="1" kern="1200" dirty="0">
                <a:latin typeface="微软雅黑" panose="020B0503020204020204" pitchFamily="34" charset="-122"/>
                <a:ea typeface="微软雅黑" panose="020B0503020204020204" pitchFamily="34" charset="-122"/>
              </a:endParaRPr>
            </a:p>
          </p:txBody>
        </p:sp>
      </p:grpSp>
      <p:sp>
        <p:nvSpPr>
          <p:cNvPr id="22" name="矩形 21"/>
          <p:cNvSpPr/>
          <p:nvPr/>
        </p:nvSpPr>
        <p:spPr>
          <a:xfrm>
            <a:off x="1389888" y="4023377"/>
            <a:ext cx="6602193" cy="707886"/>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在国家顶级域名下注册的二级域名均由该国家自行确定</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我国把二级域名划分为“</a:t>
            </a:r>
            <a:r>
              <a:rPr lang="zh-CN" altLang="en-US" sz="1600" b="1" dirty="0">
                <a:solidFill>
                  <a:srgbClr val="0000CC"/>
                </a:solidFill>
                <a:latin typeface="微软雅黑" panose="020B0503020204020204" pitchFamily="34" charset="-122"/>
                <a:ea typeface="微软雅黑" panose="020B0503020204020204" pitchFamily="34" charset="-122"/>
              </a:rPr>
              <a:t>类别域名</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0000CC"/>
                </a:solidFill>
                <a:latin typeface="微软雅黑" panose="020B0503020204020204" pitchFamily="34" charset="-122"/>
                <a:ea typeface="微软雅黑" panose="020B0503020204020204" pitchFamily="34" charset="-122"/>
              </a:rPr>
              <a:t>行政区域名</a:t>
            </a:r>
            <a:r>
              <a:rPr lang="zh-CN" altLang="en-US" sz="1600" b="1" dirty="0">
                <a:latin typeface="微软雅黑" panose="020B0503020204020204" pitchFamily="34" charset="-122"/>
                <a:ea typeface="微软雅黑" panose="020B0503020204020204" pitchFamily="34" charset="-122"/>
              </a:rPr>
              <a:t>”两大类。</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up)">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10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up)">
                                      <p:cBhvr>
                                        <p:cTn id="17"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互联网的域名</a:t>
            </a:r>
            <a:r>
              <a:rPr lang="zh-CN" altLang="en-US" sz="2000" b="1" dirty="0" smtClean="0">
                <a:solidFill>
                  <a:schemeClr val="bg1"/>
                </a:solidFill>
                <a:latin typeface="微软雅黑" panose="020B0503020204020204" pitchFamily="34" charset="-122"/>
                <a:ea typeface="微软雅黑" panose="020B0503020204020204" pitchFamily="34" charset="-122"/>
              </a:rPr>
              <a:t>空间</a:t>
            </a:r>
            <a:r>
              <a:rPr lang="zh-CN" altLang="en-US" sz="2000" b="1" dirty="0">
                <a:solidFill>
                  <a:schemeClr val="bg1"/>
                </a:solidFill>
                <a:latin typeface="微软雅黑" panose="020B0503020204020204" pitchFamily="34" charset="-122"/>
                <a:ea typeface="微软雅黑" panose="020B0503020204020204" pitchFamily="34" charset="-122"/>
              </a:rPr>
              <a:t>结构</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0" name="圆角矩形 79"/>
          <p:cNvSpPr/>
          <p:nvPr/>
        </p:nvSpPr>
        <p:spPr>
          <a:xfrm>
            <a:off x="556963" y="1006405"/>
            <a:ext cx="8048776" cy="318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Rectangle 122"/>
          <p:cNvSpPr>
            <a:spLocks noChangeArrowheads="1"/>
          </p:cNvSpPr>
          <p:nvPr/>
        </p:nvSpPr>
        <p:spPr bwMode="auto">
          <a:xfrm>
            <a:off x="4927416" y="1019374"/>
            <a:ext cx="1675702" cy="324229"/>
          </a:xfrm>
          <a:prstGeom prst="rect">
            <a:avLst/>
          </a:prstGeom>
          <a:solidFill>
            <a:srgbClr val="C3E3F9"/>
          </a:solidFill>
          <a:ln>
            <a:noFill/>
          </a:ln>
          <a:effectLst/>
        </p:spPr>
        <p:txBody>
          <a:bodyPr wrap="none" anchor="ctr"/>
          <a:lstStyle/>
          <a:p>
            <a:pPr algn="ctr"/>
            <a:r>
              <a:rPr kumimoji="1" lang="zh-CN" altLang="en-US" sz="1600" b="1" dirty="0" smtClean="0">
                <a:solidFill>
                  <a:srgbClr val="C00000"/>
                </a:solidFill>
                <a:latin typeface="微软雅黑" panose="020B0503020204020204" pitchFamily="34" charset="-122"/>
                <a:ea typeface="微软雅黑" panose="020B0503020204020204" pitchFamily="34" charset="-122"/>
              </a:rPr>
              <a:t>根</a:t>
            </a:r>
            <a:r>
              <a:rPr kumimoji="1" lang="zh-CN" altLang="en-US" sz="1600" b="1" dirty="0">
                <a:latin typeface="微软雅黑" panose="020B0503020204020204" pitchFamily="34" charset="-122"/>
                <a:ea typeface="微软雅黑" panose="020B0503020204020204" pitchFamily="34" charset="-122"/>
              </a:rPr>
              <a:t>（根没有名字）</a:t>
            </a:r>
            <a:endParaRPr kumimoji="1" lang="zh-CN" altLang="en-US" sz="1600" b="1" dirty="0">
              <a:latin typeface="微软雅黑" panose="020B0503020204020204" pitchFamily="34" charset="-122"/>
              <a:ea typeface="微软雅黑" panose="020B0503020204020204" pitchFamily="34" charset="-122"/>
            </a:endParaRPr>
          </a:p>
        </p:txBody>
      </p:sp>
      <p:grpSp>
        <p:nvGrpSpPr>
          <p:cNvPr id="82" name="Group 216"/>
          <p:cNvGrpSpPr/>
          <p:nvPr/>
        </p:nvGrpSpPr>
        <p:grpSpPr bwMode="auto">
          <a:xfrm>
            <a:off x="1111677" y="3394713"/>
            <a:ext cx="6369560" cy="756537"/>
            <a:chOff x="113" y="2435"/>
            <a:chExt cx="5005" cy="644"/>
          </a:xfrm>
        </p:grpSpPr>
        <p:sp>
          <p:nvSpPr>
            <p:cNvPr id="84" name="Rectangle 130"/>
            <p:cNvSpPr>
              <a:spLocks noChangeArrowheads="1"/>
            </p:cNvSpPr>
            <p:nvPr/>
          </p:nvSpPr>
          <p:spPr bwMode="auto">
            <a:xfrm>
              <a:off x="113" y="2811"/>
              <a:ext cx="708" cy="260"/>
            </a:xfrm>
            <a:prstGeom prst="rect">
              <a:avLst/>
            </a:prstGeom>
            <a:solidFill>
              <a:srgbClr val="008000"/>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四级域名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85" name="Text Box 131"/>
            <p:cNvSpPr txBox="1">
              <a:spLocks noChangeArrowheads="1"/>
            </p:cNvSpPr>
            <p:nvPr/>
          </p:nvSpPr>
          <p:spPr bwMode="auto">
            <a:xfrm>
              <a:off x="3556" y="2817"/>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mail</a:t>
              </a:r>
              <a:endParaRPr kumimoji="1"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86" name="Text Box 132"/>
            <p:cNvSpPr txBox="1">
              <a:spLocks noChangeArrowheads="1"/>
            </p:cNvSpPr>
            <p:nvPr/>
          </p:nvSpPr>
          <p:spPr bwMode="auto">
            <a:xfrm>
              <a:off x="4165" y="2801"/>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87" name="Text Box 151"/>
            <p:cNvSpPr txBox="1">
              <a:spLocks noChangeArrowheads="1"/>
            </p:cNvSpPr>
            <p:nvPr/>
          </p:nvSpPr>
          <p:spPr bwMode="auto">
            <a:xfrm>
              <a:off x="4614" y="2817"/>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rgbClr val="0000CC"/>
                  </a:solidFill>
                  <a:latin typeface="微软雅黑" panose="020B0503020204020204" pitchFamily="34" charset="-122"/>
                  <a:ea typeface="微软雅黑" panose="020B0503020204020204" pitchFamily="34" charset="-122"/>
                </a:rPr>
                <a:t>www</a:t>
              </a:r>
              <a:endParaRPr kumimoji="1" lang="en-US" altLang="zh-CN" sz="1400" b="1">
                <a:solidFill>
                  <a:srgbClr val="0000CC"/>
                </a:solidFill>
                <a:latin typeface="微软雅黑" panose="020B0503020204020204" pitchFamily="34" charset="-122"/>
                <a:ea typeface="微软雅黑" panose="020B0503020204020204" pitchFamily="34" charset="-122"/>
              </a:endParaRPr>
            </a:p>
          </p:txBody>
        </p:sp>
        <p:sp>
          <p:nvSpPr>
            <p:cNvPr id="88" name="Line 155"/>
            <p:cNvSpPr>
              <a:spLocks noChangeShapeType="1"/>
            </p:cNvSpPr>
            <p:nvPr/>
          </p:nvSpPr>
          <p:spPr bwMode="auto">
            <a:xfrm>
              <a:off x="4381" y="2435"/>
              <a:ext cx="437" cy="47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156"/>
            <p:cNvSpPr>
              <a:spLocks noChangeShapeType="1"/>
            </p:cNvSpPr>
            <p:nvPr/>
          </p:nvSpPr>
          <p:spPr bwMode="auto">
            <a:xfrm flipH="1">
              <a:off x="3819" y="2440"/>
              <a:ext cx="560" cy="4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0" name="Group 214"/>
          <p:cNvGrpSpPr/>
          <p:nvPr/>
        </p:nvGrpSpPr>
        <p:grpSpPr bwMode="auto">
          <a:xfrm>
            <a:off x="1111677" y="1962694"/>
            <a:ext cx="6915523" cy="765934"/>
            <a:chOff x="113" y="1216"/>
            <a:chExt cx="5434" cy="652"/>
          </a:xfrm>
        </p:grpSpPr>
        <p:sp>
          <p:nvSpPr>
            <p:cNvPr id="92" name="Text Box 105"/>
            <p:cNvSpPr txBox="1">
              <a:spLocks noChangeArrowheads="1"/>
            </p:cNvSpPr>
            <p:nvPr/>
          </p:nvSpPr>
          <p:spPr bwMode="auto">
            <a:xfrm>
              <a:off x="1882"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3" name="Text Box 115"/>
            <p:cNvSpPr txBox="1">
              <a:spLocks noChangeArrowheads="1"/>
            </p:cNvSpPr>
            <p:nvPr/>
          </p:nvSpPr>
          <p:spPr bwMode="auto">
            <a:xfrm>
              <a:off x="3956" y="1593"/>
              <a:ext cx="28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bj</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4" name="Text Box 116"/>
            <p:cNvSpPr txBox="1">
              <a:spLocks noChangeArrowheads="1"/>
            </p:cNvSpPr>
            <p:nvPr/>
          </p:nvSpPr>
          <p:spPr bwMode="auto">
            <a:xfrm>
              <a:off x="4554" y="1592"/>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5" name="Text Box 117"/>
            <p:cNvSpPr txBox="1">
              <a:spLocks noChangeArrowheads="1"/>
            </p:cNvSpPr>
            <p:nvPr/>
          </p:nvSpPr>
          <p:spPr bwMode="auto">
            <a:xfrm>
              <a:off x="5097" y="1592"/>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com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6" name="Text Box 118"/>
            <p:cNvSpPr txBox="1">
              <a:spLocks noChangeArrowheads="1"/>
            </p:cNvSpPr>
            <p:nvPr/>
          </p:nvSpPr>
          <p:spPr bwMode="auto">
            <a:xfrm>
              <a:off x="4277"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7" name="Text Box 123"/>
            <p:cNvSpPr txBox="1">
              <a:spLocks noChangeArrowheads="1"/>
            </p:cNvSpPr>
            <p:nvPr/>
          </p:nvSpPr>
          <p:spPr bwMode="auto">
            <a:xfrm>
              <a:off x="1437" y="1592"/>
              <a:ext cx="43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cctv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8" name="Text Box 124"/>
            <p:cNvSpPr txBox="1">
              <a:spLocks noChangeArrowheads="1"/>
            </p:cNvSpPr>
            <p:nvPr/>
          </p:nvSpPr>
          <p:spPr bwMode="auto">
            <a:xfrm>
              <a:off x="2185" y="1591"/>
              <a:ext cx="42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ibm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9" name="Text Box 125"/>
            <p:cNvSpPr txBox="1">
              <a:spLocks noChangeArrowheads="1"/>
            </p:cNvSpPr>
            <p:nvPr/>
          </p:nvSpPr>
          <p:spPr bwMode="auto">
            <a:xfrm>
              <a:off x="2546" y="1592"/>
              <a:ext cx="65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err="1">
                  <a:solidFill>
                    <a:schemeClr val="tx1"/>
                  </a:solidFill>
                  <a:latin typeface="微软雅黑" panose="020B0503020204020204" pitchFamily="34" charset="-122"/>
                  <a:ea typeface="微软雅黑" panose="020B0503020204020204" pitchFamily="34" charset="-122"/>
                </a:rPr>
                <a:t>h</a:t>
              </a:r>
              <a:r>
                <a:rPr kumimoji="1" lang="en-US" altLang="zh-CN" sz="1400" b="1" dirty="0" err="1" smtClean="0">
                  <a:solidFill>
                    <a:schemeClr val="tx1"/>
                  </a:solidFill>
                  <a:latin typeface="微软雅黑" panose="020B0503020204020204" pitchFamily="34" charset="-122"/>
                  <a:ea typeface="微软雅黑" panose="020B0503020204020204" pitchFamily="34" charset="-122"/>
                </a:rPr>
                <a:t>uawei</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00" name="Rectangle 127"/>
            <p:cNvSpPr>
              <a:spLocks noChangeArrowheads="1"/>
            </p:cNvSpPr>
            <p:nvPr/>
          </p:nvSpPr>
          <p:spPr bwMode="auto">
            <a:xfrm>
              <a:off x="113" y="1608"/>
              <a:ext cx="708" cy="260"/>
            </a:xfrm>
            <a:prstGeom prst="rect">
              <a:avLst/>
            </a:prstGeom>
            <a:solidFill>
              <a:srgbClr val="0066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二级域名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1" name="Line 142"/>
            <p:cNvSpPr>
              <a:spLocks noChangeShapeType="1"/>
            </p:cNvSpPr>
            <p:nvPr/>
          </p:nvSpPr>
          <p:spPr bwMode="auto">
            <a:xfrm>
              <a:off x="2180" y="1274"/>
              <a:ext cx="213" cy="37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43"/>
            <p:cNvSpPr>
              <a:spLocks noChangeShapeType="1"/>
            </p:cNvSpPr>
            <p:nvPr/>
          </p:nvSpPr>
          <p:spPr bwMode="auto">
            <a:xfrm>
              <a:off x="2173" y="1269"/>
              <a:ext cx="546" cy="3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44"/>
            <p:cNvSpPr>
              <a:spLocks noChangeShapeType="1"/>
            </p:cNvSpPr>
            <p:nvPr/>
          </p:nvSpPr>
          <p:spPr bwMode="auto">
            <a:xfrm flipV="1">
              <a:off x="1672" y="1279"/>
              <a:ext cx="501" cy="34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45"/>
            <p:cNvSpPr>
              <a:spLocks noChangeShapeType="1"/>
            </p:cNvSpPr>
            <p:nvPr/>
          </p:nvSpPr>
          <p:spPr bwMode="auto">
            <a:xfrm>
              <a:off x="4662" y="1216"/>
              <a:ext cx="111" cy="43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46"/>
            <p:cNvSpPr>
              <a:spLocks noChangeShapeType="1"/>
            </p:cNvSpPr>
            <p:nvPr/>
          </p:nvSpPr>
          <p:spPr bwMode="auto">
            <a:xfrm>
              <a:off x="4665" y="1224"/>
              <a:ext cx="626" cy="40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147"/>
            <p:cNvSpPr>
              <a:spLocks noChangeShapeType="1"/>
            </p:cNvSpPr>
            <p:nvPr/>
          </p:nvSpPr>
          <p:spPr bwMode="auto">
            <a:xfrm flipH="1">
              <a:off x="4090" y="1224"/>
              <a:ext cx="572" cy="39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07" name="Group 157"/>
            <p:cNvGrpSpPr/>
            <p:nvPr/>
          </p:nvGrpSpPr>
          <p:grpSpPr bwMode="auto">
            <a:xfrm>
              <a:off x="1168" y="1244"/>
              <a:ext cx="268" cy="101"/>
              <a:chOff x="2875" y="1143"/>
              <a:chExt cx="330" cy="132"/>
            </a:xfrm>
          </p:grpSpPr>
          <p:sp>
            <p:nvSpPr>
              <p:cNvPr id="133" name="Line 15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4" name="Line 15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16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16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8" name="Group 162"/>
            <p:cNvGrpSpPr/>
            <p:nvPr/>
          </p:nvGrpSpPr>
          <p:grpSpPr bwMode="auto">
            <a:xfrm>
              <a:off x="2507" y="1244"/>
              <a:ext cx="268" cy="101"/>
              <a:chOff x="2875" y="1143"/>
              <a:chExt cx="330" cy="132"/>
            </a:xfrm>
          </p:grpSpPr>
          <p:sp>
            <p:nvSpPr>
              <p:cNvPr id="129" name="Line 16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Line 16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Line 16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2" name="Line 16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9" name="Group 167"/>
            <p:cNvGrpSpPr/>
            <p:nvPr/>
          </p:nvGrpSpPr>
          <p:grpSpPr bwMode="auto">
            <a:xfrm>
              <a:off x="2936" y="1244"/>
              <a:ext cx="268" cy="101"/>
              <a:chOff x="2875" y="1143"/>
              <a:chExt cx="330" cy="132"/>
            </a:xfrm>
          </p:grpSpPr>
          <p:sp>
            <p:nvSpPr>
              <p:cNvPr id="125" name="Line 16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16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17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17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0" name="Group 172"/>
            <p:cNvGrpSpPr/>
            <p:nvPr/>
          </p:nvGrpSpPr>
          <p:grpSpPr bwMode="auto">
            <a:xfrm>
              <a:off x="3363" y="1244"/>
              <a:ext cx="268" cy="101"/>
              <a:chOff x="2875" y="1143"/>
              <a:chExt cx="330" cy="132"/>
            </a:xfrm>
          </p:grpSpPr>
          <p:sp>
            <p:nvSpPr>
              <p:cNvPr id="121" name="Line 17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17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17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17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1" name="Group 177"/>
            <p:cNvGrpSpPr/>
            <p:nvPr/>
          </p:nvGrpSpPr>
          <p:grpSpPr bwMode="auto">
            <a:xfrm>
              <a:off x="3792" y="1244"/>
              <a:ext cx="268" cy="101"/>
              <a:chOff x="2875" y="1143"/>
              <a:chExt cx="330" cy="132"/>
            </a:xfrm>
          </p:grpSpPr>
          <p:sp>
            <p:nvSpPr>
              <p:cNvPr id="117" name="Line 17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17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18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18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2" name="Group 182"/>
            <p:cNvGrpSpPr/>
            <p:nvPr/>
          </p:nvGrpSpPr>
          <p:grpSpPr bwMode="auto">
            <a:xfrm>
              <a:off x="4935" y="1244"/>
              <a:ext cx="268" cy="101"/>
              <a:chOff x="2875" y="1143"/>
              <a:chExt cx="330" cy="132"/>
            </a:xfrm>
          </p:grpSpPr>
          <p:sp>
            <p:nvSpPr>
              <p:cNvPr id="113" name="Line 18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18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5" name="Line 18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6" name="Line 18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37" name="Group 215"/>
          <p:cNvGrpSpPr/>
          <p:nvPr/>
        </p:nvGrpSpPr>
        <p:grpSpPr bwMode="auto">
          <a:xfrm>
            <a:off x="1111677" y="2617023"/>
            <a:ext cx="6939704" cy="815271"/>
            <a:chOff x="113" y="1773"/>
            <a:chExt cx="5453" cy="694"/>
          </a:xfrm>
        </p:grpSpPr>
        <p:sp>
          <p:nvSpPr>
            <p:cNvPr id="139" name="Text Box 119"/>
            <p:cNvSpPr txBox="1">
              <a:spLocks noChangeArrowheads="1"/>
            </p:cNvSpPr>
            <p:nvPr/>
          </p:nvSpPr>
          <p:spPr bwMode="auto">
            <a:xfrm>
              <a:off x="5150" y="2205"/>
              <a:ext cx="41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pku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0" name="Text Box 120"/>
            <p:cNvSpPr txBox="1">
              <a:spLocks noChangeArrowheads="1"/>
            </p:cNvSpPr>
            <p:nvPr/>
          </p:nvSpPr>
          <p:spPr bwMode="auto">
            <a:xfrm>
              <a:off x="3924" y="2205"/>
              <a:ext cx="764"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tsinghua</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1" name="Text Box 121"/>
            <p:cNvSpPr txBox="1">
              <a:spLocks noChangeArrowheads="1"/>
            </p:cNvSpPr>
            <p:nvPr/>
          </p:nvSpPr>
          <p:spPr bwMode="auto">
            <a:xfrm>
              <a:off x="4754"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2" name="Rectangle 128"/>
            <p:cNvSpPr>
              <a:spLocks noChangeArrowheads="1"/>
            </p:cNvSpPr>
            <p:nvPr/>
          </p:nvSpPr>
          <p:spPr bwMode="auto">
            <a:xfrm>
              <a:off x="113" y="2182"/>
              <a:ext cx="708" cy="260"/>
            </a:xfrm>
            <a:prstGeom prst="rect">
              <a:avLst/>
            </a:prstGeom>
            <a:solidFill>
              <a:srgbClr val="CC00CC"/>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三级域名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43" name="Text Box 129"/>
            <p:cNvSpPr txBox="1">
              <a:spLocks noChangeArrowheads="1"/>
            </p:cNvSpPr>
            <p:nvPr/>
          </p:nvSpPr>
          <p:spPr bwMode="auto">
            <a:xfrm>
              <a:off x="1064" y="2205"/>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mail</a:t>
              </a:r>
              <a:endParaRPr kumimoji="1"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44" name="Line 148"/>
            <p:cNvSpPr>
              <a:spLocks noChangeShapeType="1"/>
            </p:cNvSpPr>
            <p:nvPr/>
          </p:nvSpPr>
          <p:spPr bwMode="auto">
            <a:xfrm flipH="1">
              <a:off x="4386" y="1773"/>
              <a:ext cx="387" cy="42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149"/>
            <p:cNvSpPr>
              <a:spLocks noChangeShapeType="1"/>
            </p:cNvSpPr>
            <p:nvPr/>
          </p:nvSpPr>
          <p:spPr bwMode="auto">
            <a:xfrm>
              <a:off x="4792" y="1784"/>
              <a:ext cx="548" cy="43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Text Box 150"/>
            <p:cNvSpPr txBox="1">
              <a:spLocks noChangeArrowheads="1"/>
            </p:cNvSpPr>
            <p:nvPr/>
          </p:nvSpPr>
          <p:spPr bwMode="auto">
            <a:xfrm>
              <a:off x="1826" y="2205"/>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rgbClr val="0000CC"/>
                  </a:solidFill>
                  <a:latin typeface="微软雅黑" panose="020B0503020204020204" pitchFamily="34" charset="-122"/>
                  <a:ea typeface="微软雅黑" panose="020B0503020204020204" pitchFamily="34" charset="-122"/>
                </a:rPr>
                <a:t>www</a:t>
              </a:r>
              <a:endParaRPr kumimoji="1" lang="en-US" altLang="zh-CN" sz="1400" b="1">
                <a:solidFill>
                  <a:srgbClr val="0000CC"/>
                </a:solidFill>
                <a:latin typeface="微软雅黑" panose="020B0503020204020204" pitchFamily="34" charset="-122"/>
                <a:ea typeface="微软雅黑" panose="020B0503020204020204" pitchFamily="34" charset="-122"/>
              </a:endParaRPr>
            </a:p>
          </p:txBody>
        </p:sp>
        <p:sp>
          <p:nvSpPr>
            <p:cNvPr id="147" name="Text Box 152"/>
            <p:cNvSpPr txBox="1">
              <a:spLocks noChangeArrowheads="1"/>
            </p:cNvSpPr>
            <p:nvPr/>
          </p:nvSpPr>
          <p:spPr bwMode="auto">
            <a:xfrm>
              <a:off x="1519"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flipV="1">
              <a:off x="1274" y="1794"/>
              <a:ext cx="383" cy="4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a:off x="1657" y="1794"/>
              <a:ext cx="361" cy="47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187"/>
            <p:cNvGrpSpPr/>
            <p:nvPr/>
          </p:nvGrpSpPr>
          <p:grpSpPr bwMode="auto">
            <a:xfrm>
              <a:off x="2613" y="1797"/>
              <a:ext cx="269" cy="101"/>
              <a:chOff x="2875" y="1143"/>
              <a:chExt cx="330" cy="132"/>
            </a:xfrm>
          </p:grpSpPr>
          <p:sp>
            <p:nvSpPr>
              <p:cNvPr id="166" name="Line 18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7" name="Line 18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8" name="Line 19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19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1" name="Group 192"/>
            <p:cNvGrpSpPr/>
            <p:nvPr/>
          </p:nvGrpSpPr>
          <p:grpSpPr bwMode="auto">
            <a:xfrm>
              <a:off x="5131" y="1797"/>
              <a:ext cx="268" cy="101"/>
              <a:chOff x="2875" y="1143"/>
              <a:chExt cx="330" cy="132"/>
            </a:xfrm>
          </p:grpSpPr>
          <p:sp>
            <p:nvSpPr>
              <p:cNvPr id="162" name="Line 19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19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Line 19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5" name="Line 19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2" name="Group 197"/>
            <p:cNvGrpSpPr/>
            <p:nvPr/>
          </p:nvGrpSpPr>
          <p:grpSpPr bwMode="auto">
            <a:xfrm>
              <a:off x="2239" y="1797"/>
              <a:ext cx="268" cy="101"/>
              <a:chOff x="2875" y="1143"/>
              <a:chExt cx="330" cy="132"/>
            </a:xfrm>
          </p:grpSpPr>
          <p:sp>
            <p:nvSpPr>
              <p:cNvPr id="158" name="Line 19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19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0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0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3" name="Group 202"/>
            <p:cNvGrpSpPr/>
            <p:nvPr/>
          </p:nvGrpSpPr>
          <p:grpSpPr bwMode="auto">
            <a:xfrm>
              <a:off x="3953" y="1797"/>
              <a:ext cx="268" cy="101"/>
              <a:chOff x="2875" y="1143"/>
              <a:chExt cx="330" cy="132"/>
            </a:xfrm>
          </p:grpSpPr>
          <p:sp>
            <p:nvSpPr>
              <p:cNvPr id="154" name="Line 20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0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0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0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70" name="Group 213"/>
          <p:cNvGrpSpPr/>
          <p:nvPr/>
        </p:nvGrpSpPr>
        <p:grpSpPr bwMode="auto">
          <a:xfrm>
            <a:off x="1111677" y="1364746"/>
            <a:ext cx="6902798" cy="682525"/>
            <a:chOff x="113" y="707"/>
            <a:chExt cx="5424" cy="581"/>
          </a:xfrm>
        </p:grpSpPr>
        <p:sp>
          <p:nvSpPr>
            <p:cNvPr id="172" name="Text Box 106"/>
            <p:cNvSpPr txBox="1">
              <a:spLocks noChangeArrowheads="1"/>
            </p:cNvSpPr>
            <p:nvPr/>
          </p:nvSpPr>
          <p:spPr bwMode="auto">
            <a:xfrm>
              <a:off x="1975" y="1026"/>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com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3" name="Text Box 107"/>
            <p:cNvSpPr txBox="1">
              <a:spLocks noChangeArrowheads="1"/>
            </p:cNvSpPr>
            <p:nvPr/>
          </p:nvSpPr>
          <p:spPr bwMode="auto">
            <a:xfrm>
              <a:off x="2472" y="1026"/>
              <a:ext cx="37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net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4" name="Text Box 108"/>
            <p:cNvSpPr txBox="1">
              <a:spLocks noChangeArrowheads="1"/>
            </p:cNvSpPr>
            <p:nvPr/>
          </p:nvSpPr>
          <p:spPr bwMode="auto">
            <a:xfrm>
              <a:off x="2900" y="1026"/>
              <a:ext cx="39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org</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5" name="Text Box 109"/>
            <p:cNvSpPr txBox="1">
              <a:spLocks noChangeArrowheads="1"/>
            </p:cNvSpPr>
            <p:nvPr/>
          </p:nvSpPr>
          <p:spPr bwMode="auto">
            <a:xfrm>
              <a:off x="3329" y="1026"/>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6" name="Text Box 110"/>
            <p:cNvSpPr txBox="1">
              <a:spLocks noChangeArrowheads="1"/>
            </p:cNvSpPr>
            <p:nvPr/>
          </p:nvSpPr>
          <p:spPr bwMode="auto">
            <a:xfrm>
              <a:off x="3758" y="1026"/>
              <a:ext cx="41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gov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7" name="Text Box 111"/>
            <p:cNvSpPr txBox="1">
              <a:spLocks noChangeArrowheads="1"/>
            </p:cNvSpPr>
            <p:nvPr/>
          </p:nvSpPr>
          <p:spPr bwMode="auto">
            <a:xfrm>
              <a:off x="1114" y="1026"/>
              <a:ext cx="46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aero</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8" name="Text Box 112"/>
            <p:cNvSpPr txBox="1">
              <a:spLocks noChangeArrowheads="1"/>
            </p:cNvSpPr>
            <p:nvPr/>
          </p:nvSpPr>
          <p:spPr bwMode="auto">
            <a:xfrm>
              <a:off x="4489" y="1026"/>
              <a:ext cx="31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cn</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9" name="Text Box 113"/>
            <p:cNvSpPr txBox="1">
              <a:spLocks noChangeArrowheads="1"/>
            </p:cNvSpPr>
            <p:nvPr/>
          </p:nvSpPr>
          <p:spPr bwMode="auto">
            <a:xfrm>
              <a:off x="4918" y="1026"/>
              <a:ext cx="32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uk</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80" name="Text Box 114"/>
            <p:cNvSpPr txBox="1">
              <a:spLocks noChangeArrowheads="1"/>
            </p:cNvSpPr>
            <p:nvPr/>
          </p:nvSpPr>
          <p:spPr bwMode="auto">
            <a:xfrm>
              <a:off x="5256" y="987"/>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81" name="Rectangle 126"/>
            <p:cNvSpPr>
              <a:spLocks noChangeArrowheads="1"/>
            </p:cNvSpPr>
            <p:nvPr/>
          </p:nvSpPr>
          <p:spPr bwMode="auto">
            <a:xfrm>
              <a:off x="113" y="1005"/>
              <a:ext cx="708" cy="260"/>
            </a:xfrm>
            <a:prstGeom prst="rect">
              <a:avLst/>
            </a:prstGeom>
            <a:solidFill>
              <a:srgbClr val="0000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顶级域名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2" name="Line 133"/>
            <p:cNvSpPr>
              <a:spLocks noChangeShapeType="1"/>
            </p:cNvSpPr>
            <p:nvPr/>
          </p:nvSpPr>
          <p:spPr bwMode="auto">
            <a:xfrm flipH="1">
              <a:off x="2201" y="712"/>
              <a:ext cx="1068" cy="38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4"/>
            <p:cNvSpPr>
              <a:spLocks noChangeShapeType="1"/>
            </p:cNvSpPr>
            <p:nvPr/>
          </p:nvSpPr>
          <p:spPr bwMode="auto">
            <a:xfrm flipH="1">
              <a:off x="2681" y="730"/>
              <a:ext cx="575" cy="35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Line 135"/>
            <p:cNvSpPr>
              <a:spLocks noChangeShapeType="1"/>
            </p:cNvSpPr>
            <p:nvPr/>
          </p:nvSpPr>
          <p:spPr bwMode="auto">
            <a:xfrm flipH="1">
              <a:off x="3134" y="730"/>
              <a:ext cx="131" cy="344"/>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5" name="Line 136"/>
            <p:cNvSpPr>
              <a:spLocks noChangeShapeType="1"/>
            </p:cNvSpPr>
            <p:nvPr/>
          </p:nvSpPr>
          <p:spPr bwMode="auto">
            <a:xfrm>
              <a:off x="3277" y="723"/>
              <a:ext cx="249" cy="365"/>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137"/>
            <p:cNvSpPr>
              <a:spLocks noChangeShapeType="1"/>
            </p:cNvSpPr>
            <p:nvPr/>
          </p:nvSpPr>
          <p:spPr bwMode="auto">
            <a:xfrm>
              <a:off x="3275" y="715"/>
              <a:ext cx="681" cy="375"/>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138"/>
            <p:cNvSpPr>
              <a:spLocks noChangeShapeType="1"/>
            </p:cNvSpPr>
            <p:nvPr/>
          </p:nvSpPr>
          <p:spPr bwMode="auto">
            <a:xfrm>
              <a:off x="3288" y="708"/>
              <a:ext cx="1353" cy="377"/>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139"/>
            <p:cNvSpPr>
              <a:spLocks noChangeShapeType="1"/>
            </p:cNvSpPr>
            <p:nvPr/>
          </p:nvSpPr>
          <p:spPr bwMode="auto">
            <a:xfrm flipH="1">
              <a:off x="1358" y="707"/>
              <a:ext cx="1933" cy="37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140"/>
            <p:cNvSpPr>
              <a:spLocks noChangeShapeType="1"/>
            </p:cNvSpPr>
            <p:nvPr/>
          </p:nvSpPr>
          <p:spPr bwMode="auto">
            <a:xfrm>
              <a:off x="3250" y="709"/>
              <a:ext cx="1777" cy="35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Text Box 141"/>
            <p:cNvSpPr txBox="1">
              <a:spLocks noChangeArrowheads="1"/>
            </p:cNvSpPr>
            <p:nvPr/>
          </p:nvSpPr>
          <p:spPr bwMode="auto">
            <a:xfrm>
              <a:off x="1647" y="98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91" name="Text Box 207"/>
            <p:cNvSpPr txBox="1">
              <a:spLocks noChangeArrowheads="1"/>
            </p:cNvSpPr>
            <p:nvPr/>
          </p:nvSpPr>
          <p:spPr bwMode="auto">
            <a:xfrm>
              <a:off x="4147" y="985"/>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grpSp>
      <p:sp>
        <p:nvSpPr>
          <p:cNvPr id="2" name="矩形 1"/>
          <p:cNvSpPr/>
          <p:nvPr/>
        </p:nvSpPr>
        <p:spPr>
          <a:xfrm>
            <a:off x="1447060" y="4218679"/>
            <a:ext cx="6702641" cy="369332"/>
          </a:xfrm>
          <a:prstGeom prst="rect">
            <a:avLst/>
          </a:prstGeom>
        </p:spPr>
        <p:txBody>
          <a:bodyPr wrap="square">
            <a:spAutoFit/>
          </a:bodyPr>
          <a:lstStyle/>
          <a:p>
            <a:r>
              <a:rPr lang="zh-CN" altLang="en-US" b="1" dirty="0">
                <a:latin typeface="微软雅黑" panose="020B0503020204020204" pitchFamily="34" charset="-122"/>
                <a:ea typeface="微软雅黑" panose="020B0503020204020204" pitchFamily="34" charset="-122"/>
              </a:rPr>
              <a:t>域名树的</a:t>
            </a:r>
            <a:r>
              <a:rPr lang="zh-CN" altLang="en-US" b="1" dirty="0">
                <a:solidFill>
                  <a:srgbClr val="C00000"/>
                </a:solidFill>
                <a:latin typeface="微软雅黑" panose="020B0503020204020204" pitchFamily="34" charset="-122"/>
                <a:ea typeface="微软雅黑" panose="020B0503020204020204" pitchFamily="34" charset="-122"/>
              </a:rPr>
              <a:t>树叶</a:t>
            </a:r>
            <a:r>
              <a:rPr lang="zh-CN" altLang="en-US" b="1" dirty="0" smtClean="0">
                <a:latin typeface="微软雅黑" panose="020B0503020204020204" pitchFamily="34" charset="-122"/>
                <a:ea typeface="微软雅黑" panose="020B0503020204020204" pitchFamily="34" charset="-122"/>
              </a:rPr>
              <a:t>就是计算机</a:t>
            </a:r>
            <a:r>
              <a:rPr lang="zh-CN" altLang="en-US" b="1" dirty="0">
                <a:latin typeface="微软雅黑" panose="020B0503020204020204" pitchFamily="34" charset="-122"/>
                <a:ea typeface="微软雅黑" panose="020B0503020204020204" pitchFamily="34" charset="-122"/>
              </a:rPr>
              <a:t>的名字，它不能再继续往下划分子域了。</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wipe(up)">
                                      <p:cBhvr>
                                        <p:cTn id="7" dur="10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up)">
                                      <p:cBhvr>
                                        <p:cTn id="12" dur="1000"/>
                                        <p:tgtEl>
                                          <p:spTgt spid="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wipe(up)">
                                      <p:cBhvr>
                                        <p:cTn id="17" dur="1000"/>
                                        <p:tgtEl>
                                          <p:spTgt spid="1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wipe(up)">
                                      <p:cBhvr>
                                        <p:cTn id="22" dur="1000"/>
                                        <p:tgtEl>
                                          <p:spTgt spid="82"/>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互联网的域名</a:t>
            </a:r>
            <a:r>
              <a:rPr lang="zh-CN" altLang="en-US" sz="2000" b="1" dirty="0" smtClean="0">
                <a:solidFill>
                  <a:schemeClr val="bg1"/>
                </a:solidFill>
                <a:latin typeface="微软雅黑" panose="020B0503020204020204" pitchFamily="34" charset="-122"/>
                <a:ea typeface="微软雅黑" panose="020B0503020204020204" pitchFamily="34" charset="-122"/>
              </a:rPr>
              <a:t>空间</a:t>
            </a:r>
            <a:r>
              <a:rPr lang="zh-CN" altLang="en-US" sz="2000" b="1" dirty="0">
                <a:solidFill>
                  <a:schemeClr val="bg1"/>
                </a:solidFill>
                <a:latin typeface="微软雅黑" panose="020B0503020204020204" pitchFamily="34" charset="-122"/>
                <a:ea typeface="微软雅黑" panose="020B0503020204020204" pitchFamily="34" charset="-122"/>
              </a:rPr>
              <a:t>结构</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1016382" y="1275608"/>
            <a:ext cx="7177707" cy="1041464"/>
            <a:chOff x="1202813" y="1328874"/>
            <a:chExt cx="7177707" cy="1041464"/>
          </a:xfrm>
        </p:grpSpPr>
        <p:sp>
          <p:nvSpPr>
            <p:cNvPr id="171" name="对角圆角矩形 170"/>
            <p:cNvSpPr/>
            <p:nvPr/>
          </p:nvSpPr>
          <p:spPr>
            <a:xfrm>
              <a:off x="1202813" y="1328874"/>
              <a:ext cx="7177707" cy="104146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1540275" y="1423150"/>
              <a:ext cx="6485139" cy="861774"/>
            </a:xfrm>
            <a:prstGeom prst="rect">
              <a:avLst/>
            </a:prstGeom>
          </p:spPr>
          <p:txBody>
            <a:bodyPr wrap="square">
              <a:spAutoFit/>
            </a:bodyPr>
            <a:lstStyle/>
            <a:p>
              <a:pPr>
                <a:lnSpc>
                  <a:spcPts val="3000"/>
                </a:lnSpc>
              </a:pPr>
              <a:r>
                <a:rPr lang="zh-CN" altLang="en-US" sz="2000" b="1" dirty="0" smtClean="0">
                  <a:solidFill>
                    <a:srgbClr val="FFFF00"/>
                  </a:solidFill>
                  <a:latin typeface="微软雅黑" panose="020B0503020204020204" pitchFamily="34" charset="-122"/>
                  <a:ea typeface="微软雅黑" panose="020B0503020204020204" pitchFamily="34" charset="-122"/>
                </a:rPr>
                <a:t>注意：</a:t>
              </a:r>
              <a:r>
                <a:rPr lang="zh-CN" altLang="en-US" sz="2000" b="1" dirty="0" smtClean="0">
                  <a:solidFill>
                    <a:schemeClr val="bg1"/>
                  </a:solidFill>
                  <a:latin typeface="微软雅黑" panose="020B0503020204020204" pitchFamily="34" charset="-122"/>
                  <a:ea typeface="微软雅黑" panose="020B0503020204020204" pitchFamily="34" charset="-122"/>
                </a:rPr>
                <a:t>互联网</a:t>
              </a:r>
              <a:r>
                <a:rPr lang="zh-CN" altLang="en-US" sz="2000" b="1" dirty="0">
                  <a:solidFill>
                    <a:schemeClr val="bg1"/>
                  </a:solidFill>
                  <a:latin typeface="微软雅黑" panose="020B0503020204020204" pitchFamily="34" charset="-122"/>
                  <a:ea typeface="微软雅黑" panose="020B0503020204020204" pitchFamily="34" charset="-122"/>
                </a:rPr>
                <a:t>的名字空间是按照机构的组织来划分的，与</a:t>
              </a:r>
              <a:r>
                <a:rPr lang="zh-CN" altLang="en-US" sz="2000" b="1" dirty="0" smtClean="0">
                  <a:solidFill>
                    <a:schemeClr val="bg1"/>
                  </a:solidFill>
                  <a:latin typeface="微软雅黑" panose="020B0503020204020204" pitchFamily="34" charset="-122"/>
                  <a:ea typeface="微软雅黑" panose="020B0503020204020204" pitchFamily="34" charset="-122"/>
                </a:rPr>
                <a:t>物理的网络</a:t>
              </a:r>
              <a:r>
                <a:rPr lang="zh-CN" altLang="en-US" sz="2000" b="1" dirty="0">
                  <a:solidFill>
                    <a:schemeClr val="bg1"/>
                  </a:solidFill>
                  <a:latin typeface="微软雅黑" panose="020B0503020204020204" pitchFamily="34" charset="-122"/>
                  <a:ea typeface="微软雅黑" panose="020B0503020204020204" pitchFamily="34" charset="-122"/>
                </a:rPr>
                <a:t>无关，</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IP </a:t>
              </a:r>
              <a:r>
                <a:rPr lang="zh-CN" altLang="en-US" sz="2000" b="1" dirty="0" smtClean="0">
                  <a:solidFill>
                    <a:schemeClr val="bg1"/>
                  </a:solidFill>
                  <a:latin typeface="微软雅黑" panose="020B0503020204020204" pitchFamily="34" charset="-122"/>
                  <a:ea typeface="微软雅黑" panose="020B0503020204020204" pitchFamily="34" charset="-122"/>
                </a:rPr>
                <a:t>地址</a:t>
              </a:r>
              <a:r>
                <a:rPr lang="zh-CN" altLang="en-US" sz="2000" b="1" dirty="0">
                  <a:solidFill>
                    <a:schemeClr val="bg1"/>
                  </a:solidFill>
                  <a:latin typeface="微软雅黑" panose="020B0503020204020204" pitchFamily="34" charset="-122"/>
                  <a:ea typeface="微软雅黑" panose="020B0503020204020204" pitchFamily="34" charset="-122"/>
                </a:rPr>
                <a:t>中的“子网”也没有关系。</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对角圆角矩形 8"/>
          <p:cNvSpPr/>
          <p:nvPr/>
        </p:nvSpPr>
        <p:spPr>
          <a:xfrm>
            <a:off x="1708847" y="3501223"/>
            <a:ext cx="5295641" cy="990877"/>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45143" y="61665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 name="Rectangle 6"/>
          <p:cNvSpPr>
            <a:spLocks noChangeArrowheads="1"/>
          </p:cNvSpPr>
          <p:nvPr/>
        </p:nvSpPr>
        <p:spPr bwMode="auto">
          <a:xfrm>
            <a:off x="3246959" y="574388"/>
            <a:ext cx="26500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6.1.3  </a:t>
            </a:r>
            <a:r>
              <a:rPr lang="zh-CN" altLang="en-US" sz="2400" b="1" dirty="0">
                <a:solidFill>
                  <a:schemeClr val="bg1"/>
                </a:solidFill>
                <a:latin typeface="微软雅黑" panose="020B0503020204020204" pitchFamily="34" charset="-122"/>
                <a:ea typeface="微软雅黑" panose="020B0503020204020204" pitchFamily="34" charset="-122"/>
              </a:rPr>
              <a:t>域名</a:t>
            </a:r>
            <a:r>
              <a:rPr lang="zh-CN" altLang="en-US" sz="2400" b="1" dirty="0" smtClean="0">
                <a:solidFill>
                  <a:schemeClr val="bg1"/>
                </a:solidFill>
                <a:latin typeface="微软雅黑" panose="020B0503020204020204" pitchFamily="34" charset="-122"/>
                <a:ea typeface="微软雅黑" panose="020B0503020204020204" pitchFamily="34" charset="-122"/>
              </a:rPr>
              <a:t>服务器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8" name="Rectangle 8"/>
          <p:cNvSpPr>
            <a:spLocks noChangeArrowheads="1"/>
          </p:cNvSpPr>
          <p:nvPr/>
        </p:nvSpPr>
        <p:spPr bwMode="auto">
          <a:xfrm>
            <a:off x="545143" y="1014588"/>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实现域名</a:t>
            </a:r>
            <a:r>
              <a:rPr lang="zh-CN" altLang="en-US" sz="2000" b="1" dirty="0" smtClean="0">
                <a:latin typeface="微软雅黑" panose="020B0503020204020204" pitchFamily="34" charset="-122"/>
                <a:ea typeface="微软雅黑" panose="020B0503020204020204" pitchFamily="34" charset="-122"/>
              </a:rPr>
              <a:t>系统使用</a:t>
            </a:r>
            <a:r>
              <a:rPr lang="zh-CN" altLang="en-US" sz="2000" b="1" dirty="0">
                <a:latin typeface="微软雅黑" panose="020B0503020204020204" pitchFamily="34" charset="-122"/>
                <a:ea typeface="微软雅黑" panose="020B0503020204020204" pitchFamily="34" charset="-122"/>
              </a:rPr>
              <a:t>分布在各地的</a:t>
            </a:r>
            <a:r>
              <a:rPr lang="zh-CN" altLang="en-US" sz="2000" b="1" dirty="0">
                <a:solidFill>
                  <a:srgbClr val="C00000"/>
                </a:solidFill>
                <a:latin typeface="微软雅黑" panose="020B0503020204020204" pitchFamily="34" charset="-122"/>
                <a:ea typeface="微软雅黑" panose="020B0503020204020204" pitchFamily="34" charset="-122"/>
              </a:rPr>
              <a:t>域名</a:t>
            </a:r>
            <a:r>
              <a:rPr lang="zh-CN" altLang="en-US" sz="2000" b="1" dirty="0" smtClean="0">
                <a:solidFill>
                  <a:srgbClr val="C00000"/>
                </a:solidFill>
                <a:latin typeface="微软雅黑" panose="020B0503020204020204" pitchFamily="34" charset="-122"/>
                <a:ea typeface="微软雅黑" panose="020B0503020204020204" pitchFamily="34" charset="-122"/>
              </a:rPr>
              <a:t>服务器</a:t>
            </a:r>
            <a:r>
              <a:rPr lang="zh-CN" altLang="en-US" sz="2000" b="1" dirty="0" smtClean="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a:t>
            </a:r>
            <a:r>
              <a:rPr lang="zh-CN" altLang="en-US" sz="2000" b="1" dirty="0">
                <a:latin typeface="微软雅黑" panose="020B0503020204020204" pitchFamily="34" charset="-122"/>
                <a:ea typeface="微软雅黑" panose="020B0503020204020204" pitchFamily="34" charset="-122"/>
              </a:rPr>
              <a:t>个服务器所负责管辖的（或有权限的）范围叫做</a:t>
            </a:r>
            <a:r>
              <a:rPr lang="zh-CN" altLang="en-US" sz="2000" b="1" dirty="0">
                <a:solidFill>
                  <a:srgbClr val="C00000"/>
                </a:solidFill>
                <a:latin typeface="微软雅黑" panose="020B0503020204020204" pitchFamily="34" charset="-122"/>
                <a:ea typeface="微软雅黑" panose="020B0503020204020204" pitchFamily="34" charset="-122"/>
              </a:rPr>
              <a:t>区</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(zone)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各单位根据具体情况来划分自己管辖范围的区。但在一个区中的所有节点必须是能够</a:t>
            </a:r>
            <a:r>
              <a:rPr lang="zh-CN" altLang="en-US" sz="2000" b="1" dirty="0">
                <a:solidFill>
                  <a:srgbClr val="C00000"/>
                </a:solidFill>
                <a:latin typeface="微软雅黑" panose="020B0503020204020204" pitchFamily="34" charset="-122"/>
                <a:ea typeface="微软雅黑" panose="020B0503020204020204" pitchFamily="34" charset="-122"/>
              </a:rPr>
              <a:t>连通</a:t>
            </a:r>
            <a:r>
              <a:rPr lang="zh-CN" altLang="en-US" sz="2000" b="1" dirty="0">
                <a:latin typeface="微软雅黑" panose="020B0503020204020204" pitchFamily="34" charset="-122"/>
                <a:ea typeface="微软雅黑" panose="020B0503020204020204" pitchFamily="34" charset="-122"/>
              </a:rPr>
              <a:t>的。</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每一个区设置相应的</a:t>
            </a:r>
            <a:r>
              <a:rPr lang="zh-CN" altLang="en-US" sz="2000" b="1" dirty="0">
                <a:solidFill>
                  <a:srgbClr val="C00000"/>
                </a:solidFill>
                <a:latin typeface="微软雅黑" panose="020B0503020204020204" pitchFamily="34" charset="-122"/>
                <a:ea typeface="微软雅黑" panose="020B0503020204020204" pitchFamily="34" charset="-122"/>
              </a:rPr>
              <a:t>权限域名服务器，</a:t>
            </a:r>
            <a:r>
              <a:rPr lang="zh-CN" altLang="en-US" sz="2000" b="1" dirty="0">
                <a:latin typeface="微软雅黑" panose="020B0503020204020204" pitchFamily="34" charset="-122"/>
                <a:ea typeface="微软雅黑" panose="020B0503020204020204" pitchFamily="34" charset="-122"/>
              </a:rPr>
              <a:t>用来</a:t>
            </a:r>
            <a:r>
              <a:rPr lang="zh-CN" altLang="en-US" sz="2000" b="1" dirty="0">
                <a:solidFill>
                  <a:srgbClr val="C00000"/>
                </a:solidFill>
                <a:latin typeface="微软雅黑" panose="020B0503020204020204" pitchFamily="34" charset="-122"/>
                <a:ea typeface="微软雅黑" panose="020B0503020204020204" pitchFamily="34" charset="-122"/>
              </a:rPr>
              <a:t>保存</a:t>
            </a:r>
            <a:r>
              <a:rPr lang="zh-CN" altLang="en-US" sz="2000" b="1" dirty="0">
                <a:latin typeface="微软雅黑" panose="020B0503020204020204" pitchFamily="34" charset="-122"/>
                <a:ea typeface="微软雅黑" panose="020B0503020204020204" pitchFamily="34" charset="-122"/>
              </a:rPr>
              <a:t>该区中的所有主机的域名到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地址的映射</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890947" y="3607839"/>
            <a:ext cx="5078029" cy="730777"/>
          </a:xfrm>
          <a:prstGeom prst="rect">
            <a:avLst/>
          </a:prstGeom>
        </p:spPr>
        <p:txBody>
          <a:bodyPr wrap="square">
            <a:spAutoFit/>
          </a:bodyPr>
          <a:lstStyle/>
          <a:p>
            <a:pPr>
              <a:lnSpc>
                <a:spcPts val="2600"/>
              </a:lnSpc>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DNS </a:t>
            </a:r>
            <a:r>
              <a:rPr lang="zh-CN" altLang="en-US" b="1" dirty="0">
                <a:solidFill>
                  <a:schemeClr val="bg1"/>
                </a:solidFill>
                <a:latin typeface="微软雅黑" panose="020B0503020204020204" pitchFamily="34" charset="-122"/>
                <a:ea typeface="微软雅黑" panose="020B0503020204020204" pitchFamily="34" charset="-122"/>
              </a:rPr>
              <a:t>服务器的管辖范围不是以“域”为单位，而是</a:t>
            </a:r>
            <a:r>
              <a:rPr lang="zh-CN" altLang="en-US" b="1" dirty="0">
                <a:solidFill>
                  <a:srgbClr val="FFFF00"/>
                </a:solidFill>
                <a:latin typeface="微软雅黑" panose="020B0503020204020204" pitchFamily="34" charset="-122"/>
                <a:ea typeface="微软雅黑" panose="020B0503020204020204" pitchFamily="34" charset="-122"/>
              </a:rPr>
              <a:t>以“区”为单位。 </a:t>
            </a:r>
            <a:endParaRPr lang="en-US" altLang="zh-CN" b="1" dirty="0">
              <a:solidFill>
                <a:srgbClr val="FFFF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0380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AutoShape 95"/>
          <p:cNvSpPr>
            <a:spLocks noChangeArrowheads="1"/>
          </p:cNvSpPr>
          <p:nvPr/>
        </p:nvSpPr>
        <p:spPr bwMode="auto">
          <a:xfrm>
            <a:off x="1691868" y="2263871"/>
            <a:ext cx="2761795" cy="1592984"/>
          </a:xfrm>
          <a:prstGeom prst="roundRect">
            <a:avLst>
              <a:gd name="adj" fmla="val 9319"/>
            </a:avLst>
          </a:prstGeom>
          <a:solidFill>
            <a:srgbClr val="0000FF"/>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1" name="Group 173"/>
          <p:cNvGrpSpPr/>
          <p:nvPr/>
        </p:nvGrpSpPr>
        <p:grpSpPr bwMode="auto">
          <a:xfrm>
            <a:off x="4689084" y="1219433"/>
            <a:ext cx="2775277" cy="2956210"/>
            <a:chOff x="2971" y="709"/>
            <a:chExt cx="2676" cy="3088"/>
          </a:xfrm>
        </p:grpSpPr>
        <p:sp>
          <p:nvSpPr>
            <p:cNvPr id="38" name="AutoShape 117"/>
            <p:cNvSpPr>
              <a:spLocks noChangeArrowheads="1"/>
            </p:cNvSpPr>
            <p:nvPr/>
          </p:nvSpPr>
          <p:spPr bwMode="auto">
            <a:xfrm>
              <a:off x="2971" y="1800"/>
              <a:ext cx="2665" cy="1664"/>
            </a:xfrm>
            <a:prstGeom prst="roundRect">
              <a:avLst>
                <a:gd name="adj" fmla="val 9319"/>
              </a:avLst>
            </a:prstGeom>
            <a:solidFill>
              <a:schemeClr val="accent6">
                <a:lumMod val="50000"/>
              </a:schemeClr>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2" name="Group 89"/>
            <p:cNvGrpSpPr/>
            <p:nvPr/>
          </p:nvGrpSpPr>
          <p:grpSpPr bwMode="auto">
            <a:xfrm>
              <a:off x="4196" y="1530"/>
              <a:ext cx="256" cy="98"/>
              <a:chOff x="1519" y="813"/>
              <a:chExt cx="227" cy="77"/>
            </a:xfrm>
          </p:grpSpPr>
          <p:sp>
            <p:nvSpPr>
              <p:cNvPr id="73" name="Line 90"/>
              <p:cNvSpPr>
                <a:spLocks noChangeShapeType="1"/>
              </p:cNvSpPr>
              <p:nvPr/>
            </p:nvSpPr>
            <p:spPr bwMode="auto">
              <a:xfrm>
                <a:off x="1647"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91"/>
              <p:cNvSpPr>
                <a:spLocks noChangeShapeType="1"/>
              </p:cNvSpPr>
              <p:nvPr/>
            </p:nvSpPr>
            <p:spPr bwMode="auto">
              <a:xfrm flipH="1">
                <a:off x="1519"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3" name="Text Box 112"/>
            <p:cNvSpPr txBox="1">
              <a:spLocks noChangeArrowheads="1"/>
            </p:cNvSpPr>
            <p:nvPr/>
          </p:nvSpPr>
          <p:spPr bwMode="auto">
            <a:xfrm>
              <a:off x="3892" y="3476"/>
              <a:ext cx="1061"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a:t>
              </a:r>
              <a:r>
                <a:rPr kumimoji="1" lang="zh-CN" altLang="en-US" sz="1400" b="1" dirty="0">
                  <a:latin typeface="微软雅黑" panose="020B0503020204020204" pitchFamily="34" charset="-122"/>
                  <a:ea typeface="微软雅黑" panose="020B0503020204020204" pitchFamily="34" charset="-122"/>
                </a:rPr>
                <a:t>区 </a:t>
              </a:r>
              <a:r>
                <a:rPr kumimoji="1" lang="en-US" altLang="zh-CN" sz="1400" b="1" dirty="0">
                  <a:latin typeface="微软雅黑" panose="020B0503020204020204" pitchFamily="34" charset="-122"/>
                  <a:ea typeface="微软雅黑" panose="020B0503020204020204" pitchFamily="34" charset="-122"/>
                </a:rPr>
                <a:t>&lt; </a:t>
              </a:r>
              <a:r>
                <a:rPr kumimoji="1" lang="zh-CN" altLang="en-US" sz="1400" b="1" dirty="0">
                  <a:latin typeface="微软雅黑" panose="020B0503020204020204" pitchFamily="34" charset="-122"/>
                  <a:ea typeface="微软雅黑" panose="020B0503020204020204" pitchFamily="34" charset="-122"/>
                </a:rPr>
                <a:t>域</a:t>
              </a:r>
              <a:endParaRPr kumimoji="1" lang="zh-CN" altLang="en-US" sz="1400" b="1" dirty="0">
                <a:latin typeface="微软雅黑" panose="020B0503020204020204" pitchFamily="34" charset="-122"/>
                <a:ea typeface="微软雅黑" panose="020B0503020204020204" pitchFamily="34" charset="-122"/>
              </a:endParaRPr>
            </a:p>
          </p:txBody>
        </p:sp>
        <p:sp>
          <p:nvSpPr>
            <p:cNvPr id="34" name="Line 113"/>
            <p:cNvSpPr>
              <a:spLocks noChangeShapeType="1"/>
            </p:cNvSpPr>
            <p:nvPr/>
          </p:nvSpPr>
          <p:spPr bwMode="auto">
            <a:xfrm>
              <a:off x="4328" y="1523"/>
              <a:ext cx="5" cy="50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5" name="Text Box 114"/>
            <p:cNvSpPr txBox="1">
              <a:spLocks noChangeArrowheads="1"/>
            </p:cNvSpPr>
            <p:nvPr/>
          </p:nvSpPr>
          <p:spPr bwMode="auto">
            <a:xfrm>
              <a:off x="3061" y="1806"/>
              <a:ext cx="994"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域 </a:t>
              </a: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36" name="Freeform 115"/>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 name="Freeform 116"/>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00FFCC"/>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Text Box 118"/>
            <p:cNvSpPr txBox="1">
              <a:spLocks noChangeArrowheads="1"/>
            </p:cNvSpPr>
            <p:nvPr/>
          </p:nvSpPr>
          <p:spPr bwMode="auto">
            <a:xfrm>
              <a:off x="2990" y="2131"/>
              <a:ext cx="801" cy="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0000"/>
                </a:lnSpc>
              </a:pPr>
              <a:r>
                <a:rPr kumimoji="1" lang="zh-CN" altLang="zh-CN" sz="1200" b="1" dirty="0">
                  <a:solidFill>
                    <a:schemeClr val="bg1"/>
                  </a:solidFill>
                  <a:latin typeface="微软雅黑" panose="020B0503020204020204" pitchFamily="34" charset="-122"/>
                  <a:ea typeface="微软雅黑" panose="020B0503020204020204" pitchFamily="34" charset="-122"/>
                </a:rPr>
                <a:t> 区</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lnSpc>
                  <a:spcPct val="70000"/>
                </a:lnSpc>
              </a:pP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0" name="Text Box 119"/>
            <p:cNvSpPr txBox="1">
              <a:spLocks noChangeArrowheads="1"/>
            </p:cNvSpPr>
            <p:nvPr/>
          </p:nvSpPr>
          <p:spPr bwMode="auto">
            <a:xfrm>
              <a:off x="4649" y="1950"/>
              <a:ext cx="998" cy="3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5000"/>
                </a:lnSpc>
              </a:pPr>
              <a:r>
                <a:rPr kumimoji="1" lang="zh-CN" altLang="en-US" sz="1200" b="1">
                  <a:solidFill>
                    <a:schemeClr val="bg1"/>
                  </a:solidFill>
                  <a:latin typeface="微软雅黑" panose="020B0503020204020204" pitchFamily="34" charset="-122"/>
                  <a:ea typeface="微软雅黑" panose="020B0503020204020204" pitchFamily="34" charset="-122"/>
                </a:rPr>
                <a:t>区</a:t>
              </a:r>
              <a:endParaRPr kumimoji="1" lang="zh-CN" altLang="en-US" sz="1200" b="1">
                <a:solidFill>
                  <a:schemeClr val="bg1"/>
                </a:solidFill>
                <a:latin typeface="微软雅黑" panose="020B0503020204020204" pitchFamily="34" charset="-122"/>
                <a:ea typeface="微软雅黑" panose="020B0503020204020204" pitchFamily="34" charset="-122"/>
              </a:endParaRPr>
            </a:p>
            <a:p>
              <a:pPr algn="ctr" eaLnBrk="1" hangingPunct="1">
                <a:lnSpc>
                  <a:spcPct val="75000"/>
                </a:lnSpc>
              </a:pPr>
              <a:r>
                <a:rPr kumimoji="1" lang="en-US" altLang="zh-CN" sz="1200" b="1">
                  <a:solidFill>
                    <a:schemeClr val="bg1"/>
                  </a:solidFill>
                  <a:latin typeface="微软雅黑" panose="020B0503020204020204" pitchFamily="34" charset="-122"/>
                  <a:ea typeface="微软雅黑" panose="020B0503020204020204" pitchFamily="34" charset="-122"/>
                </a:rPr>
                <a:t>y.abc.com</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41" name="Line 120"/>
            <p:cNvSpPr>
              <a:spLocks noChangeShapeType="1"/>
            </p:cNvSpPr>
            <p:nvPr/>
          </p:nvSpPr>
          <p:spPr bwMode="auto">
            <a:xfrm>
              <a:off x="3382" y="2470"/>
              <a:ext cx="156" cy="227"/>
            </a:xfrm>
            <a:prstGeom prst="line">
              <a:avLst/>
            </a:prstGeom>
            <a:noFill/>
            <a:ln w="12700">
              <a:solidFill>
                <a:srgbClr val="FFFF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Line 121"/>
            <p:cNvSpPr>
              <a:spLocks noChangeShapeType="1"/>
            </p:cNvSpPr>
            <p:nvPr/>
          </p:nvSpPr>
          <p:spPr bwMode="auto">
            <a:xfrm rot="10800000" flipV="1">
              <a:off x="5103" y="2316"/>
              <a:ext cx="124" cy="426"/>
            </a:xfrm>
            <a:prstGeom prst="line">
              <a:avLst/>
            </a:prstGeom>
            <a:noFill/>
            <a:ln w="12700">
              <a:solidFill>
                <a:srgbClr val="FFFF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122"/>
            <p:cNvSpPr>
              <a:spLocks noChangeShapeType="1"/>
            </p:cNvSpPr>
            <p:nvPr/>
          </p:nvSpPr>
          <p:spPr bwMode="auto">
            <a:xfrm flipH="1">
              <a:off x="4054" y="2124"/>
              <a:ext cx="226" cy="417"/>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123"/>
            <p:cNvSpPr>
              <a:spLocks noChangeShapeType="1"/>
            </p:cNvSpPr>
            <p:nvPr/>
          </p:nvSpPr>
          <p:spPr bwMode="auto">
            <a:xfrm>
              <a:off x="4407" y="2143"/>
              <a:ext cx="297" cy="389"/>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124"/>
            <p:cNvSpPr>
              <a:spLocks noChangeShapeType="1"/>
            </p:cNvSpPr>
            <p:nvPr/>
          </p:nvSpPr>
          <p:spPr bwMode="auto">
            <a:xfrm>
              <a:off x="4754" y="2610"/>
              <a:ext cx="319" cy="499"/>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125"/>
            <p:cNvSpPr>
              <a:spLocks noChangeShapeType="1"/>
            </p:cNvSpPr>
            <p:nvPr/>
          </p:nvSpPr>
          <p:spPr bwMode="auto">
            <a:xfrm>
              <a:off x="4068" y="2622"/>
              <a:ext cx="388" cy="44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126"/>
            <p:cNvSpPr>
              <a:spLocks noChangeShapeType="1"/>
            </p:cNvSpPr>
            <p:nvPr/>
          </p:nvSpPr>
          <p:spPr bwMode="auto">
            <a:xfrm flipH="1">
              <a:off x="4002" y="2629"/>
              <a:ext cx="11" cy="380"/>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27"/>
            <p:cNvSpPr>
              <a:spLocks noChangeShapeType="1"/>
            </p:cNvSpPr>
            <p:nvPr/>
          </p:nvSpPr>
          <p:spPr bwMode="auto">
            <a:xfrm flipH="1">
              <a:off x="3528" y="2578"/>
              <a:ext cx="470" cy="488"/>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Oval 128"/>
            <p:cNvSpPr>
              <a:spLocks noChangeArrowheads="1"/>
            </p:cNvSpPr>
            <p:nvPr/>
          </p:nvSpPr>
          <p:spPr bwMode="auto">
            <a:xfrm>
              <a:off x="4121" y="1982"/>
              <a:ext cx="410" cy="242"/>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abc</a:t>
              </a:r>
              <a:endParaRPr kumimoji="1" lang="en-US" altLang="zh-CN" sz="1200" b="1">
                <a:latin typeface="微软雅黑" panose="020B0503020204020204" pitchFamily="34" charset="-122"/>
                <a:ea typeface="微软雅黑" panose="020B0503020204020204" pitchFamily="34" charset="-122"/>
              </a:endParaRPr>
            </a:p>
          </p:txBody>
        </p:sp>
        <p:sp>
          <p:nvSpPr>
            <p:cNvPr id="50" name="Oval 129"/>
            <p:cNvSpPr>
              <a:spLocks noChangeArrowheads="1"/>
            </p:cNvSpPr>
            <p:nvPr/>
          </p:nvSpPr>
          <p:spPr bwMode="auto">
            <a:xfrm>
              <a:off x="3844" y="2481"/>
              <a:ext cx="359" cy="19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x</a:t>
              </a:r>
              <a:endParaRPr kumimoji="1" lang="en-US" altLang="zh-CN" sz="1200" b="1">
                <a:latin typeface="微软雅黑" panose="020B0503020204020204" pitchFamily="34" charset="-122"/>
                <a:ea typeface="微软雅黑" panose="020B0503020204020204" pitchFamily="34" charset="-122"/>
              </a:endParaRPr>
            </a:p>
          </p:txBody>
        </p:sp>
        <p:sp>
          <p:nvSpPr>
            <p:cNvPr id="51" name="Oval 130"/>
            <p:cNvSpPr>
              <a:spLocks noChangeArrowheads="1"/>
            </p:cNvSpPr>
            <p:nvPr/>
          </p:nvSpPr>
          <p:spPr bwMode="auto">
            <a:xfrm>
              <a:off x="3332"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u</a:t>
              </a:r>
              <a:endParaRPr kumimoji="1" lang="en-US" altLang="zh-CN" sz="1200" b="1">
                <a:latin typeface="微软雅黑" panose="020B0503020204020204" pitchFamily="34" charset="-122"/>
                <a:ea typeface="微软雅黑" panose="020B0503020204020204" pitchFamily="34" charset="-122"/>
              </a:endParaRPr>
            </a:p>
          </p:txBody>
        </p:sp>
        <p:sp>
          <p:nvSpPr>
            <p:cNvPr id="52" name="Oval 131"/>
            <p:cNvSpPr>
              <a:spLocks noChangeArrowheads="1"/>
            </p:cNvSpPr>
            <p:nvPr/>
          </p:nvSpPr>
          <p:spPr bwMode="auto">
            <a:xfrm>
              <a:off x="3810"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v</a:t>
              </a:r>
              <a:endParaRPr kumimoji="1" lang="en-US" altLang="zh-CN" sz="1200" b="1">
                <a:latin typeface="微软雅黑" panose="020B0503020204020204" pitchFamily="34" charset="-122"/>
                <a:ea typeface="微软雅黑" panose="020B0503020204020204" pitchFamily="34" charset="-122"/>
              </a:endParaRPr>
            </a:p>
          </p:txBody>
        </p:sp>
        <p:sp>
          <p:nvSpPr>
            <p:cNvPr id="53" name="Oval 132"/>
            <p:cNvSpPr>
              <a:spLocks noChangeArrowheads="1"/>
            </p:cNvSpPr>
            <p:nvPr/>
          </p:nvSpPr>
          <p:spPr bwMode="auto">
            <a:xfrm>
              <a:off x="4287"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w</a:t>
              </a:r>
              <a:endParaRPr kumimoji="1" lang="en-US" altLang="zh-CN" sz="1200" b="1">
                <a:latin typeface="微软雅黑" panose="020B0503020204020204" pitchFamily="34" charset="-122"/>
                <a:ea typeface="微软雅黑" panose="020B0503020204020204" pitchFamily="34" charset="-122"/>
              </a:endParaRPr>
            </a:p>
          </p:txBody>
        </p:sp>
        <p:sp>
          <p:nvSpPr>
            <p:cNvPr id="54" name="Oval 133"/>
            <p:cNvSpPr>
              <a:spLocks noChangeArrowheads="1"/>
            </p:cNvSpPr>
            <p:nvPr/>
          </p:nvSpPr>
          <p:spPr bwMode="auto">
            <a:xfrm>
              <a:off x="4867"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t</a:t>
              </a:r>
              <a:endParaRPr kumimoji="1" lang="en-US" altLang="zh-CN" sz="1200" b="1">
                <a:latin typeface="微软雅黑" panose="020B0503020204020204" pitchFamily="34" charset="-122"/>
                <a:ea typeface="微软雅黑" panose="020B0503020204020204" pitchFamily="34" charset="-122"/>
              </a:endParaRPr>
            </a:p>
          </p:txBody>
        </p:sp>
        <p:sp>
          <p:nvSpPr>
            <p:cNvPr id="55" name="Oval 134"/>
            <p:cNvSpPr>
              <a:spLocks noChangeArrowheads="1"/>
            </p:cNvSpPr>
            <p:nvPr/>
          </p:nvSpPr>
          <p:spPr bwMode="auto">
            <a:xfrm>
              <a:off x="4560" y="2481"/>
              <a:ext cx="359" cy="19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y</a:t>
              </a:r>
              <a:endParaRPr kumimoji="1" lang="en-US" altLang="zh-CN" sz="1200" b="1">
                <a:latin typeface="微软雅黑" panose="020B0503020204020204" pitchFamily="34" charset="-122"/>
                <a:ea typeface="微软雅黑" panose="020B0503020204020204" pitchFamily="34" charset="-122"/>
              </a:endParaRPr>
            </a:p>
          </p:txBody>
        </p:sp>
        <p:sp>
          <p:nvSpPr>
            <p:cNvPr id="56" name="AutoShape 135"/>
            <p:cNvSpPr>
              <a:spLocks noChangeArrowheads="1"/>
            </p:cNvSpPr>
            <p:nvPr/>
          </p:nvSpPr>
          <p:spPr bwMode="auto">
            <a:xfrm>
              <a:off x="4063" y="1232"/>
              <a:ext cx="522" cy="303"/>
            </a:xfrm>
            <a:prstGeom prst="roundRect">
              <a:avLst>
                <a:gd name="adj" fmla="val 34167"/>
              </a:avLst>
            </a:prstGeom>
            <a:solidFill>
              <a:srgbClr val="66FF66"/>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com</a:t>
              </a:r>
              <a:endParaRPr kumimoji="1" lang="en-US" altLang="zh-CN" sz="1200" b="1">
                <a:latin typeface="微软雅黑" panose="020B0503020204020204" pitchFamily="34" charset="-122"/>
                <a:ea typeface="微软雅黑" panose="020B0503020204020204" pitchFamily="34" charset="-122"/>
              </a:endParaRPr>
            </a:p>
          </p:txBody>
        </p:sp>
        <p:sp>
          <p:nvSpPr>
            <p:cNvPr id="57" name="AutoShape 136"/>
            <p:cNvSpPr>
              <a:spLocks noChangeArrowheads="1"/>
            </p:cNvSpPr>
            <p:nvPr/>
          </p:nvSpPr>
          <p:spPr bwMode="auto">
            <a:xfrm>
              <a:off x="4909" y="1225"/>
              <a:ext cx="522" cy="304"/>
            </a:xfrm>
            <a:prstGeom prst="roundRect">
              <a:avLst>
                <a:gd name="adj" fmla="val 34167"/>
              </a:avLst>
            </a:prstGeom>
            <a:solidFill>
              <a:srgbClr val="00B0F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edu</a:t>
              </a:r>
              <a:endParaRPr kumimoji="1" lang="en-US" altLang="zh-CN" sz="1200" b="1">
                <a:latin typeface="微软雅黑" panose="020B0503020204020204" pitchFamily="34" charset="-122"/>
                <a:ea typeface="微软雅黑" panose="020B0503020204020204" pitchFamily="34" charset="-122"/>
              </a:endParaRPr>
            </a:p>
          </p:txBody>
        </p:sp>
        <p:sp>
          <p:nvSpPr>
            <p:cNvPr id="58" name="AutoShape 137"/>
            <p:cNvSpPr>
              <a:spLocks noChangeArrowheads="1"/>
            </p:cNvSpPr>
            <p:nvPr/>
          </p:nvSpPr>
          <p:spPr bwMode="auto">
            <a:xfrm>
              <a:off x="3220" y="1225"/>
              <a:ext cx="522" cy="304"/>
            </a:xfrm>
            <a:prstGeom prst="roundRect">
              <a:avLst>
                <a:gd name="adj" fmla="val 34167"/>
              </a:avLst>
            </a:prstGeom>
            <a:solidFill>
              <a:srgbClr val="00FFCC"/>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org</a:t>
              </a:r>
              <a:endParaRPr kumimoji="1" lang="en-US" altLang="zh-CN" sz="1200" b="1">
                <a:latin typeface="微软雅黑" panose="020B0503020204020204" pitchFamily="34" charset="-122"/>
                <a:ea typeface="微软雅黑" panose="020B0503020204020204" pitchFamily="34" charset="-122"/>
              </a:endParaRPr>
            </a:p>
          </p:txBody>
        </p:sp>
        <p:grpSp>
          <p:nvGrpSpPr>
            <p:cNvPr id="59" name="Group 138"/>
            <p:cNvGrpSpPr/>
            <p:nvPr/>
          </p:nvGrpSpPr>
          <p:grpSpPr bwMode="auto">
            <a:xfrm>
              <a:off x="5042" y="1530"/>
              <a:ext cx="256" cy="98"/>
              <a:chOff x="2875" y="1143"/>
              <a:chExt cx="330" cy="132"/>
            </a:xfrm>
          </p:grpSpPr>
          <p:sp>
            <p:nvSpPr>
              <p:cNvPr id="69" name="Line 139"/>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140"/>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41"/>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142"/>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60" name="Group 143"/>
            <p:cNvGrpSpPr/>
            <p:nvPr/>
          </p:nvGrpSpPr>
          <p:grpSpPr bwMode="auto">
            <a:xfrm>
              <a:off x="3353" y="1530"/>
              <a:ext cx="256" cy="98"/>
              <a:chOff x="2875" y="1143"/>
              <a:chExt cx="330" cy="132"/>
            </a:xfrm>
          </p:grpSpPr>
          <p:sp>
            <p:nvSpPr>
              <p:cNvPr id="65" name="Line 144"/>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145"/>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146"/>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147"/>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1" name="AutoShape 148"/>
            <p:cNvSpPr>
              <a:spLocks noChangeArrowheads="1"/>
            </p:cNvSpPr>
            <p:nvPr/>
          </p:nvSpPr>
          <p:spPr bwMode="auto">
            <a:xfrm>
              <a:off x="4049" y="709"/>
              <a:ext cx="523" cy="304"/>
            </a:xfrm>
            <a:prstGeom prst="roundRect">
              <a:avLst>
                <a:gd name="adj" fmla="val 34167"/>
              </a:avLst>
            </a:prstGeom>
            <a:solidFill>
              <a:srgbClr val="FF66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根</a:t>
              </a:r>
              <a:endParaRPr kumimoji="1" lang="zh-CN" altLang="en-US" sz="1200" b="1">
                <a:latin typeface="微软雅黑" panose="020B0503020204020204" pitchFamily="34" charset="-122"/>
                <a:ea typeface="微软雅黑" panose="020B0503020204020204" pitchFamily="34" charset="-122"/>
              </a:endParaRPr>
            </a:p>
          </p:txBody>
        </p:sp>
        <p:sp>
          <p:nvSpPr>
            <p:cNvPr id="62" name="Line 149"/>
            <p:cNvSpPr>
              <a:spLocks noChangeShapeType="1"/>
            </p:cNvSpPr>
            <p:nvPr/>
          </p:nvSpPr>
          <p:spPr bwMode="auto">
            <a:xfrm>
              <a:off x="4375" y="1010"/>
              <a:ext cx="792"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Line 150"/>
            <p:cNvSpPr>
              <a:spLocks noChangeShapeType="1"/>
            </p:cNvSpPr>
            <p:nvPr/>
          </p:nvSpPr>
          <p:spPr bwMode="auto">
            <a:xfrm flipV="1">
              <a:off x="3481" y="1010"/>
              <a:ext cx="779"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151"/>
            <p:cNvSpPr>
              <a:spLocks noChangeShapeType="1"/>
            </p:cNvSpPr>
            <p:nvPr/>
          </p:nvSpPr>
          <p:spPr bwMode="auto">
            <a:xfrm>
              <a:off x="4321" y="1010"/>
              <a:ext cx="0"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68145" y="582898"/>
            <a:ext cx="2826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区的不同划分方法</a:t>
            </a:r>
            <a:r>
              <a:rPr lang="zh-CN" altLang="en-US" sz="2000" b="1" dirty="0" smtClean="0">
                <a:solidFill>
                  <a:schemeClr val="bg1"/>
                </a:solidFill>
                <a:latin typeface="微软雅黑" panose="020B0503020204020204" pitchFamily="34" charset="-122"/>
                <a:ea typeface="微软雅黑" panose="020B0503020204020204" pitchFamily="34" charset="-122"/>
              </a:rPr>
              <a:t>举例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 name="Line 92"/>
          <p:cNvSpPr>
            <a:spLocks noChangeShapeType="1"/>
          </p:cNvSpPr>
          <p:nvPr/>
        </p:nvSpPr>
        <p:spPr bwMode="auto">
          <a:xfrm>
            <a:off x="3129287" y="1989120"/>
            <a:ext cx="6223" cy="48249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Text Box 93"/>
          <p:cNvSpPr txBox="1">
            <a:spLocks noChangeArrowheads="1"/>
          </p:cNvSpPr>
          <p:nvPr/>
        </p:nvSpPr>
        <p:spPr bwMode="auto">
          <a:xfrm>
            <a:off x="1771725" y="2248647"/>
            <a:ext cx="10310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域 </a:t>
            </a: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3" name="Freeform 94"/>
          <p:cNvSpPr/>
          <p:nvPr/>
        </p:nvSpPr>
        <p:spPr bwMode="auto">
          <a:xfrm>
            <a:off x="1968773" y="2337586"/>
            <a:ext cx="2243246" cy="1384288"/>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Text Box 96"/>
          <p:cNvSpPr txBox="1">
            <a:spLocks noChangeArrowheads="1"/>
          </p:cNvSpPr>
          <p:nvPr/>
        </p:nvSpPr>
        <p:spPr bwMode="auto">
          <a:xfrm>
            <a:off x="1699665" y="2584575"/>
            <a:ext cx="830677" cy="350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0000"/>
              </a:lnSpc>
            </a:pPr>
            <a:r>
              <a:rPr kumimoji="1" lang="zh-CN" altLang="zh-CN" sz="1200" b="1" dirty="0">
                <a:solidFill>
                  <a:schemeClr val="bg1"/>
                </a:solidFill>
                <a:latin typeface="微软雅黑" panose="020B0503020204020204" pitchFamily="34" charset="-122"/>
                <a:ea typeface="微软雅黑" panose="020B0503020204020204" pitchFamily="34" charset="-122"/>
              </a:rPr>
              <a:t> 区</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lnSpc>
                <a:spcPct val="70000"/>
              </a:lnSpc>
            </a:pP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6" name="Freeform 97"/>
          <p:cNvSpPr/>
          <p:nvPr/>
        </p:nvSpPr>
        <p:spPr bwMode="auto">
          <a:xfrm>
            <a:off x="2099448" y="2900491"/>
            <a:ext cx="86079" cy="351337"/>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12700">
            <a:solidFill>
              <a:srgbClr val="FFFF00"/>
            </a:solidFill>
            <a:rou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98"/>
          <p:cNvSpPr>
            <a:spLocks noChangeShapeType="1"/>
          </p:cNvSpPr>
          <p:nvPr/>
        </p:nvSpPr>
        <p:spPr bwMode="auto">
          <a:xfrm flipH="1">
            <a:off x="2837863" y="2574044"/>
            <a:ext cx="235422" cy="39920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99"/>
          <p:cNvSpPr>
            <a:spLocks noChangeShapeType="1"/>
          </p:cNvSpPr>
          <p:nvPr/>
        </p:nvSpPr>
        <p:spPr bwMode="auto">
          <a:xfrm>
            <a:off x="3203958" y="2592234"/>
            <a:ext cx="308018" cy="372398"/>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00"/>
          <p:cNvSpPr>
            <a:spLocks noChangeShapeType="1"/>
          </p:cNvSpPr>
          <p:nvPr/>
        </p:nvSpPr>
        <p:spPr bwMode="auto">
          <a:xfrm>
            <a:off x="3564869" y="3039303"/>
            <a:ext cx="329798" cy="47770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101"/>
          <p:cNvSpPr>
            <a:spLocks noChangeShapeType="1"/>
          </p:cNvSpPr>
          <p:nvPr/>
        </p:nvSpPr>
        <p:spPr bwMode="auto">
          <a:xfrm>
            <a:off x="2853419" y="3050790"/>
            <a:ext cx="402394" cy="425051"/>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102"/>
          <p:cNvSpPr>
            <a:spLocks noChangeShapeType="1"/>
          </p:cNvSpPr>
          <p:nvPr/>
        </p:nvSpPr>
        <p:spPr bwMode="auto">
          <a:xfrm flipH="1">
            <a:off x="2783933" y="3057492"/>
            <a:ext cx="11408" cy="363782"/>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103"/>
          <p:cNvSpPr>
            <a:spLocks noChangeShapeType="1"/>
          </p:cNvSpPr>
          <p:nvPr/>
        </p:nvSpPr>
        <p:spPr bwMode="auto">
          <a:xfrm flipH="1">
            <a:off x="2292348" y="3008668"/>
            <a:ext cx="488474" cy="467173"/>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Oval 104"/>
          <p:cNvSpPr>
            <a:spLocks noChangeArrowheads="1"/>
          </p:cNvSpPr>
          <p:nvPr/>
        </p:nvSpPr>
        <p:spPr bwMode="auto">
          <a:xfrm>
            <a:off x="2908385" y="2438104"/>
            <a:ext cx="424174" cy="231672"/>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abc</a:t>
            </a:r>
            <a:endParaRPr kumimoji="1" lang="en-US" altLang="zh-CN" sz="1200" b="1">
              <a:latin typeface="微软雅黑" panose="020B0503020204020204" pitchFamily="34" charset="-122"/>
              <a:ea typeface="微软雅黑" panose="020B0503020204020204" pitchFamily="34" charset="-122"/>
            </a:endParaRPr>
          </a:p>
        </p:txBody>
      </p:sp>
      <p:sp>
        <p:nvSpPr>
          <p:cNvPr id="24" name="Oval 105"/>
          <p:cNvSpPr>
            <a:spLocks noChangeArrowheads="1"/>
          </p:cNvSpPr>
          <p:nvPr/>
        </p:nvSpPr>
        <p:spPr bwMode="auto">
          <a:xfrm>
            <a:off x="2620071" y="2915808"/>
            <a:ext cx="372319" cy="18476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x</a:t>
            </a:r>
            <a:endParaRPr kumimoji="1" lang="en-US" altLang="zh-CN" sz="1200" b="1">
              <a:latin typeface="微软雅黑" panose="020B0503020204020204" pitchFamily="34" charset="-122"/>
              <a:ea typeface="微软雅黑" panose="020B0503020204020204" pitchFamily="34" charset="-122"/>
            </a:endParaRPr>
          </a:p>
        </p:txBody>
      </p:sp>
      <p:sp>
        <p:nvSpPr>
          <p:cNvPr id="25" name="Oval 106"/>
          <p:cNvSpPr>
            <a:spLocks noChangeArrowheads="1"/>
          </p:cNvSpPr>
          <p:nvPr/>
        </p:nvSpPr>
        <p:spPr bwMode="auto">
          <a:xfrm>
            <a:off x="2090114" y="3424146"/>
            <a:ext cx="372318"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u</a:t>
            </a:r>
            <a:endParaRPr kumimoji="1" lang="en-US" altLang="zh-CN" sz="1200" b="1">
              <a:latin typeface="微软雅黑" panose="020B0503020204020204" pitchFamily="34" charset="-122"/>
              <a:ea typeface="微软雅黑" panose="020B0503020204020204" pitchFamily="34" charset="-122"/>
            </a:endParaRPr>
          </a:p>
        </p:txBody>
      </p:sp>
      <p:sp>
        <p:nvSpPr>
          <p:cNvPr id="26" name="Oval 107"/>
          <p:cNvSpPr>
            <a:spLocks noChangeArrowheads="1"/>
          </p:cNvSpPr>
          <p:nvPr/>
        </p:nvSpPr>
        <p:spPr bwMode="auto">
          <a:xfrm>
            <a:off x="2584810"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v</a:t>
            </a:r>
            <a:endParaRPr kumimoji="1" lang="en-US" altLang="zh-CN" sz="1200" b="1">
              <a:latin typeface="微软雅黑" panose="020B0503020204020204" pitchFamily="34" charset="-122"/>
              <a:ea typeface="微软雅黑" panose="020B0503020204020204" pitchFamily="34" charset="-122"/>
            </a:endParaRPr>
          </a:p>
        </p:txBody>
      </p:sp>
      <p:sp>
        <p:nvSpPr>
          <p:cNvPr id="27" name="Oval 108"/>
          <p:cNvSpPr>
            <a:spLocks noChangeArrowheads="1"/>
          </p:cNvSpPr>
          <p:nvPr/>
        </p:nvSpPr>
        <p:spPr bwMode="auto">
          <a:xfrm>
            <a:off x="3080544"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w</a:t>
            </a:r>
            <a:endParaRPr kumimoji="1" lang="en-US" altLang="zh-CN" sz="1200" b="1">
              <a:latin typeface="微软雅黑" panose="020B0503020204020204" pitchFamily="34" charset="-122"/>
              <a:ea typeface="微软雅黑" panose="020B0503020204020204" pitchFamily="34" charset="-122"/>
            </a:endParaRPr>
          </a:p>
        </p:txBody>
      </p:sp>
      <p:sp>
        <p:nvSpPr>
          <p:cNvPr id="28" name="Oval 109"/>
          <p:cNvSpPr>
            <a:spLocks noChangeArrowheads="1"/>
          </p:cNvSpPr>
          <p:nvPr/>
        </p:nvSpPr>
        <p:spPr bwMode="auto">
          <a:xfrm>
            <a:off x="3682061"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t</a:t>
            </a:r>
            <a:endParaRPr kumimoji="1" lang="en-US" altLang="zh-CN" sz="1200" b="1">
              <a:latin typeface="微软雅黑" panose="020B0503020204020204" pitchFamily="34" charset="-122"/>
              <a:ea typeface="微软雅黑" panose="020B0503020204020204" pitchFamily="34" charset="-122"/>
            </a:endParaRPr>
          </a:p>
        </p:txBody>
      </p:sp>
      <p:sp>
        <p:nvSpPr>
          <p:cNvPr id="29" name="Oval 110"/>
          <p:cNvSpPr>
            <a:spLocks noChangeArrowheads="1"/>
          </p:cNvSpPr>
          <p:nvPr/>
        </p:nvSpPr>
        <p:spPr bwMode="auto">
          <a:xfrm>
            <a:off x="3363672" y="2915808"/>
            <a:ext cx="372318" cy="18476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y</a:t>
            </a:r>
            <a:endParaRPr kumimoji="1" lang="en-US" altLang="zh-CN" sz="1200" b="1">
              <a:latin typeface="微软雅黑" panose="020B0503020204020204" pitchFamily="34" charset="-122"/>
              <a:ea typeface="微软雅黑" panose="020B0503020204020204" pitchFamily="34" charset="-122"/>
            </a:endParaRPr>
          </a:p>
        </p:txBody>
      </p:sp>
      <p:sp>
        <p:nvSpPr>
          <p:cNvPr id="30" name="Text Box 111"/>
          <p:cNvSpPr txBox="1">
            <a:spLocks noChangeArrowheads="1"/>
          </p:cNvSpPr>
          <p:nvPr/>
        </p:nvSpPr>
        <p:spPr bwMode="auto">
          <a:xfrm>
            <a:off x="2584029" y="3868344"/>
            <a:ext cx="1083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a:t>
            </a:r>
            <a:r>
              <a:rPr kumimoji="1" lang="zh-CN" altLang="en-US" sz="1400" b="1" dirty="0">
                <a:latin typeface="微软雅黑" panose="020B0503020204020204" pitchFamily="34" charset="-122"/>
                <a:ea typeface="微软雅黑" panose="020B0503020204020204" pitchFamily="34" charset="-122"/>
              </a:rPr>
              <a:t>区 </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域</a:t>
            </a:r>
            <a:endParaRPr kumimoji="1" lang="zh-CN" altLang="en-US" sz="1400" b="1" dirty="0">
              <a:latin typeface="微软雅黑" panose="020B0503020204020204" pitchFamily="34" charset="-122"/>
              <a:ea typeface="微软雅黑" panose="020B0503020204020204" pitchFamily="34" charset="-122"/>
            </a:endParaRPr>
          </a:p>
        </p:txBody>
      </p:sp>
      <p:sp>
        <p:nvSpPr>
          <p:cNvPr id="75" name="AutoShape 152"/>
          <p:cNvSpPr>
            <a:spLocks noChangeArrowheads="1"/>
          </p:cNvSpPr>
          <p:nvPr/>
        </p:nvSpPr>
        <p:spPr bwMode="auto">
          <a:xfrm>
            <a:off x="2858604" y="1720113"/>
            <a:ext cx="542403" cy="290069"/>
          </a:xfrm>
          <a:prstGeom prst="roundRect">
            <a:avLst>
              <a:gd name="adj" fmla="val 34167"/>
            </a:avLst>
          </a:prstGeom>
          <a:solidFill>
            <a:srgbClr val="66FF66"/>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com</a:t>
            </a:r>
            <a:endParaRPr kumimoji="1" lang="en-US" altLang="zh-CN" sz="1200" b="1">
              <a:latin typeface="微软雅黑" panose="020B0503020204020204" pitchFamily="34" charset="-122"/>
              <a:ea typeface="微软雅黑" panose="020B0503020204020204" pitchFamily="34" charset="-122"/>
            </a:endParaRPr>
          </a:p>
        </p:txBody>
      </p:sp>
      <p:sp>
        <p:nvSpPr>
          <p:cNvPr id="76" name="AutoShape 153"/>
          <p:cNvSpPr>
            <a:spLocks noChangeArrowheads="1"/>
          </p:cNvSpPr>
          <p:nvPr/>
        </p:nvSpPr>
        <p:spPr bwMode="auto">
          <a:xfrm>
            <a:off x="3737028" y="1713411"/>
            <a:ext cx="541366" cy="291026"/>
          </a:xfrm>
          <a:prstGeom prst="roundRect">
            <a:avLst>
              <a:gd name="adj" fmla="val 34167"/>
            </a:avLst>
          </a:prstGeom>
          <a:solidFill>
            <a:srgbClr val="00B0F0"/>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edu</a:t>
            </a:r>
            <a:endParaRPr kumimoji="1" lang="en-US" altLang="zh-CN" sz="1200" b="1">
              <a:latin typeface="微软雅黑" panose="020B0503020204020204" pitchFamily="34" charset="-122"/>
              <a:ea typeface="微软雅黑" panose="020B0503020204020204" pitchFamily="34" charset="-122"/>
            </a:endParaRPr>
          </a:p>
        </p:txBody>
      </p:sp>
      <p:sp>
        <p:nvSpPr>
          <p:cNvPr id="77" name="AutoShape 154"/>
          <p:cNvSpPr>
            <a:spLocks noChangeArrowheads="1"/>
          </p:cNvSpPr>
          <p:nvPr/>
        </p:nvSpPr>
        <p:spPr bwMode="auto">
          <a:xfrm>
            <a:off x="1984330" y="1713411"/>
            <a:ext cx="542403" cy="291026"/>
          </a:xfrm>
          <a:prstGeom prst="roundRect">
            <a:avLst>
              <a:gd name="adj" fmla="val 34167"/>
            </a:avLst>
          </a:prstGeom>
          <a:solidFill>
            <a:srgbClr val="00FFCC"/>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org</a:t>
            </a:r>
            <a:endParaRPr kumimoji="1" lang="en-US" altLang="zh-CN" sz="1200" b="1">
              <a:latin typeface="微软雅黑" panose="020B0503020204020204" pitchFamily="34" charset="-122"/>
              <a:ea typeface="微软雅黑" panose="020B0503020204020204" pitchFamily="34" charset="-122"/>
            </a:endParaRPr>
          </a:p>
        </p:txBody>
      </p:sp>
      <p:grpSp>
        <p:nvGrpSpPr>
          <p:cNvPr id="78" name="Group 155"/>
          <p:cNvGrpSpPr/>
          <p:nvPr/>
        </p:nvGrpSpPr>
        <p:grpSpPr bwMode="auto">
          <a:xfrm>
            <a:off x="3874961" y="2005395"/>
            <a:ext cx="265498" cy="93818"/>
            <a:chOff x="2875" y="1143"/>
            <a:chExt cx="330" cy="132"/>
          </a:xfrm>
        </p:grpSpPr>
        <p:sp>
          <p:nvSpPr>
            <p:cNvPr id="79" name="Line 156"/>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Line 157"/>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1" name="Line 158"/>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Line 159"/>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83" name="Group 160"/>
          <p:cNvGrpSpPr/>
          <p:nvPr/>
        </p:nvGrpSpPr>
        <p:grpSpPr bwMode="auto">
          <a:xfrm>
            <a:off x="2123301" y="2005395"/>
            <a:ext cx="265498" cy="93818"/>
            <a:chOff x="2875" y="1143"/>
            <a:chExt cx="330" cy="132"/>
          </a:xfrm>
        </p:grpSpPr>
        <p:sp>
          <p:nvSpPr>
            <p:cNvPr id="84" name="Line 161"/>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62"/>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Line 163"/>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7" name="Line 164"/>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88" name="AutoShape 165"/>
          <p:cNvSpPr>
            <a:spLocks noChangeArrowheads="1"/>
          </p:cNvSpPr>
          <p:nvPr/>
        </p:nvSpPr>
        <p:spPr bwMode="auto">
          <a:xfrm>
            <a:off x="2845123" y="1219433"/>
            <a:ext cx="541366" cy="291026"/>
          </a:xfrm>
          <a:prstGeom prst="roundRect">
            <a:avLst>
              <a:gd name="adj" fmla="val 34167"/>
            </a:avLst>
          </a:prstGeom>
          <a:solidFill>
            <a:srgbClr val="FF66FF"/>
          </a:solidFill>
          <a:ln>
            <a:noFill/>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根</a:t>
            </a:r>
            <a:endParaRPr kumimoji="1" lang="zh-CN" altLang="en-US" sz="1200" b="1">
              <a:latin typeface="微软雅黑" panose="020B0503020204020204" pitchFamily="34" charset="-122"/>
              <a:ea typeface="微软雅黑" panose="020B0503020204020204" pitchFamily="34" charset="-122"/>
            </a:endParaRPr>
          </a:p>
        </p:txBody>
      </p:sp>
      <p:sp>
        <p:nvSpPr>
          <p:cNvPr id="89" name="Line 166"/>
          <p:cNvSpPr>
            <a:spLocks noChangeShapeType="1"/>
          </p:cNvSpPr>
          <p:nvPr/>
        </p:nvSpPr>
        <p:spPr bwMode="auto">
          <a:xfrm>
            <a:off x="3183216" y="1507587"/>
            <a:ext cx="821382"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167"/>
          <p:cNvSpPr>
            <a:spLocks noChangeShapeType="1"/>
          </p:cNvSpPr>
          <p:nvPr/>
        </p:nvSpPr>
        <p:spPr bwMode="auto">
          <a:xfrm flipV="1">
            <a:off x="2256049" y="1507587"/>
            <a:ext cx="807900"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168"/>
          <p:cNvSpPr>
            <a:spLocks noChangeShapeType="1"/>
          </p:cNvSpPr>
          <p:nvPr/>
        </p:nvSpPr>
        <p:spPr bwMode="auto">
          <a:xfrm>
            <a:off x="3127213" y="1507587"/>
            <a:ext cx="0"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92" name="Group 169"/>
          <p:cNvGrpSpPr/>
          <p:nvPr/>
        </p:nvGrpSpPr>
        <p:grpSpPr bwMode="auto">
          <a:xfrm>
            <a:off x="2993427" y="2005395"/>
            <a:ext cx="265498" cy="93818"/>
            <a:chOff x="1519" y="813"/>
            <a:chExt cx="227" cy="77"/>
          </a:xfrm>
        </p:grpSpPr>
        <p:sp>
          <p:nvSpPr>
            <p:cNvPr id="93" name="Line 170"/>
            <p:cNvSpPr>
              <a:spLocks noChangeShapeType="1"/>
            </p:cNvSpPr>
            <p:nvPr/>
          </p:nvSpPr>
          <p:spPr bwMode="auto">
            <a:xfrm>
              <a:off x="1647"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171"/>
            <p:cNvSpPr>
              <a:spLocks noChangeShapeType="1"/>
            </p:cNvSpPr>
            <p:nvPr/>
          </p:nvSpPr>
          <p:spPr bwMode="auto">
            <a:xfrm flipH="1">
              <a:off x="1519"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up)">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圆角矩形 188"/>
          <p:cNvSpPr/>
          <p:nvPr/>
        </p:nvSpPr>
        <p:spPr>
          <a:xfrm>
            <a:off x="556963" y="1003805"/>
            <a:ext cx="8048776" cy="30799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6" name="Rectangle 6"/>
          <p:cNvSpPr>
            <a:spLocks noChangeArrowheads="1"/>
          </p:cNvSpPr>
          <p:nvPr/>
        </p:nvSpPr>
        <p:spPr bwMode="auto">
          <a:xfrm>
            <a:off x="2803462" y="582898"/>
            <a:ext cx="35557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树状结构的 </a:t>
            </a:r>
            <a:r>
              <a:rPr lang="en-US" altLang="zh-CN" sz="2000" b="1" dirty="0">
                <a:solidFill>
                  <a:schemeClr val="bg1"/>
                </a:solidFill>
                <a:latin typeface="微软雅黑" panose="020B0503020204020204" pitchFamily="34" charset="-122"/>
                <a:ea typeface="微软雅黑" panose="020B0503020204020204" pitchFamily="34" charset="-122"/>
              </a:rPr>
              <a:t>DNS </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1124956" y="1129683"/>
            <a:ext cx="6831277" cy="2755833"/>
            <a:chOff x="128464" y="1556792"/>
            <a:chExt cx="9873325" cy="3983038"/>
          </a:xfrm>
        </p:grpSpPr>
        <p:sp>
          <p:nvSpPr>
            <p:cNvPr id="276" name="AutoShape 31"/>
            <p:cNvSpPr>
              <a:spLocks noChangeArrowheads="1"/>
            </p:cNvSpPr>
            <p:nvPr/>
          </p:nvSpPr>
          <p:spPr bwMode="auto">
            <a:xfrm>
              <a:off x="4154498" y="3455442"/>
              <a:ext cx="2858294" cy="2084388"/>
            </a:xfrm>
            <a:prstGeom prst="roundRect">
              <a:avLst>
                <a:gd name="adj" fmla="val 16667"/>
              </a:avLst>
            </a:prstGeom>
            <a:solidFill>
              <a:srgbClr val="00FFCC"/>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7" name="Group 5"/>
            <p:cNvGrpSpPr/>
            <p:nvPr/>
          </p:nvGrpSpPr>
          <p:grpSpPr bwMode="auto">
            <a:xfrm>
              <a:off x="3540531" y="2136615"/>
              <a:ext cx="4677833" cy="415541"/>
              <a:chOff x="2294" y="553"/>
              <a:chExt cx="2450" cy="337"/>
            </a:xfrm>
          </p:grpSpPr>
          <p:sp>
            <p:nvSpPr>
              <p:cNvPr id="278" name="Line 6"/>
              <p:cNvSpPr>
                <a:spLocks noChangeShapeType="1"/>
              </p:cNvSpPr>
              <p:nvPr/>
            </p:nvSpPr>
            <p:spPr bwMode="auto">
              <a:xfrm flipV="1">
                <a:off x="2294" y="553"/>
                <a:ext cx="1074"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7"/>
              <p:cNvSpPr>
                <a:spLocks noChangeShapeType="1"/>
              </p:cNvSpPr>
              <p:nvPr/>
            </p:nvSpPr>
            <p:spPr bwMode="auto">
              <a:xfrm>
                <a:off x="3474" y="553"/>
                <a:ext cx="0"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8"/>
              <p:cNvSpPr>
                <a:spLocks noChangeShapeType="1"/>
              </p:cNvSpPr>
              <p:nvPr/>
            </p:nvSpPr>
            <p:spPr bwMode="auto">
              <a:xfrm flipH="1" flipV="1">
                <a:off x="3595" y="553"/>
                <a:ext cx="1149"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81" name="Rectangle 9"/>
            <p:cNvSpPr>
              <a:spLocks noChangeArrowheads="1"/>
            </p:cNvSpPr>
            <p:nvPr/>
          </p:nvSpPr>
          <p:spPr bwMode="auto">
            <a:xfrm>
              <a:off x="4847573" y="1639342"/>
              <a:ext cx="1905529" cy="496888"/>
            </a:xfrm>
            <a:prstGeom prst="rect">
              <a:avLst/>
            </a:prstGeom>
            <a:solidFill>
              <a:srgbClr val="CC00CC"/>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根域名服务器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282" name="Rectangle 10"/>
            <p:cNvSpPr>
              <a:spLocks noChangeArrowheads="1"/>
            </p:cNvSpPr>
            <p:nvPr/>
          </p:nvSpPr>
          <p:spPr bwMode="auto">
            <a:xfrm>
              <a:off x="2413379" y="2552157"/>
              <a:ext cx="2096082" cy="496887"/>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en-US" altLang="zh-CN" sz="1400" b="1">
                  <a:solidFill>
                    <a:schemeClr val="bg1"/>
                  </a:solidFill>
                  <a:latin typeface="微软雅黑" panose="020B0503020204020204" pitchFamily="34" charset="-122"/>
                  <a:ea typeface="微软雅黑" panose="020B0503020204020204" pitchFamily="34" charset="-122"/>
                </a:rPr>
                <a:t>org </a:t>
              </a:r>
              <a:r>
                <a:rPr kumimoji="1" lang="zh-CN" altLang="en-US" sz="1400" b="1">
                  <a:solidFill>
                    <a:schemeClr val="bg1"/>
                  </a:solidFill>
                  <a:latin typeface="微软雅黑" panose="020B0503020204020204" pitchFamily="34" charset="-122"/>
                  <a:ea typeface="微软雅黑" panose="020B0503020204020204" pitchFamily="34" charset="-122"/>
                </a:rPr>
                <a:t>域名服务器</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283" name="Rectangle 11"/>
            <p:cNvSpPr>
              <a:spLocks noChangeArrowheads="1"/>
            </p:cNvSpPr>
            <p:nvPr/>
          </p:nvSpPr>
          <p:spPr bwMode="auto">
            <a:xfrm>
              <a:off x="4752297" y="2552157"/>
              <a:ext cx="2096082" cy="49688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com </a:t>
              </a:r>
              <a:r>
                <a:rPr kumimoji="1" lang="zh-CN" altLang="en-US" sz="1400" b="1" dirty="0">
                  <a:solidFill>
                    <a:schemeClr val="bg1"/>
                  </a:solidFill>
                  <a:latin typeface="微软雅黑" panose="020B0503020204020204" pitchFamily="34" charset="-122"/>
                  <a:ea typeface="微软雅黑" panose="020B0503020204020204" pitchFamily="34" charset="-122"/>
                </a:rPr>
                <a:t>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284" name="Rectangle 12"/>
            <p:cNvSpPr>
              <a:spLocks noChangeArrowheads="1"/>
            </p:cNvSpPr>
            <p:nvPr/>
          </p:nvSpPr>
          <p:spPr bwMode="auto">
            <a:xfrm>
              <a:off x="7092934" y="2552157"/>
              <a:ext cx="2096082" cy="496887"/>
            </a:xfrm>
            <a:prstGeom prst="rect">
              <a:avLst/>
            </a:prstGeom>
            <a:solidFill>
              <a:srgbClr val="7030A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err="1">
                  <a:solidFill>
                    <a:schemeClr val="bg1"/>
                  </a:solidFill>
                  <a:latin typeface="微软雅黑" panose="020B0503020204020204" pitchFamily="34" charset="-122"/>
                  <a:ea typeface="微软雅黑" panose="020B0503020204020204" pitchFamily="34" charset="-122"/>
                </a:rPr>
                <a:t>edu</a:t>
              </a:r>
              <a:r>
                <a:rPr kumimoji="1" lang="en-US" altLang="zh-CN" sz="1400" b="1" dirty="0">
                  <a:solidFill>
                    <a:schemeClr val="bg1"/>
                  </a:solidFill>
                  <a:latin typeface="微软雅黑" panose="020B0503020204020204" pitchFamily="34" charset="-122"/>
                  <a:ea typeface="微软雅黑" panose="020B0503020204020204" pitchFamily="34" charset="-122"/>
                </a:rPr>
                <a:t> </a:t>
              </a:r>
              <a:r>
                <a:rPr kumimoji="1" lang="zh-CN" altLang="en-US" sz="1400" b="1" dirty="0">
                  <a:solidFill>
                    <a:schemeClr val="bg1"/>
                  </a:solidFill>
                  <a:latin typeface="微软雅黑" panose="020B0503020204020204" pitchFamily="34" charset="-122"/>
                  <a:ea typeface="微软雅黑" panose="020B0503020204020204" pitchFamily="34" charset="-122"/>
                </a:rPr>
                <a:t>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nvGrpSpPr>
            <p:cNvPr id="285" name="Group 13"/>
            <p:cNvGrpSpPr/>
            <p:nvPr/>
          </p:nvGrpSpPr>
          <p:grpSpPr bwMode="auto">
            <a:xfrm>
              <a:off x="7704147" y="3049042"/>
              <a:ext cx="866775" cy="249238"/>
              <a:chOff x="2875" y="1143"/>
              <a:chExt cx="330" cy="132"/>
            </a:xfrm>
          </p:grpSpPr>
          <p:sp>
            <p:nvSpPr>
              <p:cNvPr id="286" name="Line 14"/>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7" name="Line 15"/>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8" name="Line 16"/>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17"/>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0" name="Text Box 18"/>
            <p:cNvSpPr txBox="1">
              <a:spLocks noChangeArrowheads="1"/>
            </p:cNvSpPr>
            <p:nvPr/>
          </p:nvSpPr>
          <p:spPr bwMode="auto">
            <a:xfrm>
              <a:off x="9263996" y="2533411"/>
              <a:ext cx="480049" cy="4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a:t>
              </a:r>
              <a:endParaRPr kumimoji="1" lang="en-US" altLang="zh-CN" sz="1200" b="1" dirty="0">
                <a:latin typeface="微软雅黑" panose="020B0503020204020204" pitchFamily="34" charset="-122"/>
                <a:ea typeface="微软雅黑" panose="020B0503020204020204" pitchFamily="34" charset="-122"/>
              </a:endParaRPr>
            </a:p>
          </p:txBody>
        </p:sp>
        <p:grpSp>
          <p:nvGrpSpPr>
            <p:cNvPr id="291" name="Group 19"/>
            <p:cNvGrpSpPr/>
            <p:nvPr/>
          </p:nvGrpSpPr>
          <p:grpSpPr bwMode="auto">
            <a:xfrm>
              <a:off x="3028033" y="3049042"/>
              <a:ext cx="866775" cy="249238"/>
              <a:chOff x="2875" y="1143"/>
              <a:chExt cx="330" cy="132"/>
            </a:xfrm>
          </p:grpSpPr>
          <p:sp>
            <p:nvSpPr>
              <p:cNvPr id="292" name="Line 20"/>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3" name="Line 21"/>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4" name="Line 22"/>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5" name="Line 23"/>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6" name="Line 24"/>
            <p:cNvSpPr>
              <a:spLocks noChangeShapeType="1"/>
            </p:cNvSpPr>
            <p:nvPr/>
          </p:nvSpPr>
          <p:spPr bwMode="auto">
            <a:xfrm>
              <a:off x="5943081" y="3049042"/>
              <a:ext cx="376634" cy="249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7" name="Line 25"/>
            <p:cNvSpPr>
              <a:spLocks noChangeShapeType="1"/>
            </p:cNvSpPr>
            <p:nvPr/>
          </p:nvSpPr>
          <p:spPr bwMode="auto">
            <a:xfrm>
              <a:off x="5913843" y="3049043"/>
              <a:ext cx="98029" cy="2444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8" name="Line 26"/>
            <p:cNvSpPr>
              <a:spLocks noChangeShapeType="1"/>
            </p:cNvSpPr>
            <p:nvPr/>
          </p:nvSpPr>
          <p:spPr bwMode="auto">
            <a:xfrm flipH="1">
              <a:off x="5452940" y="3049042"/>
              <a:ext cx="378354" cy="249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9" name="Line 27"/>
            <p:cNvSpPr>
              <a:spLocks noChangeShapeType="1"/>
            </p:cNvSpPr>
            <p:nvPr/>
          </p:nvSpPr>
          <p:spPr bwMode="auto">
            <a:xfrm flipH="1">
              <a:off x="5590523" y="3049042"/>
              <a:ext cx="282046" cy="6683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1" name="Line 30"/>
            <p:cNvSpPr>
              <a:spLocks noChangeShapeType="1"/>
            </p:cNvSpPr>
            <p:nvPr/>
          </p:nvSpPr>
          <p:spPr bwMode="auto">
            <a:xfrm>
              <a:off x="5538929" y="4211093"/>
              <a:ext cx="0" cy="4984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2" name="Line 32"/>
            <p:cNvSpPr>
              <a:spLocks noChangeShapeType="1"/>
            </p:cNvSpPr>
            <p:nvPr/>
          </p:nvSpPr>
          <p:spPr bwMode="auto">
            <a:xfrm flipH="1" flipV="1">
              <a:off x="6557046" y="3918993"/>
              <a:ext cx="1394752" cy="180975"/>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3" name="Text Box 33"/>
            <p:cNvSpPr txBox="1">
              <a:spLocks noChangeArrowheads="1"/>
            </p:cNvSpPr>
            <p:nvPr/>
          </p:nvSpPr>
          <p:spPr bwMode="auto">
            <a:xfrm>
              <a:off x="7849639" y="3831681"/>
              <a:ext cx="2099521" cy="756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abc</a:t>
              </a:r>
              <a:r>
                <a:rPr lang="en-US" altLang="zh-CN" sz="1400" b="1" dirty="0">
                  <a:solidFill>
                    <a:srgbClr val="0000FF"/>
                  </a:solidFill>
                  <a:latin typeface="微软雅黑" panose="020B0503020204020204" pitchFamily="34" charset="-122"/>
                  <a:ea typeface="微软雅黑" panose="020B0503020204020204" pitchFamily="34" charset="-122"/>
                </a:rPr>
                <a:t> </a:t>
              </a:r>
              <a:r>
                <a:rPr lang="zh-CN" altLang="en-US" sz="1400" b="1" dirty="0">
                  <a:solidFill>
                    <a:srgbClr val="0000FF"/>
                  </a:solidFill>
                  <a:latin typeface="微软雅黑" panose="020B0503020204020204" pitchFamily="34" charset="-122"/>
                  <a:ea typeface="微软雅黑" panose="020B0503020204020204" pitchFamily="34" charset="-122"/>
                </a:rPr>
                <a:t>公司有两个</a:t>
              </a:r>
              <a:endParaRPr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权限域名服务器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grpSp>
          <p:nvGrpSpPr>
            <p:cNvPr id="304" name="Group 34"/>
            <p:cNvGrpSpPr/>
            <p:nvPr/>
          </p:nvGrpSpPr>
          <p:grpSpPr bwMode="auto">
            <a:xfrm>
              <a:off x="128464" y="2385468"/>
              <a:ext cx="9873325" cy="830263"/>
              <a:chOff x="158" y="799"/>
              <a:chExt cx="5444" cy="454"/>
            </a:xfrm>
          </p:grpSpPr>
          <p:sp>
            <p:nvSpPr>
              <p:cNvPr id="305" name="Line 35"/>
              <p:cNvSpPr>
                <a:spLocks noChangeShapeType="1"/>
              </p:cNvSpPr>
              <p:nvPr/>
            </p:nvSpPr>
            <p:spPr bwMode="auto">
              <a:xfrm>
                <a:off x="158" y="799"/>
                <a:ext cx="5444" cy="0"/>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6" name="Line 36"/>
              <p:cNvSpPr>
                <a:spLocks noChangeShapeType="1"/>
              </p:cNvSpPr>
              <p:nvPr/>
            </p:nvSpPr>
            <p:spPr bwMode="auto">
              <a:xfrm>
                <a:off x="158" y="1253"/>
                <a:ext cx="5444" cy="0"/>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07" name="Text Box 37"/>
            <p:cNvSpPr txBox="1">
              <a:spLocks noChangeArrowheads="1"/>
            </p:cNvSpPr>
            <p:nvPr/>
          </p:nvSpPr>
          <p:spPr bwMode="auto">
            <a:xfrm>
              <a:off x="147065" y="406345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a:latin typeface="微软雅黑" panose="020B0503020204020204" pitchFamily="34" charset="-122"/>
                  <a:ea typeface="微软雅黑" panose="020B0503020204020204" pitchFamily="34" charset="-122"/>
                </a:rPr>
                <a:t>权限域名服务器</a:t>
              </a:r>
              <a:endParaRPr lang="zh-CN" altLang="en-US" sz="1400" b="1">
                <a:latin typeface="微软雅黑" panose="020B0503020204020204" pitchFamily="34" charset="-122"/>
                <a:ea typeface="微软雅黑" panose="020B0503020204020204" pitchFamily="34" charset="-122"/>
              </a:endParaRPr>
            </a:p>
          </p:txBody>
        </p:sp>
        <p:sp>
          <p:nvSpPr>
            <p:cNvPr id="308" name="Text Box 38"/>
            <p:cNvSpPr txBox="1">
              <a:spLocks noChangeArrowheads="1"/>
            </p:cNvSpPr>
            <p:nvPr/>
          </p:nvSpPr>
          <p:spPr bwMode="auto">
            <a:xfrm>
              <a:off x="265628" y="1696493"/>
              <a:ext cx="1823817"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a:latin typeface="微软雅黑" panose="020B0503020204020204" pitchFamily="34" charset="-122"/>
                  <a:ea typeface="微软雅黑" panose="020B0503020204020204" pitchFamily="34" charset="-122"/>
                </a:rPr>
                <a:t>根域名服务器</a:t>
              </a:r>
              <a:endParaRPr lang="zh-CN" altLang="en-US" sz="1400" b="1">
                <a:latin typeface="微软雅黑" panose="020B0503020204020204" pitchFamily="34" charset="-122"/>
                <a:ea typeface="微软雅黑" panose="020B0503020204020204" pitchFamily="34" charset="-122"/>
              </a:endParaRPr>
            </a:p>
          </p:txBody>
        </p:sp>
        <p:sp>
          <p:nvSpPr>
            <p:cNvPr id="309" name="Text Box 39"/>
            <p:cNvSpPr txBox="1">
              <a:spLocks noChangeArrowheads="1"/>
            </p:cNvSpPr>
            <p:nvPr/>
          </p:nvSpPr>
          <p:spPr bwMode="auto">
            <a:xfrm>
              <a:off x="146205" y="258390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顶级域名服务器</a:t>
              </a:r>
              <a:endParaRPr lang="zh-CN" altLang="en-US" sz="1400" b="1" dirty="0">
                <a:latin typeface="微软雅黑" panose="020B0503020204020204" pitchFamily="34" charset="-122"/>
                <a:ea typeface="微软雅黑" panose="020B0503020204020204" pitchFamily="34" charset="-122"/>
              </a:endParaRPr>
            </a:p>
          </p:txBody>
        </p:sp>
        <p:sp>
          <p:nvSpPr>
            <p:cNvPr id="310" name="Line 40"/>
            <p:cNvSpPr>
              <a:spLocks noChangeShapeType="1"/>
            </p:cNvSpPr>
            <p:nvPr/>
          </p:nvSpPr>
          <p:spPr bwMode="auto">
            <a:xfrm>
              <a:off x="2242089" y="1556792"/>
              <a:ext cx="0" cy="3983038"/>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1" name="Line 41"/>
            <p:cNvSpPr>
              <a:spLocks noChangeShapeType="1"/>
            </p:cNvSpPr>
            <p:nvPr/>
          </p:nvSpPr>
          <p:spPr bwMode="auto">
            <a:xfrm flipH="1">
              <a:off x="6531250" y="4377780"/>
              <a:ext cx="1427427" cy="658812"/>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2" name="Rectangle 43"/>
            <p:cNvSpPr>
              <a:spLocks noChangeArrowheads="1"/>
            </p:cNvSpPr>
            <p:nvPr/>
          </p:nvSpPr>
          <p:spPr bwMode="auto">
            <a:xfrm>
              <a:off x="4575844" y="3683931"/>
              <a:ext cx="1907249" cy="73675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anose="020B0503020204020204" pitchFamily="34" charset="-122"/>
                  <a:ea typeface="微软雅黑" panose="020B0503020204020204" pitchFamily="34" charset="-122"/>
                </a:rPr>
                <a:t>abc.com</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300" name="Rectangle 29"/>
            <p:cNvSpPr>
              <a:spLocks noChangeArrowheads="1"/>
            </p:cNvSpPr>
            <p:nvPr/>
          </p:nvSpPr>
          <p:spPr bwMode="auto">
            <a:xfrm>
              <a:off x="4587885" y="4654449"/>
              <a:ext cx="1907248" cy="72378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anose="020B0503020204020204" pitchFamily="34" charset="-122"/>
                  <a:ea typeface="微软雅黑" panose="020B0503020204020204" pitchFamily="34" charset="-122"/>
                </a:rPr>
                <a:t>y.abc.com</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grpSp>
      <p:sp>
        <p:nvSpPr>
          <p:cNvPr id="3" name="矩形 2"/>
          <p:cNvSpPr/>
          <p:nvPr/>
        </p:nvSpPr>
        <p:spPr>
          <a:xfrm>
            <a:off x="1811045" y="4095615"/>
            <a:ext cx="6145188" cy="369332"/>
          </a:xfrm>
          <a:prstGeom prst="rect">
            <a:avLst/>
          </a:prstGeom>
        </p:spPr>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每个</a:t>
            </a:r>
            <a:r>
              <a:rPr lang="zh-CN" altLang="en-US" b="1" dirty="0">
                <a:latin typeface="微软雅黑" panose="020B0503020204020204" pitchFamily="34" charset="-122"/>
                <a:ea typeface="微软雅黑" panose="020B0503020204020204" pitchFamily="34" charset="-122"/>
              </a:rPr>
              <a:t>域名服务器都只对域名体系中的</a:t>
            </a:r>
            <a:r>
              <a:rPr lang="zh-CN" altLang="en-US" b="1" dirty="0">
                <a:solidFill>
                  <a:srgbClr val="C00000"/>
                </a:solidFill>
                <a:latin typeface="微软雅黑" panose="020B0503020204020204" pitchFamily="34" charset="-122"/>
                <a:ea typeface="微软雅黑" panose="020B0503020204020204" pitchFamily="34" charset="-122"/>
              </a:rPr>
              <a:t>一部分</a:t>
            </a:r>
            <a:r>
              <a:rPr lang="zh-CN" altLang="en-US" b="1" dirty="0">
                <a:latin typeface="微软雅黑" panose="020B0503020204020204" pitchFamily="34" charset="-122"/>
                <a:ea typeface="微软雅黑" panose="020B0503020204020204" pitchFamily="34" charset="-122"/>
              </a:rPr>
              <a:t>进行管辖。</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AutoShape 5"/>
          <p:cNvSpPr>
            <a:spLocks noChangeArrowheads="1"/>
          </p:cNvSpPr>
          <p:nvPr/>
        </p:nvSpPr>
        <p:spPr bwMode="auto">
          <a:xfrm>
            <a:off x="556963" y="61208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591338" y="578871"/>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3" name="Rectangle 68"/>
          <p:cNvSpPr>
            <a:spLocks noChangeArrowheads="1"/>
          </p:cNvSpPr>
          <p:nvPr/>
        </p:nvSpPr>
        <p:spPr bwMode="auto">
          <a:xfrm>
            <a:off x="556963" y="10574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根据所</a:t>
            </a:r>
            <a:r>
              <a:rPr lang="zh-CN" altLang="en-US" sz="2000" b="1" dirty="0">
                <a:latin typeface="微软雅黑" panose="020B0503020204020204" pitchFamily="34" charset="-122"/>
                <a:ea typeface="微软雅黑" panose="020B0503020204020204" pitchFamily="34" charset="-122"/>
              </a:rPr>
              <a:t>起的作用</a:t>
            </a:r>
            <a:r>
              <a:rPr lang="zh-CN" altLang="en-US" sz="2000" b="1" dirty="0" smtClean="0">
                <a:latin typeface="微软雅黑" panose="020B0503020204020204" pitchFamily="34" charset="-122"/>
                <a:ea typeface="微软雅黑" panose="020B0503020204020204" pitchFamily="34" charset="-122"/>
              </a:rPr>
              <a:t>，分为四种类型</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顶级域名服务器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权限域名服务器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本地域名服务器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076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64888" y="577549"/>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1. </a:t>
            </a:r>
            <a:r>
              <a:rPr lang="zh-CN" altLang="en-US" sz="2000" b="1" dirty="0" smtClean="0">
                <a:solidFill>
                  <a:schemeClr val="bg1"/>
                </a:solidFill>
                <a:latin typeface="微软雅黑" panose="020B0503020204020204" pitchFamily="34" charset="-122"/>
                <a:ea typeface="微软雅黑" panose="020B0503020204020204" pitchFamily="34" charset="-122"/>
              </a:rPr>
              <a:t>根</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483810" y="976253"/>
            <a:ext cx="8245143"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最高层次，最</a:t>
            </a:r>
            <a:r>
              <a:rPr lang="zh-CN" altLang="en-US" sz="2000" b="1" dirty="0">
                <a:solidFill>
                  <a:srgbClr val="C00000"/>
                </a:solidFill>
                <a:latin typeface="微软雅黑" panose="020B0503020204020204" pitchFamily="34" charset="-122"/>
                <a:ea typeface="微软雅黑" panose="020B0503020204020204" pitchFamily="34" charset="-122"/>
              </a:rPr>
              <a:t>为</a:t>
            </a:r>
            <a:r>
              <a:rPr lang="zh-CN" altLang="en-US" sz="2000" b="1" dirty="0" smtClean="0">
                <a:solidFill>
                  <a:srgbClr val="C00000"/>
                </a:solidFill>
                <a:latin typeface="微软雅黑" panose="020B0503020204020204" pitchFamily="34" charset="-122"/>
                <a:ea typeface="微软雅黑" panose="020B0503020204020204" pitchFamily="34" charset="-122"/>
              </a:rPr>
              <a:t>重要。</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所有根</a:t>
            </a:r>
            <a:r>
              <a:rPr lang="zh-CN" altLang="en-US" sz="2000" b="1" dirty="0">
                <a:latin typeface="微软雅黑" panose="020B0503020204020204" pitchFamily="34" charset="-122"/>
                <a:ea typeface="微软雅黑" panose="020B0503020204020204" pitchFamily="34" charset="-122"/>
              </a:rPr>
              <a:t>域名服务器都</a:t>
            </a:r>
            <a:r>
              <a:rPr lang="zh-CN" altLang="en-US" sz="2000" b="1" dirty="0">
                <a:solidFill>
                  <a:srgbClr val="C00000"/>
                </a:solidFill>
                <a:latin typeface="微软雅黑" panose="020B0503020204020204" pitchFamily="34" charset="-122"/>
                <a:ea typeface="微软雅黑" panose="020B0503020204020204" pitchFamily="34" charset="-122"/>
              </a:rPr>
              <a:t>知道</a:t>
            </a:r>
            <a:r>
              <a:rPr lang="zh-CN" altLang="en-US" sz="2000" b="1" dirty="0">
                <a:latin typeface="微软雅黑" panose="020B0503020204020204" pitchFamily="34" charset="-122"/>
                <a:ea typeface="微软雅黑" panose="020B0503020204020204" pitchFamily="34" charset="-122"/>
              </a:rPr>
              <a:t>所有的</a:t>
            </a:r>
            <a:r>
              <a:rPr lang="zh-CN" altLang="en-US" sz="2000" b="1" dirty="0">
                <a:solidFill>
                  <a:srgbClr val="C00000"/>
                </a:solidFill>
                <a:latin typeface="微软雅黑" panose="020B0503020204020204" pitchFamily="34" charset="-122"/>
                <a:ea typeface="微软雅黑" panose="020B0503020204020204" pitchFamily="34" charset="-122"/>
              </a:rPr>
              <a:t>顶级域名服务器</a:t>
            </a:r>
            <a:r>
              <a:rPr lang="zh-CN" altLang="en-US" sz="2000" b="1" dirty="0">
                <a:latin typeface="微软雅黑" panose="020B0503020204020204" pitchFamily="34" charset="-122"/>
                <a:ea typeface="微软雅黑" panose="020B0503020204020204" pitchFamily="34" charset="-122"/>
              </a:rPr>
              <a:t>的域名和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不管是哪一个本地域名服务器，若要对互联网上任何一个域名进行解析，只要自己无法解析，就</a:t>
            </a:r>
            <a:r>
              <a:rPr lang="zh-CN" altLang="en-US" sz="2000" b="1" dirty="0">
                <a:solidFill>
                  <a:srgbClr val="C00000"/>
                </a:solidFill>
                <a:latin typeface="微软雅黑" panose="020B0503020204020204" pitchFamily="34" charset="-122"/>
                <a:ea typeface="微软雅黑" panose="020B0503020204020204" pitchFamily="34" charset="-122"/>
              </a:rPr>
              <a:t>首先</a:t>
            </a:r>
            <a:r>
              <a:rPr lang="zh-CN" altLang="en-US" sz="2000" b="1" dirty="0">
                <a:latin typeface="微软雅黑" panose="020B0503020204020204" pitchFamily="34" charset="-122"/>
                <a:ea typeface="微软雅黑" panose="020B0503020204020204" pitchFamily="34" charset="-122"/>
              </a:rPr>
              <a:t>求助于根域名服务器</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若所有</a:t>
            </a:r>
            <a:r>
              <a:rPr lang="zh-CN" altLang="en-US" sz="2000" b="1" dirty="0">
                <a:latin typeface="微软雅黑" panose="020B0503020204020204" pitchFamily="34" charset="-122"/>
                <a:ea typeface="微软雅黑" panose="020B0503020204020204" pitchFamily="34" charset="-122"/>
              </a:rPr>
              <a:t>的根域名服务器都瘫痪了</a:t>
            </a:r>
            <a:r>
              <a:rPr lang="zh-CN" altLang="en-US" sz="2000" b="1" dirty="0" smtClean="0">
                <a:latin typeface="微软雅黑" panose="020B0503020204020204" pitchFamily="34" charset="-122"/>
                <a:ea typeface="微软雅黑" panose="020B0503020204020204" pitchFamily="34" charset="-122"/>
              </a:rPr>
              <a:t>，整个</a:t>
            </a:r>
            <a:r>
              <a:rPr lang="zh-CN" altLang="en-US" sz="2000" b="1" dirty="0">
                <a:latin typeface="微软雅黑" panose="020B0503020204020204" pitchFamily="34" charset="-122"/>
                <a:ea typeface="微软雅黑" panose="020B0503020204020204" pitchFamily="34" charset="-122"/>
              </a:rPr>
              <a:t>互联网中</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系统</a:t>
            </a:r>
            <a:r>
              <a:rPr lang="zh-CN" altLang="en-US" sz="2000" b="1" dirty="0">
                <a:latin typeface="微软雅黑" panose="020B0503020204020204" pitchFamily="34" charset="-122"/>
                <a:ea typeface="微软雅黑" panose="020B0503020204020204" pitchFamily="34" charset="-122"/>
              </a:rPr>
              <a:t>就无法</a:t>
            </a:r>
            <a:r>
              <a:rPr lang="zh-CN" altLang="en-US" sz="2000" b="1" dirty="0" smtClean="0">
                <a:latin typeface="微软雅黑" panose="020B0503020204020204" pitchFamily="34" charset="-122"/>
                <a:ea typeface="微软雅黑" panose="020B0503020204020204" pitchFamily="34" charset="-122"/>
              </a:rPr>
              <a:t>工作了。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33" name="Rectangle 68"/>
          <p:cNvSpPr>
            <a:spLocks noChangeArrowheads="1"/>
          </p:cNvSpPr>
          <p:nvPr/>
        </p:nvSpPr>
        <p:spPr bwMode="auto">
          <a:xfrm>
            <a:off x="556962" y="965641"/>
            <a:ext cx="7986337" cy="11695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域名服务器共有 </a:t>
            </a:r>
            <a:r>
              <a:rPr lang="en-US" altLang="zh-CN" sz="2000" b="1" dirty="0">
                <a:solidFill>
                  <a:srgbClr val="C00000"/>
                </a:solidFill>
                <a:latin typeface="微软雅黑" panose="020B0503020204020204" pitchFamily="34" charset="-122"/>
                <a:ea typeface="微软雅黑" panose="020B0503020204020204" pitchFamily="34" charset="-122"/>
              </a:rPr>
              <a:t>13 </a:t>
            </a:r>
            <a:r>
              <a:rPr lang="zh-CN" altLang="en-US" sz="2000" b="1" dirty="0">
                <a:solidFill>
                  <a:srgbClr val="C00000"/>
                </a:solidFill>
                <a:latin typeface="微软雅黑" panose="020B0503020204020204" pitchFamily="34" charset="-122"/>
                <a:ea typeface="微软雅黑" panose="020B0503020204020204" pitchFamily="34" charset="-122"/>
              </a:rPr>
              <a:t>套</a:t>
            </a:r>
            <a:r>
              <a:rPr lang="zh-CN" altLang="en-US" sz="2000" b="1" dirty="0">
                <a:latin typeface="微软雅黑" panose="020B0503020204020204" pitchFamily="34" charset="-122"/>
                <a:ea typeface="微软雅黑" panose="020B0503020204020204" pitchFamily="34" charset="-122"/>
              </a:rPr>
              <a:t>装置</a:t>
            </a:r>
            <a:r>
              <a:rPr lang="zh-CN" altLang="en-US" sz="2000" b="1" dirty="0" smtClean="0">
                <a:latin typeface="微软雅黑" panose="020B0503020204020204" pitchFamily="34" charset="-122"/>
                <a:ea typeface="微软雅黑" panose="020B0503020204020204" pitchFamily="34" charset="-122"/>
              </a:rPr>
              <a:t>，构成 </a:t>
            </a:r>
            <a:r>
              <a:rPr lang="en-US" altLang="zh-CN" sz="2000" b="1" dirty="0" smtClean="0">
                <a:solidFill>
                  <a:srgbClr val="C00000"/>
                </a:solidFill>
                <a:latin typeface="微软雅黑" panose="020B0503020204020204" pitchFamily="34" charset="-122"/>
                <a:ea typeface="微软雅黑" panose="020B0503020204020204" pitchFamily="34" charset="-122"/>
              </a:rPr>
              <a:t>13 </a:t>
            </a:r>
            <a:r>
              <a:rPr lang="zh-CN" altLang="en-US" sz="2000" b="1" dirty="0" smtClean="0">
                <a:solidFill>
                  <a:srgbClr val="C00000"/>
                </a:solidFill>
                <a:latin typeface="微软雅黑" panose="020B0503020204020204" pitchFamily="34" charset="-122"/>
                <a:ea typeface="微软雅黑" panose="020B0503020204020204" pitchFamily="34" charset="-122"/>
              </a:rPr>
              <a:t>组</a:t>
            </a:r>
            <a:r>
              <a:rPr lang="zh-CN" altLang="en-US" sz="2000" b="1" dirty="0">
                <a:latin typeface="微软雅黑" panose="020B0503020204020204" pitchFamily="34" charset="-122"/>
                <a:ea typeface="微软雅黑" panose="020B0503020204020204" pitchFamily="34" charset="-122"/>
              </a:rPr>
              <a:t>根域名</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域名服务器总共</a:t>
            </a:r>
            <a:r>
              <a:rPr lang="zh-CN" altLang="en-US" sz="2000" b="1" dirty="0" smtClean="0">
                <a:latin typeface="微软雅黑" panose="020B0503020204020204" pitchFamily="34" charset="-122"/>
                <a:ea typeface="微软雅黑" panose="020B0503020204020204" pitchFamily="34" charset="-122"/>
              </a:rPr>
              <a:t>只有 </a:t>
            </a:r>
            <a:r>
              <a:rPr lang="en-US" altLang="zh-CN" sz="2000" b="1" dirty="0" smtClean="0">
                <a:solidFill>
                  <a:srgbClr val="C00000"/>
                </a:solidFill>
                <a:latin typeface="微软雅黑" panose="020B0503020204020204" pitchFamily="34" charset="-122"/>
                <a:ea typeface="微软雅黑" panose="020B0503020204020204" pitchFamily="34" charset="-122"/>
              </a:rPr>
              <a:t>13 </a:t>
            </a:r>
            <a:r>
              <a:rPr lang="zh-CN" altLang="en-US" sz="2000" b="1" dirty="0">
                <a:solidFill>
                  <a:srgbClr val="C00000"/>
                </a:solidFill>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不同 </a:t>
            </a:r>
            <a:r>
              <a:rPr lang="en-US" altLang="zh-CN" sz="2000" b="1" dirty="0" smtClean="0">
                <a:solidFill>
                  <a:srgbClr val="C00000"/>
                </a:solidFill>
                <a:latin typeface="微软雅黑" panose="020B0503020204020204" pitchFamily="34" charset="-122"/>
                <a:ea typeface="微软雅黑" panose="020B0503020204020204" pitchFamily="34" charset="-122"/>
              </a:rPr>
              <a:t>IP </a:t>
            </a:r>
            <a:r>
              <a:rPr lang="zh-CN" altLang="en-US" sz="2000" b="1" dirty="0" smtClean="0">
                <a:solidFill>
                  <a:srgbClr val="C00000"/>
                </a:solidFill>
                <a:latin typeface="微软雅黑" panose="020B0503020204020204" pitchFamily="34" charset="-122"/>
                <a:ea typeface="微软雅黑" panose="020B0503020204020204" pitchFamily="34" charset="-122"/>
              </a:rPr>
              <a:t>地址</a:t>
            </a:r>
            <a:r>
              <a:rPr lang="zh-CN" altLang="en-US" sz="2000" b="1" dirty="0">
                <a:solidFill>
                  <a:srgbClr val="C00000"/>
                </a:solidFill>
                <a:latin typeface="微软雅黑" panose="020B0503020204020204" pitchFamily="34" charset="-122"/>
                <a:ea typeface="微软雅黑" panose="020B0503020204020204" pitchFamily="34" charset="-122"/>
              </a:rPr>
              <a:t>的域名，</a:t>
            </a:r>
            <a:r>
              <a:rPr lang="zh-CN" altLang="en-US" sz="2000" b="1" dirty="0" smtClean="0">
                <a:latin typeface="微软雅黑" panose="020B0503020204020204" pitchFamily="34" charset="-122"/>
                <a:ea typeface="微软雅黑" panose="020B0503020204020204" pitchFamily="34" charset="-122"/>
              </a:rPr>
              <a:t>但</a:t>
            </a:r>
            <a:r>
              <a:rPr lang="zh-CN" altLang="en-US" sz="2000" b="1" dirty="0" smtClean="0">
                <a:solidFill>
                  <a:srgbClr val="0000CC"/>
                </a:solidFill>
                <a:latin typeface="微软雅黑" panose="020B0503020204020204" pitchFamily="34" charset="-122"/>
                <a:ea typeface="微软雅黑" panose="020B0503020204020204" pitchFamily="34" charset="-122"/>
              </a:rPr>
              <a:t>并非</a:t>
            </a:r>
            <a:r>
              <a:rPr lang="zh-CN" altLang="en-US" sz="2000" b="1" dirty="0" smtClean="0">
                <a:latin typeface="微软雅黑" panose="020B0503020204020204" pitchFamily="34" charset="-122"/>
                <a:ea typeface="微软雅黑" panose="020B0503020204020204" pitchFamily="34" charset="-122"/>
              </a:rPr>
              <a:t>仅由</a:t>
            </a:r>
            <a:r>
              <a:rPr lang="en-US" altLang="zh-CN" sz="2000" b="1" dirty="0" smtClean="0">
                <a:latin typeface="微软雅黑" panose="020B0503020204020204" pitchFamily="34" charset="-122"/>
                <a:ea typeface="微软雅黑" panose="020B0503020204020204" pitchFamily="34" charset="-122"/>
              </a:rPr>
              <a:t>13</a:t>
            </a:r>
            <a:r>
              <a:rPr lang="zh-CN" altLang="en-US" sz="2000" b="1" dirty="0">
                <a:latin typeface="微软雅黑" panose="020B0503020204020204" pitchFamily="34" charset="-122"/>
                <a:ea typeface="微软雅黑" panose="020B0503020204020204" pitchFamily="34" charset="-122"/>
              </a:rPr>
              <a:t>台机器所</a:t>
            </a:r>
            <a:r>
              <a:rPr lang="zh-CN" altLang="en-US" sz="2000" b="1" dirty="0" smtClean="0">
                <a:latin typeface="微软雅黑" panose="020B0503020204020204" pitchFamily="34" charset="-122"/>
                <a:ea typeface="微软雅黑" panose="020B0503020204020204" pitchFamily="34" charset="-122"/>
              </a:rPr>
              <a:t>组成。</a:t>
            </a:r>
            <a:endParaRPr lang="en-US" altLang="zh-CN" sz="2000" b="1" dirty="0" smtClean="0">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1112828" y="2095789"/>
          <a:ext cx="6636200" cy="2543748"/>
        </p:xfrm>
        <a:graphic>
          <a:graphicData uri="http://schemas.openxmlformats.org/drawingml/2006/table">
            <a:tbl>
              <a:tblPr firstRow="1">
                <a:tableStyleId>{B301B821-A1FF-4177-AEE7-76D212191A09}</a:tableStyleId>
              </a:tblPr>
              <a:tblGrid>
                <a:gridCol w="2216191"/>
                <a:gridCol w="2216191"/>
                <a:gridCol w="2203818"/>
              </a:tblGrid>
              <a:tr h="155768">
                <a:tc>
                  <a:txBody>
                    <a:bodyPr/>
                    <a:lstStyle/>
                    <a:p>
                      <a:pPr algn="ctr" fontAlgn="b">
                        <a:lnSpc>
                          <a:spcPct val="80000"/>
                        </a:lnSpc>
                      </a:pPr>
                      <a:r>
                        <a:rPr lang="zh-CN" altLang="en-US" sz="1200" b="1" i="0" cap="all" dirty="0" smtClean="0">
                          <a:solidFill>
                            <a:schemeClr val="lt1"/>
                          </a:solidFill>
                          <a:effectLst/>
                          <a:latin typeface="+mn-lt"/>
                        </a:rPr>
                        <a:t>域名</a:t>
                      </a:r>
                      <a:endParaRPr lang="en-US" sz="1200" b="1" i="0" cap="all" dirty="0">
                        <a:solidFill>
                          <a:schemeClr val="tx1"/>
                        </a:solidFill>
                        <a:effectLst/>
                        <a:latin typeface="+mn-lt"/>
                      </a:endParaRPr>
                    </a:p>
                  </a:txBody>
                  <a:tcPr marL="24941" marR="24941" marT="12471" marB="12471" anchor="b"/>
                </a:tc>
                <a:tc>
                  <a:txBody>
                    <a:bodyPr/>
                    <a:lstStyle/>
                    <a:p>
                      <a:pPr algn="ctr" fontAlgn="b">
                        <a:lnSpc>
                          <a:spcPct val="80000"/>
                        </a:lnSpc>
                      </a:pPr>
                      <a:r>
                        <a:rPr lang="en-US" sz="1200" cap="all" dirty="0">
                          <a:effectLst/>
                        </a:rPr>
                        <a:t>IP </a:t>
                      </a:r>
                      <a:r>
                        <a:rPr lang="zh-CN" altLang="en-US" sz="1200" cap="all" dirty="0" smtClean="0">
                          <a:effectLst/>
                        </a:rPr>
                        <a:t>地址</a:t>
                      </a:r>
                      <a:endParaRPr lang="en-US" sz="1200" b="1" i="0" cap="all" dirty="0">
                        <a:solidFill>
                          <a:schemeClr val="tx1"/>
                        </a:solidFill>
                        <a:effectLst/>
                        <a:latin typeface="+mn-lt"/>
                      </a:endParaRPr>
                    </a:p>
                  </a:txBody>
                  <a:tcPr marL="12471" marR="24941" marT="12471" marB="12471" anchor="b"/>
                </a:tc>
                <a:tc>
                  <a:txBody>
                    <a:bodyPr/>
                    <a:lstStyle/>
                    <a:p>
                      <a:pPr algn="ctr" fontAlgn="b">
                        <a:lnSpc>
                          <a:spcPct val="80000"/>
                        </a:lnSpc>
                      </a:pPr>
                      <a:r>
                        <a:rPr lang="zh-CN" altLang="en-US" sz="1200" cap="all" dirty="0" smtClean="0">
                          <a:effectLst/>
                        </a:rPr>
                        <a:t>运营商</a:t>
                      </a:r>
                      <a:endParaRPr lang="en-US" sz="1200" b="1" i="0" cap="all" dirty="0">
                        <a:solidFill>
                          <a:schemeClr val="tx1"/>
                        </a:solidFill>
                        <a:effectLst/>
                        <a:latin typeface="+mn-lt"/>
                      </a:endParaRPr>
                    </a:p>
                  </a:txBody>
                  <a:tcPr marL="12471" marR="24941" marT="12471" marB="12471" anchor="b"/>
                </a:tc>
              </a:tr>
              <a:tr h="155768">
                <a:tc>
                  <a:txBody>
                    <a:bodyPr/>
                    <a:lstStyle/>
                    <a:p>
                      <a:pPr fontAlgn="t">
                        <a:lnSpc>
                          <a:spcPct val="80000"/>
                        </a:lnSpc>
                      </a:pPr>
                      <a:r>
                        <a:rPr lang="en-US" sz="1200" dirty="0">
                          <a:effectLst/>
                        </a:rPr>
                        <a:t>a.root-servers.net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198.41.0.4, 2001:503:ba3e::2:30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Verisign, Inc.</a:t>
                      </a:r>
                      <a:endParaRPr lang="en-US" sz="1200" b="0" i="0" dirty="0">
                        <a:solidFill>
                          <a:schemeClr val="tx1"/>
                        </a:solidFill>
                        <a:effectLst/>
                        <a:latin typeface="+mn-lt"/>
                      </a:endParaRPr>
                    </a:p>
                  </a:txBody>
                  <a:tcPr marL="12471" marR="24941" marT="12471" marB="12471"/>
                </a:tc>
              </a:tr>
              <a:tr h="288848">
                <a:tc>
                  <a:txBody>
                    <a:bodyPr/>
                    <a:lstStyle/>
                    <a:p>
                      <a:pPr fontAlgn="t">
                        <a:lnSpc>
                          <a:spcPct val="80000"/>
                        </a:lnSpc>
                      </a:pPr>
                      <a:r>
                        <a:rPr lang="en-US" sz="1200" dirty="0">
                          <a:effectLst/>
                        </a:rPr>
                        <a:t>b.root-servers.net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199.9.14.201, 2001:500:200::b</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Southern California,</a:t>
                      </a:r>
                      <a:br>
                        <a:rPr lang="en-US" sz="1200">
                          <a:effectLst/>
                        </a:rPr>
                      </a:br>
                      <a:r>
                        <a:rPr lang="en-US" sz="1200">
                          <a:effectLst/>
                        </a:rPr>
                        <a:t>Information Sciences Institute</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c.root-servers.net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192.33.4.12, 2001:500:2::c</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Cogent Communications</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dirty="0">
                          <a:effectLst/>
                        </a:rPr>
                        <a:t>d.root-servers.net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199.7.91.13, 2001:500:2d::d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Maryland</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e.root-servers.net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192.203.230.10, 2001:500:a8::e</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NASA (Ames Research Center)</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f.root-servers.net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192.5.5.241, 2001:500:2f::f</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Internet Systems Consortium, Inc.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g.root-servers.net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192.112.36.4, 2001:500:12::d0d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Department of Defense (NIC)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h.root-servers.net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altLang="zh-CN" sz="1200">
                          <a:effectLst/>
                        </a:rPr>
                        <a:t>198.97.190.53, 2001:500:1::53</a:t>
                      </a:r>
                      <a:endParaRPr lang="en-US" altLang="zh-CN"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Army (Research Lab)</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i.root-servers.net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192.36.148.17, 2001:7fe::53</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Netnod</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dirty="0" err="1">
                          <a:effectLst/>
                        </a:rPr>
                        <a:t>j.root-servers.net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192.58.128.30, 2001:503:c27::2:30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Verisign, Inc.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k.root-servers.net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193.0.14.129, 2001:7fd::1</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RIPE NCC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l.root-servers.net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199.7.83.42, 2001:500:9f::42</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ICANN</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m.root-servers.net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202.12.27.33, 2001:dc3::35</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WIDE Project</a:t>
                      </a:r>
                      <a:endParaRPr lang="en-US" sz="1200" b="0" i="0" dirty="0">
                        <a:solidFill>
                          <a:schemeClr val="tx1"/>
                        </a:solidFill>
                        <a:effectLst/>
                        <a:latin typeface="+mn-lt"/>
                      </a:endParaRPr>
                    </a:p>
                  </a:txBody>
                  <a:tcPr marL="12471" marR="24941" marT="12471" marB="12471"/>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674518" y="3612936"/>
            <a:ext cx="5175682" cy="759182"/>
          </a:xfrm>
          <a:prstGeom prst="rect">
            <a:avLst/>
          </a:prstGeom>
        </p:spPr>
        <p:txBody>
          <a:bodyPr wrap="square">
            <a:spAutoFit/>
          </a:bodyPr>
          <a:lstStyle/>
          <a:p>
            <a:pPr algn="ctr">
              <a:lnSpc>
                <a:spcPts val="2600"/>
              </a:lnSpc>
            </a:pPr>
            <a:r>
              <a:rPr lang="zh-CN" altLang="en-US" b="1" dirty="0" smtClean="0">
                <a:latin typeface="微软雅黑" panose="020B0503020204020204" pitchFamily="34" charset="-122"/>
                <a:ea typeface="微软雅黑" panose="020B0503020204020204" pitchFamily="34" charset="-122"/>
              </a:rPr>
              <a:t>截至 </a:t>
            </a:r>
            <a:r>
              <a:rPr lang="en-US" altLang="zh-CN" b="1" dirty="0" smtClean="0">
                <a:latin typeface="微软雅黑" panose="020B0503020204020204" pitchFamily="34" charset="-122"/>
                <a:ea typeface="微软雅黑" panose="020B0503020204020204" pitchFamily="34" charset="-122"/>
              </a:rPr>
              <a:t>2020</a:t>
            </a:r>
            <a:r>
              <a:rPr lang="zh-CN" altLang="en-US" b="1" dirty="0">
                <a:latin typeface="微软雅黑" panose="020B0503020204020204" pitchFamily="34" charset="-122"/>
                <a:ea typeface="微软雅黑" panose="020B0503020204020204" pitchFamily="34" charset="-122"/>
              </a:rPr>
              <a:t>年</a:t>
            </a:r>
            <a:r>
              <a:rPr lang="en-US" altLang="zh-CN" b="1" dirty="0">
                <a:latin typeface="微软雅黑" panose="020B0503020204020204" pitchFamily="34" charset="-122"/>
                <a:ea typeface="微软雅黑" panose="020B0503020204020204" pitchFamily="34" charset="-122"/>
              </a:rPr>
              <a:t>9</a:t>
            </a:r>
            <a:r>
              <a:rPr lang="zh-CN" altLang="en-US" b="1" dirty="0">
                <a:latin typeface="微软雅黑" panose="020B0503020204020204" pitchFamily="34" charset="-122"/>
                <a:ea typeface="微软雅黑" panose="020B0503020204020204" pitchFamily="34" charset="-122"/>
              </a:rPr>
              <a:t>月</a:t>
            </a:r>
            <a:r>
              <a:rPr lang="en-US" altLang="zh-CN" b="1" dirty="0">
                <a:latin typeface="微软雅黑" panose="020B0503020204020204" pitchFamily="34" charset="-122"/>
                <a:ea typeface="微软雅黑" panose="020B0503020204020204" pitchFamily="34" charset="-122"/>
              </a:rPr>
              <a:t>3</a:t>
            </a:r>
            <a:r>
              <a:rPr lang="zh-CN" altLang="en-US" b="1" dirty="0">
                <a:latin typeface="微软雅黑" panose="020B0503020204020204" pitchFamily="34" charset="-122"/>
                <a:ea typeface="微软雅黑" panose="020B0503020204020204" pitchFamily="34" charset="-122"/>
              </a:rPr>
              <a:t>日，全球</a:t>
            </a:r>
            <a:r>
              <a:rPr lang="zh-CN" altLang="en-US" b="1" dirty="0" smtClean="0">
                <a:latin typeface="微软雅黑" panose="020B0503020204020204" pitchFamily="34" charset="-122"/>
                <a:ea typeface="微软雅黑" panose="020B0503020204020204" pitchFamily="34" charset="-122"/>
              </a:rPr>
              <a:t>共有 </a:t>
            </a:r>
            <a:r>
              <a:rPr lang="en-US" altLang="zh-CN" b="1" dirty="0" smtClean="0">
                <a:latin typeface="微软雅黑" panose="020B0503020204020204" pitchFamily="34" charset="-122"/>
                <a:ea typeface="微软雅黑" panose="020B0503020204020204" pitchFamily="34" charset="-122"/>
              </a:rPr>
              <a:t>1098 </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根域名服务器在运行，其中在我国的共有</a:t>
            </a:r>
            <a:r>
              <a:rPr lang="en-US" altLang="zh-CN" b="1" dirty="0">
                <a:latin typeface="微软雅黑" panose="020B0503020204020204" pitchFamily="34" charset="-122"/>
                <a:ea typeface="微软雅黑" panose="020B0503020204020204" pitchFamily="34" charset="-122"/>
              </a:rPr>
              <a:t>28</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矩形 6"/>
          <p:cNvSpPr/>
          <p:nvPr/>
        </p:nvSpPr>
        <p:spPr>
          <a:xfrm>
            <a:off x="560654" y="2359261"/>
            <a:ext cx="7295177" cy="938719"/>
          </a:xfrm>
          <a:prstGeom prst="rect">
            <a:avLst/>
          </a:prstGeom>
        </p:spPr>
        <p:txBody>
          <a:bodyPr wrap="square">
            <a:spAutoFit/>
          </a:bodyPr>
          <a:lstStyle/>
          <a:p>
            <a:pPr>
              <a:lnSpc>
                <a:spcPts val="2200"/>
              </a:lnSpc>
            </a:pPr>
            <a:r>
              <a:rPr lang="zh-CN" altLang="zh-CN" b="1" dirty="0" smtClean="0">
                <a:latin typeface="微软雅黑" panose="020B0503020204020204" pitchFamily="34" charset="-122"/>
                <a:ea typeface="微软雅黑" panose="020B0503020204020204" pitchFamily="34" charset="-122"/>
              </a:rPr>
              <a:t>根</a:t>
            </a:r>
            <a:r>
              <a:rPr lang="zh-CN" altLang="zh-CN" b="1" dirty="0">
                <a:latin typeface="微软雅黑" panose="020B0503020204020204" pitchFamily="34" charset="-122"/>
                <a:ea typeface="微软雅黑" panose="020B0503020204020204" pitchFamily="34" charset="-122"/>
              </a:rPr>
              <a:t>域名服务器</a:t>
            </a:r>
            <a:r>
              <a:rPr lang="zh-CN" altLang="zh-CN" b="1" dirty="0" smtClean="0">
                <a:latin typeface="微软雅黑" panose="020B0503020204020204" pitchFamily="34" charset="-122"/>
                <a:ea typeface="微软雅黑" panose="020B0503020204020204" pitchFamily="34" charset="-122"/>
              </a:rPr>
              <a:t>采</a:t>
            </a:r>
            <a:r>
              <a:rPr lang="zh-CN" altLang="en-US" b="1" dirty="0" smtClean="0">
                <a:latin typeface="微软雅黑" panose="020B0503020204020204" pitchFamily="34" charset="-122"/>
                <a:ea typeface="微软雅黑" panose="020B0503020204020204" pitchFamily="34" charset="-122"/>
              </a:rPr>
              <a:t>用</a:t>
            </a:r>
            <a:r>
              <a:rPr lang="zh-CN" altLang="zh-CN" b="1" dirty="0" smtClean="0">
                <a:solidFill>
                  <a:srgbClr val="C00000"/>
                </a:solidFill>
                <a:latin typeface="微软雅黑" panose="020B0503020204020204" pitchFamily="34" charset="-122"/>
                <a:ea typeface="微软雅黑" panose="020B0503020204020204" pitchFamily="34" charset="-122"/>
              </a:rPr>
              <a:t>任播</a:t>
            </a:r>
            <a:r>
              <a:rPr lang="en-US" altLang="zh-CN" b="1" dirty="0" smtClean="0">
                <a:latin typeface="微软雅黑" panose="020B0503020204020204" pitchFamily="34" charset="-122"/>
                <a:ea typeface="微软雅黑" panose="020B0503020204020204" pitchFamily="34" charset="-122"/>
              </a:rPr>
              <a:t> (</a:t>
            </a:r>
            <a:r>
              <a:rPr lang="en-US" altLang="zh-CN" b="1" dirty="0" err="1">
                <a:latin typeface="微软雅黑" panose="020B0503020204020204" pitchFamily="34" charset="-122"/>
                <a:ea typeface="微软雅黑" panose="020B0503020204020204" pitchFamily="34" charset="-122"/>
              </a:rPr>
              <a:t>anycast</a:t>
            </a:r>
            <a:r>
              <a:rPr lang="en-US" altLang="zh-CN" b="1" dirty="0" smtClean="0">
                <a:latin typeface="微软雅黑" panose="020B0503020204020204" pitchFamily="34" charset="-122"/>
                <a:ea typeface="微软雅黑" panose="020B0503020204020204" pitchFamily="34" charset="-122"/>
              </a:rPr>
              <a:t>) </a:t>
            </a:r>
            <a:r>
              <a:rPr lang="zh-CN" altLang="zh-CN" b="1" dirty="0" smtClean="0">
                <a:latin typeface="微软雅黑" panose="020B0503020204020204" pitchFamily="34" charset="-122"/>
                <a:ea typeface="微软雅黑" panose="020B0503020204020204" pitchFamily="34" charset="-122"/>
              </a:rPr>
              <a:t>技术</a:t>
            </a:r>
            <a:r>
              <a:rPr lang="zh-CN" altLang="en-US" b="1" dirty="0" smtClean="0">
                <a:latin typeface="微软雅黑" panose="020B0503020204020204" pitchFamily="34" charset="-122"/>
                <a:ea typeface="微软雅黑" panose="020B0503020204020204" pitchFamily="34" charset="-122"/>
              </a:rPr>
              <a:t>，</a:t>
            </a:r>
            <a:r>
              <a:rPr lang="zh-CN" altLang="zh-CN" b="1" dirty="0" smtClean="0">
                <a:latin typeface="微软雅黑" panose="020B0503020204020204" pitchFamily="34" charset="-122"/>
                <a:ea typeface="微软雅黑" panose="020B0503020204020204" pitchFamily="34" charset="-122"/>
              </a:rPr>
              <a:t>当</a:t>
            </a:r>
            <a:r>
              <a:rPr lang="en-US" altLang="zh-CN" b="1" dirty="0" smtClean="0">
                <a:latin typeface="微软雅黑" panose="020B0503020204020204" pitchFamily="34" charset="-122"/>
                <a:ea typeface="微软雅黑" panose="020B0503020204020204" pitchFamily="34" charset="-122"/>
              </a:rPr>
              <a:t>DNS </a:t>
            </a:r>
            <a:r>
              <a:rPr lang="zh-CN" altLang="zh-CN" b="1" dirty="0" smtClean="0">
                <a:latin typeface="微软雅黑" panose="020B0503020204020204" pitchFamily="34" charset="-122"/>
                <a:ea typeface="微软雅黑" panose="020B0503020204020204" pitchFamily="34" charset="-122"/>
              </a:rPr>
              <a:t>客户</a:t>
            </a:r>
            <a:r>
              <a:rPr lang="zh-CN" altLang="zh-CN" b="1" dirty="0">
                <a:latin typeface="微软雅黑" panose="020B0503020204020204" pitchFamily="34" charset="-122"/>
                <a:ea typeface="微软雅黑" panose="020B0503020204020204" pitchFamily="34" charset="-122"/>
              </a:rPr>
              <a:t>向某个根域名</a:t>
            </a:r>
            <a:r>
              <a:rPr lang="zh-CN" altLang="zh-CN" b="1" dirty="0" smtClean="0">
                <a:latin typeface="微软雅黑" panose="020B0503020204020204" pitchFamily="34" charset="-122"/>
                <a:ea typeface="微软雅黑" panose="020B0503020204020204" pitchFamily="34" charset="-122"/>
              </a:rPr>
              <a:t>服务器发出</a:t>
            </a:r>
            <a:r>
              <a:rPr lang="zh-CN" altLang="zh-CN" b="1" dirty="0">
                <a:latin typeface="微软雅黑" panose="020B0503020204020204" pitchFamily="34" charset="-122"/>
                <a:ea typeface="微软雅黑" panose="020B0503020204020204" pitchFamily="34" charset="-122"/>
              </a:rPr>
              <a:t>查询报文时</a:t>
            </a:r>
            <a:r>
              <a:rPr lang="zh-CN" altLang="zh-CN" b="1" dirty="0" smtClean="0">
                <a:latin typeface="微软雅黑" panose="020B0503020204020204" pitchFamily="34" charset="-122"/>
                <a:ea typeface="微软雅黑" panose="020B0503020204020204" pitchFamily="34" charset="-122"/>
              </a:rPr>
              <a:t>，路由器能</a:t>
            </a:r>
            <a:r>
              <a:rPr lang="zh-CN" altLang="zh-CN" b="1" dirty="0">
                <a:latin typeface="微软雅黑" panose="020B0503020204020204" pitchFamily="34" charset="-122"/>
                <a:ea typeface="微软雅黑" panose="020B0503020204020204" pitchFamily="34" charset="-122"/>
              </a:rPr>
              <a:t>找到离</a:t>
            </a:r>
            <a:r>
              <a:rPr lang="zh-CN" altLang="zh-CN" b="1" dirty="0" smtClean="0">
                <a:latin typeface="微软雅黑" panose="020B0503020204020204" pitchFamily="34" charset="-122"/>
                <a:ea typeface="微软雅黑" panose="020B0503020204020204" pitchFamily="34" charset="-122"/>
              </a:rPr>
              <a:t>这个</a:t>
            </a:r>
            <a:r>
              <a:rPr lang="en-US" altLang="zh-CN" b="1" dirty="0" smtClean="0">
                <a:latin typeface="微软雅黑" panose="020B0503020204020204" pitchFamily="34" charset="-122"/>
                <a:ea typeface="微软雅黑" panose="020B0503020204020204" pitchFamily="34" charset="-122"/>
              </a:rPr>
              <a:t> DNS </a:t>
            </a:r>
            <a:r>
              <a:rPr lang="zh-CN" altLang="zh-CN" b="1" dirty="0" smtClean="0">
                <a:latin typeface="微软雅黑" panose="020B0503020204020204" pitchFamily="34" charset="-122"/>
                <a:ea typeface="微软雅黑" panose="020B0503020204020204" pitchFamily="34" charset="-122"/>
              </a:rPr>
              <a:t>客户</a:t>
            </a:r>
            <a:r>
              <a:rPr lang="zh-CN" altLang="zh-CN" b="1" dirty="0">
                <a:solidFill>
                  <a:srgbClr val="C00000"/>
                </a:solidFill>
                <a:latin typeface="微软雅黑" panose="020B0503020204020204" pitchFamily="34" charset="-122"/>
                <a:ea typeface="微软雅黑" panose="020B0503020204020204" pitchFamily="34" charset="-122"/>
              </a:rPr>
              <a:t>最近</a:t>
            </a:r>
            <a:r>
              <a:rPr lang="zh-CN" altLang="zh-CN" b="1" dirty="0">
                <a:latin typeface="微软雅黑" panose="020B0503020204020204" pitchFamily="34" charset="-122"/>
                <a:ea typeface="微软雅黑" panose="020B0503020204020204" pitchFamily="34" charset="-122"/>
              </a:rPr>
              <a:t>的一个根域名服务器</a:t>
            </a:r>
            <a:r>
              <a:rPr lang="zh-CN" altLang="zh-CN" b="1" dirty="0" smtClean="0">
                <a:latin typeface="微软雅黑" panose="020B0503020204020204" pitchFamily="34" charset="-122"/>
                <a:ea typeface="微软雅黑" panose="020B0503020204020204" pitchFamily="34" charset="-122"/>
              </a:rPr>
              <a:t>。</a:t>
            </a:r>
            <a:endParaRPr lang="zh-CN" altLang="zh-CN" b="1" dirty="0">
              <a:latin typeface="微软雅黑" panose="020B0503020204020204" pitchFamily="34" charset="-122"/>
              <a:ea typeface="微软雅黑" panose="020B0503020204020204" pitchFamily="34" charset="-122"/>
            </a:endParaRPr>
          </a:p>
        </p:txBody>
      </p:sp>
      <p:sp>
        <p:nvSpPr>
          <p:cNvPr id="13" name="矩形 12"/>
          <p:cNvSpPr/>
          <p:nvPr/>
        </p:nvSpPr>
        <p:spPr>
          <a:xfrm>
            <a:off x="574719" y="1197909"/>
            <a:ext cx="7401252" cy="1015663"/>
          </a:xfrm>
          <a:prstGeom prst="rect">
            <a:avLst/>
          </a:prstGeom>
        </p:spPr>
        <p:txBody>
          <a:bodyPr wrap="square">
            <a:spAutoFit/>
          </a:bodyPr>
          <a:lstStyle/>
          <a:p>
            <a:pPr>
              <a:lnSpc>
                <a:spcPts val="2200"/>
              </a:lnSpc>
              <a:spcAft>
                <a:spcPts val="600"/>
              </a:spcAft>
            </a:pPr>
            <a:r>
              <a:rPr lang="zh-CN" altLang="en-US" b="1" dirty="0">
                <a:latin typeface="微软雅黑" panose="020B0503020204020204" pitchFamily="34" charset="-122"/>
                <a:ea typeface="微软雅黑" panose="020B0503020204020204" pitchFamily="34" charset="-122"/>
              </a:rPr>
              <a:t>根域名</a:t>
            </a:r>
            <a:r>
              <a:rPr lang="zh-CN" altLang="en-US" b="1" dirty="0" smtClean="0">
                <a:latin typeface="微软雅黑" panose="020B0503020204020204" pitchFamily="34" charset="-122"/>
                <a:ea typeface="微软雅黑" panose="020B0503020204020204" pitchFamily="34" charset="-122"/>
              </a:rPr>
              <a:t>服务器</a:t>
            </a:r>
            <a:r>
              <a:rPr lang="zh-CN" altLang="en-US" b="1" dirty="0" smtClean="0">
                <a:solidFill>
                  <a:srgbClr val="C00000"/>
                </a:solidFill>
                <a:latin typeface="微软雅黑" panose="020B0503020204020204" pitchFamily="34" charset="-122"/>
                <a:ea typeface="微软雅黑" panose="020B0503020204020204" pitchFamily="34" charset="-122"/>
              </a:rPr>
              <a:t>分布</a:t>
            </a:r>
            <a:r>
              <a:rPr lang="zh-CN" altLang="en-US" b="1" dirty="0">
                <a:latin typeface="微软雅黑" panose="020B0503020204020204" pitchFamily="34" charset="-122"/>
                <a:ea typeface="微软雅黑" panose="020B0503020204020204" pitchFamily="34" charset="-122"/>
              </a:rPr>
              <a:t>在全世界</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a:lnSpc>
                <a:spcPts val="2200"/>
              </a:lnSpc>
            </a:pPr>
            <a:r>
              <a:rPr lang="zh-CN" altLang="en-US" b="1" dirty="0" smtClean="0">
                <a:latin typeface="微软雅黑" panose="020B0503020204020204" pitchFamily="34" charset="-122"/>
                <a:ea typeface="微软雅黑" panose="020B0503020204020204" pitchFamily="34" charset="-122"/>
              </a:rPr>
              <a:t>为了</a:t>
            </a:r>
            <a:r>
              <a:rPr lang="zh-CN" altLang="en-US" b="1" dirty="0">
                <a:latin typeface="微软雅黑" panose="020B0503020204020204" pitchFamily="34" charset="-122"/>
                <a:ea typeface="微软雅黑" panose="020B0503020204020204" pitchFamily="34" charset="-122"/>
              </a:rPr>
              <a:t>提供更可靠的服务，在每一个地点的根域名服务器往往由</a:t>
            </a:r>
            <a:r>
              <a:rPr lang="zh-CN" altLang="en-US" b="1" dirty="0">
                <a:solidFill>
                  <a:srgbClr val="C00000"/>
                </a:solidFill>
                <a:latin typeface="微软雅黑" panose="020B0503020204020204" pitchFamily="34" charset="-122"/>
                <a:ea typeface="微软雅黑" panose="020B0503020204020204" pitchFamily="34" charset="-122"/>
              </a:rPr>
              <a:t>多台</a:t>
            </a:r>
            <a:r>
              <a:rPr lang="zh-CN" altLang="en-US" b="1" dirty="0">
                <a:latin typeface="微软雅黑" panose="020B0503020204020204" pitchFamily="34" charset="-122"/>
                <a:ea typeface="微软雅黑" panose="020B0503020204020204" pitchFamily="34" charset="-122"/>
              </a:rPr>
              <a:t>机器</a:t>
            </a:r>
            <a:r>
              <a:rPr lang="zh-CN" altLang="en-US" b="1" dirty="0" smtClean="0">
                <a:latin typeface="微软雅黑" panose="020B0503020204020204" pitchFamily="34" charset="-122"/>
                <a:ea typeface="微软雅黑" panose="020B0503020204020204" pitchFamily="34" charset="-122"/>
              </a:rPr>
              <a:t>组成。</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对角圆角矩形 9"/>
          <p:cNvSpPr/>
          <p:nvPr/>
        </p:nvSpPr>
        <p:spPr>
          <a:xfrm>
            <a:off x="821079" y="1146582"/>
            <a:ext cx="7488420" cy="176529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68"/>
          <p:cNvSpPr>
            <a:spLocks noChangeArrowheads="1"/>
          </p:cNvSpPr>
          <p:nvPr/>
        </p:nvSpPr>
        <p:spPr bwMode="auto">
          <a:xfrm>
            <a:off x="1074198" y="1259680"/>
            <a:ext cx="7057748" cy="152862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smtClean="0">
                <a:solidFill>
                  <a:srgbClr val="FFFF00"/>
                </a:solidFill>
                <a:latin typeface="微软雅黑" panose="020B0503020204020204" pitchFamily="34" charset="-122"/>
                <a:ea typeface="微软雅黑" panose="020B0503020204020204" pitchFamily="34" charset="-122"/>
              </a:rPr>
              <a:t>注意：</a:t>
            </a:r>
            <a:endParaRPr lang="en-US" altLang="zh-CN" b="1" dirty="0" smtClean="0">
              <a:solidFill>
                <a:srgbClr val="FFFF00"/>
              </a:solidFill>
              <a:latin typeface="微软雅黑" panose="020B0503020204020204" pitchFamily="34" charset="-122"/>
              <a:ea typeface="微软雅黑" panose="020B0503020204020204" pitchFamily="34" charset="-122"/>
            </a:endParaRPr>
          </a:p>
          <a:p>
            <a:pPr eaLnBrk="0" hangingPunct="0">
              <a:lnSpc>
                <a:spcPts val="2800"/>
              </a:lnSpc>
              <a:buClr>
                <a:srgbClr val="0070C0"/>
              </a:buClr>
            </a:pPr>
            <a:r>
              <a:rPr lang="zh-CN" altLang="en-US" b="1" dirty="0" smtClean="0">
                <a:solidFill>
                  <a:schemeClr val="bg1"/>
                </a:solidFill>
                <a:latin typeface="微软雅黑" panose="020B0503020204020204" pitchFamily="34" charset="-122"/>
                <a:ea typeface="微软雅黑" panose="020B0503020204020204" pitchFamily="34" charset="-122"/>
              </a:rPr>
              <a:t>根</a:t>
            </a:r>
            <a:r>
              <a:rPr lang="zh-CN" altLang="en-US" b="1" dirty="0">
                <a:solidFill>
                  <a:schemeClr val="bg1"/>
                </a:solidFill>
                <a:latin typeface="微软雅黑" panose="020B0503020204020204" pitchFamily="34" charset="-122"/>
                <a:ea typeface="微软雅黑" panose="020B0503020204020204" pitchFamily="34" charset="-122"/>
              </a:rPr>
              <a:t>域名服务器并</a:t>
            </a:r>
            <a:r>
              <a:rPr lang="zh-CN" altLang="en-US" b="1" dirty="0">
                <a:solidFill>
                  <a:srgbClr val="FFFF00"/>
                </a:solidFill>
                <a:latin typeface="微软雅黑" panose="020B0503020204020204" pitchFamily="34" charset="-122"/>
                <a:ea typeface="微软雅黑" panose="020B0503020204020204" pitchFamily="34" charset="-122"/>
              </a:rPr>
              <a:t>不直接</a:t>
            </a:r>
            <a:r>
              <a:rPr lang="zh-CN" altLang="en-US" b="1" dirty="0">
                <a:solidFill>
                  <a:schemeClr val="bg1"/>
                </a:solidFill>
                <a:latin typeface="微软雅黑" panose="020B0503020204020204" pitchFamily="34" charset="-122"/>
                <a:ea typeface="微软雅黑" panose="020B0503020204020204" pitchFamily="34" charset="-122"/>
              </a:rPr>
              <a:t>把</a:t>
            </a:r>
            <a:r>
              <a:rPr lang="zh-CN" altLang="en-US" b="1" dirty="0" smtClean="0">
                <a:solidFill>
                  <a:schemeClr val="bg1"/>
                </a:solidFill>
                <a:latin typeface="微软雅黑" panose="020B0503020204020204" pitchFamily="34" charset="-122"/>
                <a:ea typeface="微软雅黑" panose="020B0503020204020204" pitchFamily="34" charset="-122"/>
              </a:rPr>
              <a:t>域名转换</a:t>
            </a:r>
            <a:r>
              <a:rPr lang="zh-CN" altLang="en-US" b="1" dirty="0">
                <a:solidFill>
                  <a:schemeClr val="bg1"/>
                </a:solidFill>
                <a:latin typeface="微软雅黑" panose="020B0503020204020204" pitchFamily="34" charset="-122"/>
                <a:ea typeface="微软雅黑" panose="020B0503020204020204" pitchFamily="34" charset="-122"/>
              </a:rPr>
              <a:t>成 </a:t>
            </a:r>
            <a:r>
              <a:rPr lang="en-US" altLang="zh-CN" b="1" dirty="0">
                <a:solidFill>
                  <a:schemeClr val="bg1"/>
                </a:solidFill>
                <a:latin typeface="微软雅黑" panose="020B0503020204020204" pitchFamily="34" charset="-122"/>
                <a:ea typeface="微软雅黑" panose="020B0503020204020204" pitchFamily="34" charset="-122"/>
              </a:rPr>
              <a:t>IP </a:t>
            </a:r>
            <a:r>
              <a:rPr lang="zh-CN" altLang="en-US" b="1" dirty="0" smtClean="0">
                <a:solidFill>
                  <a:schemeClr val="bg1"/>
                </a:solidFill>
                <a:latin typeface="微软雅黑" panose="020B0503020204020204" pitchFamily="34" charset="-122"/>
                <a:ea typeface="微软雅黑" panose="020B0503020204020204" pitchFamily="34" charset="-122"/>
              </a:rPr>
              <a:t>地址（</a:t>
            </a:r>
            <a:r>
              <a:rPr lang="zh-CN" altLang="en-US" b="1" dirty="0">
                <a:solidFill>
                  <a:schemeClr val="bg1"/>
                </a:solidFill>
                <a:latin typeface="微软雅黑" panose="020B0503020204020204" pitchFamily="34" charset="-122"/>
                <a:ea typeface="微软雅黑" panose="020B0503020204020204" pitchFamily="34" charset="-122"/>
              </a:rPr>
              <a:t>根域名服务器也没有存放这种信息</a:t>
            </a:r>
            <a:r>
              <a:rPr lang="zh-CN" altLang="en-US" b="1" dirty="0" smtClean="0">
                <a:solidFill>
                  <a:schemeClr val="bg1"/>
                </a:solidFill>
                <a:latin typeface="微软雅黑" panose="020B0503020204020204" pitchFamily="34" charset="-122"/>
                <a:ea typeface="微软雅黑" panose="020B0503020204020204" pitchFamily="34" charset="-122"/>
              </a:rPr>
              <a:t>），而是</a:t>
            </a:r>
            <a:r>
              <a:rPr lang="zh-CN" altLang="en-US" b="1" dirty="0">
                <a:solidFill>
                  <a:srgbClr val="FFC000"/>
                </a:solidFill>
                <a:latin typeface="微软雅黑" panose="020B0503020204020204" pitchFamily="34" charset="-122"/>
                <a:ea typeface="微软雅黑" panose="020B0503020204020204" pitchFamily="34" charset="-122"/>
              </a:rPr>
              <a:t>告诉</a:t>
            </a:r>
            <a:r>
              <a:rPr lang="zh-CN" altLang="en-US" b="1" dirty="0">
                <a:solidFill>
                  <a:srgbClr val="FFFF00"/>
                </a:solidFill>
                <a:latin typeface="微软雅黑" panose="020B0503020204020204" pitchFamily="34" charset="-122"/>
                <a:ea typeface="微软雅黑" panose="020B0503020204020204" pitchFamily="34" charset="-122"/>
              </a:rPr>
              <a:t>本地域名服务器</a:t>
            </a:r>
            <a:r>
              <a:rPr lang="zh-CN" altLang="en-US" b="1" dirty="0">
                <a:solidFill>
                  <a:schemeClr val="bg1"/>
                </a:solidFill>
                <a:latin typeface="微软雅黑" panose="020B0503020204020204" pitchFamily="34" charset="-122"/>
                <a:ea typeface="微软雅黑" panose="020B0503020204020204" pitchFamily="34" charset="-122"/>
              </a:rPr>
              <a:t>下一步应当找哪一个</a:t>
            </a:r>
            <a:r>
              <a:rPr lang="zh-CN" altLang="en-US" b="1" dirty="0">
                <a:solidFill>
                  <a:srgbClr val="FFC000"/>
                </a:solidFill>
                <a:latin typeface="微软雅黑" panose="020B0503020204020204" pitchFamily="34" charset="-122"/>
                <a:ea typeface="微软雅黑" panose="020B0503020204020204" pitchFamily="34" charset="-122"/>
              </a:rPr>
              <a:t>顶级域名服务器</a:t>
            </a:r>
            <a:r>
              <a:rPr lang="zh-CN" altLang="en-US" b="1" dirty="0">
                <a:solidFill>
                  <a:schemeClr val="bg1"/>
                </a:solidFill>
                <a:latin typeface="微软雅黑" panose="020B0503020204020204" pitchFamily="34" charset="-122"/>
                <a:ea typeface="微软雅黑" panose="020B0503020204020204" pitchFamily="34" charset="-122"/>
              </a:rPr>
              <a:t>进行查询</a:t>
            </a:r>
            <a:r>
              <a:rPr lang="zh-CN" altLang="en-US" b="1" dirty="0" smtClean="0">
                <a:solidFill>
                  <a:schemeClr val="bg1"/>
                </a:solidFill>
                <a:latin typeface="微软雅黑" panose="020B0503020204020204" pitchFamily="34" charset="-122"/>
                <a:ea typeface="微软雅黑" panose="020B0503020204020204" pitchFamily="34" charset="-122"/>
              </a:rPr>
              <a:t>。</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98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36648" y="585484"/>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2. </a:t>
            </a:r>
            <a:r>
              <a:rPr lang="zh-CN" altLang="en-US" sz="2000" b="1" dirty="0" smtClean="0">
                <a:solidFill>
                  <a:schemeClr val="bg1"/>
                </a:solidFill>
                <a:latin typeface="微软雅黑" panose="020B0503020204020204" pitchFamily="34" charset="-122"/>
                <a:ea typeface="微软雅黑" panose="020B0503020204020204" pitchFamily="34" charset="-122"/>
              </a:rPr>
              <a:t>顶级</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966432"/>
            <a:ext cx="820529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顶级域名服务器（即 </a:t>
            </a:r>
            <a:r>
              <a:rPr lang="en-US" altLang="zh-CN" sz="2000" b="1" dirty="0">
                <a:solidFill>
                  <a:srgbClr val="0000FF"/>
                </a:solidFill>
                <a:latin typeface="微软雅黑" panose="020B0503020204020204" pitchFamily="34" charset="-122"/>
                <a:ea typeface="微软雅黑" panose="020B0503020204020204" pitchFamily="34" charset="-122"/>
              </a:rPr>
              <a:t>TLD </a:t>
            </a:r>
            <a:r>
              <a:rPr lang="zh-CN" altLang="en-US" sz="2000" b="1" dirty="0">
                <a:solidFill>
                  <a:srgbClr val="0000FF"/>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）负责管理在该顶级域名服务器注册的</a:t>
            </a:r>
            <a:r>
              <a:rPr lang="zh-CN" altLang="en-US" sz="2000" b="1" dirty="0">
                <a:solidFill>
                  <a:srgbClr val="0000FF"/>
                </a:solidFill>
                <a:latin typeface="微软雅黑" panose="020B0503020204020204" pitchFamily="34" charset="-122"/>
                <a:ea typeface="微软雅黑" panose="020B0503020204020204" pitchFamily="34" charset="-122"/>
              </a:rPr>
              <a:t>所有二级域名</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当收到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查询请求时，就给出相应的回答（可能是最后的结果，也可能是下一步应当找的域名服务器的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5"/>
          <p:cNvSpPr>
            <a:spLocks noChangeArrowheads="1"/>
          </p:cNvSpPr>
          <p:nvPr/>
        </p:nvSpPr>
        <p:spPr bwMode="auto">
          <a:xfrm>
            <a:off x="556963" y="6137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3" name="Rectangle 6"/>
          <p:cNvSpPr>
            <a:spLocks noChangeArrowheads="1"/>
          </p:cNvSpPr>
          <p:nvPr/>
        </p:nvSpPr>
        <p:spPr bwMode="auto">
          <a:xfrm>
            <a:off x="3436648" y="580586"/>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3. </a:t>
            </a:r>
            <a:r>
              <a:rPr lang="zh-CN" altLang="en-US" sz="2000" b="1" dirty="0" smtClean="0">
                <a:solidFill>
                  <a:schemeClr val="bg1"/>
                </a:solidFill>
                <a:latin typeface="微软雅黑" panose="020B0503020204020204" pitchFamily="34" charset="-122"/>
                <a:ea typeface="微软雅黑" panose="020B0503020204020204" pitchFamily="34" charset="-122"/>
              </a:rPr>
              <a:t>权限</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4" name="Rectangle 68"/>
          <p:cNvSpPr>
            <a:spLocks noChangeArrowheads="1"/>
          </p:cNvSpPr>
          <p:nvPr/>
        </p:nvSpPr>
        <p:spPr bwMode="auto">
          <a:xfrm>
            <a:off x="556963" y="979290"/>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负责一个</a:t>
            </a:r>
            <a:r>
              <a:rPr lang="zh-CN" altLang="en-US" sz="2000" b="1" dirty="0" smtClean="0">
                <a:latin typeface="微软雅黑" panose="020B0503020204020204" pitchFamily="34" charset="-122"/>
                <a:ea typeface="微软雅黑" panose="020B0503020204020204" pitchFamily="34" charset="-122"/>
              </a:rPr>
              <a:t>区（</a:t>
            </a:r>
            <a:r>
              <a:rPr lang="en-US" altLang="zh-CN" sz="2000" b="1" dirty="0" smtClean="0">
                <a:latin typeface="微软雅黑" panose="020B0503020204020204" pitchFamily="34" charset="-122"/>
                <a:ea typeface="微软雅黑" panose="020B0503020204020204" pitchFamily="34" charset="-122"/>
              </a:rPr>
              <a:t>zone</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当一个权限域名服务器还不能给出最后的查询回答时，就会告诉发出查询请求的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客户，下一步应当找哪一个权限域名服务器。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54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436648" y="582222"/>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4. </a:t>
            </a:r>
            <a:r>
              <a:rPr lang="zh-CN" altLang="en-US" sz="2000" b="1" dirty="0" smtClean="0">
                <a:solidFill>
                  <a:schemeClr val="bg1"/>
                </a:solidFill>
                <a:latin typeface="微软雅黑" panose="020B0503020204020204" pitchFamily="34" charset="-122"/>
                <a:ea typeface="微软雅黑" panose="020B0503020204020204" pitchFamily="34" charset="-122"/>
              </a:rPr>
              <a:t>本地</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3" y="972048"/>
            <a:ext cx="8048776"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非常</a:t>
            </a:r>
            <a:r>
              <a:rPr lang="zh-CN" altLang="en-US" sz="2000" b="1" dirty="0">
                <a:solidFill>
                  <a:srgbClr val="C00000"/>
                </a:solidFill>
                <a:latin typeface="微软雅黑" panose="020B0503020204020204" pitchFamily="34" charset="-122"/>
                <a:ea typeface="微软雅黑" panose="020B0503020204020204" pitchFamily="34" charset="-122"/>
              </a:rPr>
              <a:t>重要。</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一个主机发出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查询请求时</a:t>
            </a:r>
            <a:r>
              <a:rPr lang="zh-CN" altLang="en-US" sz="2000" b="1" dirty="0" smtClean="0">
                <a:latin typeface="微软雅黑" panose="020B0503020204020204" pitchFamily="34" charset="-122"/>
                <a:ea typeface="微软雅黑" panose="020B0503020204020204" pitchFamily="34" charset="-122"/>
              </a:rPr>
              <a:t>，该查询</a:t>
            </a:r>
            <a:r>
              <a:rPr lang="zh-CN" altLang="en-US" sz="2000" b="1" dirty="0">
                <a:latin typeface="微软雅黑" panose="020B0503020204020204" pitchFamily="34" charset="-122"/>
                <a:ea typeface="微软雅黑" panose="020B0503020204020204" pitchFamily="34" charset="-122"/>
              </a:rPr>
              <a:t>请求报文就</a:t>
            </a:r>
            <a:r>
              <a:rPr lang="zh-CN" altLang="en-US" sz="2000" b="1" dirty="0">
                <a:solidFill>
                  <a:srgbClr val="C00000"/>
                </a:solidFill>
                <a:latin typeface="微软雅黑" panose="020B0503020204020204" pitchFamily="34" charset="-122"/>
                <a:ea typeface="微软雅黑" panose="020B0503020204020204" pitchFamily="34" charset="-122"/>
              </a:rPr>
              <a:t>发送</a:t>
            </a:r>
            <a:r>
              <a:rPr lang="zh-CN" altLang="en-US" sz="2000" b="1" dirty="0">
                <a:latin typeface="微软雅黑" panose="020B0503020204020204" pitchFamily="34" charset="-122"/>
                <a:ea typeface="微软雅黑" panose="020B0503020204020204" pitchFamily="34" charset="-122"/>
              </a:rPr>
              <a:t>给本地域名服务器。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每一个互联网服务提供者 </a:t>
            </a:r>
            <a:r>
              <a:rPr lang="en-US" altLang="zh-CN" sz="2000" b="1" dirty="0" smtClean="0">
                <a:latin typeface="微软雅黑" panose="020B0503020204020204" pitchFamily="34" charset="-122"/>
                <a:ea typeface="微软雅黑" panose="020B0503020204020204" pitchFamily="34" charset="-122"/>
              </a:rPr>
              <a:t>ISP </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latin typeface="微软雅黑" panose="020B0503020204020204" pitchFamily="34" charset="-122"/>
                <a:ea typeface="微软雅黑" panose="020B0503020204020204" pitchFamily="34" charset="-122"/>
              </a:rPr>
              <a:t>一个</a:t>
            </a:r>
            <a:r>
              <a:rPr lang="zh-CN" altLang="en-US" sz="2000" b="1" dirty="0" smtClean="0">
                <a:latin typeface="微软雅黑" panose="020B0503020204020204" pitchFamily="34" charset="-122"/>
                <a:ea typeface="微软雅黑" panose="020B0503020204020204" pitchFamily="34" charset="-122"/>
              </a:rPr>
              <a:t>大学，</a:t>
            </a:r>
            <a:r>
              <a:rPr lang="zh-CN" altLang="en-US" sz="2000" b="1" dirty="0">
                <a:latin typeface="微软雅黑" panose="020B0503020204020204" pitchFamily="34" charset="-122"/>
                <a:ea typeface="微软雅黑" panose="020B0503020204020204" pitchFamily="34" charset="-122"/>
              </a:rPr>
              <a:t>都可以拥有一个本地域名</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当所要查询的主机也属于同一个</a:t>
            </a:r>
            <a:r>
              <a:rPr lang="zh-CN" altLang="en-US" sz="2000" b="1" dirty="0" smtClean="0">
                <a:latin typeface="微软雅黑" panose="020B0503020204020204" pitchFamily="34" charset="-122"/>
                <a:ea typeface="微软雅黑" panose="020B0503020204020204" pitchFamily="34" charset="-122"/>
              </a:rPr>
              <a:t>本地 </a:t>
            </a:r>
            <a:r>
              <a:rPr lang="en-US" altLang="zh-CN" sz="2000" b="1" dirty="0" smtClean="0">
                <a:latin typeface="微软雅黑" panose="020B0503020204020204" pitchFamily="34" charset="-122"/>
                <a:ea typeface="微软雅黑" panose="020B0503020204020204" pitchFamily="34" charset="-122"/>
              </a:rPr>
              <a:t>ISP </a:t>
            </a:r>
            <a:r>
              <a:rPr lang="zh-CN" altLang="en-US" sz="2000" b="1" dirty="0" smtClean="0">
                <a:latin typeface="微软雅黑" panose="020B0503020204020204" pitchFamily="34" charset="-122"/>
                <a:ea typeface="微软雅黑" panose="020B0503020204020204" pitchFamily="34" charset="-122"/>
              </a:rPr>
              <a:t>时</a:t>
            </a:r>
            <a:r>
              <a:rPr lang="zh-CN" altLang="en-US" sz="2000" b="1" dirty="0">
                <a:latin typeface="微软雅黑" panose="020B0503020204020204" pitchFamily="34" charset="-122"/>
                <a:ea typeface="微软雅黑" panose="020B0503020204020204" pitchFamily="34" charset="-122"/>
              </a:rPr>
              <a:t>，该本地域名服务器立即就能将所查询的主机名转换为它</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，而</a:t>
            </a:r>
            <a:r>
              <a:rPr lang="zh-CN" altLang="en-US" sz="2000" b="1" dirty="0">
                <a:solidFill>
                  <a:srgbClr val="C00000"/>
                </a:solidFill>
                <a:latin typeface="微软雅黑" panose="020B0503020204020204" pitchFamily="34" charset="-122"/>
                <a:ea typeface="微软雅黑" panose="020B0503020204020204" pitchFamily="34" charset="-122"/>
              </a:rPr>
              <a:t>不需要</a:t>
            </a:r>
            <a:r>
              <a:rPr lang="zh-CN" altLang="en-US" sz="2000" b="1" dirty="0">
                <a:latin typeface="微软雅黑" panose="020B0503020204020204" pitchFamily="34" charset="-122"/>
                <a:ea typeface="微软雅黑" panose="020B0503020204020204" pitchFamily="34" charset="-122"/>
              </a:rPr>
              <a:t>再去询问其他的域名服务器。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本地域名服务器有时也称为</a:t>
            </a:r>
            <a:r>
              <a:rPr lang="zh-CN" altLang="en-US" sz="2000" b="1" dirty="0">
                <a:solidFill>
                  <a:srgbClr val="C00000"/>
                </a:solidFill>
                <a:latin typeface="微软雅黑" panose="020B0503020204020204" pitchFamily="34" charset="-122"/>
                <a:ea typeface="微软雅黑" panose="020B0503020204020204" pitchFamily="34" charset="-122"/>
              </a:rPr>
              <a:t>默认域名服务器</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54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078377" y="582285"/>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提高域名服务器的可靠性</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 name="Rectangle 68"/>
          <p:cNvSpPr>
            <a:spLocks noChangeArrowheads="1"/>
          </p:cNvSpPr>
          <p:nvPr/>
        </p:nvSpPr>
        <p:spPr bwMode="auto">
          <a:xfrm>
            <a:off x="556963" y="96323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域名服务器都把数据复制到几个域名服务器来保存，其中的一个是</a:t>
            </a:r>
            <a:r>
              <a:rPr lang="zh-CN" altLang="en-US" sz="2000" b="1" dirty="0">
                <a:solidFill>
                  <a:srgbClr val="C00000"/>
                </a:solidFill>
                <a:latin typeface="微软雅黑" panose="020B0503020204020204" pitchFamily="34" charset="-122"/>
                <a:ea typeface="微软雅黑" panose="020B0503020204020204" pitchFamily="34" charset="-122"/>
              </a:rPr>
              <a:t>主域名服务器，</a:t>
            </a:r>
            <a:r>
              <a:rPr lang="zh-CN" altLang="en-US" sz="2000" b="1" dirty="0">
                <a:latin typeface="微软雅黑" panose="020B0503020204020204" pitchFamily="34" charset="-122"/>
                <a:ea typeface="微软雅黑" panose="020B0503020204020204" pitchFamily="34" charset="-122"/>
              </a:rPr>
              <a:t>其他的是</a:t>
            </a:r>
            <a:r>
              <a:rPr lang="zh-CN" altLang="en-US" sz="2000" b="1" dirty="0">
                <a:solidFill>
                  <a:srgbClr val="C00000"/>
                </a:solidFill>
                <a:latin typeface="微软雅黑" panose="020B0503020204020204" pitchFamily="34" charset="-122"/>
                <a:ea typeface="微软雅黑" panose="020B0503020204020204" pitchFamily="34" charset="-122"/>
              </a:rPr>
              <a:t>辅助域名服务器。</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当主域名服务器出故障时，辅助域名服务器可以保证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的查询工作不会中断。</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主域名服务器</a:t>
            </a:r>
            <a:r>
              <a:rPr lang="zh-CN" altLang="en-US" sz="2000" b="1" dirty="0">
                <a:solidFill>
                  <a:srgbClr val="C00000"/>
                </a:solidFill>
                <a:latin typeface="微软雅黑" panose="020B0503020204020204" pitchFamily="34" charset="-122"/>
                <a:ea typeface="微软雅黑" panose="020B0503020204020204" pitchFamily="34" charset="-122"/>
              </a:rPr>
              <a:t>定期</a:t>
            </a:r>
            <a:r>
              <a:rPr lang="zh-CN" altLang="en-US" sz="2000" b="1" dirty="0">
                <a:latin typeface="微软雅黑" panose="020B0503020204020204" pitchFamily="34" charset="-122"/>
                <a:ea typeface="微软雅黑" panose="020B0503020204020204" pitchFamily="34" charset="-122"/>
              </a:rPr>
              <a:t>把数据复制到辅助域名服务器中，而</a:t>
            </a:r>
            <a:r>
              <a:rPr lang="zh-CN" altLang="en-US" sz="2000" b="1" dirty="0">
                <a:solidFill>
                  <a:srgbClr val="C00000"/>
                </a:solidFill>
                <a:latin typeface="微软雅黑" panose="020B0503020204020204" pitchFamily="34" charset="-122"/>
                <a:ea typeface="微软雅黑" panose="020B0503020204020204" pitchFamily="34" charset="-122"/>
              </a:rPr>
              <a:t>更改</a:t>
            </a:r>
            <a:r>
              <a:rPr lang="zh-CN" altLang="en-US" sz="2000" b="1" dirty="0">
                <a:latin typeface="微软雅黑" panose="020B0503020204020204" pitchFamily="34" charset="-122"/>
                <a:ea typeface="微软雅黑" panose="020B0503020204020204" pitchFamily="34" charset="-122"/>
              </a:rPr>
              <a:t>数据</a:t>
            </a:r>
            <a:r>
              <a:rPr lang="zh-CN" altLang="en-US" sz="2000" b="1" dirty="0">
                <a:solidFill>
                  <a:srgbClr val="C00000"/>
                </a:solidFill>
                <a:latin typeface="微软雅黑" panose="020B0503020204020204" pitchFamily="34" charset="-122"/>
                <a:ea typeface="微软雅黑" panose="020B0503020204020204" pitchFamily="34" charset="-122"/>
              </a:rPr>
              <a:t>只能</a:t>
            </a:r>
            <a:r>
              <a:rPr lang="zh-CN" altLang="en-US" sz="2000" b="1" dirty="0">
                <a:latin typeface="微软雅黑" panose="020B0503020204020204" pitchFamily="34" charset="-122"/>
                <a:ea typeface="微软雅黑" panose="020B0503020204020204" pitchFamily="34" charset="-122"/>
              </a:rPr>
              <a:t>在主域名服务器中</a:t>
            </a:r>
            <a:r>
              <a:rPr lang="zh-CN" altLang="en-US" sz="2000" b="1" dirty="0" smtClean="0">
                <a:latin typeface="微软雅黑" panose="020B0503020204020204" pitchFamily="34" charset="-122"/>
                <a:ea typeface="微软雅黑" panose="020B0503020204020204" pitchFamily="34" charset="-122"/>
              </a:rPr>
              <a:t>进行</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保证</a:t>
            </a:r>
            <a:r>
              <a:rPr lang="zh-CN" altLang="en-US" sz="2000" b="1" dirty="0">
                <a:latin typeface="微软雅黑" panose="020B0503020204020204" pitchFamily="34" charset="-122"/>
                <a:ea typeface="微软雅黑" panose="020B0503020204020204" pitchFamily="34" charset="-122"/>
              </a:rPr>
              <a:t>了数据的一致性</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7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38" y="583567"/>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域名的解析</a:t>
            </a:r>
            <a:r>
              <a:rPr lang="zh-CN" altLang="en-US" sz="2000" b="1" dirty="0" smtClean="0">
                <a:solidFill>
                  <a:schemeClr val="bg1"/>
                </a:solidFill>
                <a:latin typeface="微软雅黑" panose="020B0503020204020204" pitchFamily="34" charset="-122"/>
                <a:ea typeface="微软雅黑" panose="020B0503020204020204" pitchFamily="34" charset="-122"/>
              </a:rPr>
              <a:t>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1417466" y="1107923"/>
          <a:ext cx="6474781" cy="284264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迭代查询</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00FF"/>
                </a:solidFill>
                <a:latin typeface="微软雅黑" panose="020B0503020204020204" pitchFamily="34" charset="-122"/>
                <a:ea typeface="微软雅黑" panose="020B0503020204020204" pitchFamily="34" charset="-122"/>
              </a:rPr>
              <a:t>顶级域名服务器</a:t>
            </a:r>
            <a:endParaRPr kumimoji="1" lang="zh-CN" altLang="en-US" sz="1400" b="1" dirty="0">
              <a:solidFill>
                <a:srgbClr val="99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9900FF"/>
                </a:solidFill>
                <a:latin typeface="微软雅黑" panose="020B0503020204020204" pitchFamily="34" charset="-122"/>
                <a:ea typeface="微软雅黑" panose="020B0503020204020204" pitchFamily="34" charset="-122"/>
              </a:rPr>
              <a:t>dns.com</a:t>
            </a:r>
            <a:endParaRPr kumimoji="1" lang="en-US" altLang="zh-CN" sz="1400" b="1" dirty="0">
              <a:solidFill>
                <a:srgbClr val="9900FF"/>
              </a:solidFill>
              <a:latin typeface="微软雅黑" panose="020B0503020204020204" pitchFamily="34" charset="-122"/>
              <a:ea typeface="微软雅黑" panose="020B0503020204020204" pitchFamily="34" charset="-122"/>
            </a:endParaRP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3300"/>
                </a:solidFill>
                <a:latin typeface="微软雅黑" panose="020B0503020204020204" pitchFamily="34" charset="-122"/>
                <a:ea typeface="微软雅黑" panose="020B0503020204020204" pitchFamily="34" charset="-122"/>
              </a:rPr>
              <a:t>权限</a:t>
            </a:r>
            <a:r>
              <a:rPr kumimoji="1" lang="zh-CN" altLang="zh-CN" sz="1400" b="1" dirty="0">
                <a:solidFill>
                  <a:srgbClr val="993300"/>
                </a:solidFill>
                <a:latin typeface="微软雅黑" panose="020B0503020204020204" pitchFamily="34" charset="-122"/>
                <a:ea typeface="微软雅黑" panose="020B0503020204020204" pitchFamily="34" charset="-122"/>
              </a:rPr>
              <a:t>域名服务</a:t>
            </a:r>
            <a:r>
              <a:rPr kumimoji="1" lang="en-US" altLang="zh-CN" sz="1400" b="1" dirty="0">
                <a:solidFill>
                  <a:srgbClr val="993300"/>
                </a:solidFill>
                <a:latin typeface="微软雅黑" panose="020B0503020204020204" pitchFamily="34" charset="-122"/>
                <a:ea typeface="微软雅黑" panose="020B0503020204020204" pitchFamily="34" charset="-122"/>
              </a:rPr>
              <a:t>dns.abc.com</a:t>
            </a:r>
            <a:endParaRPr kumimoji="1" lang="en-US" altLang="zh-CN" sz="1400" b="1" dirty="0">
              <a:solidFill>
                <a:srgbClr val="993300"/>
              </a:solidFill>
              <a:latin typeface="微软雅黑" panose="020B0503020204020204" pitchFamily="34" charset="-122"/>
              <a:ea typeface="微软雅黑" panose="020B0503020204020204" pitchFamily="34" charset="-122"/>
            </a:endParaRP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本地域名服务器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dns.xyz.com</a:t>
            </a:r>
            <a:endParaRPr kumimoji="1"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C00000"/>
                </a:solidFill>
                <a:latin typeface="微软雅黑" panose="020B0503020204020204" pitchFamily="34" charset="-122"/>
                <a:ea typeface="微软雅黑" panose="020B0503020204020204" pitchFamily="34" charset="-122"/>
              </a:rPr>
              <a:t>根域名服务器</a:t>
            </a:r>
            <a:endParaRPr kumimoji="1"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19" name="Group 40"/>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2" name="Group 41"/>
          <p:cNvGrpSpPr/>
          <p:nvPr/>
        </p:nvGrpSpPr>
        <p:grpSpPr bwMode="auto">
          <a:xfrm>
            <a:off x="3762814" y="1733885"/>
            <a:ext cx="367662" cy="680813"/>
            <a:chOff x="2035" y="1831"/>
            <a:chExt cx="331" cy="664"/>
          </a:xfrm>
        </p:grpSpPr>
        <p:sp>
          <p:nvSpPr>
            <p:cNvPr id="23" name="Text Box 19"/>
            <p:cNvSpPr txBox="1">
              <a:spLocks noChangeArrowheads="1"/>
            </p:cNvSpPr>
            <p:nvPr/>
          </p:nvSpPr>
          <p:spPr bwMode="auto">
            <a:xfrm flipH="1">
              <a:off x="2035"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5" name="Group 42"/>
          <p:cNvGrpSpPr/>
          <p:nvPr/>
        </p:nvGrpSpPr>
        <p:grpSpPr bwMode="auto">
          <a:xfrm>
            <a:off x="3886112" y="1743115"/>
            <a:ext cx="1224062" cy="718750"/>
            <a:chOff x="2146" y="1840"/>
            <a:chExt cx="1102" cy="701"/>
          </a:xfrm>
        </p:grpSpPr>
        <p:sp>
          <p:nvSpPr>
            <p:cNvPr id="26" name="Text Box 14"/>
            <p:cNvSpPr txBox="1">
              <a:spLocks noChangeArrowheads="1"/>
            </p:cNvSpPr>
            <p:nvPr/>
          </p:nvSpPr>
          <p:spPr bwMode="auto">
            <a:xfrm flipH="1">
              <a:off x="2146" y="2178"/>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7" name="Line 22"/>
            <p:cNvSpPr>
              <a:spLocks noChangeShapeType="1"/>
            </p:cNvSpPr>
            <p:nvPr/>
          </p:nvSpPr>
          <p:spPr bwMode="auto">
            <a:xfrm rot="10800000" flipH="1">
              <a:off x="2213" y="1840"/>
              <a:ext cx="1035" cy="701"/>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8" name="Group 43"/>
          <p:cNvGrpSpPr/>
          <p:nvPr/>
        </p:nvGrpSpPr>
        <p:grpSpPr bwMode="auto">
          <a:xfrm>
            <a:off x="3983859" y="1733885"/>
            <a:ext cx="1417335" cy="819231"/>
            <a:chOff x="2234" y="1831"/>
            <a:chExt cx="1276" cy="799"/>
          </a:xfrm>
        </p:grpSpPr>
        <p:sp>
          <p:nvSpPr>
            <p:cNvPr id="29" name="Text Box 13"/>
            <p:cNvSpPr txBox="1">
              <a:spLocks noChangeArrowheads="1"/>
            </p:cNvSpPr>
            <p:nvPr/>
          </p:nvSpPr>
          <p:spPr bwMode="auto">
            <a:xfrm flipH="1">
              <a:off x="3179"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0" name="Line 23"/>
            <p:cNvSpPr>
              <a:spLocks noChangeShapeType="1"/>
            </p:cNvSpPr>
            <p:nvPr/>
          </p:nvSpPr>
          <p:spPr bwMode="auto">
            <a:xfrm flipH="1">
              <a:off x="2234" y="1870"/>
              <a:ext cx="1100" cy="760"/>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2" name="Group 45"/>
          <p:cNvGrpSpPr/>
          <p:nvPr/>
        </p:nvGrpSpPr>
        <p:grpSpPr bwMode="auto">
          <a:xfrm>
            <a:off x="3983859" y="2436240"/>
            <a:ext cx="1119651" cy="338357"/>
            <a:chOff x="2234" y="2516"/>
            <a:chExt cx="1008" cy="330"/>
          </a:xfrm>
        </p:grpSpPr>
        <p:sp>
          <p:nvSpPr>
            <p:cNvPr id="33" name="Text Box 25"/>
            <p:cNvSpPr txBox="1">
              <a:spLocks noChangeArrowheads="1"/>
            </p:cNvSpPr>
            <p:nvPr/>
          </p:nvSpPr>
          <p:spPr bwMode="auto">
            <a:xfrm flipH="1">
              <a:off x="2275" y="2516"/>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4" name="Line 27"/>
            <p:cNvSpPr>
              <a:spLocks noChangeShapeType="1"/>
            </p:cNvSpPr>
            <p:nvPr/>
          </p:nvSpPr>
          <p:spPr bwMode="auto">
            <a:xfrm rot="16200000" flipH="1">
              <a:off x="2738" y="2283"/>
              <a:ext cx="0" cy="100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Group 46"/>
          <p:cNvGrpSpPr/>
          <p:nvPr/>
        </p:nvGrpSpPr>
        <p:grpSpPr bwMode="auto">
          <a:xfrm>
            <a:off x="3983856" y="2768446"/>
            <a:ext cx="1186296" cy="338357"/>
            <a:chOff x="2234" y="2840"/>
            <a:chExt cx="1068" cy="330"/>
          </a:xfrm>
        </p:grpSpPr>
        <p:sp>
          <p:nvSpPr>
            <p:cNvPr id="36" name="Line 28"/>
            <p:cNvSpPr>
              <a:spLocks noChangeShapeType="1"/>
            </p:cNvSpPr>
            <p:nvPr/>
          </p:nvSpPr>
          <p:spPr bwMode="auto">
            <a:xfrm rot="5400000">
              <a:off x="2738" y="2379"/>
              <a:ext cx="0" cy="100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29"/>
            <p:cNvSpPr txBox="1">
              <a:spLocks noChangeArrowheads="1"/>
            </p:cNvSpPr>
            <p:nvPr/>
          </p:nvSpPr>
          <p:spPr bwMode="auto">
            <a:xfrm flipH="1">
              <a:off x="2971" y="284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39" name="Group 49"/>
          <p:cNvGrpSpPr/>
          <p:nvPr/>
        </p:nvGrpSpPr>
        <p:grpSpPr bwMode="auto">
          <a:xfrm>
            <a:off x="3782810" y="3031942"/>
            <a:ext cx="1856087" cy="653129"/>
            <a:chOff x="2053" y="3097"/>
            <a:chExt cx="1671" cy="637"/>
          </a:xfrm>
        </p:grpSpPr>
        <p:grpSp>
          <p:nvGrpSpPr>
            <p:cNvPr id="40" name="Group 48"/>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43" name="Group 47"/>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dirty="0">
                  <a:latin typeface="微软雅黑" panose="020B0503020204020204" pitchFamily="34" charset="-122"/>
                  <a:ea typeface="微软雅黑" panose="020B0503020204020204" pitchFamily="34" charset="-122"/>
                </a:rPr>
                <a:t> y.abc.com </a:t>
              </a:r>
              <a:r>
                <a:rPr kumimoji="1" lang="zh-CN" altLang="en-US" sz="1200" b="1" dirty="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zh-CN" altLang="en-US" sz="1200" b="1" dirty="0">
                <a:latin typeface="微软雅黑" panose="020B0503020204020204" pitchFamily="34" charset="-122"/>
                <a:ea typeface="微软雅黑" panose="020B0503020204020204" pitchFamily="34" charset="-122"/>
              </a:endParaRP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a:latin typeface="微软雅黑" panose="020B0503020204020204" pitchFamily="34" charset="-122"/>
                <a:ea typeface="微软雅黑" panose="020B0503020204020204" pitchFamily="34" charset="-122"/>
              </a:rPr>
              <a:t>m.xyz.com </a:t>
            </a:r>
            <a:endParaRPr kumimoji="1" lang="en-US" altLang="zh-CN" sz="12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FF0000"/>
                </a:solidFill>
                <a:latin typeface="微软雅黑" panose="020B0503020204020204" pitchFamily="34" charset="-122"/>
                <a:ea typeface="微软雅黑" panose="020B0503020204020204" pitchFamily="34" charset="-122"/>
              </a:rPr>
              <a:t>递归查询</a:t>
            </a:r>
            <a:endParaRPr kumimoji="1" lang="zh-CN" altLang="en-US" sz="1200" b="1" dirty="0">
              <a:solidFill>
                <a:srgbClr val="FF0000"/>
              </a:solidFill>
              <a:latin typeface="微软雅黑" panose="020B0503020204020204" pitchFamily="34" charset="-122"/>
              <a:ea typeface="微软雅黑" panose="020B0503020204020204" pitchFamily="34" charset="-122"/>
            </a:endParaRPr>
          </a:p>
        </p:txBody>
      </p:sp>
      <p:grpSp>
        <p:nvGrpSpPr>
          <p:cNvPr id="49" name="Group 39"/>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查询 </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y.abc.com </a:t>
            </a:r>
            <a:r>
              <a:rPr kumimoji="1" lang="zh-CN" altLang="en-US" sz="1200" b="1" dirty="0" smtClean="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pic>
        <p:nvPicPr>
          <p:cNvPr id="53" name="图片 5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查询请求，域名</a:t>
              </a:r>
              <a:endParaRPr kumimoji="1" lang="zh-CN" altLang="en-US" sz="1200" b="1" dirty="0">
                <a:latin typeface="微软雅黑" panose="020B0503020204020204" pitchFamily="34" charset="-122"/>
                <a:ea typeface="微软雅黑" panose="020B0503020204020204"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查询响应，</a:t>
              </a:r>
              <a:r>
                <a:rPr kumimoji="1" lang="en-US" altLang="zh-CN" sz="1200" b="1" dirty="0" smtClean="0">
                  <a:latin typeface="微软雅黑" panose="020B0503020204020204" pitchFamily="34" charset="-122"/>
                  <a:ea typeface="微软雅黑" panose="020B0503020204020204" pitchFamily="34" charset="-122"/>
                </a:rPr>
                <a:t>IP </a:t>
              </a:r>
              <a:r>
                <a:rPr kumimoji="1" lang="zh-CN" altLang="en-US" sz="1200" b="1" dirty="0" smtClean="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25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500"/>
                            </p:stCondLst>
                            <p:childTnLst>
                              <p:par>
                                <p:cTn id="16" presetID="22" presetClass="entr" presetSubtype="1" fill="hold" nodeType="afterEffect">
                                  <p:stCondLst>
                                    <p:cond delay="500"/>
                                  </p:stCondLst>
                                  <p:childTnLst>
                                    <p:set>
                                      <p:cBhvr>
                                        <p:cTn id="17" dur="1" fill="hold">
                                          <p:stCondLst>
                                            <p:cond delay="0"/>
                                          </p:stCondLst>
                                        </p:cTn>
                                        <p:tgtEl>
                                          <p:spTgt spid="22"/>
                                        </p:tgtEl>
                                        <p:attrNameLst>
                                          <p:attrName>style.visibility</p:attrName>
                                        </p:attrNameLst>
                                      </p:cBhvr>
                                      <p:to>
                                        <p:strVal val="visible"/>
                                      </p:to>
                                    </p:set>
                                    <p:animEffect transition="in" filter="wipe(up)">
                                      <p:cBhvr>
                                        <p:cTn id="18" dur="750"/>
                                        <p:tgtEl>
                                          <p:spTgt spid="22"/>
                                        </p:tgtEl>
                                      </p:cBhvr>
                                    </p:animEffect>
                                  </p:childTnLst>
                                </p:cTn>
                              </p:par>
                            </p:childTnLst>
                          </p:cTn>
                        </p:par>
                        <p:par>
                          <p:cTn id="19" fill="hold">
                            <p:stCondLst>
                              <p:cond delay="4000"/>
                            </p:stCondLst>
                            <p:childTnLst>
                              <p:par>
                                <p:cTn id="20" presetID="22" presetClass="entr" presetSubtype="8" fill="hold" nodeType="afterEffect">
                                  <p:stCondLst>
                                    <p:cond delay="250"/>
                                  </p:stCondLst>
                                  <p:childTnLst>
                                    <p:set>
                                      <p:cBhvr>
                                        <p:cTn id="21" dur="1" fill="hold">
                                          <p:stCondLst>
                                            <p:cond delay="0"/>
                                          </p:stCondLst>
                                        </p:cTn>
                                        <p:tgtEl>
                                          <p:spTgt spid="25"/>
                                        </p:tgtEl>
                                        <p:attrNameLst>
                                          <p:attrName>style.visibility</p:attrName>
                                        </p:attrNameLst>
                                      </p:cBhvr>
                                      <p:to>
                                        <p:strVal val="visible"/>
                                      </p:to>
                                    </p:set>
                                    <p:animEffect transition="in" filter="wipe(left)">
                                      <p:cBhvr>
                                        <p:cTn id="22" dur="750"/>
                                        <p:tgtEl>
                                          <p:spTgt spid="25"/>
                                        </p:tgtEl>
                                      </p:cBhvr>
                                    </p:animEffect>
                                  </p:childTnLst>
                                </p:cTn>
                              </p:par>
                            </p:childTnLst>
                          </p:cTn>
                        </p:par>
                        <p:par>
                          <p:cTn id="23" fill="hold">
                            <p:stCondLst>
                              <p:cond delay="5250"/>
                            </p:stCondLst>
                            <p:childTnLst>
                              <p:par>
                                <p:cTn id="24" presetID="22" presetClass="entr" presetSubtype="2" fill="hold" nodeType="afterEffect">
                                  <p:stCondLst>
                                    <p:cond delay="250"/>
                                  </p:stCondLst>
                                  <p:childTnLst>
                                    <p:set>
                                      <p:cBhvr>
                                        <p:cTn id="25" dur="1" fill="hold">
                                          <p:stCondLst>
                                            <p:cond delay="0"/>
                                          </p:stCondLst>
                                        </p:cTn>
                                        <p:tgtEl>
                                          <p:spTgt spid="28"/>
                                        </p:tgtEl>
                                        <p:attrNameLst>
                                          <p:attrName>style.visibility</p:attrName>
                                        </p:attrNameLst>
                                      </p:cBhvr>
                                      <p:to>
                                        <p:strVal val="visible"/>
                                      </p:to>
                                    </p:set>
                                    <p:animEffect transition="in" filter="wipe(right)">
                                      <p:cBhvr>
                                        <p:cTn id="26" dur="750"/>
                                        <p:tgtEl>
                                          <p:spTgt spid="28"/>
                                        </p:tgtEl>
                                      </p:cBhvr>
                                    </p:animEffect>
                                  </p:childTnLst>
                                </p:cTn>
                              </p:par>
                            </p:childTnLst>
                          </p:cTn>
                        </p:par>
                        <p:par>
                          <p:cTn id="27" fill="hold">
                            <p:stCondLst>
                              <p:cond delay="6500"/>
                            </p:stCondLst>
                            <p:childTnLst>
                              <p:par>
                                <p:cTn id="28" presetID="22" presetClass="entr" presetSubtype="8" fill="hold" nodeType="afterEffect">
                                  <p:stCondLst>
                                    <p:cond delay="250"/>
                                  </p:stCondLst>
                                  <p:childTnLst>
                                    <p:set>
                                      <p:cBhvr>
                                        <p:cTn id="29" dur="1" fill="hold">
                                          <p:stCondLst>
                                            <p:cond delay="0"/>
                                          </p:stCondLst>
                                        </p:cTn>
                                        <p:tgtEl>
                                          <p:spTgt spid="32"/>
                                        </p:tgtEl>
                                        <p:attrNameLst>
                                          <p:attrName>style.visibility</p:attrName>
                                        </p:attrNameLst>
                                      </p:cBhvr>
                                      <p:to>
                                        <p:strVal val="visible"/>
                                      </p:to>
                                    </p:set>
                                    <p:animEffect transition="in" filter="wipe(left)">
                                      <p:cBhvr>
                                        <p:cTn id="30" dur="750"/>
                                        <p:tgtEl>
                                          <p:spTgt spid="32"/>
                                        </p:tgtEl>
                                      </p:cBhvr>
                                    </p:animEffect>
                                  </p:childTnLst>
                                </p:cTn>
                              </p:par>
                            </p:childTnLst>
                          </p:cTn>
                        </p:par>
                        <p:par>
                          <p:cTn id="31" fill="hold">
                            <p:stCondLst>
                              <p:cond delay="7750"/>
                            </p:stCondLst>
                            <p:childTnLst>
                              <p:par>
                                <p:cTn id="32" presetID="22" presetClass="entr" presetSubtype="2" fill="hold" nodeType="afterEffect">
                                  <p:stCondLst>
                                    <p:cond delay="250"/>
                                  </p:stCondLst>
                                  <p:childTnLst>
                                    <p:set>
                                      <p:cBhvr>
                                        <p:cTn id="33" dur="1" fill="hold">
                                          <p:stCondLst>
                                            <p:cond delay="0"/>
                                          </p:stCondLst>
                                        </p:cTn>
                                        <p:tgtEl>
                                          <p:spTgt spid="35"/>
                                        </p:tgtEl>
                                        <p:attrNameLst>
                                          <p:attrName>style.visibility</p:attrName>
                                        </p:attrNameLst>
                                      </p:cBhvr>
                                      <p:to>
                                        <p:strVal val="visible"/>
                                      </p:to>
                                    </p:set>
                                    <p:animEffect transition="in" filter="wipe(right)">
                                      <p:cBhvr>
                                        <p:cTn id="34" dur="750"/>
                                        <p:tgtEl>
                                          <p:spTgt spid="35"/>
                                        </p:tgtEl>
                                      </p:cBhvr>
                                    </p:animEffect>
                                  </p:childTnLst>
                                </p:cTn>
                              </p:par>
                            </p:childTnLst>
                          </p:cTn>
                        </p:par>
                        <p:par>
                          <p:cTn id="35" fill="hold">
                            <p:stCondLst>
                              <p:cond delay="9000"/>
                            </p:stCondLst>
                            <p:childTnLst>
                              <p:par>
                                <p:cTn id="36" presetID="22" presetClass="entr" presetSubtype="1" fill="hold" nodeType="afterEffect">
                                  <p:stCondLst>
                                    <p:cond delay="25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168146" y="582898"/>
            <a:ext cx="28264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递归查询（比较少用）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00FF"/>
                </a:solidFill>
                <a:latin typeface="微软雅黑" panose="020B0503020204020204" pitchFamily="34" charset="-122"/>
                <a:ea typeface="微软雅黑" panose="020B0503020204020204" pitchFamily="34" charset="-122"/>
              </a:rPr>
              <a:t>顶级域名服务器</a:t>
            </a:r>
            <a:endParaRPr kumimoji="1" lang="zh-CN" altLang="en-US" sz="1400" b="1" dirty="0">
              <a:solidFill>
                <a:srgbClr val="99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9900FF"/>
                </a:solidFill>
                <a:latin typeface="微软雅黑" panose="020B0503020204020204" pitchFamily="34" charset="-122"/>
                <a:ea typeface="微软雅黑" panose="020B0503020204020204" pitchFamily="34" charset="-122"/>
              </a:rPr>
              <a:t>dns.com</a:t>
            </a:r>
            <a:endParaRPr kumimoji="1" lang="en-US" altLang="zh-CN" sz="1400" b="1" dirty="0">
              <a:solidFill>
                <a:srgbClr val="9900FF"/>
              </a:solidFill>
              <a:latin typeface="微软雅黑" panose="020B0503020204020204" pitchFamily="34" charset="-122"/>
              <a:ea typeface="微软雅黑" panose="020B0503020204020204" pitchFamily="34" charset="-122"/>
            </a:endParaRP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3300"/>
                </a:solidFill>
                <a:latin typeface="微软雅黑" panose="020B0503020204020204" pitchFamily="34" charset="-122"/>
                <a:ea typeface="微软雅黑" panose="020B0503020204020204" pitchFamily="34" charset="-122"/>
              </a:rPr>
              <a:t>权限</a:t>
            </a:r>
            <a:r>
              <a:rPr kumimoji="1" lang="zh-CN" altLang="zh-CN" sz="1400" b="1" dirty="0">
                <a:solidFill>
                  <a:srgbClr val="993300"/>
                </a:solidFill>
                <a:latin typeface="微软雅黑" panose="020B0503020204020204" pitchFamily="34" charset="-122"/>
                <a:ea typeface="微软雅黑" panose="020B0503020204020204" pitchFamily="34" charset="-122"/>
              </a:rPr>
              <a:t>域名服务</a:t>
            </a:r>
            <a:r>
              <a:rPr kumimoji="1" lang="en-US" altLang="zh-CN" sz="1400" b="1" dirty="0">
                <a:solidFill>
                  <a:srgbClr val="993300"/>
                </a:solidFill>
                <a:latin typeface="微软雅黑" panose="020B0503020204020204" pitchFamily="34" charset="-122"/>
                <a:ea typeface="微软雅黑" panose="020B0503020204020204" pitchFamily="34" charset="-122"/>
              </a:rPr>
              <a:t>dns.abc.com</a:t>
            </a:r>
            <a:endParaRPr kumimoji="1" lang="en-US" altLang="zh-CN" sz="1400" b="1" dirty="0">
              <a:solidFill>
                <a:srgbClr val="993300"/>
              </a:solidFill>
              <a:latin typeface="微软雅黑" panose="020B0503020204020204" pitchFamily="34" charset="-122"/>
              <a:ea typeface="微软雅黑" panose="020B0503020204020204" pitchFamily="34" charset="-122"/>
            </a:endParaRP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本地域名服务器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dns.xyz.com</a:t>
            </a:r>
            <a:endParaRPr kumimoji="1"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C00000"/>
                </a:solidFill>
                <a:latin typeface="微软雅黑" panose="020B0503020204020204" pitchFamily="34" charset="-122"/>
                <a:ea typeface="微软雅黑" panose="020B0503020204020204" pitchFamily="34" charset="-122"/>
              </a:rPr>
              <a:t>根域名服务器</a:t>
            </a:r>
            <a:endParaRPr kumimoji="1"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19" name="Group 40"/>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2" name="Group 41"/>
          <p:cNvGrpSpPr/>
          <p:nvPr/>
        </p:nvGrpSpPr>
        <p:grpSpPr bwMode="auto">
          <a:xfrm>
            <a:off x="3762808" y="1752341"/>
            <a:ext cx="367661" cy="662357"/>
            <a:chOff x="2035" y="1849"/>
            <a:chExt cx="331" cy="646"/>
          </a:xfrm>
        </p:grpSpPr>
        <p:sp>
          <p:nvSpPr>
            <p:cNvPr id="23" name="Text Box 19"/>
            <p:cNvSpPr txBox="1">
              <a:spLocks noChangeArrowheads="1"/>
            </p:cNvSpPr>
            <p:nvPr/>
          </p:nvSpPr>
          <p:spPr bwMode="auto">
            <a:xfrm flipH="1">
              <a:off x="2035" y="184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5" name="Group 42"/>
          <p:cNvGrpSpPr/>
          <p:nvPr/>
        </p:nvGrpSpPr>
        <p:grpSpPr bwMode="auto">
          <a:xfrm>
            <a:off x="3967275" y="1157636"/>
            <a:ext cx="1057447" cy="338354"/>
            <a:chOff x="2296" y="1719"/>
            <a:chExt cx="952" cy="330"/>
          </a:xfrm>
        </p:grpSpPr>
        <p:sp>
          <p:nvSpPr>
            <p:cNvPr id="26" name="Text Box 14"/>
            <p:cNvSpPr txBox="1">
              <a:spLocks noChangeArrowheads="1"/>
            </p:cNvSpPr>
            <p:nvPr/>
          </p:nvSpPr>
          <p:spPr bwMode="auto">
            <a:xfrm flipH="1">
              <a:off x="2296" y="171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7" name="Line 22"/>
            <p:cNvSpPr>
              <a:spLocks noChangeShapeType="1"/>
            </p:cNvSpPr>
            <p:nvPr/>
          </p:nvSpPr>
          <p:spPr bwMode="auto">
            <a:xfrm rot="10800000" flipH="1">
              <a:off x="2299" y="1993"/>
              <a:ext cx="949" cy="0"/>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8" name="Group 43"/>
          <p:cNvGrpSpPr/>
          <p:nvPr/>
        </p:nvGrpSpPr>
        <p:grpSpPr bwMode="auto">
          <a:xfrm>
            <a:off x="3983716" y="1514726"/>
            <a:ext cx="1075219" cy="338356"/>
            <a:chOff x="2392" y="1825"/>
            <a:chExt cx="968" cy="330"/>
          </a:xfrm>
        </p:grpSpPr>
        <p:sp>
          <p:nvSpPr>
            <p:cNvPr id="29" name="Text Box 13"/>
            <p:cNvSpPr txBox="1">
              <a:spLocks noChangeArrowheads="1"/>
            </p:cNvSpPr>
            <p:nvPr/>
          </p:nvSpPr>
          <p:spPr bwMode="auto">
            <a:xfrm flipH="1">
              <a:off x="3029" y="1825"/>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0" name="Line 23"/>
            <p:cNvSpPr>
              <a:spLocks noChangeShapeType="1"/>
            </p:cNvSpPr>
            <p:nvPr/>
          </p:nvSpPr>
          <p:spPr bwMode="auto">
            <a:xfrm flipH="1" flipV="1">
              <a:off x="2392" y="1869"/>
              <a:ext cx="942" cy="1"/>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2" name="Group 45"/>
          <p:cNvGrpSpPr/>
          <p:nvPr/>
        </p:nvGrpSpPr>
        <p:grpSpPr bwMode="auto">
          <a:xfrm>
            <a:off x="5297892" y="1774626"/>
            <a:ext cx="367663" cy="620321"/>
            <a:chOff x="3144" y="2182"/>
            <a:chExt cx="331" cy="605"/>
          </a:xfrm>
        </p:grpSpPr>
        <p:sp>
          <p:nvSpPr>
            <p:cNvPr id="33" name="Text Box 25"/>
            <p:cNvSpPr txBox="1">
              <a:spLocks noChangeArrowheads="1"/>
            </p:cNvSpPr>
            <p:nvPr/>
          </p:nvSpPr>
          <p:spPr bwMode="auto">
            <a:xfrm flipH="1">
              <a:off x="3144" y="2182"/>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4" name="Line 27"/>
            <p:cNvSpPr>
              <a:spLocks noChangeShapeType="1"/>
            </p:cNvSpPr>
            <p:nvPr/>
          </p:nvSpPr>
          <p:spPr bwMode="auto">
            <a:xfrm rot="16200000" flipH="1">
              <a:off x="2918" y="2495"/>
              <a:ext cx="584" cy="0"/>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Group 46"/>
          <p:cNvGrpSpPr/>
          <p:nvPr/>
        </p:nvGrpSpPr>
        <p:grpSpPr bwMode="auto">
          <a:xfrm>
            <a:off x="4929644" y="1804451"/>
            <a:ext cx="367663" cy="626473"/>
            <a:chOff x="2971" y="2343"/>
            <a:chExt cx="331" cy="611"/>
          </a:xfrm>
        </p:grpSpPr>
        <p:sp>
          <p:nvSpPr>
            <p:cNvPr id="36" name="Line 28"/>
            <p:cNvSpPr>
              <a:spLocks noChangeShapeType="1"/>
            </p:cNvSpPr>
            <p:nvPr/>
          </p:nvSpPr>
          <p:spPr bwMode="auto">
            <a:xfrm rot="5400000" flipH="1" flipV="1">
              <a:off x="2974" y="2614"/>
              <a:ext cx="541" cy="0"/>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29"/>
            <p:cNvSpPr txBox="1">
              <a:spLocks noChangeArrowheads="1"/>
            </p:cNvSpPr>
            <p:nvPr/>
          </p:nvSpPr>
          <p:spPr bwMode="auto">
            <a:xfrm flipH="1">
              <a:off x="2971" y="2624"/>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39" name="Group 49"/>
          <p:cNvGrpSpPr/>
          <p:nvPr/>
        </p:nvGrpSpPr>
        <p:grpSpPr bwMode="auto">
          <a:xfrm>
            <a:off x="3782810" y="3031942"/>
            <a:ext cx="1856087" cy="653129"/>
            <a:chOff x="2053" y="3097"/>
            <a:chExt cx="1671" cy="637"/>
          </a:xfrm>
        </p:grpSpPr>
        <p:grpSp>
          <p:nvGrpSpPr>
            <p:cNvPr id="40" name="Group 48"/>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43" name="Group 47"/>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dirty="0">
                  <a:latin typeface="微软雅黑" panose="020B0503020204020204" pitchFamily="34" charset="-122"/>
                  <a:ea typeface="微软雅黑" panose="020B0503020204020204" pitchFamily="34" charset="-122"/>
                </a:rPr>
                <a:t> y.abc.com </a:t>
              </a:r>
              <a:r>
                <a:rPr kumimoji="1" lang="zh-CN" altLang="en-US" sz="1200" b="1" dirty="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zh-CN" altLang="en-US" sz="1200" b="1" dirty="0">
                <a:latin typeface="微软雅黑" panose="020B0503020204020204" pitchFamily="34" charset="-122"/>
                <a:ea typeface="微软雅黑" panose="020B0503020204020204" pitchFamily="34" charset="-122"/>
              </a:endParaRP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a:latin typeface="微软雅黑" panose="020B0503020204020204" pitchFamily="34" charset="-122"/>
                <a:ea typeface="微软雅黑" panose="020B0503020204020204" pitchFamily="34" charset="-122"/>
              </a:rPr>
              <a:t>m.xyz.com </a:t>
            </a:r>
            <a:endParaRPr kumimoji="1" lang="en-US" altLang="zh-CN" sz="12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FF0000"/>
                </a:solidFill>
                <a:latin typeface="微软雅黑" panose="020B0503020204020204" pitchFamily="34" charset="-122"/>
                <a:ea typeface="微软雅黑" panose="020B0503020204020204" pitchFamily="34" charset="-122"/>
              </a:rPr>
              <a:t>递归查询</a:t>
            </a:r>
            <a:endParaRPr kumimoji="1" lang="zh-CN" altLang="en-US" sz="1200" b="1" dirty="0">
              <a:solidFill>
                <a:srgbClr val="FF0000"/>
              </a:solidFill>
              <a:latin typeface="微软雅黑" panose="020B0503020204020204" pitchFamily="34" charset="-122"/>
              <a:ea typeface="微软雅黑" panose="020B0503020204020204" pitchFamily="34" charset="-122"/>
            </a:endParaRPr>
          </a:p>
        </p:txBody>
      </p:sp>
      <p:grpSp>
        <p:nvGrpSpPr>
          <p:cNvPr id="49" name="Group 39"/>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查询 </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y.abc.com </a:t>
            </a:r>
            <a:r>
              <a:rPr kumimoji="1" lang="zh-CN" altLang="en-US" sz="1200" b="1" dirty="0" smtClean="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pic>
        <p:nvPicPr>
          <p:cNvPr id="53" name="图片 5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查询请求，域名</a:t>
              </a:r>
              <a:endParaRPr kumimoji="1" lang="zh-CN" altLang="en-US" sz="1200" b="1" dirty="0">
                <a:latin typeface="微软雅黑" panose="020B0503020204020204" pitchFamily="34" charset="-122"/>
                <a:ea typeface="微软雅黑" panose="020B0503020204020204"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查询响应，</a:t>
              </a:r>
              <a:r>
                <a:rPr kumimoji="1" lang="en-US" altLang="zh-CN" sz="1200" b="1" dirty="0" smtClean="0">
                  <a:latin typeface="微软雅黑" panose="020B0503020204020204" pitchFamily="34" charset="-122"/>
                  <a:ea typeface="微软雅黑" panose="020B0503020204020204" pitchFamily="34" charset="-122"/>
                </a:rPr>
                <a:t>IP </a:t>
              </a:r>
              <a:r>
                <a:rPr kumimoji="1" lang="zh-CN" altLang="en-US" sz="1200" b="1" dirty="0" smtClean="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50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750"/>
                            </p:stCondLst>
                            <p:childTnLst>
                              <p:par>
                                <p:cTn id="16" presetID="22" presetClass="entr" presetSubtype="8"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left)">
                                      <p:cBhvr>
                                        <p:cTn id="18" dur="750"/>
                                        <p:tgtEl>
                                          <p:spTgt spid="25"/>
                                        </p:tgtEl>
                                      </p:cBhvr>
                                    </p:animEffect>
                                  </p:childTnLst>
                                </p:cTn>
                              </p:par>
                            </p:childTnLst>
                          </p:cTn>
                        </p:par>
                        <p:par>
                          <p:cTn id="19" fill="hold">
                            <p:stCondLst>
                              <p:cond delay="3750"/>
                            </p:stCondLst>
                            <p:childTnLst>
                              <p:par>
                                <p:cTn id="20" presetID="22" presetClass="entr" presetSubtype="1" fill="hold" nodeType="after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up)">
                                      <p:cBhvr>
                                        <p:cTn id="22" dur="750"/>
                                        <p:tgtEl>
                                          <p:spTgt spid="32"/>
                                        </p:tgtEl>
                                      </p:cBhvr>
                                    </p:animEffect>
                                  </p:childTnLst>
                                </p:cTn>
                              </p:par>
                            </p:childTnLst>
                          </p:cTn>
                        </p:par>
                        <p:par>
                          <p:cTn id="23" fill="hold">
                            <p:stCondLst>
                              <p:cond delay="4750"/>
                            </p:stCondLst>
                            <p:childTnLst>
                              <p:par>
                                <p:cTn id="24" presetID="22" presetClass="entr" presetSubtype="4"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down)">
                                      <p:cBhvr>
                                        <p:cTn id="26" dur="750"/>
                                        <p:tgtEl>
                                          <p:spTgt spid="35"/>
                                        </p:tgtEl>
                                      </p:cBhvr>
                                    </p:animEffect>
                                  </p:childTnLst>
                                </p:cTn>
                              </p:par>
                            </p:childTnLst>
                          </p:cTn>
                        </p:par>
                        <p:par>
                          <p:cTn id="27" fill="hold">
                            <p:stCondLst>
                              <p:cond delay="5750"/>
                            </p:stCondLst>
                            <p:childTnLst>
                              <p:par>
                                <p:cTn id="28" presetID="22" presetClass="entr" presetSubtype="2" fill="hold" nodeType="after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wipe(right)">
                                      <p:cBhvr>
                                        <p:cTn id="30" dur="750"/>
                                        <p:tgtEl>
                                          <p:spTgt spid="28"/>
                                        </p:tgtEl>
                                      </p:cBhvr>
                                    </p:animEffect>
                                  </p:childTnLst>
                                </p:cTn>
                              </p:par>
                            </p:childTnLst>
                          </p:cTn>
                        </p:par>
                        <p:par>
                          <p:cTn id="31" fill="hold">
                            <p:stCondLst>
                              <p:cond delay="6750"/>
                            </p:stCondLst>
                            <p:childTnLst>
                              <p:par>
                                <p:cTn id="32" presetID="22" presetClass="entr" presetSubtype="1"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up)">
                                      <p:cBhvr>
                                        <p:cTn id="34" dur="750"/>
                                        <p:tgtEl>
                                          <p:spTgt spid="22"/>
                                        </p:tgtEl>
                                      </p:cBhvr>
                                    </p:animEffect>
                                  </p:childTnLst>
                                </p:cTn>
                              </p:par>
                            </p:childTnLst>
                          </p:cTn>
                        </p:par>
                        <p:par>
                          <p:cTn id="35" fill="hold">
                            <p:stCondLst>
                              <p:cond delay="7750"/>
                            </p:stCondLst>
                            <p:childTnLst>
                              <p:par>
                                <p:cTn id="36" presetID="22" presetClass="entr" presetSubtype="1" fill="hold" nodeType="after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976058" y="57526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高速缓存</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3" y="94413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也称为</a:t>
            </a:r>
            <a:r>
              <a:rPr lang="zh-CN" altLang="en-US" sz="2000" b="1" dirty="0">
                <a:solidFill>
                  <a:srgbClr val="C00000"/>
                </a:solidFill>
                <a:latin typeface="微软雅黑" panose="020B0503020204020204" pitchFamily="34" charset="-122"/>
                <a:ea typeface="微软雅黑" panose="020B0503020204020204" pitchFamily="34" charset="-122"/>
              </a:rPr>
              <a:t>高速缓存域名</a:t>
            </a:r>
            <a:r>
              <a:rPr lang="zh-CN" altLang="en-US" sz="2000" b="1" dirty="0" smtClean="0">
                <a:solidFill>
                  <a:srgbClr val="C00000"/>
                </a:solidFill>
                <a:latin typeface="微软雅黑" panose="020B0503020204020204" pitchFamily="34" charset="-122"/>
                <a:ea typeface="微软雅黑" panose="020B0503020204020204" pitchFamily="34" charset="-122"/>
              </a:rPr>
              <a:t>服务器</a:t>
            </a:r>
            <a:r>
              <a:rPr lang="zh-CN" altLang="en-US" sz="2000" b="1" dirty="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存放</a:t>
            </a:r>
            <a:r>
              <a:rPr lang="zh-CN" altLang="en-US" sz="2000" b="1" dirty="0">
                <a:solidFill>
                  <a:srgbClr val="C00000"/>
                </a:solidFill>
                <a:latin typeface="微软雅黑" panose="020B0503020204020204" pitchFamily="34" charset="-122"/>
                <a:ea typeface="微软雅黑" panose="020B0503020204020204" pitchFamily="34" charset="-122"/>
              </a:rPr>
              <a:t>最近用过的名字</a:t>
            </a:r>
            <a:r>
              <a:rPr lang="zh-CN" altLang="en-US" sz="2000" b="1" dirty="0">
                <a:latin typeface="微软雅黑" panose="020B0503020204020204" pitchFamily="34" charset="-122"/>
                <a:ea typeface="微软雅黑" panose="020B0503020204020204" pitchFamily="34" charset="-122"/>
              </a:rPr>
              <a:t>以及从何处获得名字映射信息的记录。</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作用：</a:t>
            </a:r>
            <a:r>
              <a:rPr lang="zh-CN" altLang="en-US" sz="2000" b="1" dirty="0" smtClean="0">
                <a:latin typeface="微软雅黑" panose="020B0503020204020204" pitchFamily="34" charset="-122"/>
                <a:ea typeface="微软雅黑" panose="020B0503020204020204" pitchFamily="34" charset="-122"/>
              </a:rPr>
              <a:t>大大</a:t>
            </a:r>
            <a:r>
              <a:rPr lang="zh-CN" altLang="en-US" sz="2000" b="1" dirty="0">
                <a:latin typeface="微软雅黑" panose="020B0503020204020204" pitchFamily="34" charset="-122"/>
                <a:ea typeface="微软雅黑" panose="020B0503020204020204" pitchFamily="34" charset="-122"/>
              </a:rPr>
              <a:t>减轻根域名服务器的负荷，</a:t>
            </a:r>
            <a:r>
              <a:rPr lang="zh-CN" altLang="en-US" sz="2000" b="1" dirty="0" smtClean="0">
                <a:latin typeface="微软雅黑" panose="020B0503020204020204" pitchFamily="34" charset="-122"/>
                <a:ea typeface="微软雅黑" panose="020B0503020204020204" pitchFamily="34" charset="-122"/>
              </a:rPr>
              <a:t>使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查询请求和回答报文的数量大为减少。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域名</a:t>
            </a:r>
            <a:r>
              <a:rPr lang="zh-CN" altLang="en-US" sz="2000" b="1" dirty="0">
                <a:latin typeface="微软雅黑" panose="020B0503020204020204" pitchFamily="34" charset="-122"/>
                <a:ea typeface="微软雅黑" panose="020B0503020204020204" pitchFamily="34" charset="-122"/>
              </a:rPr>
              <a:t>服务器应为每项内容设置</a:t>
            </a:r>
            <a:r>
              <a:rPr lang="zh-CN" altLang="en-US" sz="2000" b="1" dirty="0" smtClean="0">
                <a:solidFill>
                  <a:srgbClr val="C00000"/>
                </a:solidFill>
                <a:latin typeface="微软雅黑" panose="020B0503020204020204" pitchFamily="34" charset="-122"/>
                <a:ea typeface="微软雅黑" panose="020B0503020204020204" pitchFamily="34" charset="-122"/>
              </a:rPr>
              <a:t>计时器</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并处理超过合理时间的</a:t>
            </a:r>
            <a:r>
              <a:rPr lang="zh-CN" altLang="en-US" sz="2000" b="1" dirty="0" smtClean="0">
                <a:latin typeface="微软雅黑" panose="020B0503020204020204" pitchFamily="34" charset="-122"/>
                <a:ea typeface="微软雅黑" panose="020B0503020204020204" pitchFamily="34" charset="-122"/>
              </a:rPr>
              <a:t>项。</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当权限域名服务器回答一个查询请求时，在响应</a:t>
            </a:r>
            <a:r>
              <a:rPr lang="zh-CN" altLang="en-US" sz="2000" b="1" dirty="0" smtClean="0">
                <a:latin typeface="微软雅黑" panose="020B0503020204020204" pitchFamily="34" charset="-122"/>
                <a:ea typeface="微软雅黑" panose="020B0503020204020204" pitchFamily="34" charset="-122"/>
              </a:rPr>
              <a:t>中指明</a:t>
            </a:r>
            <a:r>
              <a:rPr lang="zh-CN" altLang="en-US" sz="2000" b="1" dirty="0">
                <a:latin typeface="微软雅黑" panose="020B0503020204020204" pitchFamily="34" charset="-122"/>
                <a:ea typeface="微软雅黑" panose="020B0503020204020204" pitchFamily="34" charset="-122"/>
              </a:rPr>
              <a:t>绑定</a:t>
            </a:r>
            <a:r>
              <a:rPr lang="zh-CN" altLang="en-US" sz="2000" b="1" dirty="0">
                <a:solidFill>
                  <a:srgbClr val="C00000"/>
                </a:solidFill>
                <a:latin typeface="微软雅黑" panose="020B0503020204020204" pitchFamily="34" charset="-122"/>
                <a:ea typeface="微软雅黑" panose="020B0503020204020204" pitchFamily="34" charset="-122"/>
              </a:rPr>
              <a:t>有效存在的时间值。</a:t>
            </a:r>
            <a:r>
              <a:rPr lang="zh-CN" altLang="en-US" sz="2000" b="1" dirty="0">
                <a:latin typeface="微软雅黑" panose="020B0503020204020204" pitchFamily="34" charset="-122"/>
                <a:ea typeface="微软雅黑" panose="020B0503020204020204" pitchFamily="34" charset="-122"/>
              </a:rPr>
              <a:t>增加此时间值可减少网络开销，而减少此时间值可提高域名转换的准确性。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Rectangle 9"/>
          <p:cNvSpPr>
            <a:spLocks noChangeArrowheads="1"/>
          </p:cNvSpPr>
          <p:nvPr/>
        </p:nvSpPr>
        <p:spPr bwMode="auto">
          <a:xfrm>
            <a:off x="2629135" y="133902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34" name="Rectangle 10"/>
          <p:cNvSpPr>
            <a:spLocks noChangeArrowheads="1"/>
          </p:cNvSpPr>
          <p:nvPr/>
        </p:nvSpPr>
        <p:spPr bwMode="auto">
          <a:xfrm>
            <a:off x="2629135" y="194545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35" name="Rectangle 11"/>
          <p:cNvSpPr>
            <a:spLocks noChangeArrowheads="1"/>
          </p:cNvSpPr>
          <p:nvPr/>
        </p:nvSpPr>
        <p:spPr bwMode="auto">
          <a:xfrm>
            <a:off x="2629135" y="25629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dirty="0">
              <a:solidFill>
                <a:srgbClr val="FFFFFF"/>
              </a:solidFill>
              <a:latin typeface="宋体" panose="02010600030101010101" pitchFamily="2" charset="-122"/>
            </a:endParaRPr>
          </a:p>
        </p:txBody>
      </p:sp>
      <p:sp>
        <p:nvSpPr>
          <p:cNvPr id="136" name="Line 16"/>
          <p:cNvSpPr>
            <a:spLocks noChangeShapeType="1"/>
          </p:cNvSpPr>
          <p:nvPr/>
        </p:nvSpPr>
        <p:spPr bwMode="auto">
          <a:xfrm>
            <a:off x="3637198" y="1267587"/>
            <a:ext cx="0" cy="1800225"/>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3" name="Rectangle 8"/>
          <p:cNvSpPr>
            <a:spLocks noChangeArrowheads="1"/>
          </p:cNvSpPr>
          <p:nvPr/>
        </p:nvSpPr>
        <p:spPr bwMode="auto">
          <a:xfrm>
            <a:off x="2700573" y="1085025"/>
            <a:ext cx="5472113" cy="1846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6.2.1  </a:t>
            </a:r>
            <a:r>
              <a:rPr lang="en-US" altLang="zh-CN" sz="2000" b="1" dirty="0" smtClean="0">
                <a:solidFill>
                  <a:schemeClr val="bg1"/>
                </a:solidFill>
                <a:latin typeface="微软雅黑" panose="020B0503020204020204" pitchFamily="34" charset="-122"/>
                <a:ea typeface="微软雅黑" panose="020B0503020204020204" pitchFamily="34" charset="-122"/>
              </a:rPr>
              <a:t>                                             FTP </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FTP </a:t>
            </a:r>
            <a:r>
              <a:rPr lang="zh-CN" altLang="en-US" sz="2000" b="1" dirty="0">
                <a:solidFill>
                  <a:schemeClr val="bg1"/>
                </a:solidFill>
                <a:latin typeface="微软雅黑" panose="020B0503020204020204" pitchFamily="34" charset="-122"/>
                <a:ea typeface="微软雅黑" panose="020B0503020204020204" pitchFamily="34" charset="-122"/>
              </a:rPr>
              <a:t>的基本工作原理</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简单文件传送协议 </a:t>
            </a:r>
            <a:r>
              <a:rPr lang="en-US" altLang="zh-CN" sz="2000" b="1" dirty="0">
                <a:solidFill>
                  <a:schemeClr val="bg1"/>
                </a:solidFill>
                <a:latin typeface="微软雅黑" panose="020B0503020204020204" pitchFamily="34" charset="-122"/>
                <a:ea typeface="微软雅黑" panose="020B0503020204020204" pitchFamily="34" charset="-122"/>
              </a:rPr>
              <a:t>TFTP</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144" name="Rectangle 27"/>
          <p:cNvSpPr>
            <a:spLocks noChangeArrowheads="1"/>
          </p:cNvSpPr>
          <p:nvPr/>
        </p:nvSpPr>
        <p:spPr bwMode="auto">
          <a:xfrm>
            <a:off x="639730" y="1339025"/>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53" name="Rectangle 29"/>
          <p:cNvSpPr>
            <a:spLocks noChangeArrowheads="1"/>
          </p:cNvSpPr>
          <p:nvPr/>
        </p:nvSpPr>
        <p:spPr bwMode="auto">
          <a:xfrm>
            <a:off x="648619" y="143395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6.2</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文件传送</a:t>
            </a:r>
            <a:endParaRPr lang="en-US" altLang="zh-CN" sz="2000" b="1" dirty="0" smtClean="0">
              <a:solidFill>
                <a:schemeClr val="bg1"/>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协议</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0986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378052" y="576735"/>
            <a:ext cx="23878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6.2.1  </a:t>
            </a:r>
            <a:r>
              <a:rPr lang="en-US" altLang="zh-CN" sz="2400" b="1" dirty="0">
                <a:solidFill>
                  <a:schemeClr val="bg1"/>
                </a:solidFill>
                <a:latin typeface="微软雅黑" panose="020B0503020204020204" pitchFamily="34" charset="-122"/>
                <a:ea typeface="微软雅黑" panose="020B0503020204020204" pitchFamily="34" charset="-122"/>
              </a:rPr>
              <a:t>FTP </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0" name="Rectangle 8"/>
          <p:cNvSpPr>
            <a:spLocks noChangeArrowheads="1"/>
          </p:cNvSpPr>
          <p:nvPr/>
        </p:nvSpPr>
        <p:spPr bwMode="auto">
          <a:xfrm>
            <a:off x="545143" y="1050319"/>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文件传送协议 </a:t>
            </a:r>
            <a:r>
              <a:rPr lang="en-US" altLang="zh-CN" sz="2000" b="1" dirty="0">
                <a:solidFill>
                  <a:srgbClr val="C00000"/>
                </a:solidFill>
                <a:latin typeface="微软雅黑" panose="020B0503020204020204" pitchFamily="34" charset="-122"/>
                <a:ea typeface="微软雅黑" panose="020B0503020204020204" pitchFamily="34" charset="-122"/>
              </a:rPr>
              <a:t>FTP </a:t>
            </a:r>
            <a:r>
              <a:rPr lang="en-US" altLang="zh-CN" sz="2000" b="1" dirty="0">
                <a:latin typeface="微软雅黑" panose="020B0503020204020204" pitchFamily="34" charset="-122"/>
                <a:ea typeface="微软雅黑" panose="020B0503020204020204" pitchFamily="34" charset="-122"/>
              </a:rPr>
              <a:t>(File Transfer Protocol) </a:t>
            </a:r>
            <a:r>
              <a:rPr lang="zh-CN" altLang="en-US" sz="2000" b="1" dirty="0">
                <a:latin typeface="微软雅黑" panose="020B0503020204020204" pitchFamily="34" charset="-122"/>
                <a:ea typeface="微软雅黑" panose="020B0503020204020204" pitchFamily="34" charset="-122"/>
              </a:rPr>
              <a:t>是互联网上使用得最广泛的文件传送协议。</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solidFill>
                  <a:srgbClr val="C00000"/>
                </a:solidFill>
                <a:latin typeface="微软雅黑" panose="020B0503020204020204" pitchFamily="34" charset="-122"/>
                <a:ea typeface="微软雅黑" panose="020B0503020204020204" pitchFamily="34" charset="-122"/>
              </a:rPr>
              <a:t>交互式</a:t>
            </a:r>
            <a:r>
              <a:rPr lang="zh-CN" altLang="en-US" sz="2000" b="1" dirty="0">
                <a:latin typeface="微软雅黑" panose="020B0503020204020204" pitchFamily="34" charset="-122"/>
                <a:ea typeface="微软雅黑" panose="020B0503020204020204" pitchFamily="34" charset="-122"/>
              </a:rPr>
              <a:t>的访问，允许客户指明文件的类型与格式，并允许文件具有存取</a:t>
            </a:r>
            <a:r>
              <a:rPr lang="zh-CN" altLang="en-US" sz="2000" b="1" dirty="0">
                <a:solidFill>
                  <a:srgbClr val="C00000"/>
                </a:solidFill>
                <a:latin typeface="微软雅黑" panose="020B0503020204020204" pitchFamily="34" charset="-122"/>
                <a:ea typeface="微软雅黑" panose="020B0503020204020204" pitchFamily="34" charset="-122"/>
              </a:rPr>
              <a:t>权限。</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屏蔽</a:t>
            </a:r>
            <a:r>
              <a:rPr lang="zh-CN" altLang="en-US" sz="2000" b="1" dirty="0">
                <a:latin typeface="微软雅黑" panose="020B0503020204020204" pitchFamily="34" charset="-122"/>
                <a:ea typeface="微软雅黑" panose="020B0503020204020204" pitchFamily="34" charset="-122"/>
              </a:rPr>
              <a:t>了各计算机系统的细节，因而适合于在</a:t>
            </a:r>
            <a:r>
              <a:rPr lang="zh-CN" altLang="en-US" sz="2000" b="1" dirty="0">
                <a:solidFill>
                  <a:srgbClr val="C00000"/>
                </a:solidFill>
                <a:latin typeface="微软雅黑" panose="020B0503020204020204" pitchFamily="34" charset="-122"/>
                <a:ea typeface="微软雅黑" panose="020B0503020204020204" pitchFamily="34" charset="-122"/>
              </a:rPr>
              <a:t>异构</a:t>
            </a:r>
            <a:r>
              <a:rPr lang="zh-CN" altLang="en-US" sz="2000" b="1" dirty="0">
                <a:latin typeface="微软雅黑" panose="020B0503020204020204" pitchFamily="34" charset="-122"/>
                <a:ea typeface="微软雅黑" panose="020B0503020204020204" pitchFamily="34" charset="-122"/>
              </a:rPr>
              <a:t>网络中</a:t>
            </a:r>
            <a:r>
              <a:rPr lang="zh-CN" altLang="en-US" sz="2000" b="1" dirty="0">
                <a:solidFill>
                  <a:srgbClr val="C00000"/>
                </a:solidFill>
                <a:latin typeface="微软雅黑" panose="020B0503020204020204" pitchFamily="34" charset="-122"/>
                <a:ea typeface="微软雅黑" panose="020B0503020204020204" pitchFamily="34" charset="-122"/>
              </a:rPr>
              <a:t>任意</a:t>
            </a:r>
            <a:r>
              <a:rPr lang="zh-CN" altLang="en-US" sz="2000" b="1" dirty="0">
                <a:latin typeface="微软雅黑" panose="020B0503020204020204" pitchFamily="34" charset="-122"/>
                <a:ea typeface="微软雅黑" panose="020B0503020204020204" pitchFamily="34" charset="-122"/>
              </a:rPr>
              <a:t>计算机之间传送文件。</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0000FF"/>
                </a:solidFill>
                <a:latin typeface="微软雅黑" panose="020B0503020204020204" pitchFamily="34" charset="-122"/>
                <a:ea typeface="微软雅黑" panose="020B0503020204020204" pitchFamily="34" charset="-122"/>
              </a:rPr>
              <a:t>文件</a:t>
            </a:r>
            <a:r>
              <a:rPr lang="zh-CN" altLang="en-US" sz="2000" b="1" dirty="0">
                <a:solidFill>
                  <a:srgbClr val="0000FF"/>
                </a:solidFill>
                <a:latin typeface="微软雅黑" panose="020B0503020204020204" pitchFamily="34" charset="-122"/>
                <a:ea typeface="微软雅黑" panose="020B0503020204020204" pitchFamily="34" charset="-122"/>
              </a:rPr>
              <a:t>共享</a:t>
            </a:r>
            <a:r>
              <a:rPr lang="zh-CN" altLang="en-US" sz="2000" b="1" dirty="0" smtClean="0">
                <a:solidFill>
                  <a:srgbClr val="0000FF"/>
                </a:solidFill>
                <a:latin typeface="微软雅黑" panose="020B0503020204020204" pitchFamily="34" charset="-122"/>
                <a:ea typeface="微软雅黑" panose="020B0503020204020204" pitchFamily="34" charset="-122"/>
              </a:rPr>
              <a:t>协议</a:t>
            </a:r>
            <a:r>
              <a:rPr lang="zh-CN" altLang="en-US" sz="2000" b="1" dirty="0" smtClean="0">
                <a:latin typeface="微软雅黑" panose="020B0503020204020204" pitchFamily="34" charset="-122"/>
                <a:ea typeface="微软雅黑" panose="020B0503020204020204" pitchFamily="34" charset="-122"/>
              </a:rPr>
              <a:t>的一个大类。</a:t>
            </a:r>
            <a:r>
              <a:rPr lang="zh-CN" altLang="en-US" sz="2000" b="1" dirty="0" smtClean="0">
                <a:solidFill>
                  <a:srgbClr val="0000FF"/>
                </a:solidFill>
                <a:latin typeface="微软雅黑" panose="020B0503020204020204" pitchFamily="34" charset="-122"/>
                <a:ea typeface="微软雅黑" panose="020B0503020204020204" pitchFamily="34" charset="-122"/>
              </a:rPr>
              <a:t>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5"/>
          <p:cNvSpPr>
            <a:spLocks noChangeArrowheads="1"/>
          </p:cNvSpPr>
          <p:nvPr/>
        </p:nvSpPr>
        <p:spPr bwMode="auto">
          <a:xfrm>
            <a:off x="556963" y="61246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719577" y="579258"/>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文件共享协议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30" name="Rectangle 68"/>
          <p:cNvSpPr>
            <a:spLocks noChangeArrowheads="1"/>
          </p:cNvSpPr>
          <p:nvPr/>
        </p:nvSpPr>
        <p:spPr bwMode="auto">
          <a:xfrm>
            <a:off x="556963" y="977962"/>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文件传送协议：</a:t>
            </a:r>
            <a:r>
              <a:rPr lang="en-US" altLang="zh-CN" sz="2000" b="1" dirty="0" smtClean="0">
                <a:latin typeface="微软雅黑" panose="020B0503020204020204" pitchFamily="34" charset="-122"/>
                <a:ea typeface="微软雅黑" panose="020B0503020204020204" pitchFamily="34" charset="-122"/>
              </a:rPr>
              <a:t>FTP</a:t>
            </a: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TFTP </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复制整个文件</a:t>
            </a:r>
            <a:r>
              <a:rPr lang="zh-CN" altLang="en-US" sz="2000" b="1" dirty="0" smtClean="0">
                <a:latin typeface="微软雅黑" panose="020B0503020204020204" pitchFamily="34" charset="-122"/>
                <a:ea typeface="微软雅黑" panose="020B0503020204020204" pitchFamily="34" charset="-122"/>
              </a:rPr>
              <a:t>。对文件副本进行访问。</a:t>
            </a:r>
            <a:endParaRPr lang="en-US" altLang="zh-CN" sz="2000" b="1" dirty="0" smtClean="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若要</a:t>
            </a:r>
            <a:r>
              <a:rPr lang="zh-CN" altLang="en-US" b="1" dirty="0">
                <a:latin typeface="微软雅黑" panose="020B0503020204020204" pitchFamily="34" charset="-122"/>
                <a:ea typeface="微软雅黑" panose="020B0503020204020204" pitchFamily="34" charset="-122"/>
              </a:rPr>
              <a:t>存取一个文件，就必须先获得一个本地文件副本。</a:t>
            </a:r>
            <a:endParaRPr lang="en-US" altLang="zh-CN" b="1" dirty="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若</a:t>
            </a:r>
            <a:r>
              <a:rPr lang="zh-CN" altLang="en-US" b="1" dirty="0" smtClean="0">
                <a:latin typeface="微软雅黑" panose="020B0503020204020204" pitchFamily="34" charset="-122"/>
                <a:ea typeface="微软雅黑" panose="020B0503020204020204" pitchFamily="34" charset="-122"/>
              </a:rPr>
              <a:t>要</a:t>
            </a:r>
            <a:r>
              <a:rPr lang="zh-CN" altLang="en-US" b="1" dirty="0">
                <a:latin typeface="微软雅黑" panose="020B0503020204020204" pitchFamily="34" charset="-122"/>
                <a:ea typeface="微软雅黑" panose="020B0503020204020204" pitchFamily="34" charset="-122"/>
              </a:rPr>
              <a:t>修改文件，只能对文件副本进行修改，然后再将修改后的文件副本传回到原节点。</a:t>
            </a:r>
            <a:endParaRPr lang="en-US" altLang="zh-CN"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联机</a:t>
            </a:r>
            <a:r>
              <a:rPr lang="zh-CN" altLang="en-US" sz="2000" b="1" dirty="0" smtClean="0">
                <a:solidFill>
                  <a:srgbClr val="C00000"/>
                </a:solidFill>
                <a:latin typeface="微软雅黑" panose="020B0503020204020204" pitchFamily="34" charset="-122"/>
                <a:ea typeface="微软雅黑" panose="020B0503020204020204" pitchFamily="34" charset="-122"/>
              </a:rPr>
              <a:t>访问 </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on-line </a:t>
            </a:r>
            <a:r>
              <a:rPr lang="en-US" altLang="zh-CN" sz="2000" b="1" dirty="0" smtClean="0">
                <a:solidFill>
                  <a:srgbClr val="C00000"/>
                </a:solidFill>
                <a:latin typeface="微软雅黑" panose="020B0503020204020204" pitchFamily="34" charset="-122"/>
                <a:ea typeface="微软雅黑" panose="020B0503020204020204" pitchFamily="34" charset="-122"/>
              </a:rPr>
              <a:t>access) </a:t>
            </a:r>
            <a:r>
              <a:rPr lang="zh-CN" altLang="en-US" sz="2000" b="1" dirty="0" smtClean="0">
                <a:solidFill>
                  <a:srgbClr val="C00000"/>
                </a:solidFill>
                <a:latin typeface="微软雅黑" panose="020B0503020204020204" pitchFamily="34" charset="-122"/>
                <a:ea typeface="微软雅黑" panose="020B0503020204020204" pitchFamily="34" charset="-122"/>
              </a:rPr>
              <a:t>协议：</a:t>
            </a:r>
            <a:r>
              <a:rPr lang="en-US" altLang="zh-CN" sz="2000" b="1" dirty="0" smtClean="0">
                <a:latin typeface="微软雅黑" panose="020B0503020204020204" pitchFamily="34" charset="-122"/>
                <a:ea typeface="微软雅黑" panose="020B0503020204020204" pitchFamily="34" charset="-122"/>
              </a:rPr>
              <a:t>NFS </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允许同时对一个文件进行存取。</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远地共享文件访问，如同对本地文件的访问一样。</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透明存取，不需要对该应用程序作明显的改动。</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由操作系统负责。</a:t>
            </a:r>
            <a:endParaRPr lang="en-US" altLang="zh-CN"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220"/>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08611" y="568949"/>
            <a:ext cx="39267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6.2.2  FTP </a:t>
            </a:r>
            <a:r>
              <a:rPr lang="zh-CN" altLang="en-US" sz="2400" b="1" dirty="0">
                <a:solidFill>
                  <a:schemeClr val="bg1"/>
                </a:solidFill>
                <a:latin typeface="微软雅黑" panose="020B0503020204020204" pitchFamily="34" charset="-122"/>
                <a:ea typeface="微软雅黑" panose="020B0503020204020204" pitchFamily="34" charset="-122"/>
              </a:rPr>
              <a:t>的基本工作</a:t>
            </a:r>
            <a:r>
              <a:rPr lang="zh-CN" altLang="en-US" sz="2400" b="1" dirty="0" smtClean="0">
                <a:solidFill>
                  <a:schemeClr val="bg1"/>
                </a:solidFill>
                <a:latin typeface="微软雅黑" panose="020B0503020204020204" pitchFamily="34" charset="-122"/>
                <a:ea typeface="微软雅黑" panose="020B0503020204020204" pitchFamily="34" charset="-122"/>
              </a:rPr>
              <a:t>原理</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8"/>
          <p:cNvSpPr>
            <a:spLocks noChangeArrowheads="1"/>
          </p:cNvSpPr>
          <p:nvPr/>
        </p:nvSpPr>
        <p:spPr bwMode="auto">
          <a:xfrm>
            <a:off x="545143" y="999941"/>
            <a:ext cx="7665003"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环境下复制文件的</a:t>
            </a:r>
            <a:r>
              <a:rPr lang="zh-CN" altLang="en-US" sz="2000" b="1" dirty="0">
                <a:solidFill>
                  <a:srgbClr val="C00000"/>
                </a:solidFill>
                <a:latin typeface="微软雅黑" panose="020B0503020204020204" pitchFamily="34" charset="-122"/>
                <a:ea typeface="微软雅黑" panose="020B0503020204020204" pitchFamily="34" charset="-122"/>
              </a:rPr>
              <a:t>复杂性：</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计算机</a:t>
            </a:r>
            <a:r>
              <a:rPr lang="zh-CN" altLang="en-US" sz="2000" b="1" dirty="0">
                <a:latin typeface="微软雅黑" panose="020B0503020204020204" pitchFamily="34" charset="-122"/>
                <a:ea typeface="微软雅黑" panose="020B0503020204020204" pitchFamily="34" charset="-122"/>
              </a:rPr>
              <a:t>存储数据的格式不同。</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的目录结构和文件命名的规定不同。</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对于</a:t>
            </a:r>
            <a:r>
              <a:rPr lang="zh-CN" altLang="en-US" sz="2000" b="1" dirty="0">
                <a:latin typeface="微软雅黑" panose="020B0503020204020204" pitchFamily="34" charset="-122"/>
                <a:ea typeface="微软雅黑" panose="020B0503020204020204" pitchFamily="34" charset="-122"/>
              </a:rPr>
              <a:t>相同的文件存取功能，操作系统使用的命令不同。</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访问</a:t>
            </a:r>
            <a:r>
              <a:rPr lang="zh-CN" altLang="en-US" sz="2000" b="1" dirty="0">
                <a:latin typeface="微软雅黑" panose="020B0503020204020204" pitchFamily="34" charset="-122"/>
                <a:ea typeface="微软雅黑" panose="020B0503020204020204" pitchFamily="34" charset="-122"/>
              </a:rPr>
              <a:t>控制方法不同。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692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1" name="Rectangle 6"/>
          <p:cNvSpPr>
            <a:spLocks noChangeArrowheads="1"/>
          </p:cNvSpPr>
          <p:nvPr/>
        </p:nvSpPr>
        <p:spPr bwMode="auto">
          <a:xfrm>
            <a:off x="3956791" y="583717"/>
            <a:ext cx="1249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FTP </a:t>
            </a:r>
            <a:r>
              <a:rPr lang="zh-CN" altLang="en-US" sz="2000" b="1" dirty="0">
                <a:solidFill>
                  <a:schemeClr val="bg1"/>
                </a:solidFill>
                <a:latin typeface="微软雅黑" panose="020B0503020204020204" pitchFamily="34" charset="-122"/>
                <a:ea typeface="微软雅黑" panose="020B0503020204020204" pitchFamily="34" charset="-122"/>
              </a:rPr>
              <a:t>特点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Rectangle 68"/>
          <p:cNvSpPr>
            <a:spLocks noChangeArrowheads="1"/>
          </p:cNvSpPr>
          <p:nvPr/>
        </p:nvSpPr>
        <p:spPr bwMode="auto">
          <a:xfrm>
            <a:off x="556963" y="973543"/>
            <a:ext cx="804877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a:t>
            </a:r>
            <a:r>
              <a:rPr lang="zh-CN" altLang="en-US" sz="2000" b="1" dirty="0">
                <a:latin typeface="微软雅黑" panose="020B0503020204020204" pitchFamily="34" charset="-122"/>
                <a:ea typeface="微软雅黑" panose="020B0503020204020204" pitchFamily="34" charset="-122"/>
              </a:rPr>
              <a:t>提供文件传送的一些</a:t>
            </a:r>
            <a:r>
              <a:rPr lang="zh-CN" altLang="en-US" sz="2000" b="1" dirty="0" smtClean="0">
                <a:solidFill>
                  <a:srgbClr val="C00000"/>
                </a:solidFill>
                <a:latin typeface="微软雅黑" panose="020B0503020204020204" pitchFamily="34" charset="-122"/>
                <a:ea typeface="微软雅黑" panose="020B0503020204020204" pitchFamily="34" charset="-122"/>
              </a:rPr>
              <a:t>基本服务</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它使用 </a:t>
            </a:r>
            <a:r>
              <a:rPr lang="en-US" altLang="zh-CN" sz="2000" b="1" dirty="0">
                <a:solidFill>
                  <a:srgbClr val="C00000"/>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可靠的运输服务。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主要功能：</a:t>
            </a:r>
            <a:r>
              <a:rPr lang="zh-CN" altLang="en-US" sz="2000" b="1" dirty="0" smtClean="0">
                <a:latin typeface="微软雅黑" panose="020B0503020204020204" pitchFamily="34" charset="-122"/>
                <a:ea typeface="微软雅黑" panose="020B0503020204020204" pitchFamily="34" charset="-122"/>
              </a:rPr>
              <a:t>减少</a:t>
            </a:r>
            <a:r>
              <a:rPr lang="zh-CN" altLang="en-US" sz="2000" b="1" dirty="0">
                <a:latin typeface="微软雅黑" panose="020B0503020204020204" pitchFamily="34" charset="-122"/>
                <a:ea typeface="微软雅黑" panose="020B0503020204020204" pitchFamily="34" charset="-122"/>
              </a:rPr>
              <a:t>或消除在不同操作系统下处理文件的不兼容性。</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客户服务器方式</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 </a:t>
            </a:r>
            <a:r>
              <a:rPr lang="en-US" altLang="zh-CN" sz="2000" b="1" dirty="0">
                <a:latin typeface="微软雅黑" panose="020B0503020204020204" pitchFamily="34" charset="-122"/>
                <a:ea typeface="微软雅黑" panose="020B0503020204020204" pitchFamily="34" charset="-122"/>
              </a:rPr>
              <a:t>FTP </a:t>
            </a:r>
            <a:r>
              <a:rPr lang="zh-CN" altLang="en-US" sz="2000" b="1" dirty="0">
                <a:latin typeface="微软雅黑" panose="020B0503020204020204" pitchFamily="34" charset="-122"/>
                <a:ea typeface="微软雅黑" panose="020B0503020204020204" pitchFamily="34" charset="-122"/>
              </a:rPr>
              <a:t>服务器进程可</a:t>
            </a:r>
            <a:r>
              <a:rPr lang="zh-CN" altLang="en-US" sz="2000" b="1" dirty="0">
                <a:solidFill>
                  <a:srgbClr val="C00000"/>
                </a:solidFill>
                <a:latin typeface="微软雅黑" panose="020B0503020204020204" pitchFamily="34" charset="-122"/>
                <a:ea typeface="微软雅黑" panose="020B0503020204020204" pitchFamily="34" charset="-122"/>
              </a:rPr>
              <a:t>同时</a:t>
            </a:r>
            <a:r>
              <a:rPr lang="zh-CN" altLang="en-US" sz="2000" b="1" dirty="0">
                <a:latin typeface="微软雅黑" panose="020B0503020204020204" pitchFamily="34" charset="-122"/>
                <a:ea typeface="微软雅黑" panose="020B0503020204020204" pitchFamily="34" charset="-122"/>
              </a:rPr>
              <a:t>为多个客户进程提供服务。</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FTP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服务器进程</a:t>
            </a:r>
            <a:r>
              <a:rPr lang="zh-CN" altLang="en-US" sz="2000" b="1" dirty="0">
                <a:latin typeface="微软雅黑" panose="020B0503020204020204" pitchFamily="34" charset="-122"/>
                <a:ea typeface="微软雅黑" panose="020B0503020204020204" pitchFamily="34" charset="-122"/>
              </a:rPr>
              <a:t>由两大部分组成</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a:solidFill>
                  <a:srgbClr val="0000FF"/>
                </a:solidFill>
                <a:latin typeface="微软雅黑" panose="020B0503020204020204" pitchFamily="34" charset="-122"/>
                <a:ea typeface="微软雅黑" panose="020B0503020204020204" pitchFamily="34" charset="-122"/>
              </a:rPr>
              <a:t>一个主进程，</a:t>
            </a:r>
            <a:r>
              <a:rPr lang="zh-CN" altLang="en-US" b="1" dirty="0">
                <a:latin typeface="微软雅黑" panose="020B0503020204020204" pitchFamily="34" charset="-122"/>
                <a:ea typeface="微软雅黑" panose="020B0503020204020204" pitchFamily="34" charset="-122"/>
              </a:rPr>
              <a:t>负责接受新的请求；</a:t>
            </a:r>
            <a:endParaRPr lang="en-US" altLang="zh-CN" b="1" dirty="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smtClean="0">
                <a:solidFill>
                  <a:srgbClr val="0000FF"/>
                </a:solidFill>
                <a:latin typeface="微软雅黑" panose="020B0503020204020204" pitchFamily="34" charset="-122"/>
                <a:ea typeface="微软雅黑" panose="020B0503020204020204" pitchFamily="34" charset="-122"/>
              </a:rPr>
              <a:t>若干</a:t>
            </a:r>
            <a:r>
              <a:rPr lang="zh-CN" altLang="en-US" b="1" dirty="0">
                <a:solidFill>
                  <a:srgbClr val="0000FF"/>
                </a:solidFill>
                <a:latin typeface="微软雅黑" panose="020B0503020204020204" pitchFamily="34" charset="-122"/>
                <a:ea typeface="微软雅黑" panose="020B0503020204020204" pitchFamily="34" charset="-122"/>
              </a:rPr>
              <a:t>个从属进程，</a:t>
            </a:r>
            <a:r>
              <a:rPr lang="zh-CN" altLang="en-US" b="1" dirty="0">
                <a:latin typeface="微软雅黑" panose="020B0503020204020204" pitchFamily="34" charset="-122"/>
                <a:ea typeface="微软雅黑" panose="020B0503020204020204" pitchFamily="34" charset="-122"/>
              </a:rPr>
              <a:t>负责处理单个请求。</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AutoShape 5"/>
          <p:cNvSpPr>
            <a:spLocks noChangeArrowheads="1"/>
          </p:cNvSpPr>
          <p:nvPr/>
        </p:nvSpPr>
        <p:spPr bwMode="auto">
          <a:xfrm>
            <a:off x="556963" y="6091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 name="Rectangle 6"/>
          <p:cNvSpPr>
            <a:spLocks noChangeArrowheads="1"/>
          </p:cNvSpPr>
          <p:nvPr/>
        </p:nvSpPr>
        <p:spPr bwMode="auto">
          <a:xfrm>
            <a:off x="3187350" y="575896"/>
            <a:ext cx="2788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主</a:t>
            </a:r>
            <a:r>
              <a:rPr lang="zh-CN" altLang="en-US" sz="2000" b="1" dirty="0">
                <a:solidFill>
                  <a:schemeClr val="bg1"/>
                </a:solidFill>
                <a:latin typeface="微软雅黑" panose="020B0503020204020204" pitchFamily="34" charset="-122"/>
                <a:ea typeface="微软雅黑" panose="020B0503020204020204" pitchFamily="34" charset="-122"/>
              </a:rPr>
              <a:t>进程的工作步骤</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6" name="Rectangle 68"/>
          <p:cNvSpPr>
            <a:spLocks noChangeArrowheads="1"/>
          </p:cNvSpPr>
          <p:nvPr/>
        </p:nvSpPr>
        <p:spPr bwMode="auto">
          <a:xfrm>
            <a:off x="556962" y="965722"/>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打开熟知端口（端口号为 </a:t>
            </a:r>
            <a:r>
              <a:rPr lang="en-US" altLang="zh-CN" sz="2000" b="1" dirty="0">
                <a:latin typeface="微软雅黑" panose="020B0503020204020204" pitchFamily="34" charset="-122"/>
                <a:ea typeface="微软雅黑" panose="020B0503020204020204" pitchFamily="34" charset="-122"/>
              </a:rPr>
              <a:t>21</a:t>
            </a:r>
            <a:r>
              <a:rPr lang="zh-CN" altLang="en-US" sz="2000" b="1" dirty="0">
                <a:latin typeface="微软雅黑" panose="020B0503020204020204" pitchFamily="34" charset="-122"/>
                <a:ea typeface="微软雅黑" panose="020B0503020204020204" pitchFamily="34" charset="-122"/>
              </a:rPr>
              <a:t>），使客户进程能够连接上。</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等待客户进程发出连接请求。</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启动从属进程来处理客户进程发来的请求。从属进程对客户进程的请求处理完毕后即终止，但从属进程在运行期间根据需要还可能创建其他一些子进程。</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回到等待状态，继续接受其他客户进程发来的请求。主进程与从属进程的处理是并发地进行。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1294396" y="582898"/>
            <a:ext cx="65739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客户</a:t>
            </a:r>
            <a:r>
              <a:rPr lang="zh-CN" altLang="en-US" sz="2000" b="1" dirty="0">
                <a:solidFill>
                  <a:schemeClr val="bg1"/>
                </a:solidFill>
                <a:latin typeface="微软雅黑" panose="020B0503020204020204" pitchFamily="34" charset="-122"/>
                <a:ea typeface="微软雅黑" panose="020B0503020204020204" pitchFamily="34" charset="-122"/>
              </a:rPr>
              <a:t>和服务器</a:t>
            </a:r>
            <a:r>
              <a:rPr lang="zh-CN" altLang="en-US" sz="2000" b="1" dirty="0" smtClean="0">
                <a:solidFill>
                  <a:schemeClr val="bg1"/>
                </a:solidFill>
                <a:latin typeface="微软雅黑" panose="020B0503020204020204" pitchFamily="34" charset="-122"/>
                <a:ea typeface="微软雅黑" panose="020B0503020204020204" pitchFamily="34" charset="-122"/>
              </a:rPr>
              <a:t>之间的两</a:t>
            </a:r>
            <a:r>
              <a:rPr lang="zh-CN" altLang="en-US" sz="2000" b="1" dirty="0">
                <a:solidFill>
                  <a:schemeClr val="bg1"/>
                </a:solidFill>
                <a:latin typeface="微软雅黑" panose="020B0503020204020204" pitchFamily="34" charset="-122"/>
                <a:ea typeface="微软雅黑" panose="020B0503020204020204" pitchFamily="34" charset="-122"/>
              </a:rPr>
              <a:t>个从属</a:t>
            </a:r>
            <a:r>
              <a:rPr lang="zh-CN" altLang="en-US" sz="2000" b="1" dirty="0" smtClean="0">
                <a:solidFill>
                  <a:schemeClr val="bg1"/>
                </a:solidFill>
                <a:latin typeface="微软雅黑" panose="020B0503020204020204" pitchFamily="34" charset="-122"/>
                <a:ea typeface="微软雅黑" panose="020B0503020204020204" pitchFamily="34" charset="-122"/>
              </a:rPr>
              <a:t>进程</a:t>
            </a:r>
            <a:r>
              <a:rPr lang="zh-CN" altLang="en-US" sz="2000" b="1" dirty="0">
                <a:solidFill>
                  <a:schemeClr val="bg1"/>
                </a:solidFill>
                <a:latin typeface="微软雅黑" panose="020B0503020204020204" pitchFamily="34" charset="-122"/>
                <a:ea typeface="微软雅黑" panose="020B0503020204020204" pitchFamily="34" charset="-122"/>
              </a:rPr>
              <a:t>和两</a:t>
            </a:r>
            <a:r>
              <a:rPr lang="zh-CN" altLang="en-US" sz="2000" b="1" dirty="0" smtClean="0">
                <a:solidFill>
                  <a:schemeClr val="bg1"/>
                </a:solidFill>
                <a:latin typeface="微软雅黑" panose="020B0503020204020204" pitchFamily="34" charset="-122"/>
                <a:ea typeface="微软雅黑" panose="020B0503020204020204" pitchFamily="34" charset="-122"/>
              </a:rPr>
              <a:t>个 </a:t>
            </a:r>
            <a:r>
              <a:rPr lang="en-US" altLang="zh-CN" sz="2000" b="1" dirty="0" smtClean="0">
                <a:solidFill>
                  <a:schemeClr val="bg1"/>
                </a:solidFill>
                <a:latin typeface="微软雅黑" panose="020B0503020204020204" pitchFamily="34" charset="-122"/>
                <a:ea typeface="微软雅黑" panose="020B0503020204020204" pitchFamily="34" charset="-122"/>
              </a:rPr>
              <a:t>TCP </a:t>
            </a:r>
            <a:r>
              <a:rPr lang="zh-CN" altLang="en-US" sz="2000" b="1" dirty="0" smtClean="0">
                <a:solidFill>
                  <a:schemeClr val="bg1"/>
                </a:solidFill>
                <a:latin typeface="微软雅黑" panose="020B0503020204020204" pitchFamily="34" charset="-122"/>
                <a:ea typeface="微软雅黑" panose="020B0503020204020204" pitchFamily="34" charset="-122"/>
              </a:rPr>
              <a:t>连接</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控制进程</a:t>
              </a:r>
              <a:endParaRPr kumimoji="1" lang="zh-CN" altLang="en-US" sz="1200" b="1" dirty="0">
                <a:latin typeface="微软雅黑" panose="020B0503020204020204" pitchFamily="34" charset="-122"/>
                <a:ea typeface="微软雅黑" panose="020B0503020204020204" pitchFamily="34" charset="-122"/>
              </a:endParaRPr>
            </a:p>
          </p:txBody>
        </p:sp>
        <p:grpSp>
          <p:nvGrpSpPr>
            <p:cNvPr id="62" name="Group 84"/>
            <p:cNvGrpSpPr/>
            <p:nvPr/>
          </p:nvGrpSpPr>
          <p:grpSpPr bwMode="auto">
            <a:xfrm>
              <a:off x="317184" y="2008906"/>
              <a:ext cx="820341" cy="1204912"/>
              <a:chOff x="480" y="1395"/>
              <a:chExt cx="511" cy="728"/>
            </a:xfrm>
          </p:grpSpPr>
          <p:grpSp>
            <p:nvGrpSpPr>
              <p:cNvPr id="63" name="Group 85"/>
              <p:cNvGrpSpPr/>
              <p:nvPr/>
            </p:nvGrpSpPr>
            <p:grpSpPr bwMode="auto">
              <a:xfrm>
                <a:off x="717" y="1446"/>
                <a:ext cx="274" cy="237"/>
                <a:chOff x="717" y="1446"/>
                <a:chExt cx="274" cy="237"/>
              </a:xfrm>
            </p:grpSpPr>
            <p:sp>
              <p:nvSpPr>
                <p:cNvPr id="88" name="Arc 86"/>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Arc 87"/>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88"/>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89"/>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92"/>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93"/>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94"/>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95"/>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96"/>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97"/>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Freeform 100"/>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101"/>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102"/>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103"/>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104"/>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105"/>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Freeform 108"/>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Freeform 109"/>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2" name="Freeform 110"/>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Freeform 111"/>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4" name="Freeform 114"/>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15"/>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16"/>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17"/>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18"/>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19"/>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20"/>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Freeform 121"/>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2"/>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3"/>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24"/>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25"/>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26"/>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27"/>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28"/>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9" name="Freeform 129"/>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0" name="Freeform 130"/>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Freeform 131"/>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2" name="Freeform 132"/>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Freeform 133"/>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4" name="Freeform 134"/>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135"/>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136"/>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137"/>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客户端</a:t>
              </a:r>
              <a:endParaRPr kumimoji="1" lang="zh-CN" altLang="en-US" sz="1400" b="1" dirty="0">
                <a:latin typeface="微软雅黑" panose="020B0503020204020204" pitchFamily="34" charset="-122"/>
                <a:ea typeface="微软雅黑" panose="020B0503020204020204" pitchFamily="34" charset="-122"/>
              </a:endParaRP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服务器端</a:t>
              </a:r>
              <a:endParaRPr kumimoji="1" lang="zh-CN" altLang="en-US" sz="1400" b="1" dirty="0">
                <a:latin typeface="微软雅黑" panose="020B0503020204020204" pitchFamily="34" charset="-122"/>
                <a:ea typeface="微软雅黑" panose="020B0503020204020204" pitchFamily="34" charset="-122"/>
              </a:endParaRP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aphicFrame>
          <p:nvGraphicFramePr>
            <p:cNvPr id="126" name="Object 148"/>
            <p:cNvGraphicFramePr>
              <a:graphicFrameLocks noChangeAspect="1"/>
            </p:cNvGraphicFramePr>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spid="_x0000_s1025" name="VISIO" r:id="rId1" imgW="3514725" imgH="2009775" progId="">
                    <p:embed/>
                  </p:oleObj>
                </mc:Choice>
                <mc:Fallback>
                  <p:oleObj name="VISIO" r:id="rId1" imgW="3514725" imgH="2009775" progId="">
                    <p:embed/>
                    <p:pic>
                      <p:nvPicPr>
                        <p:cNvPr id="0" name="图片 1024"/>
                        <p:cNvPicPr>
                          <a:picLocks noChangeAspect="1"/>
                        </p:cNvPicPr>
                        <p:nvPr/>
                      </p:nvPicPr>
                      <p:blipFill>
                        <a:blip r:embed="rId2"/>
                        <a:stretch>
                          <a:fillRect/>
                        </a:stretch>
                      </p:blipFill>
                      <p:spPr>
                        <a:xfrm>
                          <a:off x="3871995" y="2658193"/>
                          <a:ext cx="2369873" cy="1746250"/>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互联网</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TCP </a:t>
              </a:r>
              <a:r>
                <a:rPr kumimoji="1" lang="zh-CN" altLang="en-US" sz="1400" b="1" dirty="0">
                  <a:solidFill>
                    <a:srgbClr val="0000FF"/>
                  </a:solidFill>
                  <a:latin typeface="微软雅黑" panose="020B0503020204020204" pitchFamily="34" charset="-122"/>
                  <a:ea typeface="微软雅黑" panose="020B0503020204020204" pitchFamily="34" charset="-122"/>
                </a:rPr>
                <a:t>控制连接</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CC00CC"/>
                  </a:solidFill>
                  <a:latin typeface="微软雅黑" panose="020B0503020204020204" pitchFamily="34" charset="-122"/>
                  <a:ea typeface="微软雅黑" panose="020B0503020204020204" pitchFamily="34" charset="-122"/>
                </a:rPr>
                <a:t>TCP </a:t>
              </a:r>
              <a:r>
                <a:rPr kumimoji="1" lang="zh-CN" altLang="en-US" sz="1400" b="1" dirty="0">
                  <a:solidFill>
                    <a:srgbClr val="CC00CC"/>
                  </a:solidFill>
                  <a:latin typeface="微软雅黑" panose="020B0503020204020204" pitchFamily="34" charset="-122"/>
                  <a:ea typeface="微软雅黑" panose="020B0503020204020204" pitchFamily="34" charset="-122"/>
                </a:rPr>
                <a:t>数据连接</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用户界面</a:t>
              </a:r>
              <a:endParaRPr kumimoji="1" lang="zh-CN" altLang="en-US" sz="1200" b="1" dirty="0">
                <a:latin typeface="微软雅黑" panose="020B0503020204020204" pitchFamily="34" charset="-122"/>
                <a:ea typeface="微软雅黑" panose="020B0503020204020204" pitchFamily="34" charset="-122"/>
              </a:endParaRP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控制进程</a:t>
              </a:r>
              <a:endParaRPr kumimoji="1" lang="zh-CN" altLang="en-US" sz="1200" b="1">
                <a:latin typeface="微软雅黑" panose="020B0503020204020204" pitchFamily="34" charset="-122"/>
                <a:ea typeface="微软雅黑" panose="020B0503020204020204" pitchFamily="34" charset="-122"/>
              </a:endParaRP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数据传送</a:t>
              </a:r>
              <a:endParaRPr kumimoji="1" lang="zh-CN" altLang="en-US" sz="1200" b="1">
                <a:latin typeface="微软雅黑" panose="020B0503020204020204" pitchFamily="34" charset="-122"/>
                <a:ea typeface="微软雅黑" panose="020B0503020204020204" pitchFamily="34" charset="-122"/>
              </a:endParaRPr>
            </a:p>
            <a:p>
              <a:pPr algn="ctr" eaLnBrk="1" hangingPunct="1"/>
              <a:r>
                <a:rPr kumimoji="1" lang="zh-CN" altLang="en-US" sz="1200" b="1">
                  <a:latin typeface="微软雅黑" panose="020B0503020204020204" pitchFamily="34" charset="-122"/>
                  <a:ea typeface="微软雅黑" panose="020B0503020204020204" pitchFamily="34" charset="-122"/>
                </a:rPr>
                <a:t>进程</a:t>
              </a:r>
              <a:endParaRPr kumimoji="1" lang="zh-CN" altLang="en-US" sz="1200" b="1">
                <a:latin typeface="微软雅黑" panose="020B0503020204020204" pitchFamily="34" charset="-122"/>
                <a:ea typeface="微软雅黑" panose="020B0503020204020204" pitchFamily="34" charset="-122"/>
              </a:endParaRP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数据传送</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进程</a:t>
              </a:r>
              <a:endParaRPr kumimoji="1" lang="zh-CN" altLang="en-US" sz="1200" b="1" dirty="0">
                <a:latin typeface="微软雅黑" panose="020B0503020204020204" pitchFamily="34" charset="-122"/>
                <a:ea typeface="微软雅黑" panose="020B0503020204020204" pitchFamily="34" charset="-122"/>
              </a:endParaRP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在</a:t>
              </a:r>
              <a:r>
                <a:rPr lang="zh-CN" altLang="en-US" sz="1200" b="1" dirty="0">
                  <a:latin typeface="微软雅黑" panose="020B0503020204020204" pitchFamily="34" charset="-122"/>
                  <a:ea typeface="微软雅黑" panose="020B0503020204020204" pitchFamily="34" charset="-122"/>
                </a:rPr>
                <a:t>整个会话期间一直保持打开</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传输 </a:t>
              </a:r>
              <a:r>
                <a:rPr lang="en-US" altLang="zh-CN" sz="1200" b="1" dirty="0" smtClean="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a:t>
              </a:r>
              <a:r>
                <a:rPr lang="zh-CN" altLang="en-US" sz="1200" b="1" dirty="0" smtClean="0">
                  <a:latin typeface="微软雅黑" panose="020B0503020204020204" pitchFamily="34" charset="-122"/>
                  <a:ea typeface="微软雅黑" panose="020B0503020204020204" pitchFamily="34" charset="-122"/>
                </a:rPr>
                <a:t>请求</a:t>
              </a:r>
              <a:r>
                <a:rPr lang="zh-CN" altLang="en-US"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收到客户连接请求后有主进程创建。</a:t>
              </a:r>
              <a:endParaRPr lang="zh-CN" altLang="en-US" sz="1200" b="1" dirty="0">
                <a:latin typeface="微软雅黑" panose="020B0503020204020204" pitchFamily="34" charset="-122"/>
                <a:ea typeface="微软雅黑" panose="020B0503020204020204" pitchFamily="34" charset="-122"/>
              </a:endParaRP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实际</a:t>
              </a:r>
              <a:r>
                <a:rPr lang="zh-CN" altLang="en-US" sz="1200" b="1" dirty="0">
                  <a:latin typeface="微软雅黑" panose="020B0503020204020204" pitchFamily="34" charset="-122"/>
                  <a:ea typeface="微软雅黑" panose="020B0503020204020204" pitchFamily="34" charset="-122"/>
                </a:rPr>
                <a:t>完成文件的</a:t>
              </a:r>
              <a:r>
                <a:rPr lang="zh-CN" altLang="en-US" sz="1200" b="1" dirty="0" smtClean="0">
                  <a:latin typeface="微软雅黑" panose="020B0503020204020204" pitchFamily="34" charset="-122"/>
                  <a:ea typeface="微软雅黑" panose="020B0503020204020204" pitchFamily="34" charset="-122"/>
                </a:rPr>
                <a:t>传送。传送</a:t>
              </a:r>
              <a:r>
                <a:rPr lang="zh-CN" altLang="en-US" sz="1200" b="1" dirty="0">
                  <a:latin typeface="微软雅黑" panose="020B0503020204020204" pitchFamily="34" charset="-122"/>
                  <a:ea typeface="微软雅黑" panose="020B0503020204020204" pitchFamily="34" charset="-122"/>
                </a:rPr>
                <a:t>完毕后</a:t>
              </a:r>
              <a:r>
                <a:rPr lang="zh-CN" altLang="en-US" sz="1200" b="1" dirty="0" smtClean="0">
                  <a:latin typeface="微软雅黑" panose="020B0503020204020204" pitchFamily="34" charset="-122"/>
                  <a:ea typeface="微软雅黑" panose="020B0503020204020204" pitchFamily="34" charset="-122"/>
                </a:rPr>
                <a:t>关闭。</a:t>
              </a:r>
              <a:endParaRPr lang="zh-CN" altLang="en-US" sz="1200" b="1" dirty="0">
                <a:latin typeface="微软雅黑" panose="020B0503020204020204" pitchFamily="34" charset="-122"/>
                <a:ea typeface="微软雅黑" panose="020B0503020204020204" pitchFamily="34" charset="-122"/>
              </a:endParaRP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动态</a:t>
              </a:r>
              <a:r>
                <a:rPr lang="zh-CN" altLang="en-US" sz="1200" b="1" dirty="0">
                  <a:latin typeface="微软雅黑" panose="020B0503020204020204" pitchFamily="34" charset="-122"/>
                  <a:ea typeface="微软雅黑" panose="020B0503020204020204" pitchFamily="34" charset="-122"/>
                </a:rPr>
                <a:t>创建</a:t>
              </a:r>
              <a:r>
                <a:rPr lang="zh-CN" altLang="en-US" sz="1200" b="1" dirty="0" smtClean="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传输文件</a:t>
              </a:r>
              <a:r>
                <a:rPr lang="zh-CN" altLang="en-US" sz="1200" b="1" dirty="0" smtClean="0">
                  <a:latin typeface="微软雅黑" panose="020B0503020204020204" pitchFamily="34" charset="-122"/>
                  <a:ea typeface="微软雅黑" panose="020B0503020204020204" pitchFamily="34" charset="-122"/>
                </a:rPr>
                <a:t>。传送</a:t>
              </a:r>
              <a:r>
                <a:rPr lang="zh-CN" altLang="en-US" sz="1200" b="1" dirty="0">
                  <a:latin typeface="微软雅黑" panose="020B0503020204020204" pitchFamily="34" charset="-122"/>
                  <a:ea typeface="微软雅黑" panose="020B0503020204020204" pitchFamily="34" charset="-122"/>
                </a:rPr>
                <a:t>完毕</a:t>
              </a:r>
              <a:r>
                <a:rPr lang="zh-CN" altLang="en-US" sz="1200" b="1" dirty="0" smtClean="0">
                  <a:latin typeface="微软雅黑" panose="020B0503020204020204" pitchFamily="34" charset="-122"/>
                  <a:ea typeface="微软雅黑" panose="020B0503020204020204" pitchFamily="34" charset="-122"/>
                </a:rPr>
                <a:t>后释放。</a:t>
              </a:r>
              <a:endParaRPr lang="en-US" altLang="zh-CN" sz="1200" b="1" dirty="0" smtClean="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2930870" y="582898"/>
            <a:ext cx="3300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使用两</a:t>
            </a:r>
            <a:r>
              <a:rPr lang="zh-CN" altLang="en-US" sz="2000" b="1" dirty="0">
                <a:solidFill>
                  <a:schemeClr val="bg1"/>
                </a:solidFill>
                <a:latin typeface="微软雅黑" panose="020B0503020204020204" pitchFamily="34" charset="-122"/>
                <a:ea typeface="微软雅黑" panose="020B0503020204020204" pitchFamily="34" charset="-122"/>
              </a:rPr>
              <a:t>个不同的端口号</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控制进程</a:t>
              </a:r>
              <a:endParaRPr kumimoji="1" lang="zh-CN" altLang="en-US" sz="1200" b="1" dirty="0">
                <a:latin typeface="微软雅黑" panose="020B0503020204020204" pitchFamily="34" charset="-122"/>
                <a:ea typeface="微软雅黑" panose="020B0503020204020204" pitchFamily="34" charset="-122"/>
              </a:endParaRPr>
            </a:p>
          </p:txBody>
        </p:sp>
        <p:grpSp>
          <p:nvGrpSpPr>
            <p:cNvPr id="62" name="Group 84"/>
            <p:cNvGrpSpPr/>
            <p:nvPr/>
          </p:nvGrpSpPr>
          <p:grpSpPr bwMode="auto">
            <a:xfrm>
              <a:off x="317184" y="2008906"/>
              <a:ext cx="820341" cy="1204912"/>
              <a:chOff x="480" y="1395"/>
              <a:chExt cx="511" cy="728"/>
            </a:xfrm>
          </p:grpSpPr>
          <p:grpSp>
            <p:nvGrpSpPr>
              <p:cNvPr id="63" name="Group 85"/>
              <p:cNvGrpSpPr/>
              <p:nvPr/>
            </p:nvGrpSpPr>
            <p:grpSpPr bwMode="auto">
              <a:xfrm>
                <a:off x="717" y="1446"/>
                <a:ext cx="274" cy="237"/>
                <a:chOff x="717" y="1446"/>
                <a:chExt cx="274" cy="237"/>
              </a:xfrm>
            </p:grpSpPr>
            <p:sp>
              <p:nvSpPr>
                <p:cNvPr id="88" name="Arc 86"/>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Arc 87"/>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88"/>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89"/>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92"/>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93"/>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94"/>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95"/>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96"/>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97"/>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Freeform 100"/>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101"/>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102"/>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103"/>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104"/>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105"/>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Freeform 108"/>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Freeform 109"/>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2" name="Freeform 110"/>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Freeform 111"/>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4" name="Freeform 114"/>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15"/>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16"/>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17"/>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18"/>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19"/>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20"/>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Freeform 121"/>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2"/>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3"/>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24"/>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25"/>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26"/>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27"/>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28"/>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9" name="Freeform 129"/>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0" name="Freeform 130"/>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Freeform 131"/>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2" name="Freeform 132"/>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Freeform 133"/>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4" name="Freeform 134"/>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135"/>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136"/>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137"/>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客户端</a:t>
              </a:r>
              <a:endParaRPr kumimoji="1" lang="zh-CN" altLang="en-US" sz="1400" b="1" dirty="0">
                <a:latin typeface="微软雅黑" panose="020B0503020204020204" pitchFamily="34" charset="-122"/>
                <a:ea typeface="微软雅黑" panose="020B0503020204020204" pitchFamily="34" charset="-122"/>
              </a:endParaRP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服务器端</a:t>
              </a:r>
              <a:endParaRPr kumimoji="1" lang="zh-CN" altLang="en-US" sz="1400" b="1" dirty="0">
                <a:latin typeface="微软雅黑" panose="020B0503020204020204" pitchFamily="34" charset="-122"/>
                <a:ea typeface="微软雅黑" panose="020B0503020204020204" pitchFamily="34" charset="-122"/>
              </a:endParaRP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aphicFrame>
          <p:nvGraphicFramePr>
            <p:cNvPr id="126" name="Object 148"/>
            <p:cNvGraphicFramePr>
              <a:graphicFrameLocks noChangeAspect="1"/>
            </p:cNvGraphicFramePr>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spid="_x0000_s2049" name="VISIO" r:id="rId1" imgW="3514725" imgH="2009775" progId="">
                    <p:embed/>
                  </p:oleObj>
                </mc:Choice>
                <mc:Fallback>
                  <p:oleObj name="VISIO" r:id="rId1" imgW="3514725" imgH="2009775" progId="">
                    <p:embed/>
                    <p:pic>
                      <p:nvPicPr>
                        <p:cNvPr id="0" name="图片 2048"/>
                        <p:cNvPicPr>
                          <a:picLocks noChangeAspect="1"/>
                        </p:cNvPicPr>
                        <p:nvPr/>
                      </p:nvPicPr>
                      <p:blipFill>
                        <a:blip r:embed="rId2"/>
                        <a:stretch>
                          <a:fillRect/>
                        </a:stretch>
                      </p:blipFill>
                      <p:spPr>
                        <a:xfrm>
                          <a:off x="3871995" y="2658193"/>
                          <a:ext cx="2369873" cy="1746250"/>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互联网</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TCP </a:t>
              </a:r>
              <a:r>
                <a:rPr kumimoji="1" lang="zh-CN" altLang="en-US" sz="1400" b="1" dirty="0">
                  <a:solidFill>
                    <a:srgbClr val="0000FF"/>
                  </a:solidFill>
                  <a:latin typeface="微软雅黑" panose="020B0503020204020204" pitchFamily="34" charset="-122"/>
                  <a:ea typeface="微软雅黑" panose="020B0503020204020204" pitchFamily="34" charset="-122"/>
                </a:rPr>
                <a:t>控制连接</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CC00CC"/>
                  </a:solidFill>
                  <a:latin typeface="微软雅黑" panose="020B0503020204020204" pitchFamily="34" charset="-122"/>
                  <a:ea typeface="微软雅黑" panose="020B0503020204020204" pitchFamily="34" charset="-122"/>
                </a:rPr>
                <a:t>TCP </a:t>
              </a:r>
              <a:r>
                <a:rPr kumimoji="1" lang="zh-CN" altLang="en-US" sz="1400" b="1" dirty="0">
                  <a:solidFill>
                    <a:srgbClr val="CC00CC"/>
                  </a:solidFill>
                  <a:latin typeface="微软雅黑" panose="020B0503020204020204" pitchFamily="34" charset="-122"/>
                  <a:ea typeface="微软雅黑" panose="020B0503020204020204" pitchFamily="34" charset="-122"/>
                </a:rPr>
                <a:t>数据连接</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用户界面</a:t>
              </a:r>
              <a:endParaRPr kumimoji="1" lang="zh-CN" altLang="en-US" sz="1200" b="1" dirty="0">
                <a:latin typeface="微软雅黑" panose="020B0503020204020204" pitchFamily="34" charset="-122"/>
                <a:ea typeface="微软雅黑" panose="020B0503020204020204" pitchFamily="34" charset="-122"/>
              </a:endParaRP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控制进程</a:t>
              </a:r>
              <a:endParaRPr kumimoji="1" lang="zh-CN" altLang="en-US" sz="1200" b="1">
                <a:latin typeface="微软雅黑" panose="020B0503020204020204" pitchFamily="34" charset="-122"/>
                <a:ea typeface="微软雅黑" panose="020B0503020204020204" pitchFamily="34" charset="-122"/>
              </a:endParaRP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数据传送</a:t>
              </a:r>
              <a:endParaRPr kumimoji="1" lang="zh-CN" altLang="en-US" sz="1200" b="1">
                <a:latin typeface="微软雅黑" panose="020B0503020204020204" pitchFamily="34" charset="-122"/>
                <a:ea typeface="微软雅黑" panose="020B0503020204020204" pitchFamily="34" charset="-122"/>
              </a:endParaRPr>
            </a:p>
            <a:p>
              <a:pPr algn="ctr" eaLnBrk="1" hangingPunct="1"/>
              <a:r>
                <a:rPr kumimoji="1" lang="zh-CN" altLang="en-US" sz="1200" b="1">
                  <a:latin typeface="微软雅黑" panose="020B0503020204020204" pitchFamily="34" charset="-122"/>
                  <a:ea typeface="微软雅黑" panose="020B0503020204020204" pitchFamily="34" charset="-122"/>
                </a:rPr>
                <a:t>进程</a:t>
              </a:r>
              <a:endParaRPr kumimoji="1" lang="zh-CN" altLang="en-US" sz="1200" b="1">
                <a:latin typeface="微软雅黑" panose="020B0503020204020204" pitchFamily="34" charset="-122"/>
                <a:ea typeface="微软雅黑" panose="020B0503020204020204" pitchFamily="34" charset="-122"/>
              </a:endParaRP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数据传送</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进程</a:t>
              </a:r>
              <a:endParaRPr kumimoji="1" lang="zh-CN" altLang="en-US" sz="1200" b="1" dirty="0">
                <a:latin typeface="微软雅黑" panose="020B0503020204020204" pitchFamily="34" charset="-122"/>
                <a:ea typeface="微软雅黑" panose="020B0503020204020204" pitchFamily="34" charset="-122"/>
              </a:endParaRP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grpSp>
      <p:sp>
        <p:nvSpPr>
          <p:cNvPr id="3" name="矩形 2"/>
          <p:cNvSpPr/>
          <p:nvPr/>
        </p:nvSpPr>
        <p:spPr>
          <a:xfrm>
            <a:off x="5758298" y="2102452"/>
            <a:ext cx="437940" cy="338554"/>
          </a:xfrm>
          <a:prstGeom prst="rect">
            <a:avLst/>
          </a:prstGeom>
        </p:spPr>
        <p:txBody>
          <a:bodyPr wrap="none">
            <a:spAutoFit/>
          </a:bodyPr>
          <a:lstStyle/>
          <a:p>
            <a:r>
              <a:rPr lang="en-US" altLang="zh-CN" sz="1600" b="1" dirty="0" smtClean="0">
                <a:solidFill>
                  <a:srgbClr val="C00000"/>
                </a:solidFill>
                <a:latin typeface="微软雅黑" panose="020B0503020204020204" pitchFamily="34" charset="-122"/>
                <a:ea typeface="微软雅黑" panose="020B0503020204020204" pitchFamily="34" charset="-122"/>
              </a:rPr>
              <a:t>21</a:t>
            </a:r>
            <a:endParaRPr lang="zh-CN" altLang="en-US" sz="1600" dirty="0">
              <a:solidFill>
                <a:srgbClr val="C00000"/>
              </a:solidFill>
            </a:endParaRPr>
          </a:p>
        </p:txBody>
      </p:sp>
      <p:sp>
        <p:nvSpPr>
          <p:cNvPr id="142" name="矩形 141"/>
          <p:cNvSpPr/>
          <p:nvPr/>
        </p:nvSpPr>
        <p:spPr>
          <a:xfrm>
            <a:off x="5758298" y="2759387"/>
            <a:ext cx="437940" cy="338554"/>
          </a:xfrm>
          <a:prstGeom prst="rect">
            <a:avLst/>
          </a:prstGeom>
        </p:spPr>
        <p:txBody>
          <a:bodyPr wrap="none">
            <a:spAutoFit/>
          </a:bodyPr>
          <a:lstStyle/>
          <a:p>
            <a:r>
              <a:rPr lang="en-US" altLang="zh-CN" sz="1600" b="1" dirty="0" smtClean="0">
                <a:solidFill>
                  <a:srgbClr val="C00000"/>
                </a:solidFill>
                <a:latin typeface="微软雅黑" panose="020B0503020204020204" pitchFamily="34" charset="-122"/>
                <a:ea typeface="微软雅黑" panose="020B0503020204020204" pitchFamily="34" charset="-122"/>
              </a:rPr>
              <a:t>20</a:t>
            </a:r>
            <a:endParaRPr lang="zh-CN" altLang="en-US" sz="1600" dirty="0">
              <a:solidFill>
                <a:srgbClr val="C00000"/>
              </a:solidFill>
            </a:endParaRPr>
          </a:p>
        </p:txBody>
      </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在</a:t>
              </a:r>
              <a:r>
                <a:rPr lang="zh-CN" altLang="en-US" sz="1200" b="1" dirty="0">
                  <a:latin typeface="微软雅黑" panose="020B0503020204020204" pitchFamily="34" charset="-122"/>
                  <a:ea typeface="微软雅黑" panose="020B0503020204020204" pitchFamily="34" charset="-122"/>
                </a:rPr>
                <a:t>整个会话期间一直保持</a:t>
              </a:r>
              <a:r>
                <a:rPr lang="zh-CN" altLang="en-US" sz="1200" b="1" dirty="0" smtClean="0">
                  <a:latin typeface="微软雅黑" panose="020B0503020204020204" pitchFamily="34" charset="-122"/>
                  <a:ea typeface="微软雅黑" panose="020B0503020204020204" pitchFamily="34" charset="-122"/>
                </a:rPr>
                <a:t>打开</a:t>
              </a:r>
              <a:r>
                <a:rPr lang="zh-CN" altLang="en-US" sz="1200" b="1" dirty="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传输 </a:t>
              </a:r>
              <a:r>
                <a:rPr lang="en-US" altLang="zh-CN" sz="1200" b="1" dirty="0" smtClean="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a:t>
              </a:r>
              <a:r>
                <a:rPr lang="zh-CN" altLang="en-US" sz="1200" b="1" dirty="0" smtClean="0">
                  <a:latin typeface="微软雅黑" panose="020B0503020204020204" pitchFamily="34" charset="-122"/>
                  <a:ea typeface="微软雅黑" panose="020B0503020204020204" pitchFamily="34" charset="-122"/>
                </a:rPr>
                <a:t>请求</a:t>
              </a:r>
              <a:r>
                <a:rPr lang="zh-CN" altLang="en-US"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收到客户连接请求后有主进程创建。</a:t>
              </a:r>
              <a:endParaRPr lang="zh-CN" altLang="en-US" sz="1200" b="1" dirty="0">
                <a:latin typeface="微软雅黑" panose="020B0503020204020204" pitchFamily="34" charset="-122"/>
                <a:ea typeface="微软雅黑" panose="020B0503020204020204" pitchFamily="34" charset="-122"/>
              </a:endParaRP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实际</a:t>
              </a:r>
              <a:r>
                <a:rPr lang="zh-CN" altLang="en-US" sz="1200" b="1" dirty="0">
                  <a:latin typeface="微软雅黑" panose="020B0503020204020204" pitchFamily="34" charset="-122"/>
                  <a:ea typeface="微软雅黑" panose="020B0503020204020204" pitchFamily="34" charset="-122"/>
                </a:rPr>
                <a:t>完成文件的</a:t>
              </a:r>
              <a:r>
                <a:rPr lang="zh-CN" altLang="en-US" sz="1200" b="1" dirty="0" smtClean="0">
                  <a:latin typeface="微软雅黑" panose="020B0503020204020204" pitchFamily="34" charset="-122"/>
                  <a:ea typeface="微软雅黑" panose="020B0503020204020204" pitchFamily="34" charset="-122"/>
                </a:rPr>
                <a:t>传送。传送</a:t>
              </a:r>
              <a:r>
                <a:rPr lang="zh-CN" altLang="en-US" sz="1200" b="1" dirty="0">
                  <a:latin typeface="微软雅黑" panose="020B0503020204020204" pitchFamily="34" charset="-122"/>
                  <a:ea typeface="微软雅黑" panose="020B0503020204020204" pitchFamily="34" charset="-122"/>
                </a:rPr>
                <a:t>完毕后</a:t>
              </a:r>
              <a:r>
                <a:rPr lang="zh-CN" altLang="en-US" sz="1200" b="1" dirty="0" smtClean="0">
                  <a:latin typeface="微软雅黑" panose="020B0503020204020204" pitchFamily="34" charset="-122"/>
                  <a:ea typeface="微软雅黑" panose="020B0503020204020204" pitchFamily="34" charset="-122"/>
                </a:rPr>
                <a:t>关闭。</a:t>
              </a:r>
              <a:endParaRPr lang="zh-CN" altLang="en-US" sz="1200" b="1" dirty="0">
                <a:latin typeface="微软雅黑" panose="020B0503020204020204" pitchFamily="34" charset="-122"/>
                <a:ea typeface="微软雅黑" panose="020B0503020204020204" pitchFamily="34" charset="-122"/>
              </a:endParaRP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动态</a:t>
              </a:r>
              <a:r>
                <a:rPr lang="zh-CN" altLang="en-US" sz="1200" b="1" dirty="0">
                  <a:latin typeface="微软雅黑" panose="020B0503020204020204" pitchFamily="34" charset="-122"/>
                  <a:ea typeface="微软雅黑" panose="020B0503020204020204" pitchFamily="34" charset="-122"/>
                </a:rPr>
                <a:t>创建</a:t>
              </a:r>
              <a:r>
                <a:rPr lang="zh-CN" altLang="en-US" sz="1200" b="1" dirty="0" smtClean="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传输文件</a:t>
              </a:r>
              <a:r>
                <a:rPr lang="zh-CN" altLang="en-US" sz="1200" b="1" dirty="0" smtClean="0">
                  <a:latin typeface="微软雅黑" panose="020B0503020204020204" pitchFamily="34" charset="-122"/>
                  <a:ea typeface="微软雅黑" panose="020B0503020204020204" pitchFamily="34" charset="-122"/>
                </a:rPr>
                <a:t>。传送</a:t>
              </a:r>
              <a:r>
                <a:rPr lang="zh-CN" altLang="en-US" sz="1200" b="1" dirty="0">
                  <a:latin typeface="微软雅黑" panose="020B0503020204020204" pitchFamily="34" charset="-122"/>
                  <a:ea typeface="微软雅黑" panose="020B0503020204020204" pitchFamily="34" charset="-122"/>
                </a:rPr>
                <a:t>完毕</a:t>
              </a:r>
              <a:r>
                <a:rPr lang="zh-CN" altLang="en-US" sz="1200" b="1" dirty="0" smtClean="0">
                  <a:latin typeface="微软雅黑" panose="020B0503020204020204" pitchFamily="34" charset="-122"/>
                  <a:ea typeface="微软雅黑" panose="020B0503020204020204" pitchFamily="34" charset="-122"/>
                </a:rPr>
                <a:t>后释放。</a:t>
              </a:r>
              <a:endParaRPr lang="en-US" altLang="zh-CN" sz="1200" b="1" dirty="0" smtClean="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AutoShape 5"/>
          <p:cNvSpPr>
            <a:spLocks noChangeArrowheads="1"/>
          </p:cNvSpPr>
          <p:nvPr/>
        </p:nvSpPr>
        <p:spPr bwMode="auto">
          <a:xfrm>
            <a:off x="556963" y="6100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5" name="Rectangle 6"/>
          <p:cNvSpPr>
            <a:spLocks noChangeArrowheads="1"/>
          </p:cNvSpPr>
          <p:nvPr/>
        </p:nvSpPr>
        <p:spPr bwMode="auto">
          <a:xfrm>
            <a:off x="3553571" y="576811"/>
            <a:ext cx="20555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NFS </a:t>
            </a:r>
            <a:r>
              <a:rPr lang="zh-CN" altLang="en-US" sz="2000" b="1" dirty="0" smtClean="0">
                <a:solidFill>
                  <a:schemeClr val="bg1"/>
                </a:solidFill>
                <a:latin typeface="微软雅黑" panose="020B0503020204020204" pitchFamily="34" charset="-122"/>
                <a:ea typeface="微软雅黑" panose="020B0503020204020204" pitchFamily="34" charset="-122"/>
              </a:rPr>
              <a:t>采用的思路</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6" name="Rectangle 68"/>
          <p:cNvSpPr>
            <a:spLocks noChangeArrowheads="1"/>
          </p:cNvSpPr>
          <p:nvPr/>
        </p:nvSpPr>
        <p:spPr bwMode="auto">
          <a:xfrm>
            <a:off x="556963" y="963445"/>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FTP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并非</a:t>
            </a:r>
            <a:r>
              <a:rPr lang="zh-CN" altLang="en-US" sz="2000" b="1" dirty="0">
                <a:latin typeface="微软雅黑" panose="020B0503020204020204" pitchFamily="34" charset="-122"/>
                <a:ea typeface="微软雅黑" panose="020B0503020204020204" pitchFamily="34" charset="-122"/>
              </a:rPr>
              <a:t>对所有的数据传输都是最佳</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smtClean="0">
                <a:solidFill>
                  <a:srgbClr val="C00000"/>
                </a:solidFill>
                <a:latin typeface="微软雅黑" panose="020B0503020204020204" pitchFamily="34" charset="-122"/>
                <a:ea typeface="微软雅黑" panose="020B0503020204020204" pitchFamily="34" charset="-122"/>
              </a:rPr>
              <a:t>仅能访问副本。</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NFS </a:t>
            </a:r>
            <a:r>
              <a:rPr lang="zh-CN" altLang="en-US" sz="2000" b="1" dirty="0">
                <a:latin typeface="微软雅黑" panose="020B0503020204020204" pitchFamily="34" charset="-122"/>
                <a:ea typeface="微软雅黑" panose="020B0503020204020204" pitchFamily="34" charset="-122"/>
              </a:rPr>
              <a:t>允许应用进程打开一个远地文件，并能在该文件的某一个特定的位置上开始读写数据。</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NFS </a:t>
            </a:r>
            <a:r>
              <a:rPr lang="zh-CN" altLang="en-US" sz="2000" b="1" dirty="0">
                <a:latin typeface="微软雅黑" panose="020B0503020204020204" pitchFamily="34" charset="-122"/>
                <a:ea typeface="微软雅黑" panose="020B0503020204020204" pitchFamily="34" charset="-122"/>
              </a:rPr>
              <a:t>可使用户只复制一个大文件中的一个很小的片段，而不需要复制整个大文件。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0000FF"/>
                </a:solidFill>
                <a:latin typeface="微软雅黑" panose="020B0503020204020204" pitchFamily="34" charset="-122"/>
                <a:ea typeface="微软雅黑" panose="020B0503020204020204" pitchFamily="34" charset="-122"/>
              </a:rPr>
              <a:t>NFS </a:t>
            </a:r>
            <a:r>
              <a:rPr lang="zh-CN" altLang="en-US" sz="2000" b="1" dirty="0">
                <a:solidFill>
                  <a:srgbClr val="0000FF"/>
                </a:solidFill>
                <a:latin typeface="微软雅黑" panose="020B0503020204020204" pitchFamily="34" charset="-122"/>
                <a:ea typeface="微软雅黑" panose="020B0503020204020204" pitchFamily="34" charset="-122"/>
              </a:rPr>
              <a:t>在网络上传送的只是少量的修改数据。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17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58543" y="568904"/>
            <a:ext cx="442691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6.2.3  </a:t>
            </a:r>
            <a:r>
              <a:rPr lang="zh-CN" altLang="en-US" sz="2400" b="1" dirty="0">
                <a:solidFill>
                  <a:schemeClr val="bg1"/>
                </a:solidFill>
                <a:latin typeface="微软雅黑" panose="020B0503020204020204" pitchFamily="34" charset="-122"/>
                <a:ea typeface="微软雅黑" panose="020B0503020204020204" pitchFamily="34" charset="-122"/>
              </a:rPr>
              <a:t>简单文件传送协议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TFTP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8"/>
          <p:cNvSpPr>
            <a:spLocks noChangeArrowheads="1"/>
          </p:cNvSpPr>
          <p:nvPr/>
        </p:nvSpPr>
        <p:spPr bwMode="auto">
          <a:xfrm>
            <a:off x="545143" y="1005912"/>
            <a:ext cx="8190484" cy="2964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anose="05000000000000000000" pitchFamily="2" charset="2"/>
              <a:buChar char="l"/>
            </a:pPr>
            <a:r>
              <a:rPr lang="en-US" altLang="zh-CN" sz="2000" b="1" dirty="0">
                <a:solidFill>
                  <a:srgbClr val="C00000"/>
                </a:solidFill>
                <a:latin typeface="微软雅黑" panose="020B0503020204020204" pitchFamily="34" charset="-122"/>
                <a:ea typeface="微软雅黑" panose="020B0503020204020204" pitchFamily="34" charset="-122"/>
              </a:rPr>
              <a:t>TFTP</a:t>
            </a:r>
            <a:r>
              <a:rPr lang="en-US" altLang="zh-CN" sz="2000" b="1" dirty="0">
                <a:latin typeface="微软雅黑" panose="020B0503020204020204" pitchFamily="34" charset="-122"/>
                <a:ea typeface="微软雅黑" panose="020B0503020204020204" pitchFamily="34" charset="-122"/>
              </a:rPr>
              <a:t> (Trivial File Transfer Protocol) </a:t>
            </a:r>
            <a:r>
              <a:rPr lang="zh-CN" altLang="en-US" sz="2000" b="1" dirty="0">
                <a:latin typeface="微软雅黑" panose="020B0503020204020204" pitchFamily="34" charset="-122"/>
                <a:ea typeface="微软雅黑" panose="020B0503020204020204" pitchFamily="34" charset="-122"/>
              </a:rPr>
              <a:t>是一个很小且易于实现的文件传送协议。</a:t>
            </a:r>
            <a:endParaRPr lang="zh-CN" altLang="en-US" sz="2000" b="1" dirty="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客户服务器方式</a:t>
            </a:r>
            <a:r>
              <a:rPr lang="zh-CN" altLang="en-US" sz="2000" b="1" dirty="0">
                <a:latin typeface="微软雅黑" panose="020B0503020204020204" pitchFamily="34" charset="-122"/>
                <a:ea typeface="微软雅黑" panose="020B0503020204020204" pitchFamily="34" charset="-122"/>
              </a:rPr>
              <a:t>和使用 </a:t>
            </a:r>
            <a:r>
              <a:rPr lang="en-US" altLang="zh-CN" sz="2000" b="1" dirty="0">
                <a:solidFill>
                  <a:srgbClr val="C00000"/>
                </a:solidFill>
                <a:latin typeface="微软雅黑" panose="020B0503020204020204" pitchFamily="34" charset="-122"/>
                <a:ea typeface="微软雅黑" panose="020B0503020204020204" pitchFamily="34" charset="-122"/>
              </a:rPr>
              <a:t>UDP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数据报，因此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需要有自己的差错改正措施。</a:t>
            </a:r>
            <a:endParaRPr lang="zh-CN" altLang="en-US" sz="2000" b="1" dirty="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a:t>
            </a:r>
            <a:r>
              <a:rPr lang="zh-CN" altLang="en-US" sz="2000" b="1" dirty="0">
                <a:latin typeface="微软雅黑" panose="020B0503020204020204" pitchFamily="34" charset="-122"/>
                <a:ea typeface="微软雅黑" panose="020B0503020204020204" pitchFamily="34" charset="-122"/>
              </a:rPr>
              <a:t>支持文件</a:t>
            </a:r>
            <a:r>
              <a:rPr lang="zh-CN" altLang="en-US" sz="2000" b="1" dirty="0" smtClean="0">
                <a:latin typeface="微软雅黑" panose="020B0503020204020204" pitchFamily="34" charset="-122"/>
                <a:ea typeface="微软雅黑" panose="020B0503020204020204" pitchFamily="34" charset="-122"/>
              </a:rPr>
              <a:t>传输，</a:t>
            </a:r>
            <a:r>
              <a:rPr lang="zh-CN" altLang="en-US" sz="2000" b="1" dirty="0" smtClean="0">
                <a:solidFill>
                  <a:srgbClr val="C00000"/>
                </a:solidFill>
                <a:latin typeface="微软雅黑" panose="020B0503020204020204" pitchFamily="34" charset="-122"/>
                <a:ea typeface="微软雅黑" panose="020B0503020204020204" pitchFamily="34" charset="-122"/>
              </a:rPr>
              <a:t>不</a:t>
            </a:r>
            <a:r>
              <a:rPr lang="zh-CN" altLang="en-US" sz="2000" b="1" dirty="0">
                <a:solidFill>
                  <a:srgbClr val="C00000"/>
                </a:solidFill>
                <a:latin typeface="微软雅黑" panose="020B0503020204020204" pitchFamily="34" charset="-122"/>
                <a:ea typeface="微软雅黑" panose="020B0503020204020204" pitchFamily="34" charset="-122"/>
              </a:rPr>
              <a:t>支持交互。</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没有庞大</a:t>
            </a:r>
            <a:r>
              <a:rPr lang="zh-CN" altLang="en-US" sz="2000" b="1" dirty="0">
                <a:latin typeface="微软雅黑" panose="020B0503020204020204" pitchFamily="34" charset="-122"/>
                <a:ea typeface="微软雅黑" panose="020B0503020204020204" pitchFamily="34" charset="-122"/>
              </a:rPr>
              <a:t>的命令集，没有列目录的功能，也不能对用户进行身份鉴别</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优点：</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）可</a:t>
            </a:r>
            <a:r>
              <a:rPr lang="zh-CN" altLang="en-US" sz="2000" b="1" dirty="0" smtClean="0">
                <a:latin typeface="微软雅黑" panose="020B0503020204020204" pitchFamily="34" charset="-122"/>
                <a:ea typeface="微软雅黑" panose="020B0503020204020204" pitchFamily="34" charset="-122"/>
              </a:rPr>
              <a:t>用于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环境；（</a:t>
            </a:r>
            <a:r>
              <a:rPr lang="en-US" altLang="zh-CN" sz="2000" b="1" dirty="0" smtClean="0">
                <a:latin typeface="微软雅黑" panose="020B0503020204020204" pitchFamily="34" charset="-122"/>
                <a:ea typeface="微软雅黑" panose="020B0503020204020204" pitchFamily="34" charset="-122"/>
              </a:rPr>
              <a:t>2</a:t>
            </a:r>
            <a:r>
              <a:rPr lang="zh-CN" altLang="en-US" sz="2000" b="1" dirty="0" smtClean="0">
                <a:latin typeface="微软雅黑" panose="020B0503020204020204" pitchFamily="34" charset="-122"/>
                <a:ea typeface="微软雅黑" panose="020B0503020204020204" pitchFamily="34" charset="-122"/>
              </a:rPr>
              <a:t>）代码</a:t>
            </a:r>
            <a:r>
              <a:rPr lang="zh-CN" altLang="en-US" sz="2000" b="1" dirty="0">
                <a:latin typeface="微软雅黑" panose="020B0503020204020204" pitchFamily="34" charset="-122"/>
                <a:ea typeface="微软雅黑" panose="020B0503020204020204" pitchFamily="34" charset="-122"/>
              </a:rPr>
              <a:t>所占的内存较小。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9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91920" y="575736"/>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的主要特点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96556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每次</a:t>
            </a:r>
            <a:r>
              <a:rPr lang="zh-CN" altLang="en-US" sz="2000" b="1" dirty="0">
                <a:latin typeface="微软雅黑" panose="020B0503020204020204" pitchFamily="34" charset="-122"/>
                <a:ea typeface="微软雅黑" panose="020B0503020204020204" pitchFamily="34" charset="-122"/>
              </a:rPr>
              <a:t>传送的数据报文中有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字节的数据，但最后一次可不足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数据报文按序编号，</a:t>
            </a:r>
            <a:r>
              <a:rPr lang="zh-CN" altLang="en-US" sz="2000" b="1" dirty="0" smtClean="0">
                <a:latin typeface="微软雅黑" panose="020B0503020204020204" pitchFamily="34" charset="-122"/>
                <a:ea typeface="微软雅黑" panose="020B0503020204020204" pitchFamily="34" charset="-122"/>
              </a:rPr>
              <a:t>从 </a:t>
            </a:r>
            <a:r>
              <a:rPr lang="en-US" altLang="zh-CN" sz="2000" b="1" dirty="0" smtClean="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开始。</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支持 </a:t>
            </a:r>
            <a:r>
              <a:rPr lang="en-US" altLang="zh-CN" sz="2000" b="1" dirty="0">
                <a:latin typeface="微软雅黑" panose="020B0503020204020204" pitchFamily="34" charset="-122"/>
                <a:ea typeface="微软雅黑" panose="020B0503020204020204" pitchFamily="34" charset="-122"/>
              </a:rPr>
              <a:t>ASCII </a:t>
            </a:r>
            <a:r>
              <a:rPr lang="zh-CN" altLang="en-US" sz="2000" b="1" dirty="0">
                <a:latin typeface="微软雅黑" panose="020B0503020204020204" pitchFamily="34" charset="-122"/>
                <a:ea typeface="微软雅黑" panose="020B0503020204020204" pitchFamily="34" charset="-122"/>
              </a:rPr>
              <a:t>码或二进制传送。</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可</a:t>
            </a:r>
            <a:r>
              <a:rPr lang="zh-CN" altLang="en-US" sz="2000" b="1" dirty="0">
                <a:latin typeface="微软雅黑" panose="020B0503020204020204" pitchFamily="34" charset="-122"/>
                <a:ea typeface="微软雅黑" panose="020B0503020204020204" pitchFamily="34" charset="-122"/>
              </a:rPr>
              <a:t>对文件进行读或写。</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很简单的首部。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6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722479" y="575411"/>
            <a:ext cx="37177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的工作很像停止等待协议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965237"/>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发送完一个文件块后就等待对方的确认，确认时应指明所确认的块编号。</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发完数据后在规定时间内收不到确认就要重发数据 </a:t>
            </a:r>
            <a:r>
              <a:rPr lang="en-US" altLang="zh-CN" sz="2000" b="1" dirty="0">
                <a:latin typeface="微软雅黑" panose="020B0503020204020204" pitchFamily="34" charset="-122"/>
                <a:ea typeface="微软雅黑" panose="020B0503020204020204" pitchFamily="34" charset="-122"/>
              </a:rPr>
              <a:t>PDU</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发送确认 </a:t>
            </a:r>
            <a:r>
              <a:rPr lang="en-US" altLang="zh-CN" sz="2000" b="1" dirty="0">
                <a:latin typeface="微软雅黑" panose="020B0503020204020204" pitchFamily="34" charset="-122"/>
                <a:ea typeface="微软雅黑" panose="020B0503020204020204" pitchFamily="34" charset="-122"/>
              </a:rPr>
              <a:t>PDU </a:t>
            </a:r>
            <a:r>
              <a:rPr lang="zh-CN" altLang="en-US" sz="2000" b="1" dirty="0">
                <a:latin typeface="微软雅黑" panose="020B0503020204020204" pitchFamily="34" charset="-122"/>
                <a:ea typeface="微软雅黑" panose="020B0503020204020204" pitchFamily="34" charset="-122"/>
              </a:rPr>
              <a:t>的一方若在规定时间</a:t>
            </a:r>
            <a:r>
              <a:rPr lang="zh-CN" altLang="en-US" sz="2000" b="1" dirty="0" smtClean="0">
                <a:latin typeface="微软雅黑" panose="020B0503020204020204" pitchFamily="34" charset="-122"/>
                <a:ea typeface="微软雅黑" panose="020B0503020204020204" pitchFamily="34" charset="-122"/>
              </a:rPr>
              <a:t>内未收到</a:t>
            </a:r>
            <a:r>
              <a:rPr lang="zh-CN" altLang="en-US" sz="2000" b="1" dirty="0">
                <a:latin typeface="微软雅黑" panose="020B0503020204020204" pitchFamily="34" charset="-122"/>
                <a:ea typeface="微软雅黑" panose="020B0503020204020204" pitchFamily="34" charset="-122"/>
              </a:rPr>
              <a:t>下一个文件块</a:t>
            </a:r>
            <a:r>
              <a:rPr lang="zh-CN" altLang="en-US" sz="2000" b="1" dirty="0" smtClean="0">
                <a:latin typeface="微软雅黑" panose="020B0503020204020204" pitchFamily="34" charset="-122"/>
                <a:ea typeface="微软雅黑" panose="020B0503020204020204" pitchFamily="34" charset="-122"/>
              </a:rPr>
              <a:t>，需重发</a:t>
            </a:r>
            <a:r>
              <a:rPr lang="zh-CN" altLang="en-US" sz="2000" b="1" dirty="0">
                <a:latin typeface="微软雅黑" panose="020B0503020204020204" pitchFamily="34" charset="-122"/>
                <a:ea typeface="微软雅黑" panose="020B0503020204020204" pitchFamily="34" charset="-122"/>
              </a:rPr>
              <a:t>确认 </a:t>
            </a:r>
            <a:r>
              <a:rPr lang="en-US" altLang="zh-CN" sz="2000" b="1" dirty="0" smtClean="0">
                <a:latin typeface="微软雅黑" panose="020B0503020204020204" pitchFamily="34" charset="-122"/>
                <a:ea typeface="微软雅黑" panose="020B0503020204020204" pitchFamily="34" charset="-122"/>
              </a:rPr>
              <a:t>PDU</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保证</a:t>
            </a:r>
            <a:r>
              <a:rPr lang="zh-CN" altLang="en-US" sz="2000" b="1" dirty="0">
                <a:latin typeface="微软雅黑" panose="020B0503020204020204" pitchFamily="34" charset="-122"/>
                <a:ea typeface="微软雅黑" panose="020B0503020204020204" pitchFamily="34" charset="-122"/>
              </a:rPr>
              <a:t>文件的传送不致因某一个数据报的丢失而告失败。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AutoShape 5"/>
          <p:cNvSpPr>
            <a:spLocks noChangeArrowheads="1"/>
          </p:cNvSpPr>
          <p:nvPr/>
        </p:nvSpPr>
        <p:spPr bwMode="auto">
          <a:xfrm>
            <a:off x="556963" y="6166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491922" y="583454"/>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0" name="Rectangle 68"/>
          <p:cNvSpPr>
            <a:spLocks noChangeArrowheads="1"/>
          </p:cNvSpPr>
          <p:nvPr/>
        </p:nvSpPr>
        <p:spPr bwMode="auto">
          <a:xfrm>
            <a:off x="556962" y="964402"/>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开始工作时，</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客户进程发送一个读</a:t>
            </a:r>
            <a:r>
              <a:rPr lang="zh-CN" altLang="en-US" sz="2000" b="1" dirty="0" smtClean="0">
                <a:latin typeface="微软雅黑" panose="020B0503020204020204" pitchFamily="34" charset="-122"/>
                <a:ea typeface="微软雅黑" panose="020B0503020204020204" pitchFamily="34" charset="-122"/>
              </a:rPr>
              <a:t>请求或</a:t>
            </a:r>
            <a:r>
              <a:rPr lang="zh-CN" altLang="en-US" sz="2000" b="1" dirty="0">
                <a:latin typeface="微软雅黑" panose="020B0503020204020204" pitchFamily="34" charset="-122"/>
                <a:ea typeface="微软雅黑" panose="020B0503020204020204" pitchFamily="34" charset="-122"/>
              </a:rPr>
              <a:t>写</a:t>
            </a:r>
            <a:r>
              <a:rPr lang="zh-CN" altLang="en-US" sz="2000" b="1" dirty="0" smtClean="0">
                <a:latin typeface="微软雅黑" panose="020B0503020204020204" pitchFamily="34" charset="-122"/>
                <a:ea typeface="微软雅黑" panose="020B0503020204020204" pitchFamily="34" charset="-122"/>
              </a:rPr>
              <a:t>请求报文给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服务器进程，</a:t>
            </a:r>
            <a:r>
              <a:rPr lang="zh-CN" altLang="en-US" sz="2000" b="1" dirty="0" smtClean="0">
                <a:latin typeface="微软雅黑" panose="020B0503020204020204" pitchFamily="34" charset="-122"/>
                <a:ea typeface="微软雅黑" panose="020B0503020204020204" pitchFamily="34" charset="-122"/>
              </a:rPr>
              <a:t>其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熟知</a:t>
            </a:r>
            <a:r>
              <a:rPr lang="zh-CN" altLang="en-US" sz="2000" b="1" dirty="0">
                <a:latin typeface="微软雅黑" panose="020B0503020204020204" pitchFamily="34" charset="-122"/>
                <a:ea typeface="微软雅黑" panose="020B0503020204020204" pitchFamily="34" charset="-122"/>
              </a:rPr>
              <a:t>端口号码</a:t>
            </a:r>
            <a:r>
              <a:rPr lang="zh-CN" altLang="en-US" sz="2000" b="1" dirty="0" smtClean="0">
                <a:latin typeface="微软雅黑" panose="020B0503020204020204" pitchFamily="34" charset="-122"/>
                <a:ea typeface="微软雅黑" panose="020B0503020204020204" pitchFamily="34" charset="-122"/>
              </a:rPr>
              <a:t>为 </a:t>
            </a:r>
            <a:r>
              <a:rPr lang="en-US" altLang="zh-CN" sz="2000" b="1" dirty="0">
                <a:solidFill>
                  <a:srgbClr val="C00000"/>
                </a:solidFill>
                <a:latin typeface="微软雅黑" panose="020B0503020204020204" pitchFamily="34" charset="-122"/>
                <a:ea typeface="微软雅黑" panose="020B0503020204020204" pitchFamily="34" charset="-122"/>
              </a:rPr>
              <a:t>69</a:t>
            </a:r>
            <a:r>
              <a:rPr lang="zh-CN" altLang="en-US" sz="2000" b="1" dirty="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服务器</a:t>
            </a:r>
            <a:r>
              <a:rPr lang="zh-CN" altLang="en-US" sz="2000" b="1" dirty="0" smtClean="0">
                <a:latin typeface="微软雅黑" panose="020B0503020204020204" pitchFamily="34" charset="-122"/>
                <a:ea typeface="微软雅黑" panose="020B0503020204020204" pitchFamily="34" charset="-122"/>
              </a:rPr>
              <a:t>进程选择</a:t>
            </a:r>
            <a:r>
              <a:rPr lang="zh-CN" altLang="en-US" sz="2000" b="1" dirty="0">
                <a:latin typeface="微软雅黑" panose="020B0503020204020204" pitchFamily="34" charset="-122"/>
                <a:ea typeface="微软雅黑" panose="020B0503020204020204" pitchFamily="34" charset="-122"/>
              </a:rPr>
              <a:t>一个新的端口和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客户进程进行通信。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若文件长度恰好为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字节的整数倍，则在文件传送完毕后，还必须在</a:t>
            </a:r>
            <a:r>
              <a:rPr lang="zh-CN" altLang="en-US" sz="2000" b="1" dirty="0">
                <a:solidFill>
                  <a:srgbClr val="C00000"/>
                </a:solidFill>
                <a:latin typeface="微软雅黑" panose="020B0503020204020204" pitchFamily="34" charset="-122"/>
                <a:ea typeface="微软雅黑" panose="020B0503020204020204" pitchFamily="34" charset="-122"/>
              </a:rPr>
              <a:t>最后</a:t>
            </a:r>
            <a:r>
              <a:rPr lang="zh-CN" altLang="en-US" sz="2000" b="1" dirty="0">
                <a:latin typeface="微软雅黑" panose="020B0503020204020204" pitchFamily="34" charset="-122"/>
                <a:ea typeface="微软雅黑" panose="020B0503020204020204" pitchFamily="34" charset="-122"/>
              </a:rPr>
              <a:t>发送一个只含首部而无数据的数据报文。</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若文件长度不是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字节的整数倍，则最后传送数据报文的数据字段一定不满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a:t>
            </a: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文件结束的标志。</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68"/>
          <p:cNvSpPr>
            <a:spLocks noChangeArrowheads="1"/>
          </p:cNvSpPr>
          <p:nvPr/>
        </p:nvSpPr>
        <p:spPr bwMode="auto">
          <a:xfrm>
            <a:off x="545144" y="1003068"/>
            <a:ext cx="80537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一个简单的远程终端协议</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互联网的正式标准。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允许用户在</a:t>
            </a:r>
            <a:r>
              <a:rPr lang="zh-CN" altLang="en-US" sz="2000" b="1" dirty="0">
                <a:latin typeface="微软雅黑" panose="020B0503020204020204" pitchFamily="34" charset="-122"/>
                <a:ea typeface="微软雅黑" panose="020B0503020204020204" pitchFamily="34" charset="-122"/>
              </a:rPr>
              <a:t>其所在地通过 </a:t>
            </a:r>
            <a:r>
              <a:rPr lang="en-US" altLang="zh-CN" sz="2000" b="1" dirty="0">
                <a:solidFill>
                  <a:srgbClr val="C00000"/>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连接注册（即登录）到</a:t>
            </a:r>
            <a:r>
              <a:rPr lang="zh-CN" altLang="en-US" sz="2000" b="1" dirty="0">
                <a:solidFill>
                  <a:srgbClr val="C00000"/>
                </a:solidFill>
                <a:latin typeface="微软雅黑" panose="020B0503020204020204" pitchFamily="34" charset="-122"/>
                <a:ea typeface="微软雅黑" panose="020B0503020204020204" pitchFamily="34" charset="-122"/>
              </a:rPr>
              <a:t>远地</a:t>
            </a:r>
            <a:r>
              <a:rPr lang="zh-CN" altLang="en-US" sz="2000" b="1" dirty="0">
                <a:latin typeface="微软雅黑" panose="020B0503020204020204" pitchFamily="34" charset="-122"/>
                <a:ea typeface="微软雅黑" panose="020B0503020204020204" pitchFamily="34" charset="-122"/>
              </a:rPr>
              <a:t>的另一个主机上（使用主机名或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能</a:t>
            </a:r>
            <a:r>
              <a:rPr lang="zh-CN" altLang="en-US" sz="2000" b="1" dirty="0">
                <a:latin typeface="微软雅黑" panose="020B0503020204020204" pitchFamily="34" charset="-122"/>
                <a:ea typeface="微软雅黑" panose="020B0503020204020204" pitchFamily="34" charset="-122"/>
              </a:rPr>
              <a:t>将用户的击键传到远地主机，同时也能将远地主机的输出通过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连接返回到用户屏幕</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透明</a:t>
            </a:r>
            <a:r>
              <a:rPr lang="zh-CN" altLang="en-US" sz="2000" b="1" dirty="0" smtClean="0">
                <a:latin typeface="微软雅黑" panose="020B0503020204020204" pitchFamily="34" charset="-122"/>
                <a:ea typeface="微软雅黑" panose="020B0503020204020204" pitchFamily="34" charset="-122"/>
              </a:rPr>
              <a:t>的。</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又</a:t>
            </a:r>
            <a:r>
              <a:rPr lang="zh-CN" altLang="en-US" sz="2000" b="1" dirty="0">
                <a:latin typeface="微软雅黑" panose="020B0503020204020204" pitchFamily="34" charset="-122"/>
                <a:ea typeface="微软雅黑" panose="020B0503020204020204" pitchFamily="34" charset="-122"/>
              </a:rPr>
              <a:t>称为</a:t>
            </a:r>
            <a:r>
              <a:rPr lang="zh-CN" altLang="en-US" sz="2000" b="1" dirty="0">
                <a:solidFill>
                  <a:srgbClr val="C00000"/>
                </a:solidFill>
                <a:latin typeface="微软雅黑" panose="020B0503020204020204" pitchFamily="34" charset="-122"/>
                <a:ea typeface="微软雅黑" panose="020B0503020204020204" pitchFamily="34" charset="-122"/>
              </a:rPr>
              <a:t>终端仿真协议。 </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45144" y="616103"/>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panose="02010600030101010101" pitchFamily="2" charset="-122"/>
            </a:endParaRPr>
          </a:p>
        </p:txBody>
      </p:sp>
      <p:sp>
        <p:nvSpPr>
          <p:cNvPr id="6" name="Rectangle 6"/>
          <p:cNvSpPr>
            <a:spLocks noChangeArrowheads="1"/>
          </p:cNvSpPr>
          <p:nvPr/>
        </p:nvSpPr>
        <p:spPr bwMode="auto">
          <a:xfrm>
            <a:off x="2601334" y="573832"/>
            <a:ext cx="39413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anose="020B0503020204020204" pitchFamily="34" charset="-122"/>
                <a:ea typeface="微软雅黑" panose="020B0503020204020204" pitchFamily="34" charset="-122"/>
              </a:rPr>
              <a:t>6.3  </a:t>
            </a:r>
            <a:r>
              <a:rPr lang="zh-CN" altLang="en-US" sz="2400" b="1" dirty="0" smtClean="0">
                <a:solidFill>
                  <a:schemeClr val="bg1"/>
                </a:solidFill>
                <a:latin typeface="微软雅黑" panose="020B0503020204020204" pitchFamily="34" charset="-122"/>
                <a:ea typeface="微软雅黑" panose="020B0503020204020204" pitchFamily="34" charset="-122"/>
              </a:rPr>
              <a:t>远程终端</a:t>
            </a:r>
            <a:r>
              <a:rPr lang="zh-CN" altLang="en-US" sz="2400" b="1" dirty="0">
                <a:solidFill>
                  <a:schemeClr val="bg1"/>
                </a:solidFill>
                <a:latin typeface="微软雅黑" panose="020B0503020204020204" pitchFamily="34" charset="-122"/>
                <a:ea typeface="微软雅黑" panose="020B0503020204020204" pitchFamily="34" charset="-122"/>
              </a:rPr>
              <a:t>协议 </a:t>
            </a:r>
            <a:r>
              <a:rPr lang="en-US" altLang="zh-CN" sz="2400" b="1" dirty="0">
                <a:solidFill>
                  <a:schemeClr val="bg1"/>
                </a:solidFill>
                <a:latin typeface="微软雅黑" panose="020B0503020204020204" pitchFamily="34" charset="-122"/>
                <a:ea typeface="微软雅黑" panose="020B0503020204020204" pitchFamily="34" charset="-122"/>
              </a:rPr>
              <a:t>TELNET</a:t>
            </a:r>
            <a:endParaRPr lang="en-US" altLang="zh-CN"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AutoShape 5"/>
          <p:cNvSpPr>
            <a:spLocks noChangeArrowheads="1"/>
          </p:cNvSpPr>
          <p:nvPr/>
        </p:nvSpPr>
        <p:spPr bwMode="auto">
          <a:xfrm>
            <a:off x="556963" y="6107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8" name="Rectangle 6"/>
          <p:cNvSpPr>
            <a:spLocks noChangeArrowheads="1"/>
          </p:cNvSpPr>
          <p:nvPr/>
        </p:nvSpPr>
        <p:spPr bwMode="auto">
          <a:xfrm>
            <a:off x="2676634" y="577503"/>
            <a:ext cx="3809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TELNET </a:t>
            </a:r>
            <a:r>
              <a:rPr lang="zh-CN" altLang="en-US" sz="2000" b="1" dirty="0" smtClean="0">
                <a:solidFill>
                  <a:schemeClr val="bg1"/>
                </a:solidFill>
                <a:latin typeface="微软雅黑" panose="020B0503020204020204" pitchFamily="34" charset="-122"/>
                <a:ea typeface="微软雅黑" panose="020B0503020204020204" pitchFamily="34" charset="-122"/>
              </a:rPr>
              <a:t>使用客户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r>
              <a:rPr lang="zh-CN" altLang="en-US" sz="2000" b="1" dirty="0">
                <a:solidFill>
                  <a:schemeClr val="bg1"/>
                </a:solidFill>
                <a:latin typeface="微软雅黑" panose="020B0503020204020204" pitchFamily="34" charset="-122"/>
                <a:ea typeface="微软雅黑" panose="020B0503020204020204" pitchFamily="34" charset="-122"/>
              </a:rPr>
              <a:t>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9" name="Rectangle 68"/>
          <p:cNvSpPr>
            <a:spLocks noChangeArrowheads="1"/>
          </p:cNvSpPr>
          <p:nvPr/>
        </p:nvSpPr>
        <p:spPr bwMode="auto">
          <a:xfrm>
            <a:off x="483810" y="976207"/>
            <a:ext cx="8193262"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本地系统运行 </a:t>
            </a:r>
            <a:r>
              <a:rPr lang="en-US" altLang="zh-CN" sz="2000" b="1" dirty="0">
                <a:latin typeface="微软雅黑" panose="020B0503020204020204" pitchFamily="34" charset="-122"/>
                <a:ea typeface="微软雅黑" panose="020B0503020204020204" pitchFamily="34" charset="-122"/>
              </a:rPr>
              <a:t>TELNET </a:t>
            </a:r>
            <a:r>
              <a:rPr lang="zh-CN" altLang="en-US" sz="2000" b="1" dirty="0">
                <a:solidFill>
                  <a:srgbClr val="C00000"/>
                </a:solidFill>
                <a:latin typeface="微软雅黑" panose="020B0503020204020204" pitchFamily="34" charset="-122"/>
                <a:ea typeface="微软雅黑" panose="020B0503020204020204" pitchFamily="34" charset="-122"/>
              </a:rPr>
              <a:t>客户进程，</a:t>
            </a:r>
            <a:r>
              <a:rPr lang="zh-CN" altLang="en-US" sz="2000" b="1" dirty="0">
                <a:latin typeface="微软雅黑" panose="020B0503020204020204" pitchFamily="34" charset="-122"/>
                <a:ea typeface="微软雅黑" panose="020B0503020204020204" pitchFamily="34" charset="-122"/>
              </a:rPr>
              <a:t>而在远地主机则运行 </a:t>
            </a:r>
            <a:r>
              <a:rPr lang="en-US" altLang="zh-CN" sz="2000" b="1" dirty="0">
                <a:latin typeface="微软雅黑" panose="020B0503020204020204" pitchFamily="34" charset="-122"/>
                <a:ea typeface="微软雅黑" panose="020B0503020204020204" pitchFamily="34" charset="-122"/>
              </a:rPr>
              <a:t>TELNET </a:t>
            </a:r>
            <a:r>
              <a:rPr lang="zh-CN" altLang="en-US" sz="2000" b="1" dirty="0">
                <a:solidFill>
                  <a:srgbClr val="C00000"/>
                </a:solidFill>
                <a:latin typeface="微软雅黑" panose="020B0503020204020204" pitchFamily="34" charset="-122"/>
                <a:ea typeface="微软雅黑" panose="020B0503020204020204" pitchFamily="34" charset="-122"/>
              </a:rPr>
              <a:t>服务器进程。</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中的</a:t>
            </a:r>
            <a:r>
              <a:rPr lang="zh-CN" altLang="en-US" sz="2000" b="1" dirty="0">
                <a:solidFill>
                  <a:srgbClr val="C00000"/>
                </a:solidFill>
                <a:latin typeface="微软雅黑" panose="020B0503020204020204" pitchFamily="34" charset="-122"/>
                <a:ea typeface="微软雅黑" panose="020B0503020204020204" pitchFamily="34" charset="-122"/>
              </a:rPr>
              <a:t>主进程</a:t>
            </a:r>
            <a:r>
              <a:rPr lang="zh-CN" altLang="en-US" sz="2000" b="1" dirty="0">
                <a:latin typeface="微软雅黑" panose="020B0503020204020204" pitchFamily="34" charset="-122"/>
                <a:ea typeface="微软雅黑" panose="020B0503020204020204" pitchFamily="34" charset="-122"/>
              </a:rPr>
              <a:t>等待新的请求</a:t>
            </a:r>
            <a:r>
              <a:rPr lang="zh-CN" altLang="en-US" sz="2000" b="1" dirty="0" smtClean="0">
                <a:latin typeface="微软雅黑" panose="020B0503020204020204" pitchFamily="34" charset="-122"/>
                <a:ea typeface="微软雅黑" panose="020B0503020204020204" pitchFamily="34" charset="-122"/>
              </a:rPr>
              <a:t>，产生</a:t>
            </a:r>
            <a:r>
              <a:rPr lang="zh-CN" altLang="en-US" sz="2000" b="1" dirty="0">
                <a:solidFill>
                  <a:srgbClr val="C00000"/>
                </a:solidFill>
                <a:latin typeface="微软雅黑" panose="020B0503020204020204" pitchFamily="34" charset="-122"/>
                <a:ea typeface="微软雅黑" panose="020B0503020204020204" pitchFamily="34" charset="-122"/>
              </a:rPr>
              <a:t>从属进程</a:t>
            </a:r>
            <a:r>
              <a:rPr lang="zh-CN" altLang="en-US" sz="2000" b="1" dirty="0">
                <a:latin typeface="微软雅黑" panose="020B0503020204020204" pitchFamily="34" charset="-122"/>
                <a:ea typeface="微软雅黑" panose="020B0503020204020204" pitchFamily="34" charset="-122"/>
              </a:rPr>
              <a:t>来处理每一个连接。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圆角矩形 24"/>
          <p:cNvSpPr/>
          <p:nvPr/>
        </p:nvSpPr>
        <p:spPr>
          <a:xfrm>
            <a:off x="556963" y="983008"/>
            <a:ext cx="8048776" cy="24970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 name="Group 190"/>
          <p:cNvGrpSpPr>
            <a:grpSpLocks noChangeAspect="1"/>
          </p:cNvGrpSpPr>
          <p:nvPr/>
        </p:nvGrpSpPr>
        <p:grpSpPr bwMode="auto">
          <a:xfrm>
            <a:off x="1638459" y="1489622"/>
            <a:ext cx="1465666" cy="1328224"/>
            <a:chOff x="667" y="1712"/>
            <a:chExt cx="1269" cy="1150"/>
          </a:xfrm>
        </p:grpSpPr>
        <p:sp>
          <p:nvSpPr>
            <p:cNvPr id="46" name="AutoShape 189"/>
            <p:cNvSpPr>
              <a:spLocks noChangeAspect="1" noChangeArrowheads="1" noTextEdit="1"/>
            </p:cNvSpPr>
            <p:nvPr/>
          </p:nvSpPr>
          <p:spPr bwMode="auto">
            <a:xfrm>
              <a:off x="667" y="1712"/>
              <a:ext cx="1269" cy="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grpSp>
          <p:nvGrpSpPr>
            <p:cNvPr id="59" name="Group 199"/>
            <p:cNvGrpSpPr/>
            <p:nvPr/>
          </p:nvGrpSpPr>
          <p:grpSpPr bwMode="auto">
            <a:xfrm>
              <a:off x="880" y="1752"/>
              <a:ext cx="854" cy="749"/>
              <a:chOff x="880" y="1752"/>
              <a:chExt cx="854" cy="749"/>
            </a:xfrm>
          </p:grpSpPr>
          <p:sp>
            <p:nvSpPr>
              <p:cNvPr id="60" name="Freeform 195"/>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96"/>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AutoShape 198"/>
              <p:cNvSpPr>
                <a:spLocks noChangeArrowheads="1"/>
              </p:cNvSpPr>
              <p:nvPr/>
            </p:nvSpPr>
            <p:spPr bwMode="auto">
              <a:xfrm>
                <a:off x="916" y="1939"/>
                <a:ext cx="771" cy="562"/>
              </a:xfrm>
              <a:prstGeom prst="roundRect">
                <a:avLst>
                  <a:gd name="adj" fmla="val 16667"/>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8" name="Group 210"/>
            <p:cNvGrpSpPr/>
            <p:nvPr/>
          </p:nvGrpSpPr>
          <p:grpSpPr bwMode="auto">
            <a:xfrm>
              <a:off x="667" y="1712"/>
              <a:ext cx="1245" cy="1110"/>
              <a:chOff x="667" y="1712"/>
              <a:chExt cx="1245" cy="1110"/>
            </a:xfrm>
          </p:grpSpPr>
          <p:grpSp>
            <p:nvGrpSpPr>
              <p:cNvPr id="49" name="Group 204"/>
              <p:cNvGrpSpPr/>
              <p:nvPr/>
            </p:nvGrpSpPr>
            <p:grpSpPr bwMode="auto">
              <a:xfrm>
                <a:off x="667" y="2621"/>
                <a:ext cx="1245" cy="201"/>
                <a:chOff x="667" y="2621"/>
                <a:chExt cx="1245" cy="201"/>
              </a:xfrm>
            </p:grpSpPr>
            <p:sp>
              <p:nvSpPr>
                <p:cNvPr id="55" name="Freeform 201"/>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02"/>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Rectangle 203"/>
                <p:cNvSpPr>
                  <a:spLocks noChangeArrowheads="1"/>
                </p:cNvSpPr>
                <p:nvPr/>
              </p:nvSpPr>
              <p:spPr bwMode="auto">
                <a:xfrm>
                  <a:off x="679" y="2755"/>
                  <a:ext cx="1221" cy="67"/>
                </a:xfrm>
                <a:prstGeom prst="rect">
                  <a:avLst/>
                </a:prstGeom>
                <a:solidFill>
                  <a:schemeClr val="tx2">
                    <a:lumMod val="40000"/>
                    <a:lumOff val="60000"/>
                  </a:schemeClr>
                </a:solidFill>
                <a:ln w="9525">
                  <a:solidFill>
                    <a:srgbClr val="000000"/>
                  </a:solidFill>
                  <a:miter lim="800000"/>
                </a:ln>
              </p:spPr>
              <p:txBody>
                <a:bodyPr vert="horz" wrap="square" lIns="91440" tIns="45720" rIns="91440" bIns="45720" numCol="1" anchor="t" anchorCtr="0" compatLnSpc="1"/>
                <a:lstStyle/>
                <a:p>
                  <a:endParaRPr lang="zh-CN" altLang="en-US"/>
                </a:p>
              </p:txBody>
            </p:sp>
          </p:grpSp>
          <p:grpSp>
            <p:nvGrpSpPr>
              <p:cNvPr id="50" name="Group 209"/>
              <p:cNvGrpSpPr/>
              <p:nvPr/>
            </p:nvGrpSpPr>
            <p:grpSpPr bwMode="auto">
              <a:xfrm>
                <a:off x="809" y="1712"/>
                <a:ext cx="949" cy="856"/>
                <a:chOff x="809" y="1712"/>
                <a:chExt cx="949" cy="856"/>
              </a:xfrm>
            </p:grpSpPr>
            <p:sp>
              <p:nvSpPr>
                <p:cNvPr id="51" name="Freeform 205"/>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06"/>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0066FF"/>
                </a:solidFill>
                <a:ln w="9525">
                  <a:solidFill>
                    <a:srgbClr val="000000"/>
                  </a:solidFill>
                  <a:round/>
                </a:ln>
              </p:spPr>
              <p:txBody>
                <a:bodyPr vert="horz" wrap="square" lIns="91440" tIns="45720" rIns="91440" bIns="45720" numCol="1" anchor="t" anchorCtr="0" compatLnSpc="1"/>
                <a:lstStyle/>
                <a:p>
                  <a:endParaRPr lang="zh-CN" altLang="en-US"/>
                </a:p>
              </p:txBody>
            </p:sp>
            <p:sp>
              <p:nvSpPr>
                <p:cNvPr id="53" name="AutoShape 207"/>
                <p:cNvSpPr>
                  <a:spLocks noChangeArrowheads="1"/>
                </p:cNvSpPr>
                <p:nvPr/>
              </p:nvSpPr>
              <p:spPr bwMode="auto">
                <a:xfrm>
                  <a:off x="809" y="1806"/>
                  <a:ext cx="949" cy="762"/>
                </a:xfrm>
                <a:prstGeom prst="roundRect">
                  <a:avLst>
                    <a:gd name="adj" fmla="val 16667"/>
                  </a:avLst>
                </a:prstGeom>
                <a:solidFill>
                  <a:schemeClr val="tx2">
                    <a:lumMod val="40000"/>
                    <a:lumOff val="60000"/>
                  </a:schemeClr>
                </a:solidFill>
                <a:ln w="9525">
                  <a:solidFill>
                    <a:srgbClr val="000000"/>
                  </a:solidFill>
                  <a:round/>
                </a:ln>
              </p:spPr>
              <p:txBody>
                <a:bodyPr vert="horz" wrap="square" lIns="91440" tIns="45720" rIns="91440" bIns="45720" numCol="1" anchor="t" anchorCtr="0" compatLnSpc="1"/>
                <a:lstStyle/>
                <a:p>
                  <a:endParaRPr lang="zh-CN" altLang="en-US"/>
                </a:p>
              </p:txBody>
            </p:sp>
            <p:sp>
              <p:nvSpPr>
                <p:cNvPr id="54" name="AutoShape 208"/>
                <p:cNvSpPr>
                  <a:spLocks noChangeArrowheads="1"/>
                </p:cNvSpPr>
                <p:nvPr/>
              </p:nvSpPr>
              <p:spPr bwMode="auto">
                <a:xfrm>
                  <a:off x="892" y="1899"/>
                  <a:ext cx="771" cy="562"/>
                </a:xfrm>
                <a:prstGeom prst="roundRect">
                  <a:avLst>
                    <a:gd name="adj" fmla="val 16667"/>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grpSp>
        <p:nvGrpSpPr>
          <p:cNvPr id="3" name="Group 166"/>
          <p:cNvGrpSpPr>
            <a:grpSpLocks noChangeAspect="1"/>
          </p:cNvGrpSpPr>
          <p:nvPr/>
        </p:nvGrpSpPr>
        <p:grpSpPr bwMode="auto">
          <a:xfrm>
            <a:off x="6123095" y="1429056"/>
            <a:ext cx="1585335" cy="1628850"/>
            <a:chOff x="4710" y="1652"/>
            <a:chExt cx="1348" cy="1385"/>
          </a:xfrm>
        </p:grpSpPr>
        <p:sp>
          <p:nvSpPr>
            <p:cNvPr id="4" name="AutoShape 165"/>
            <p:cNvSpPr>
              <a:spLocks noChangeAspect="1" noChangeArrowheads="1" noTextEdit="1"/>
            </p:cNvSpPr>
            <p:nvPr/>
          </p:nvSpPr>
          <p:spPr bwMode="auto">
            <a:xfrm>
              <a:off x="4710" y="1652"/>
              <a:ext cx="1348" cy="1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 name="Rectangle 167"/>
            <p:cNvSpPr>
              <a:spLocks noChangeArrowheads="1"/>
            </p:cNvSpPr>
            <p:nvPr/>
          </p:nvSpPr>
          <p:spPr bwMode="auto">
            <a:xfrm>
              <a:off x="4717" y="2573"/>
              <a:ext cx="1200" cy="25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 name="Rectangle 168"/>
            <p:cNvSpPr>
              <a:spLocks noChangeArrowheads="1"/>
            </p:cNvSpPr>
            <p:nvPr/>
          </p:nvSpPr>
          <p:spPr bwMode="auto">
            <a:xfrm>
              <a:off x="4717" y="2573"/>
              <a:ext cx="1200" cy="251"/>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7" name="Freeform 169"/>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Freeform 170"/>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9" name="Line 171"/>
            <p:cNvSpPr>
              <a:spLocks noChangeShapeType="1"/>
            </p:cNvSpPr>
            <p:nvPr/>
          </p:nvSpPr>
          <p:spPr bwMode="auto">
            <a:xfrm flipH="1">
              <a:off x="5562" y="2687"/>
              <a:ext cx="288" cy="1"/>
            </a:xfrm>
            <a:prstGeom prst="line">
              <a:avLst/>
            </a:prstGeom>
            <a:noFill/>
            <a:ln w="20">
              <a:solidFill>
                <a:srgbClr val="000000"/>
              </a:solidFill>
              <a:prstDash val="solid"/>
              <a:rou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0" name="Freeform 172"/>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73"/>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2" name="Freeform 174"/>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75"/>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4" name="Freeform 176"/>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77"/>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6" name="Rectangle 178"/>
            <p:cNvSpPr>
              <a:spLocks noChangeArrowheads="1"/>
            </p:cNvSpPr>
            <p:nvPr/>
          </p:nvSpPr>
          <p:spPr bwMode="auto">
            <a:xfrm>
              <a:off x="4723" y="2984"/>
              <a:ext cx="926" cy="3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7" name="Rectangle 179"/>
            <p:cNvSpPr>
              <a:spLocks noChangeArrowheads="1"/>
            </p:cNvSpPr>
            <p:nvPr/>
          </p:nvSpPr>
          <p:spPr bwMode="auto">
            <a:xfrm>
              <a:off x="4723" y="2984"/>
              <a:ext cx="926" cy="38"/>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18" name="Freeform 180"/>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81"/>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w="7">
              <a:solidFill>
                <a:srgbClr val="000000"/>
              </a:solidFill>
              <a:prstDash val="solid"/>
              <a:round/>
            </a:ln>
          </p:spPr>
          <p:txBody>
            <a:bodyPr vert="horz" wrap="square" lIns="91440" tIns="45720" rIns="91440" bIns="45720" numCol="1" anchor="t" anchorCtr="0" compatLnSpc="1"/>
            <a:lstStyle/>
            <a:p>
              <a:endParaRPr lang="zh-CN" altLang="en-US"/>
            </a:p>
          </p:txBody>
        </p:sp>
        <p:sp>
          <p:nvSpPr>
            <p:cNvPr id="20" name="Freeform 182"/>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183"/>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22" name="Rectangle 184"/>
            <p:cNvSpPr>
              <a:spLocks noChangeArrowheads="1"/>
            </p:cNvSpPr>
            <p:nvPr/>
          </p:nvSpPr>
          <p:spPr bwMode="auto">
            <a:xfrm>
              <a:off x="4891" y="1759"/>
              <a:ext cx="859" cy="768"/>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23" name="Rectangle 185"/>
            <p:cNvSpPr>
              <a:spLocks noChangeArrowheads="1"/>
            </p:cNvSpPr>
            <p:nvPr/>
          </p:nvSpPr>
          <p:spPr bwMode="auto">
            <a:xfrm>
              <a:off x="4965" y="1857"/>
              <a:ext cx="711" cy="594"/>
            </a:xfrm>
            <a:prstGeom prst="rect">
              <a:avLst/>
            </a:prstGeom>
            <a:solidFill>
              <a:srgbClr val="FFFFFF"/>
            </a:solidFill>
            <a:ln w="7">
              <a:solidFill>
                <a:srgbClr val="494936"/>
              </a:solidFill>
              <a:prstDash val="solid"/>
              <a:miter lim="800000"/>
            </a:ln>
          </p:spPr>
          <p:txBody>
            <a:bodyPr vert="horz" wrap="square" lIns="91440" tIns="45720" rIns="91440" bIns="45720" numCol="1" anchor="t" anchorCtr="0" compatLnSpc="1"/>
            <a:lstStyle/>
            <a:p>
              <a:endParaRPr lang="zh-CN" altLang="en-US"/>
            </a:p>
          </p:txBody>
        </p:sp>
        <p:sp>
          <p:nvSpPr>
            <p:cNvPr id="24" name="Freeform 186"/>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87"/>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grpSp>
      <p:sp>
        <p:nvSpPr>
          <p:cNvPr id="27"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2282807" y="582898"/>
            <a:ext cx="45970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TELNET </a:t>
            </a:r>
            <a:r>
              <a:rPr lang="zh-CN" altLang="en-US" sz="2000" b="1" dirty="0" smtClean="0">
                <a:solidFill>
                  <a:schemeClr val="bg1"/>
                </a:solidFill>
                <a:latin typeface="微软雅黑" panose="020B0503020204020204" pitchFamily="34" charset="-122"/>
                <a:ea typeface="微软雅黑" panose="020B0503020204020204" pitchFamily="34" charset="-122"/>
              </a:rPr>
              <a:t>使用网络</a:t>
            </a:r>
            <a:r>
              <a:rPr lang="zh-CN" altLang="en-US" sz="2000" b="1" dirty="0">
                <a:solidFill>
                  <a:schemeClr val="bg1"/>
                </a:solidFill>
                <a:latin typeface="微软雅黑" panose="020B0503020204020204" pitchFamily="34" charset="-122"/>
                <a:ea typeface="微软雅黑" panose="020B0503020204020204" pitchFamily="34" charset="-122"/>
              </a:rPr>
              <a:t>虚拟终端 </a:t>
            </a:r>
            <a:r>
              <a:rPr lang="en-US" altLang="zh-CN" sz="2000" b="1" dirty="0">
                <a:solidFill>
                  <a:schemeClr val="bg1"/>
                </a:solidFill>
                <a:latin typeface="微软雅黑" panose="020B0503020204020204" pitchFamily="34" charset="-122"/>
                <a:ea typeface="微软雅黑" panose="020B0503020204020204" pitchFamily="34" charset="-122"/>
              </a:rPr>
              <a:t>NVT </a:t>
            </a:r>
            <a:r>
              <a:rPr lang="zh-CN" altLang="en-US" sz="2000" b="1" dirty="0">
                <a:solidFill>
                  <a:schemeClr val="bg1"/>
                </a:solidFill>
                <a:latin typeface="微软雅黑" panose="020B0503020204020204" pitchFamily="34" charset="-122"/>
                <a:ea typeface="微软雅黑" panose="020B0503020204020204" pitchFamily="34" charset="-122"/>
              </a:rPr>
              <a:t>格式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1982751" y="1086994"/>
            <a:ext cx="5591078" cy="2253511"/>
            <a:chOff x="1486342" y="2116880"/>
            <a:chExt cx="7963375" cy="3209672"/>
          </a:xfrm>
        </p:grpSpPr>
        <p:graphicFrame>
          <p:nvGraphicFramePr>
            <p:cNvPr id="29" name="Object 5"/>
            <p:cNvGraphicFramePr>
              <a:graphicFrameLocks noChangeAspect="1"/>
            </p:cNvGraphicFramePr>
            <p:nvPr/>
          </p:nvGraphicFramePr>
          <p:xfrm>
            <a:off x="3308432" y="2518048"/>
            <a:ext cx="3625321" cy="2297113"/>
          </p:xfrm>
          <a:graphic>
            <a:graphicData uri="http://schemas.openxmlformats.org/presentationml/2006/ole">
              <mc:AlternateContent xmlns:mc="http://schemas.openxmlformats.org/markup-compatibility/2006">
                <mc:Choice xmlns:v="urn:schemas-microsoft-com:vml" Requires="v">
                  <p:oleObj spid="_x0000_s3073" name="VISIO" r:id="rId1" imgW="3514725" imgH="2009775" progId="">
                    <p:embed/>
                  </p:oleObj>
                </mc:Choice>
                <mc:Fallback>
                  <p:oleObj name="VISIO" r:id="rId1" imgW="3514725" imgH="2009775" progId="">
                    <p:embed/>
                    <p:pic>
                      <p:nvPicPr>
                        <p:cNvPr id="0" name="图片 3072"/>
                        <p:cNvPicPr>
                          <a:picLocks noChangeAspect="1"/>
                        </p:cNvPicPr>
                        <p:nvPr/>
                      </p:nvPicPr>
                      <p:blipFill>
                        <a:blip r:embed="rId2"/>
                        <a:stretch>
                          <a:fillRect/>
                        </a:stretch>
                      </p:blipFill>
                      <p:spPr>
                        <a:xfrm>
                          <a:off x="3308432" y="2518048"/>
                          <a:ext cx="3625321" cy="2297113"/>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0" name="Text Box 6"/>
            <p:cNvSpPr txBox="1">
              <a:spLocks noChangeArrowheads="1"/>
            </p:cNvSpPr>
            <p:nvPr/>
          </p:nvSpPr>
          <p:spPr bwMode="auto">
            <a:xfrm>
              <a:off x="4708819" y="2217876"/>
              <a:ext cx="920570"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33" name="Text Box 9"/>
            <p:cNvSpPr txBox="1">
              <a:spLocks noChangeArrowheads="1"/>
            </p:cNvSpPr>
            <p:nvPr/>
          </p:nvSpPr>
          <p:spPr bwMode="auto">
            <a:xfrm>
              <a:off x="4447128" y="3085220"/>
              <a:ext cx="1339849"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TCP </a:t>
              </a:r>
              <a:r>
                <a:rPr kumimoji="1" lang="zh-CN" altLang="en-US" sz="1400" b="1" dirty="0">
                  <a:solidFill>
                    <a:srgbClr val="000099"/>
                  </a:solidFill>
                  <a:latin typeface="微软雅黑" panose="020B0503020204020204" pitchFamily="34" charset="-122"/>
                  <a:ea typeface="微软雅黑" panose="020B0503020204020204" pitchFamily="34" charset="-122"/>
                </a:rPr>
                <a:t>连接</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4" name="Text Box 10"/>
            <p:cNvSpPr txBox="1">
              <a:spLocks noChangeArrowheads="1"/>
            </p:cNvSpPr>
            <p:nvPr/>
          </p:nvSpPr>
          <p:spPr bwMode="auto">
            <a:xfrm>
              <a:off x="1486342" y="2242834"/>
              <a:ext cx="986781"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 </a:t>
              </a:r>
              <a:r>
                <a:rPr kumimoji="1" lang="zh-CN" altLang="en-US" sz="1200" b="1" dirty="0">
                  <a:latin typeface="微软雅黑" panose="020B0503020204020204" pitchFamily="34" charset="-122"/>
                  <a:ea typeface="微软雅黑" panose="020B0503020204020204" pitchFamily="34" charset="-122"/>
                </a:rPr>
                <a:t>客户端</a:t>
              </a:r>
              <a:endParaRPr kumimoji="1" lang="zh-CN" altLang="en-US" sz="1200" b="1" dirty="0">
                <a:latin typeface="微软雅黑" panose="020B0503020204020204" pitchFamily="34" charset="-122"/>
                <a:ea typeface="微软雅黑" panose="020B0503020204020204" pitchFamily="34" charset="-122"/>
              </a:endParaRPr>
            </a:p>
          </p:txBody>
        </p:sp>
        <p:sp>
          <p:nvSpPr>
            <p:cNvPr id="35" name="Text Box 11"/>
            <p:cNvSpPr txBox="1">
              <a:spLocks noChangeArrowheads="1"/>
            </p:cNvSpPr>
            <p:nvPr/>
          </p:nvSpPr>
          <p:spPr bwMode="auto">
            <a:xfrm>
              <a:off x="7836881" y="2116880"/>
              <a:ext cx="1205965"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 </a:t>
              </a:r>
              <a:r>
                <a:rPr kumimoji="1" lang="zh-CN" altLang="en-US" sz="1200" b="1" dirty="0">
                  <a:latin typeface="微软雅黑" panose="020B0503020204020204" pitchFamily="34" charset="-122"/>
                  <a:ea typeface="微软雅黑" panose="020B0503020204020204" pitchFamily="34" charset="-122"/>
                </a:rPr>
                <a:t>服务器端</a:t>
              </a:r>
              <a:endParaRPr kumimoji="1" lang="zh-CN" altLang="en-US" sz="1200" b="1" dirty="0">
                <a:latin typeface="微软雅黑" panose="020B0503020204020204" pitchFamily="34" charset="-122"/>
                <a:ea typeface="微软雅黑" panose="020B0503020204020204" pitchFamily="34" charset="-122"/>
              </a:endParaRPr>
            </a:p>
          </p:txBody>
        </p:sp>
        <p:sp>
          <p:nvSpPr>
            <p:cNvPr id="36" name="Text Box 13"/>
            <p:cNvSpPr txBox="1">
              <a:spLocks noChangeArrowheads="1"/>
            </p:cNvSpPr>
            <p:nvPr/>
          </p:nvSpPr>
          <p:spPr bwMode="auto">
            <a:xfrm>
              <a:off x="6809930" y="4888185"/>
              <a:ext cx="2639787"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使用服务器端的格式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7" name="Text Box 14"/>
            <p:cNvSpPr txBox="1">
              <a:spLocks noChangeArrowheads="1"/>
            </p:cNvSpPr>
            <p:nvPr/>
          </p:nvSpPr>
          <p:spPr bwMode="auto">
            <a:xfrm>
              <a:off x="4077198" y="4888185"/>
              <a:ext cx="2076670"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 </a:t>
              </a:r>
              <a:r>
                <a:rPr kumimoji="1" lang="en-US" altLang="zh-CN" sz="1400" b="1" dirty="0">
                  <a:solidFill>
                    <a:srgbClr val="000099"/>
                  </a:solidFill>
                  <a:latin typeface="微软雅黑" panose="020B0503020204020204" pitchFamily="34" charset="-122"/>
                  <a:ea typeface="微软雅黑" panose="020B0503020204020204" pitchFamily="34" charset="-122"/>
                </a:rPr>
                <a:t>NVT </a:t>
              </a:r>
              <a:r>
                <a:rPr kumimoji="1" lang="zh-CN" altLang="en-US" sz="1400" b="1" dirty="0">
                  <a:solidFill>
                    <a:srgbClr val="000099"/>
                  </a:solidFill>
                  <a:latin typeface="微软雅黑" panose="020B0503020204020204" pitchFamily="34" charset="-122"/>
                  <a:ea typeface="微软雅黑" panose="020B0503020204020204" pitchFamily="34" charset="-122"/>
                </a:rPr>
                <a:t>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8" name="Line 15"/>
            <p:cNvSpPr>
              <a:spLocks noChangeShapeType="1"/>
            </p:cNvSpPr>
            <p:nvPr/>
          </p:nvSpPr>
          <p:spPr bwMode="auto">
            <a:xfrm flipV="1">
              <a:off x="1643674" y="3867422"/>
              <a:ext cx="357717" cy="1081088"/>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H="1" flipV="1">
              <a:off x="5086697" y="3622947"/>
              <a:ext cx="6879" cy="1277938"/>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flipV="1">
              <a:off x="8129824" y="3813445"/>
              <a:ext cx="272632" cy="1135063"/>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1" name="Oval 18"/>
            <p:cNvSpPr>
              <a:spLocks noChangeArrowheads="1"/>
            </p:cNvSpPr>
            <p:nvPr/>
          </p:nvSpPr>
          <p:spPr bwMode="auto">
            <a:xfrm>
              <a:off x="1526728" y="3051447"/>
              <a:ext cx="1006078" cy="833438"/>
            </a:xfrm>
            <a:prstGeom prst="ellipse">
              <a:avLst/>
            </a:prstGeom>
            <a:solidFill>
              <a:srgbClr val="0000FF"/>
            </a:solidFill>
            <a:ln w="12700">
              <a:solidFill>
                <a:schemeClr val="tx1"/>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客户</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2" name="Oval 19"/>
            <p:cNvSpPr>
              <a:spLocks noChangeArrowheads="1"/>
            </p:cNvSpPr>
            <p:nvPr/>
          </p:nvSpPr>
          <p:spPr bwMode="auto">
            <a:xfrm>
              <a:off x="7855562" y="3051447"/>
              <a:ext cx="1131623" cy="833438"/>
            </a:xfrm>
            <a:prstGeom prst="ellipse">
              <a:avLst/>
            </a:prstGeom>
            <a:solidFill>
              <a:srgbClr val="CC00CC"/>
            </a:solidFill>
            <a:ln w="12700">
              <a:solidFill>
                <a:schemeClr val="tx1"/>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3" name="AutoShape 20"/>
            <p:cNvSpPr>
              <a:spLocks noChangeArrowheads="1"/>
            </p:cNvSpPr>
            <p:nvPr/>
          </p:nvSpPr>
          <p:spPr bwMode="auto">
            <a:xfrm>
              <a:off x="2596439" y="3458572"/>
              <a:ext cx="5279761" cy="194468"/>
            </a:xfrm>
            <a:prstGeom prst="leftRightArrow">
              <a:avLst>
                <a:gd name="adj1" fmla="val 61111"/>
                <a:gd name="adj2" fmla="val 202172"/>
              </a:avLst>
            </a:prstGeom>
            <a:solidFill>
              <a:srgbClr val="00B0F0"/>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44" name="Text Box 12"/>
          <p:cNvSpPr txBox="1">
            <a:spLocks noChangeArrowheads="1"/>
          </p:cNvSpPr>
          <p:nvPr/>
        </p:nvSpPr>
        <p:spPr bwMode="auto">
          <a:xfrm>
            <a:off x="1245960" y="3041642"/>
            <a:ext cx="16738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使用客户端的格式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1" name="矩形 30"/>
          <p:cNvSpPr/>
          <p:nvPr/>
        </p:nvSpPr>
        <p:spPr>
          <a:xfrm>
            <a:off x="1402672" y="3488071"/>
            <a:ext cx="6587231" cy="759182"/>
          </a:xfrm>
          <a:prstGeom prst="rect">
            <a:avLst/>
          </a:prstGeom>
        </p:spPr>
        <p:txBody>
          <a:bodyPr wrap="square">
            <a:spAutoFit/>
          </a:bodyPr>
          <a:lstStyle/>
          <a:p>
            <a:pPr>
              <a:lnSpc>
                <a:spcPts val="2600"/>
              </a:lnSpc>
            </a:pPr>
            <a:r>
              <a:rPr lang="en-US" altLang="zh-CN" b="1" dirty="0" smtClean="0">
                <a:latin typeface="微软雅黑" panose="020B0503020204020204" pitchFamily="34" charset="-122"/>
                <a:ea typeface="微软雅黑" panose="020B0503020204020204" pitchFamily="34" charset="-122"/>
              </a:rPr>
              <a:t>TELNET </a:t>
            </a:r>
            <a:r>
              <a:rPr lang="zh-CN" altLang="en-US" b="1" dirty="0" smtClean="0">
                <a:latin typeface="微软雅黑" panose="020B0503020204020204" pitchFamily="34" charset="-122"/>
                <a:ea typeface="微软雅黑" panose="020B0503020204020204" pitchFamily="34" charset="-122"/>
              </a:rPr>
              <a:t>的</a:t>
            </a:r>
            <a:r>
              <a:rPr lang="zh-CN" altLang="en-US" b="1" dirty="0">
                <a:solidFill>
                  <a:srgbClr val="C00000"/>
                </a:solidFill>
                <a:latin typeface="微软雅黑" panose="020B0503020204020204" pitchFamily="34" charset="-122"/>
                <a:ea typeface="微软雅黑" panose="020B0503020204020204" pitchFamily="34" charset="-122"/>
              </a:rPr>
              <a:t>选项</a:t>
            </a:r>
            <a:r>
              <a:rPr lang="zh-CN" altLang="en-US" b="1" dirty="0" smtClean="0">
                <a:solidFill>
                  <a:srgbClr val="C00000"/>
                </a:solidFill>
                <a:latin typeface="微软雅黑" panose="020B0503020204020204" pitchFamily="34" charset="-122"/>
                <a:ea typeface="微软雅黑" panose="020B0503020204020204" pitchFamily="34" charset="-122"/>
              </a:rPr>
              <a:t>协商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Option Negotiation</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使客户和服务器</a:t>
            </a:r>
            <a:r>
              <a:rPr lang="zh-CN" altLang="en-US" b="1" dirty="0">
                <a:latin typeface="微软雅黑" panose="020B0503020204020204" pitchFamily="34" charset="-122"/>
                <a:ea typeface="微软雅黑" panose="020B0503020204020204" pitchFamily="34" charset="-122"/>
              </a:rPr>
              <a:t>可商定使用更多的终端功能，协商的双方是平等的。</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606" y="581772"/>
            <a:ext cx="52615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NVT </a:t>
            </a:r>
            <a:r>
              <a:rPr lang="zh-CN" altLang="en-US"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smtClean="0">
                <a:solidFill>
                  <a:schemeClr val="bg1"/>
                </a:solidFill>
                <a:latin typeface="微软雅黑" panose="020B0503020204020204" pitchFamily="34" charset="-122"/>
                <a:ea typeface="微软雅黑" panose="020B0503020204020204" pitchFamily="34" charset="-122"/>
              </a:rPr>
              <a:t>Network Virtual Terminal </a:t>
            </a:r>
            <a:r>
              <a:rPr lang="zh-CN" altLang="en-US" sz="2000" b="1" dirty="0" smtClean="0">
                <a:solidFill>
                  <a:schemeClr val="bg1"/>
                </a:solidFill>
                <a:latin typeface="微软雅黑" panose="020B0503020204020204" pitchFamily="34" charset="-122"/>
                <a:ea typeface="微软雅黑" panose="020B0503020204020204" pitchFamily="34" charset="-122"/>
              </a:rPr>
              <a:t>）格式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Text Box 10"/>
          <p:cNvSpPr txBox="1">
            <a:spLocks noChangeArrowheads="1"/>
          </p:cNvSpPr>
          <p:nvPr/>
        </p:nvSpPr>
        <p:spPr bwMode="auto">
          <a:xfrm>
            <a:off x="468186" y="1091690"/>
            <a:ext cx="28761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smtClean="0">
                <a:solidFill>
                  <a:srgbClr val="C00000"/>
                </a:solidFill>
                <a:latin typeface="微软雅黑" panose="020B0503020204020204" pitchFamily="34" charset="-122"/>
                <a:ea typeface="微软雅黑" panose="020B0503020204020204" pitchFamily="34" charset="-122"/>
              </a:rPr>
              <a:t>两个字符集：</a:t>
            </a:r>
            <a:r>
              <a:rPr kumimoji="1" lang="zh-CN" altLang="en-US" sz="1800" b="1" dirty="0" smtClean="0">
                <a:latin typeface="微软雅黑" panose="020B0503020204020204" pitchFamily="34" charset="-122"/>
                <a:ea typeface="微软雅黑" panose="020B0503020204020204" pitchFamily="34" charset="-122"/>
              </a:rPr>
              <a:t>数据，控制</a:t>
            </a:r>
            <a:endParaRPr kumimoji="1" lang="zh-CN" altLang="en-US" sz="1800" b="1" dirty="0">
              <a:latin typeface="微软雅黑" panose="020B0503020204020204" pitchFamily="34" charset="-122"/>
              <a:ea typeface="微软雅黑" panose="020B0503020204020204" pitchFamily="34" charset="-122"/>
            </a:endParaRPr>
          </a:p>
        </p:txBody>
      </p:sp>
      <p:grpSp>
        <p:nvGrpSpPr>
          <p:cNvPr id="29" name="组合 28"/>
          <p:cNvGrpSpPr/>
          <p:nvPr/>
        </p:nvGrpSpPr>
        <p:grpSpPr>
          <a:xfrm>
            <a:off x="468186" y="2948796"/>
            <a:ext cx="3810851" cy="443884"/>
            <a:chOff x="563382" y="2675753"/>
            <a:chExt cx="3775329" cy="443884"/>
          </a:xfrm>
        </p:grpSpPr>
        <p:sp>
          <p:nvSpPr>
            <p:cNvPr id="7" name="Text Box 10"/>
            <p:cNvSpPr txBox="1">
              <a:spLocks noChangeArrowheads="1"/>
            </p:cNvSpPr>
            <p:nvPr/>
          </p:nvSpPr>
          <p:spPr bwMode="auto">
            <a:xfrm>
              <a:off x="563382" y="2675753"/>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a:latin typeface="微软雅黑" panose="020B0503020204020204" pitchFamily="34" charset="-122"/>
                  <a:ea typeface="微软雅黑" panose="020B0503020204020204" pitchFamily="34" charset="-122"/>
                </a:rPr>
                <a:t>控制</a:t>
              </a:r>
              <a:r>
                <a:rPr kumimoji="1" lang="zh-CN" altLang="en-US" sz="1800" b="1" dirty="0" smtClean="0">
                  <a:latin typeface="微软雅黑" panose="020B0503020204020204" pitchFamily="34" charset="-122"/>
                  <a:ea typeface="微软雅黑" panose="020B0503020204020204" pitchFamily="34" charset="-122"/>
                </a:rPr>
                <a:t>字符：</a:t>
              </a:r>
              <a:endParaRPr kumimoji="1" lang="zh-CN" altLang="en-US" sz="1800" b="1" dirty="0">
                <a:latin typeface="微软雅黑" panose="020B0503020204020204" pitchFamily="34" charset="-122"/>
                <a:ea typeface="微软雅黑" panose="020B0503020204020204" pitchFamily="34" charset="-122"/>
              </a:endParaRPr>
            </a:p>
          </p:txBody>
        </p:sp>
        <p:grpSp>
          <p:nvGrpSpPr>
            <p:cNvPr id="17" name="组合 16"/>
            <p:cNvGrpSpPr/>
            <p:nvPr/>
          </p:nvGrpSpPr>
          <p:grpSpPr>
            <a:xfrm>
              <a:off x="1995017" y="2675753"/>
              <a:ext cx="2343694" cy="443884"/>
              <a:chOff x="1526959" y="2041864"/>
              <a:chExt cx="2343694" cy="443884"/>
            </a:xfrm>
          </p:grpSpPr>
          <p:sp>
            <p:nvSpPr>
              <p:cNvPr id="18" name="矩形 17"/>
              <p:cNvSpPr/>
              <p:nvPr/>
            </p:nvSpPr>
            <p:spPr>
              <a:xfrm>
                <a:off x="1526959" y="2041864"/>
                <a:ext cx="292963" cy="443884"/>
              </a:xfrm>
              <a:prstGeom prst="rect">
                <a:avLst/>
              </a:prstGeom>
              <a:solidFill>
                <a:srgbClr val="00B0F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smtClean="0">
                    <a:solidFill>
                      <a:schemeClr val="tx1"/>
                    </a:solidFill>
                    <a:latin typeface="微软雅黑" panose="020B0503020204020204" pitchFamily="34" charset="-122"/>
                    <a:ea typeface="微软雅黑" panose="020B0503020204020204" pitchFamily="34" charset="-122"/>
                  </a:rPr>
                  <a:t>1</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4" name="矩形 2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grpSp>
      <p:grpSp>
        <p:nvGrpSpPr>
          <p:cNvPr id="28" name="组合 27"/>
          <p:cNvGrpSpPr/>
          <p:nvPr/>
        </p:nvGrpSpPr>
        <p:grpSpPr>
          <a:xfrm>
            <a:off x="468186" y="1570830"/>
            <a:ext cx="3810853" cy="969848"/>
            <a:chOff x="563382" y="1448707"/>
            <a:chExt cx="3775331" cy="969848"/>
          </a:xfrm>
        </p:grpSpPr>
        <p:sp>
          <p:nvSpPr>
            <p:cNvPr id="6" name="Text Box 10"/>
            <p:cNvSpPr txBox="1">
              <a:spLocks noChangeArrowheads="1"/>
            </p:cNvSpPr>
            <p:nvPr/>
          </p:nvSpPr>
          <p:spPr bwMode="auto">
            <a:xfrm>
              <a:off x="563382" y="2004991"/>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smtClean="0">
                  <a:latin typeface="微软雅黑" panose="020B0503020204020204" pitchFamily="34" charset="-122"/>
                  <a:ea typeface="微软雅黑" panose="020B0503020204020204" pitchFamily="34" charset="-122"/>
                </a:rPr>
                <a:t>数据字符：</a:t>
              </a:r>
              <a:endParaRPr kumimoji="1" lang="zh-CN" altLang="en-US" sz="1800"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1995017" y="1974671"/>
              <a:ext cx="2343694" cy="443884"/>
              <a:chOff x="1526959" y="2041864"/>
              <a:chExt cx="2343694" cy="443884"/>
            </a:xfrm>
          </p:grpSpPr>
          <p:sp>
            <p:nvSpPr>
              <p:cNvPr id="8" name="矩形 7"/>
              <p:cNvSpPr/>
              <p:nvPr/>
            </p:nvSpPr>
            <p:spPr>
              <a:xfrm>
                <a:off x="1526959" y="2041864"/>
                <a:ext cx="292963" cy="443884"/>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smtClean="0">
                    <a:solidFill>
                      <a:schemeClr val="tx1"/>
                    </a:solidFill>
                    <a:latin typeface="微软雅黑" panose="020B0503020204020204" pitchFamily="34" charset="-122"/>
                    <a:ea typeface="微软雅黑" panose="020B0503020204020204" pitchFamily="34" charset="-122"/>
                  </a:rPr>
                  <a:t>0</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0" name="矩形 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1" name="矩形 1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2" name="矩形 1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3" name="矩形 1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4" name="矩形 1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sp>
          <p:nvSpPr>
            <p:cNvPr id="26" name="右大括号 25"/>
            <p:cNvSpPr/>
            <p:nvPr/>
          </p:nvSpPr>
          <p:spPr>
            <a:xfrm rot="16200000">
              <a:off x="3213418" y="801163"/>
              <a:ext cx="199855" cy="2050734"/>
            </a:xfrm>
            <a:prstGeom prst="rightBrace">
              <a:avLst>
                <a:gd name="adj1" fmla="val 38636"/>
                <a:gd name="adj2" fmla="val 50000"/>
              </a:avLst>
            </a:prstGeom>
            <a:ln w="1905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ln w="19050">
                  <a:solidFill>
                    <a:schemeClr val="tx1"/>
                  </a:solidFill>
                </a:ln>
              </a:endParaRPr>
            </a:p>
          </p:txBody>
        </p:sp>
        <p:sp>
          <p:nvSpPr>
            <p:cNvPr id="27" name="Text Box 10"/>
            <p:cNvSpPr txBox="1">
              <a:spLocks noChangeArrowheads="1"/>
            </p:cNvSpPr>
            <p:nvPr/>
          </p:nvSpPr>
          <p:spPr bwMode="auto">
            <a:xfrm>
              <a:off x="2466849" y="1448707"/>
              <a:ext cx="168026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smtClean="0">
                  <a:latin typeface="微软雅黑" panose="020B0503020204020204" pitchFamily="34" charset="-122"/>
                  <a:ea typeface="微软雅黑" panose="020B0503020204020204" pitchFamily="34" charset="-122"/>
                </a:rPr>
                <a:t>标准 </a:t>
              </a:r>
              <a:r>
                <a:rPr kumimoji="1" lang="en-US" altLang="zh-CN" sz="1600" b="1" dirty="0" smtClean="0">
                  <a:latin typeface="微软雅黑" panose="020B0503020204020204" pitchFamily="34" charset="-122"/>
                  <a:ea typeface="微软雅黑" panose="020B0503020204020204" pitchFamily="34" charset="-122"/>
                </a:rPr>
                <a:t>ASCII </a:t>
              </a:r>
              <a:r>
                <a:rPr kumimoji="1" lang="zh-CN" altLang="en-US" sz="1600" b="1" dirty="0" smtClean="0">
                  <a:latin typeface="微软雅黑" panose="020B0503020204020204" pitchFamily="34" charset="-122"/>
                  <a:ea typeface="微软雅黑" panose="020B0503020204020204" pitchFamily="34" charset="-122"/>
                </a:rPr>
                <a:t>字符</a:t>
              </a:r>
              <a:endParaRPr kumimoji="1" lang="zh-CN" altLang="en-US" sz="1600" b="1" dirty="0">
                <a:latin typeface="微软雅黑" panose="020B0503020204020204" pitchFamily="34" charset="-122"/>
                <a:ea typeface="微软雅黑" panose="020B0503020204020204" pitchFamily="34" charset="-122"/>
              </a:endParaRPr>
            </a:p>
          </p:txBody>
        </p:sp>
      </p:grpSp>
      <p:sp>
        <p:nvSpPr>
          <p:cNvPr id="30" name="矩形 29"/>
          <p:cNvSpPr/>
          <p:nvPr/>
        </p:nvSpPr>
        <p:spPr>
          <a:xfrm>
            <a:off x="4528083" y="966612"/>
            <a:ext cx="3866334" cy="3554819"/>
          </a:xfrm>
          <a:prstGeom prst="rect">
            <a:avLst/>
          </a:prstGeom>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端</a:t>
            </a:r>
            <a:r>
              <a:rPr lang="zh-CN" altLang="en-US" b="1" dirty="0" smtClean="0">
                <a:latin typeface="微软雅黑" panose="020B0503020204020204" pitchFamily="34" charset="-122"/>
                <a:ea typeface="微软雅黑" panose="020B0503020204020204" pitchFamily="34" charset="-122"/>
              </a:rPr>
              <a:t>把</a:t>
            </a:r>
            <a:r>
              <a:rPr lang="zh-CN" altLang="en-US" b="1" dirty="0">
                <a:latin typeface="微软雅黑" panose="020B0503020204020204" pitchFamily="34" charset="-122"/>
                <a:ea typeface="微软雅黑" panose="020B0503020204020204" pitchFamily="34" charset="-122"/>
              </a:rPr>
              <a:t>用户的击键和命令转换成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格式，并送交服务器。</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服务器端把</a:t>
            </a:r>
            <a:r>
              <a:rPr lang="zh-CN" altLang="en-US" b="1" dirty="0">
                <a:latin typeface="微软雅黑" panose="020B0503020204020204" pitchFamily="34" charset="-122"/>
                <a:ea typeface="微软雅黑" panose="020B0503020204020204" pitchFamily="34" charset="-122"/>
              </a:rPr>
              <a:t>收到的数据和命令，从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格式转换成远地系统所需的格式。</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向客户返回</a:t>
            </a:r>
            <a:r>
              <a:rPr lang="zh-CN" altLang="en-US" b="1" dirty="0">
                <a:latin typeface="微软雅黑" panose="020B0503020204020204" pitchFamily="34" charset="-122"/>
                <a:ea typeface="微软雅黑" panose="020B0503020204020204" pitchFamily="34" charset="-122"/>
              </a:rPr>
              <a:t>数据时，服务器把远地系统的格式转换为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格式，本地客户再从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格式转换到本地系统所需的格式。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Rectangle 9"/>
          <p:cNvSpPr>
            <a:spLocks noChangeArrowheads="1"/>
          </p:cNvSpPr>
          <p:nvPr/>
        </p:nvSpPr>
        <p:spPr bwMode="auto">
          <a:xfrm>
            <a:off x="2629135" y="365005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7" name="Rectangle 10"/>
          <p:cNvSpPr>
            <a:spLocks noChangeArrowheads="1"/>
          </p:cNvSpPr>
          <p:nvPr/>
        </p:nvSpPr>
        <p:spPr bwMode="auto">
          <a:xfrm>
            <a:off x="2629135" y="319150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4" name="Rectangle 9"/>
          <p:cNvSpPr>
            <a:spLocks noChangeArrowheads="1"/>
          </p:cNvSpPr>
          <p:nvPr/>
        </p:nvSpPr>
        <p:spPr bwMode="auto">
          <a:xfrm>
            <a:off x="2629135" y="274056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5" name="Rectangle 10"/>
          <p:cNvSpPr>
            <a:spLocks noChangeArrowheads="1"/>
          </p:cNvSpPr>
          <p:nvPr/>
        </p:nvSpPr>
        <p:spPr bwMode="auto">
          <a:xfrm>
            <a:off x="2629135" y="228201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6" name="Rectangle 9"/>
          <p:cNvSpPr>
            <a:spLocks noChangeArrowheads="1"/>
          </p:cNvSpPr>
          <p:nvPr/>
        </p:nvSpPr>
        <p:spPr bwMode="auto">
          <a:xfrm>
            <a:off x="2629135" y="18263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7" name="Rectangle 9"/>
          <p:cNvSpPr>
            <a:spLocks noChangeArrowheads="1"/>
          </p:cNvSpPr>
          <p:nvPr/>
        </p:nvSpPr>
        <p:spPr bwMode="auto">
          <a:xfrm>
            <a:off x="2629135" y="90400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9" name="Rectangle 10"/>
          <p:cNvSpPr>
            <a:spLocks noChangeArrowheads="1"/>
          </p:cNvSpPr>
          <p:nvPr/>
        </p:nvSpPr>
        <p:spPr bwMode="auto">
          <a:xfrm>
            <a:off x="2629135" y="136775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0" name="Line 16"/>
          <p:cNvSpPr>
            <a:spLocks noChangeShapeType="1"/>
          </p:cNvSpPr>
          <p:nvPr/>
        </p:nvSpPr>
        <p:spPr bwMode="auto">
          <a:xfrm>
            <a:off x="3637198" y="832562"/>
            <a:ext cx="0" cy="3357124"/>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62" name="Rectangle 27"/>
          <p:cNvSpPr>
            <a:spLocks noChangeArrowheads="1"/>
          </p:cNvSpPr>
          <p:nvPr/>
        </p:nvSpPr>
        <p:spPr bwMode="auto">
          <a:xfrm>
            <a:off x="639730" y="90400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63" name="Rectangle 29"/>
          <p:cNvSpPr>
            <a:spLocks noChangeArrowheads="1"/>
          </p:cNvSpPr>
          <p:nvPr/>
        </p:nvSpPr>
        <p:spPr bwMode="auto">
          <a:xfrm>
            <a:off x="648619" y="99893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6.4</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 </a:t>
            </a:r>
            <a:r>
              <a:rPr lang="en-US" altLang="zh-CN" sz="2000" b="1" dirty="0">
                <a:solidFill>
                  <a:schemeClr val="bg1"/>
                </a:solidFill>
                <a:latin typeface="微软雅黑" panose="020B0503020204020204" pitchFamily="34" charset="-122"/>
                <a:ea typeface="微软雅黑" panose="020B0503020204020204" pitchFamily="34" charset="-122"/>
              </a:rPr>
              <a:t>WWW</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68" name="Rectangle 8"/>
          <p:cNvSpPr>
            <a:spLocks noChangeArrowheads="1"/>
          </p:cNvSpPr>
          <p:nvPr/>
        </p:nvSpPr>
        <p:spPr bwMode="auto">
          <a:xfrm>
            <a:off x="2700573" y="779699"/>
            <a:ext cx="5756006" cy="3323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统一</a:t>
            </a:r>
            <a:r>
              <a:rPr lang="zh-CN" altLang="en-US" sz="2000" b="1" dirty="0">
                <a:solidFill>
                  <a:schemeClr val="bg1"/>
                </a:solidFill>
                <a:latin typeface="微软雅黑" panose="020B0503020204020204" pitchFamily="34" charset="-122"/>
                <a:ea typeface="微软雅黑" panose="020B0503020204020204" pitchFamily="34" charset="-122"/>
              </a:rPr>
              <a:t>资源定位符 </a:t>
            </a:r>
            <a:r>
              <a:rPr lang="en-US" altLang="zh-CN" sz="2000" b="1" dirty="0">
                <a:solidFill>
                  <a:schemeClr val="bg1"/>
                </a:solidFill>
                <a:latin typeface="微软雅黑" panose="020B0503020204020204" pitchFamily="34" charset="-122"/>
                <a:ea typeface="微软雅黑" panose="020B0503020204020204" pitchFamily="34" charset="-122"/>
              </a:rPr>
              <a:t>URL</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超文本</a:t>
            </a:r>
            <a:r>
              <a:rPr lang="zh-CN" altLang="en-US" sz="2000" b="1" dirty="0">
                <a:solidFill>
                  <a:schemeClr val="bg1"/>
                </a:solidFill>
                <a:latin typeface="微软雅黑" panose="020B0503020204020204" pitchFamily="34" charset="-122"/>
                <a:ea typeface="微软雅黑" panose="020B0503020204020204" pitchFamily="34" charset="-122"/>
              </a:rPr>
              <a:t>传送协议 </a:t>
            </a:r>
            <a:r>
              <a:rPr lang="en-US" altLang="zh-CN" sz="2000" b="1" dirty="0">
                <a:solidFill>
                  <a:schemeClr val="bg1"/>
                </a:solidFill>
                <a:latin typeface="微软雅黑" panose="020B0503020204020204" pitchFamily="34" charset="-122"/>
                <a:ea typeface="微软雅黑" panose="020B0503020204020204" pitchFamily="34" charset="-122"/>
              </a:rPr>
              <a:t>HTTP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的文档</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的信息检索</a:t>
            </a:r>
            <a:r>
              <a:rPr lang="zh-CN" altLang="en-US" sz="2000" b="1" dirty="0" smtClean="0">
                <a:solidFill>
                  <a:schemeClr val="bg1"/>
                </a:solidFill>
                <a:latin typeface="微软雅黑" panose="020B0503020204020204" pitchFamily="34" charset="-122"/>
                <a:ea typeface="微软雅黑" panose="020B0503020204020204" pitchFamily="34" charset="-122"/>
              </a:rPr>
              <a:t>系统</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博</a:t>
            </a:r>
            <a:r>
              <a:rPr lang="zh-CN" altLang="en-US" sz="2000" b="1" dirty="0">
                <a:solidFill>
                  <a:schemeClr val="bg1"/>
                </a:solidFill>
                <a:latin typeface="微软雅黑" panose="020B0503020204020204" pitchFamily="34" charset="-122"/>
                <a:ea typeface="微软雅黑" panose="020B0503020204020204" pitchFamily="34" charset="-122"/>
              </a:rPr>
              <a:t>客和微博</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6.4.7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社交网站</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10" name="Rectangle 6"/>
          <p:cNvSpPr>
            <a:spLocks noChangeArrowheads="1"/>
          </p:cNvSpPr>
          <p:nvPr/>
        </p:nvSpPr>
        <p:spPr bwMode="auto">
          <a:xfrm>
            <a:off x="3449740" y="605359"/>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smtClean="0">
                <a:solidFill>
                  <a:schemeClr val="bg1"/>
                </a:solidFill>
                <a:latin typeface="微软雅黑" panose="020B0503020204020204" pitchFamily="34" charset="-122"/>
                <a:ea typeface="微软雅黑" panose="020B0503020204020204" pitchFamily="34" charset="-122"/>
              </a:rPr>
              <a:t>6.4.1  </a:t>
            </a:r>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11" name="Rectangle 8"/>
          <p:cNvSpPr>
            <a:spLocks noChangeArrowheads="1"/>
          </p:cNvSpPr>
          <p:nvPr/>
        </p:nvSpPr>
        <p:spPr bwMode="auto">
          <a:xfrm>
            <a:off x="556963" y="1115519"/>
            <a:ext cx="804877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万维网 </a:t>
            </a:r>
            <a:r>
              <a:rPr lang="en-US" altLang="zh-CN" sz="2000" b="1" dirty="0">
                <a:solidFill>
                  <a:srgbClr val="C00000"/>
                </a:solidFill>
                <a:latin typeface="微软雅黑" panose="020B0503020204020204" pitchFamily="34" charset="-122"/>
                <a:ea typeface="微软雅黑" panose="020B0503020204020204" pitchFamily="34" charset="-122"/>
              </a:rPr>
              <a:t>WWW </a:t>
            </a:r>
            <a:r>
              <a:rPr lang="en-US" altLang="zh-CN" sz="2000" b="1" dirty="0">
                <a:latin typeface="微软雅黑" panose="020B0503020204020204" pitchFamily="34" charset="-122"/>
                <a:ea typeface="微软雅黑" panose="020B0503020204020204" pitchFamily="34" charset="-122"/>
              </a:rPr>
              <a:t>(World Wide Web) </a:t>
            </a:r>
            <a:r>
              <a:rPr lang="zh-CN" altLang="en-US" sz="2000" b="1" dirty="0">
                <a:latin typeface="微软雅黑" panose="020B0503020204020204" pitchFamily="34" charset="-122"/>
                <a:ea typeface="微软雅黑" panose="020B0503020204020204" pitchFamily="34" charset="-122"/>
              </a:rPr>
              <a:t>并非某种特殊的计算机网络。</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万维网是一个大规模的、联机式的</a:t>
            </a:r>
            <a:r>
              <a:rPr lang="zh-CN" altLang="en-US" sz="2000" b="1" dirty="0">
                <a:solidFill>
                  <a:srgbClr val="0000FF"/>
                </a:solidFill>
                <a:latin typeface="微软雅黑" panose="020B0503020204020204" pitchFamily="34" charset="-122"/>
                <a:ea typeface="微软雅黑" panose="020B0503020204020204" pitchFamily="34" charset="-122"/>
              </a:rPr>
              <a:t>信息储藏所</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万维网用链接的方法能非常方便地从互联网上的一个站点访问另一个站点，从而主动地按需获取丰富的信息。</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这种访问方式称为“</a:t>
            </a:r>
            <a:r>
              <a:rPr lang="zh-CN" altLang="en-US" sz="2000" b="1" dirty="0">
                <a:solidFill>
                  <a:srgbClr val="C00000"/>
                </a:solidFill>
                <a:latin typeface="微软雅黑" panose="020B0503020204020204" pitchFamily="34" charset="-122"/>
                <a:ea typeface="微软雅黑" panose="020B0503020204020204" pitchFamily="34" charset="-122"/>
              </a:rPr>
              <a:t>链接</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圆角矩形 13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Text Box 5"/>
          <p:cNvSpPr txBox="1">
            <a:spLocks noChangeArrowheads="1"/>
          </p:cNvSpPr>
          <p:nvPr/>
        </p:nvSpPr>
        <p:spPr bwMode="auto">
          <a:xfrm>
            <a:off x="3191972" y="2554344"/>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39" name="Text Box 6"/>
          <p:cNvSpPr txBox="1">
            <a:spLocks noChangeArrowheads="1"/>
          </p:cNvSpPr>
          <p:nvPr/>
        </p:nvSpPr>
        <p:spPr bwMode="auto">
          <a:xfrm>
            <a:off x="1675400" y="110212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sp>
        <p:nvSpPr>
          <p:cNvPr id="140" name="Text Box 7"/>
          <p:cNvSpPr txBox="1">
            <a:spLocks noChangeArrowheads="1"/>
          </p:cNvSpPr>
          <p:nvPr/>
        </p:nvSpPr>
        <p:spPr bwMode="auto">
          <a:xfrm>
            <a:off x="4167703" y="101682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41" name="Text Box 8"/>
          <p:cNvSpPr txBox="1">
            <a:spLocks noChangeArrowheads="1"/>
          </p:cNvSpPr>
          <p:nvPr/>
        </p:nvSpPr>
        <p:spPr bwMode="auto">
          <a:xfrm>
            <a:off x="5575858" y="2502032"/>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63" name="Text Box 9"/>
          <p:cNvSpPr txBox="1">
            <a:spLocks noChangeArrowheads="1"/>
          </p:cNvSpPr>
          <p:nvPr/>
        </p:nvSpPr>
        <p:spPr bwMode="auto">
          <a:xfrm>
            <a:off x="6838642" y="1132825"/>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74" name="Text Box 11"/>
          <p:cNvSpPr txBox="1">
            <a:spLocks noChangeArrowheads="1"/>
          </p:cNvSpPr>
          <p:nvPr/>
        </p:nvSpPr>
        <p:spPr bwMode="auto">
          <a:xfrm>
            <a:off x="1708527" y="2384317"/>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zh-CN" altLang="en-US" sz="1200" b="1" dirty="0">
                <a:latin typeface="微软雅黑" panose="020B0503020204020204" pitchFamily="34" charset="-122"/>
                <a:ea typeface="微软雅黑" panose="020B0503020204020204" pitchFamily="34" charset="-122"/>
              </a:rPr>
              <a:t>站点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179" name="Text Box 16"/>
          <p:cNvSpPr txBox="1">
            <a:spLocks noChangeArrowheads="1"/>
          </p:cNvSpPr>
          <p:nvPr/>
        </p:nvSpPr>
        <p:spPr bwMode="auto">
          <a:xfrm>
            <a:off x="6897913" y="2418894"/>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zh-CN" altLang="en-US" sz="1200" b="1" dirty="0">
                <a:latin typeface="微软雅黑" panose="020B0503020204020204" pitchFamily="34" charset="-122"/>
                <a:ea typeface="微软雅黑" panose="020B0503020204020204" pitchFamily="34" charset="-122"/>
              </a:rPr>
              <a:t>站点 </a:t>
            </a:r>
            <a:r>
              <a:rPr kumimoji="1" lang="en-US" altLang="zh-CN" sz="1200" b="1" dirty="0">
                <a:latin typeface="微软雅黑" panose="020B0503020204020204" pitchFamily="34" charset="-122"/>
                <a:ea typeface="微软雅黑" panose="020B0503020204020204" pitchFamily="34" charset="-122"/>
              </a:rPr>
              <a:t>C</a:t>
            </a:r>
            <a:endParaRPr kumimoji="1" lang="en-US" altLang="zh-CN" sz="1200" b="1" dirty="0">
              <a:latin typeface="微软雅黑" panose="020B0503020204020204" pitchFamily="34" charset="-122"/>
              <a:ea typeface="微软雅黑" panose="020B0503020204020204" pitchFamily="34" charset="-122"/>
            </a:endParaRPr>
          </a:p>
        </p:txBody>
      </p:sp>
      <p:sp>
        <p:nvSpPr>
          <p:cNvPr id="180" name="Text Box 17"/>
          <p:cNvSpPr txBox="1">
            <a:spLocks noChangeArrowheads="1"/>
          </p:cNvSpPr>
          <p:nvPr/>
        </p:nvSpPr>
        <p:spPr bwMode="auto">
          <a:xfrm>
            <a:off x="5409096" y="3764500"/>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万维网站点 </a:t>
            </a:r>
            <a:r>
              <a:rPr kumimoji="1" lang="en-US" altLang="zh-CN" sz="1200" b="1" dirty="0">
                <a:latin typeface="微软雅黑" panose="020B0503020204020204" pitchFamily="34" charset="-122"/>
                <a:ea typeface="微软雅黑" panose="020B0503020204020204" pitchFamily="34" charset="-122"/>
              </a:rPr>
              <a:t>E</a:t>
            </a:r>
            <a:endParaRPr kumimoji="1" lang="en-US" altLang="zh-CN" sz="1200" b="1" dirty="0">
              <a:latin typeface="微软雅黑" panose="020B0503020204020204" pitchFamily="34" charset="-122"/>
              <a:ea typeface="微软雅黑" panose="020B0503020204020204" pitchFamily="34" charset="-122"/>
            </a:endParaRPr>
          </a:p>
        </p:txBody>
      </p:sp>
      <p:sp>
        <p:nvSpPr>
          <p:cNvPr id="181" name="Text Box 18"/>
          <p:cNvSpPr txBox="1">
            <a:spLocks noChangeArrowheads="1"/>
          </p:cNvSpPr>
          <p:nvPr/>
        </p:nvSpPr>
        <p:spPr bwMode="auto">
          <a:xfrm>
            <a:off x="3003803" y="3818654"/>
            <a:ext cx="112242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万维网站点 </a:t>
            </a:r>
            <a:r>
              <a:rPr kumimoji="1" lang="en-US" altLang="zh-CN" sz="1200" b="1" dirty="0">
                <a:latin typeface="微软雅黑" panose="020B0503020204020204" pitchFamily="34" charset="-122"/>
                <a:ea typeface="微软雅黑" panose="020B0503020204020204" pitchFamily="34" charset="-122"/>
              </a:rPr>
              <a:t>D</a:t>
            </a:r>
            <a:endParaRPr kumimoji="1" lang="en-US" altLang="zh-CN" sz="1200" b="1" dirty="0">
              <a:latin typeface="微软雅黑" panose="020B0503020204020204" pitchFamily="34" charset="-122"/>
              <a:ea typeface="微软雅黑" panose="020B0503020204020204" pitchFamily="34" charset="-122"/>
            </a:endParaRPr>
          </a:p>
        </p:txBody>
      </p:sp>
      <p:sp>
        <p:nvSpPr>
          <p:cNvPr id="182" name="Text Box 19"/>
          <p:cNvSpPr txBox="1">
            <a:spLocks noChangeArrowheads="1"/>
          </p:cNvSpPr>
          <p:nvPr/>
        </p:nvSpPr>
        <p:spPr bwMode="auto">
          <a:xfrm>
            <a:off x="3992573" y="2262793"/>
            <a:ext cx="11063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万维网站点 </a:t>
            </a:r>
            <a:r>
              <a:rPr kumimoji="1" lang="en-US" altLang="zh-CN" sz="1200" b="1">
                <a:latin typeface="微软雅黑" panose="020B0503020204020204" pitchFamily="34" charset="-122"/>
                <a:ea typeface="微软雅黑" panose="020B0503020204020204" pitchFamily="34" charset="-122"/>
              </a:rPr>
              <a:t>B</a:t>
            </a:r>
            <a:endParaRPr kumimoji="1" lang="en-US" altLang="zh-CN" sz="1200" b="1">
              <a:latin typeface="微软雅黑" panose="020B0503020204020204" pitchFamily="34" charset="-122"/>
              <a:ea typeface="微软雅黑" panose="020B0503020204020204" pitchFamily="34" charset="-122"/>
            </a:endParaRPr>
          </a:p>
        </p:txBody>
      </p:sp>
      <p:grpSp>
        <p:nvGrpSpPr>
          <p:cNvPr id="183" name="Group 53"/>
          <p:cNvGrpSpPr/>
          <p:nvPr/>
        </p:nvGrpSpPr>
        <p:grpSpPr bwMode="auto">
          <a:xfrm>
            <a:off x="2087328" y="1192347"/>
            <a:ext cx="2344463" cy="358225"/>
            <a:chOff x="833" y="1417"/>
            <a:chExt cx="1903" cy="315"/>
          </a:xfrm>
        </p:grpSpPr>
        <p:sp>
          <p:nvSpPr>
            <p:cNvPr id="184" name="Line 25"/>
            <p:cNvSpPr>
              <a:spLocks noChangeShapeType="1"/>
            </p:cNvSpPr>
            <p:nvPr/>
          </p:nvSpPr>
          <p:spPr bwMode="auto">
            <a:xfrm flipV="1">
              <a:off x="833" y="1564"/>
              <a:ext cx="1903" cy="168"/>
            </a:xfrm>
            <a:prstGeom prst="line">
              <a:avLst/>
            </a:prstGeom>
            <a:noFill/>
            <a:ln w="38100">
              <a:solidFill>
                <a:srgbClr val="CC00CC"/>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85" name="Text Box 26"/>
            <p:cNvSpPr txBox="1">
              <a:spLocks noChangeArrowheads="1"/>
            </p:cNvSpPr>
            <p:nvPr/>
          </p:nvSpPr>
          <p:spPr bwMode="auto">
            <a:xfrm rot="21377422">
              <a:off x="1550" y="1417"/>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86" name="Group 55"/>
          <p:cNvGrpSpPr/>
          <p:nvPr/>
        </p:nvGrpSpPr>
        <p:grpSpPr bwMode="auto">
          <a:xfrm>
            <a:off x="3495485" y="1602872"/>
            <a:ext cx="845140" cy="1299839"/>
            <a:chOff x="1976" y="1778"/>
            <a:chExt cx="686" cy="1143"/>
          </a:xfrm>
        </p:grpSpPr>
        <p:sp>
          <p:nvSpPr>
            <p:cNvPr id="187" name="Line 22"/>
            <p:cNvSpPr>
              <a:spLocks noChangeShapeType="1"/>
            </p:cNvSpPr>
            <p:nvPr/>
          </p:nvSpPr>
          <p:spPr bwMode="auto">
            <a:xfrm flipH="1">
              <a:off x="1976" y="1778"/>
              <a:ext cx="686" cy="1143"/>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88" name="Text Box 27"/>
            <p:cNvSpPr txBox="1">
              <a:spLocks noChangeArrowheads="1"/>
            </p:cNvSpPr>
            <p:nvPr/>
          </p:nvSpPr>
          <p:spPr bwMode="auto">
            <a:xfrm rot="18143965">
              <a:off x="2090" y="1960"/>
              <a:ext cx="568"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89" name="Group 54"/>
          <p:cNvGrpSpPr/>
          <p:nvPr/>
        </p:nvGrpSpPr>
        <p:grpSpPr bwMode="auto">
          <a:xfrm>
            <a:off x="2130448" y="1725689"/>
            <a:ext cx="3737837" cy="1457910"/>
            <a:chOff x="868" y="1886"/>
            <a:chExt cx="3034" cy="1282"/>
          </a:xfrm>
        </p:grpSpPr>
        <p:sp>
          <p:nvSpPr>
            <p:cNvPr id="190" name="Line 20"/>
            <p:cNvSpPr>
              <a:spLocks noChangeShapeType="1"/>
            </p:cNvSpPr>
            <p:nvPr/>
          </p:nvSpPr>
          <p:spPr bwMode="auto">
            <a:xfrm>
              <a:off x="868" y="1886"/>
              <a:ext cx="3034" cy="1282"/>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1" name="Text Box 28"/>
            <p:cNvSpPr txBox="1">
              <a:spLocks noChangeArrowheads="1"/>
            </p:cNvSpPr>
            <p:nvPr/>
          </p:nvSpPr>
          <p:spPr bwMode="auto">
            <a:xfrm rot="1357240">
              <a:off x="1504" y="2030"/>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2" name="Group 58"/>
          <p:cNvGrpSpPr/>
          <p:nvPr/>
        </p:nvGrpSpPr>
        <p:grpSpPr bwMode="auto">
          <a:xfrm>
            <a:off x="3691370" y="1725689"/>
            <a:ext cx="3379329" cy="1486341"/>
            <a:chOff x="2135" y="1886"/>
            <a:chExt cx="2743" cy="1307"/>
          </a:xfrm>
        </p:grpSpPr>
        <p:sp>
          <p:nvSpPr>
            <p:cNvPr id="193" name="Line 21"/>
            <p:cNvSpPr>
              <a:spLocks noChangeShapeType="1"/>
            </p:cNvSpPr>
            <p:nvPr/>
          </p:nvSpPr>
          <p:spPr bwMode="auto">
            <a:xfrm flipV="1">
              <a:off x="2135" y="1886"/>
              <a:ext cx="2743" cy="1307"/>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4" name="Text Box 29"/>
            <p:cNvSpPr txBox="1">
              <a:spLocks noChangeArrowheads="1"/>
            </p:cNvSpPr>
            <p:nvPr/>
          </p:nvSpPr>
          <p:spPr bwMode="auto">
            <a:xfrm rot="20118828">
              <a:off x="3664" y="209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5" name="Group 57"/>
          <p:cNvGrpSpPr/>
          <p:nvPr/>
        </p:nvGrpSpPr>
        <p:grpSpPr bwMode="auto">
          <a:xfrm>
            <a:off x="1935794" y="1788235"/>
            <a:ext cx="1495627" cy="1299837"/>
            <a:chOff x="710" y="1941"/>
            <a:chExt cx="1214" cy="1143"/>
          </a:xfrm>
        </p:grpSpPr>
        <p:sp>
          <p:nvSpPr>
            <p:cNvPr id="196" name="Line 24"/>
            <p:cNvSpPr>
              <a:spLocks noChangeShapeType="1"/>
            </p:cNvSpPr>
            <p:nvPr/>
          </p:nvSpPr>
          <p:spPr bwMode="auto">
            <a:xfrm flipH="1" flipV="1">
              <a:off x="710" y="1941"/>
              <a:ext cx="1214" cy="1143"/>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7" name="Text Box 30"/>
            <p:cNvSpPr txBox="1">
              <a:spLocks noChangeArrowheads="1"/>
            </p:cNvSpPr>
            <p:nvPr/>
          </p:nvSpPr>
          <p:spPr bwMode="auto">
            <a:xfrm rot="2570439">
              <a:off x="1202" y="2383"/>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8" name="Group 56"/>
          <p:cNvGrpSpPr/>
          <p:nvPr/>
        </p:nvGrpSpPr>
        <p:grpSpPr bwMode="auto">
          <a:xfrm>
            <a:off x="4600574" y="1788235"/>
            <a:ext cx="1170384" cy="1114471"/>
            <a:chOff x="2873" y="1941"/>
            <a:chExt cx="950" cy="980"/>
          </a:xfrm>
        </p:grpSpPr>
        <p:sp>
          <p:nvSpPr>
            <p:cNvPr id="199" name="Line 23"/>
            <p:cNvSpPr>
              <a:spLocks noChangeShapeType="1"/>
            </p:cNvSpPr>
            <p:nvPr/>
          </p:nvSpPr>
          <p:spPr bwMode="auto">
            <a:xfrm>
              <a:off x="2873" y="1941"/>
              <a:ext cx="950" cy="980"/>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0" name="Text Box 31"/>
            <p:cNvSpPr txBox="1">
              <a:spLocks noChangeArrowheads="1"/>
            </p:cNvSpPr>
            <p:nvPr/>
          </p:nvSpPr>
          <p:spPr bwMode="auto">
            <a:xfrm rot="2686426">
              <a:off x="3064" y="211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201" name="Group 34"/>
          <p:cNvGrpSpPr/>
          <p:nvPr/>
        </p:nvGrpSpPr>
        <p:grpSpPr bwMode="auto">
          <a:xfrm>
            <a:off x="4262172" y="1333100"/>
            <a:ext cx="322607" cy="277280"/>
            <a:chOff x="806" y="3124"/>
            <a:chExt cx="237" cy="214"/>
          </a:xfrm>
        </p:grpSpPr>
        <p:sp>
          <p:nvSpPr>
            <p:cNvPr id="202"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3"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04" name="Group 37"/>
          <p:cNvGrpSpPr/>
          <p:nvPr/>
        </p:nvGrpSpPr>
        <p:grpSpPr bwMode="auto">
          <a:xfrm>
            <a:off x="3477635" y="3116986"/>
            <a:ext cx="323170" cy="277280"/>
            <a:chOff x="800" y="3198"/>
            <a:chExt cx="239" cy="214"/>
          </a:xfrm>
        </p:grpSpPr>
        <p:sp>
          <p:nvSpPr>
            <p:cNvPr id="205"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6" name="Text Box 39"/>
            <p:cNvSpPr txBox="1">
              <a:spLocks noChangeArrowheads="1"/>
            </p:cNvSpPr>
            <p:nvPr/>
          </p:nvSpPr>
          <p:spPr bwMode="auto">
            <a:xfrm>
              <a:off x="800" y="3198"/>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07" name="Group 40"/>
          <p:cNvGrpSpPr/>
          <p:nvPr/>
        </p:nvGrpSpPr>
        <p:grpSpPr bwMode="auto">
          <a:xfrm>
            <a:off x="1864300" y="1409229"/>
            <a:ext cx="323170" cy="277280"/>
            <a:chOff x="796" y="3199"/>
            <a:chExt cx="239" cy="214"/>
          </a:xfrm>
        </p:grpSpPr>
        <p:sp>
          <p:nvSpPr>
            <p:cNvPr id="20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9"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0" name="Group 43"/>
          <p:cNvGrpSpPr/>
          <p:nvPr/>
        </p:nvGrpSpPr>
        <p:grpSpPr bwMode="auto">
          <a:xfrm>
            <a:off x="1922182" y="1565735"/>
            <a:ext cx="322607" cy="277611"/>
            <a:chOff x="796" y="3199"/>
            <a:chExt cx="237" cy="215"/>
          </a:xfrm>
        </p:grpSpPr>
        <p:sp>
          <p:nvSpPr>
            <p:cNvPr id="211"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2"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3" name="Group 46"/>
          <p:cNvGrpSpPr/>
          <p:nvPr/>
        </p:nvGrpSpPr>
        <p:grpSpPr bwMode="auto">
          <a:xfrm>
            <a:off x="4365895" y="1585219"/>
            <a:ext cx="323170" cy="277611"/>
            <a:chOff x="800" y="3194"/>
            <a:chExt cx="239" cy="215"/>
          </a:xfrm>
        </p:grpSpPr>
        <p:sp>
          <p:nvSpPr>
            <p:cNvPr id="21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5"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6" name="Group 49"/>
          <p:cNvGrpSpPr/>
          <p:nvPr/>
        </p:nvGrpSpPr>
        <p:grpSpPr bwMode="auto">
          <a:xfrm>
            <a:off x="3298308" y="2994169"/>
            <a:ext cx="322607" cy="277280"/>
            <a:chOff x="796" y="3199"/>
            <a:chExt cx="237" cy="214"/>
          </a:xfrm>
        </p:grpSpPr>
        <p:sp>
          <p:nvSpPr>
            <p:cNvPr id="217"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8" name="Text Box 51"/>
            <p:cNvSpPr txBox="1">
              <a:spLocks noChangeArrowheads="1"/>
            </p:cNvSpPr>
            <p:nvPr/>
          </p:nvSpPr>
          <p:spPr bwMode="auto">
            <a:xfrm>
              <a:off x="796" y="3199"/>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pic>
        <p:nvPicPr>
          <p:cNvPr id="219"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08281" y="3351137"/>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283968" y="18253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961234" y="19550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697515" y="3299257"/>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56" name="Rectangle 6"/>
          <p:cNvSpPr>
            <a:spLocks noChangeArrowheads="1"/>
          </p:cNvSpPr>
          <p:nvPr/>
        </p:nvSpPr>
        <p:spPr bwMode="auto">
          <a:xfrm>
            <a:off x="3449740" y="605358"/>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smtClean="0">
                <a:solidFill>
                  <a:schemeClr val="bg1"/>
                </a:solidFill>
                <a:latin typeface="微软雅黑" panose="020B0503020204020204" pitchFamily="34" charset="-122"/>
                <a:ea typeface="微软雅黑" panose="020B0503020204020204" pitchFamily="34" charset="-122"/>
              </a:rPr>
              <a:t>6.4.1  </a:t>
            </a:r>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矩形 1"/>
          <p:cNvSpPr/>
          <p:nvPr/>
        </p:nvSpPr>
        <p:spPr>
          <a:xfrm>
            <a:off x="660953" y="2999098"/>
            <a:ext cx="2504428" cy="1220847"/>
          </a:xfrm>
          <a:prstGeom prst="rect">
            <a:avLst/>
          </a:prstGeom>
        </p:spPr>
        <p:txBody>
          <a:bodyPr wrap="square">
            <a:spAutoFit/>
          </a:bodyPr>
          <a:lstStyle/>
          <a:p>
            <a:pPr>
              <a:lnSpc>
                <a:spcPts val="2200"/>
              </a:lnSpc>
            </a:pPr>
            <a:r>
              <a:rPr lang="zh-CN" altLang="en-US" sz="1400" b="1" dirty="0">
                <a:solidFill>
                  <a:srgbClr val="000099"/>
                </a:solidFill>
                <a:latin typeface="微软雅黑" panose="020B0503020204020204" pitchFamily="34" charset="-122"/>
                <a:ea typeface="微软雅黑" panose="020B0503020204020204" pitchFamily="34" charset="-122"/>
              </a:rPr>
              <a:t>万维网 </a:t>
            </a:r>
            <a:r>
              <a:rPr lang="en-US" altLang="zh-CN" sz="1400" b="1" dirty="0">
                <a:solidFill>
                  <a:srgbClr val="000099"/>
                </a:solidFill>
                <a:latin typeface="微软雅黑" panose="020B0503020204020204" pitchFamily="34" charset="-122"/>
                <a:ea typeface="微软雅黑" panose="020B0503020204020204" pitchFamily="34" charset="-122"/>
              </a:rPr>
              <a:t>WWW (World Wide Web</a:t>
            </a:r>
            <a:r>
              <a:rPr lang="en-US" altLang="zh-CN" sz="1400" b="1" dirty="0" smtClean="0">
                <a:solidFill>
                  <a:srgbClr val="000099"/>
                </a:solidFill>
                <a:latin typeface="微软雅黑" panose="020B0503020204020204" pitchFamily="34" charset="-122"/>
                <a:ea typeface="微软雅黑" panose="020B0503020204020204" pitchFamily="34" charset="-122"/>
              </a:rPr>
              <a:t>) </a:t>
            </a:r>
            <a:r>
              <a:rPr lang="zh-CN" altLang="en-US" sz="1400" b="1" dirty="0" smtClean="0">
                <a:solidFill>
                  <a:srgbClr val="000099"/>
                </a:solidFill>
                <a:latin typeface="微软雅黑" panose="020B0503020204020204" pitchFamily="34" charset="-122"/>
                <a:ea typeface="微软雅黑" panose="020B0503020204020204" pitchFamily="34" charset="-122"/>
              </a:rPr>
              <a:t>是</a:t>
            </a:r>
            <a:r>
              <a:rPr lang="zh-CN" altLang="en-US" sz="1400" b="1" dirty="0">
                <a:solidFill>
                  <a:srgbClr val="000099"/>
                </a:solidFill>
                <a:latin typeface="微软雅黑" panose="020B0503020204020204" pitchFamily="34" charset="-122"/>
                <a:ea typeface="微软雅黑" panose="020B0503020204020204" pitchFamily="34" charset="-122"/>
              </a:rPr>
              <a:t>一个大规模的、联机式的信息储藏</a:t>
            </a:r>
            <a:r>
              <a:rPr lang="zh-CN" altLang="en-US" sz="1400" b="1" dirty="0" smtClean="0">
                <a:solidFill>
                  <a:srgbClr val="000099"/>
                </a:solidFill>
                <a:latin typeface="微软雅黑" panose="020B0503020204020204" pitchFamily="34" charset="-122"/>
                <a:ea typeface="微软雅黑" panose="020B0503020204020204" pitchFamily="34" charset="-122"/>
              </a:rPr>
              <a:t>所</a:t>
            </a:r>
            <a:r>
              <a:rPr lang="zh-CN" altLang="en-US" sz="1400" b="1" dirty="0">
                <a:solidFill>
                  <a:srgbClr val="000099"/>
                </a:solidFill>
                <a:latin typeface="微软雅黑" panose="020B0503020204020204" pitchFamily="34" charset="-122"/>
                <a:ea typeface="微软雅黑" panose="020B0503020204020204" pitchFamily="34" charset="-122"/>
              </a:rPr>
              <a:t>，</a:t>
            </a:r>
            <a:r>
              <a:rPr lang="zh-CN" altLang="en-US" sz="1400" b="1" dirty="0" smtClean="0">
                <a:solidFill>
                  <a:srgbClr val="000099"/>
                </a:solidFill>
                <a:latin typeface="微软雅黑" panose="020B0503020204020204" pitchFamily="34" charset="-122"/>
                <a:ea typeface="微软雅黑" panose="020B0503020204020204" pitchFamily="34" charset="-122"/>
              </a:rPr>
              <a:t>并非</a:t>
            </a:r>
            <a:r>
              <a:rPr lang="zh-CN" altLang="en-US" sz="1400" b="1" dirty="0">
                <a:solidFill>
                  <a:srgbClr val="000099"/>
                </a:solidFill>
                <a:latin typeface="微软雅黑" panose="020B0503020204020204" pitchFamily="34" charset="-122"/>
                <a:ea typeface="微软雅黑" panose="020B0503020204020204" pitchFamily="34" charset="-122"/>
              </a:rPr>
              <a:t>某种特殊的计算机网络</a:t>
            </a:r>
            <a:r>
              <a:rPr lang="zh-CN" altLang="en-US" sz="1400" b="1" dirty="0" smtClean="0">
                <a:solidFill>
                  <a:srgbClr val="000099"/>
                </a:solidFill>
                <a:latin typeface="微软雅黑" panose="020B0503020204020204" pitchFamily="34" charset="-122"/>
                <a:ea typeface="微软雅黑" panose="020B0503020204020204" pitchFamily="34" charset="-122"/>
              </a:rPr>
              <a:t>。</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 name="矩形 2"/>
          <p:cNvSpPr/>
          <p:nvPr/>
        </p:nvSpPr>
        <p:spPr>
          <a:xfrm>
            <a:off x="6605246" y="3278713"/>
            <a:ext cx="1792760" cy="656590"/>
          </a:xfrm>
          <a:prstGeom prst="rect">
            <a:avLst/>
          </a:prstGeom>
          <a:noFill/>
        </p:spPr>
        <p:txBody>
          <a:bodyPr wrap="square">
            <a:spAutoFit/>
          </a:bodyPr>
          <a:lstStyle/>
          <a:p>
            <a:pPr>
              <a:lnSpc>
                <a:spcPts val="2200"/>
              </a:lnSpc>
            </a:pPr>
            <a:r>
              <a:rPr lang="zh-CN" altLang="en-US" sz="1400" b="1" dirty="0" smtClean="0">
                <a:solidFill>
                  <a:srgbClr val="C00000"/>
                </a:solidFill>
                <a:latin typeface="微软雅黑" panose="020B0503020204020204" pitchFamily="34" charset="-122"/>
                <a:ea typeface="微软雅黑" panose="020B0503020204020204" pitchFamily="34" charset="-122"/>
              </a:rPr>
              <a:t>访问方法：链接。</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提供分布式</a:t>
            </a:r>
            <a:r>
              <a:rPr lang="zh-CN" altLang="en-US" sz="1400" b="1" dirty="0" smtClean="0">
                <a:solidFill>
                  <a:srgbClr val="C00000"/>
                </a:solidFill>
                <a:latin typeface="微软雅黑" panose="020B0503020204020204" pitchFamily="34" charset="-122"/>
                <a:ea typeface="微软雅黑" panose="020B0503020204020204" pitchFamily="34" charset="-122"/>
              </a:rPr>
              <a:t>服务。</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wipe(left)">
                                      <p:cBhvr>
                                        <p:cTn id="7" dur="1500"/>
                                        <p:tgtEl>
                                          <p:spTgt spid="183"/>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89"/>
                                        </p:tgtEl>
                                        <p:attrNameLst>
                                          <p:attrName>style.visibility</p:attrName>
                                        </p:attrNameLst>
                                      </p:cBhvr>
                                      <p:to>
                                        <p:strVal val="visible"/>
                                      </p:to>
                                    </p:set>
                                    <p:animEffect transition="in" filter="wipe(left)">
                                      <p:cBhvr>
                                        <p:cTn id="11" dur="1500"/>
                                        <p:tgtEl>
                                          <p:spTgt spid="189"/>
                                        </p:tgtEl>
                                      </p:cBhvr>
                                    </p:animEffect>
                                  </p:childTnLst>
                                </p:cTn>
                              </p:par>
                            </p:childTnLst>
                          </p:cTn>
                        </p:par>
                        <p:par>
                          <p:cTn id="12" fill="hold">
                            <p:stCondLst>
                              <p:cond delay="3000"/>
                            </p:stCondLst>
                            <p:childTnLst>
                              <p:par>
                                <p:cTn id="13" presetID="22" presetClass="entr" presetSubtype="1" fill="hold" nodeType="after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up)">
                                      <p:cBhvr>
                                        <p:cTn id="15" dur="1500"/>
                                        <p:tgtEl>
                                          <p:spTgt spid="186"/>
                                        </p:tgtEl>
                                      </p:cBhvr>
                                    </p:animEffect>
                                  </p:childTnLst>
                                </p:cTn>
                              </p:par>
                            </p:childTnLst>
                          </p:cTn>
                        </p:par>
                        <p:par>
                          <p:cTn id="16" fill="hold">
                            <p:stCondLst>
                              <p:cond delay="4500"/>
                            </p:stCondLst>
                            <p:childTnLst>
                              <p:par>
                                <p:cTn id="17" presetID="22" presetClass="entr" presetSubtype="1" fill="hold"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up)">
                                      <p:cBhvr>
                                        <p:cTn id="19" dur="1500"/>
                                        <p:tgtEl>
                                          <p:spTgt spid="198"/>
                                        </p:tgtEl>
                                      </p:cBhvr>
                                    </p:animEffect>
                                  </p:childTnLst>
                                </p:cTn>
                              </p:par>
                            </p:childTnLst>
                          </p:cTn>
                        </p:par>
                        <p:par>
                          <p:cTn id="20" fill="hold">
                            <p:stCondLst>
                              <p:cond delay="6000"/>
                            </p:stCondLst>
                            <p:childTnLst>
                              <p:par>
                                <p:cTn id="21" presetID="22" presetClass="entr" presetSubtype="2" fill="hold" nodeType="afterEffect">
                                  <p:stCondLst>
                                    <p:cond delay="0"/>
                                  </p:stCondLst>
                                  <p:childTnLst>
                                    <p:set>
                                      <p:cBhvr>
                                        <p:cTn id="22" dur="1" fill="hold">
                                          <p:stCondLst>
                                            <p:cond delay="0"/>
                                          </p:stCondLst>
                                        </p:cTn>
                                        <p:tgtEl>
                                          <p:spTgt spid="195"/>
                                        </p:tgtEl>
                                        <p:attrNameLst>
                                          <p:attrName>style.visibility</p:attrName>
                                        </p:attrNameLst>
                                      </p:cBhvr>
                                      <p:to>
                                        <p:strVal val="visible"/>
                                      </p:to>
                                    </p:set>
                                    <p:animEffect transition="in" filter="wipe(right)">
                                      <p:cBhvr>
                                        <p:cTn id="23" dur="1500"/>
                                        <p:tgtEl>
                                          <p:spTgt spid="195"/>
                                        </p:tgtEl>
                                      </p:cBhvr>
                                    </p:animEffect>
                                  </p:childTnLst>
                                </p:cTn>
                              </p:par>
                            </p:childTnLst>
                          </p:cTn>
                        </p:par>
                        <p:par>
                          <p:cTn id="24" fill="hold">
                            <p:stCondLst>
                              <p:cond delay="7500"/>
                            </p:stCondLst>
                            <p:childTnLst>
                              <p:par>
                                <p:cTn id="25" presetID="22" presetClass="entr" presetSubtype="8" fill="hold" nodeType="afterEffect">
                                  <p:stCondLst>
                                    <p:cond delay="0"/>
                                  </p:stCondLst>
                                  <p:childTnLst>
                                    <p:set>
                                      <p:cBhvr>
                                        <p:cTn id="26" dur="1" fill="hold">
                                          <p:stCondLst>
                                            <p:cond delay="0"/>
                                          </p:stCondLst>
                                        </p:cTn>
                                        <p:tgtEl>
                                          <p:spTgt spid="192"/>
                                        </p:tgtEl>
                                        <p:attrNameLst>
                                          <p:attrName>style.visibility</p:attrName>
                                        </p:attrNameLst>
                                      </p:cBhvr>
                                      <p:to>
                                        <p:strVal val="visible"/>
                                      </p:to>
                                    </p:set>
                                    <p:animEffect transition="in" filter="wipe(left)">
                                      <p:cBhvr>
                                        <p:cTn id="27" dur="1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8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346" y="585636"/>
            <a:ext cx="540924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万维网是分布式</a:t>
            </a:r>
            <a:r>
              <a:rPr lang="zh-CN" altLang="en-US" sz="2000" b="1" dirty="0">
                <a:solidFill>
                  <a:schemeClr val="bg1"/>
                </a:solidFill>
                <a:latin typeface="微软雅黑" panose="020B0503020204020204" pitchFamily="34" charset="-122"/>
                <a:ea typeface="微软雅黑" panose="020B0503020204020204" pitchFamily="34" charset="-122"/>
              </a:rPr>
              <a:t>超媒体 </a:t>
            </a:r>
            <a:r>
              <a:rPr lang="en-US" altLang="zh-CN" sz="2000" b="1" dirty="0">
                <a:solidFill>
                  <a:schemeClr val="bg1"/>
                </a:solidFill>
                <a:latin typeface="微软雅黑" panose="020B0503020204020204" pitchFamily="34" charset="-122"/>
                <a:ea typeface="微软雅黑" panose="020B0503020204020204" pitchFamily="34" charset="-122"/>
              </a:rPr>
              <a:t>(hypermedia) </a:t>
            </a:r>
            <a:r>
              <a:rPr lang="zh-CN" altLang="en-US" sz="2000" b="1" dirty="0" smtClean="0">
                <a:solidFill>
                  <a:schemeClr val="bg1"/>
                </a:solidFill>
                <a:latin typeface="微软雅黑" panose="020B0503020204020204" pitchFamily="34" charset="-122"/>
                <a:ea typeface="微软雅黑" panose="020B0503020204020204" pitchFamily="34" charset="-122"/>
              </a:rPr>
              <a:t>系统</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1148"/>
            <a:ext cx="8048776" cy="336245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超文本</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(hypertext) </a:t>
            </a:r>
            <a:r>
              <a:rPr lang="zh-CN" altLang="en-US" sz="2000" b="1" dirty="0">
                <a:latin typeface="微软雅黑" panose="020B0503020204020204" pitchFamily="34" charset="-122"/>
                <a:ea typeface="微软雅黑" panose="020B0503020204020204" pitchFamily="34" charset="-122"/>
              </a:rPr>
              <a:t>系统的</a:t>
            </a:r>
            <a:r>
              <a:rPr lang="zh-CN" altLang="en-US" sz="2000" b="1" dirty="0">
                <a:solidFill>
                  <a:srgbClr val="C00000"/>
                </a:solidFill>
                <a:latin typeface="微软雅黑" panose="020B0503020204020204" pitchFamily="34" charset="-122"/>
                <a:ea typeface="微软雅黑" panose="020B0503020204020204" pitchFamily="34" charset="-122"/>
              </a:rPr>
              <a:t>扩充。</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smtClean="0">
                <a:latin typeface="微软雅黑" panose="020B0503020204020204" pitchFamily="34" charset="-122"/>
                <a:ea typeface="微软雅黑" panose="020B0503020204020204" pitchFamily="34" charset="-122"/>
              </a:rPr>
              <a:t>由多个信息源</a:t>
            </a:r>
            <a:r>
              <a:rPr lang="zh-CN" altLang="en-US" sz="2000" b="1" dirty="0" smtClean="0">
                <a:solidFill>
                  <a:srgbClr val="0000FF"/>
                </a:solidFill>
                <a:latin typeface="微软雅黑" panose="020B0503020204020204" pitchFamily="34" charset="-122"/>
                <a:ea typeface="微软雅黑" panose="020B0503020204020204" pitchFamily="34" charset="-122"/>
              </a:rPr>
              <a:t>链接</a:t>
            </a:r>
            <a:r>
              <a:rPr lang="zh-CN" altLang="en-US" sz="2000" b="1" dirty="0" smtClean="0">
                <a:latin typeface="微软雅黑" panose="020B0503020204020204" pitchFamily="34" charset="-122"/>
                <a:ea typeface="微软雅黑" panose="020B0503020204020204" pitchFamily="34" charset="-122"/>
              </a:rPr>
              <a:t>成。</a:t>
            </a:r>
            <a:r>
              <a:rPr lang="zh-CN" altLang="en-US" sz="2000" b="1" dirty="0" smtClean="0">
                <a:solidFill>
                  <a:srgbClr val="0000FF"/>
                </a:solidFill>
                <a:latin typeface="微软雅黑" panose="020B0503020204020204" pitchFamily="34" charset="-122"/>
                <a:ea typeface="微软雅黑" panose="020B0503020204020204" pitchFamily="34" charset="-122"/>
              </a:rPr>
              <a:t>是万维网的基础。</a:t>
            </a:r>
            <a:endParaRPr lang="zh-CN" altLang="en-US"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超媒体</a:t>
            </a:r>
            <a:r>
              <a:rPr lang="zh-CN" altLang="en-US" sz="2000" b="1" dirty="0">
                <a:latin typeface="微软雅黑" panose="020B0503020204020204" pitchFamily="34" charset="-122"/>
                <a:ea typeface="微软雅黑" panose="020B0503020204020204" pitchFamily="34" charset="-122"/>
              </a:rPr>
              <a:t>与超文本的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zh-CN" altLang="en-US" sz="2000" b="1" dirty="0" smtClean="0">
                <a:solidFill>
                  <a:srgbClr val="0000FF"/>
                </a:solidFill>
                <a:latin typeface="微软雅黑" panose="020B0503020204020204" pitchFamily="34" charset="-122"/>
                <a:ea typeface="微软雅黑" panose="020B0503020204020204" pitchFamily="34" charset="-122"/>
              </a:rPr>
              <a:t>文档</a:t>
            </a:r>
            <a:r>
              <a:rPr lang="zh-CN" altLang="en-US" sz="2000" b="1" dirty="0">
                <a:solidFill>
                  <a:srgbClr val="0000FF"/>
                </a:solidFill>
                <a:latin typeface="微软雅黑" panose="020B0503020204020204" pitchFamily="34" charset="-122"/>
                <a:ea typeface="微软雅黑" panose="020B0503020204020204" pitchFamily="34" charset="-122"/>
              </a:rPr>
              <a:t>内容不同</a:t>
            </a:r>
            <a:r>
              <a:rPr lang="zh-CN" altLang="en-US" sz="2000" b="1" dirty="0" smtClean="0">
                <a:solidFill>
                  <a:srgbClr val="0000FF"/>
                </a:solidFill>
                <a:latin typeface="微软雅黑" panose="020B0503020204020204" pitchFamily="34" charset="-122"/>
                <a:ea typeface="微软雅黑" panose="020B0503020204020204" pitchFamily="34" charset="-122"/>
              </a:rPr>
              <a:t>。</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超文本</a:t>
            </a:r>
            <a:r>
              <a:rPr lang="zh-CN" altLang="en-US" sz="2000" b="1" dirty="0" smtClean="0">
                <a:latin typeface="微软雅黑" panose="020B0503020204020204" pitchFamily="34" charset="-122"/>
                <a:ea typeface="微软雅黑" panose="020B0503020204020204" pitchFamily="34" charset="-122"/>
              </a:rPr>
              <a:t>文档仅包含文本信息。</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超媒体文档还包含其他信息，如图形、图像、声音、动画，甚至活动视频图像等。</a:t>
            </a:r>
            <a:endParaRPr lang="en-US" altLang="zh-CN" sz="2000" b="1" dirty="0" smtClean="0">
              <a:latin typeface="微软雅黑" panose="020B0503020204020204" pitchFamily="34" charset="-122"/>
              <a:ea typeface="微软雅黑" panose="020B0503020204020204" pitchFamily="34" charset="-122"/>
            </a:endParaRPr>
          </a:p>
          <a:p>
            <a:pPr marL="285750" lvl="1" indent="-285750" eaLnBrk="0" hangingPunct="0">
              <a:lnSpc>
                <a:spcPts val="3300"/>
              </a:lnSpc>
              <a:buClr>
                <a:srgbClr val="0070C0"/>
              </a:buClr>
              <a:buSzPct val="85000"/>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分布式系统</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信息分布在整个互联网上。每台主机上的文档都独立进行管理。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70739" y="588772"/>
            <a:ext cx="2621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万维网的工作</a:t>
            </a:r>
            <a:r>
              <a:rPr lang="zh-CN" altLang="en-US" sz="2000" b="1" dirty="0" smtClean="0">
                <a:solidFill>
                  <a:schemeClr val="bg1"/>
                </a:solidFill>
                <a:latin typeface="微软雅黑" panose="020B0503020204020204" pitchFamily="34" charset="-122"/>
                <a:ea typeface="微软雅黑" panose="020B0503020204020204" pitchFamily="34" charset="-122"/>
              </a:rPr>
              <a:t>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7476"/>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以</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方式工作。</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客户</a:t>
            </a:r>
            <a:r>
              <a:rPr lang="zh-CN" altLang="en-US" sz="2000" b="1" dirty="0" smtClean="0">
                <a:solidFill>
                  <a:srgbClr val="C00000"/>
                </a:solidFill>
                <a:latin typeface="微软雅黑" panose="020B0503020204020204" pitchFamily="34" charset="-122"/>
                <a:ea typeface="微软雅黑" panose="020B0503020204020204" pitchFamily="34" charset="-122"/>
              </a:rPr>
              <a:t>程序</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浏览器。</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服务器程序</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在万维网</a:t>
            </a:r>
            <a:r>
              <a:rPr lang="zh-CN" altLang="en-US" sz="2000" b="1" dirty="0">
                <a:latin typeface="微软雅黑" panose="020B0503020204020204" pitchFamily="34" charset="-122"/>
                <a:ea typeface="微软雅黑" panose="020B0503020204020204" pitchFamily="34" charset="-122"/>
              </a:rPr>
              <a:t>文档所驻留的</a:t>
            </a:r>
            <a:r>
              <a:rPr lang="zh-CN" altLang="en-US" sz="2000" b="1" dirty="0" smtClean="0">
                <a:latin typeface="微软雅黑" panose="020B0503020204020204" pitchFamily="34" charset="-122"/>
                <a:ea typeface="微软雅黑" panose="020B0503020204020204" pitchFamily="34" charset="-122"/>
              </a:rPr>
              <a:t>主机上运行。</a:t>
            </a:r>
            <a:r>
              <a:rPr lang="zh-CN" altLang="en-US" sz="2000" b="1" dirty="0">
                <a:latin typeface="微软雅黑" panose="020B0503020204020204" pitchFamily="34" charset="-122"/>
                <a:ea typeface="微软雅黑" panose="020B0503020204020204" pitchFamily="34" charset="-122"/>
              </a:rPr>
              <a:t>这个计算机也称为</a:t>
            </a:r>
            <a:r>
              <a:rPr lang="zh-CN" altLang="en-US" sz="2000" b="1" dirty="0">
                <a:solidFill>
                  <a:srgbClr val="0000FF"/>
                </a:solidFill>
                <a:latin typeface="微软雅黑" panose="020B0503020204020204" pitchFamily="34" charset="-122"/>
                <a:ea typeface="微软雅黑" panose="020B0503020204020204" pitchFamily="34" charset="-122"/>
              </a:rPr>
              <a:t>万维网服务器。</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客户</a:t>
            </a:r>
            <a:r>
              <a:rPr lang="zh-CN" altLang="en-US" sz="2000" b="1" dirty="0">
                <a:latin typeface="微软雅黑" panose="020B0503020204020204" pitchFamily="34" charset="-122"/>
                <a:ea typeface="微软雅黑" panose="020B0503020204020204" pitchFamily="34" charset="-122"/>
              </a:rPr>
              <a:t>程序向服务器程序发出请求，服务器程序向客户程序送回客户所要的</a:t>
            </a:r>
            <a:r>
              <a:rPr lang="zh-CN" altLang="en-US" sz="2000" b="1" dirty="0">
                <a:solidFill>
                  <a:srgbClr val="C00000"/>
                </a:solidFill>
                <a:latin typeface="微软雅黑" panose="020B0503020204020204" pitchFamily="34" charset="-122"/>
                <a:ea typeface="微软雅黑" panose="020B0503020204020204" pitchFamily="34" charset="-122"/>
              </a:rPr>
              <a:t>万维网文档。</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在一个客户程序主窗口上显示出的万维网文档称为</a:t>
            </a:r>
            <a:r>
              <a:rPr lang="zh-CN" altLang="en-US" sz="2000" b="1" dirty="0">
                <a:solidFill>
                  <a:srgbClr val="C00000"/>
                </a:solidFill>
                <a:latin typeface="微软雅黑" panose="020B0503020204020204" pitchFamily="34" charset="-122"/>
                <a:ea typeface="微软雅黑" panose="020B0503020204020204" pitchFamily="34" charset="-122"/>
              </a:rPr>
              <a:t>页面</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(page)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28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89600"/>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万维网必须解决的</a:t>
            </a:r>
            <a:r>
              <a:rPr lang="zh-CN" altLang="en-US" sz="2000" b="1" dirty="0" smtClean="0">
                <a:solidFill>
                  <a:schemeClr val="bg1"/>
                </a:solidFill>
                <a:latin typeface="微软雅黑" panose="020B0503020204020204" pitchFamily="34" charset="-122"/>
                <a:ea typeface="微软雅黑" panose="020B0503020204020204" pitchFamily="34" charset="-122"/>
              </a:rPr>
              <a:t>问题（</a:t>
            </a:r>
            <a:r>
              <a:rPr lang="en-US" altLang="zh-CN" sz="2000" b="1" dirty="0" smtClean="0">
                <a:solidFill>
                  <a:schemeClr val="bg1"/>
                </a:solidFill>
                <a:latin typeface="微软雅黑" panose="020B0503020204020204" pitchFamily="34" charset="-122"/>
                <a:ea typeface="微软雅黑" panose="020B0503020204020204" pitchFamily="34" charset="-122"/>
              </a:rPr>
              <a:t>1/2</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4" y="988304"/>
            <a:ext cx="8048775"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(1) </a:t>
            </a:r>
            <a:r>
              <a:rPr lang="zh-CN" altLang="en-US" sz="2000" b="1" dirty="0">
                <a:latin typeface="微软雅黑" panose="020B0503020204020204" pitchFamily="34" charset="-122"/>
                <a:ea typeface="微软雅黑" panose="020B0503020204020204" pitchFamily="34" charset="-122"/>
              </a:rPr>
              <a:t>怎样</a:t>
            </a:r>
            <a:r>
              <a:rPr lang="zh-CN" altLang="en-US" sz="2000" b="1" dirty="0">
                <a:solidFill>
                  <a:srgbClr val="C00000"/>
                </a:solidFill>
                <a:latin typeface="微软雅黑" panose="020B0503020204020204" pitchFamily="34" charset="-122"/>
                <a:ea typeface="微软雅黑" panose="020B0503020204020204" pitchFamily="34" charset="-122"/>
              </a:rPr>
              <a:t>标志</a:t>
            </a:r>
            <a:r>
              <a:rPr lang="zh-CN" altLang="en-US" sz="2000" b="1" dirty="0">
                <a:latin typeface="微软雅黑" panose="020B0503020204020204" pitchFamily="34" charset="-122"/>
                <a:ea typeface="微软雅黑" panose="020B0503020204020204" pitchFamily="34" charset="-122"/>
              </a:rPr>
              <a:t>分布在整个互联网上的万维网文档？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统一资源定位符 </a:t>
            </a:r>
            <a:r>
              <a:rPr lang="en-US" altLang="zh-CN" sz="2000" b="1" dirty="0">
                <a:solidFill>
                  <a:srgbClr val="C00000"/>
                </a:solidFill>
                <a:latin typeface="微软雅黑" panose="020B0503020204020204" pitchFamily="34" charset="-122"/>
                <a:ea typeface="微软雅黑" panose="020B0503020204020204" pitchFamily="34" charset="-122"/>
              </a:rPr>
              <a:t>URL </a:t>
            </a:r>
            <a:r>
              <a:rPr lang="en-US" altLang="zh-CN" sz="2000" b="1" dirty="0">
                <a:latin typeface="微软雅黑" panose="020B0503020204020204" pitchFamily="34" charset="-122"/>
                <a:ea typeface="微软雅黑" panose="020B0503020204020204" pitchFamily="34" charset="-122"/>
              </a:rPr>
              <a:t>(Uniform Resource Locator)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使每</a:t>
            </a:r>
            <a:r>
              <a:rPr lang="zh-CN" altLang="en-US" sz="2000" b="1" dirty="0">
                <a:latin typeface="微软雅黑" panose="020B0503020204020204" pitchFamily="34" charset="-122"/>
                <a:ea typeface="微软雅黑" panose="020B0503020204020204" pitchFamily="34" charset="-122"/>
              </a:rPr>
              <a:t>一个文档在整个互联网的范围内具有</a:t>
            </a:r>
            <a:r>
              <a:rPr lang="zh-CN" altLang="en-US" sz="2000" b="1" dirty="0">
                <a:solidFill>
                  <a:srgbClr val="0000FF"/>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的标识符 </a:t>
            </a:r>
            <a:r>
              <a:rPr lang="en-US" altLang="zh-CN" sz="2000" b="1" dirty="0">
                <a:latin typeface="微软雅黑" panose="020B0503020204020204" pitchFamily="34" charset="-122"/>
                <a:ea typeface="微软雅黑" panose="020B0503020204020204" pitchFamily="34" charset="-122"/>
              </a:rPr>
              <a:t>URL</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en-US" altLang="zh-CN" sz="2000" b="1" dirty="0" smtClean="0">
                <a:solidFill>
                  <a:srgbClr val="9900CC"/>
                </a:solidFill>
                <a:latin typeface="微软雅黑" panose="020B0503020204020204" pitchFamily="34" charset="-122"/>
                <a:ea typeface="微软雅黑" panose="020B0503020204020204" pitchFamily="34" charset="-122"/>
              </a:rPr>
              <a:t>(</a:t>
            </a:r>
            <a:r>
              <a:rPr lang="en-US" altLang="zh-CN" sz="2000" b="1" dirty="0">
                <a:solidFill>
                  <a:srgbClr val="9900CC"/>
                </a:solidFill>
                <a:latin typeface="微软雅黑" panose="020B0503020204020204" pitchFamily="34" charset="-122"/>
                <a:ea typeface="微软雅黑" panose="020B0503020204020204" pitchFamily="34" charset="-122"/>
              </a:rPr>
              <a:t>2</a:t>
            </a:r>
            <a:r>
              <a:rPr lang="en-US" altLang="zh-CN" sz="2000" b="1" dirty="0" smtClean="0">
                <a:solidFill>
                  <a:srgbClr val="9900CC"/>
                </a:solidFill>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用什么</a:t>
            </a:r>
            <a:r>
              <a:rPr lang="zh-CN" altLang="en-US" sz="2000" b="1" dirty="0" smtClean="0">
                <a:solidFill>
                  <a:srgbClr val="C00000"/>
                </a:solidFill>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来实现万维网上的各种链接</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a:solidFill>
                  <a:srgbClr val="C00000"/>
                </a:solidFill>
                <a:latin typeface="微软雅黑" panose="020B0503020204020204" pitchFamily="34" charset="-122"/>
                <a:ea typeface="微软雅黑" panose="020B0503020204020204" pitchFamily="34" charset="-122"/>
              </a:rPr>
              <a:t>传送协议 </a:t>
            </a:r>
            <a:r>
              <a:rPr lang="en-US" altLang="zh-CN" sz="2000" b="1" dirty="0">
                <a:solidFill>
                  <a:srgbClr val="C00000"/>
                </a:solidFill>
                <a:latin typeface="微软雅黑" panose="020B0503020204020204" pitchFamily="34" charset="-122"/>
                <a:ea typeface="微软雅黑" panose="020B0503020204020204" pitchFamily="34" charset="-122"/>
              </a:rPr>
              <a:t>HTTP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Transfer Protocol)</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是一个应用层协议</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a:solidFill>
                  <a:srgbClr val="0000FF"/>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连接进行可靠的传送。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46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97133"/>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万维网必须解决的</a:t>
            </a:r>
            <a:r>
              <a:rPr lang="zh-CN" altLang="en-US" sz="2000" b="1" dirty="0" smtClean="0">
                <a:solidFill>
                  <a:schemeClr val="bg1"/>
                </a:solidFill>
                <a:latin typeface="微软雅黑" panose="020B0503020204020204" pitchFamily="34" charset="-122"/>
                <a:ea typeface="微软雅黑" panose="020B0503020204020204" pitchFamily="34" charset="-122"/>
              </a:rPr>
              <a:t>问题（</a:t>
            </a:r>
            <a:r>
              <a:rPr lang="en-US" altLang="zh-CN" sz="2000" b="1" dirty="0" smtClean="0">
                <a:solidFill>
                  <a:schemeClr val="bg1"/>
                </a:solidFill>
                <a:latin typeface="微软雅黑" panose="020B0503020204020204" pitchFamily="34" charset="-122"/>
                <a:ea typeface="微软雅黑" panose="020B0503020204020204" pitchFamily="34" charset="-122"/>
              </a:rPr>
              <a:t>2/2</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808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(3</a:t>
            </a:r>
            <a:r>
              <a:rPr lang="en-US" altLang="zh-CN" sz="2000" b="1" dirty="0" smtClean="0">
                <a:solidFill>
                  <a:srgbClr val="9900CC"/>
                </a:solidFill>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怎样</a:t>
            </a:r>
            <a:r>
              <a:rPr lang="zh-CN" altLang="en-US" sz="2000" b="1" dirty="0">
                <a:latin typeface="微软雅黑" panose="020B0503020204020204" pitchFamily="34" charset="-122"/>
                <a:ea typeface="微软雅黑" panose="020B0503020204020204" pitchFamily="34" charset="-122"/>
              </a:rPr>
              <a:t>使不同作者</a:t>
            </a:r>
            <a:r>
              <a:rPr lang="zh-CN" altLang="en-US" sz="2000" b="1" dirty="0">
                <a:solidFill>
                  <a:srgbClr val="C00000"/>
                </a:solidFill>
                <a:latin typeface="微软雅黑" panose="020B0503020204020204" pitchFamily="34" charset="-122"/>
                <a:ea typeface="微软雅黑" panose="020B0503020204020204" pitchFamily="34" charset="-122"/>
              </a:rPr>
              <a:t>创作</a:t>
            </a:r>
            <a:r>
              <a:rPr lang="zh-CN" altLang="en-US" sz="2000" b="1" dirty="0">
                <a:latin typeface="微软雅黑" panose="020B0503020204020204" pitchFamily="34" charset="-122"/>
                <a:ea typeface="微软雅黑" panose="020B0503020204020204" pitchFamily="34" charset="-122"/>
              </a:rPr>
              <a:t>的不同风格的万维网</a:t>
            </a:r>
            <a:r>
              <a:rPr lang="zh-CN" altLang="en-US" sz="2000" b="1" dirty="0" smtClean="0">
                <a:latin typeface="微软雅黑" panose="020B0503020204020204" pitchFamily="34" charset="-122"/>
                <a:ea typeface="微软雅黑" panose="020B0503020204020204" pitchFamily="34" charset="-122"/>
              </a:rPr>
              <a:t>文档都</a:t>
            </a:r>
            <a:r>
              <a:rPr lang="zh-CN" altLang="en-US" sz="2000" b="1" dirty="0">
                <a:latin typeface="微软雅黑" panose="020B0503020204020204" pitchFamily="34" charset="-122"/>
                <a:ea typeface="微软雅黑" panose="020B0503020204020204" pitchFamily="34" charset="-122"/>
              </a:rPr>
              <a:t>能在互联网上的各种主机上</a:t>
            </a:r>
            <a:r>
              <a:rPr lang="zh-CN" altLang="en-US" sz="2000" b="1" dirty="0">
                <a:solidFill>
                  <a:srgbClr val="C00000"/>
                </a:solidFill>
                <a:latin typeface="微软雅黑" panose="020B0503020204020204" pitchFamily="34" charset="-122"/>
                <a:ea typeface="微软雅黑" panose="020B0503020204020204" pitchFamily="34" charset="-122"/>
              </a:rPr>
              <a:t>显示</a:t>
            </a:r>
            <a:r>
              <a:rPr lang="zh-CN" altLang="en-US" sz="2000" b="1" dirty="0">
                <a:latin typeface="微软雅黑" panose="020B0503020204020204" pitchFamily="34" charset="-122"/>
                <a:ea typeface="微软雅黑" panose="020B0503020204020204" pitchFamily="34" charset="-122"/>
              </a:rPr>
              <a:t>出来，同时使用户清楚地知道在什么地方存在着</a:t>
            </a:r>
            <a:r>
              <a:rPr lang="zh-CN" altLang="en-US" sz="2000" b="1" dirty="0">
                <a:solidFill>
                  <a:srgbClr val="C00000"/>
                </a:solidFill>
                <a:latin typeface="微软雅黑" panose="020B0503020204020204" pitchFamily="34" charset="-122"/>
                <a:ea typeface="微软雅黑" panose="020B0503020204020204" pitchFamily="34" charset="-122"/>
              </a:rPr>
              <a:t>链接</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a:solidFill>
                  <a:srgbClr val="C00000"/>
                </a:solidFill>
                <a:latin typeface="微软雅黑" panose="020B0503020204020204" pitchFamily="34" charset="-122"/>
                <a:ea typeface="微软雅黑" panose="020B0503020204020204" pitchFamily="34" charset="-122"/>
              </a:rPr>
              <a:t>标记语言 </a:t>
            </a:r>
            <a:r>
              <a:rPr lang="en-US" altLang="zh-CN" sz="2000" b="1" dirty="0">
                <a:solidFill>
                  <a:srgbClr val="C00000"/>
                </a:solidFill>
                <a:latin typeface="微软雅黑" panose="020B0503020204020204" pitchFamily="34" charset="-122"/>
                <a:ea typeface="微软雅黑" panose="020B0503020204020204" pitchFamily="34" charset="-122"/>
              </a:rPr>
              <a:t>HTML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Markup Language)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怎样使用户能够很方便地</a:t>
            </a:r>
            <a:r>
              <a:rPr lang="zh-CN" altLang="en-US" sz="2000" b="1" dirty="0">
                <a:solidFill>
                  <a:srgbClr val="C00000"/>
                </a:solidFill>
                <a:latin typeface="微软雅黑" panose="020B0503020204020204" pitchFamily="34" charset="-122"/>
                <a:ea typeface="微软雅黑" panose="020B0503020204020204" pitchFamily="34" charset="-122"/>
              </a:rPr>
              <a:t>找到</a:t>
            </a:r>
            <a:r>
              <a:rPr lang="zh-CN" altLang="en-US" sz="2000" b="1" dirty="0">
                <a:latin typeface="微软雅黑" panose="020B0503020204020204" pitchFamily="34" charset="-122"/>
                <a:ea typeface="微软雅黑" panose="020B0503020204020204" pitchFamily="34" charset="-122"/>
              </a:rPr>
              <a:t>所需的信息？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各种的</a:t>
            </a:r>
            <a:r>
              <a:rPr lang="zh-CN" altLang="en-US" sz="2000" b="1" dirty="0">
                <a:solidFill>
                  <a:srgbClr val="C00000"/>
                </a:solidFill>
                <a:latin typeface="微软雅黑" panose="020B0503020204020204" pitchFamily="34" charset="-122"/>
                <a:ea typeface="微软雅黑" panose="020B0503020204020204" pitchFamily="34" charset="-122"/>
              </a:rPr>
              <a:t>搜索工具</a:t>
            </a:r>
            <a:r>
              <a:rPr lang="zh-CN" altLang="en-US" sz="2000" b="1" dirty="0">
                <a:latin typeface="微软雅黑" panose="020B0503020204020204" pitchFamily="34" charset="-122"/>
                <a:ea typeface="微软雅黑" panose="020B0503020204020204" pitchFamily="34" charset="-122"/>
              </a:rPr>
              <a:t>（即</a:t>
            </a:r>
            <a:r>
              <a:rPr lang="zh-CN" altLang="en-US" sz="2000" b="1" dirty="0">
                <a:solidFill>
                  <a:srgbClr val="0000FF"/>
                </a:solidFill>
                <a:latin typeface="微软雅黑" panose="020B0503020204020204" pitchFamily="34" charset="-122"/>
                <a:ea typeface="微软雅黑" panose="020B0503020204020204" pitchFamily="34" charset="-122"/>
              </a:rPr>
              <a:t>搜索引擎</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455938" y="3566680"/>
            <a:ext cx="6507332" cy="93429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261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82516" y="570345"/>
            <a:ext cx="39789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6.4.2  </a:t>
            </a:r>
            <a:r>
              <a:rPr lang="zh-CN" altLang="en-US" sz="2400" b="1" dirty="0">
                <a:solidFill>
                  <a:schemeClr val="bg1"/>
                </a:solidFill>
                <a:latin typeface="微软雅黑" panose="020B0503020204020204" pitchFamily="34" charset="-122"/>
                <a:ea typeface="微软雅黑" panose="020B0503020204020204" pitchFamily="34" charset="-122"/>
              </a:rPr>
              <a:t>统一资源定位符 </a:t>
            </a:r>
            <a:r>
              <a:rPr lang="en-US" altLang="zh-CN" sz="2400" b="1" dirty="0">
                <a:solidFill>
                  <a:schemeClr val="bg1"/>
                </a:solidFill>
                <a:latin typeface="微软雅黑" panose="020B0503020204020204" pitchFamily="34" charset="-122"/>
                <a:ea typeface="微软雅黑" panose="020B0503020204020204" pitchFamily="34" charset="-122"/>
              </a:rPr>
              <a:t>URL</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1012135"/>
            <a:ext cx="8152031" cy="25545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是对互联网上资源</a:t>
            </a:r>
            <a:r>
              <a:rPr lang="zh-CN" altLang="en-US" sz="2000" b="1" dirty="0">
                <a:latin typeface="微软雅黑" panose="020B0503020204020204" pitchFamily="34" charset="-122"/>
                <a:ea typeface="微软雅黑" panose="020B0503020204020204" pitchFamily="34" charset="-122"/>
              </a:rPr>
              <a:t>的位置和访问方法的一种</a:t>
            </a:r>
            <a:r>
              <a:rPr lang="zh-CN" altLang="en-US" sz="2000" b="1" dirty="0">
                <a:solidFill>
                  <a:srgbClr val="C00000"/>
                </a:solidFill>
                <a:latin typeface="微软雅黑" panose="020B0503020204020204" pitchFamily="34" charset="-122"/>
                <a:ea typeface="微软雅黑" panose="020B0503020204020204" pitchFamily="34" charset="-122"/>
              </a:rPr>
              <a:t>简洁表示。</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给</a:t>
            </a:r>
            <a:r>
              <a:rPr lang="zh-CN" altLang="en-US" sz="2000" b="1" dirty="0">
                <a:latin typeface="微软雅黑" panose="020B0503020204020204" pitchFamily="34" charset="-122"/>
                <a:ea typeface="微软雅黑" panose="020B0503020204020204" pitchFamily="34" charset="-122"/>
              </a:rPr>
              <a:t>资源的位置提供一种</a:t>
            </a:r>
            <a:r>
              <a:rPr lang="zh-CN" altLang="en-US" sz="2000" b="1" dirty="0">
                <a:solidFill>
                  <a:srgbClr val="C00000"/>
                </a:solidFill>
                <a:latin typeface="微软雅黑" panose="020B0503020204020204" pitchFamily="34" charset="-122"/>
                <a:ea typeface="微软雅黑" panose="020B0503020204020204" pitchFamily="34" charset="-122"/>
              </a:rPr>
              <a:t>抽象</a:t>
            </a:r>
            <a:r>
              <a:rPr lang="zh-CN" altLang="en-US" sz="2000" b="1" dirty="0">
                <a:latin typeface="微软雅黑" panose="020B0503020204020204" pitchFamily="34" charset="-122"/>
                <a:ea typeface="微软雅黑" panose="020B0503020204020204" pitchFamily="34" charset="-122"/>
              </a:rPr>
              <a:t>的识别方法，并用这种方法给</a:t>
            </a:r>
            <a:r>
              <a:rPr lang="zh-CN" altLang="en-US" sz="2000" b="1" dirty="0">
                <a:solidFill>
                  <a:srgbClr val="C00000"/>
                </a:solidFill>
                <a:latin typeface="微软雅黑" panose="020B0503020204020204" pitchFamily="34" charset="-122"/>
                <a:ea typeface="微软雅黑" panose="020B0503020204020204" pitchFamily="34" charset="-122"/>
              </a:rPr>
              <a:t>资源定位。</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实际上</a:t>
            </a:r>
            <a:r>
              <a:rPr lang="zh-CN" altLang="en-US" sz="2000" b="1" dirty="0">
                <a:latin typeface="微软雅黑" panose="020B0503020204020204" pitchFamily="34" charset="-122"/>
                <a:ea typeface="微软雅黑" panose="020B0503020204020204" pitchFamily="34" charset="-122"/>
              </a:rPr>
              <a:t>就是在互联网上的</a:t>
            </a:r>
            <a:r>
              <a:rPr lang="zh-CN" altLang="en-US" sz="2000" b="1" dirty="0">
                <a:solidFill>
                  <a:srgbClr val="C00000"/>
                </a:solidFill>
                <a:latin typeface="微软雅黑" panose="020B0503020204020204" pitchFamily="34" charset="-122"/>
                <a:ea typeface="微软雅黑" panose="020B0503020204020204" pitchFamily="34" charset="-122"/>
              </a:rPr>
              <a:t>资源的地址</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显然，互联网上的所有资源，都有一个</a:t>
            </a:r>
            <a:r>
              <a:rPr lang="zh-CN" altLang="en-US" sz="2000" b="1" dirty="0">
                <a:solidFill>
                  <a:srgbClr val="C00000"/>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确定的</a:t>
            </a:r>
            <a:r>
              <a:rPr lang="en-US" altLang="zh-CN" sz="2000" b="1" dirty="0">
                <a:latin typeface="微软雅黑" panose="020B0503020204020204" pitchFamily="34" charset="-122"/>
                <a:ea typeface="微软雅黑" panose="020B0503020204020204" pitchFamily="34" charset="-122"/>
              </a:rPr>
              <a:t>URL</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资源：</a:t>
            </a:r>
            <a:r>
              <a:rPr lang="zh-CN" altLang="en-US" sz="2000" b="1" dirty="0" smtClean="0">
                <a:latin typeface="微软雅黑" panose="020B0503020204020204" pitchFamily="34" charset="-122"/>
                <a:ea typeface="微软雅黑" panose="020B0503020204020204" pitchFamily="34" charset="-122"/>
              </a:rPr>
              <a:t>指</a:t>
            </a:r>
            <a:r>
              <a:rPr lang="zh-CN" altLang="en-US" sz="2000" b="1" dirty="0">
                <a:latin typeface="微软雅黑" panose="020B0503020204020204" pitchFamily="34" charset="-122"/>
                <a:ea typeface="微软雅黑" panose="020B0503020204020204" pitchFamily="34" charset="-122"/>
              </a:rPr>
              <a:t>在互联网上可以被访问的任何对象，包括文件目录、文件、文档、图像、声音等，以及与互联网相连的</a:t>
            </a:r>
            <a:r>
              <a:rPr lang="zh-CN" altLang="en-US" sz="2000" b="1" dirty="0">
                <a:solidFill>
                  <a:srgbClr val="C00000"/>
                </a:solidFill>
                <a:latin typeface="微软雅黑" panose="020B0503020204020204" pitchFamily="34" charset="-122"/>
                <a:ea typeface="微软雅黑" panose="020B0503020204020204" pitchFamily="34" charset="-122"/>
              </a:rPr>
              <a:t>任何形式</a:t>
            </a:r>
            <a:r>
              <a:rPr lang="zh-CN" altLang="en-US" sz="2000" b="1" dirty="0">
                <a:latin typeface="微软雅黑" panose="020B0503020204020204" pitchFamily="34" charset="-122"/>
                <a:ea typeface="微软雅黑" panose="020B0503020204020204" pitchFamily="34" charset="-122"/>
              </a:rPr>
              <a:t>的数据</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55685" y="3664334"/>
            <a:ext cx="6121154" cy="730777"/>
          </a:xfrm>
          <a:prstGeom prst="rect">
            <a:avLst/>
          </a:prstGeom>
        </p:spPr>
        <p:txBody>
          <a:bodyPr wrap="square">
            <a:spAutoFit/>
          </a:bodyPr>
          <a:lstStyle/>
          <a:p>
            <a:pPr>
              <a:lnSpc>
                <a:spcPts val="2600"/>
              </a:lnSpc>
            </a:pPr>
            <a:r>
              <a:rPr lang="en-US" altLang="zh-CN" b="1" dirty="0" smtClean="0">
                <a:solidFill>
                  <a:schemeClr val="bg1"/>
                </a:solidFill>
                <a:latin typeface="微软雅黑" panose="020B0503020204020204" pitchFamily="34" charset="-122"/>
                <a:ea typeface="微软雅黑" panose="020B0503020204020204" pitchFamily="34" charset="-122"/>
              </a:rPr>
              <a:t>URL </a:t>
            </a:r>
            <a:r>
              <a:rPr lang="zh-CN" altLang="en-US" b="1" dirty="0" smtClean="0">
                <a:solidFill>
                  <a:schemeClr val="bg1"/>
                </a:solidFill>
                <a:latin typeface="微软雅黑" panose="020B0503020204020204" pitchFamily="34" charset="-122"/>
                <a:ea typeface="微软雅黑" panose="020B0503020204020204" pitchFamily="34" charset="-122"/>
              </a:rPr>
              <a:t>相当于</a:t>
            </a:r>
            <a:r>
              <a:rPr lang="zh-CN" altLang="en-US" b="1" dirty="0">
                <a:solidFill>
                  <a:schemeClr val="bg1"/>
                </a:solidFill>
                <a:latin typeface="微软雅黑" panose="020B0503020204020204" pitchFamily="34" charset="-122"/>
                <a:ea typeface="微软雅黑" panose="020B0503020204020204" pitchFamily="34" charset="-122"/>
              </a:rPr>
              <a:t>一个文件名在网络范围的扩展。因此，</a:t>
            </a:r>
            <a:r>
              <a:rPr lang="en-US" altLang="zh-CN" b="1" dirty="0" smtClean="0">
                <a:solidFill>
                  <a:schemeClr val="bg1"/>
                </a:solidFill>
                <a:latin typeface="微软雅黑" panose="020B0503020204020204" pitchFamily="34" charset="-122"/>
                <a:ea typeface="微软雅黑" panose="020B0503020204020204" pitchFamily="34" charset="-122"/>
              </a:rPr>
              <a:t>URL </a:t>
            </a:r>
            <a:r>
              <a:rPr lang="zh-CN" altLang="en-US" b="1" dirty="0" smtClean="0">
                <a:solidFill>
                  <a:schemeClr val="bg1"/>
                </a:solidFill>
                <a:latin typeface="微软雅黑" panose="020B0503020204020204" pitchFamily="34" charset="-122"/>
                <a:ea typeface="微软雅黑" panose="020B0503020204020204" pitchFamily="34" charset="-122"/>
              </a:rPr>
              <a:t>是</a:t>
            </a:r>
            <a:r>
              <a:rPr lang="zh-CN" altLang="en-US" b="1" dirty="0">
                <a:solidFill>
                  <a:schemeClr val="bg1"/>
                </a:solidFill>
                <a:latin typeface="微软雅黑" panose="020B0503020204020204" pitchFamily="34" charset="-122"/>
                <a:ea typeface="微软雅黑" panose="020B0503020204020204" pitchFamily="34" charset="-122"/>
              </a:rPr>
              <a:t>与互联网相连的机器上的任何可访问对象的一个指针。</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1" name="Group 31"/>
          <p:cNvGrpSpPr/>
          <p:nvPr/>
        </p:nvGrpSpPr>
        <p:grpSpPr bwMode="auto">
          <a:xfrm>
            <a:off x="2664707" y="2461614"/>
            <a:ext cx="4502625" cy="1319983"/>
            <a:chOff x="1519" y="2568"/>
            <a:chExt cx="4213" cy="1338"/>
          </a:xfrm>
        </p:grpSpPr>
        <p:sp>
          <p:nvSpPr>
            <p:cNvPr id="12" name="Line 26"/>
            <p:cNvSpPr>
              <a:spLocks noChangeShapeType="1"/>
            </p:cNvSpPr>
            <p:nvPr/>
          </p:nvSpPr>
          <p:spPr bwMode="auto">
            <a:xfrm>
              <a:off x="1519" y="2568"/>
              <a:ext cx="657"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3" name="Freeform 27"/>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4" name="AutoShape 28"/>
            <p:cNvSpPr/>
            <p:nvPr/>
          </p:nvSpPr>
          <p:spPr bwMode="auto">
            <a:xfrm>
              <a:off x="2176" y="2841"/>
              <a:ext cx="82" cy="907"/>
            </a:xfrm>
            <a:prstGeom prst="leftBrace">
              <a:avLst>
                <a:gd name="adj1" fmla="val 92175"/>
                <a:gd name="adj2" fmla="val 50000"/>
              </a:avLst>
            </a:prstGeom>
            <a:noFill/>
            <a:ln w="28575">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5" name="Text Box 29"/>
            <p:cNvSpPr txBox="1">
              <a:spLocks noChangeArrowheads="1"/>
            </p:cNvSpPr>
            <p:nvPr/>
          </p:nvSpPr>
          <p:spPr bwMode="auto">
            <a:xfrm>
              <a:off x="2328" y="2598"/>
              <a:ext cx="3404" cy="1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ftp —— </a:t>
              </a:r>
              <a:r>
                <a:rPr lang="zh-CN" altLang="en-US" sz="1800" b="1" dirty="0">
                  <a:solidFill>
                    <a:srgbClr val="0000FF"/>
                  </a:solidFill>
                  <a:latin typeface="微软雅黑" panose="020B0503020204020204" pitchFamily="34" charset="-122"/>
                  <a:ea typeface="微软雅黑" panose="020B0503020204020204" pitchFamily="34" charset="-122"/>
                </a:rPr>
                <a:t>文件传送协议 </a:t>
              </a:r>
              <a:r>
                <a:rPr lang="en-US" altLang="zh-CN" sz="1800" b="1" dirty="0">
                  <a:solidFill>
                    <a:srgbClr val="0000FF"/>
                  </a:solidFill>
                  <a:latin typeface="微软雅黑" panose="020B0503020204020204" pitchFamily="34" charset="-122"/>
                  <a:ea typeface="微软雅黑" panose="020B0503020204020204" pitchFamily="34" charset="-122"/>
                </a:rPr>
                <a:t>FTP</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http —— </a:t>
              </a:r>
              <a:r>
                <a:rPr lang="zh-CN" altLang="en-US" sz="1800" b="1" dirty="0">
                  <a:solidFill>
                    <a:srgbClr val="0000FF"/>
                  </a:solidFill>
                  <a:latin typeface="微软雅黑" panose="020B0503020204020204" pitchFamily="34" charset="-122"/>
                  <a:ea typeface="微软雅黑" panose="020B0503020204020204" pitchFamily="34" charset="-122"/>
                </a:rPr>
                <a:t>超文本传送协议 </a:t>
              </a:r>
              <a:r>
                <a:rPr lang="en-US" altLang="zh-CN" sz="1800" b="1" dirty="0">
                  <a:solidFill>
                    <a:srgbClr val="0000FF"/>
                  </a:solidFill>
                  <a:latin typeface="微软雅黑" panose="020B0503020204020204" pitchFamily="34" charset="-122"/>
                  <a:ea typeface="微软雅黑" panose="020B0503020204020204" pitchFamily="34" charset="-122"/>
                </a:rPr>
                <a:t>HTTP</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News —— </a:t>
              </a:r>
              <a:r>
                <a:rPr lang="en-US" altLang="zh-CN" sz="1800" b="1" dirty="0">
                  <a:solidFill>
                    <a:srgbClr val="0000FF"/>
                  </a:solidFill>
                  <a:latin typeface="微软雅黑" panose="020B0503020204020204" pitchFamily="34" charset="-122"/>
                  <a:ea typeface="微软雅黑" panose="020B0503020204020204" pitchFamily="34" charset="-122"/>
                </a:rPr>
                <a:t>USENET </a:t>
              </a:r>
              <a:r>
                <a:rPr lang="zh-CN" altLang="en-US" sz="1800" b="1" dirty="0">
                  <a:solidFill>
                    <a:srgbClr val="0000FF"/>
                  </a:solidFill>
                  <a:latin typeface="微软雅黑" panose="020B0503020204020204" pitchFamily="34" charset="-122"/>
                  <a:ea typeface="微软雅黑" panose="020B0503020204020204" pitchFamily="34" charset="-122"/>
                </a:rPr>
                <a:t>新闻</a:t>
              </a:r>
              <a:endParaRPr lang="zh-CN" altLang="en-US" sz="1800" b="1" dirty="0">
                <a:solidFill>
                  <a:srgbClr val="0000FF"/>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6" name="Group 31"/>
          <p:cNvGrpSpPr/>
          <p:nvPr/>
        </p:nvGrpSpPr>
        <p:grpSpPr bwMode="auto">
          <a:xfrm>
            <a:off x="3356099" y="2462962"/>
            <a:ext cx="1917338" cy="896766"/>
            <a:chOff x="1619" y="2568"/>
            <a:chExt cx="1794" cy="909"/>
          </a:xfrm>
        </p:grpSpPr>
        <p:sp>
          <p:nvSpPr>
            <p:cNvPr id="17" name="Line 26"/>
            <p:cNvSpPr>
              <a:spLocks noChangeShapeType="1"/>
            </p:cNvSpPr>
            <p:nvPr/>
          </p:nvSpPr>
          <p:spPr bwMode="auto">
            <a:xfrm>
              <a:off x="1619" y="2568"/>
              <a:ext cx="315"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Freeform 27"/>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9" name="Text Box 29"/>
            <p:cNvSpPr txBox="1">
              <a:spLocks noChangeArrowheads="1"/>
            </p:cNvSpPr>
            <p:nvPr/>
          </p:nvSpPr>
          <p:spPr bwMode="auto">
            <a:xfrm>
              <a:off x="2160" y="3103"/>
              <a:ext cx="1253" cy="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rgbClr val="000099"/>
                  </a:solidFill>
                  <a:latin typeface="微软雅黑" panose="020B0503020204020204" pitchFamily="34" charset="-122"/>
                  <a:ea typeface="微软雅黑" panose="020B0503020204020204" pitchFamily="34" charset="-122"/>
                </a:rPr>
                <a:t>规定的格式</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1" name="Group 31"/>
          <p:cNvGrpSpPr/>
          <p:nvPr/>
        </p:nvGrpSpPr>
        <p:grpSpPr bwMode="auto">
          <a:xfrm>
            <a:off x="3748368" y="2462962"/>
            <a:ext cx="3776963" cy="1273622"/>
            <a:chOff x="1899" y="2568"/>
            <a:chExt cx="3534" cy="1291"/>
          </a:xfrm>
        </p:grpSpPr>
        <p:sp>
          <p:nvSpPr>
            <p:cNvPr id="12" name="Line 26"/>
            <p:cNvSpPr>
              <a:spLocks noChangeShapeType="1"/>
            </p:cNvSpPr>
            <p:nvPr/>
          </p:nvSpPr>
          <p:spPr bwMode="auto">
            <a:xfrm>
              <a:off x="1899" y="2568"/>
              <a:ext cx="64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3" name="Freeform 27"/>
            <p:cNvSpPr/>
            <p:nvPr/>
          </p:nvSpPr>
          <p:spPr bwMode="auto">
            <a:xfrm>
              <a:off x="2246"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4" name="Text Box 29"/>
            <p:cNvSpPr txBox="1">
              <a:spLocks noChangeArrowheads="1"/>
            </p:cNvSpPr>
            <p:nvPr/>
          </p:nvSpPr>
          <p:spPr bwMode="auto">
            <a:xfrm>
              <a:off x="2595" y="2923"/>
              <a:ext cx="2838" cy="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rgbClr val="000099"/>
                  </a:solidFill>
                  <a:latin typeface="微软雅黑" panose="020B0503020204020204" pitchFamily="34" charset="-122"/>
                  <a:ea typeface="微软雅黑" panose="020B0503020204020204" pitchFamily="34" charset="-122"/>
                </a:rPr>
                <a:t>存放</a:t>
              </a:r>
              <a:r>
                <a:rPr lang="zh-CN" altLang="en-US" sz="1800" b="1" dirty="0">
                  <a:solidFill>
                    <a:srgbClr val="000099"/>
                  </a:solidFill>
                  <a:latin typeface="微软雅黑" panose="020B0503020204020204" pitchFamily="34" charset="-122"/>
                  <a:ea typeface="微软雅黑" panose="020B0503020204020204" pitchFamily="34" charset="-122"/>
                </a:rPr>
                <a:t>资源的</a:t>
              </a:r>
              <a:r>
                <a:rPr lang="zh-CN" altLang="en-US" sz="1800" b="1" dirty="0" smtClean="0">
                  <a:solidFill>
                    <a:srgbClr val="000099"/>
                  </a:solidFill>
                  <a:latin typeface="微软雅黑" panose="020B0503020204020204" pitchFamily="34" charset="-122"/>
                  <a:ea typeface="微软雅黑" panose="020B0503020204020204" pitchFamily="34" charset="-122"/>
                </a:rPr>
                <a:t>主机在</a:t>
              </a:r>
              <a:r>
                <a:rPr lang="zh-CN" altLang="en-US" sz="1800" b="1" dirty="0">
                  <a:solidFill>
                    <a:srgbClr val="000099"/>
                  </a:solidFill>
                  <a:latin typeface="微软雅黑" panose="020B0503020204020204" pitchFamily="34" charset="-122"/>
                  <a:ea typeface="微软雅黑" panose="020B0503020204020204" pitchFamily="34" charset="-122"/>
                </a:rPr>
                <a:t>互联网中的</a:t>
              </a:r>
              <a:r>
                <a:rPr lang="zh-CN" altLang="en-US" sz="1800" b="1" dirty="0" smtClean="0">
                  <a:solidFill>
                    <a:srgbClr val="000099"/>
                  </a:solidFill>
                  <a:latin typeface="微软雅黑" panose="020B0503020204020204" pitchFamily="34" charset="-122"/>
                  <a:ea typeface="微软雅黑" panose="020B0503020204020204" pitchFamily="34" charset="-122"/>
                </a:rPr>
                <a:t>域名，也</a:t>
              </a:r>
              <a:r>
                <a:rPr lang="zh-CN" altLang="en-US" sz="1800" b="1" dirty="0">
                  <a:solidFill>
                    <a:srgbClr val="000099"/>
                  </a:solidFill>
                  <a:latin typeface="微软雅黑" panose="020B0503020204020204" pitchFamily="34" charset="-122"/>
                  <a:ea typeface="微软雅黑" panose="020B0503020204020204" pitchFamily="34" charset="-122"/>
                </a:rPr>
                <a:t>可以是用点分十进制</a:t>
              </a:r>
              <a:r>
                <a:rPr lang="zh-CN" altLang="en-US" sz="1800" b="1" dirty="0" smtClean="0">
                  <a:solidFill>
                    <a:srgbClr val="000099"/>
                  </a:solidFill>
                  <a:latin typeface="微软雅黑" panose="020B0503020204020204" pitchFamily="34" charset="-122"/>
                  <a:ea typeface="微软雅黑" panose="020B0503020204020204" pitchFamily="34" charset="-122"/>
                </a:rPr>
                <a:t>的 </a:t>
              </a:r>
              <a:r>
                <a:rPr lang="en-US" altLang="zh-CN" sz="1800" b="1" dirty="0" smtClean="0">
                  <a:solidFill>
                    <a:srgbClr val="000099"/>
                  </a:solidFill>
                  <a:latin typeface="微软雅黑" panose="020B0503020204020204" pitchFamily="34" charset="-122"/>
                  <a:ea typeface="微软雅黑" panose="020B0503020204020204" pitchFamily="34" charset="-122"/>
                </a:rPr>
                <a:t>IP </a:t>
              </a:r>
              <a:r>
                <a:rPr lang="zh-CN" altLang="en-US" sz="1800" b="1" dirty="0" smtClean="0">
                  <a:solidFill>
                    <a:srgbClr val="000099"/>
                  </a:solidFill>
                  <a:latin typeface="微软雅黑" panose="020B0503020204020204" pitchFamily="34" charset="-122"/>
                  <a:ea typeface="微软雅黑" panose="020B0503020204020204" pitchFamily="34" charset="-122"/>
                </a:rPr>
                <a:t>地址</a:t>
              </a:r>
              <a:r>
                <a:rPr lang="zh-CN" altLang="en-US" sz="1800" b="1" dirty="0">
                  <a:solidFill>
                    <a:srgbClr val="000099"/>
                  </a:solidFill>
                  <a:latin typeface="微软雅黑" panose="020B0503020204020204" pitchFamily="34" charset="-122"/>
                  <a:ea typeface="微软雅黑" panose="020B0503020204020204" pitchFamily="34" charset="-122"/>
                </a:rPr>
                <a:t>。</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5" name="Group 31"/>
          <p:cNvGrpSpPr/>
          <p:nvPr/>
        </p:nvGrpSpPr>
        <p:grpSpPr bwMode="auto">
          <a:xfrm>
            <a:off x="4593834" y="2462962"/>
            <a:ext cx="2730656" cy="1173984"/>
            <a:chOff x="1467" y="2568"/>
            <a:chExt cx="2555" cy="1190"/>
          </a:xfrm>
        </p:grpSpPr>
        <p:sp>
          <p:nvSpPr>
            <p:cNvPr id="16" name="Line 26"/>
            <p:cNvSpPr>
              <a:spLocks noChangeShapeType="1"/>
            </p:cNvSpPr>
            <p:nvPr/>
          </p:nvSpPr>
          <p:spPr bwMode="auto">
            <a:xfrm>
              <a:off x="1467" y="2568"/>
              <a:ext cx="70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7" name="Freeform 27"/>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Text Box 29"/>
            <p:cNvSpPr txBox="1">
              <a:spLocks noChangeArrowheads="1"/>
            </p:cNvSpPr>
            <p:nvPr/>
          </p:nvSpPr>
          <p:spPr bwMode="auto">
            <a:xfrm>
              <a:off x="2169" y="3103"/>
              <a:ext cx="1853" cy="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rgbClr val="000099"/>
                  </a:solidFill>
                  <a:latin typeface="微软雅黑" panose="020B0503020204020204" pitchFamily="34" charset="-122"/>
                  <a:ea typeface="微软雅黑" panose="020B0503020204020204" pitchFamily="34" charset="-122"/>
                </a:rPr>
                <a:t>端口</a:t>
              </a:r>
              <a:r>
                <a:rPr lang="zh-CN" altLang="en-US" sz="1800" b="1" dirty="0" smtClean="0">
                  <a:solidFill>
                    <a:srgbClr val="000099"/>
                  </a:solidFill>
                  <a:latin typeface="微软雅黑" panose="020B0503020204020204" pitchFamily="34" charset="-122"/>
                  <a:ea typeface="微软雅黑" panose="020B0503020204020204" pitchFamily="34" charset="-122"/>
                </a:rPr>
                <a:t>号。</a:t>
              </a:r>
              <a:r>
                <a:rPr lang="zh-CN" altLang="en-US" sz="1800" b="1" dirty="0">
                  <a:solidFill>
                    <a:srgbClr val="000099"/>
                  </a:solidFill>
                  <a:latin typeface="微软雅黑" panose="020B0503020204020204" pitchFamily="34" charset="-122"/>
                  <a:ea typeface="微软雅黑" panose="020B0503020204020204" pitchFamily="34" charset="-122"/>
                </a:rPr>
                <a:t>省略</a:t>
              </a:r>
              <a:r>
                <a:rPr lang="zh-CN" altLang="en-US" sz="1800" b="1" dirty="0" smtClean="0">
                  <a:solidFill>
                    <a:srgbClr val="000099"/>
                  </a:solidFill>
                  <a:latin typeface="微软雅黑" panose="020B0503020204020204" pitchFamily="34" charset="-122"/>
                  <a:ea typeface="微软雅黑" panose="020B0503020204020204" pitchFamily="34" charset="-122"/>
                </a:rPr>
                <a:t>时使用默认</a:t>
              </a:r>
              <a:r>
                <a:rPr lang="zh-CN" altLang="en-US" sz="1800" b="1" dirty="0">
                  <a:solidFill>
                    <a:srgbClr val="000099"/>
                  </a:solidFill>
                  <a:latin typeface="微软雅黑" panose="020B0503020204020204" pitchFamily="34" charset="-122"/>
                  <a:ea typeface="微软雅黑" panose="020B0503020204020204" pitchFamily="34" charset="-122"/>
                </a:rPr>
                <a:t>端口</a:t>
              </a:r>
              <a:r>
                <a:rPr lang="zh-CN" altLang="en-US" sz="1800" b="1" dirty="0" smtClean="0">
                  <a:solidFill>
                    <a:srgbClr val="000099"/>
                  </a:solidFill>
                  <a:latin typeface="微软雅黑" panose="020B0503020204020204" pitchFamily="34" charset="-122"/>
                  <a:ea typeface="微软雅黑" panose="020B0503020204020204" pitchFamily="34" charset="-122"/>
                </a:rPr>
                <a:t>号。</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5" name="Group 31"/>
          <p:cNvGrpSpPr/>
          <p:nvPr/>
        </p:nvGrpSpPr>
        <p:grpSpPr bwMode="auto">
          <a:xfrm>
            <a:off x="5511255" y="2462961"/>
            <a:ext cx="2940131" cy="1402861"/>
            <a:chOff x="1467" y="2568"/>
            <a:chExt cx="2751" cy="1422"/>
          </a:xfrm>
        </p:grpSpPr>
        <p:sp>
          <p:nvSpPr>
            <p:cNvPr id="16" name="Line 26"/>
            <p:cNvSpPr>
              <a:spLocks noChangeShapeType="1"/>
            </p:cNvSpPr>
            <p:nvPr/>
          </p:nvSpPr>
          <p:spPr bwMode="auto">
            <a:xfrm>
              <a:off x="1467" y="2568"/>
              <a:ext cx="70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7" name="Freeform 27"/>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Text Box 29"/>
            <p:cNvSpPr txBox="1">
              <a:spLocks noChangeArrowheads="1"/>
            </p:cNvSpPr>
            <p:nvPr/>
          </p:nvSpPr>
          <p:spPr bwMode="auto">
            <a:xfrm>
              <a:off x="2169" y="2649"/>
              <a:ext cx="2049" cy="1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资源所在目录位置。区分大小写。省略时使用所定义的默认路径。后面</a:t>
              </a:r>
              <a:r>
                <a:rPr lang="zh-CN" altLang="en-US" sz="1600" b="1" dirty="0">
                  <a:solidFill>
                    <a:srgbClr val="000099"/>
                  </a:solidFill>
                  <a:latin typeface="微软雅黑" panose="020B0503020204020204" pitchFamily="34" charset="-122"/>
                  <a:ea typeface="微软雅黑" panose="020B0503020204020204" pitchFamily="34" charset="-122"/>
                </a:rPr>
                <a:t>可能还有一些</a:t>
              </a:r>
              <a:r>
                <a:rPr lang="zh-CN" altLang="en-US" sz="1600" b="1" dirty="0" smtClean="0">
                  <a:solidFill>
                    <a:srgbClr val="000099"/>
                  </a:solidFill>
                  <a:latin typeface="微软雅黑" panose="020B0503020204020204" pitchFamily="34" charset="-122"/>
                  <a:ea typeface="微软雅黑" panose="020B0503020204020204" pitchFamily="34" charset="-122"/>
                </a:rPr>
                <a:t>选项。</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56963" y="1010569"/>
            <a:ext cx="8048776" cy="34371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56963" y="6104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22360" y="577248"/>
            <a:ext cx="27179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a:solidFill>
                  <a:schemeClr val="bg1"/>
                </a:solidFill>
                <a:latin typeface="微软雅黑" panose="020B0503020204020204" pitchFamily="34" charset="-122"/>
                <a:ea typeface="微软雅黑" panose="020B0503020204020204" pitchFamily="34" charset="-122"/>
              </a:rPr>
              <a:t>HTTP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URL</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矩形 1"/>
          <p:cNvSpPr/>
          <p:nvPr/>
        </p:nvSpPr>
        <p:spPr>
          <a:xfrm>
            <a:off x="2427331" y="2390985"/>
            <a:ext cx="3650358" cy="369332"/>
          </a:xfrm>
          <a:prstGeom prst="rect">
            <a:avLst/>
          </a:prstGeom>
          <a:solidFill>
            <a:srgbClr val="0000FF"/>
          </a:solidFill>
        </p:spPr>
        <p:txBody>
          <a:bodyPr wrap="none">
            <a:spAutoFit/>
          </a:bodyPr>
          <a:lstStyle/>
          <a:p>
            <a:pPr algn="ctr" eaLnBrk="0" hangingPunct="0">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http://&lt;</a:t>
            </a:r>
            <a:r>
              <a:rPr lang="zh-CN" altLang="en-US" b="1" dirty="0">
                <a:solidFill>
                  <a:schemeClr val="bg1"/>
                </a:solidFill>
                <a:latin typeface="微软雅黑" panose="020B0503020204020204" pitchFamily="34" charset="-122"/>
                <a:ea typeface="微软雅黑" panose="020B0503020204020204" pitchFamily="34" charset="-122"/>
              </a:rPr>
              <a:t>主机</a:t>
            </a:r>
            <a:r>
              <a:rPr lang="en-US" altLang="zh-CN" b="1" dirty="0">
                <a:solidFill>
                  <a:schemeClr val="bg1"/>
                </a:solidFill>
                <a:latin typeface="微软雅黑" panose="020B0503020204020204" pitchFamily="34" charset="-122"/>
                <a:ea typeface="微软雅黑" panose="020B0503020204020204" pitchFamily="34" charset="-122"/>
              </a:rPr>
              <a:t>&gt;:&lt;</a:t>
            </a:r>
            <a:r>
              <a:rPr lang="zh-CN" altLang="en-US" b="1" dirty="0">
                <a:solidFill>
                  <a:schemeClr val="bg1"/>
                </a:solidFill>
                <a:latin typeface="微软雅黑" panose="020B0503020204020204" pitchFamily="34" charset="-122"/>
                <a:ea typeface="微软雅黑" panose="020B0503020204020204" pitchFamily="34" charset="-122"/>
              </a:rPr>
              <a:t>端口</a:t>
            </a:r>
            <a:r>
              <a:rPr lang="en-US" altLang="zh-CN" b="1" dirty="0">
                <a:solidFill>
                  <a:schemeClr val="bg1"/>
                </a:solidFill>
                <a:latin typeface="微软雅黑" panose="020B0503020204020204" pitchFamily="34" charset="-122"/>
                <a:ea typeface="微软雅黑" panose="020B0503020204020204" pitchFamily="34" charset="-122"/>
              </a:rPr>
              <a:t>&gt;/&lt;</a:t>
            </a:r>
            <a:r>
              <a:rPr lang="zh-CN" altLang="en-US" b="1" dirty="0">
                <a:solidFill>
                  <a:schemeClr val="bg1"/>
                </a:solidFill>
                <a:latin typeface="微软雅黑" panose="020B0503020204020204" pitchFamily="34" charset="-122"/>
                <a:ea typeface="微软雅黑" panose="020B0503020204020204" pitchFamily="34" charset="-122"/>
              </a:rPr>
              <a:t>路径</a:t>
            </a:r>
            <a:r>
              <a:rPr lang="en-US" altLang="zh-CN" b="1" dirty="0">
                <a:solidFill>
                  <a:schemeClr val="bg1"/>
                </a:solidFill>
                <a:latin typeface="微软雅黑" panose="020B0503020204020204" pitchFamily="34" charset="-122"/>
                <a:ea typeface="微软雅黑" panose="020B0503020204020204" pitchFamily="34" charset="-122"/>
              </a:rPr>
              <a:t>&gt; </a:t>
            </a:r>
            <a:endParaRPr lang="en-US" altLang="zh-CN" b="1" dirty="0">
              <a:solidFill>
                <a:schemeClr val="bg1"/>
              </a:solidFill>
              <a:latin typeface="微软雅黑" panose="020B0503020204020204" pitchFamily="34" charset="-122"/>
              <a:ea typeface="微软雅黑" panose="020B0503020204020204" pitchFamily="34" charset="-122"/>
            </a:endParaRPr>
          </a:p>
        </p:txBody>
      </p:sp>
      <p:grpSp>
        <p:nvGrpSpPr>
          <p:cNvPr id="12" name="Group 9"/>
          <p:cNvGrpSpPr/>
          <p:nvPr/>
        </p:nvGrpSpPr>
        <p:grpSpPr bwMode="auto">
          <a:xfrm>
            <a:off x="2458569" y="1029707"/>
            <a:ext cx="1899003" cy="1758800"/>
            <a:chOff x="1134" y="529"/>
            <a:chExt cx="1491" cy="1496"/>
          </a:xfrm>
        </p:grpSpPr>
        <p:grpSp>
          <p:nvGrpSpPr>
            <p:cNvPr id="13" name="Group 5"/>
            <p:cNvGrpSpPr/>
            <p:nvPr/>
          </p:nvGrpSpPr>
          <p:grpSpPr bwMode="auto">
            <a:xfrm>
              <a:off x="1134" y="817"/>
              <a:ext cx="443" cy="1208"/>
              <a:chOff x="1140" y="723"/>
              <a:chExt cx="325" cy="1208"/>
            </a:xfrm>
          </p:grpSpPr>
          <p:sp>
            <p:nvSpPr>
              <p:cNvPr id="15" name="Rectangle 6"/>
              <p:cNvSpPr>
                <a:spLocks noChangeArrowheads="1"/>
              </p:cNvSpPr>
              <p:nvPr/>
            </p:nvSpPr>
            <p:spPr bwMode="auto">
              <a:xfrm>
                <a:off x="1140" y="1570"/>
                <a:ext cx="325" cy="361"/>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16" name="Line 7"/>
              <p:cNvSpPr>
                <a:spLocks noChangeShapeType="1"/>
              </p:cNvSpPr>
              <p:nvPr/>
            </p:nvSpPr>
            <p:spPr bwMode="auto">
              <a:xfrm flipV="1">
                <a:off x="1303" y="723"/>
                <a:ext cx="0" cy="847"/>
              </a:xfrm>
              <a:prstGeom prst="line">
                <a:avLst/>
              </a:prstGeom>
              <a:noFill/>
              <a:ln w="38100">
                <a:solidFill>
                  <a:srgbClr val="CC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14" name="Text Box 8"/>
            <p:cNvSpPr txBox="1">
              <a:spLocks noChangeArrowheads="1"/>
            </p:cNvSpPr>
            <p:nvPr/>
          </p:nvSpPr>
          <p:spPr bwMode="auto">
            <a:xfrm>
              <a:off x="1136" y="529"/>
              <a:ext cx="1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smtClean="0">
                  <a:solidFill>
                    <a:srgbClr val="000099"/>
                  </a:solidFill>
                  <a:latin typeface="微软雅黑" panose="020B0503020204020204" pitchFamily="34" charset="-122"/>
                  <a:ea typeface="微软雅黑" panose="020B0503020204020204" pitchFamily="34" charset="-122"/>
                </a:rPr>
                <a:t>使用 </a:t>
              </a:r>
              <a:r>
                <a:rPr lang="en-US" altLang="zh-CN" sz="1600" b="1" dirty="0">
                  <a:solidFill>
                    <a:srgbClr val="000099"/>
                  </a:solidFill>
                  <a:latin typeface="微软雅黑" panose="020B0503020204020204" pitchFamily="34" charset="-122"/>
                  <a:ea typeface="微软雅黑" panose="020B0503020204020204" pitchFamily="34" charset="-122"/>
                </a:rPr>
                <a:t>HTTP </a:t>
              </a:r>
              <a:r>
                <a:rPr lang="zh-CN" altLang="en-US" sz="1600" b="1" dirty="0" smtClean="0">
                  <a:solidFill>
                    <a:srgbClr val="000099"/>
                  </a:solidFill>
                  <a:latin typeface="微软雅黑" panose="020B0503020204020204" pitchFamily="34" charset="-122"/>
                  <a:ea typeface="微软雅黑" panose="020B0503020204020204" pitchFamily="34" charset="-122"/>
                </a:rPr>
                <a:t>协议。</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897028" y="3736373"/>
            <a:ext cx="7436338" cy="711340"/>
            <a:chOff x="265563" y="3877237"/>
            <a:chExt cx="10483512" cy="1002823"/>
          </a:xfrm>
        </p:grpSpPr>
        <p:sp>
          <p:nvSpPr>
            <p:cNvPr id="18" name="矩形 17"/>
            <p:cNvSpPr/>
            <p:nvPr/>
          </p:nvSpPr>
          <p:spPr>
            <a:xfrm>
              <a:off x="265563" y="3877237"/>
              <a:ext cx="10483512" cy="433894"/>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cs typeface="Times New Roman" panose="02020603050405020304" pitchFamily="18" charset="0"/>
                </a:rPr>
                <a:t>http://www.tsinghua.edu.cn/publish/newthu/newthu_cnt/faculties/index.html</a:t>
              </a:r>
              <a:endParaRPr lang="zh-CN" altLang="zh-CN"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左大括号 18"/>
            <p:cNvSpPr/>
            <p:nvPr/>
          </p:nvSpPr>
          <p:spPr>
            <a:xfrm rot="16200000">
              <a:off x="2463162" y="3024028"/>
              <a:ext cx="165502" cy="2592000"/>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20" name="左大括号 19"/>
            <p:cNvSpPr/>
            <p:nvPr/>
          </p:nvSpPr>
          <p:spPr>
            <a:xfrm rot="16200000">
              <a:off x="7059606" y="1234436"/>
              <a:ext cx="165505" cy="6171181"/>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21" name="TextBox 17"/>
            <p:cNvSpPr txBox="1"/>
            <p:nvPr/>
          </p:nvSpPr>
          <p:spPr>
            <a:xfrm>
              <a:off x="1830183" y="4402778"/>
              <a:ext cx="1417385" cy="477282"/>
            </a:xfrm>
            <a:prstGeom prst="rect">
              <a:avLst/>
            </a:prstGeom>
            <a:noFill/>
          </p:spPr>
          <p:txBody>
            <a:bodyPr wrap="none" rtlCol="0">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主机域名</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22" name="TextBox 18"/>
            <p:cNvSpPr txBox="1"/>
            <p:nvPr/>
          </p:nvSpPr>
          <p:spPr>
            <a:xfrm>
              <a:off x="6559571" y="4402777"/>
              <a:ext cx="1469070" cy="477282"/>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r>
                <a:rPr lang="zh-CN" altLang="en-US" sz="1600" dirty="0">
                  <a:solidFill>
                    <a:srgbClr val="0000FF"/>
                  </a:solidFill>
                  <a:latin typeface="微软雅黑" panose="020B0503020204020204" pitchFamily="34" charset="-122"/>
                  <a:ea typeface="微软雅黑" panose="020B0503020204020204" pitchFamily="34" charset="-122"/>
                </a:rPr>
                <a:t>路径名</a:t>
              </a:r>
              <a:endParaRPr lang="zh-CN" altLang="en-US" sz="1600" dirty="0">
                <a:solidFill>
                  <a:srgbClr val="0000FF"/>
                </a:solidFill>
                <a:latin typeface="微软雅黑" panose="020B0503020204020204" pitchFamily="34" charset="-122"/>
                <a:ea typeface="微软雅黑" panose="020B0503020204020204" pitchFamily="34" charset="-122"/>
              </a:endParaRPr>
            </a:p>
          </p:txBody>
        </p:sp>
      </p:grpSp>
      <p:grpSp>
        <p:nvGrpSpPr>
          <p:cNvPr id="28" name="Group 9"/>
          <p:cNvGrpSpPr/>
          <p:nvPr/>
        </p:nvGrpSpPr>
        <p:grpSpPr bwMode="auto">
          <a:xfrm>
            <a:off x="2920865" y="1322749"/>
            <a:ext cx="1416291" cy="1466052"/>
            <a:chOff x="1207" y="782"/>
            <a:chExt cx="1112" cy="1247"/>
          </a:xfrm>
        </p:grpSpPr>
        <p:grpSp>
          <p:nvGrpSpPr>
            <p:cNvPr id="29" name="Group 5"/>
            <p:cNvGrpSpPr/>
            <p:nvPr/>
          </p:nvGrpSpPr>
          <p:grpSpPr bwMode="auto">
            <a:xfrm>
              <a:off x="1289" y="1046"/>
              <a:ext cx="248" cy="983"/>
              <a:chOff x="1254" y="952"/>
              <a:chExt cx="182" cy="983"/>
            </a:xfrm>
          </p:grpSpPr>
          <p:sp>
            <p:nvSpPr>
              <p:cNvPr id="31" name="Rectangle 6"/>
              <p:cNvSpPr>
                <a:spLocks noChangeArrowheads="1"/>
              </p:cNvSpPr>
              <p:nvPr/>
            </p:nvSpPr>
            <p:spPr bwMode="auto">
              <a:xfrm>
                <a:off x="1254" y="1574"/>
                <a:ext cx="182" cy="361"/>
              </a:xfrm>
              <a:prstGeom prst="rect">
                <a:avLst/>
              </a:prstGeom>
              <a:noFill/>
              <a:ln w="38100">
                <a:solidFill>
                  <a:schemeClr val="accent6">
                    <a:lumMod val="75000"/>
                  </a:schemeClr>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32" name="Line 7"/>
              <p:cNvSpPr>
                <a:spLocks noChangeShapeType="1"/>
              </p:cNvSpPr>
              <p:nvPr/>
            </p:nvSpPr>
            <p:spPr bwMode="auto">
              <a:xfrm flipV="1">
                <a:off x="1343" y="952"/>
                <a:ext cx="0" cy="613"/>
              </a:xfrm>
              <a:prstGeom prst="line">
                <a:avLst/>
              </a:prstGeom>
              <a:noFill/>
              <a:ln w="38100">
                <a:solidFill>
                  <a:schemeClr val="accent6">
                    <a:lumMod val="75000"/>
                  </a:schemeClr>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30" name="Text Box 8"/>
            <p:cNvSpPr txBox="1">
              <a:spLocks noChangeArrowheads="1"/>
            </p:cNvSpPr>
            <p:nvPr/>
          </p:nvSpPr>
          <p:spPr bwMode="auto">
            <a:xfrm>
              <a:off x="1207" y="782"/>
              <a:ext cx="11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规定</a:t>
              </a:r>
              <a:r>
                <a:rPr lang="zh-CN" altLang="en-US" sz="1600" b="1" dirty="0">
                  <a:solidFill>
                    <a:srgbClr val="000099"/>
                  </a:solidFill>
                  <a:latin typeface="微软雅黑" panose="020B0503020204020204" pitchFamily="34" charset="-122"/>
                  <a:ea typeface="微软雅黑" panose="020B0503020204020204" pitchFamily="34" charset="-122"/>
                </a:rPr>
                <a:t>的格式。</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33" name="Group 9"/>
          <p:cNvGrpSpPr/>
          <p:nvPr/>
        </p:nvGrpSpPr>
        <p:grpSpPr bwMode="auto">
          <a:xfrm>
            <a:off x="3341090" y="1632850"/>
            <a:ext cx="2151185" cy="1155683"/>
            <a:chOff x="1102" y="1036"/>
            <a:chExt cx="1689" cy="983"/>
          </a:xfrm>
        </p:grpSpPr>
        <p:grpSp>
          <p:nvGrpSpPr>
            <p:cNvPr id="34" name="Group 5"/>
            <p:cNvGrpSpPr/>
            <p:nvPr/>
          </p:nvGrpSpPr>
          <p:grpSpPr bwMode="auto">
            <a:xfrm>
              <a:off x="1105" y="1303"/>
              <a:ext cx="583" cy="716"/>
              <a:chOff x="1119" y="1209"/>
              <a:chExt cx="428" cy="716"/>
            </a:xfrm>
          </p:grpSpPr>
          <p:sp>
            <p:nvSpPr>
              <p:cNvPr id="36" name="Rectangle 6"/>
              <p:cNvSpPr>
                <a:spLocks noChangeArrowheads="1"/>
              </p:cNvSpPr>
              <p:nvPr/>
            </p:nvSpPr>
            <p:spPr bwMode="auto">
              <a:xfrm>
                <a:off x="1119" y="1564"/>
                <a:ext cx="428" cy="361"/>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37" name="Line 7"/>
              <p:cNvSpPr>
                <a:spLocks noChangeShapeType="1"/>
              </p:cNvSpPr>
              <p:nvPr/>
            </p:nvSpPr>
            <p:spPr bwMode="auto">
              <a:xfrm flipV="1">
                <a:off x="1338" y="1209"/>
                <a:ext cx="0" cy="355"/>
              </a:xfrm>
              <a:prstGeom prst="line">
                <a:avLst/>
              </a:prstGeom>
              <a:noFill/>
              <a:ln w="38100">
                <a:solidFill>
                  <a:srgbClr val="CC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35" name="Text Box 8"/>
            <p:cNvSpPr txBox="1">
              <a:spLocks noChangeArrowheads="1"/>
            </p:cNvSpPr>
            <p:nvPr/>
          </p:nvSpPr>
          <p:spPr bwMode="auto">
            <a:xfrm>
              <a:off x="1102" y="1036"/>
              <a:ext cx="16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主机域名或 </a:t>
              </a:r>
              <a:r>
                <a:rPr lang="en-US" altLang="zh-CN" sz="1600" b="1" dirty="0" smtClean="0">
                  <a:solidFill>
                    <a:srgbClr val="000099"/>
                  </a:solidFill>
                  <a:latin typeface="微软雅黑" panose="020B0503020204020204" pitchFamily="34" charset="-122"/>
                  <a:ea typeface="微软雅黑" panose="020B0503020204020204" pitchFamily="34" charset="-122"/>
                </a:rPr>
                <a:t>IP </a:t>
              </a:r>
              <a:r>
                <a:rPr lang="zh-CN" altLang="en-US" sz="1600" b="1" dirty="0" smtClean="0">
                  <a:solidFill>
                    <a:srgbClr val="000099"/>
                  </a:solidFill>
                  <a:latin typeface="微软雅黑" panose="020B0503020204020204" pitchFamily="34" charset="-122"/>
                  <a:ea typeface="微软雅黑" panose="020B0503020204020204" pitchFamily="34" charset="-122"/>
                </a:rPr>
                <a:t>地址。</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38" name="Group 9"/>
          <p:cNvGrpSpPr/>
          <p:nvPr/>
        </p:nvGrpSpPr>
        <p:grpSpPr bwMode="auto">
          <a:xfrm>
            <a:off x="4162931" y="1937876"/>
            <a:ext cx="3585306" cy="851184"/>
            <a:chOff x="1058" y="1303"/>
            <a:chExt cx="2815" cy="724"/>
          </a:xfrm>
        </p:grpSpPr>
        <p:grpSp>
          <p:nvGrpSpPr>
            <p:cNvPr id="39" name="Group 5"/>
            <p:cNvGrpSpPr/>
            <p:nvPr/>
          </p:nvGrpSpPr>
          <p:grpSpPr bwMode="auto">
            <a:xfrm>
              <a:off x="1108" y="1507"/>
              <a:ext cx="568" cy="520"/>
              <a:chOff x="1120" y="1413"/>
              <a:chExt cx="417" cy="520"/>
            </a:xfrm>
          </p:grpSpPr>
          <p:sp>
            <p:nvSpPr>
              <p:cNvPr id="41" name="Rectangle 6"/>
              <p:cNvSpPr>
                <a:spLocks noChangeArrowheads="1"/>
              </p:cNvSpPr>
              <p:nvPr/>
            </p:nvSpPr>
            <p:spPr bwMode="auto">
              <a:xfrm>
                <a:off x="1120" y="1572"/>
                <a:ext cx="417" cy="361"/>
              </a:xfrm>
              <a:prstGeom prst="rect">
                <a:avLst/>
              </a:prstGeom>
              <a:noFill/>
              <a:ln w="38100">
                <a:solidFill>
                  <a:schemeClr val="accent6">
                    <a:lumMod val="75000"/>
                  </a:schemeClr>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42" name="Line 7"/>
              <p:cNvSpPr>
                <a:spLocks noChangeShapeType="1"/>
              </p:cNvSpPr>
              <p:nvPr/>
            </p:nvSpPr>
            <p:spPr bwMode="auto">
              <a:xfrm flipV="1">
                <a:off x="1338" y="1413"/>
                <a:ext cx="0" cy="159"/>
              </a:xfrm>
              <a:prstGeom prst="line">
                <a:avLst/>
              </a:prstGeom>
              <a:noFill/>
              <a:ln w="38100">
                <a:solidFill>
                  <a:schemeClr val="accent6">
                    <a:lumMod val="75000"/>
                  </a:schemeClr>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40" name="Text Box 8"/>
            <p:cNvSpPr txBox="1">
              <a:spLocks noChangeArrowheads="1"/>
            </p:cNvSpPr>
            <p:nvPr/>
          </p:nvSpPr>
          <p:spPr bwMode="auto">
            <a:xfrm>
              <a:off x="1058" y="1303"/>
              <a:ext cx="28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en-US" altLang="zh-CN" sz="1600" b="1" dirty="0">
                  <a:solidFill>
                    <a:srgbClr val="000099"/>
                  </a:solidFill>
                  <a:latin typeface="微软雅黑" panose="020B0503020204020204" pitchFamily="34" charset="-122"/>
                  <a:ea typeface="微软雅黑" panose="020B0503020204020204" pitchFamily="34" charset="-122"/>
                </a:rPr>
                <a:t>HTTP </a:t>
              </a:r>
              <a:r>
                <a:rPr lang="zh-CN" altLang="en-US" sz="1600" b="1" dirty="0">
                  <a:solidFill>
                    <a:srgbClr val="000099"/>
                  </a:solidFill>
                  <a:latin typeface="微软雅黑" panose="020B0503020204020204" pitchFamily="34" charset="-122"/>
                  <a:ea typeface="微软雅黑" panose="020B0503020204020204" pitchFamily="34" charset="-122"/>
                </a:rPr>
                <a:t>的默认端口号是 </a:t>
              </a:r>
              <a:r>
                <a:rPr lang="en-US" altLang="zh-CN" sz="1600" b="1" dirty="0">
                  <a:solidFill>
                    <a:srgbClr val="000099"/>
                  </a:solidFill>
                  <a:latin typeface="微软雅黑" panose="020B0503020204020204" pitchFamily="34" charset="-122"/>
                  <a:ea typeface="微软雅黑" panose="020B0503020204020204" pitchFamily="34" charset="-122"/>
                </a:rPr>
                <a:t>80</a:t>
              </a:r>
              <a:r>
                <a:rPr lang="zh-CN" altLang="en-US" sz="1600" b="1" dirty="0" smtClean="0">
                  <a:solidFill>
                    <a:srgbClr val="000099"/>
                  </a:solidFill>
                  <a:latin typeface="微软雅黑" panose="020B0503020204020204" pitchFamily="34" charset="-122"/>
                  <a:ea typeface="微软雅黑" panose="020B0503020204020204" pitchFamily="34" charset="-122"/>
                </a:rPr>
                <a:t>，可</a:t>
              </a:r>
              <a:r>
                <a:rPr lang="zh-CN" altLang="en-US" sz="1600" b="1" dirty="0">
                  <a:solidFill>
                    <a:srgbClr val="000099"/>
                  </a:solidFill>
                  <a:latin typeface="微软雅黑" panose="020B0503020204020204" pitchFamily="34" charset="-122"/>
                  <a:ea typeface="微软雅黑" panose="020B0503020204020204" pitchFamily="34" charset="-122"/>
                </a:rPr>
                <a:t>省略。</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43" name="Group 9"/>
          <p:cNvGrpSpPr/>
          <p:nvPr/>
        </p:nvGrpSpPr>
        <p:grpSpPr bwMode="auto">
          <a:xfrm>
            <a:off x="3809948" y="2364507"/>
            <a:ext cx="3949568" cy="1390817"/>
            <a:chOff x="915" y="1658"/>
            <a:chExt cx="3101" cy="1183"/>
          </a:xfrm>
        </p:grpSpPr>
        <p:grpSp>
          <p:nvGrpSpPr>
            <p:cNvPr id="44" name="Group 5"/>
            <p:cNvGrpSpPr/>
            <p:nvPr/>
          </p:nvGrpSpPr>
          <p:grpSpPr bwMode="auto">
            <a:xfrm>
              <a:off x="1818" y="1658"/>
              <a:ext cx="582" cy="528"/>
              <a:chOff x="1646" y="1564"/>
              <a:chExt cx="428" cy="528"/>
            </a:xfrm>
          </p:grpSpPr>
          <p:sp>
            <p:nvSpPr>
              <p:cNvPr id="46" name="Rectangle 6"/>
              <p:cNvSpPr>
                <a:spLocks noChangeArrowheads="1"/>
              </p:cNvSpPr>
              <p:nvPr/>
            </p:nvSpPr>
            <p:spPr bwMode="auto">
              <a:xfrm>
                <a:off x="1646" y="1564"/>
                <a:ext cx="428" cy="360"/>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47" name="Line 7"/>
              <p:cNvSpPr>
                <a:spLocks noChangeShapeType="1"/>
              </p:cNvSpPr>
              <p:nvPr/>
            </p:nvSpPr>
            <p:spPr bwMode="auto">
              <a:xfrm flipV="1">
                <a:off x="1846" y="1933"/>
                <a:ext cx="0" cy="159"/>
              </a:xfrm>
              <a:prstGeom prst="line">
                <a:avLst/>
              </a:prstGeom>
              <a:noFill/>
              <a:ln w="38100">
                <a:solidFill>
                  <a:srgbClr val="CC00CC"/>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45" name="Text Box 8"/>
            <p:cNvSpPr txBox="1">
              <a:spLocks noChangeArrowheads="1"/>
            </p:cNvSpPr>
            <p:nvPr/>
          </p:nvSpPr>
          <p:spPr bwMode="auto">
            <a:xfrm>
              <a:off x="915" y="2134"/>
              <a:ext cx="3101" cy="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省略时指</a:t>
              </a:r>
              <a:r>
                <a:rPr lang="zh-CN" altLang="en-US" sz="1600" b="1" dirty="0">
                  <a:solidFill>
                    <a:srgbClr val="000099"/>
                  </a:solidFill>
                  <a:latin typeface="微软雅黑" panose="020B0503020204020204" pitchFamily="34" charset="-122"/>
                  <a:ea typeface="微软雅黑" panose="020B0503020204020204" pitchFamily="34" charset="-122"/>
                </a:rPr>
                <a:t>到互联网上的某个主页 </a:t>
              </a:r>
              <a:r>
                <a:rPr lang="en-US" altLang="zh-CN" sz="1600" b="1" dirty="0">
                  <a:solidFill>
                    <a:srgbClr val="000099"/>
                  </a:solidFill>
                  <a:latin typeface="微软雅黑" panose="020B0503020204020204" pitchFamily="34" charset="-122"/>
                  <a:ea typeface="微软雅黑" panose="020B0503020204020204" pitchFamily="34" charset="-122"/>
                </a:rPr>
                <a:t>(home page)</a:t>
              </a:r>
              <a:r>
                <a:rPr lang="zh-CN" altLang="en-US" sz="1600" b="1" dirty="0" smtClean="0">
                  <a:solidFill>
                    <a:srgbClr val="000099"/>
                  </a:solidFill>
                  <a:latin typeface="微软雅黑" panose="020B0503020204020204" pitchFamily="34" charset="-122"/>
                  <a:ea typeface="微软雅黑" panose="020B0503020204020204" pitchFamily="34" charset="-122"/>
                </a:rPr>
                <a:t>。更</a:t>
              </a:r>
              <a:r>
                <a:rPr lang="zh-CN" altLang="en-US" sz="1600" b="1" dirty="0">
                  <a:solidFill>
                    <a:srgbClr val="000099"/>
                  </a:solidFill>
                  <a:latin typeface="微软雅黑" panose="020B0503020204020204" pitchFamily="34" charset="-122"/>
                  <a:ea typeface="微软雅黑" panose="020B0503020204020204" pitchFamily="34" charset="-122"/>
                </a:rPr>
                <a:t>复杂一些的路径是指向层次结构的从属页面</a:t>
              </a:r>
              <a:r>
                <a:rPr lang="zh-CN" altLang="en-US" sz="1600" b="1" dirty="0" smtClean="0">
                  <a:solidFill>
                    <a:srgbClr val="000099"/>
                  </a:solidFill>
                  <a:latin typeface="微软雅黑" panose="020B0503020204020204" pitchFamily="34" charset="-122"/>
                  <a:ea typeface="微软雅黑" panose="020B0503020204020204" pitchFamily="34" charset="-122"/>
                </a:rPr>
                <a:t>。</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down)">
                                      <p:cBhvr>
                                        <p:cTn id="11" dur="1000"/>
                                        <p:tgtEl>
                                          <p:spTgt spid="28"/>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down)">
                                      <p:cBhvr>
                                        <p:cTn id="15" dur="1000"/>
                                        <p:tgtEl>
                                          <p:spTgt spid="33"/>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1000"/>
                                        <p:tgtEl>
                                          <p:spTgt spid="38"/>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up)">
                                      <p:cBhvr>
                                        <p:cTn id="23"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166833" y="3144096"/>
            <a:ext cx="6911847"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AutoShape 5"/>
          <p:cNvSpPr>
            <a:spLocks noChangeArrowheads="1"/>
          </p:cNvSpPr>
          <p:nvPr/>
        </p:nvSpPr>
        <p:spPr bwMode="auto">
          <a:xfrm>
            <a:off x="556963" y="61264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2470274" y="570371"/>
            <a:ext cx="42034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6.4.3  </a:t>
            </a:r>
            <a:r>
              <a:rPr lang="zh-CN" altLang="en-US" sz="2400" b="1" dirty="0">
                <a:solidFill>
                  <a:schemeClr val="bg1"/>
                </a:solidFill>
                <a:latin typeface="微软雅黑" panose="020B0503020204020204" pitchFamily="34" charset="-122"/>
                <a:ea typeface="微软雅黑" panose="020B0503020204020204" pitchFamily="34" charset="-122"/>
              </a:rPr>
              <a:t>超文本传送协议 </a:t>
            </a:r>
            <a:r>
              <a:rPr lang="en-US" altLang="zh-CN" sz="2400" b="1" dirty="0" smtClean="0">
                <a:solidFill>
                  <a:schemeClr val="bg1"/>
                </a:solidFill>
                <a:latin typeface="微软雅黑" panose="020B0503020204020204" pitchFamily="34" charset="-122"/>
                <a:ea typeface="微软雅黑" panose="020B0503020204020204" pitchFamily="34" charset="-122"/>
              </a:rPr>
              <a:t>HTTP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648070" y="1005402"/>
            <a:ext cx="7957669"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C00000"/>
                </a:solidFill>
                <a:latin typeface="微软雅黑" panose="020B0503020204020204" pitchFamily="34" charset="-122"/>
                <a:ea typeface="微软雅黑" panose="020B0503020204020204" pitchFamily="34" charset="-122"/>
              </a:rPr>
              <a:t>面向事务</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transaction-oriented</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应用层协议。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solidFill>
                  <a:srgbClr val="C00000"/>
                </a:solidFill>
                <a:latin typeface="微软雅黑" panose="020B0503020204020204" pitchFamily="34" charset="-122"/>
                <a:ea typeface="微软雅黑" panose="020B0503020204020204" pitchFamily="34" charset="-122"/>
              </a:rPr>
              <a:t>TCP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进行可靠的传送</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a:t>
            </a:r>
            <a:r>
              <a:rPr lang="zh-CN" altLang="en-US" sz="2000" b="1" dirty="0" smtClean="0">
                <a:latin typeface="微软雅黑" panose="020B0503020204020204" pitchFamily="34" charset="-122"/>
                <a:ea typeface="微软雅黑" panose="020B0503020204020204" pitchFamily="34" charset="-122"/>
              </a:rPr>
              <a:t>浏览器与万维网服务器通信的格式和规则。</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万维网上能够</a:t>
            </a:r>
            <a:r>
              <a:rPr lang="zh-CN" altLang="en-US" sz="2000" b="1" dirty="0">
                <a:solidFill>
                  <a:srgbClr val="C00000"/>
                </a:solidFill>
                <a:latin typeface="微软雅黑" panose="020B0503020204020204" pitchFamily="34" charset="-122"/>
                <a:ea typeface="微软雅黑" panose="020B0503020204020204" pitchFamily="34" charset="-122"/>
              </a:rPr>
              <a:t>可靠地交换文件</a:t>
            </a:r>
            <a:r>
              <a:rPr lang="zh-CN" altLang="en-US" sz="2000" b="1" dirty="0">
                <a:latin typeface="微软雅黑" panose="020B0503020204020204" pitchFamily="34" charset="-122"/>
                <a:ea typeface="微软雅黑" panose="020B0503020204020204" pitchFamily="34" charset="-122"/>
              </a:rPr>
              <a:t>（包括文本、声音、图像等各种多媒体文件）的重要基础</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2" name="矩形 1"/>
          <p:cNvSpPr/>
          <p:nvPr/>
        </p:nvSpPr>
        <p:spPr>
          <a:xfrm>
            <a:off x="1322774" y="3268300"/>
            <a:ext cx="6755906" cy="759182"/>
          </a:xfrm>
          <a:prstGeom prst="rect">
            <a:avLst/>
          </a:prstGeom>
        </p:spPr>
        <p:txBody>
          <a:bodyPr wrap="square">
            <a:spAutoFit/>
          </a:bodyPr>
          <a:lstStyle/>
          <a:p>
            <a:pPr eaLnBrk="0" hangingPunct="0">
              <a:lnSpc>
                <a:spcPts val="2600"/>
              </a:lnSpc>
              <a:buClr>
                <a:srgbClr val="0070C0"/>
              </a:buClr>
            </a:pPr>
            <a:r>
              <a:rPr lang="en-US" altLang="zh-CN" b="1" dirty="0" smtClean="0">
                <a:solidFill>
                  <a:schemeClr val="bg1"/>
                </a:solidFill>
                <a:latin typeface="微软雅黑" panose="020B0503020204020204" pitchFamily="34" charset="-122"/>
                <a:ea typeface="微软雅黑" panose="020B0503020204020204" pitchFamily="34" charset="-122"/>
              </a:rPr>
              <a:t>HTTP </a:t>
            </a:r>
            <a:r>
              <a:rPr lang="zh-CN" altLang="en-US" b="1" dirty="0" smtClean="0">
                <a:solidFill>
                  <a:schemeClr val="bg1"/>
                </a:solidFill>
                <a:latin typeface="微软雅黑" panose="020B0503020204020204" pitchFamily="34" charset="-122"/>
                <a:ea typeface="微软雅黑" panose="020B0503020204020204" pitchFamily="34" charset="-122"/>
              </a:rPr>
              <a:t>不仅</a:t>
            </a:r>
            <a:r>
              <a:rPr lang="zh-CN" altLang="en-US" b="1" dirty="0">
                <a:solidFill>
                  <a:schemeClr val="bg1"/>
                </a:solidFill>
                <a:latin typeface="微软雅黑" panose="020B0503020204020204" pitchFamily="34" charset="-122"/>
                <a:ea typeface="微软雅黑" panose="020B0503020204020204" pitchFamily="34" charset="-122"/>
              </a:rPr>
              <a:t>传送完成超文本跳转所必需的信息，而且也传送任何可从互联网上得到的信息，如文本、超文本、声音和图像等。</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HTTP </a:t>
            </a:r>
            <a:r>
              <a:rPr lang="zh-CN" altLang="en-US" sz="2000" b="1" dirty="0">
                <a:solidFill>
                  <a:schemeClr val="bg1"/>
                </a:solidFill>
                <a:latin typeface="微软雅黑" panose="020B0503020204020204" pitchFamily="34" charset="-122"/>
                <a:ea typeface="微软雅黑" panose="020B0503020204020204" pitchFamily="34" charset="-122"/>
              </a:rPr>
              <a:t>的操作过程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067456"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2186228"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6742049" y="1906021"/>
            <a:ext cx="723275" cy="1015663"/>
          </a:xfrm>
          <a:prstGeom prst="rect">
            <a:avLst/>
          </a:prstGeom>
          <a:noFill/>
          <a:ln w="9525">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916149" y="1342814"/>
            <a:ext cx="808942" cy="1132519"/>
          </a:xfrm>
          <a:prstGeom prst="rect">
            <a:avLst/>
          </a:prstGeom>
        </p:spPr>
      </p:pic>
      <p:graphicFrame>
        <p:nvGraphicFramePr>
          <p:cNvPr id="17" name="Object 66"/>
          <p:cNvGraphicFramePr>
            <a:graphicFrameLocks noChangeAspect="1"/>
          </p:cNvGraphicFramePr>
          <p:nvPr/>
        </p:nvGraphicFramePr>
        <p:xfrm>
          <a:off x="3478498" y="2050412"/>
          <a:ext cx="2148903" cy="873047"/>
        </p:xfrm>
        <a:graphic>
          <a:graphicData uri="http://schemas.openxmlformats.org/presentationml/2006/ole">
            <mc:AlternateContent xmlns:mc="http://schemas.openxmlformats.org/markup-compatibility/2006">
              <mc:Choice xmlns:v="urn:schemas-microsoft-com:vml" Requires="v">
                <p:oleObj spid="_x0000_s4097" name="VISIO" r:id="rId3" imgW="3514725" imgH="2009775" progId="">
                  <p:embed/>
                </p:oleObj>
              </mc:Choice>
              <mc:Fallback>
                <p:oleObj name="VISIO" r:id="rId3" imgW="3514725" imgH="2009775" progId="">
                  <p:embed/>
                  <p:pic>
                    <p:nvPicPr>
                      <p:cNvPr id="0" name="图片 4096"/>
                      <p:cNvPicPr>
                        <a:picLocks noChangeAspect="1"/>
                      </p:cNvPicPr>
                      <p:nvPr/>
                    </p:nvPicPr>
                    <p:blipFill>
                      <a:blip r:embed="rId4"/>
                      <a:stretch>
                        <a:fillRect/>
                      </a:stretch>
                    </p:blipFill>
                    <p:spPr>
                      <a:xfrm>
                        <a:off x="3478498" y="2050412"/>
                        <a:ext cx="2148903" cy="87304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8" name="Freeform 70"/>
          <p:cNvSpPr/>
          <p:nvPr/>
        </p:nvSpPr>
        <p:spPr bwMode="auto">
          <a:xfrm>
            <a:off x="5374535"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19" name="Freeform 71"/>
          <p:cNvSpPr/>
          <p:nvPr/>
        </p:nvSpPr>
        <p:spPr bwMode="auto">
          <a:xfrm>
            <a:off x="2436996"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0" name="Rectangle 72"/>
          <p:cNvSpPr>
            <a:spLocks noChangeArrowheads="1"/>
          </p:cNvSpPr>
          <p:nvPr/>
        </p:nvSpPr>
        <p:spPr bwMode="auto">
          <a:xfrm>
            <a:off x="4205471"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互联网</a:t>
            </a:r>
            <a:endParaRPr kumimoji="1" lang="zh-CN" altLang="en-US" sz="1050" b="1" dirty="0">
              <a:latin typeface="微软雅黑" panose="020B0503020204020204" pitchFamily="34" charset="-122"/>
              <a:ea typeface="微软雅黑" panose="020B0503020204020204" pitchFamily="34" charset="-122"/>
            </a:endParaRPr>
          </a:p>
        </p:txBody>
      </p:sp>
      <p:sp>
        <p:nvSpPr>
          <p:cNvPr id="21" name="Rectangle 73"/>
          <p:cNvSpPr>
            <a:spLocks noChangeArrowheads="1"/>
          </p:cNvSpPr>
          <p:nvPr/>
        </p:nvSpPr>
        <p:spPr bwMode="auto">
          <a:xfrm>
            <a:off x="5411168"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anose="020B0503020204020204" pitchFamily="34" charset="-122"/>
                <a:ea typeface="微软雅黑" panose="020B0503020204020204" pitchFamily="34" charset="-122"/>
              </a:rPr>
              <a:t>服务器</a:t>
            </a:r>
            <a:endParaRPr kumimoji="1" lang="zh-CN" altLang="en-US" sz="1050" b="1" dirty="0">
              <a:latin typeface="微软雅黑" panose="020B0503020204020204" pitchFamily="34" charset="-122"/>
              <a:ea typeface="微软雅黑" panose="020B0503020204020204" pitchFamily="34" charset="-122"/>
            </a:endParaRPr>
          </a:p>
          <a:p>
            <a:pPr algn="ctr">
              <a:lnSpc>
                <a:spcPct val="80000"/>
              </a:lnSpc>
            </a:pPr>
            <a:r>
              <a:rPr kumimoji="1" lang="en-US" altLang="zh-CN" sz="1050" b="1" dirty="0">
                <a:latin typeface="微软雅黑" panose="020B0503020204020204" pitchFamily="34" charset="-122"/>
                <a:ea typeface="微软雅黑" panose="020B0503020204020204" pitchFamily="34" charset="-122"/>
              </a:rPr>
              <a:t>www.tsinghua.edu.cn</a:t>
            </a:r>
            <a:endParaRPr kumimoji="1" lang="en-US" altLang="zh-CN" sz="1050" b="1" dirty="0">
              <a:latin typeface="微软雅黑" panose="020B0503020204020204" pitchFamily="34" charset="-122"/>
              <a:ea typeface="微软雅黑" panose="020B0503020204020204" pitchFamily="34" charset="-122"/>
            </a:endParaRPr>
          </a:p>
        </p:txBody>
      </p:sp>
      <p:sp>
        <p:nvSpPr>
          <p:cNvPr id="22" name="Rectangle 74"/>
          <p:cNvSpPr>
            <a:spLocks noChangeArrowheads="1"/>
          </p:cNvSpPr>
          <p:nvPr/>
        </p:nvSpPr>
        <p:spPr bwMode="auto">
          <a:xfrm>
            <a:off x="3592402"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anose="020B0503020204020204" pitchFamily="34" charset="-122"/>
                <a:ea typeface="微软雅黑" panose="020B0503020204020204" pitchFamily="34" charset="-122"/>
              </a:rPr>
              <a:t>链接到</a:t>
            </a:r>
            <a:r>
              <a:rPr kumimoji="1" lang="en-US" altLang="zh-CN" sz="1050" b="1" dirty="0" smtClean="0">
                <a:solidFill>
                  <a:srgbClr val="000099"/>
                </a:solidFill>
                <a:latin typeface="微软雅黑" panose="020B0503020204020204" pitchFamily="34" charset="-122"/>
                <a:ea typeface="微软雅黑" panose="020B0503020204020204" pitchFamily="34" charset="-122"/>
              </a:rPr>
              <a:t> URL </a:t>
            </a:r>
            <a:r>
              <a:rPr kumimoji="1" lang="zh-CN" altLang="en-US" sz="1050" b="1" dirty="0" smtClean="0">
                <a:solidFill>
                  <a:srgbClr val="000099"/>
                </a:solidFill>
                <a:latin typeface="微软雅黑" panose="020B0503020204020204" pitchFamily="34" charset="-122"/>
                <a:ea typeface="微软雅黑" panose="020B0503020204020204" pitchFamily="34" charset="-122"/>
              </a:rPr>
              <a:t>的</a:t>
            </a:r>
            <a:r>
              <a:rPr kumimoji="1" lang="zh-CN" altLang="en-US" sz="1050" b="1" dirty="0">
                <a:solidFill>
                  <a:srgbClr val="000099"/>
                </a:solidFill>
                <a:latin typeface="微软雅黑" panose="020B0503020204020204" pitchFamily="34" charset="-122"/>
                <a:ea typeface="微软雅黑" panose="020B0503020204020204" pitchFamily="34" charset="-122"/>
              </a:rPr>
              <a:t>超链</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3" name="Rectangle 75"/>
          <p:cNvSpPr>
            <a:spLocks noChangeArrowheads="1"/>
          </p:cNvSpPr>
          <p:nvPr/>
        </p:nvSpPr>
        <p:spPr bwMode="auto">
          <a:xfrm>
            <a:off x="3785483"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使用此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sp>
        <p:nvSpPr>
          <p:cNvPr id="24" name="Rectangle 76"/>
          <p:cNvSpPr>
            <a:spLocks noChangeArrowheads="1"/>
          </p:cNvSpPr>
          <p:nvPr/>
        </p:nvSpPr>
        <p:spPr bwMode="auto">
          <a:xfrm>
            <a:off x="2877471"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浏览器</a:t>
            </a:r>
            <a:endParaRPr kumimoji="1" lang="zh-CN" altLang="en-US" sz="1050" b="1" dirty="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 程序</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5" name="Rectangle 77"/>
          <p:cNvSpPr>
            <a:spLocks noChangeArrowheads="1"/>
          </p:cNvSpPr>
          <p:nvPr/>
        </p:nvSpPr>
        <p:spPr bwMode="auto">
          <a:xfrm>
            <a:off x="4626444"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anose="020B0503020204020204" pitchFamily="34" charset="-122"/>
                <a:ea typeface="微软雅黑" panose="020B0503020204020204" pitchFamily="34" charset="-122"/>
              </a:rPr>
              <a:t>服务器程序</a:t>
            </a:r>
            <a:endParaRPr kumimoji="1" lang="en-US" altLang="zh-CN" sz="1050" b="1" dirty="0" smtClean="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监听</a:t>
            </a:r>
            <a:r>
              <a:rPr kumimoji="1" lang="en-US" altLang="zh-CN" sz="1050" b="1" dirty="0" smtClean="0">
                <a:solidFill>
                  <a:srgbClr val="000099"/>
                </a:solidFill>
                <a:latin typeface="微软雅黑" panose="020B0503020204020204" pitchFamily="34" charset="-122"/>
                <a:ea typeface="微软雅黑" panose="020B0503020204020204" pitchFamily="34" charset="-122"/>
              </a:rPr>
              <a:t>TCP </a:t>
            </a:r>
            <a:r>
              <a:rPr kumimoji="1" lang="zh-CN" altLang="en-US" sz="1050" b="1" dirty="0" smtClean="0">
                <a:solidFill>
                  <a:srgbClr val="000099"/>
                </a:solidFill>
                <a:latin typeface="微软雅黑" panose="020B0503020204020204" pitchFamily="34" charset="-122"/>
                <a:ea typeface="微软雅黑" panose="020B0503020204020204" pitchFamily="34" charset="-122"/>
              </a:rPr>
              <a:t>端口</a:t>
            </a:r>
            <a:r>
              <a:rPr kumimoji="1" lang="en-US" altLang="zh-CN" sz="1050" b="1" dirty="0">
                <a:solidFill>
                  <a:srgbClr val="000099"/>
                </a:solidFill>
                <a:latin typeface="微软雅黑" panose="020B0503020204020204" pitchFamily="34" charset="-122"/>
                <a:ea typeface="微软雅黑" panose="020B0503020204020204" pitchFamily="34" charset="-122"/>
              </a:rPr>
              <a:t>80</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6" name="Rectangle 78"/>
          <p:cNvSpPr>
            <a:spLocks noChangeArrowheads="1"/>
          </p:cNvSpPr>
          <p:nvPr/>
        </p:nvSpPr>
        <p:spPr bwMode="auto">
          <a:xfrm>
            <a:off x="3803474"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anose="020B0503020204020204" pitchFamily="34" charset="-122"/>
                <a:ea typeface="微软雅黑" panose="020B0503020204020204" pitchFamily="34" charset="-122"/>
              </a:rPr>
              <a:t>HTTP</a:t>
            </a:r>
            <a:endParaRPr kumimoji="1" lang="en-US" altLang="zh-CN" sz="1050" b="1" dirty="0">
              <a:solidFill>
                <a:srgbClr val="000099"/>
              </a:solidFill>
              <a:latin typeface="微软雅黑" panose="020B0503020204020204" pitchFamily="34" charset="-122"/>
              <a:ea typeface="微软雅黑" panose="020B0503020204020204" pitchFamily="34" charset="-122"/>
            </a:endParaRPr>
          </a:p>
        </p:txBody>
      </p:sp>
      <p:sp>
        <p:nvSpPr>
          <p:cNvPr id="27" name="Rectangle 79"/>
          <p:cNvSpPr>
            <a:spLocks noChangeArrowheads="1"/>
          </p:cNvSpPr>
          <p:nvPr/>
        </p:nvSpPr>
        <p:spPr bwMode="auto">
          <a:xfrm>
            <a:off x="2852104"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anose="020B0503020204020204" pitchFamily="34" charset="-122"/>
                <a:ea typeface="微软雅黑" panose="020B0503020204020204" pitchFamily="34" charset="-122"/>
              </a:rPr>
              <a:t>客户</a:t>
            </a:r>
            <a:endParaRPr kumimoji="1" lang="zh-CN" altLang="en-US" sz="1050" b="1">
              <a:latin typeface="微软雅黑" panose="020B0503020204020204" pitchFamily="34" charset="-122"/>
              <a:ea typeface="微软雅黑" panose="020B0503020204020204" pitchFamily="34" charset="-122"/>
            </a:endParaRPr>
          </a:p>
        </p:txBody>
      </p:sp>
      <p:sp>
        <p:nvSpPr>
          <p:cNvPr id="28" name="Freeform 81"/>
          <p:cNvSpPr/>
          <p:nvPr/>
        </p:nvSpPr>
        <p:spPr bwMode="auto">
          <a:xfrm>
            <a:off x="2897353"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9" name="Rectangle 82"/>
          <p:cNvSpPr>
            <a:spLocks noChangeArrowheads="1"/>
          </p:cNvSpPr>
          <p:nvPr/>
        </p:nvSpPr>
        <p:spPr bwMode="auto">
          <a:xfrm>
            <a:off x="2138861"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清华大学</a:t>
            </a:r>
            <a:endParaRPr kumimoji="1" lang="zh-CN" altLang="en-US" sz="1050" b="1" dirty="0">
              <a:latin typeface="微软雅黑" panose="020B0503020204020204" pitchFamily="34" charset="-122"/>
              <a:ea typeface="微软雅黑" panose="020B0503020204020204" pitchFamily="34" charset="-122"/>
            </a:endParaRPr>
          </a:p>
          <a:p>
            <a:r>
              <a:rPr kumimoji="1" lang="zh-CN" altLang="en-US" sz="1050" b="1" dirty="0">
                <a:latin typeface="微软雅黑" panose="020B0503020204020204" pitchFamily="34" charset="-122"/>
                <a:ea typeface="微软雅黑" panose="020B0503020204020204" pitchFamily="34" charset="-122"/>
              </a:rPr>
              <a:t>院系设置</a:t>
            </a:r>
            <a:endParaRPr kumimoji="1" lang="zh-CN" altLang="en-US" sz="1050" b="1" dirty="0">
              <a:latin typeface="微软雅黑" panose="020B0503020204020204" pitchFamily="34" charset="-122"/>
              <a:ea typeface="微软雅黑" panose="020B0503020204020204" pitchFamily="34" charset="-122"/>
            </a:endParaRPr>
          </a:p>
        </p:txBody>
      </p:sp>
      <p:sp>
        <p:nvSpPr>
          <p:cNvPr id="30" name="Line 83"/>
          <p:cNvSpPr>
            <a:spLocks noChangeShapeType="1"/>
          </p:cNvSpPr>
          <p:nvPr/>
        </p:nvSpPr>
        <p:spPr bwMode="auto">
          <a:xfrm>
            <a:off x="2186229" y="1950360"/>
            <a:ext cx="665875"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1" name="Oval 84"/>
          <p:cNvSpPr>
            <a:spLocks noChangeArrowheads="1"/>
          </p:cNvSpPr>
          <p:nvPr/>
        </p:nvSpPr>
        <p:spPr bwMode="auto">
          <a:xfrm>
            <a:off x="2353708" y="1978958"/>
            <a:ext cx="331829"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2" name="Line 85"/>
          <p:cNvSpPr>
            <a:spLocks noChangeShapeType="1"/>
          </p:cNvSpPr>
          <p:nvPr/>
        </p:nvSpPr>
        <p:spPr bwMode="auto">
          <a:xfrm>
            <a:off x="5752623" y="1871871"/>
            <a:ext cx="284805"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3" name="Line 86"/>
          <p:cNvSpPr>
            <a:spLocks noChangeShapeType="1"/>
          </p:cNvSpPr>
          <p:nvPr/>
        </p:nvSpPr>
        <p:spPr bwMode="auto">
          <a:xfrm flipH="1">
            <a:off x="2629236" y="1871870"/>
            <a:ext cx="306600"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4" name="Oval 87"/>
          <p:cNvSpPr>
            <a:spLocks noChangeArrowheads="1"/>
          </p:cNvSpPr>
          <p:nvPr/>
        </p:nvSpPr>
        <p:spPr bwMode="auto">
          <a:xfrm>
            <a:off x="5989516" y="1959503"/>
            <a:ext cx="332716"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5" name="Freeform 88"/>
          <p:cNvSpPr/>
          <p:nvPr/>
        </p:nvSpPr>
        <p:spPr bwMode="auto">
          <a:xfrm>
            <a:off x="2579668"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6" name="Line 89"/>
          <p:cNvSpPr>
            <a:spLocks noChangeShapeType="1"/>
          </p:cNvSpPr>
          <p:nvPr/>
        </p:nvSpPr>
        <p:spPr bwMode="auto">
          <a:xfrm flipV="1">
            <a:off x="2685536"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7" name="Line 90"/>
          <p:cNvSpPr>
            <a:spLocks noChangeShapeType="1"/>
          </p:cNvSpPr>
          <p:nvPr/>
        </p:nvSpPr>
        <p:spPr bwMode="auto">
          <a:xfrm rot="16200000" flipH="1">
            <a:off x="6268111" y="2054438"/>
            <a:ext cx="149057" cy="108244"/>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8" name="Freeform 91"/>
          <p:cNvSpPr/>
          <p:nvPr/>
        </p:nvSpPr>
        <p:spPr bwMode="auto">
          <a:xfrm rot="216073">
            <a:off x="2782982"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9" name="Line 92"/>
          <p:cNvSpPr>
            <a:spLocks noChangeShapeType="1"/>
          </p:cNvSpPr>
          <p:nvPr/>
        </p:nvSpPr>
        <p:spPr bwMode="auto">
          <a:xfrm>
            <a:off x="3087223"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0" name="Line 93"/>
          <p:cNvSpPr>
            <a:spLocks noChangeShapeType="1"/>
          </p:cNvSpPr>
          <p:nvPr/>
        </p:nvSpPr>
        <p:spPr bwMode="auto">
          <a:xfrm>
            <a:off x="5961891"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1" name="Group 116"/>
          <p:cNvGrpSpPr/>
          <p:nvPr/>
        </p:nvGrpSpPr>
        <p:grpSpPr bwMode="auto">
          <a:xfrm>
            <a:off x="3087223"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建立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sp>
        <p:nvSpPr>
          <p:cNvPr id="44" name="Line 108"/>
          <p:cNvSpPr>
            <a:spLocks noChangeShapeType="1"/>
          </p:cNvSpPr>
          <p:nvPr/>
        </p:nvSpPr>
        <p:spPr bwMode="auto">
          <a:xfrm>
            <a:off x="6544941" y="2237276"/>
            <a:ext cx="289241" cy="82718"/>
          </a:xfrm>
          <a:prstGeom prst="line">
            <a:avLst/>
          </a:prstGeom>
          <a:noFill/>
          <a:ln w="28575">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5" name="AutoShape 111"/>
          <p:cNvSpPr>
            <a:spLocks noChangeArrowheads="1"/>
          </p:cNvSpPr>
          <p:nvPr/>
        </p:nvSpPr>
        <p:spPr bwMode="auto">
          <a:xfrm>
            <a:off x="6233509" y="2151967"/>
            <a:ext cx="332716" cy="130220"/>
          </a:xfrm>
          <a:prstGeom prst="can">
            <a:avLst>
              <a:gd name="adj" fmla="val 39583"/>
            </a:avLst>
          </a:prstGeom>
          <a:solidFill>
            <a:srgbClr val="FF00FF"/>
          </a:solidFill>
          <a:ln w="9525">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6" name="Group 117"/>
          <p:cNvGrpSpPr/>
          <p:nvPr/>
        </p:nvGrpSpPr>
        <p:grpSpPr bwMode="auto">
          <a:xfrm>
            <a:off x="2349926"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8" name="Group 95"/>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请求报文</a:t>
                </a:r>
                <a:endParaRPr kumimoji="1" lang="zh-CN" altLang="en-US" sz="1050" b="1" dirty="0">
                  <a:latin typeface="微软雅黑" panose="020B0503020204020204" pitchFamily="34" charset="-122"/>
                  <a:ea typeface="微软雅黑" panose="020B0503020204020204" pitchFamily="34" charset="-122"/>
                </a:endParaRP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浏览器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发出</a:t>
              </a:r>
              <a:r>
                <a:rPr kumimoji="1" lang="zh-CN" altLang="en-US" sz="1050" b="1" dirty="0" smtClean="0">
                  <a:solidFill>
                    <a:srgbClr val="000099"/>
                  </a:solidFill>
                  <a:latin typeface="微软雅黑" panose="020B0503020204020204" pitchFamily="34" charset="-122"/>
                  <a:ea typeface="微软雅黑" panose="020B0503020204020204" pitchFamily="34" charset="-122"/>
                </a:rPr>
                <a:t>请求</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grpSp>
      <p:grpSp>
        <p:nvGrpSpPr>
          <p:cNvPr id="52" name="Group 120"/>
          <p:cNvGrpSpPr/>
          <p:nvPr/>
        </p:nvGrpSpPr>
        <p:grpSpPr bwMode="auto">
          <a:xfrm>
            <a:off x="3087223"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释放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3099929"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服务器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返回</a:t>
              </a:r>
              <a:r>
                <a:rPr kumimoji="1" lang="zh-CN" altLang="en-US" sz="1050" b="1" dirty="0" smtClean="0">
                  <a:solidFill>
                    <a:srgbClr val="000099"/>
                  </a:solidFill>
                  <a:latin typeface="微软雅黑" panose="020B0503020204020204" pitchFamily="34" charset="-122"/>
                  <a:ea typeface="微软雅黑" panose="020B0503020204020204" pitchFamily="34" charset="-122"/>
                </a:rPr>
                <a:t>响应</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lang="zh-CN" altLang="en-US" sz="4000" dirty="0">
                <a:solidFill>
                  <a:srgbClr val="009900"/>
                </a:solidFill>
                <a:latin typeface="微软雅黑" panose="020B0503020204020204" pitchFamily="34" charset="-122"/>
                <a:ea typeface="微软雅黑" panose="020B0503020204020204" pitchFamily="34" charset="-122"/>
              </a:endParaRPr>
            </a:p>
          </p:txBody>
        </p:sp>
        <p:grpSp>
          <p:nvGrpSpPr>
            <p:cNvPr id="60" name="Group 99"/>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响应报文</a:t>
                </a:r>
                <a:endParaRPr kumimoji="1" lang="zh-CN" altLang="en-US" sz="1050" b="1" dirty="0">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500" fill="hold"/>
                                        <p:tgtEl>
                                          <p:spTgt spid="41"/>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nodeType="afterEffect">
                                  <p:stCondLst>
                                    <p:cond delay="500"/>
                                  </p:stCondLst>
                                  <p:childTnLst>
                                    <p:set>
                                      <p:cBhvr>
                                        <p:cTn id="9" dur="1" fill="hold">
                                          <p:stCondLst>
                                            <p:cond delay="0"/>
                                          </p:stCondLst>
                                        </p:cTn>
                                        <p:tgtEl>
                                          <p:spTgt spid="46"/>
                                        </p:tgtEl>
                                        <p:attrNameLst>
                                          <p:attrName>style.visibility</p:attrName>
                                        </p:attrNameLst>
                                      </p:cBhvr>
                                      <p:to>
                                        <p:strVal val="visible"/>
                                      </p:to>
                                    </p:set>
                                    <p:animEffect transition="in" filter="wipe(left)">
                                      <p:cBhvr>
                                        <p:cTn id="10" dur="2000"/>
                                        <p:tgtEl>
                                          <p:spTgt spid="46"/>
                                        </p:tgtEl>
                                      </p:cBhvr>
                                    </p:animEffect>
                                  </p:childTnLst>
                                </p:cTn>
                              </p:par>
                            </p:childTnLst>
                          </p:cTn>
                        </p:par>
                        <p:par>
                          <p:cTn id="11" fill="hold">
                            <p:stCondLst>
                              <p:cond delay="3500"/>
                            </p:stCondLst>
                            <p:childTnLst>
                              <p:par>
                                <p:cTn id="12" presetID="22" presetClass="entr" presetSubtype="2"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right)">
                                      <p:cBhvr>
                                        <p:cTn id="14" dur="2000"/>
                                        <p:tgtEl>
                                          <p:spTgt spid="55"/>
                                        </p:tgtEl>
                                      </p:cBhvr>
                                    </p:animEffect>
                                  </p:childTnLst>
                                </p:cTn>
                              </p:par>
                            </p:childTnLst>
                          </p:cTn>
                        </p:par>
                        <p:par>
                          <p:cTn id="15" fill="hold">
                            <p:stCondLst>
                              <p:cond delay="5500"/>
                            </p:stCondLst>
                            <p:childTnLst>
                              <p:par>
                                <p:cTn id="16" presetID="1" presetClass="entr" presetSubtype="0" fill="hold" nodeType="afterEffect">
                                  <p:stCondLst>
                                    <p:cond delay="500"/>
                                  </p:stCondLst>
                                  <p:childTnLst>
                                    <p:set>
                                      <p:cBhvr>
                                        <p:cTn id="17" dur="1" fill="hold">
                                          <p:stCondLst>
                                            <p:cond delay="0"/>
                                          </p:stCondLst>
                                        </p:cTn>
                                        <p:tgtEl>
                                          <p:spTgt spid="52"/>
                                        </p:tgtEl>
                                        <p:attrNameLst>
                                          <p:attrName>style.visibility</p:attrName>
                                        </p:attrNameLst>
                                      </p:cBhvr>
                                      <p:to>
                                        <p:strVal val="visible"/>
                                      </p:to>
                                    </p:set>
                                  </p:childTnLst>
                                </p:cTn>
                              </p:par>
                            </p:childTnLst>
                          </p:cTn>
                        </p:par>
                        <p:par>
                          <p:cTn id="18" fill="hold">
                            <p:stCondLst>
                              <p:cond delay="6000"/>
                            </p:stCondLst>
                            <p:childTnLst>
                              <p:par>
                                <p:cTn id="19" presetID="35" presetClass="emph" presetSubtype="0" repeatCount="3000" fill="hold" nodeType="afterEffect">
                                  <p:stCondLst>
                                    <p:cond delay="0"/>
                                  </p:stCondLst>
                                  <p:childTnLst>
                                    <p:anim calcmode="discrete" valueType="str">
                                      <p:cBhvr>
                                        <p:cTn id="20" dur="5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HTTP </a:t>
            </a:r>
            <a:r>
              <a:rPr lang="zh-CN" altLang="en-US" sz="2000" b="1" dirty="0">
                <a:solidFill>
                  <a:schemeClr val="bg1"/>
                </a:solidFill>
                <a:latin typeface="微软雅黑" panose="020B0503020204020204" pitchFamily="34" charset="-122"/>
                <a:ea typeface="微软雅黑" panose="020B0503020204020204" pitchFamily="34" charset="-122"/>
              </a:rPr>
              <a:t>的操作过程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06827"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925599"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5481420" y="1906021"/>
            <a:ext cx="723275" cy="1015663"/>
          </a:xfrm>
          <a:prstGeom prst="rect">
            <a:avLst/>
          </a:prstGeom>
          <a:noFill/>
          <a:ln w="9525">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55520" y="1342814"/>
            <a:ext cx="808942" cy="1132519"/>
          </a:xfrm>
          <a:prstGeom prst="rect">
            <a:avLst/>
          </a:prstGeom>
        </p:spPr>
      </p:pic>
      <p:graphicFrame>
        <p:nvGraphicFramePr>
          <p:cNvPr id="17" name="Object 66"/>
          <p:cNvGraphicFramePr>
            <a:graphicFrameLocks noChangeAspect="1"/>
          </p:cNvGraphicFramePr>
          <p:nvPr/>
        </p:nvGraphicFramePr>
        <p:xfrm>
          <a:off x="2217869" y="2050412"/>
          <a:ext cx="2148903" cy="873047"/>
        </p:xfrm>
        <a:graphic>
          <a:graphicData uri="http://schemas.openxmlformats.org/presentationml/2006/ole">
            <mc:AlternateContent xmlns:mc="http://schemas.openxmlformats.org/markup-compatibility/2006">
              <mc:Choice xmlns:v="urn:schemas-microsoft-com:vml" Requires="v">
                <p:oleObj spid="_x0000_s5121" name="VISIO" r:id="rId3" imgW="3514725" imgH="2009775" progId="">
                  <p:embed/>
                </p:oleObj>
              </mc:Choice>
              <mc:Fallback>
                <p:oleObj name="VISIO" r:id="rId3" imgW="3514725" imgH="2009775" progId="">
                  <p:embed/>
                  <p:pic>
                    <p:nvPicPr>
                      <p:cNvPr id="0" name="图片 5120"/>
                      <p:cNvPicPr>
                        <a:picLocks noChangeAspect="1"/>
                      </p:cNvPicPr>
                      <p:nvPr/>
                    </p:nvPicPr>
                    <p:blipFill>
                      <a:blip r:embed="rId4"/>
                      <a:stretch>
                        <a:fillRect/>
                      </a:stretch>
                    </p:blipFill>
                    <p:spPr>
                      <a:xfrm>
                        <a:off x="2217869" y="2050412"/>
                        <a:ext cx="2148903" cy="87304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8" name="Freeform 70"/>
          <p:cNvSpPr/>
          <p:nvPr/>
        </p:nvSpPr>
        <p:spPr bwMode="auto">
          <a:xfrm>
            <a:off x="4113906"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19" name="Freeform 71"/>
          <p:cNvSpPr/>
          <p:nvPr/>
        </p:nvSpPr>
        <p:spPr bwMode="auto">
          <a:xfrm>
            <a:off x="1176367"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0" name="Rectangle 72"/>
          <p:cNvSpPr>
            <a:spLocks noChangeArrowheads="1"/>
          </p:cNvSpPr>
          <p:nvPr/>
        </p:nvSpPr>
        <p:spPr bwMode="auto">
          <a:xfrm>
            <a:off x="2944842"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互联网</a:t>
            </a:r>
            <a:endParaRPr kumimoji="1" lang="zh-CN" altLang="en-US" sz="1050" b="1" dirty="0">
              <a:latin typeface="微软雅黑" panose="020B0503020204020204" pitchFamily="34" charset="-122"/>
              <a:ea typeface="微软雅黑" panose="020B0503020204020204" pitchFamily="34" charset="-122"/>
            </a:endParaRPr>
          </a:p>
        </p:txBody>
      </p:sp>
      <p:sp>
        <p:nvSpPr>
          <p:cNvPr id="21" name="Rectangle 73"/>
          <p:cNvSpPr>
            <a:spLocks noChangeArrowheads="1"/>
          </p:cNvSpPr>
          <p:nvPr/>
        </p:nvSpPr>
        <p:spPr bwMode="auto">
          <a:xfrm>
            <a:off x="4150539"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anose="020B0503020204020204" pitchFamily="34" charset="-122"/>
                <a:ea typeface="微软雅黑" panose="020B0503020204020204" pitchFamily="34" charset="-122"/>
              </a:rPr>
              <a:t>服务器</a:t>
            </a:r>
            <a:endParaRPr kumimoji="1" lang="zh-CN" altLang="en-US" sz="1050" b="1" dirty="0">
              <a:latin typeface="微软雅黑" panose="020B0503020204020204" pitchFamily="34" charset="-122"/>
              <a:ea typeface="微软雅黑" panose="020B0503020204020204" pitchFamily="34" charset="-122"/>
            </a:endParaRPr>
          </a:p>
          <a:p>
            <a:pPr algn="ctr">
              <a:lnSpc>
                <a:spcPct val="80000"/>
              </a:lnSpc>
            </a:pPr>
            <a:r>
              <a:rPr kumimoji="1" lang="en-US" altLang="zh-CN" sz="1050" b="1" dirty="0">
                <a:latin typeface="微软雅黑" panose="020B0503020204020204" pitchFamily="34" charset="-122"/>
                <a:ea typeface="微软雅黑" panose="020B0503020204020204" pitchFamily="34" charset="-122"/>
              </a:rPr>
              <a:t>www.tsinghua.edu.cn</a:t>
            </a:r>
            <a:endParaRPr kumimoji="1" lang="en-US" altLang="zh-CN" sz="1050" b="1" dirty="0">
              <a:latin typeface="微软雅黑" panose="020B0503020204020204" pitchFamily="34" charset="-122"/>
              <a:ea typeface="微软雅黑" panose="020B0503020204020204" pitchFamily="34" charset="-122"/>
            </a:endParaRPr>
          </a:p>
        </p:txBody>
      </p:sp>
      <p:sp>
        <p:nvSpPr>
          <p:cNvPr id="22" name="Rectangle 74"/>
          <p:cNvSpPr>
            <a:spLocks noChangeArrowheads="1"/>
          </p:cNvSpPr>
          <p:nvPr/>
        </p:nvSpPr>
        <p:spPr bwMode="auto">
          <a:xfrm>
            <a:off x="2331773"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anose="020B0503020204020204" pitchFamily="34" charset="-122"/>
                <a:ea typeface="微软雅黑" panose="020B0503020204020204" pitchFamily="34" charset="-122"/>
              </a:rPr>
              <a:t>链接到</a:t>
            </a:r>
            <a:r>
              <a:rPr kumimoji="1" lang="en-US" altLang="zh-CN" sz="1050" b="1" dirty="0" smtClean="0">
                <a:solidFill>
                  <a:srgbClr val="000099"/>
                </a:solidFill>
                <a:latin typeface="微软雅黑" panose="020B0503020204020204" pitchFamily="34" charset="-122"/>
                <a:ea typeface="微软雅黑" panose="020B0503020204020204" pitchFamily="34" charset="-122"/>
              </a:rPr>
              <a:t> URL </a:t>
            </a:r>
            <a:r>
              <a:rPr kumimoji="1" lang="zh-CN" altLang="en-US" sz="1050" b="1" dirty="0" smtClean="0">
                <a:solidFill>
                  <a:srgbClr val="000099"/>
                </a:solidFill>
                <a:latin typeface="微软雅黑" panose="020B0503020204020204" pitchFamily="34" charset="-122"/>
                <a:ea typeface="微软雅黑" panose="020B0503020204020204" pitchFamily="34" charset="-122"/>
              </a:rPr>
              <a:t>的</a:t>
            </a:r>
            <a:r>
              <a:rPr kumimoji="1" lang="zh-CN" altLang="en-US" sz="1050" b="1" dirty="0">
                <a:solidFill>
                  <a:srgbClr val="000099"/>
                </a:solidFill>
                <a:latin typeface="微软雅黑" panose="020B0503020204020204" pitchFamily="34" charset="-122"/>
                <a:ea typeface="微软雅黑" panose="020B0503020204020204" pitchFamily="34" charset="-122"/>
              </a:rPr>
              <a:t>超链</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3" name="Rectangle 75"/>
          <p:cNvSpPr>
            <a:spLocks noChangeArrowheads="1"/>
          </p:cNvSpPr>
          <p:nvPr/>
        </p:nvSpPr>
        <p:spPr bwMode="auto">
          <a:xfrm>
            <a:off x="2524854"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使用此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sp>
        <p:nvSpPr>
          <p:cNvPr id="24" name="Rectangle 76"/>
          <p:cNvSpPr>
            <a:spLocks noChangeArrowheads="1"/>
          </p:cNvSpPr>
          <p:nvPr/>
        </p:nvSpPr>
        <p:spPr bwMode="auto">
          <a:xfrm>
            <a:off x="1616842"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浏览器</a:t>
            </a:r>
            <a:endParaRPr kumimoji="1" lang="zh-CN" altLang="en-US" sz="1050" b="1" dirty="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 程序</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5" name="Rectangle 77"/>
          <p:cNvSpPr>
            <a:spLocks noChangeArrowheads="1"/>
          </p:cNvSpPr>
          <p:nvPr/>
        </p:nvSpPr>
        <p:spPr bwMode="auto">
          <a:xfrm>
            <a:off x="3365815"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anose="020B0503020204020204" pitchFamily="34" charset="-122"/>
                <a:ea typeface="微软雅黑" panose="020B0503020204020204" pitchFamily="34" charset="-122"/>
              </a:rPr>
              <a:t>服务器程序</a:t>
            </a:r>
            <a:endParaRPr kumimoji="1" lang="en-US" altLang="zh-CN" sz="1050" b="1" dirty="0" smtClean="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监听</a:t>
            </a:r>
            <a:r>
              <a:rPr kumimoji="1" lang="en-US" altLang="zh-CN" sz="1050" b="1" dirty="0" smtClean="0">
                <a:solidFill>
                  <a:srgbClr val="000099"/>
                </a:solidFill>
                <a:latin typeface="微软雅黑" panose="020B0503020204020204" pitchFamily="34" charset="-122"/>
                <a:ea typeface="微软雅黑" panose="020B0503020204020204" pitchFamily="34" charset="-122"/>
              </a:rPr>
              <a:t>TCP </a:t>
            </a:r>
            <a:r>
              <a:rPr kumimoji="1" lang="zh-CN" altLang="en-US" sz="1050" b="1" dirty="0" smtClean="0">
                <a:solidFill>
                  <a:srgbClr val="000099"/>
                </a:solidFill>
                <a:latin typeface="微软雅黑" panose="020B0503020204020204" pitchFamily="34" charset="-122"/>
                <a:ea typeface="微软雅黑" panose="020B0503020204020204" pitchFamily="34" charset="-122"/>
              </a:rPr>
              <a:t>端口</a:t>
            </a:r>
            <a:r>
              <a:rPr kumimoji="1" lang="en-US" altLang="zh-CN" sz="1050" b="1" dirty="0">
                <a:solidFill>
                  <a:srgbClr val="000099"/>
                </a:solidFill>
                <a:latin typeface="微软雅黑" panose="020B0503020204020204" pitchFamily="34" charset="-122"/>
                <a:ea typeface="微软雅黑" panose="020B0503020204020204" pitchFamily="34" charset="-122"/>
              </a:rPr>
              <a:t>80</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6" name="Rectangle 78"/>
          <p:cNvSpPr>
            <a:spLocks noChangeArrowheads="1"/>
          </p:cNvSpPr>
          <p:nvPr/>
        </p:nvSpPr>
        <p:spPr bwMode="auto">
          <a:xfrm>
            <a:off x="2542845"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anose="020B0503020204020204" pitchFamily="34" charset="-122"/>
                <a:ea typeface="微软雅黑" panose="020B0503020204020204" pitchFamily="34" charset="-122"/>
              </a:rPr>
              <a:t>HTTP</a:t>
            </a:r>
            <a:endParaRPr kumimoji="1" lang="en-US" altLang="zh-CN" sz="1050" b="1" dirty="0">
              <a:solidFill>
                <a:srgbClr val="000099"/>
              </a:solidFill>
              <a:latin typeface="微软雅黑" panose="020B0503020204020204" pitchFamily="34" charset="-122"/>
              <a:ea typeface="微软雅黑" panose="020B0503020204020204" pitchFamily="34" charset="-122"/>
            </a:endParaRPr>
          </a:p>
        </p:txBody>
      </p:sp>
      <p:sp>
        <p:nvSpPr>
          <p:cNvPr id="27" name="Rectangle 79"/>
          <p:cNvSpPr>
            <a:spLocks noChangeArrowheads="1"/>
          </p:cNvSpPr>
          <p:nvPr/>
        </p:nvSpPr>
        <p:spPr bwMode="auto">
          <a:xfrm>
            <a:off x="1591475"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anose="020B0503020204020204" pitchFamily="34" charset="-122"/>
                <a:ea typeface="微软雅黑" panose="020B0503020204020204" pitchFamily="34" charset="-122"/>
              </a:rPr>
              <a:t>客户</a:t>
            </a:r>
            <a:endParaRPr kumimoji="1" lang="zh-CN" altLang="en-US" sz="1050" b="1">
              <a:latin typeface="微软雅黑" panose="020B0503020204020204" pitchFamily="34" charset="-122"/>
              <a:ea typeface="微软雅黑" panose="020B0503020204020204" pitchFamily="34" charset="-122"/>
            </a:endParaRPr>
          </a:p>
        </p:txBody>
      </p:sp>
      <p:sp>
        <p:nvSpPr>
          <p:cNvPr id="28" name="Freeform 81"/>
          <p:cNvSpPr/>
          <p:nvPr/>
        </p:nvSpPr>
        <p:spPr bwMode="auto">
          <a:xfrm>
            <a:off x="1636724"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9" name="Rectangle 82"/>
          <p:cNvSpPr>
            <a:spLocks noChangeArrowheads="1"/>
          </p:cNvSpPr>
          <p:nvPr/>
        </p:nvSpPr>
        <p:spPr bwMode="auto">
          <a:xfrm>
            <a:off x="878232"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清华大学</a:t>
            </a:r>
            <a:endParaRPr kumimoji="1" lang="zh-CN" altLang="en-US" sz="1050" b="1" dirty="0">
              <a:latin typeface="微软雅黑" panose="020B0503020204020204" pitchFamily="34" charset="-122"/>
              <a:ea typeface="微软雅黑" panose="020B0503020204020204" pitchFamily="34" charset="-122"/>
            </a:endParaRPr>
          </a:p>
          <a:p>
            <a:r>
              <a:rPr kumimoji="1" lang="zh-CN" altLang="en-US" sz="1050" b="1" dirty="0">
                <a:latin typeface="微软雅黑" panose="020B0503020204020204" pitchFamily="34" charset="-122"/>
                <a:ea typeface="微软雅黑" panose="020B0503020204020204" pitchFamily="34" charset="-122"/>
              </a:rPr>
              <a:t>院系设置</a:t>
            </a:r>
            <a:endParaRPr kumimoji="1" lang="zh-CN" altLang="en-US" sz="1050" b="1" dirty="0">
              <a:latin typeface="微软雅黑" panose="020B0503020204020204" pitchFamily="34" charset="-122"/>
              <a:ea typeface="微软雅黑" panose="020B0503020204020204" pitchFamily="34" charset="-122"/>
            </a:endParaRPr>
          </a:p>
        </p:txBody>
      </p:sp>
      <p:sp>
        <p:nvSpPr>
          <p:cNvPr id="30" name="Line 83"/>
          <p:cNvSpPr>
            <a:spLocks noChangeShapeType="1"/>
          </p:cNvSpPr>
          <p:nvPr/>
        </p:nvSpPr>
        <p:spPr bwMode="auto">
          <a:xfrm>
            <a:off x="925600" y="1950360"/>
            <a:ext cx="665875"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1" name="Oval 84"/>
          <p:cNvSpPr>
            <a:spLocks noChangeArrowheads="1"/>
          </p:cNvSpPr>
          <p:nvPr/>
        </p:nvSpPr>
        <p:spPr bwMode="auto">
          <a:xfrm>
            <a:off x="1093079" y="1978958"/>
            <a:ext cx="331829"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2" name="Line 85"/>
          <p:cNvSpPr>
            <a:spLocks noChangeShapeType="1"/>
          </p:cNvSpPr>
          <p:nvPr/>
        </p:nvSpPr>
        <p:spPr bwMode="auto">
          <a:xfrm>
            <a:off x="4491994" y="1871871"/>
            <a:ext cx="284805"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3" name="Line 86"/>
          <p:cNvSpPr>
            <a:spLocks noChangeShapeType="1"/>
          </p:cNvSpPr>
          <p:nvPr/>
        </p:nvSpPr>
        <p:spPr bwMode="auto">
          <a:xfrm flipH="1">
            <a:off x="1368607" y="1871870"/>
            <a:ext cx="306600"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4" name="Oval 87"/>
          <p:cNvSpPr>
            <a:spLocks noChangeArrowheads="1"/>
          </p:cNvSpPr>
          <p:nvPr/>
        </p:nvSpPr>
        <p:spPr bwMode="auto">
          <a:xfrm>
            <a:off x="4728887" y="1959503"/>
            <a:ext cx="332716"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5" name="Freeform 88"/>
          <p:cNvSpPr/>
          <p:nvPr/>
        </p:nvSpPr>
        <p:spPr bwMode="auto">
          <a:xfrm>
            <a:off x="1319039"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6" name="Line 89"/>
          <p:cNvSpPr>
            <a:spLocks noChangeShapeType="1"/>
          </p:cNvSpPr>
          <p:nvPr/>
        </p:nvSpPr>
        <p:spPr bwMode="auto">
          <a:xfrm flipV="1">
            <a:off x="1424907"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7" name="Line 90"/>
          <p:cNvSpPr>
            <a:spLocks noChangeShapeType="1"/>
          </p:cNvSpPr>
          <p:nvPr/>
        </p:nvSpPr>
        <p:spPr bwMode="auto">
          <a:xfrm rot="16200000" flipH="1">
            <a:off x="5007482" y="2054438"/>
            <a:ext cx="149057" cy="108244"/>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8" name="Freeform 91"/>
          <p:cNvSpPr/>
          <p:nvPr/>
        </p:nvSpPr>
        <p:spPr bwMode="auto">
          <a:xfrm rot="216073">
            <a:off x="1522353"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9" name="Line 92"/>
          <p:cNvSpPr>
            <a:spLocks noChangeShapeType="1"/>
          </p:cNvSpPr>
          <p:nvPr/>
        </p:nvSpPr>
        <p:spPr bwMode="auto">
          <a:xfrm>
            <a:off x="1826594"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0" name="Line 93"/>
          <p:cNvSpPr>
            <a:spLocks noChangeShapeType="1"/>
          </p:cNvSpPr>
          <p:nvPr/>
        </p:nvSpPr>
        <p:spPr bwMode="auto">
          <a:xfrm>
            <a:off x="4701262"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1" name="Group 116"/>
          <p:cNvGrpSpPr/>
          <p:nvPr/>
        </p:nvGrpSpPr>
        <p:grpSpPr bwMode="auto">
          <a:xfrm>
            <a:off x="1826594"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建立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sp>
        <p:nvSpPr>
          <p:cNvPr id="44" name="Line 108"/>
          <p:cNvSpPr>
            <a:spLocks noChangeShapeType="1"/>
          </p:cNvSpPr>
          <p:nvPr/>
        </p:nvSpPr>
        <p:spPr bwMode="auto">
          <a:xfrm>
            <a:off x="5284312" y="2237276"/>
            <a:ext cx="289241" cy="82718"/>
          </a:xfrm>
          <a:prstGeom prst="line">
            <a:avLst/>
          </a:prstGeom>
          <a:noFill/>
          <a:ln w="28575">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5" name="AutoShape 111"/>
          <p:cNvSpPr>
            <a:spLocks noChangeArrowheads="1"/>
          </p:cNvSpPr>
          <p:nvPr/>
        </p:nvSpPr>
        <p:spPr bwMode="auto">
          <a:xfrm>
            <a:off x="4972880" y="2151967"/>
            <a:ext cx="332716" cy="130220"/>
          </a:xfrm>
          <a:prstGeom prst="can">
            <a:avLst>
              <a:gd name="adj" fmla="val 39583"/>
            </a:avLst>
          </a:prstGeom>
          <a:solidFill>
            <a:srgbClr val="FF00FF"/>
          </a:solidFill>
          <a:ln w="9525">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6" name="Group 117"/>
          <p:cNvGrpSpPr/>
          <p:nvPr/>
        </p:nvGrpSpPr>
        <p:grpSpPr bwMode="auto">
          <a:xfrm>
            <a:off x="1089297"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8" name="Group 95"/>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请求报文</a:t>
                </a:r>
                <a:endParaRPr kumimoji="1" lang="zh-CN" altLang="en-US" sz="1050" b="1" dirty="0">
                  <a:latin typeface="微软雅黑" panose="020B0503020204020204" pitchFamily="34" charset="-122"/>
                  <a:ea typeface="微软雅黑" panose="020B0503020204020204" pitchFamily="34" charset="-122"/>
                </a:endParaRP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浏览器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发出</a:t>
              </a:r>
              <a:r>
                <a:rPr kumimoji="1" lang="zh-CN" altLang="en-US" sz="1050" b="1" dirty="0" smtClean="0">
                  <a:solidFill>
                    <a:srgbClr val="000099"/>
                  </a:solidFill>
                  <a:latin typeface="微软雅黑" panose="020B0503020204020204" pitchFamily="34" charset="-122"/>
                  <a:ea typeface="微软雅黑" panose="020B0503020204020204" pitchFamily="34" charset="-122"/>
                </a:rPr>
                <a:t>请求</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grpSp>
      <p:grpSp>
        <p:nvGrpSpPr>
          <p:cNvPr id="52" name="Group 120"/>
          <p:cNvGrpSpPr/>
          <p:nvPr/>
        </p:nvGrpSpPr>
        <p:grpSpPr bwMode="auto">
          <a:xfrm>
            <a:off x="1826594"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释放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1839300"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服务器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返回</a:t>
              </a:r>
              <a:r>
                <a:rPr kumimoji="1" lang="zh-CN" altLang="en-US" sz="1050" b="1" dirty="0" smtClean="0">
                  <a:solidFill>
                    <a:srgbClr val="000099"/>
                  </a:solidFill>
                  <a:latin typeface="微软雅黑" panose="020B0503020204020204" pitchFamily="34" charset="-122"/>
                  <a:ea typeface="微软雅黑" panose="020B0503020204020204" pitchFamily="34" charset="-122"/>
                </a:rPr>
                <a:t>响应</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lang="zh-CN" altLang="en-US" sz="4000" dirty="0">
                <a:solidFill>
                  <a:srgbClr val="009900"/>
                </a:solidFill>
                <a:latin typeface="微软雅黑" panose="020B0503020204020204" pitchFamily="34" charset="-122"/>
                <a:ea typeface="微软雅黑" panose="020B0503020204020204" pitchFamily="34" charset="-122"/>
              </a:endParaRPr>
            </a:p>
          </p:txBody>
        </p:sp>
        <p:grpSp>
          <p:nvGrpSpPr>
            <p:cNvPr id="60" name="Group 99"/>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响应报文</a:t>
                </a:r>
                <a:endParaRPr kumimoji="1" lang="zh-CN" altLang="en-US" sz="1050" b="1" dirty="0">
                  <a:latin typeface="微软雅黑" panose="020B0503020204020204" pitchFamily="34" charset="-122"/>
                  <a:ea typeface="微软雅黑" panose="020B0503020204020204" pitchFamily="34" charset="-122"/>
                </a:endParaRPr>
              </a:p>
            </p:txBody>
          </p:sp>
        </p:grpSp>
      </p:grpSp>
      <p:sp>
        <p:nvSpPr>
          <p:cNvPr id="2" name="矩形 1"/>
          <p:cNvSpPr/>
          <p:nvPr/>
        </p:nvSpPr>
        <p:spPr>
          <a:xfrm>
            <a:off x="5341898" y="2711817"/>
            <a:ext cx="3148428" cy="1477328"/>
          </a:xfrm>
          <a:prstGeom prst="rect">
            <a:avLst/>
          </a:prstGeom>
          <a:solidFill>
            <a:schemeClr val="bg1"/>
          </a:solidFill>
        </p:spPr>
        <p:txBody>
          <a:bodyPr wrap="square">
            <a:spAutoFit/>
          </a:bodyPr>
          <a:lstStyle/>
          <a:p>
            <a:pPr>
              <a:lnSpc>
                <a:spcPts val="1800"/>
              </a:lnSpc>
            </a:pPr>
            <a:r>
              <a:rPr lang="en-US" altLang="zh-CN" sz="1400" b="1" dirty="0" smtClean="0">
                <a:solidFill>
                  <a:srgbClr val="0000FF"/>
                </a:solidFill>
                <a:latin typeface="微软雅黑" panose="020B0503020204020204" pitchFamily="34" charset="-122"/>
                <a:ea typeface="微软雅黑" panose="020B0503020204020204" pitchFamily="34" charset="-122"/>
              </a:rPr>
              <a:t>HTTP </a:t>
            </a:r>
            <a:r>
              <a:rPr lang="zh-CN" altLang="en-US" sz="1400" b="1" dirty="0" smtClean="0">
                <a:solidFill>
                  <a:srgbClr val="0000FF"/>
                </a:solidFill>
                <a:latin typeface="微软雅黑" panose="020B0503020204020204" pitchFamily="34" charset="-122"/>
                <a:ea typeface="微软雅黑" panose="020B0503020204020204" pitchFamily="34" charset="-122"/>
              </a:rPr>
              <a:t>规定：</a:t>
            </a:r>
            <a:r>
              <a:rPr lang="zh-CN" altLang="en-US" sz="1400" b="1" dirty="0" smtClean="0">
                <a:latin typeface="微软雅黑" panose="020B0503020204020204" pitchFamily="34" charset="-122"/>
                <a:ea typeface="微软雅黑" panose="020B0503020204020204" pitchFamily="34" charset="-122"/>
              </a:rPr>
              <a:t>在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客户与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之间的每次交互，都由一</a:t>
            </a:r>
            <a:r>
              <a:rPr lang="zh-CN" altLang="en-US" sz="1400" b="1" dirty="0" smtClean="0">
                <a:latin typeface="微软雅黑" panose="020B0503020204020204" pitchFamily="34" charset="-122"/>
                <a:ea typeface="微软雅黑" panose="020B0503020204020204" pitchFamily="34" charset="-122"/>
              </a:rPr>
              <a:t>个 </a:t>
            </a:r>
            <a:r>
              <a:rPr lang="en-US" altLang="zh-CN" sz="1400" b="1" dirty="0" smtClean="0">
                <a:solidFill>
                  <a:srgbClr val="C00000"/>
                </a:solidFill>
                <a:latin typeface="微软雅黑" panose="020B0503020204020204" pitchFamily="34" charset="-122"/>
                <a:ea typeface="微软雅黑" panose="020B0503020204020204" pitchFamily="34" charset="-122"/>
              </a:rPr>
              <a:t>ASCII</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码</a:t>
            </a:r>
            <a:r>
              <a:rPr lang="zh-CN" altLang="en-US" sz="1400" b="1" dirty="0">
                <a:latin typeface="微软雅黑" panose="020B0503020204020204" pitchFamily="34" charset="-122"/>
                <a:ea typeface="微软雅黑" panose="020B0503020204020204" pitchFamily="34" charset="-122"/>
              </a:rPr>
              <a:t>串构成的</a:t>
            </a:r>
            <a:r>
              <a:rPr lang="zh-CN" altLang="en-US" sz="1400" b="1" dirty="0">
                <a:solidFill>
                  <a:srgbClr val="C00000"/>
                </a:solidFill>
                <a:latin typeface="微软雅黑" panose="020B0503020204020204" pitchFamily="34" charset="-122"/>
                <a:ea typeface="微软雅黑" panose="020B0503020204020204" pitchFamily="34" charset="-122"/>
              </a:rPr>
              <a:t>请求</a:t>
            </a:r>
            <a:r>
              <a:rPr lang="zh-CN" altLang="en-US" sz="1400" b="1" dirty="0">
                <a:latin typeface="微软雅黑" panose="020B0503020204020204" pitchFamily="34" charset="-122"/>
                <a:ea typeface="微软雅黑" panose="020B0503020204020204" pitchFamily="34" charset="-122"/>
              </a:rPr>
              <a:t>和一个类似的通用互联网扩充，即“类</a:t>
            </a:r>
            <a:r>
              <a:rPr lang="en-US" altLang="zh-CN" sz="1400" b="1" dirty="0">
                <a:latin typeface="微软雅黑" panose="020B0503020204020204" pitchFamily="34" charset="-122"/>
                <a:ea typeface="微软雅黑" panose="020B0503020204020204" pitchFamily="34" charset="-122"/>
              </a:rPr>
              <a:t>MIME (MIME-like)”</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响应</a:t>
            </a:r>
            <a:r>
              <a:rPr lang="zh-CN" altLang="en-US" sz="1400" b="1" dirty="0">
                <a:latin typeface="微软雅黑" panose="020B0503020204020204" pitchFamily="34" charset="-122"/>
                <a:ea typeface="微软雅黑" panose="020B0503020204020204" pitchFamily="34" charset="-122"/>
              </a:rPr>
              <a:t>组成。</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报文</a:t>
            </a:r>
            <a:r>
              <a:rPr lang="zh-CN" altLang="en-US" sz="1400" b="1" dirty="0">
                <a:latin typeface="微软雅黑" panose="020B0503020204020204" pitchFamily="34" charset="-122"/>
                <a:ea typeface="微软雅黑" panose="020B0503020204020204" pitchFamily="34" charset="-122"/>
              </a:rPr>
              <a:t>通常都</a:t>
            </a:r>
            <a:r>
              <a:rPr lang="zh-CN" altLang="en-US" sz="1400" b="1" dirty="0" smtClean="0">
                <a:latin typeface="微软雅黑" panose="020B0503020204020204" pitchFamily="34" charset="-122"/>
                <a:ea typeface="微软雅黑" panose="020B0503020204020204" pitchFamily="34" charset="-122"/>
              </a:rPr>
              <a:t>使用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传送。</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4" y="934452"/>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ts val="3300"/>
              </a:lnSpc>
              <a:buClr>
                <a:srgbClr val="9900CC"/>
              </a:buClr>
              <a:buSzPct val="95000"/>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浏览器的地址窗口中</a:t>
            </a:r>
            <a:r>
              <a:rPr lang="zh-CN" altLang="en-US" sz="2000" b="1" dirty="0">
                <a:solidFill>
                  <a:srgbClr val="C00000"/>
                </a:solidFill>
                <a:latin typeface="微软雅黑" panose="020B0503020204020204" pitchFamily="34" charset="-122"/>
                <a:ea typeface="微软雅黑" panose="020B0503020204020204" pitchFamily="34" charset="-122"/>
              </a:rPr>
              <a:t>键入</a:t>
            </a:r>
            <a:r>
              <a:rPr lang="zh-CN" altLang="en-US" sz="2000" b="1" dirty="0">
                <a:latin typeface="微软雅黑" panose="020B0503020204020204" pitchFamily="34" charset="-122"/>
                <a:ea typeface="微软雅黑" panose="020B0503020204020204" pitchFamily="34" charset="-122"/>
              </a:rPr>
              <a:t>所要找的页面的 </a:t>
            </a:r>
            <a:r>
              <a:rPr lang="en-US" altLang="zh-CN" sz="2000" b="1" dirty="0">
                <a:latin typeface="微软雅黑" panose="020B0503020204020204" pitchFamily="34" charset="-122"/>
                <a:ea typeface="微软雅黑" panose="020B0503020204020204" pitchFamily="34" charset="-122"/>
              </a:rPr>
              <a:t>URL</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某一个页面中用鼠标</a:t>
            </a:r>
            <a:r>
              <a:rPr lang="zh-CN" altLang="en-US" sz="2000" b="1" dirty="0">
                <a:solidFill>
                  <a:srgbClr val="C00000"/>
                </a:solidFill>
                <a:latin typeface="微软雅黑" panose="020B0503020204020204" pitchFamily="34" charset="-122"/>
                <a:ea typeface="微软雅黑" panose="020B0503020204020204" pitchFamily="34" charset="-122"/>
              </a:rPr>
              <a:t>点击</a:t>
            </a:r>
            <a:r>
              <a:rPr lang="zh-CN" altLang="en-US" sz="2000" b="1" dirty="0">
                <a:latin typeface="微软雅黑" panose="020B0503020204020204" pitchFamily="34" charset="-122"/>
                <a:ea typeface="微软雅黑" panose="020B0503020204020204" pitchFamily="34" charset="-122"/>
              </a:rPr>
              <a:t>一个可选部分，这时浏览器会自动在互联网上找到所要链接的页面。</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88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5503"/>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用户浏览页面的两种方法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8"/>
          <p:cNvSpPr>
            <a:spLocks noChangeArrowheads="1"/>
          </p:cNvSpPr>
          <p:nvPr/>
        </p:nvSpPr>
        <p:spPr bwMode="auto">
          <a:xfrm>
            <a:off x="556963" y="934358"/>
            <a:ext cx="8210901"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了面向连接</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solidFill>
                  <a:srgbClr val="C00000"/>
                </a:solidFill>
                <a:latin typeface="微软雅黑" panose="020B0503020204020204" pitchFamily="34" charset="-122"/>
                <a:ea typeface="微软雅黑" panose="020B0503020204020204" pitchFamily="34" charset="-122"/>
              </a:rPr>
              <a:t>TCP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运输层协议，保证了数据的可靠传输</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协议本身也是</a:t>
            </a:r>
            <a:r>
              <a:rPr lang="zh-CN" altLang="en-US" sz="2000" b="1" dirty="0">
                <a:solidFill>
                  <a:srgbClr val="C00000"/>
                </a:solidFill>
                <a:latin typeface="微软雅黑" panose="020B0503020204020204" pitchFamily="34" charset="-122"/>
                <a:ea typeface="微软雅黑" panose="020B0503020204020204" pitchFamily="34" charset="-122"/>
              </a:rPr>
              <a:t>无连接</a:t>
            </a:r>
            <a:r>
              <a:rPr lang="zh-CN" altLang="en-US" sz="2000" b="1" dirty="0" smtClean="0">
                <a:solidFill>
                  <a:srgbClr val="C00000"/>
                </a:solidFill>
                <a:latin typeface="微软雅黑" panose="020B0503020204020204" pitchFamily="34" charset="-122"/>
                <a:ea typeface="微软雅黑" panose="020B0503020204020204" pitchFamily="34" charset="-122"/>
              </a:rPr>
              <a:t>的。</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无状态的 </a:t>
            </a:r>
            <a:r>
              <a:rPr lang="en-US" altLang="zh-CN" sz="2000" b="1" dirty="0">
                <a:latin typeface="微软雅黑" panose="020B0503020204020204" pitchFamily="34" charset="-122"/>
                <a:ea typeface="微软雅黑" panose="020B0503020204020204" pitchFamily="34" charset="-122"/>
              </a:rPr>
              <a:t>(stateless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简化</a:t>
            </a:r>
            <a:r>
              <a:rPr lang="zh-CN" altLang="en-US" sz="2000" b="1" dirty="0">
                <a:latin typeface="微软雅黑" panose="020B0503020204020204" pitchFamily="34" charset="-122"/>
                <a:ea typeface="微软雅黑" panose="020B0503020204020204" pitchFamily="34" charset="-122"/>
              </a:rPr>
              <a:t>了服务器的设计，使服务器更容易支持大量并发</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556963" y="614243"/>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矩形 8"/>
          <p:cNvSpPr/>
          <p:nvPr/>
        </p:nvSpPr>
        <p:spPr>
          <a:xfrm>
            <a:off x="645268" y="572003"/>
            <a:ext cx="224830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的主要特点</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959415"/>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Line 20"/>
          <p:cNvSpPr>
            <a:spLocks noChangeShapeType="1"/>
          </p:cNvSpPr>
          <p:nvPr/>
        </p:nvSpPr>
        <p:spPr bwMode="auto">
          <a:xfrm flipH="1">
            <a:off x="2620467" y="2668649"/>
            <a:ext cx="3270" cy="615774"/>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Rectangle 25"/>
          <p:cNvSpPr>
            <a:spLocks noChangeArrowheads="1"/>
          </p:cNvSpPr>
          <p:nvPr/>
        </p:nvSpPr>
        <p:spPr bwMode="auto">
          <a:xfrm>
            <a:off x="2437344" y="2892018"/>
            <a:ext cx="355344" cy="1730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Text Box 26"/>
          <p:cNvSpPr txBox="1">
            <a:spLocks noChangeArrowheads="1"/>
          </p:cNvSpPr>
          <p:nvPr/>
        </p:nvSpPr>
        <p:spPr bwMode="auto">
          <a:xfrm>
            <a:off x="2377389" y="2850538"/>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RTT</a:t>
            </a:r>
            <a:endParaRPr kumimoji="1" lang="en-US" altLang="zh-CN" sz="1200" b="1">
              <a:solidFill>
                <a:srgbClr val="0000FF"/>
              </a:solidFill>
              <a:latin typeface="微软雅黑" panose="020B0503020204020204" pitchFamily="34" charset="-122"/>
              <a:ea typeface="微软雅黑" panose="020B0503020204020204" pitchFamily="34" charset="-122"/>
            </a:endParaRPr>
          </a:p>
        </p:txBody>
      </p:sp>
      <p:sp>
        <p:nvSpPr>
          <p:cNvPr id="59" name="Line 19"/>
          <p:cNvSpPr>
            <a:spLocks noChangeShapeType="1"/>
          </p:cNvSpPr>
          <p:nvPr/>
        </p:nvSpPr>
        <p:spPr bwMode="auto">
          <a:xfrm flipH="1">
            <a:off x="2623736" y="2049857"/>
            <a:ext cx="4360" cy="614768"/>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Rectangle 22"/>
          <p:cNvSpPr>
            <a:spLocks noChangeArrowheads="1"/>
          </p:cNvSpPr>
          <p:nvPr/>
        </p:nvSpPr>
        <p:spPr bwMode="auto">
          <a:xfrm>
            <a:off x="2437344" y="2289324"/>
            <a:ext cx="355344" cy="17406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Text Box 23"/>
          <p:cNvSpPr txBox="1">
            <a:spLocks noChangeArrowheads="1"/>
          </p:cNvSpPr>
          <p:nvPr/>
        </p:nvSpPr>
        <p:spPr bwMode="auto">
          <a:xfrm>
            <a:off x="2380769" y="2246727"/>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RTT</a:t>
            </a:r>
            <a:endParaRPr kumimoji="1" lang="en-US" altLang="zh-CN" sz="1200" b="1" dirty="0">
              <a:solidFill>
                <a:srgbClr val="0000FF"/>
              </a:solidFill>
              <a:latin typeface="微软雅黑" panose="020B0503020204020204" pitchFamily="34" charset="-122"/>
              <a:ea typeface="微软雅黑" panose="020B0503020204020204" pitchFamily="34" charset="-122"/>
            </a:endParaRPr>
          </a:p>
        </p:txBody>
      </p:sp>
      <p:sp>
        <p:nvSpPr>
          <p:cNvPr id="62" name="Freeform 4"/>
          <p:cNvSpPr/>
          <p:nvPr/>
        </p:nvSpPr>
        <p:spPr bwMode="auto">
          <a:xfrm>
            <a:off x="2804679" y="2985591"/>
            <a:ext cx="2196376" cy="519182"/>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rgbClr val="00990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Rectangle 6"/>
          <p:cNvSpPr>
            <a:spLocks noChangeArrowheads="1"/>
          </p:cNvSpPr>
          <p:nvPr/>
        </p:nvSpPr>
        <p:spPr bwMode="auto">
          <a:xfrm>
            <a:off x="4388354" y="1110772"/>
            <a:ext cx="1106073" cy="237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65" name="Rectangle 7"/>
          <p:cNvSpPr>
            <a:spLocks noChangeArrowheads="1"/>
          </p:cNvSpPr>
          <p:nvPr/>
        </p:nvSpPr>
        <p:spPr bwMode="auto">
          <a:xfrm>
            <a:off x="2354504" y="115906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sp>
        <p:nvSpPr>
          <p:cNvPr id="67" name="Line 9"/>
          <p:cNvSpPr>
            <a:spLocks noChangeShapeType="1"/>
          </p:cNvSpPr>
          <p:nvPr/>
        </p:nvSpPr>
        <p:spPr bwMode="auto">
          <a:xfrm>
            <a:off x="2805768" y="2000555"/>
            <a:ext cx="0" cy="1893606"/>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Text Box 10"/>
          <p:cNvSpPr txBox="1">
            <a:spLocks noChangeArrowheads="1"/>
          </p:cNvSpPr>
          <p:nvPr/>
        </p:nvSpPr>
        <p:spPr bwMode="auto">
          <a:xfrm>
            <a:off x="1078774" y="1921067"/>
            <a:ext cx="1352677"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发起 </a:t>
            </a:r>
            <a:r>
              <a:rPr kumimoji="1" lang="en-US" altLang="zh-CN" sz="1400" b="1" dirty="0">
                <a:solidFill>
                  <a:schemeClr val="bg1"/>
                </a:solidFill>
                <a:latin typeface="微软雅黑" panose="020B0503020204020204" pitchFamily="34" charset="-122"/>
                <a:ea typeface="微软雅黑" panose="020B0503020204020204" pitchFamily="34" charset="-122"/>
              </a:rPr>
              <a:t>TCP </a:t>
            </a:r>
            <a:r>
              <a:rPr kumimoji="1" lang="zh-CN" altLang="en-US" sz="1400" b="1" dirty="0">
                <a:solidFill>
                  <a:schemeClr val="bg1"/>
                </a:solidFill>
                <a:latin typeface="微软雅黑" panose="020B0503020204020204" pitchFamily="34" charset="-122"/>
                <a:ea typeface="微软雅黑" panose="020B0503020204020204" pitchFamily="34" charset="-122"/>
              </a:rPr>
              <a:t>连接</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69" name="Text Box 11"/>
          <p:cNvSpPr txBox="1">
            <a:spLocks noChangeArrowheads="1"/>
          </p:cNvSpPr>
          <p:nvPr/>
        </p:nvSpPr>
        <p:spPr bwMode="auto">
          <a:xfrm>
            <a:off x="981440" y="2517725"/>
            <a:ext cx="1450011"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0" name="Line 12"/>
          <p:cNvSpPr>
            <a:spLocks noChangeShapeType="1"/>
          </p:cNvSpPr>
          <p:nvPr/>
        </p:nvSpPr>
        <p:spPr bwMode="auto">
          <a:xfrm>
            <a:off x="2805768" y="2049856"/>
            <a:ext cx="2196375" cy="287764"/>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3"/>
          <p:cNvSpPr>
            <a:spLocks noChangeShapeType="1"/>
          </p:cNvSpPr>
          <p:nvPr/>
        </p:nvSpPr>
        <p:spPr bwMode="auto">
          <a:xfrm flipH="1">
            <a:off x="2798139" y="2364787"/>
            <a:ext cx="2196376" cy="288770"/>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4"/>
          <p:cNvSpPr>
            <a:spLocks noChangeShapeType="1"/>
          </p:cNvSpPr>
          <p:nvPr/>
        </p:nvSpPr>
        <p:spPr bwMode="auto">
          <a:xfrm>
            <a:off x="2805768" y="2680724"/>
            <a:ext cx="2196375" cy="287764"/>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5"/>
          <p:cNvSpPr>
            <a:spLocks noChangeShapeType="1"/>
          </p:cNvSpPr>
          <p:nvPr/>
        </p:nvSpPr>
        <p:spPr bwMode="auto">
          <a:xfrm>
            <a:off x="2510375" y="2049856"/>
            <a:ext cx="295394"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6"/>
          <p:cNvSpPr>
            <a:spLocks noChangeShapeType="1"/>
          </p:cNvSpPr>
          <p:nvPr/>
        </p:nvSpPr>
        <p:spPr bwMode="auto">
          <a:xfrm>
            <a:off x="2514735" y="2664624"/>
            <a:ext cx="295394"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7"/>
          <p:cNvSpPr>
            <a:spLocks noChangeShapeType="1"/>
          </p:cNvSpPr>
          <p:nvPr/>
        </p:nvSpPr>
        <p:spPr bwMode="auto">
          <a:xfrm>
            <a:off x="2502745" y="3506785"/>
            <a:ext cx="295393"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8"/>
          <p:cNvSpPr>
            <a:spLocks noChangeShapeType="1"/>
          </p:cNvSpPr>
          <p:nvPr/>
        </p:nvSpPr>
        <p:spPr bwMode="auto">
          <a:xfrm>
            <a:off x="2502745" y="3276374"/>
            <a:ext cx="295393"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Text Box 27"/>
          <p:cNvSpPr txBox="1">
            <a:spLocks noChangeArrowheads="1"/>
          </p:cNvSpPr>
          <p:nvPr/>
        </p:nvSpPr>
        <p:spPr bwMode="auto">
          <a:xfrm>
            <a:off x="5249291" y="2932603"/>
            <a:ext cx="1441419"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传输文档的时间</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8" name="Text Box 28"/>
          <p:cNvSpPr txBox="1">
            <a:spLocks noChangeArrowheads="1"/>
          </p:cNvSpPr>
          <p:nvPr/>
        </p:nvSpPr>
        <p:spPr bwMode="auto">
          <a:xfrm>
            <a:off x="1169568" y="3381016"/>
            <a:ext cx="1261883"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整个文档收到</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9" name="AutoShape 29"/>
          <p:cNvSpPr>
            <a:spLocks noChangeArrowheads="1"/>
          </p:cNvSpPr>
          <p:nvPr/>
        </p:nvSpPr>
        <p:spPr bwMode="auto">
          <a:xfrm rot="21154273">
            <a:off x="3620008" y="3155634"/>
            <a:ext cx="652918" cy="173061"/>
          </a:xfrm>
          <a:prstGeom prst="leftArrow">
            <a:avLst>
              <a:gd name="adj1" fmla="val 50000"/>
              <a:gd name="adj2" fmla="val 87064"/>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Line 30"/>
          <p:cNvSpPr>
            <a:spLocks noChangeShapeType="1"/>
          </p:cNvSpPr>
          <p:nvPr/>
        </p:nvSpPr>
        <p:spPr bwMode="auto">
          <a:xfrm>
            <a:off x="4995603" y="1997535"/>
            <a:ext cx="0" cy="189260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Text Box 31"/>
          <p:cNvSpPr txBox="1">
            <a:spLocks noChangeArrowheads="1"/>
          </p:cNvSpPr>
          <p:nvPr/>
        </p:nvSpPr>
        <p:spPr bwMode="auto">
          <a:xfrm>
            <a:off x="2594306"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时间</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32"/>
          <p:cNvSpPr txBox="1">
            <a:spLocks noChangeArrowheads="1"/>
          </p:cNvSpPr>
          <p:nvPr/>
        </p:nvSpPr>
        <p:spPr bwMode="auto">
          <a:xfrm>
            <a:off x="4778692"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时间</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33"/>
          <p:cNvSpPr txBox="1">
            <a:spLocks noChangeArrowheads="1"/>
          </p:cNvSpPr>
          <p:nvPr/>
        </p:nvSpPr>
        <p:spPr bwMode="auto">
          <a:xfrm rot="21159151">
            <a:off x="3227947" y="3335620"/>
            <a:ext cx="14500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HTTP </a:t>
            </a:r>
            <a:r>
              <a:rPr kumimoji="1" lang="zh-CN" altLang="en-US" sz="1400" b="1" dirty="0">
                <a:solidFill>
                  <a:srgbClr val="0000FF"/>
                </a:solidFill>
                <a:latin typeface="微软雅黑" panose="020B0503020204020204" pitchFamily="34" charset="-122"/>
                <a:ea typeface="微软雅黑" panose="020B0503020204020204" pitchFamily="34" charset="-122"/>
              </a:rPr>
              <a:t>响应报文</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84" name="AutoShape 34"/>
          <p:cNvSpPr/>
          <p:nvPr/>
        </p:nvSpPr>
        <p:spPr bwMode="auto">
          <a:xfrm>
            <a:off x="5027214" y="2972512"/>
            <a:ext cx="59950" cy="231418"/>
          </a:xfrm>
          <a:prstGeom prst="rightBracket">
            <a:avLst>
              <a:gd name="adj" fmla="val 34849"/>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Line 35"/>
          <p:cNvSpPr>
            <a:spLocks noChangeShapeType="1"/>
          </p:cNvSpPr>
          <p:nvPr/>
        </p:nvSpPr>
        <p:spPr bwMode="auto">
          <a:xfrm>
            <a:off x="5087164" y="3088220"/>
            <a:ext cx="162127"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87" name="图片 8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4737706" y="1333637"/>
            <a:ext cx="511585" cy="716219"/>
          </a:xfrm>
          <a:prstGeom prst="rect">
            <a:avLst/>
          </a:prstGeom>
        </p:spPr>
      </p:pic>
      <p:pic>
        <p:nvPicPr>
          <p:cNvPr id="8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84110" y="1397534"/>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89"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矩形 89"/>
          <p:cNvSpPr/>
          <p:nvPr/>
        </p:nvSpPr>
        <p:spPr>
          <a:xfrm>
            <a:off x="645268" y="569908"/>
            <a:ext cx="377539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请求一个万维网文档所需的时间</a:t>
            </a:r>
            <a:endParaRPr lang="zh-CN" altLang="en-US" sz="2000" b="1" dirty="0">
              <a:latin typeface="微软雅黑" panose="020B0503020204020204" pitchFamily="34" charset="-122"/>
              <a:ea typeface="微软雅黑" panose="020B0503020204020204" pitchFamily="34" charset="-122"/>
            </a:endParaRPr>
          </a:p>
        </p:txBody>
      </p:sp>
      <p:sp>
        <p:nvSpPr>
          <p:cNvPr id="3" name="矩形 2"/>
          <p:cNvSpPr/>
          <p:nvPr/>
        </p:nvSpPr>
        <p:spPr>
          <a:xfrm>
            <a:off x="5332431" y="1461642"/>
            <a:ext cx="3107597" cy="1374735"/>
          </a:xfrm>
          <a:prstGeom prst="rect">
            <a:avLst/>
          </a:prstGeom>
          <a:solidFill>
            <a:schemeClr val="bg1"/>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smtClean="0">
                <a:latin typeface="微软雅黑" panose="020B0503020204020204" pitchFamily="34" charset="-122"/>
                <a:ea typeface="微软雅黑" panose="020B0503020204020204" pitchFamily="34" charset="-122"/>
              </a:rPr>
              <a:t>&gt;=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（三报文</a:t>
            </a:r>
            <a:r>
              <a:rPr lang="zh-CN" altLang="en-US" sz="1400" b="1" dirty="0" smtClean="0">
                <a:latin typeface="微软雅黑" panose="020B0503020204020204" pitchFamily="34" charset="-122"/>
                <a:ea typeface="微软雅黑" panose="020B0503020204020204" pitchFamily="34" charset="-122"/>
              </a:rPr>
              <a:t>握手建立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（请求和</a:t>
            </a:r>
            <a:r>
              <a:rPr lang="zh-CN" altLang="en-US" sz="1400" b="1" dirty="0" smtClean="0">
                <a:latin typeface="微软雅黑" panose="020B0503020204020204" pitchFamily="34" charset="-122"/>
                <a:ea typeface="微软雅黑" panose="020B0503020204020204" pitchFamily="34" charset="-122"/>
              </a:rPr>
              <a:t>接收文档</a:t>
            </a:r>
            <a:r>
              <a:rPr lang="zh-CN" altLang="en-US" sz="1400" b="1" dirty="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r>
              <a:rPr lang="zh-CN" altLang="en-US" sz="1400" b="1" dirty="0">
                <a:latin typeface="微软雅黑" panose="020B0503020204020204" pitchFamily="34" charset="-122"/>
                <a:ea typeface="微软雅黑" panose="020B0503020204020204" pitchFamily="34" charset="-122"/>
              </a:rPr>
              <a:t>文档的传输时间</a:t>
            </a:r>
            <a:endParaRPr lang="zh-CN" altLang="en-US" sz="1400" dirty="0"/>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29731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每请求一个文档就要有</a:t>
            </a:r>
            <a:r>
              <a:rPr lang="zh-CN" altLang="en-US" sz="2000" b="1" dirty="0" smtClean="0">
                <a:latin typeface="微软雅黑" panose="020B0503020204020204" pitchFamily="34" charset="-122"/>
                <a:ea typeface="微软雅黑" panose="020B0503020204020204" pitchFamily="34" charset="-122"/>
              </a:rPr>
              <a:t>两倍 </a:t>
            </a:r>
            <a:r>
              <a:rPr lang="en-US" altLang="zh-CN" sz="2000" b="1" dirty="0" smtClean="0">
                <a:latin typeface="微软雅黑" panose="020B0503020204020204" pitchFamily="34" charset="-122"/>
                <a:ea typeface="微软雅黑" panose="020B0503020204020204" pitchFamily="34" charset="-122"/>
              </a:rPr>
              <a:t>RTT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开销</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客户和服务器每一次建立新</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都要分配缓存和变量</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这种</a:t>
            </a:r>
            <a:r>
              <a:rPr lang="zh-CN" altLang="en-US" sz="2000" b="1" dirty="0">
                <a:solidFill>
                  <a:srgbClr val="C00000"/>
                </a:solidFill>
                <a:latin typeface="微软雅黑" panose="020B0503020204020204" pitchFamily="34" charset="-122"/>
                <a:ea typeface="微软雅黑" panose="020B0503020204020204" pitchFamily="34" charset="-122"/>
              </a:rPr>
              <a:t>非持续</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使服务器</a:t>
            </a:r>
            <a:r>
              <a:rPr lang="zh-CN" altLang="en-US" sz="2000" b="1" dirty="0">
                <a:latin typeface="微软雅黑" panose="020B0503020204020204" pitchFamily="34" charset="-122"/>
                <a:ea typeface="微软雅黑" panose="020B0503020204020204" pitchFamily="34" charset="-122"/>
              </a:rPr>
              <a:t>的负担很重。</a:t>
            </a:r>
            <a:endParaRPr lang="en-US" altLang="zh-CN" sz="2000"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9908"/>
            <a:ext cx="335117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HTTP/1.0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主要缺点</a:t>
            </a:r>
            <a:endParaRPr lang="zh-CN" altLang="en-US" sz="2000" b="1" dirty="0">
              <a:latin typeface="微软雅黑" panose="020B0503020204020204" pitchFamily="34" charset="-122"/>
              <a:ea typeface="微软雅黑" panose="020B0503020204020204" pitchFamily="34" charset="-122"/>
            </a:endParaRPr>
          </a:p>
        </p:txBody>
      </p:sp>
      <p:sp>
        <p:nvSpPr>
          <p:cNvPr id="7" name="Text Box 4"/>
          <p:cNvSpPr txBox="1">
            <a:spLocks noChangeArrowheads="1"/>
          </p:cNvSpPr>
          <p:nvPr/>
        </p:nvSpPr>
        <p:spPr bwMode="auto">
          <a:xfrm>
            <a:off x="6908190" y="1122804"/>
            <a:ext cx="2026123" cy="2067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nSpc>
                <a:spcPts val="2200"/>
              </a:lnSpc>
            </a:pPr>
            <a:r>
              <a:rPr lang="zh-CN" altLang="en-US" sz="1600" b="1" dirty="0">
                <a:latin typeface="微软雅黑" panose="020B0503020204020204" pitchFamily="34" charset="-122"/>
                <a:ea typeface="微软雅黑" panose="020B0503020204020204" pitchFamily="34" charset="-122"/>
              </a:rPr>
              <a:t>假设</a:t>
            </a:r>
            <a:r>
              <a:rPr lang="zh-CN" altLang="en-US" sz="1600" b="1" dirty="0" smtClean="0">
                <a:latin typeface="微软雅黑" panose="020B0503020204020204" pitchFamily="34" charset="-122"/>
                <a:ea typeface="微软雅黑" panose="020B0503020204020204" pitchFamily="34" charset="-122"/>
              </a:rPr>
              <a:t>一</a:t>
            </a:r>
            <a:r>
              <a:rPr lang="zh-CN" altLang="en-US" sz="1600" b="1" dirty="0">
                <a:latin typeface="微软雅黑" panose="020B0503020204020204" pitchFamily="34" charset="-122"/>
                <a:ea typeface="微软雅黑" panose="020B0503020204020204" pitchFamily="34" charset="-122"/>
              </a:rPr>
              <a:t>个</a:t>
            </a:r>
            <a:r>
              <a:rPr lang="zh-CN" altLang="en-US" sz="1600" b="1" dirty="0" smtClean="0">
                <a:latin typeface="微软雅黑" panose="020B0503020204020204" pitchFamily="34" charset="-122"/>
                <a:ea typeface="微软雅黑" panose="020B0503020204020204" pitchFamily="34" charset="-122"/>
              </a:rPr>
              <a:t>主页</a:t>
            </a:r>
            <a:r>
              <a:rPr lang="en-US" altLang="zh-CN" sz="1600" b="1" dirty="0" smtClean="0">
                <a:latin typeface="微软雅黑" panose="020B0503020204020204" pitchFamily="34" charset="-122"/>
                <a:ea typeface="微软雅黑" panose="020B0503020204020204" pitchFamily="34" charset="-122"/>
              </a:rPr>
              <a:t>page.html </a:t>
            </a:r>
            <a:r>
              <a:rPr lang="zh-CN" altLang="en-US" sz="1600" b="1" dirty="0" smtClean="0">
                <a:latin typeface="微软雅黑" panose="020B0503020204020204" pitchFamily="34" charset="-122"/>
                <a:ea typeface="微软雅黑" panose="020B0503020204020204" pitchFamily="34" charset="-122"/>
              </a:rPr>
              <a:t>上有 </a:t>
            </a:r>
            <a:r>
              <a:rPr lang="en-US" altLang="zh-CN" sz="1600" b="1" dirty="0" smtClean="0">
                <a:latin typeface="微软雅黑" panose="020B0503020204020204" pitchFamily="34" charset="-122"/>
                <a:ea typeface="微软雅黑" panose="020B0503020204020204" pitchFamily="34" charset="-122"/>
              </a:rPr>
              <a:t>10 </a:t>
            </a:r>
            <a:r>
              <a:rPr lang="zh-CN" altLang="en-US" sz="1600" b="1" dirty="0" smtClean="0">
                <a:latin typeface="微软雅黑" panose="020B0503020204020204" pitchFamily="34" charset="-122"/>
                <a:ea typeface="微软雅黑" panose="020B0503020204020204" pitchFamily="34" charset="-122"/>
              </a:rPr>
              <a:t>个链接的图片：</a:t>
            </a:r>
            <a:r>
              <a:rPr lang="en-US" altLang="zh-CN" sz="1600" b="1" dirty="0" smtClean="0">
                <a:latin typeface="微软雅黑" panose="020B0503020204020204" pitchFamily="34" charset="-122"/>
                <a:ea typeface="微软雅黑" panose="020B0503020204020204" pitchFamily="34" charset="-122"/>
              </a:rPr>
              <a:t>page1.jpg</a:t>
            </a:r>
            <a:r>
              <a:rPr lang="en-US" altLang="zh-CN" sz="1600" b="1" dirty="0">
                <a:latin typeface="微软雅黑" panose="020B0503020204020204" pitchFamily="34" charset="-122"/>
                <a:ea typeface="微软雅黑" panose="020B0503020204020204" pitchFamily="34" charset="-122"/>
              </a:rPr>
              <a:t>, page2.jpg, </a:t>
            </a:r>
            <a:r>
              <a:rPr lang="en-US" altLang="zh-CN" sz="1600" b="1" dirty="0" smtClean="0">
                <a:latin typeface="微软雅黑" panose="020B0503020204020204" pitchFamily="34" charset="-122"/>
                <a:ea typeface="微软雅黑" panose="020B0503020204020204" pitchFamily="34" charset="-122"/>
              </a:rPr>
              <a:t>page3.jpg,</a:t>
            </a:r>
            <a:endParaRPr lang="en-US" altLang="zh-CN" sz="1600" b="1" dirty="0" smtClean="0">
              <a:latin typeface="微软雅黑" panose="020B0503020204020204" pitchFamily="34" charset="-122"/>
              <a:ea typeface="微软雅黑" panose="020B0503020204020204" pitchFamily="34" charset="-122"/>
            </a:endParaRPr>
          </a:p>
          <a:p>
            <a:pPr>
              <a:lnSpc>
                <a:spcPts val="2200"/>
              </a:lnSpc>
            </a:pPr>
            <a:r>
              <a:rPr lang="en-US" altLang="zh-CN" sz="1600" b="1" dirty="0" smtClean="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8" name="Line 5"/>
          <p:cNvSpPr>
            <a:spLocks noChangeShapeType="1"/>
          </p:cNvSpPr>
          <p:nvPr/>
        </p:nvSpPr>
        <p:spPr bwMode="auto">
          <a:xfrm>
            <a:off x="4715307" y="1281829"/>
            <a:ext cx="6384" cy="3260286"/>
          </a:xfrm>
          <a:prstGeom prst="line">
            <a:avLst/>
          </a:prstGeom>
          <a:noFill/>
          <a:ln w="12700">
            <a:solidFill>
              <a:schemeClr val="tx1"/>
            </a:solidFill>
            <a:prstDash val="solid"/>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Line 6"/>
          <p:cNvSpPr>
            <a:spLocks noChangeShapeType="1"/>
          </p:cNvSpPr>
          <p:nvPr/>
        </p:nvSpPr>
        <p:spPr bwMode="auto">
          <a:xfrm flipH="1">
            <a:off x="5835636" y="1277495"/>
            <a:ext cx="12767" cy="3267871"/>
          </a:xfrm>
          <a:prstGeom prst="line">
            <a:avLst/>
          </a:prstGeom>
          <a:noFill/>
          <a:ln w="12700">
            <a:solidFill>
              <a:schemeClr val="tx1"/>
            </a:solidFill>
            <a:prstDash val="solid"/>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2" name="组合 51"/>
          <p:cNvGrpSpPr/>
          <p:nvPr/>
        </p:nvGrpSpPr>
        <p:grpSpPr>
          <a:xfrm>
            <a:off x="3338004" y="1266224"/>
            <a:ext cx="3595617" cy="1578522"/>
            <a:chOff x="3338004" y="1266224"/>
            <a:chExt cx="3595617" cy="1578522"/>
          </a:xfrm>
        </p:grpSpPr>
        <p:sp>
          <p:nvSpPr>
            <p:cNvPr id="18" name="Text Box 12"/>
            <p:cNvSpPr txBox="1">
              <a:spLocks noChangeArrowheads="1"/>
            </p:cNvSpPr>
            <p:nvPr/>
          </p:nvSpPr>
          <p:spPr bwMode="auto">
            <a:xfrm>
              <a:off x="5902120" y="2198103"/>
              <a:ext cx="10315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传输 </a:t>
              </a:r>
              <a:r>
                <a:rPr lang="en-US" altLang="zh-CN" sz="1200" b="1" dirty="0" smtClean="0">
                  <a:solidFill>
                    <a:srgbClr val="0000CC"/>
                  </a:solidFill>
                  <a:latin typeface="微软雅黑" panose="020B0503020204020204" pitchFamily="34" charset="-122"/>
                  <a:ea typeface="微软雅黑" panose="020B0503020204020204" pitchFamily="34" charset="-122"/>
                </a:rPr>
                <a:t>page.html </a:t>
              </a:r>
              <a:r>
                <a:rPr lang="zh-CN" altLang="en-US" sz="1200" b="1" dirty="0" smtClean="0">
                  <a:solidFill>
                    <a:srgbClr val="0000CC"/>
                  </a:solidFill>
                  <a:latin typeface="微软雅黑" panose="020B0503020204020204" pitchFamily="34" charset="-122"/>
                  <a:ea typeface="微软雅黑" panose="020B0503020204020204" pitchFamily="34" charset="-122"/>
                </a:rPr>
                <a:t>的时间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3338004" y="1266224"/>
              <a:ext cx="2613601" cy="1578522"/>
              <a:chOff x="3338004" y="1266224"/>
              <a:chExt cx="2613601" cy="1578522"/>
            </a:xfrm>
          </p:grpSpPr>
          <p:sp>
            <p:nvSpPr>
              <p:cNvPr id="13" name="Line 7"/>
              <p:cNvSpPr>
                <a:spLocks noChangeShapeType="1"/>
              </p:cNvSpPr>
              <p:nvPr/>
            </p:nvSpPr>
            <p:spPr bwMode="auto">
              <a:xfrm>
                <a:off x="4724883" y="1440021"/>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8"/>
              <p:cNvSpPr>
                <a:spLocks noChangeShapeType="1"/>
              </p:cNvSpPr>
              <p:nvPr/>
            </p:nvSpPr>
            <p:spPr bwMode="auto">
              <a:xfrm flipH="1">
                <a:off x="4715307" y="1739071"/>
                <a:ext cx="1121392" cy="275212"/>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
              <p:cNvSpPr>
                <a:spLocks noChangeShapeType="1"/>
              </p:cNvSpPr>
              <p:nvPr/>
            </p:nvSpPr>
            <p:spPr bwMode="auto">
              <a:xfrm>
                <a:off x="4720627" y="2085794"/>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10"/>
              <p:cNvSpPr>
                <a:spLocks noChangeShapeType="1"/>
              </p:cNvSpPr>
              <p:nvPr/>
            </p:nvSpPr>
            <p:spPr bwMode="auto">
              <a:xfrm flipH="1">
                <a:off x="4731266" y="2432938"/>
                <a:ext cx="1121392" cy="258959"/>
              </a:xfrm>
              <a:prstGeom prst="line">
                <a:avLst/>
              </a:prstGeom>
              <a:noFill/>
              <a:ln w="127000">
                <a:solidFill>
                  <a:srgbClr val="0099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AutoShape 11"/>
              <p:cNvSpPr/>
              <p:nvPr/>
            </p:nvSpPr>
            <p:spPr bwMode="auto">
              <a:xfrm>
                <a:off x="5901600" y="2366634"/>
                <a:ext cx="50005" cy="124604"/>
              </a:xfrm>
              <a:prstGeom prst="rightBrace">
                <a:avLst>
                  <a:gd name="adj1" fmla="val 20390"/>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 name="Text Box 14"/>
              <p:cNvSpPr txBox="1">
                <a:spLocks noChangeArrowheads="1"/>
              </p:cNvSpPr>
              <p:nvPr/>
            </p:nvSpPr>
            <p:spPr bwMode="auto">
              <a:xfrm>
                <a:off x="3338004" y="1266224"/>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20" name="Text Box 17"/>
              <p:cNvSpPr txBox="1">
                <a:spLocks noChangeArrowheads="1"/>
              </p:cNvSpPr>
              <p:nvPr/>
            </p:nvSpPr>
            <p:spPr bwMode="auto">
              <a:xfrm>
                <a:off x="4738206" y="1926570"/>
                <a:ext cx="1097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solidFill>
                      <a:srgbClr val="C00000"/>
                    </a:solidFill>
                    <a:latin typeface="微软雅黑" panose="020B0503020204020204" pitchFamily="34" charset="-122"/>
                    <a:ea typeface="微软雅黑" panose="020B0503020204020204" pitchFamily="34" charset="-122"/>
                  </a:rPr>
                  <a:t>GET </a:t>
                </a:r>
                <a:r>
                  <a:rPr lang="en-US" altLang="zh-CN" sz="1200" b="1" dirty="0" smtClean="0">
                    <a:solidFill>
                      <a:srgbClr val="C00000"/>
                    </a:solidFill>
                    <a:latin typeface="微软雅黑" panose="020B0503020204020204" pitchFamily="34" charset="-122"/>
                    <a:ea typeface="微软雅黑" panose="020B0503020204020204" pitchFamily="34" charset="-122"/>
                  </a:rPr>
                  <a:t>page.html</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3751375" y="2567747"/>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收到文档</a:t>
                </a:r>
                <a:endParaRPr lang="zh-CN" altLang="en-US" dirty="0"/>
              </a:p>
            </p:txBody>
          </p:sp>
          <p:sp>
            <p:nvSpPr>
              <p:cNvPr id="24" name="Line 13"/>
              <p:cNvSpPr>
                <a:spLocks noChangeShapeType="1"/>
              </p:cNvSpPr>
              <p:nvPr/>
            </p:nvSpPr>
            <p:spPr bwMode="auto">
              <a:xfrm>
                <a:off x="4453578" y="1422685"/>
                <a:ext cx="261729"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AutoShape 15"/>
              <p:cNvSpPr/>
              <p:nvPr/>
            </p:nvSpPr>
            <p:spPr bwMode="auto">
              <a:xfrm>
                <a:off x="4544013" y="1457357"/>
                <a:ext cx="86179" cy="54825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Text Box 16"/>
              <p:cNvSpPr txBox="1">
                <a:spLocks noChangeArrowheads="1"/>
              </p:cNvSpPr>
              <p:nvPr/>
            </p:nvSpPr>
            <p:spPr bwMode="auto">
              <a:xfrm>
                <a:off x="4115245" y="159604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latin typeface="微软雅黑" panose="020B0503020204020204" pitchFamily="34" charset="-122"/>
                    <a:ea typeface="微软雅黑" panose="020B0503020204020204" pitchFamily="34" charset="-122"/>
                  </a:rPr>
                  <a:t>RTT</a:t>
                </a:r>
                <a:endParaRPr lang="en-US" altLang="zh-CN" sz="1200" b="1" dirty="0">
                  <a:latin typeface="微软雅黑" panose="020B0503020204020204" pitchFamily="34" charset="-122"/>
                  <a:ea typeface="微软雅黑" panose="020B0503020204020204" pitchFamily="34" charset="-122"/>
                </a:endParaRPr>
              </a:p>
            </p:txBody>
          </p:sp>
          <p:sp>
            <p:nvSpPr>
              <p:cNvPr id="27" name="AutoShape 18"/>
              <p:cNvSpPr/>
              <p:nvPr/>
            </p:nvSpPr>
            <p:spPr bwMode="auto">
              <a:xfrm>
                <a:off x="4548268" y="2078210"/>
                <a:ext cx="86179" cy="54825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19"/>
              <p:cNvSpPr txBox="1">
                <a:spLocks noChangeArrowheads="1"/>
              </p:cNvSpPr>
              <p:nvPr/>
            </p:nvSpPr>
            <p:spPr bwMode="auto">
              <a:xfrm>
                <a:off x="4128013" y="222556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29" name="Line 20"/>
              <p:cNvSpPr>
                <a:spLocks noChangeShapeType="1"/>
              </p:cNvSpPr>
              <p:nvPr/>
            </p:nvSpPr>
            <p:spPr bwMode="auto">
              <a:xfrm flipH="1">
                <a:off x="4494007" y="2733070"/>
                <a:ext cx="229811" cy="10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23"/>
              <p:cNvSpPr>
                <a:spLocks noChangeShapeType="1"/>
              </p:cNvSpPr>
              <p:nvPr/>
            </p:nvSpPr>
            <p:spPr bwMode="auto">
              <a:xfrm flipH="1">
                <a:off x="4480176" y="2077126"/>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grpSp>
        <p:nvGrpSpPr>
          <p:cNvPr id="53" name="组合 52"/>
          <p:cNvGrpSpPr/>
          <p:nvPr/>
        </p:nvGrpSpPr>
        <p:grpSpPr>
          <a:xfrm>
            <a:off x="5253660" y="4257392"/>
            <a:ext cx="68093" cy="273778"/>
            <a:chOff x="5253660" y="4257392"/>
            <a:chExt cx="68093" cy="273778"/>
          </a:xfrm>
        </p:grpSpPr>
        <p:sp>
          <p:nvSpPr>
            <p:cNvPr id="37"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8"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9"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360550" y="2749191"/>
            <a:ext cx="3547641" cy="1507486"/>
            <a:chOff x="3360550" y="2749191"/>
            <a:chExt cx="3547641" cy="1507486"/>
          </a:xfrm>
        </p:grpSpPr>
        <p:grpSp>
          <p:nvGrpSpPr>
            <p:cNvPr id="4" name="组合 3"/>
            <p:cNvGrpSpPr/>
            <p:nvPr/>
          </p:nvGrpSpPr>
          <p:grpSpPr>
            <a:xfrm>
              <a:off x="3751375" y="2885392"/>
              <a:ext cx="3156816" cy="1371285"/>
              <a:chOff x="3751375" y="2841002"/>
              <a:chExt cx="3156816" cy="1371285"/>
            </a:xfrm>
          </p:grpSpPr>
          <p:sp>
            <p:nvSpPr>
              <p:cNvPr id="22" name="Line 22"/>
              <p:cNvSpPr>
                <a:spLocks noChangeShapeType="1"/>
              </p:cNvSpPr>
              <p:nvPr/>
            </p:nvSpPr>
            <p:spPr bwMode="auto">
              <a:xfrm>
                <a:off x="4723818" y="2843169"/>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24"/>
              <p:cNvSpPr>
                <a:spLocks noChangeShapeType="1"/>
              </p:cNvSpPr>
              <p:nvPr/>
            </p:nvSpPr>
            <p:spPr bwMode="auto">
              <a:xfrm flipH="1">
                <a:off x="4695092" y="3143302"/>
                <a:ext cx="1121392" cy="275212"/>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Line 25"/>
              <p:cNvSpPr>
                <a:spLocks noChangeShapeType="1"/>
              </p:cNvSpPr>
              <p:nvPr/>
            </p:nvSpPr>
            <p:spPr bwMode="auto">
              <a:xfrm>
                <a:off x="4716371" y="3466188"/>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3" name="Line 26"/>
              <p:cNvSpPr>
                <a:spLocks noChangeShapeType="1"/>
              </p:cNvSpPr>
              <p:nvPr/>
            </p:nvSpPr>
            <p:spPr bwMode="auto">
              <a:xfrm flipH="1">
                <a:off x="4704667" y="3785824"/>
                <a:ext cx="1121392" cy="258960"/>
              </a:xfrm>
              <a:prstGeom prst="line">
                <a:avLst/>
              </a:prstGeom>
              <a:noFill/>
              <a:ln w="127000">
                <a:solidFill>
                  <a:srgbClr val="0099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27"/>
              <p:cNvSpPr txBox="1">
                <a:spLocks noChangeArrowheads="1"/>
              </p:cNvSpPr>
              <p:nvPr/>
            </p:nvSpPr>
            <p:spPr bwMode="auto">
              <a:xfrm>
                <a:off x="4741906" y="3285853"/>
                <a:ext cx="1078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C00000"/>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en-US" altLang="zh-CN" dirty="0"/>
                  <a:t>GET page1.jpg</a:t>
                </a:r>
                <a:endParaRPr lang="en-US" altLang="zh-CN" dirty="0"/>
              </a:p>
            </p:txBody>
          </p:sp>
          <p:sp>
            <p:nvSpPr>
              <p:cNvPr id="35" name="Text Box 28"/>
              <p:cNvSpPr txBox="1">
                <a:spLocks noChangeArrowheads="1"/>
              </p:cNvSpPr>
              <p:nvPr/>
            </p:nvSpPr>
            <p:spPr bwMode="auto">
              <a:xfrm>
                <a:off x="5902121" y="3550702"/>
                <a:ext cx="100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传输 </a:t>
                </a:r>
                <a:r>
                  <a:rPr lang="en-US" altLang="zh-CN" dirty="0" smtClean="0"/>
                  <a:t>page1.jpg</a:t>
                </a:r>
                <a:endParaRPr lang="en-US" altLang="zh-CN" dirty="0"/>
              </a:p>
              <a:p>
                <a:r>
                  <a:rPr lang="zh-CN" altLang="en-US" dirty="0"/>
                  <a:t>的时间</a:t>
                </a:r>
                <a:endParaRPr lang="zh-CN" altLang="en-US" dirty="0"/>
              </a:p>
            </p:txBody>
          </p:sp>
          <p:sp>
            <p:nvSpPr>
              <p:cNvPr id="36" name="AutoShape 29"/>
              <p:cNvSpPr/>
              <p:nvPr/>
            </p:nvSpPr>
            <p:spPr bwMode="auto">
              <a:xfrm>
                <a:off x="5875001" y="3735982"/>
                <a:ext cx="50005" cy="124604"/>
              </a:xfrm>
              <a:prstGeom prst="rightBrace">
                <a:avLst>
                  <a:gd name="adj1" fmla="val 20390"/>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3"/>
              <p:cNvSpPr>
                <a:spLocks noChangeShapeType="1"/>
              </p:cNvSpPr>
              <p:nvPr/>
            </p:nvSpPr>
            <p:spPr bwMode="auto">
              <a:xfrm>
                <a:off x="4453578" y="2841002"/>
                <a:ext cx="261729"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15"/>
              <p:cNvSpPr/>
              <p:nvPr/>
            </p:nvSpPr>
            <p:spPr bwMode="auto">
              <a:xfrm>
                <a:off x="4544013" y="2875659"/>
                <a:ext cx="86179" cy="54801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Text Box 16"/>
              <p:cNvSpPr txBox="1">
                <a:spLocks noChangeArrowheads="1"/>
              </p:cNvSpPr>
              <p:nvPr/>
            </p:nvSpPr>
            <p:spPr bwMode="auto">
              <a:xfrm>
                <a:off x="4115245" y="301428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44" name="AutoShape 18"/>
              <p:cNvSpPr/>
              <p:nvPr/>
            </p:nvSpPr>
            <p:spPr bwMode="auto">
              <a:xfrm>
                <a:off x="4548268" y="3444768"/>
                <a:ext cx="86179" cy="54801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Text Box 19"/>
              <p:cNvSpPr txBox="1">
                <a:spLocks noChangeArrowheads="1"/>
              </p:cNvSpPr>
              <p:nvPr/>
            </p:nvSpPr>
            <p:spPr bwMode="auto">
              <a:xfrm>
                <a:off x="4128013" y="3592061"/>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47" name="Line 23"/>
              <p:cNvSpPr>
                <a:spLocks noChangeShapeType="1"/>
              </p:cNvSpPr>
              <p:nvPr/>
            </p:nvSpPr>
            <p:spPr bwMode="auto">
              <a:xfrm flipH="1">
                <a:off x="4480176" y="3443685"/>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Text Box 21"/>
              <p:cNvSpPr txBox="1">
                <a:spLocks noChangeArrowheads="1"/>
              </p:cNvSpPr>
              <p:nvPr/>
            </p:nvSpPr>
            <p:spPr bwMode="auto">
              <a:xfrm>
                <a:off x="3751375" y="3935288"/>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收到</a:t>
                </a:r>
                <a:r>
                  <a:rPr lang="zh-CN" altLang="en-US" dirty="0"/>
                  <a:t>文档</a:t>
                </a:r>
                <a:endParaRPr lang="zh-CN" altLang="en-US" dirty="0"/>
              </a:p>
            </p:txBody>
          </p:sp>
          <p:sp>
            <p:nvSpPr>
              <p:cNvPr id="49" name="Line 20"/>
              <p:cNvSpPr>
                <a:spLocks noChangeShapeType="1"/>
              </p:cNvSpPr>
              <p:nvPr/>
            </p:nvSpPr>
            <p:spPr bwMode="auto">
              <a:xfrm flipH="1">
                <a:off x="4494007" y="4100611"/>
                <a:ext cx="229811" cy="10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0" name="Text Box 14"/>
            <p:cNvSpPr txBox="1">
              <a:spLocks noChangeArrowheads="1"/>
            </p:cNvSpPr>
            <p:nvPr/>
          </p:nvSpPr>
          <p:spPr bwMode="auto">
            <a:xfrm>
              <a:off x="3360550" y="2749191"/>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4" name="Rectangle 6"/>
          <p:cNvSpPr>
            <a:spLocks noChangeArrowheads="1"/>
          </p:cNvSpPr>
          <p:nvPr/>
        </p:nvSpPr>
        <p:spPr bwMode="auto">
          <a:xfrm>
            <a:off x="5358745" y="1016583"/>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55" name="Rectangle 7"/>
          <p:cNvSpPr>
            <a:spLocks noChangeArrowheads="1"/>
          </p:cNvSpPr>
          <p:nvPr/>
        </p:nvSpPr>
        <p:spPr bwMode="auto">
          <a:xfrm>
            <a:off x="4239214" y="1016583"/>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sp>
        <p:nvSpPr>
          <p:cNvPr id="56" name="矩形 55"/>
          <p:cNvSpPr/>
          <p:nvPr/>
        </p:nvSpPr>
        <p:spPr>
          <a:xfrm>
            <a:off x="6828676" y="3251849"/>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22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+ 11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的传输时间</a:t>
            </a:r>
            <a:endParaRPr lang="zh-CN" altLang="en-US" sz="1400" dirty="0"/>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up)">
                                      <p:cBhvr>
                                        <p:cTn id="7" dur="10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wipe(up)">
                                      <p:cBhvr>
                                        <p:cTn id="12" dur="1000"/>
                                        <p:tgtEl>
                                          <p:spTgt spid="51"/>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up)">
                                      <p:cBhvr>
                                        <p:cTn id="16" dur="1000"/>
                                        <p:tgtEl>
                                          <p:spTgt spid="5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持续</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persistent connection</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在发送响应后仍然在一段时间内</a:t>
            </a:r>
            <a:r>
              <a:rPr lang="zh-CN" altLang="en-US" sz="2000" b="1" dirty="0">
                <a:solidFill>
                  <a:srgbClr val="0000FF"/>
                </a:solidFill>
                <a:latin typeface="微软雅黑" panose="020B0503020204020204" pitchFamily="34" charset="-122"/>
                <a:ea typeface="微软雅黑" panose="020B0503020204020204" pitchFamily="34" charset="-122"/>
              </a:rPr>
              <a:t>保持</a:t>
            </a:r>
            <a:r>
              <a:rPr lang="zh-CN" altLang="en-US" sz="2000" b="1" dirty="0">
                <a:latin typeface="微软雅黑" panose="020B0503020204020204" pitchFamily="34" charset="-122"/>
                <a:ea typeface="微软雅黑" panose="020B0503020204020204" pitchFamily="34" charset="-122"/>
              </a:rPr>
              <a:t>这条</a:t>
            </a:r>
            <a:r>
              <a:rPr lang="zh-CN" altLang="en-US" sz="2000" b="1" dirty="0" smtClean="0">
                <a:latin typeface="微软雅黑" panose="020B0503020204020204" pitchFamily="34" charset="-122"/>
                <a:ea typeface="微软雅黑" panose="020B0503020204020204" pitchFamily="34" charset="-122"/>
              </a:rPr>
              <a:t>连接（不释放），</a:t>
            </a:r>
            <a:r>
              <a:rPr lang="zh-CN" altLang="en-US" sz="2000" b="1" dirty="0">
                <a:latin typeface="微软雅黑" panose="020B0503020204020204" pitchFamily="34" charset="-122"/>
                <a:ea typeface="微软雅黑" panose="020B0503020204020204" pitchFamily="34" charset="-122"/>
              </a:rPr>
              <a:t>使同一个客户（浏览器）和该服务器可以继续在这条连接上传送后续</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报文和响应报文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只要文档</a:t>
            </a:r>
            <a:r>
              <a:rPr lang="zh-CN" altLang="en-US" sz="2000" b="1" dirty="0">
                <a:latin typeface="微软雅黑" panose="020B0503020204020204" pitchFamily="34" charset="-122"/>
                <a:ea typeface="微软雅黑" panose="020B0503020204020204" pitchFamily="34" charset="-122"/>
              </a:rPr>
              <a:t>都在同一个服务器</a:t>
            </a:r>
            <a:r>
              <a:rPr lang="zh-CN" altLang="en-US" sz="2000" b="1" dirty="0" smtClean="0">
                <a:latin typeface="微软雅黑" panose="020B0503020204020204" pitchFamily="34" charset="-122"/>
                <a:ea typeface="微软雅黑" panose="020B0503020204020204" pitchFamily="34" charset="-122"/>
              </a:rPr>
              <a:t>上，就可以继续使用该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两种工作</a:t>
            </a:r>
            <a:r>
              <a:rPr lang="zh-CN" altLang="en-US" sz="2000" b="1" dirty="0" smtClean="0">
                <a:solidFill>
                  <a:srgbClr val="0000FF"/>
                </a:solidFill>
                <a:latin typeface="微软雅黑" panose="020B0503020204020204" pitchFamily="34" charset="-122"/>
                <a:ea typeface="微软雅黑" panose="020B0503020204020204" pitchFamily="34" charset="-122"/>
              </a:rPr>
              <a:t>方式：</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非流水线方式 </a:t>
            </a:r>
            <a:r>
              <a:rPr lang="en-US" altLang="zh-CN" sz="2000" b="1" dirty="0">
                <a:latin typeface="微软雅黑" panose="020B0503020204020204" pitchFamily="34" charset="-122"/>
                <a:ea typeface="微软雅黑" panose="020B0503020204020204" pitchFamily="34" charset="-122"/>
              </a:rPr>
              <a:t>(without pipelining)</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流水线方式 </a:t>
            </a:r>
            <a:r>
              <a:rPr lang="en-US" altLang="zh-CN" sz="2000" b="1" dirty="0">
                <a:latin typeface="微软雅黑" panose="020B0503020204020204" pitchFamily="34" charset="-122"/>
                <a:ea typeface="微软雅黑" panose="020B0503020204020204" pitchFamily="34" charset="-122"/>
              </a:rPr>
              <a:t>(with pipelining)</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68459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HTTP/1.1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0000CC"/>
                </a:solidFill>
                <a:latin typeface="微软雅黑" panose="020B0503020204020204" pitchFamily="34" charset="-122"/>
                <a:ea typeface="微软雅黑" panose="020B0503020204020204" pitchFamily="34" charset="-122"/>
              </a:rPr>
              <a:t>持续连接</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客户在收到前一个</a:t>
            </a:r>
            <a:r>
              <a:rPr lang="zh-CN" altLang="en-US" sz="2000" b="1" dirty="0" smtClean="0">
                <a:latin typeface="微软雅黑" panose="020B0503020204020204" pitchFamily="34" charset="-122"/>
                <a:ea typeface="微软雅黑" panose="020B0503020204020204" pitchFamily="34" charset="-122"/>
              </a:rPr>
              <a:t>响应</a:t>
            </a:r>
            <a:r>
              <a:rPr lang="zh-CN" altLang="en-US" sz="2000" b="1" dirty="0" smtClean="0">
                <a:solidFill>
                  <a:srgbClr val="C00000"/>
                </a:solidFill>
                <a:latin typeface="微软雅黑" panose="020B0503020204020204" pitchFamily="34" charset="-122"/>
                <a:ea typeface="微软雅黑" panose="020B0503020204020204" pitchFamily="34" charset="-122"/>
              </a:rPr>
              <a:t>之后</a:t>
            </a:r>
            <a:r>
              <a:rPr lang="zh-CN" altLang="en-US" sz="2000" b="1" dirty="0">
                <a:latin typeface="微软雅黑" panose="020B0503020204020204" pitchFamily="34" charset="-122"/>
                <a:ea typeface="微软雅黑" panose="020B0503020204020204" pitchFamily="34" charset="-122"/>
              </a:rPr>
              <a:t>才能发出下一个</a:t>
            </a:r>
            <a:r>
              <a:rPr lang="zh-CN" altLang="en-US" sz="2000" b="1" dirty="0" smtClean="0">
                <a:latin typeface="微软雅黑" panose="020B0503020204020204" pitchFamily="34" charset="-122"/>
                <a:ea typeface="微软雅黑" panose="020B0503020204020204" pitchFamily="34" charset="-122"/>
              </a:rPr>
              <a:t>请求。</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连接空闲状态。</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8289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持续</a:t>
            </a:r>
            <a:r>
              <a:rPr lang="zh-CN" altLang="en-US" sz="2000" b="1" dirty="0">
                <a:latin typeface="微软雅黑" panose="020B0503020204020204" pitchFamily="34" charset="-122"/>
                <a:ea typeface="微软雅黑" panose="020B0503020204020204" pitchFamily="34" charset="-122"/>
              </a:rPr>
              <a:t>连接：非流水线方式 </a:t>
            </a:r>
            <a:endParaRPr lang="zh-CN" altLang="en-US" sz="2000" b="1" dirty="0">
              <a:latin typeface="微软雅黑" panose="020B0503020204020204" pitchFamily="34" charset="-122"/>
              <a:ea typeface="微软雅黑" panose="020B0503020204020204" pitchFamily="34" charset="-122"/>
            </a:endParaRP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grpSp>
        <p:nvGrpSpPr>
          <p:cNvPr id="54" name="组合 53"/>
          <p:cNvGrpSpPr/>
          <p:nvPr/>
        </p:nvGrpSpPr>
        <p:grpSpPr>
          <a:xfrm>
            <a:off x="3775648" y="1248914"/>
            <a:ext cx="2769774" cy="861437"/>
            <a:chOff x="3775648" y="1248914"/>
            <a:chExt cx="2769774" cy="861437"/>
          </a:xfrm>
        </p:grpSpPr>
        <p:grpSp>
          <p:nvGrpSpPr>
            <p:cNvPr id="49" name="组合 48"/>
            <p:cNvGrpSpPr/>
            <p:nvPr/>
          </p:nvGrpSpPr>
          <p:grpSpPr>
            <a:xfrm>
              <a:off x="5016247" y="1762124"/>
              <a:ext cx="1503604" cy="348227"/>
              <a:chOff x="5442383" y="1762124"/>
              <a:chExt cx="1503604" cy="348227"/>
            </a:xfrm>
          </p:grpSpPr>
          <p:sp>
            <p:nvSpPr>
              <p:cNvPr id="26" name="Rectangle 21"/>
              <p:cNvSpPr>
                <a:spLocks noChangeArrowheads="1"/>
              </p:cNvSpPr>
              <p:nvPr/>
            </p:nvSpPr>
            <p:spPr bwMode="auto">
              <a:xfrm rot="21230751">
                <a:off x="5442383" y="1762124"/>
                <a:ext cx="1503604" cy="348227"/>
              </a:xfrm>
              <a:prstGeom prst="rect">
                <a:avLst/>
              </a:prstGeom>
              <a:solidFill>
                <a:srgbClr val="009900"/>
              </a:solidFill>
              <a:ln w="9525">
                <a:noFill/>
                <a:miter lim="800000"/>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grpSp>
        <p:nvGrpSpPr>
          <p:cNvPr id="44" name="组合 43"/>
          <p:cNvGrpSpPr/>
          <p:nvPr/>
        </p:nvGrpSpPr>
        <p:grpSpPr>
          <a:xfrm>
            <a:off x="5700971" y="36092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3" name="矩形 52"/>
          <p:cNvSpPr/>
          <p:nvPr/>
        </p:nvSpPr>
        <p:spPr>
          <a:xfrm>
            <a:off x="6661084" y="1881928"/>
            <a:ext cx="2105638" cy="1631216"/>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page.html </a:t>
            </a:r>
            <a:r>
              <a:rPr lang="zh-CN" altLang="en-US" sz="1400" b="1" dirty="0" smtClean="0">
                <a:latin typeface="微软雅黑" panose="020B0503020204020204" pitchFamily="34" charset="-122"/>
                <a:ea typeface="微软雅黑" panose="020B0503020204020204" pitchFamily="34" charset="-122"/>
              </a:rPr>
              <a:t>传输时间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+ 10 RTT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+ 10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空闲时间</a:t>
            </a:r>
            <a:endParaRPr lang="zh-CN" altLang="en-US" sz="1400" dirty="0"/>
          </a:p>
        </p:txBody>
      </p:sp>
      <p:grpSp>
        <p:nvGrpSpPr>
          <p:cNvPr id="63" name="组合 62"/>
          <p:cNvGrpSpPr/>
          <p:nvPr/>
        </p:nvGrpSpPr>
        <p:grpSpPr>
          <a:xfrm>
            <a:off x="4308273" y="2070235"/>
            <a:ext cx="2203727" cy="807585"/>
            <a:chOff x="4308273" y="2070235"/>
            <a:chExt cx="2203727" cy="807585"/>
          </a:xfrm>
        </p:grpSpPr>
        <p:grpSp>
          <p:nvGrpSpPr>
            <p:cNvPr id="50" name="组合 49"/>
            <p:cNvGrpSpPr/>
            <p:nvPr/>
          </p:nvGrpSpPr>
          <p:grpSpPr>
            <a:xfrm>
              <a:off x="4308273" y="2070235"/>
              <a:ext cx="2201256" cy="723594"/>
              <a:chOff x="4734409" y="1919309"/>
              <a:chExt cx="2201256" cy="723594"/>
            </a:xfrm>
          </p:grpSpPr>
          <p:grpSp>
            <p:nvGrpSpPr>
              <p:cNvPr id="31" name="Group 26"/>
              <p:cNvGrpSpPr/>
              <p:nvPr/>
            </p:nvGrpSpPr>
            <p:grpSpPr bwMode="auto">
              <a:xfrm>
                <a:off x="5443288" y="2294674"/>
                <a:ext cx="1492377" cy="348229"/>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sp>
            <p:nvSpPr>
              <p:cNvPr id="32" name="Text Box 29"/>
              <p:cNvSpPr txBox="1">
                <a:spLocks noChangeArrowheads="1"/>
              </p:cNvSpPr>
              <p:nvPr/>
            </p:nvSpPr>
            <p:spPr bwMode="auto">
              <a:xfrm>
                <a:off x="4734409" y="191930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226133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58" name="直接连接符 57"/>
            <p:cNvCxnSpPr/>
            <p:nvPr/>
          </p:nvCxnSpPr>
          <p:spPr>
            <a:xfrm>
              <a:off x="4785064" y="2223945"/>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785064" y="2877820"/>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flipV="1">
              <a:off x="4986740" y="2175669"/>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grpSp>
        <p:nvGrpSpPr>
          <p:cNvPr id="64" name="组合 63"/>
          <p:cNvGrpSpPr/>
          <p:nvPr/>
        </p:nvGrpSpPr>
        <p:grpSpPr>
          <a:xfrm>
            <a:off x="4308273" y="2735353"/>
            <a:ext cx="2210259" cy="742899"/>
            <a:chOff x="4308273" y="2735353"/>
            <a:chExt cx="2210259" cy="742899"/>
          </a:xfrm>
        </p:grpSpPr>
        <p:grpSp>
          <p:nvGrpSpPr>
            <p:cNvPr id="51" name="组合 50"/>
            <p:cNvGrpSpPr/>
            <p:nvPr/>
          </p:nvGrpSpPr>
          <p:grpSpPr>
            <a:xfrm>
              <a:off x="4308273" y="2735353"/>
              <a:ext cx="2210259" cy="742899"/>
              <a:chOff x="4734409" y="2531159"/>
              <a:chExt cx="2210259" cy="742899"/>
            </a:xfrm>
          </p:grpSpPr>
          <p:grpSp>
            <p:nvGrpSpPr>
              <p:cNvPr id="36" name="Group 31"/>
              <p:cNvGrpSpPr/>
              <p:nvPr/>
            </p:nvGrpSpPr>
            <p:grpSpPr bwMode="auto">
              <a:xfrm>
                <a:off x="5440713" y="2925831"/>
                <a:ext cx="1503955" cy="348227"/>
                <a:chOff x="1145" y="3634"/>
                <a:chExt cx="1169" cy="384"/>
              </a:xfrm>
            </p:grpSpPr>
            <p:sp>
              <p:nvSpPr>
                <p:cNvPr id="38" name="Rectangle 32"/>
                <p:cNvSpPr>
                  <a:spLocks noChangeArrowheads="1"/>
                </p:cNvSpPr>
                <p:nvPr/>
              </p:nvSpPr>
              <p:spPr bwMode="auto">
                <a:xfrm rot="21347042">
                  <a:off x="1145" y="3634"/>
                  <a:ext cx="1169"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734409" y="253115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6" name="Line 18"/>
            <p:cNvSpPr>
              <a:spLocks noChangeShapeType="1"/>
            </p:cNvSpPr>
            <p:nvPr/>
          </p:nvSpPr>
          <p:spPr bwMode="auto">
            <a:xfrm>
              <a:off x="4977710" y="2935942"/>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62" name="直接连接符 61"/>
            <p:cNvCxnSpPr/>
            <p:nvPr/>
          </p:nvCxnSpPr>
          <p:spPr>
            <a:xfrm flipV="1">
              <a:off x="4986740" y="2815624"/>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up)">
                                      <p:cBhvr>
                                        <p:cTn id="7" dur="10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wipe(up)">
                                      <p:cBhvr>
                                        <p:cTn id="12" dur="10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1000"/>
                                        <p:tgtEl>
                                          <p:spTgt spid="64"/>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wipe(up)">
                                      <p:cBhvr>
                                        <p:cTn id="21" dur="1000"/>
                                        <p:tgtEl>
                                          <p:spTgt spid="4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wipe(up)">
                                      <p:cBhvr>
                                        <p:cTn id="26" dur="1000"/>
                                        <p:tgtEl>
                                          <p:spTgt spid="5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客户</a:t>
            </a:r>
            <a:r>
              <a:rPr lang="zh-CN" altLang="en-US" sz="2000" b="1" dirty="0">
                <a:latin typeface="微软雅黑" panose="020B0503020204020204" pitchFamily="34" charset="-122"/>
                <a:ea typeface="微软雅黑" panose="020B0503020204020204" pitchFamily="34" charset="-122"/>
              </a:rPr>
              <a:t>在</a:t>
            </a:r>
            <a:r>
              <a:rPr lang="zh-CN" altLang="en-US" sz="2000" b="1" dirty="0" smtClean="0">
                <a:latin typeface="微软雅黑" panose="020B0503020204020204" pitchFamily="34" charset="-122"/>
                <a:ea typeface="微软雅黑" panose="020B0503020204020204" pitchFamily="34" charset="-122"/>
              </a:rPr>
              <a:t>收到响应</a:t>
            </a:r>
            <a:r>
              <a:rPr lang="zh-CN" altLang="en-US" sz="2000" b="1" dirty="0">
                <a:latin typeface="微软雅黑" panose="020B0503020204020204" pitchFamily="34" charset="-122"/>
                <a:ea typeface="微软雅黑" panose="020B0503020204020204" pitchFamily="34" charset="-122"/>
              </a:rPr>
              <a:t>报文</a:t>
            </a:r>
            <a:r>
              <a:rPr lang="zh-CN" altLang="en-US" sz="2000" b="1" dirty="0">
                <a:solidFill>
                  <a:srgbClr val="C00000"/>
                </a:solidFill>
                <a:latin typeface="微软雅黑" panose="020B0503020204020204" pitchFamily="34" charset="-122"/>
                <a:ea typeface="微软雅黑" panose="020B0503020204020204" pitchFamily="34" charset="-122"/>
              </a:rPr>
              <a:t>之前</a:t>
            </a:r>
            <a:r>
              <a:rPr lang="zh-CN" altLang="en-US" sz="2000" b="1" dirty="0">
                <a:latin typeface="微软雅黑" panose="020B0503020204020204" pitchFamily="34" charset="-122"/>
                <a:ea typeface="微软雅黑" panose="020B0503020204020204" pitchFamily="34" charset="-122"/>
              </a:rPr>
              <a:t>就能够接着发送新的请求报文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连续的多个请求</a:t>
            </a:r>
            <a:r>
              <a:rPr lang="zh-CN" altLang="en-US" sz="2000" b="1" dirty="0">
                <a:latin typeface="微软雅黑" panose="020B0503020204020204" pitchFamily="34" charset="-122"/>
                <a:ea typeface="微软雅黑" panose="020B0503020204020204" pitchFamily="34" charset="-122"/>
              </a:rPr>
              <a:t>报文到达服务器后，服务器就可连续发回响应报文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下载效率</a:t>
            </a:r>
            <a:r>
              <a:rPr lang="zh-CN" altLang="en-US" sz="2000" b="1" dirty="0">
                <a:latin typeface="微软雅黑" panose="020B0503020204020204" pitchFamily="34" charset="-122"/>
                <a:ea typeface="微软雅黑" panose="020B0503020204020204" pitchFamily="34" charset="-122"/>
              </a:rPr>
              <a:t>提高</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282641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持续</a:t>
            </a:r>
            <a:r>
              <a:rPr lang="zh-CN" altLang="en-US" sz="2000" b="1" dirty="0">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：流水线</a:t>
            </a:r>
            <a:r>
              <a:rPr lang="zh-CN" altLang="en-US" sz="2000" b="1" dirty="0">
                <a:latin typeface="微软雅黑" panose="020B0503020204020204" pitchFamily="34" charset="-122"/>
                <a:ea typeface="微软雅黑" panose="020B0503020204020204" pitchFamily="34" charset="-122"/>
              </a:rPr>
              <a:t>方式 </a:t>
            </a:r>
            <a:endParaRPr lang="zh-CN" altLang="en-US" sz="2000" b="1" dirty="0">
              <a:latin typeface="微软雅黑" panose="020B0503020204020204" pitchFamily="34" charset="-122"/>
              <a:ea typeface="微软雅黑" panose="020B0503020204020204" pitchFamily="34" charset="-122"/>
            </a:endParaRP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3" name="矩形 52"/>
          <p:cNvSpPr/>
          <p:nvPr/>
        </p:nvSpPr>
        <p:spPr>
          <a:xfrm>
            <a:off x="6661084" y="1881928"/>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+ 11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p:txBody>
      </p:sp>
      <p:grpSp>
        <p:nvGrpSpPr>
          <p:cNvPr id="8" name="组合 7"/>
          <p:cNvGrpSpPr/>
          <p:nvPr/>
        </p:nvGrpSpPr>
        <p:grpSpPr>
          <a:xfrm>
            <a:off x="4381085" y="1589855"/>
            <a:ext cx="2130915" cy="913826"/>
            <a:chOff x="4381085" y="1589855"/>
            <a:chExt cx="2130915" cy="913826"/>
          </a:xfrm>
        </p:grpSpPr>
        <p:grpSp>
          <p:nvGrpSpPr>
            <p:cNvPr id="44" name="组合 43"/>
            <p:cNvGrpSpPr/>
            <p:nvPr/>
          </p:nvGrpSpPr>
          <p:grpSpPr>
            <a:xfrm>
              <a:off x="5700971" y="19229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1694559"/>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18"/>
            <p:cNvSpPr>
              <a:spLocks noChangeShapeType="1"/>
            </p:cNvSpPr>
            <p:nvPr/>
          </p:nvSpPr>
          <p:spPr bwMode="auto">
            <a:xfrm>
              <a:off x="4977710" y="1809694"/>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AutoShape 15"/>
            <p:cNvSpPr/>
            <p:nvPr/>
          </p:nvSpPr>
          <p:spPr bwMode="auto">
            <a:xfrm>
              <a:off x="4827118" y="1589855"/>
              <a:ext cx="101751" cy="893911"/>
            </a:xfrm>
            <a:prstGeom prst="leftBrace">
              <a:avLst>
                <a:gd name="adj1" fmla="val 52058"/>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Text Box 16"/>
            <p:cNvSpPr txBox="1">
              <a:spLocks noChangeArrowheads="1"/>
            </p:cNvSpPr>
            <p:nvPr/>
          </p:nvSpPr>
          <p:spPr bwMode="auto">
            <a:xfrm>
              <a:off x="4381085" y="1878640"/>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latin typeface="微软雅黑" panose="020B0503020204020204" pitchFamily="34" charset="-122"/>
                  <a:ea typeface="微软雅黑" panose="020B0503020204020204" pitchFamily="34" charset="-122"/>
                </a:rPr>
                <a:t>RTT</a:t>
              </a:r>
              <a:endParaRPr lang="en-US" altLang="zh-CN" sz="1200" b="1" dirty="0">
                <a:latin typeface="微软雅黑" panose="020B0503020204020204" pitchFamily="34" charset="-122"/>
                <a:ea typeface="微软雅黑" panose="020B0503020204020204" pitchFamily="34" charset="-122"/>
              </a:endParaRPr>
            </a:p>
          </p:txBody>
        </p:sp>
        <p:sp>
          <p:nvSpPr>
            <p:cNvPr id="65" name="Line 23"/>
            <p:cNvSpPr>
              <a:spLocks noChangeShapeType="1"/>
            </p:cNvSpPr>
            <p:nvPr/>
          </p:nvSpPr>
          <p:spPr bwMode="auto">
            <a:xfrm flipH="1">
              <a:off x="4763281" y="2502598"/>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6" name="Line 18"/>
            <p:cNvSpPr>
              <a:spLocks noChangeShapeType="1"/>
            </p:cNvSpPr>
            <p:nvPr/>
          </p:nvSpPr>
          <p:spPr bwMode="auto">
            <a:xfrm>
              <a:off x="4977710" y="2252651"/>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 name="组合 8"/>
          <p:cNvGrpSpPr/>
          <p:nvPr/>
        </p:nvGrpSpPr>
        <p:grpSpPr>
          <a:xfrm>
            <a:off x="3852846" y="2462391"/>
            <a:ext cx="2666067" cy="1002573"/>
            <a:chOff x="3852846" y="2462391"/>
            <a:chExt cx="2666067" cy="1002573"/>
          </a:xfrm>
        </p:grpSpPr>
        <p:grpSp>
          <p:nvGrpSpPr>
            <p:cNvPr id="49" name="组合 48"/>
            <p:cNvGrpSpPr/>
            <p:nvPr/>
          </p:nvGrpSpPr>
          <p:grpSpPr>
            <a:xfrm>
              <a:off x="5007753" y="2462391"/>
              <a:ext cx="1503604" cy="315710"/>
              <a:chOff x="5442383" y="1762124"/>
              <a:chExt cx="1503604" cy="348227"/>
            </a:xfrm>
          </p:grpSpPr>
          <p:sp>
            <p:nvSpPr>
              <p:cNvPr id="26" name="Rectangle 21"/>
              <p:cNvSpPr>
                <a:spLocks noChangeArrowheads="1"/>
              </p:cNvSpPr>
              <p:nvPr/>
            </p:nvSpPr>
            <p:spPr bwMode="auto">
              <a:xfrm rot="21373145">
                <a:off x="5442383" y="1762124"/>
                <a:ext cx="1503604" cy="348227"/>
              </a:xfrm>
              <a:prstGeom prst="rect">
                <a:avLst/>
              </a:prstGeom>
              <a:solidFill>
                <a:srgbClr val="009900"/>
              </a:solidFill>
              <a:ln w="9525">
                <a:noFill/>
                <a:miter lim="800000"/>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31" name="Group 26"/>
            <p:cNvGrpSpPr/>
            <p:nvPr/>
          </p:nvGrpSpPr>
          <p:grpSpPr bwMode="auto">
            <a:xfrm>
              <a:off x="5017533" y="2782838"/>
              <a:ext cx="1492377" cy="315712"/>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grpSp>
          <p:nvGrpSpPr>
            <p:cNvPr id="36" name="Group 31"/>
            <p:cNvGrpSpPr/>
            <p:nvPr/>
          </p:nvGrpSpPr>
          <p:grpSpPr bwMode="auto">
            <a:xfrm>
              <a:off x="5014958" y="3094398"/>
              <a:ext cx="1503955" cy="315710"/>
              <a:chOff x="1145" y="3634"/>
              <a:chExt cx="1169" cy="384"/>
            </a:xfrm>
            <a:solidFill>
              <a:schemeClr val="accent6">
                <a:lumMod val="60000"/>
                <a:lumOff val="40000"/>
              </a:schemeClr>
            </a:solidFill>
          </p:grpSpPr>
          <p:sp>
            <p:nvSpPr>
              <p:cNvPr id="38" name="Rectangle 32"/>
              <p:cNvSpPr>
                <a:spLocks noChangeArrowheads="1"/>
              </p:cNvSpPr>
              <p:nvPr/>
            </p:nvSpPr>
            <p:spPr bwMode="auto">
              <a:xfrm rot="21347042">
                <a:off x="1145" y="3634"/>
                <a:ext cx="1169" cy="384"/>
              </a:xfrm>
              <a:prstGeom prst="rect">
                <a:avLst/>
              </a:prstGeom>
              <a:grp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67" name="AutoShape 15"/>
            <p:cNvSpPr/>
            <p:nvPr/>
          </p:nvSpPr>
          <p:spPr bwMode="auto">
            <a:xfrm>
              <a:off x="4827118" y="2530936"/>
              <a:ext cx="105522" cy="934028"/>
            </a:xfrm>
            <a:prstGeom prst="leftBrace">
              <a:avLst>
                <a:gd name="adj1" fmla="val 52058"/>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9" name="Text Box 12"/>
            <p:cNvSpPr txBox="1">
              <a:spLocks noChangeArrowheads="1"/>
            </p:cNvSpPr>
            <p:nvPr/>
          </p:nvSpPr>
          <p:spPr bwMode="auto">
            <a:xfrm>
              <a:off x="3852846" y="2757571"/>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200" b="1" dirty="0" smtClean="0">
                  <a:solidFill>
                    <a:srgbClr val="0000CC"/>
                  </a:solidFill>
                  <a:latin typeface="微软雅黑" panose="020B0503020204020204" pitchFamily="34" charset="-122"/>
                  <a:ea typeface="微软雅黑" panose="020B0503020204020204" pitchFamily="34" charset="-122"/>
                </a:rPr>
                <a:t>传输文档的时间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1000"/>
                                        <p:tgtEl>
                                          <p:spTgt spid="8"/>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1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up)">
                                      <p:cBhvr>
                                        <p:cTn id="20" dur="10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是协议 </a:t>
            </a:r>
            <a:r>
              <a:rPr lang="en-US" altLang="zh-CN" sz="2000" b="1" dirty="0">
                <a:latin typeface="微软雅黑" panose="020B0503020204020204" pitchFamily="34" charset="-122"/>
                <a:ea typeface="微软雅黑" panose="020B0503020204020204" pitchFamily="34" charset="-122"/>
              </a:rPr>
              <a:t>HTTP/1.1 </a:t>
            </a:r>
            <a:r>
              <a:rPr lang="zh-CN" altLang="en-US" sz="2000" b="1" dirty="0">
                <a:latin typeface="微软雅黑" panose="020B0503020204020204" pitchFamily="34" charset="-122"/>
                <a:ea typeface="微软雅黑" panose="020B0503020204020204" pitchFamily="34" charset="-122"/>
              </a:rPr>
              <a:t>的升级版本。</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服务器可以并行发回响应（使用同一个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允许客户复用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连接进行多个请求。</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把所有的报文都划分为许多较小的二进制编码的帧，并采用了新的压缩算法，不发送重复的首部字段，大大减小了首部的开销，提高了传输效率。</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向后兼容。</a:t>
            </a:r>
            <a:endParaRPr lang="en-US" altLang="zh-CN"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175939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HTTP/2</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58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693129" y="572603"/>
            <a:ext cx="17764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代理服务器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483810" y="966904"/>
            <a:ext cx="8206233"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代理服务器 </a:t>
            </a:r>
            <a:r>
              <a:rPr lang="en-US" altLang="zh-CN" sz="2000" b="1" dirty="0">
                <a:latin typeface="微软雅黑" panose="020B0503020204020204" pitchFamily="34" charset="-122"/>
                <a:ea typeface="微软雅黑" panose="020B0503020204020204" pitchFamily="34" charset="-122"/>
              </a:rPr>
              <a:t>(proxy server) </a:t>
            </a:r>
            <a:r>
              <a:rPr lang="zh-CN" altLang="en-US" sz="2000" b="1" dirty="0">
                <a:latin typeface="微软雅黑" panose="020B0503020204020204" pitchFamily="34" charset="-122"/>
                <a:ea typeface="微软雅黑" panose="020B0503020204020204" pitchFamily="34" charset="-122"/>
              </a:rPr>
              <a:t>又称为</a:t>
            </a:r>
            <a:r>
              <a:rPr lang="zh-CN" altLang="en-US" sz="2000" b="1" dirty="0">
                <a:solidFill>
                  <a:srgbClr val="0000FF"/>
                </a:solidFill>
                <a:latin typeface="微软雅黑" panose="020B0503020204020204" pitchFamily="34" charset="-122"/>
                <a:ea typeface="微软雅黑" panose="020B0503020204020204" pitchFamily="34" charset="-122"/>
              </a:rPr>
              <a:t>万维网高速缓存 </a:t>
            </a:r>
            <a:r>
              <a:rPr lang="en-US" altLang="zh-CN" sz="2000" b="1" dirty="0">
                <a:latin typeface="微软雅黑" panose="020B0503020204020204" pitchFamily="34" charset="-122"/>
                <a:ea typeface="微软雅黑" panose="020B0503020204020204" pitchFamily="34" charset="-122"/>
              </a:rPr>
              <a:t>(Web cache)</a:t>
            </a:r>
            <a:r>
              <a:rPr lang="zh-CN" altLang="en-US" sz="2000" b="1" dirty="0">
                <a:latin typeface="微软雅黑" panose="020B0503020204020204" pitchFamily="34" charset="-122"/>
                <a:ea typeface="微软雅黑" panose="020B0503020204020204" pitchFamily="34" charset="-122"/>
              </a:rPr>
              <a:t>，它代表浏览器发出 </a:t>
            </a:r>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请求</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使用高速缓存可</a:t>
            </a:r>
            <a:r>
              <a:rPr lang="zh-CN" altLang="en-US" sz="2000" b="1" dirty="0">
                <a:solidFill>
                  <a:srgbClr val="C00000"/>
                </a:solidFill>
                <a:latin typeface="微软雅黑" panose="020B0503020204020204" pitchFamily="34" charset="-122"/>
                <a:ea typeface="微软雅黑" panose="020B0503020204020204" pitchFamily="34" charset="-122"/>
              </a:rPr>
              <a:t>减少</a:t>
            </a:r>
            <a:r>
              <a:rPr lang="zh-CN" altLang="en-US" sz="2000" b="1" dirty="0">
                <a:latin typeface="微软雅黑" panose="020B0503020204020204" pitchFamily="34" charset="-122"/>
                <a:ea typeface="微软雅黑" panose="020B0503020204020204" pitchFamily="34" charset="-122"/>
              </a:rPr>
              <a:t>访问互联网服务器的</a:t>
            </a:r>
            <a:r>
              <a:rPr lang="zh-CN" altLang="en-US" sz="2000" b="1" dirty="0" smtClean="0">
                <a:solidFill>
                  <a:srgbClr val="C00000"/>
                </a:solidFill>
                <a:latin typeface="微软雅黑" panose="020B0503020204020204" pitchFamily="34" charset="-122"/>
                <a:ea typeface="微软雅黑" panose="020B0503020204020204" pitchFamily="34" charset="-122"/>
              </a:rPr>
              <a:t>时延。</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2" name="Group 1504"/>
          <p:cNvGrpSpPr/>
          <p:nvPr/>
        </p:nvGrpSpPr>
        <p:grpSpPr bwMode="auto">
          <a:xfrm>
            <a:off x="697569"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3" name="Group 1505"/>
            <p:cNvGrpSpPr/>
            <p:nvPr/>
          </p:nvGrpSpPr>
          <p:grpSpPr bwMode="auto">
            <a:xfrm>
              <a:off x="109" y="1226"/>
              <a:ext cx="2516" cy="1675"/>
              <a:chOff x="109" y="1226"/>
              <a:chExt cx="2516" cy="1675"/>
            </a:xfrm>
            <a:grpFill/>
          </p:grpSpPr>
          <p:grpSp>
            <p:nvGrpSpPr>
              <p:cNvPr id="135" name="Group 1506"/>
              <p:cNvGrpSpPr/>
              <p:nvPr/>
            </p:nvGrpSpPr>
            <p:grpSpPr bwMode="auto">
              <a:xfrm>
                <a:off x="109" y="1226"/>
                <a:ext cx="2516" cy="1675"/>
                <a:chOff x="109" y="1226"/>
                <a:chExt cx="2516" cy="1675"/>
              </a:xfrm>
              <a:grpFill/>
            </p:grpSpPr>
            <p:sp>
              <p:nvSpPr>
                <p:cNvPr id="137"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8"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9"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0"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1"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2"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3"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4"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6"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51886"/>
            <a:ext cx="283122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不使用</a:t>
            </a:r>
            <a:r>
              <a:rPr lang="zh-CN" altLang="en-US" sz="2000" b="1" dirty="0">
                <a:latin typeface="微软雅黑" panose="020B0503020204020204" pitchFamily="34" charset="-122"/>
                <a:ea typeface="微软雅黑" panose="020B0503020204020204" pitchFamily="34" charset="-122"/>
              </a:rPr>
              <a:t>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31" name="Object 44"/>
          <p:cNvGraphicFramePr>
            <a:graphicFrameLocks noChangeAspect="1"/>
          </p:cNvGraphicFramePr>
          <p:nvPr/>
        </p:nvGraphicFramePr>
        <p:xfrm>
          <a:off x="6185200" y="2209150"/>
          <a:ext cx="1509164" cy="951134"/>
        </p:xfrm>
        <a:graphic>
          <a:graphicData uri="http://schemas.openxmlformats.org/presentationml/2006/ole">
            <mc:AlternateContent xmlns:mc="http://schemas.openxmlformats.org/markup-compatibility/2006">
              <mc:Choice xmlns:v="urn:schemas-microsoft-com:vml" Requires="v">
                <p:oleObj spid="_x0000_s6145" name="VISIO" r:id="rId1" imgW="3514725" imgH="2009775" progId="">
                  <p:embed/>
                </p:oleObj>
              </mc:Choice>
              <mc:Fallback>
                <p:oleObj name="VISIO" r:id="rId1" imgW="3514725" imgH="2009775" progId="">
                  <p:embed/>
                  <p:pic>
                    <p:nvPicPr>
                      <p:cNvPr id="0" name="图片 6144"/>
                      <p:cNvPicPr>
                        <a:picLocks noChangeAspect="1"/>
                      </p:cNvPicPr>
                      <p:nvPr/>
                    </p:nvPicPr>
                    <p:blipFill>
                      <a:blip r:embed="rId2"/>
                      <a:stretch>
                        <a:fillRect/>
                      </a:stretch>
                    </p:blipFill>
                    <p:spPr>
                      <a:xfrm>
                        <a:off x="6185200" y="2209150"/>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2" name="Line 45"/>
          <p:cNvSpPr>
            <a:spLocks noChangeShapeType="1"/>
          </p:cNvSpPr>
          <p:nvPr/>
        </p:nvSpPr>
        <p:spPr bwMode="auto">
          <a:xfrm>
            <a:off x="3790053" y="2673908"/>
            <a:ext cx="2154462" cy="0"/>
          </a:xfrm>
          <a:prstGeom prst="line">
            <a:avLst/>
          </a:prstGeom>
          <a:noFill/>
          <a:ln w="38100">
            <a:solidFill>
              <a:srgbClr val="0000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Line 46"/>
          <p:cNvSpPr>
            <a:spLocks noChangeShapeType="1"/>
          </p:cNvSpPr>
          <p:nvPr/>
        </p:nvSpPr>
        <p:spPr bwMode="auto">
          <a:xfrm>
            <a:off x="7119321" y="3095434"/>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4" name="Line 47"/>
          <p:cNvSpPr>
            <a:spLocks noChangeShapeType="1"/>
          </p:cNvSpPr>
          <p:nvPr/>
        </p:nvSpPr>
        <p:spPr bwMode="auto">
          <a:xfrm>
            <a:off x="7439368" y="2864856"/>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5" name="Line 48"/>
          <p:cNvSpPr>
            <a:spLocks noChangeShapeType="1"/>
          </p:cNvSpPr>
          <p:nvPr/>
        </p:nvSpPr>
        <p:spPr bwMode="auto">
          <a:xfrm flipV="1">
            <a:off x="7464087" y="2301622"/>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6" name="Line 49"/>
          <p:cNvSpPr>
            <a:spLocks noChangeShapeType="1"/>
          </p:cNvSpPr>
          <p:nvPr/>
        </p:nvSpPr>
        <p:spPr bwMode="auto">
          <a:xfrm flipV="1">
            <a:off x="7093301" y="1790027"/>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Line 119"/>
          <p:cNvSpPr>
            <a:spLocks noChangeShapeType="1"/>
          </p:cNvSpPr>
          <p:nvPr/>
        </p:nvSpPr>
        <p:spPr bwMode="auto">
          <a:xfrm>
            <a:off x="2416194" y="2667905"/>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106" name="Group 120"/>
          <p:cNvGrpSpPr/>
          <p:nvPr/>
        </p:nvGrpSpPr>
        <p:grpSpPr bwMode="auto">
          <a:xfrm>
            <a:off x="3483017" y="2506981"/>
            <a:ext cx="477468" cy="309839"/>
            <a:chOff x="2154" y="3033"/>
            <a:chExt cx="309" cy="192"/>
          </a:xfrm>
        </p:grpSpPr>
        <p:sp>
          <p:nvSpPr>
            <p:cNvPr id="107"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111" name="Group 125"/>
            <p:cNvGrpSpPr/>
            <p:nvPr/>
          </p:nvGrpSpPr>
          <p:grpSpPr bwMode="auto">
            <a:xfrm>
              <a:off x="2201" y="3046"/>
              <a:ext cx="214" cy="86"/>
              <a:chOff x="2201" y="3046"/>
              <a:chExt cx="214" cy="86"/>
            </a:xfrm>
          </p:grpSpPr>
          <p:grpSp>
            <p:nvGrpSpPr>
              <p:cNvPr id="114" name="Group 126"/>
              <p:cNvGrpSpPr/>
              <p:nvPr/>
            </p:nvGrpSpPr>
            <p:grpSpPr bwMode="auto">
              <a:xfrm>
                <a:off x="2201" y="3046"/>
                <a:ext cx="212" cy="84"/>
                <a:chOff x="2201" y="3046"/>
                <a:chExt cx="212" cy="84"/>
              </a:xfrm>
            </p:grpSpPr>
            <p:sp>
              <p:nvSpPr>
                <p:cNvPr id="124"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7"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8"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9"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0"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115" name="Group 135"/>
              <p:cNvGrpSpPr/>
              <p:nvPr/>
            </p:nvGrpSpPr>
            <p:grpSpPr bwMode="auto">
              <a:xfrm>
                <a:off x="2203" y="3048"/>
                <a:ext cx="212" cy="84"/>
                <a:chOff x="2203" y="3048"/>
                <a:chExt cx="212" cy="84"/>
              </a:xfrm>
            </p:grpSpPr>
            <p:sp>
              <p:nvSpPr>
                <p:cNvPr id="116"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9"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0"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112"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40" name="Rectangle 254"/>
          <p:cNvSpPr>
            <a:spLocks noChangeArrowheads="1"/>
          </p:cNvSpPr>
          <p:nvPr/>
        </p:nvSpPr>
        <p:spPr bwMode="auto">
          <a:xfrm>
            <a:off x="2626957" y="1864485"/>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1" name="Rectangle 255"/>
          <p:cNvSpPr>
            <a:spLocks noChangeArrowheads="1"/>
          </p:cNvSpPr>
          <p:nvPr/>
        </p:nvSpPr>
        <p:spPr bwMode="auto">
          <a:xfrm>
            <a:off x="2668104" y="1546706"/>
            <a:ext cx="7342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263" name="Rectangle 279"/>
          <p:cNvSpPr>
            <a:spLocks noChangeArrowheads="1"/>
          </p:cNvSpPr>
          <p:nvPr/>
        </p:nvSpPr>
        <p:spPr bwMode="auto">
          <a:xfrm>
            <a:off x="6603463" y="1564493"/>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latin typeface="微软雅黑" panose="020B0503020204020204" pitchFamily="34" charset="-122"/>
                <a:ea typeface="微软雅黑" panose="020B0503020204020204" pitchFamily="34" charset="-122"/>
              </a:rPr>
              <a:t>源点服务器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264" name="Rectangle 280"/>
          <p:cNvSpPr>
            <a:spLocks noChangeArrowheads="1"/>
          </p:cNvSpPr>
          <p:nvPr/>
        </p:nvSpPr>
        <p:spPr bwMode="auto">
          <a:xfrm>
            <a:off x="4168645" y="2346056"/>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5" name="Rectangle 281"/>
          <p:cNvSpPr>
            <a:spLocks noChangeArrowheads="1"/>
          </p:cNvSpPr>
          <p:nvPr/>
        </p:nvSpPr>
        <p:spPr bwMode="auto">
          <a:xfrm>
            <a:off x="4728140" y="2400097"/>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266" name="Group 282"/>
          <p:cNvGrpSpPr/>
          <p:nvPr/>
        </p:nvGrpSpPr>
        <p:grpSpPr bwMode="auto">
          <a:xfrm>
            <a:off x="5783191" y="2506981"/>
            <a:ext cx="477468" cy="309839"/>
            <a:chOff x="3202" y="3033"/>
            <a:chExt cx="309" cy="192"/>
          </a:xfrm>
        </p:grpSpPr>
        <p:sp>
          <p:nvSpPr>
            <p:cNvPr id="267"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8"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9"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0"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71" name="Group 287"/>
            <p:cNvGrpSpPr/>
            <p:nvPr/>
          </p:nvGrpSpPr>
          <p:grpSpPr bwMode="auto">
            <a:xfrm>
              <a:off x="3249" y="3046"/>
              <a:ext cx="214" cy="86"/>
              <a:chOff x="3249" y="3046"/>
              <a:chExt cx="214" cy="86"/>
            </a:xfrm>
          </p:grpSpPr>
          <p:grpSp>
            <p:nvGrpSpPr>
              <p:cNvPr id="274" name="Group 288"/>
              <p:cNvGrpSpPr/>
              <p:nvPr/>
            </p:nvGrpSpPr>
            <p:grpSpPr bwMode="auto">
              <a:xfrm>
                <a:off x="3249" y="3046"/>
                <a:ext cx="212" cy="84"/>
                <a:chOff x="3249" y="3046"/>
                <a:chExt cx="212" cy="84"/>
              </a:xfrm>
            </p:grpSpPr>
            <p:sp>
              <p:nvSpPr>
                <p:cNvPr id="284"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5"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6"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7"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8"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9"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0"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1"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75" name="Group 297"/>
              <p:cNvGrpSpPr/>
              <p:nvPr/>
            </p:nvGrpSpPr>
            <p:grpSpPr bwMode="auto">
              <a:xfrm>
                <a:off x="3251" y="3048"/>
                <a:ext cx="212" cy="84"/>
                <a:chOff x="3251" y="3048"/>
                <a:chExt cx="212" cy="84"/>
              </a:xfrm>
            </p:grpSpPr>
            <p:sp>
              <p:nvSpPr>
                <p:cNvPr id="276"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7"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8"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9"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0"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1"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2"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3"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72"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3"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92" name="Rectangle 308"/>
          <p:cNvSpPr>
            <a:spLocks noChangeArrowheads="1"/>
          </p:cNvSpPr>
          <p:nvPr/>
        </p:nvSpPr>
        <p:spPr bwMode="auto">
          <a:xfrm>
            <a:off x="6269767" y="2156310"/>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3" name="Rectangle 309"/>
          <p:cNvSpPr>
            <a:spLocks noChangeArrowheads="1"/>
          </p:cNvSpPr>
          <p:nvPr/>
        </p:nvSpPr>
        <p:spPr bwMode="auto">
          <a:xfrm>
            <a:off x="6652101" y="2597050"/>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294" name="Rectangle 310"/>
          <p:cNvSpPr>
            <a:spLocks noChangeArrowheads="1"/>
          </p:cNvSpPr>
          <p:nvPr/>
        </p:nvSpPr>
        <p:spPr bwMode="auto">
          <a:xfrm>
            <a:off x="3748421" y="2229566"/>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5" name="Rectangle 311"/>
          <p:cNvSpPr>
            <a:spLocks noChangeArrowheads="1"/>
          </p:cNvSpPr>
          <p:nvPr/>
        </p:nvSpPr>
        <p:spPr bwMode="auto">
          <a:xfrm>
            <a:off x="3047180" y="2813216"/>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7" name="Rectangle 313"/>
          <p:cNvSpPr>
            <a:spLocks noChangeArrowheads="1"/>
          </p:cNvSpPr>
          <p:nvPr/>
        </p:nvSpPr>
        <p:spPr bwMode="auto">
          <a:xfrm>
            <a:off x="1078421" y="2396014"/>
            <a:ext cx="5506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98" name="Rectangle 314"/>
          <p:cNvSpPr>
            <a:spLocks noChangeArrowheads="1"/>
          </p:cNvSpPr>
          <p:nvPr/>
        </p:nvSpPr>
        <p:spPr bwMode="auto">
          <a:xfrm>
            <a:off x="3744519" y="22499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299" name="Rectangle 315"/>
          <p:cNvSpPr>
            <a:spLocks noChangeArrowheads="1"/>
          </p:cNvSpPr>
          <p:nvPr/>
        </p:nvSpPr>
        <p:spPr bwMode="auto">
          <a:xfrm>
            <a:off x="5892475" y="22511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grpSp>
        <p:nvGrpSpPr>
          <p:cNvPr id="301" name="Group 327"/>
          <p:cNvGrpSpPr/>
          <p:nvPr/>
        </p:nvGrpSpPr>
        <p:grpSpPr bwMode="auto">
          <a:xfrm>
            <a:off x="4607080" y="1243238"/>
            <a:ext cx="1386867" cy="816364"/>
            <a:chOff x="2981" y="1888"/>
            <a:chExt cx="1066" cy="452"/>
          </a:xfrm>
        </p:grpSpPr>
        <p:sp>
          <p:nvSpPr>
            <p:cNvPr id="302" name="AutoShape 318"/>
            <p:cNvSpPr>
              <a:spLocks noChangeArrowheads="1"/>
            </p:cNvSpPr>
            <p:nvPr/>
          </p:nvSpPr>
          <p:spPr bwMode="auto">
            <a:xfrm>
              <a:off x="2981" y="1888"/>
              <a:ext cx="1066" cy="452"/>
            </a:xfrm>
            <a:prstGeom prst="wedgeRoundRectCallout">
              <a:avLst>
                <a:gd name="adj1" fmla="val -71127"/>
                <a:gd name="adj2" fmla="val 121631"/>
                <a:gd name="adj3" fmla="val 16667"/>
              </a:avLst>
            </a:prstGeom>
            <a:solidFill>
              <a:srgbClr val="66FF66"/>
            </a:solidFill>
            <a:ln w="9525">
              <a:solidFill>
                <a:schemeClr val="tx1"/>
              </a:solidFill>
              <a:miter lim="800000"/>
            </a:ln>
            <a:effectLst/>
          </p:spPr>
          <p:txBody>
            <a:bodyPr/>
            <a:lstStyle/>
            <a:p>
              <a:pPr algn="ctr" eaLnBrk="1" hangingPunct="1"/>
              <a:endParaRPr kumimoji="1" lang="zh-CN" altLang="zh-CN" sz="1400" b="1">
                <a:solidFill>
                  <a:srgbClr val="000099"/>
                </a:solidFill>
                <a:latin typeface="微软雅黑" panose="020B0503020204020204" pitchFamily="34" charset="-122"/>
                <a:ea typeface="微软雅黑" panose="020B0503020204020204" pitchFamily="34" charset="-122"/>
              </a:endParaRPr>
            </a:p>
          </p:txBody>
        </p:sp>
        <p:sp>
          <p:nvSpPr>
            <p:cNvPr id="303" name="Rectangle 319"/>
            <p:cNvSpPr>
              <a:spLocks noChangeArrowheads="1"/>
            </p:cNvSpPr>
            <p:nvPr/>
          </p:nvSpPr>
          <p:spPr bwMode="auto">
            <a:xfrm>
              <a:off x="3086" y="1936"/>
              <a:ext cx="867"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400" b="1" dirty="0">
                  <a:latin typeface="微软雅黑" panose="020B0503020204020204" pitchFamily="34" charset="-122"/>
                  <a:ea typeface="微软雅黑" panose="020B0503020204020204" pitchFamily="34" charset="-122"/>
                </a:rPr>
                <a:t>这条</a:t>
              </a:r>
              <a:r>
                <a:rPr kumimoji="1" lang="zh-CN" altLang="en-US" sz="1400" b="1" dirty="0" smtClean="0">
                  <a:latin typeface="微软雅黑" panose="020B0503020204020204" pitchFamily="34" charset="-122"/>
                  <a:ea typeface="微软雅黑" panose="020B0503020204020204" pitchFamily="34" charset="-122"/>
                </a:rPr>
                <a:t>链路通信量很大，导致时延增加。</a:t>
              </a:r>
              <a:endParaRPr kumimoji="1" lang="zh-CN" altLang="en-US" sz="1400" b="1" dirty="0">
                <a:latin typeface="微软雅黑" panose="020B0503020204020204" pitchFamily="34" charset="-122"/>
                <a:ea typeface="微软雅黑" panose="020B0503020204020204" pitchFamily="34" charset="-122"/>
              </a:endParaRPr>
            </a:p>
          </p:txBody>
        </p:sp>
      </p:grpSp>
      <p:pic>
        <p:nvPicPr>
          <p:cNvPr id="312" name="图片 3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55184" y="1298671"/>
            <a:ext cx="441076" cy="617506"/>
          </a:xfrm>
          <a:prstGeom prst="rect">
            <a:avLst/>
          </a:prstGeom>
        </p:spPr>
      </p:pic>
      <p:pic>
        <p:nvPicPr>
          <p:cNvPr id="31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6"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8" name="图片 31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12360" y="1961158"/>
            <a:ext cx="441076" cy="617506"/>
          </a:xfrm>
          <a:prstGeom prst="rect">
            <a:avLst/>
          </a:prstGeom>
        </p:spPr>
      </p:pic>
      <p:pic>
        <p:nvPicPr>
          <p:cNvPr id="319" name="图片 3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12360" y="2681238"/>
            <a:ext cx="441076" cy="617506"/>
          </a:xfrm>
          <a:prstGeom prst="rect">
            <a:avLst/>
          </a:prstGeom>
        </p:spPr>
      </p:pic>
      <p:pic>
        <p:nvPicPr>
          <p:cNvPr id="320" name="图片 31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55184" y="3257302"/>
            <a:ext cx="441076" cy="617506"/>
          </a:xfrm>
          <a:prstGeom prst="rect">
            <a:avLst/>
          </a:prstGeom>
        </p:spPr>
      </p:pic>
      <p:sp>
        <p:nvSpPr>
          <p:cNvPr id="300" name="Freeform 316"/>
          <p:cNvSpPr/>
          <p:nvPr/>
        </p:nvSpPr>
        <p:spPr bwMode="auto">
          <a:xfrm>
            <a:off x="3832987" y="1866886"/>
            <a:ext cx="3801532" cy="879078"/>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38100"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4" name="Freeform 320"/>
          <p:cNvSpPr/>
          <p:nvPr/>
        </p:nvSpPr>
        <p:spPr bwMode="auto">
          <a:xfrm>
            <a:off x="1938726" y="1746794"/>
            <a:ext cx="1615846" cy="877877"/>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5" name="Freeform 321"/>
          <p:cNvSpPr/>
          <p:nvPr/>
        </p:nvSpPr>
        <p:spPr bwMode="auto">
          <a:xfrm>
            <a:off x="2079234" y="2332845"/>
            <a:ext cx="1403783" cy="36628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6" name="Freeform 322"/>
          <p:cNvSpPr/>
          <p:nvPr/>
        </p:nvSpPr>
        <p:spPr bwMode="auto">
          <a:xfrm>
            <a:off x="1437840" y="2741160"/>
            <a:ext cx="2079004" cy="28822"/>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7" name="Freeform 323"/>
          <p:cNvSpPr/>
          <p:nvPr/>
        </p:nvSpPr>
        <p:spPr bwMode="auto">
          <a:xfrm>
            <a:off x="1938725" y="2794001"/>
            <a:ext cx="1628856" cy="489978"/>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308" name="Group 330"/>
          <p:cNvGrpSpPr/>
          <p:nvPr/>
        </p:nvGrpSpPr>
        <p:grpSpPr bwMode="auto">
          <a:xfrm>
            <a:off x="4257114" y="2677477"/>
            <a:ext cx="1621051" cy="1008780"/>
            <a:chOff x="2712" y="2750"/>
            <a:chExt cx="1246" cy="840"/>
          </a:xfrm>
        </p:grpSpPr>
        <p:sp>
          <p:nvSpPr>
            <p:cNvPr id="309" name="Text Box 328"/>
            <p:cNvSpPr txBox="1">
              <a:spLocks noChangeArrowheads="1"/>
            </p:cNvSpPr>
            <p:nvPr/>
          </p:nvSpPr>
          <p:spPr bwMode="auto">
            <a:xfrm>
              <a:off x="2712" y="3154"/>
              <a:ext cx="1246" cy="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a:solidFill>
                    <a:srgbClr val="000099"/>
                  </a:solidFill>
                  <a:latin typeface="微软雅黑" panose="020B0503020204020204" pitchFamily="34" charset="-122"/>
                  <a:ea typeface="微软雅黑" panose="020B0503020204020204" pitchFamily="34" charset="-122"/>
                </a:rPr>
                <a:t>所有万维网通信量</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99"/>
                  </a:solidFill>
                  <a:latin typeface="微软雅黑" panose="020B0503020204020204" pitchFamily="34" charset="-122"/>
                  <a:ea typeface="微软雅黑" panose="020B0503020204020204" pitchFamily="34" charset="-122"/>
                </a:rPr>
                <a:t>都经过这条链路</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10" name="Line 329"/>
            <p:cNvSpPr>
              <a:spLocks noChangeShapeType="1"/>
            </p:cNvSpPr>
            <p:nvPr/>
          </p:nvSpPr>
          <p:spPr bwMode="auto">
            <a:xfrm flipV="1">
              <a:off x="3334" y="2750"/>
              <a:ext cx="0" cy="402"/>
            </a:xfrm>
            <a:prstGeom prst="line">
              <a:avLst/>
            </a:prstGeom>
            <a:noFill/>
            <a:ln w="57150">
              <a:solidFill>
                <a:srgbClr val="00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500"/>
                                  </p:stCondLst>
                                  <p:childTnLst>
                                    <p:set>
                                      <p:cBhvr>
                                        <p:cTn id="9" dur="1" fill="hold">
                                          <p:stCondLst>
                                            <p:cond delay="0"/>
                                          </p:stCondLst>
                                        </p:cTn>
                                        <p:tgtEl>
                                          <p:spTgt spid="301"/>
                                        </p:tgtEl>
                                        <p:attrNameLst>
                                          <p:attrName>style.visibility</p:attrName>
                                        </p:attrNameLst>
                                      </p:cBhvr>
                                      <p:to>
                                        <p:strVal val="visible"/>
                                      </p:to>
                                    </p:set>
                                  </p:childTnLst>
                                </p:cTn>
                              </p:par>
                            </p:childTnLst>
                          </p:cTn>
                        </p:par>
                        <p:par>
                          <p:cTn id="10" fill="hold">
                            <p:stCondLst>
                              <p:cond delay="500"/>
                            </p:stCondLst>
                            <p:childTnLst>
                              <p:par>
                                <p:cTn id="11" presetID="35" presetClass="emph" presetSubtype="0" repeatCount="4000" fill="hold" nodeType="afterEffect">
                                  <p:stCondLst>
                                    <p:cond delay="0"/>
                                  </p:stCondLst>
                                  <p:childTnLst>
                                    <p:anim calcmode="discrete" valueType="str">
                                      <p:cBhvr>
                                        <p:cTn id="12" dur="500" fill="hold"/>
                                        <p:tgtEl>
                                          <p:spTgt spid="3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0"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1" name="Group 1505"/>
            <p:cNvGrpSpPr/>
            <p:nvPr/>
          </p:nvGrpSpPr>
          <p:grpSpPr bwMode="auto">
            <a:xfrm>
              <a:off x="109" y="1226"/>
              <a:ext cx="2516" cy="1675"/>
              <a:chOff x="109" y="1226"/>
              <a:chExt cx="2516" cy="1675"/>
            </a:xfrm>
            <a:grpFill/>
          </p:grpSpPr>
          <p:grpSp>
            <p:nvGrpSpPr>
              <p:cNvPr id="123" name="Group 1506"/>
              <p:cNvGrpSpPr/>
              <p:nvPr/>
            </p:nvGrpSpPr>
            <p:grpSpPr bwMode="auto">
              <a:xfrm>
                <a:off x="109" y="1226"/>
                <a:ext cx="2516" cy="1675"/>
                <a:chOff x="109" y="1226"/>
                <a:chExt cx="2516" cy="1675"/>
              </a:xfrm>
              <a:grpFill/>
            </p:grpSpPr>
            <p:sp>
              <p:nvSpPr>
                <p:cNvPr id="125"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1"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2"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3"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4"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4"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2"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7"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8"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0"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4"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5"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4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8"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4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1"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 name="矩形 9"/>
          <p:cNvSpPr/>
          <p:nvPr/>
        </p:nvSpPr>
        <p:spPr>
          <a:xfrm>
            <a:off x="645268" y="551886"/>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3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7169" name="VISIO" r:id="rId2" imgW="3514725" imgH="2009775" progId="">
                  <p:embed/>
                </p:oleObj>
              </mc:Choice>
              <mc:Fallback>
                <p:oleObj name="VISIO" r:id="rId2" imgW="3514725" imgH="2009775" progId="">
                  <p:embed/>
                  <p:pic>
                    <p:nvPicPr>
                      <p:cNvPr id="0" name="图片 7168"/>
                      <p:cNvPicPr>
                        <a:picLocks noChangeAspect="1"/>
                      </p:cNvPicPr>
                      <p:nvPr/>
                    </p:nvPicPr>
                    <p:blipFill>
                      <a:blip r:embed="rId3"/>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43" name="Group 120"/>
          <p:cNvGrpSpPr/>
          <p:nvPr/>
        </p:nvGrpSpPr>
        <p:grpSpPr bwMode="auto">
          <a:xfrm>
            <a:off x="3321527" y="2753930"/>
            <a:ext cx="477468" cy="309839"/>
            <a:chOff x="2154" y="3033"/>
            <a:chExt cx="309" cy="192"/>
          </a:xfrm>
        </p:grpSpPr>
        <p:sp>
          <p:nvSpPr>
            <p:cNvPr id="4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48" name="Group 125"/>
            <p:cNvGrpSpPr/>
            <p:nvPr/>
          </p:nvGrpSpPr>
          <p:grpSpPr bwMode="auto">
            <a:xfrm>
              <a:off x="2201" y="3046"/>
              <a:ext cx="214" cy="86"/>
              <a:chOff x="2201" y="3046"/>
              <a:chExt cx="214" cy="86"/>
            </a:xfrm>
          </p:grpSpPr>
          <p:grpSp>
            <p:nvGrpSpPr>
              <p:cNvPr id="51" name="Group 126"/>
              <p:cNvGrpSpPr/>
              <p:nvPr/>
            </p:nvGrpSpPr>
            <p:grpSpPr bwMode="auto">
              <a:xfrm>
                <a:off x="2201" y="3046"/>
                <a:ext cx="212" cy="84"/>
                <a:chOff x="2201" y="3046"/>
                <a:chExt cx="212" cy="84"/>
              </a:xfrm>
            </p:grpSpPr>
            <p:sp>
              <p:nvSpPr>
                <p:cNvPr id="6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52" name="Group 135"/>
              <p:cNvGrpSpPr/>
              <p:nvPr/>
            </p:nvGrpSpPr>
            <p:grpSpPr bwMode="auto">
              <a:xfrm>
                <a:off x="2203" y="3048"/>
                <a:ext cx="212" cy="84"/>
                <a:chOff x="2203" y="3048"/>
                <a:chExt cx="212" cy="84"/>
              </a:xfrm>
            </p:grpSpPr>
            <p:sp>
              <p:nvSpPr>
                <p:cNvPr id="5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4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9" name="Rectangle 254"/>
          <p:cNvSpPr>
            <a:spLocks noChangeArrowheads="1"/>
          </p:cNvSpPr>
          <p:nvPr/>
        </p:nvSpPr>
        <p:spPr bwMode="auto">
          <a:xfrm>
            <a:off x="2513605" y="2079127"/>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7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74" name="Group 282"/>
          <p:cNvGrpSpPr/>
          <p:nvPr/>
        </p:nvGrpSpPr>
        <p:grpSpPr bwMode="auto">
          <a:xfrm>
            <a:off x="5669839" y="2721623"/>
            <a:ext cx="477468" cy="309839"/>
            <a:chOff x="3202" y="3033"/>
            <a:chExt cx="309" cy="192"/>
          </a:xfrm>
        </p:grpSpPr>
        <p:sp>
          <p:nvSpPr>
            <p:cNvPr id="7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79" name="Group 287"/>
            <p:cNvGrpSpPr/>
            <p:nvPr/>
          </p:nvGrpSpPr>
          <p:grpSpPr bwMode="auto">
            <a:xfrm>
              <a:off x="3249" y="3046"/>
              <a:ext cx="214" cy="86"/>
              <a:chOff x="3249" y="3046"/>
              <a:chExt cx="214" cy="86"/>
            </a:xfrm>
          </p:grpSpPr>
          <p:grpSp>
            <p:nvGrpSpPr>
              <p:cNvPr id="82" name="Group 288"/>
              <p:cNvGrpSpPr/>
              <p:nvPr/>
            </p:nvGrpSpPr>
            <p:grpSpPr bwMode="auto">
              <a:xfrm>
                <a:off x="3249" y="3046"/>
                <a:ext cx="212" cy="84"/>
                <a:chOff x="3249" y="3046"/>
                <a:chExt cx="212" cy="84"/>
              </a:xfrm>
            </p:grpSpPr>
            <p:sp>
              <p:nvSpPr>
                <p:cNvPr id="9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83" name="Group 297"/>
              <p:cNvGrpSpPr/>
              <p:nvPr/>
            </p:nvGrpSpPr>
            <p:grpSpPr bwMode="auto">
              <a:xfrm>
                <a:off x="3251" y="3048"/>
                <a:ext cx="212" cy="84"/>
                <a:chOff x="3251" y="3048"/>
                <a:chExt cx="212" cy="84"/>
              </a:xfrm>
            </p:grpSpPr>
            <p:sp>
              <p:nvSpPr>
                <p:cNvPr id="8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8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0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02"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Rectangle 311"/>
          <p:cNvSpPr>
            <a:spLocks noChangeArrowheads="1"/>
          </p:cNvSpPr>
          <p:nvPr/>
        </p:nvSpPr>
        <p:spPr bwMode="auto">
          <a:xfrm>
            <a:off x="2933828" y="3027858"/>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0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12" name="图片 1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17" name="图片 1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18" name="图片 1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19" name="图片 1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pic>
        <p:nvPicPr>
          <p:cNvPr id="128" name="图片 12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39810" y="3452412"/>
            <a:ext cx="441076" cy="617506"/>
          </a:xfrm>
          <a:prstGeom prst="rect">
            <a:avLst/>
          </a:prstGeom>
        </p:spPr>
      </p:pic>
      <p:cxnSp>
        <p:nvCxnSpPr>
          <p:cNvPr id="3" name="直接箭头连接符 2"/>
          <p:cNvCxnSpPr/>
          <p:nvPr/>
        </p:nvCxnSpPr>
        <p:spPr>
          <a:xfrm>
            <a:off x="1825374" y="1963801"/>
            <a:ext cx="1034974" cy="1620917"/>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接箭头连接符 128"/>
          <p:cNvCxnSpPr/>
          <p:nvPr/>
        </p:nvCxnSpPr>
        <p:spPr>
          <a:xfrm>
            <a:off x="1825374" y="2560698"/>
            <a:ext cx="881176" cy="1024020"/>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直接箭头连接符 129"/>
          <p:cNvCxnSpPr/>
          <p:nvPr/>
        </p:nvCxnSpPr>
        <p:spPr>
          <a:xfrm>
            <a:off x="1290296" y="2967888"/>
            <a:ext cx="1483088" cy="740362"/>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接箭头连接符 134"/>
          <p:cNvCxnSpPr/>
          <p:nvPr/>
        </p:nvCxnSpPr>
        <p:spPr>
          <a:xfrm>
            <a:off x="1775935" y="3573454"/>
            <a:ext cx="952317" cy="269593"/>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(1) </a:t>
            </a:r>
            <a:r>
              <a:rPr kumimoji="1" lang="zh-CN" altLang="en-US" sz="1400" b="1" dirty="0">
                <a:latin typeface="微软雅黑" panose="020B0503020204020204" pitchFamily="34" charset="-122"/>
                <a:ea typeface="微软雅黑" panose="020B0503020204020204" pitchFamily="34" charset="-122"/>
              </a:rPr>
              <a:t>浏览器访问互联网的服务器时</a:t>
            </a:r>
            <a:r>
              <a:rPr kumimoji="1" lang="zh-CN" altLang="en-US" sz="1400" b="1" dirty="0" smtClean="0">
                <a:latin typeface="微软雅黑" panose="020B0503020204020204" pitchFamily="34" charset="-122"/>
                <a:ea typeface="微软雅黑" panose="020B0503020204020204" pitchFamily="34" charset="-122"/>
              </a:rPr>
              <a:t>，先</a:t>
            </a:r>
            <a:r>
              <a:rPr kumimoji="1" lang="zh-CN" altLang="en-US" sz="1400" b="1" dirty="0">
                <a:latin typeface="微软雅黑" panose="020B0503020204020204" pitchFamily="34" charset="-122"/>
                <a:ea typeface="微软雅黑" panose="020B0503020204020204" pitchFamily="34" charset="-122"/>
              </a:rPr>
              <a:t>与校园网的高速缓存建立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连接，并向高速缓存发出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请求报文。</a:t>
            </a:r>
            <a:endParaRPr kumimoji="1" lang="zh-CN" altLang="en-US" sz="1400" b="1" dirty="0">
              <a:latin typeface="微软雅黑" panose="020B0503020204020204" pitchFamily="34" charset="-122"/>
              <a:ea typeface="微软雅黑" panose="020B0503020204020204" pitchFamily="34" charset="-122"/>
            </a:endParaRPr>
          </a:p>
        </p:txBody>
      </p:sp>
      <p:sp>
        <p:nvSpPr>
          <p:cNvPr id="143"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000"/>
                                        <p:tgtEl>
                                          <p:spTgt spid="3"/>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129"/>
                                        </p:tgtEl>
                                        <p:attrNameLst>
                                          <p:attrName>style.visibility</p:attrName>
                                        </p:attrNameLst>
                                      </p:cBhvr>
                                      <p:to>
                                        <p:strVal val="visible"/>
                                      </p:to>
                                    </p:set>
                                    <p:animEffect transition="in" filter="wipe(up)">
                                      <p:cBhvr>
                                        <p:cTn id="11" dur="2000"/>
                                        <p:tgtEl>
                                          <p:spTgt spid="129"/>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130"/>
                                        </p:tgtEl>
                                        <p:attrNameLst>
                                          <p:attrName>style.visibility</p:attrName>
                                        </p:attrNameLst>
                                      </p:cBhvr>
                                      <p:to>
                                        <p:strVal val="visible"/>
                                      </p:to>
                                    </p:set>
                                    <p:animEffect transition="in" filter="wipe(up)">
                                      <p:cBhvr>
                                        <p:cTn id="15" dur="2000"/>
                                        <p:tgtEl>
                                          <p:spTgt spid="130"/>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35"/>
                                        </p:tgtEl>
                                        <p:attrNameLst>
                                          <p:attrName>style.visibility</p:attrName>
                                        </p:attrNameLst>
                                      </p:cBhvr>
                                      <p:to>
                                        <p:strVal val="visible"/>
                                      </p:to>
                                    </p:set>
                                    <p:animEffect transition="in" filter="wipe(up)">
                                      <p:cBhvr>
                                        <p:cTn id="19" dur="20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圆角矩形 114"/>
          <p:cNvSpPr/>
          <p:nvPr/>
        </p:nvSpPr>
        <p:spPr>
          <a:xfrm>
            <a:off x="556963" y="950538"/>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9"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0" name="Group 1505"/>
            <p:cNvGrpSpPr/>
            <p:nvPr/>
          </p:nvGrpSpPr>
          <p:grpSpPr bwMode="auto">
            <a:xfrm>
              <a:off x="109" y="1226"/>
              <a:ext cx="2516" cy="1675"/>
              <a:chOff x="109" y="1226"/>
              <a:chExt cx="2516" cy="1675"/>
            </a:xfrm>
            <a:grpFill/>
          </p:grpSpPr>
          <p:grpSp>
            <p:nvGrpSpPr>
              <p:cNvPr id="122" name="Group 1506"/>
              <p:cNvGrpSpPr/>
              <p:nvPr/>
            </p:nvGrpSpPr>
            <p:grpSpPr bwMode="auto">
              <a:xfrm>
                <a:off x="109" y="1226"/>
                <a:ext cx="2516" cy="1675"/>
                <a:chOff x="109" y="1226"/>
                <a:chExt cx="2516" cy="1675"/>
              </a:xfrm>
              <a:grpFill/>
            </p:grpSpPr>
            <p:sp>
              <p:nvSpPr>
                <p:cNvPr id="124"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5"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8"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9"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0"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3"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1"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1"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5"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7"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38"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4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4"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5"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90"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矩形 190"/>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192" name="Object 44"/>
          <p:cNvGraphicFramePr>
            <a:graphicFrameLocks noChangeAspect="1"/>
          </p:cNvGraphicFramePr>
          <p:nvPr/>
        </p:nvGraphicFramePr>
        <p:xfrm>
          <a:off x="6071848" y="2423794"/>
          <a:ext cx="1509164" cy="951134"/>
        </p:xfrm>
        <a:graphic>
          <a:graphicData uri="http://schemas.openxmlformats.org/presentationml/2006/ole">
            <mc:AlternateContent xmlns:mc="http://schemas.openxmlformats.org/markup-compatibility/2006">
              <mc:Choice xmlns:v="urn:schemas-microsoft-com:vml" Requires="v">
                <p:oleObj spid="_x0000_s8193" name="VISIO" r:id="rId2" imgW="3514725" imgH="2009775" progId="">
                  <p:embed/>
                </p:oleObj>
              </mc:Choice>
              <mc:Fallback>
                <p:oleObj name="VISIO" r:id="rId2" imgW="3514725" imgH="2009775" progId="">
                  <p:embed/>
                  <p:pic>
                    <p:nvPicPr>
                      <p:cNvPr id="0" name="图片 8192"/>
                      <p:cNvPicPr>
                        <a:picLocks noChangeAspect="1"/>
                      </p:cNvPicPr>
                      <p:nvPr/>
                    </p:nvPicPr>
                    <p:blipFill>
                      <a:blip r:embed="rId3"/>
                      <a:stretch>
                        <a:fillRect/>
                      </a:stretch>
                    </p:blipFill>
                    <p:spPr>
                      <a:xfrm>
                        <a:off x="6071848" y="2423794"/>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93" name="Line 45"/>
          <p:cNvSpPr>
            <a:spLocks noChangeShapeType="1"/>
          </p:cNvSpPr>
          <p:nvPr/>
        </p:nvSpPr>
        <p:spPr bwMode="auto">
          <a:xfrm>
            <a:off x="3676701" y="2888552"/>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4" name="Line 46"/>
          <p:cNvSpPr>
            <a:spLocks noChangeShapeType="1"/>
          </p:cNvSpPr>
          <p:nvPr/>
        </p:nvSpPr>
        <p:spPr bwMode="auto">
          <a:xfrm>
            <a:off x="7005969" y="3310078"/>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5" name="Line 47"/>
          <p:cNvSpPr>
            <a:spLocks noChangeShapeType="1"/>
          </p:cNvSpPr>
          <p:nvPr/>
        </p:nvSpPr>
        <p:spPr bwMode="auto">
          <a:xfrm>
            <a:off x="7326016" y="3079500"/>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6" name="Line 48"/>
          <p:cNvSpPr>
            <a:spLocks noChangeShapeType="1"/>
          </p:cNvSpPr>
          <p:nvPr/>
        </p:nvSpPr>
        <p:spPr bwMode="auto">
          <a:xfrm flipV="1">
            <a:off x="7350735" y="2516266"/>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7" name="Line 49"/>
          <p:cNvSpPr>
            <a:spLocks noChangeShapeType="1"/>
          </p:cNvSpPr>
          <p:nvPr/>
        </p:nvSpPr>
        <p:spPr bwMode="auto">
          <a:xfrm flipV="1">
            <a:off x="6979949" y="2004671"/>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04" name="Group 120"/>
          <p:cNvGrpSpPr/>
          <p:nvPr/>
        </p:nvGrpSpPr>
        <p:grpSpPr bwMode="auto">
          <a:xfrm>
            <a:off x="3321527" y="2753932"/>
            <a:ext cx="477468" cy="309839"/>
            <a:chOff x="2154" y="3033"/>
            <a:chExt cx="309" cy="192"/>
          </a:xfrm>
        </p:grpSpPr>
        <p:sp>
          <p:nvSpPr>
            <p:cNvPr id="205"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6"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7"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8"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09" name="Group 125"/>
            <p:cNvGrpSpPr/>
            <p:nvPr/>
          </p:nvGrpSpPr>
          <p:grpSpPr bwMode="auto">
            <a:xfrm>
              <a:off x="2201" y="3046"/>
              <a:ext cx="214" cy="86"/>
              <a:chOff x="2201" y="3046"/>
              <a:chExt cx="214" cy="86"/>
            </a:xfrm>
          </p:grpSpPr>
          <p:grpSp>
            <p:nvGrpSpPr>
              <p:cNvPr id="212" name="Group 126"/>
              <p:cNvGrpSpPr/>
              <p:nvPr/>
            </p:nvGrpSpPr>
            <p:grpSpPr bwMode="auto">
              <a:xfrm>
                <a:off x="2201" y="3046"/>
                <a:ext cx="212" cy="84"/>
                <a:chOff x="2201" y="3046"/>
                <a:chExt cx="212" cy="84"/>
              </a:xfrm>
            </p:grpSpPr>
            <p:sp>
              <p:nvSpPr>
                <p:cNvPr id="222"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3"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4"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5"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6"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7"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8"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9"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13" name="Group 135"/>
              <p:cNvGrpSpPr/>
              <p:nvPr/>
            </p:nvGrpSpPr>
            <p:grpSpPr bwMode="auto">
              <a:xfrm>
                <a:off x="2203" y="3048"/>
                <a:ext cx="212" cy="84"/>
                <a:chOff x="2203" y="3048"/>
                <a:chExt cx="212" cy="84"/>
              </a:xfrm>
            </p:grpSpPr>
            <p:sp>
              <p:nvSpPr>
                <p:cNvPr id="214"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5"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6"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7"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8"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9"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0"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1"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10"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1"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30"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3" name="Rectangle 280"/>
          <p:cNvSpPr>
            <a:spLocks noChangeArrowheads="1"/>
          </p:cNvSpPr>
          <p:nvPr/>
        </p:nvSpPr>
        <p:spPr bwMode="auto">
          <a:xfrm>
            <a:off x="4055293" y="2560700"/>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4" name="Rectangle 281"/>
          <p:cNvSpPr>
            <a:spLocks noChangeArrowheads="1"/>
          </p:cNvSpPr>
          <p:nvPr/>
        </p:nvSpPr>
        <p:spPr bwMode="auto">
          <a:xfrm>
            <a:off x="4374843" y="2614741"/>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235" name="Group 282"/>
          <p:cNvGrpSpPr/>
          <p:nvPr/>
        </p:nvGrpSpPr>
        <p:grpSpPr bwMode="auto">
          <a:xfrm>
            <a:off x="5669839" y="2721625"/>
            <a:ext cx="477468" cy="309839"/>
            <a:chOff x="3202" y="3033"/>
            <a:chExt cx="309" cy="192"/>
          </a:xfrm>
        </p:grpSpPr>
        <p:sp>
          <p:nvSpPr>
            <p:cNvPr id="236"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7"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8"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9"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40" name="Group 287"/>
            <p:cNvGrpSpPr/>
            <p:nvPr/>
          </p:nvGrpSpPr>
          <p:grpSpPr bwMode="auto">
            <a:xfrm>
              <a:off x="3249" y="3046"/>
              <a:ext cx="214" cy="86"/>
              <a:chOff x="3249" y="3046"/>
              <a:chExt cx="214" cy="86"/>
            </a:xfrm>
          </p:grpSpPr>
          <p:grpSp>
            <p:nvGrpSpPr>
              <p:cNvPr id="243" name="Group 288"/>
              <p:cNvGrpSpPr/>
              <p:nvPr/>
            </p:nvGrpSpPr>
            <p:grpSpPr bwMode="auto">
              <a:xfrm>
                <a:off x="3249" y="3046"/>
                <a:ext cx="212" cy="84"/>
                <a:chOff x="3249" y="3046"/>
                <a:chExt cx="212" cy="84"/>
              </a:xfrm>
            </p:grpSpPr>
            <p:sp>
              <p:nvSpPr>
                <p:cNvPr id="253"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4"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5"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6"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7"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8"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9"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0"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44" name="Group 297"/>
              <p:cNvGrpSpPr/>
              <p:nvPr/>
            </p:nvGrpSpPr>
            <p:grpSpPr bwMode="auto">
              <a:xfrm>
                <a:off x="3251" y="3048"/>
                <a:ext cx="212" cy="84"/>
                <a:chOff x="3251" y="3048"/>
                <a:chExt cx="212" cy="84"/>
              </a:xfrm>
            </p:grpSpPr>
            <p:sp>
              <p:nvSpPr>
                <p:cNvPr id="245"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6"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7"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8"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9"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0"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1"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2"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41"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2"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61" name="Rectangle 308"/>
          <p:cNvSpPr>
            <a:spLocks noChangeArrowheads="1"/>
          </p:cNvSpPr>
          <p:nvPr/>
        </p:nvSpPr>
        <p:spPr bwMode="auto">
          <a:xfrm>
            <a:off x="6156415" y="2370954"/>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2" name="Rectangle 309"/>
          <p:cNvSpPr>
            <a:spLocks noChangeArrowheads="1"/>
          </p:cNvSpPr>
          <p:nvPr/>
        </p:nvSpPr>
        <p:spPr bwMode="auto">
          <a:xfrm>
            <a:off x="6538749" y="2811694"/>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263" name="Rectangle 310"/>
          <p:cNvSpPr>
            <a:spLocks noChangeArrowheads="1"/>
          </p:cNvSpPr>
          <p:nvPr/>
        </p:nvSpPr>
        <p:spPr bwMode="auto">
          <a:xfrm>
            <a:off x="3635069" y="2444210"/>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4"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7" name="Rectangle 314"/>
          <p:cNvSpPr>
            <a:spLocks noChangeArrowheads="1"/>
          </p:cNvSpPr>
          <p:nvPr/>
        </p:nvSpPr>
        <p:spPr bwMode="auto">
          <a:xfrm>
            <a:off x="3631167" y="24646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268" name="Rectangle 315"/>
          <p:cNvSpPr>
            <a:spLocks noChangeArrowheads="1"/>
          </p:cNvSpPr>
          <p:nvPr/>
        </p:nvSpPr>
        <p:spPr bwMode="auto">
          <a:xfrm>
            <a:off x="5779123" y="24658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269" name="图片 26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1513315"/>
            <a:ext cx="441076" cy="617506"/>
          </a:xfrm>
          <a:prstGeom prst="rect">
            <a:avLst/>
          </a:prstGeom>
        </p:spPr>
      </p:pic>
      <p:pic>
        <p:nvPicPr>
          <p:cNvPr id="274" name="图片 27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175802"/>
            <a:ext cx="441076" cy="617506"/>
          </a:xfrm>
          <a:prstGeom prst="rect">
            <a:avLst/>
          </a:prstGeom>
        </p:spPr>
      </p:pic>
      <p:pic>
        <p:nvPicPr>
          <p:cNvPr id="275" name="图片 27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895882"/>
            <a:ext cx="441076" cy="617506"/>
          </a:xfrm>
          <a:prstGeom prst="rect">
            <a:avLst/>
          </a:prstGeom>
        </p:spPr>
      </p:pic>
      <p:pic>
        <p:nvPicPr>
          <p:cNvPr id="276" name="图片 27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3471946"/>
            <a:ext cx="441076" cy="617506"/>
          </a:xfrm>
          <a:prstGeom prst="rect">
            <a:avLst/>
          </a:prstGeom>
        </p:spPr>
      </p:pic>
      <p:pic>
        <p:nvPicPr>
          <p:cNvPr id="277" name="图片 27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cxnSp>
        <p:nvCxnSpPr>
          <p:cNvPr id="278" name="直接箭头连接符 277"/>
          <p:cNvCxnSpPr/>
          <p:nvPr/>
        </p:nvCxnSpPr>
        <p:spPr>
          <a:xfrm>
            <a:off x="1825374" y="1963803"/>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接箭头连接符 278"/>
          <p:cNvCxnSpPr/>
          <p:nvPr/>
        </p:nvCxnSpPr>
        <p:spPr>
          <a:xfrm>
            <a:off x="1825374" y="2560700"/>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接箭头连接符 279"/>
          <p:cNvCxnSpPr/>
          <p:nvPr/>
        </p:nvCxnSpPr>
        <p:spPr>
          <a:xfrm>
            <a:off x="1290296" y="2967890"/>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接箭头连接符 280"/>
          <p:cNvCxnSpPr/>
          <p:nvPr/>
        </p:nvCxnSpPr>
        <p:spPr>
          <a:xfrm>
            <a:off x="1775935" y="3573456"/>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83" name="Text Box 328"/>
          <p:cNvSpPr txBox="1">
            <a:spLocks noChangeArrowheads="1"/>
          </p:cNvSpPr>
          <p:nvPr/>
        </p:nvSpPr>
        <p:spPr bwMode="auto">
          <a:xfrm>
            <a:off x="3761576" y="3548617"/>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284" name="直接箭头连接符 283"/>
          <p:cNvCxnSpPr/>
          <p:nvPr/>
        </p:nvCxnSpPr>
        <p:spPr>
          <a:xfrm flipH="1">
            <a:off x="2977610" y="3708252"/>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6" name="矩形 145"/>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(2) </a:t>
            </a:r>
            <a:r>
              <a:rPr kumimoji="1" lang="zh-CN" altLang="en-US" sz="1400" b="1" dirty="0">
                <a:latin typeface="微软雅黑" panose="020B0503020204020204" pitchFamily="34" charset="-122"/>
                <a:ea typeface="微软雅黑" panose="020B0503020204020204" pitchFamily="34" charset="-122"/>
              </a:rPr>
              <a:t>若高速缓存已经存放了所请求的对象，则将此对象放入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响应报文中返回给浏览器。</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78"/>
                                        </p:tgtEl>
                                        <p:attrNameLst>
                                          <p:attrName>style.visibility</p:attrName>
                                        </p:attrNameLst>
                                      </p:cBhvr>
                                      <p:to>
                                        <p:strVal val="visible"/>
                                      </p:to>
                                    </p:set>
                                    <p:animEffect transition="in" filter="wipe(down)">
                                      <p:cBhvr>
                                        <p:cTn id="7" dur="2000"/>
                                        <p:tgtEl>
                                          <p:spTgt spid="278"/>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279"/>
                                        </p:tgtEl>
                                        <p:attrNameLst>
                                          <p:attrName>style.visibility</p:attrName>
                                        </p:attrNameLst>
                                      </p:cBhvr>
                                      <p:to>
                                        <p:strVal val="visible"/>
                                      </p:to>
                                    </p:set>
                                    <p:animEffect transition="in" filter="wipe(down)">
                                      <p:cBhvr>
                                        <p:cTn id="11" dur="2000"/>
                                        <p:tgtEl>
                                          <p:spTgt spid="279"/>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280"/>
                                        </p:tgtEl>
                                        <p:attrNameLst>
                                          <p:attrName>style.visibility</p:attrName>
                                        </p:attrNameLst>
                                      </p:cBhvr>
                                      <p:to>
                                        <p:strVal val="visible"/>
                                      </p:to>
                                    </p:set>
                                    <p:animEffect transition="in" filter="wipe(down)">
                                      <p:cBhvr>
                                        <p:cTn id="15" dur="2000"/>
                                        <p:tgtEl>
                                          <p:spTgt spid="280"/>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281"/>
                                        </p:tgtEl>
                                        <p:attrNameLst>
                                          <p:attrName>style.visibility</p:attrName>
                                        </p:attrNameLst>
                                      </p:cBhvr>
                                      <p:to>
                                        <p:strVal val="visible"/>
                                      </p:to>
                                    </p:set>
                                    <p:animEffect transition="in" filter="wipe(down)">
                                      <p:cBhvr>
                                        <p:cTn id="19" dur="20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9217" name="VISIO" r:id="rId3" imgW="3514725" imgH="2009775" progId="">
                  <p:embed/>
                </p:oleObj>
              </mc:Choice>
              <mc:Fallback>
                <p:oleObj name="VISIO" r:id="rId3" imgW="3514725" imgH="2009775" progId="">
                  <p:embed/>
                  <p:pic>
                    <p:nvPicPr>
                      <p:cNvPr id="0" name="图片 9216"/>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Freeform 325"/>
          <p:cNvSpPr/>
          <p:nvPr/>
        </p:nvSpPr>
        <p:spPr bwMode="auto">
          <a:xfrm>
            <a:off x="2860347" y="1930663"/>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3" y="1058794"/>
            <a:ext cx="3469578"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(3) </a:t>
            </a:r>
            <a:r>
              <a:rPr kumimoji="1" lang="zh-CN" altLang="en-US" sz="1400" b="1" dirty="0" smtClean="0">
                <a:latin typeface="微软雅黑" panose="020B0503020204020204" pitchFamily="34" charset="-122"/>
                <a:ea typeface="微软雅黑" panose="020B0503020204020204" pitchFamily="34" charset="-122"/>
              </a:rPr>
              <a:t>若未存放，</a:t>
            </a:r>
            <a:r>
              <a:rPr kumimoji="1" lang="zh-CN" altLang="en-US" sz="1400" b="1" dirty="0">
                <a:latin typeface="微软雅黑" panose="020B0503020204020204" pitchFamily="34" charset="-122"/>
                <a:ea typeface="微软雅黑" panose="020B0503020204020204" pitchFamily="34" charset="-122"/>
              </a:rPr>
              <a:t>高速缓存就</a:t>
            </a:r>
            <a:r>
              <a:rPr kumimoji="1" lang="zh-CN" altLang="en-US" sz="1400" b="1" dirty="0" smtClean="0">
                <a:latin typeface="微软雅黑" panose="020B0503020204020204" pitchFamily="34" charset="-122"/>
                <a:ea typeface="微软雅黑" panose="020B0503020204020204" pitchFamily="34" charset="-122"/>
              </a:rPr>
              <a:t>代表浏览器与</a:t>
            </a:r>
            <a:r>
              <a:rPr kumimoji="1" lang="zh-CN" altLang="en-US" sz="1400" b="1" dirty="0">
                <a:latin typeface="微软雅黑" panose="020B0503020204020204" pitchFamily="34" charset="-122"/>
                <a:ea typeface="微软雅黑" panose="020B0503020204020204" pitchFamily="34" charset="-122"/>
              </a:rPr>
              <a:t>互联网上的源点服务器建立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连接，并发送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请求报文。</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4"/>
                                        </p:tgtEl>
                                        <p:attrNameLst>
                                          <p:attrName>style.visibility</p:attrName>
                                        </p:attrNameLst>
                                      </p:cBhvr>
                                      <p:to>
                                        <p:strVal val="visible"/>
                                      </p:to>
                                    </p:set>
                                    <p:animEffect transition="in" filter="wipe(left)">
                                      <p:cBhvr>
                                        <p:cTn id="7" dur="2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10241" name="VISIO" r:id="rId3" imgW="3514725" imgH="2009775" progId="">
                  <p:embed/>
                </p:oleObj>
              </mc:Choice>
              <mc:Fallback>
                <p:oleObj name="VISIO" r:id="rId3" imgW="3514725" imgH="2009775" progId="">
                  <p:embed/>
                  <p:pic>
                    <p:nvPicPr>
                      <p:cNvPr id="0" name="图片 10240"/>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3" y="1058794"/>
            <a:ext cx="3215816"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(4) </a:t>
            </a:r>
            <a:r>
              <a:rPr kumimoji="1" lang="zh-CN" altLang="en-US" sz="1400" b="1" dirty="0">
                <a:latin typeface="微软雅黑" panose="020B0503020204020204" pitchFamily="34" charset="-122"/>
                <a:ea typeface="微软雅黑" panose="020B0503020204020204" pitchFamily="34" charset="-122"/>
              </a:rPr>
              <a:t>源点服务器将所请求的对象放在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响应报文中返回给校园网的高速缓存。</a:t>
            </a:r>
            <a:endParaRPr kumimoji="1" lang="zh-CN" altLang="en-US" sz="1400" b="1" dirty="0">
              <a:latin typeface="微软雅黑" panose="020B0503020204020204" pitchFamily="34" charset="-122"/>
              <a:ea typeface="微软雅黑" panose="020B0503020204020204" pitchFamily="34" charset="-122"/>
            </a:endParaRPr>
          </a:p>
        </p:txBody>
      </p:sp>
      <p:sp>
        <p:nvSpPr>
          <p:cNvPr id="112" name="Freeform 325"/>
          <p:cNvSpPr/>
          <p:nvPr/>
        </p:nvSpPr>
        <p:spPr bwMode="auto">
          <a:xfrm>
            <a:off x="2860347" y="2037199"/>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wipe(right)">
                                      <p:cBhvr>
                                        <p:cTn id="7"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11265" name="VISIO" r:id="rId3" imgW="3514725" imgH="2009775" progId="">
                  <p:embed/>
                </p:oleObj>
              </mc:Choice>
              <mc:Fallback>
                <p:oleObj name="VISIO" r:id="rId3" imgW="3514725" imgH="2009775" progId="">
                  <p:embed/>
                  <p:pic>
                    <p:nvPicPr>
                      <p:cNvPr id="0" name="图片 11264"/>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2" y="1058794"/>
            <a:ext cx="3563345" cy="954107"/>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(5) </a:t>
            </a:r>
            <a:r>
              <a:rPr kumimoji="1" lang="zh-CN" altLang="en-US" sz="1400" b="1" dirty="0">
                <a:latin typeface="微软雅黑" panose="020B0503020204020204" pitchFamily="34" charset="-122"/>
                <a:ea typeface="微软雅黑" panose="020B0503020204020204" pitchFamily="34" charset="-122"/>
              </a:rPr>
              <a:t>高速缓存</a:t>
            </a:r>
            <a:r>
              <a:rPr kumimoji="1" lang="zh-CN" altLang="en-US" sz="1400" b="1" dirty="0" smtClean="0">
                <a:latin typeface="微软雅黑" panose="020B0503020204020204" pitchFamily="34" charset="-122"/>
                <a:ea typeface="微软雅黑" panose="020B0503020204020204" pitchFamily="34" charset="-122"/>
              </a:rPr>
              <a:t>收到对象</a:t>
            </a:r>
            <a:r>
              <a:rPr kumimoji="1" lang="zh-CN" altLang="en-US" sz="1400" b="1" dirty="0">
                <a:latin typeface="微软雅黑" panose="020B0503020204020204" pitchFamily="34" charset="-122"/>
                <a:ea typeface="微软雅黑" panose="020B0503020204020204" pitchFamily="34" charset="-122"/>
              </a:rPr>
              <a:t>后，先</a:t>
            </a:r>
            <a:r>
              <a:rPr kumimoji="1" lang="zh-CN" altLang="en-US" sz="1400" b="1" dirty="0" smtClean="0">
                <a:latin typeface="微软雅黑" panose="020B0503020204020204" pitchFamily="34" charset="-122"/>
                <a:ea typeface="微软雅黑" panose="020B0503020204020204" pitchFamily="34" charset="-122"/>
              </a:rPr>
              <a:t>复制到本地</a:t>
            </a:r>
            <a:r>
              <a:rPr kumimoji="1" lang="zh-CN" altLang="en-US" sz="1400" b="1" dirty="0">
                <a:latin typeface="微软雅黑" panose="020B0503020204020204" pitchFamily="34" charset="-122"/>
                <a:ea typeface="微软雅黑" panose="020B0503020204020204" pitchFamily="34" charset="-122"/>
              </a:rPr>
              <a:t>存储器中（留待以后用），</a:t>
            </a:r>
            <a:r>
              <a:rPr kumimoji="1" lang="zh-CN" altLang="en-US" sz="1400" b="1" dirty="0" smtClean="0">
                <a:latin typeface="微软雅黑" panose="020B0503020204020204" pitchFamily="34" charset="-122"/>
                <a:ea typeface="微软雅黑" panose="020B0503020204020204" pitchFamily="34" charset="-122"/>
              </a:rPr>
              <a:t>然后将</a:t>
            </a:r>
            <a:r>
              <a:rPr kumimoji="1" lang="zh-CN" altLang="en-US" sz="1400" b="1" dirty="0">
                <a:latin typeface="微软雅黑" panose="020B0503020204020204" pitchFamily="34" charset="-122"/>
                <a:ea typeface="微软雅黑" panose="020B0503020204020204" pitchFamily="34" charset="-122"/>
              </a:rPr>
              <a:t>该对象放在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响应报文中，通过已建立的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连接，返回给请求该对象的浏览器。</a:t>
            </a:r>
            <a:endParaRPr kumimoji="1" lang="zh-CN" altLang="en-US" sz="1400" b="1" dirty="0">
              <a:latin typeface="微软雅黑" panose="020B0503020204020204" pitchFamily="34" charset="-122"/>
              <a:ea typeface="微软雅黑" panose="020B0503020204020204" pitchFamily="34" charset="-122"/>
            </a:endParaRPr>
          </a:p>
        </p:txBody>
      </p:sp>
      <p:cxnSp>
        <p:nvCxnSpPr>
          <p:cNvPr id="113" name="直接箭头连接符 112"/>
          <p:cNvCxnSpPr/>
          <p:nvPr/>
        </p:nvCxnSpPr>
        <p:spPr>
          <a:xfrm>
            <a:off x="1825374" y="1963801"/>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箭头连接符 113"/>
          <p:cNvCxnSpPr/>
          <p:nvPr/>
        </p:nvCxnSpPr>
        <p:spPr>
          <a:xfrm>
            <a:off x="1825374" y="2560698"/>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a:xfrm>
            <a:off x="1290296" y="2967888"/>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a:xfrm>
            <a:off x="1775935" y="3573454"/>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down)">
                                      <p:cBhvr>
                                        <p:cTn id="7" dur="2000"/>
                                        <p:tgtEl>
                                          <p:spTgt spid="113"/>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down)">
                                      <p:cBhvr>
                                        <p:cTn id="11" dur="2000"/>
                                        <p:tgtEl>
                                          <p:spTgt spid="114"/>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wipe(down)">
                                      <p:cBhvr>
                                        <p:cTn id="15" dur="2000"/>
                                        <p:tgtEl>
                                          <p:spTgt spid="115"/>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down)">
                                      <p:cBhvr>
                                        <p:cTn id="19" dur="2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03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64037" y="567122"/>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HTTP </a:t>
            </a:r>
            <a:r>
              <a:rPr lang="zh-CN" altLang="en-US" sz="2000" b="1" dirty="0">
                <a:solidFill>
                  <a:schemeClr val="bg1"/>
                </a:solidFill>
                <a:latin typeface="微软雅黑" panose="020B0503020204020204" pitchFamily="34" charset="-122"/>
                <a:ea typeface="微软雅黑" panose="020B0503020204020204" pitchFamily="34" charset="-122"/>
              </a:rPr>
              <a:t>的报文</a:t>
            </a:r>
            <a:r>
              <a:rPr lang="zh-CN" altLang="en-US" sz="2000" b="1" dirty="0" smtClean="0">
                <a:solidFill>
                  <a:schemeClr val="bg1"/>
                </a:solidFill>
                <a:latin typeface="微软雅黑" panose="020B0503020204020204" pitchFamily="34" charset="-122"/>
                <a:ea typeface="微软雅黑" panose="020B0503020204020204" pitchFamily="34" charset="-122"/>
              </a:rPr>
              <a:t>结构</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4" y="961423"/>
            <a:ext cx="8048775"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smtClean="0">
                <a:solidFill>
                  <a:srgbClr val="0000FF"/>
                </a:solidFill>
                <a:latin typeface="微软雅黑" panose="020B0503020204020204" pitchFamily="34" charset="-122"/>
                <a:ea typeface="微软雅黑" panose="020B0503020204020204" pitchFamily="34" charset="-122"/>
              </a:rPr>
              <a:t>两</a:t>
            </a:r>
            <a:r>
              <a:rPr lang="zh-CN" altLang="en-US" b="1" dirty="0">
                <a:solidFill>
                  <a:srgbClr val="0000FF"/>
                </a:solidFill>
                <a:latin typeface="微软雅黑" panose="020B0503020204020204" pitchFamily="34" charset="-122"/>
                <a:ea typeface="微软雅黑" panose="020B0503020204020204" pitchFamily="34" charset="-122"/>
              </a:rPr>
              <a:t>类报文：</a:t>
            </a:r>
            <a:endParaRPr lang="zh-CN" altLang="en-US"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请求</a:t>
            </a:r>
            <a:r>
              <a:rPr lang="zh-CN" altLang="en-US" b="1" dirty="0" smtClean="0">
                <a:solidFill>
                  <a:srgbClr val="C00000"/>
                </a:solidFill>
                <a:latin typeface="微软雅黑" panose="020B0503020204020204" pitchFamily="34" charset="-122"/>
                <a:ea typeface="微软雅黑" panose="020B0503020204020204" pitchFamily="34" charset="-122"/>
              </a:rPr>
              <a:t>报文</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从</a:t>
            </a:r>
            <a:r>
              <a:rPr lang="zh-CN" altLang="en-US" b="1" dirty="0">
                <a:latin typeface="微软雅黑" panose="020B0503020204020204" pitchFamily="34" charset="-122"/>
                <a:ea typeface="微软雅黑" panose="020B0503020204020204" pitchFamily="34" charset="-122"/>
              </a:rPr>
              <a:t>客户向</a:t>
            </a:r>
            <a:r>
              <a:rPr lang="zh-CN" altLang="en-US" b="1" dirty="0" smtClean="0">
                <a:latin typeface="微软雅黑" panose="020B0503020204020204" pitchFamily="34" charset="-122"/>
                <a:ea typeface="微软雅黑" panose="020B0503020204020204" pitchFamily="34" charset="-122"/>
              </a:rPr>
              <a:t>服务器的请求。</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响应</a:t>
            </a:r>
            <a:r>
              <a:rPr lang="zh-CN" altLang="en-US" b="1" dirty="0" smtClean="0">
                <a:solidFill>
                  <a:srgbClr val="C00000"/>
                </a:solidFill>
                <a:latin typeface="微软雅黑" panose="020B0503020204020204" pitchFamily="34" charset="-122"/>
                <a:ea typeface="微软雅黑" panose="020B0503020204020204" pitchFamily="34" charset="-122"/>
              </a:rPr>
              <a:t>报文：</a:t>
            </a:r>
            <a:r>
              <a:rPr lang="zh-CN" altLang="en-US" b="1" dirty="0" smtClean="0">
                <a:latin typeface="微软雅黑" panose="020B0503020204020204" pitchFamily="34" charset="-122"/>
                <a:ea typeface="微软雅黑" panose="020B0503020204020204" pitchFamily="34" charset="-122"/>
              </a:rPr>
              <a:t>从</a:t>
            </a:r>
            <a:r>
              <a:rPr lang="zh-CN" altLang="en-US" b="1" dirty="0">
                <a:latin typeface="微软雅黑" panose="020B0503020204020204" pitchFamily="34" charset="-122"/>
                <a:ea typeface="微软雅黑" panose="020B0503020204020204" pitchFamily="34" charset="-122"/>
              </a:rPr>
              <a:t>服务器到客户的回答。</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由于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是面向正文的 </a:t>
            </a:r>
            <a:r>
              <a:rPr lang="en-US" altLang="zh-CN" b="1" dirty="0">
                <a:latin typeface="微软雅黑" panose="020B0503020204020204" pitchFamily="34" charset="-122"/>
                <a:ea typeface="微软雅黑" panose="020B0503020204020204" pitchFamily="34" charset="-122"/>
              </a:rPr>
              <a:t>(text-oriented)</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因此报文中每</a:t>
            </a:r>
            <a:r>
              <a:rPr lang="zh-CN" altLang="en-US" b="1" dirty="0">
                <a:latin typeface="微软雅黑" panose="020B0503020204020204" pitchFamily="34" charset="-122"/>
                <a:ea typeface="微软雅黑" panose="020B0503020204020204" pitchFamily="34" charset="-122"/>
              </a:rPr>
              <a:t>一个</a:t>
            </a:r>
            <a:r>
              <a:rPr lang="zh-CN" altLang="en-US" b="1" dirty="0" smtClean="0">
                <a:latin typeface="微软雅黑" panose="020B0503020204020204" pitchFamily="34" charset="-122"/>
                <a:ea typeface="微软雅黑" panose="020B0503020204020204" pitchFamily="34" charset="-122"/>
              </a:rPr>
              <a:t>字段的值都是</a:t>
            </a:r>
            <a:r>
              <a:rPr lang="zh-CN" altLang="en-US" b="1" dirty="0">
                <a:latin typeface="微软雅黑" panose="020B0503020204020204" pitchFamily="34" charset="-122"/>
                <a:ea typeface="微软雅黑" panose="020B0503020204020204" pitchFamily="34" charset="-122"/>
              </a:rPr>
              <a:t>一些 </a:t>
            </a:r>
            <a:r>
              <a:rPr lang="en-US" altLang="zh-CN" b="1" dirty="0">
                <a:solidFill>
                  <a:srgbClr val="C00000"/>
                </a:solidFill>
                <a:latin typeface="微软雅黑" panose="020B0503020204020204" pitchFamily="34" charset="-122"/>
                <a:ea typeface="微软雅黑" panose="020B0503020204020204" pitchFamily="34" charset="-122"/>
              </a:rPr>
              <a:t>ASCII </a:t>
            </a:r>
            <a:r>
              <a:rPr lang="zh-CN" altLang="en-US" b="1" dirty="0">
                <a:solidFill>
                  <a:srgbClr val="C00000"/>
                </a:solidFill>
                <a:latin typeface="微软雅黑" panose="020B0503020204020204" pitchFamily="34" charset="-122"/>
                <a:ea typeface="微软雅黑" panose="020B0503020204020204" pitchFamily="34" charset="-122"/>
              </a:rPr>
              <a:t>码串</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每个</a:t>
            </a:r>
            <a:r>
              <a:rPr lang="zh-CN" altLang="en-US" b="1" dirty="0">
                <a:latin typeface="微软雅黑" panose="020B0503020204020204" pitchFamily="34" charset="-122"/>
                <a:ea typeface="微软雅黑" panose="020B0503020204020204" pitchFamily="34" charset="-122"/>
              </a:rPr>
              <a:t>字段的</a:t>
            </a:r>
            <a:r>
              <a:rPr lang="zh-CN" altLang="en-US" b="1" dirty="0">
                <a:solidFill>
                  <a:srgbClr val="C00000"/>
                </a:solidFill>
                <a:latin typeface="微软雅黑" panose="020B0503020204020204" pitchFamily="34" charset="-122"/>
                <a:ea typeface="微软雅黑" panose="020B0503020204020204" pitchFamily="34" charset="-122"/>
              </a:rPr>
              <a:t>长度都是不确定的</a:t>
            </a:r>
            <a:r>
              <a:rPr lang="zh-CN" altLang="en-US" b="1" dirty="0" smtClean="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eaLnBrk="0" hangingPunct="0">
              <a:lnSpc>
                <a:spcPts val="2800"/>
              </a:lnSpc>
              <a:buClr>
                <a:srgbClr val="0070C0"/>
              </a:buClr>
            </a:pPr>
            <a:r>
              <a:rPr lang="zh-CN" altLang="en-US" b="1" dirty="0" smtClean="0">
                <a:solidFill>
                  <a:srgbClr val="0000FF"/>
                </a:solidFill>
                <a:latin typeface="微软雅黑" panose="020B0503020204020204" pitchFamily="34" charset="-122"/>
                <a:ea typeface="微软雅黑" panose="020B0503020204020204" pitchFamily="34" charset="-122"/>
              </a:rPr>
              <a:t>三个组成部分：</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开始行</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用于区分</a:t>
            </a:r>
            <a:r>
              <a:rPr lang="zh-CN" altLang="en-US" b="1" dirty="0">
                <a:latin typeface="微软雅黑" panose="020B0503020204020204" pitchFamily="34" charset="-122"/>
                <a:ea typeface="微软雅黑" panose="020B0503020204020204" pitchFamily="34" charset="-122"/>
              </a:rPr>
              <a:t>是请求报文还是响应报文。</a:t>
            </a:r>
            <a:endParaRPr lang="en-US" altLang="zh-CN"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首部</a:t>
            </a:r>
            <a:r>
              <a:rPr lang="zh-CN" altLang="en-US" b="1" dirty="0">
                <a:solidFill>
                  <a:srgbClr val="C00000"/>
                </a:solidFill>
                <a:latin typeface="微软雅黑" panose="020B0503020204020204" pitchFamily="34" charset="-122"/>
                <a:ea typeface="微软雅黑" panose="020B0503020204020204" pitchFamily="34" charset="-122"/>
              </a:rPr>
              <a:t>行：</a:t>
            </a:r>
            <a:r>
              <a:rPr lang="zh-CN" altLang="en-US" b="1" dirty="0">
                <a:latin typeface="微软雅黑" panose="020B0503020204020204" pitchFamily="34" charset="-122"/>
                <a:ea typeface="微软雅黑" panose="020B0503020204020204" pitchFamily="34" charset="-122"/>
              </a:rPr>
              <a:t>说明浏览器、服务器或报文主体的一些信息</a:t>
            </a:r>
            <a:r>
              <a:rPr lang="zh-CN" altLang="en-US" b="1" dirty="0" smtClean="0">
                <a:latin typeface="微软雅黑" panose="020B0503020204020204" pitchFamily="34" charset="-122"/>
                <a:ea typeface="微软雅黑" panose="020B0503020204020204" pitchFamily="34" charset="-122"/>
              </a:rPr>
              <a:t>。可以有多行，也</a:t>
            </a:r>
            <a:r>
              <a:rPr lang="zh-CN" altLang="en-US" b="1" dirty="0">
                <a:latin typeface="微软雅黑" panose="020B0503020204020204" pitchFamily="34" charset="-122"/>
                <a:ea typeface="微软雅黑" panose="020B0503020204020204" pitchFamily="34" charset="-122"/>
              </a:rPr>
              <a:t>可以不使用。</a:t>
            </a:r>
            <a:endParaRPr lang="en-US" altLang="zh-CN"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实体</a:t>
            </a:r>
            <a:r>
              <a:rPr lang="zh-CN" altLang="en-US" b="1" dirty="0">
                <a:solidFill>
                  <a:srgbClr val="C00000"/>
                </a:solidFill>
                <a:latin typeface="微软雅黑" panose="020B0503020204020204" pitchFamily="34" charset="-122"/>
                <a:ea typeface="微软雅黑" panose="020B0503020204020204" pitchFamily="34" charset="-122"/>
              </a:rPr>
              <a:t>主体：</a:t>
            </a:r>
            <a:r>
              <a:rPr lang="zh-CN" altLang="en-US" b="1" dirty="0">
                <a:latin typeface="微软雅黑" panose="020B0503020204020204" pitchFamily="34" charset="-122"/>
                <a:ea typeface="微软雅黑" panose="020B0503020204020204" pitchFamily="34" charset="-122"/>
              </a:rPr>
              <a:t>请求报文中</a:t>
            </a:r>
            <a:r>
              <a:rPr lang="zh-CN" altLang="en-US" b="1" dirty="0" smtClean="0">
                <a:latin typeface="微软雅黑" panose="020B0503020204020204" pitchFamily="34" charset="-122"/>
                <a:ea typeface="微软雅黑" panose="020B0503020204020204" pitchFamily="34" charset="-122"/>
              </a:rPr>
              <a:t>一般不用，响应</a:t>
            </a:r>
            <a:r>
              <a:rPr lang="zh-CN" altLang="en-US" b="1" dirty="0">
                <a:latin typeface="微软雅黑" panose="020B0503020204020204" pitchFamily="34" charset="-122"/>
                <a:ea typeface="微软雅黑" panose="020B0503020204020204" pitchFamily="34" charset="-122"/>
              </a:rPr>
              <a:t>报文中也可能</a:t>
            </a:r>
            <a:r>
              <a:rPr lang="zh-CN" altLang="en-US" b="1" dirty="0" smtClean="0">
                <a:latin typeface="微软雅黑" panose="020B0503020204020204" pitchFamily="34" charset="-122"/>
                <a:ea typeface="微软雅黑" panose="020B0503020204020204" pitchFamily="34" charset="-122"/>
              </a:rPr>
              <a:t>没有</a:t>
            </a:r>
            <a:r>
              <a:rPr lang="zh-CN" altLang="en-US" b="1" dirty="0">
                <a:latin typeface="微软雅黑" panose="020B0503020204020204" pitchFamily="34" charset="-122"/>
                <a:ea typeface="微软雅黑" panose="020B0503020204020204" pitchFamily="34" charset="-122"/>
              </a:rPr>
              <a:t>该</a:t>
            </a:r>
            <a:r>
              <a:rPr lang="zh-CN" altLang="en-US" b="1" dirty="0" smtClean="0">
                <a:latin typeface="微软雅黑" panose="020B0503020204020204" pitchFamily="34" charset="-122"/>
                <a:ea typeface="微软雅黑" panose="020B0503020204020204" pitchFamily="34" charset="-122"/>
              </a:rPr>
              <a:t>字段</a:t>
            </a:r>
            <a:r>
              <a:rPr lang="zh-CN" altLang="en-US" b="1" dirty="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8" name="Text Box 41"/>
          <p:cNvSpPr txBox="1">
            <a:spLocks noChangeArrowheads="1"/>
          </p:cNvSpPr>
          <p:nvPr/>
        </p:nvSpPr>
        <p:spPr bwMode="auto">
          <a:xfrm>
            <a:off x="3802295" y="1414998"/>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Text Box 58"/>
          <p:cNvSpPr txBox="1">
            <a:spLocks noChangeArrowheads="1"/>
          </p:cNvSpPr>
          <p:nvPr/>
        </p:nvSpPr>
        <p:spPr bwMode="auto">
          <a:xfrm>
            <a:off x="3809577" y="2796426"/>
            <a:ext cx="126188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4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grpSp>
        <p:nvGrpSpPr>
          <p:cNvPr id="201" name="Group 134"/>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6" name="矩形 205"/>
          <p:cNvSpPr/>
          <p:nvPr/>
        </p:nvSpPr>
        <p:spPr>
          <a:xfrm>
            <a:off x="1346773" y="3552318"/>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在</a:t>
            </a:r>
            <a:r>
              <a:rPr kumimoji="1" lang="zh-CN" altLang="en-US" sz="1400" b="1" dirty="0">
                <a:latin typeface="微软雅黑" panose="020B0503020204020204" pitchFamily="34" charset="-122"/>
                <a:ea typeface="微软雅黑" panose="020B0503020204020204" pitchFamily="34" charset="-122"/>
              </a:rPr>
              <a:t>请求报文中，开始</a:t>
            </a:r>
            <a:r>
              <a:rPr kumimoji="1" lang="zh-CN" altLang="en-US" sz="1400" b="1" dirty="0" smtClean="0">
                <a:latin typeface="微软雅黑" panose="020B0503020204020204" pitchFamily="34" charset="-122"/>
                <a:ea typeface="微软雅黑" panose="020B0503020204020204" pitchFamily="34" charset="-122"/>
              </a:rPr>
              <a:t>行是</a:t>
            </a:r>
            <a:r>
              <a:rPr kumimoji="1" lang="zh-CN" altLang="en-US" sz="1400" b="1" dirty="0">
                <a:latin typeface="微软雅黑" panose="020B0503020204020204" pitchFamily="34" charset="-122"/>
                <a:ea typeface="微软雅黑" panose="020B0503020204020204" pitchFamily="34" charset="-122"/>
              </a:rPr>
              <a:t>请求行。</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7" name="Rectangle 132"/>
          <p:cNvSpPr>
            <a:spLocks noChangeArrowheads="1"/>
          </p:cNvSpPr>
          <p:nvPr/>
        </p:nvSpPr>
        <p:spPr bwMode="auto">
          <a:xfrm>
            <a:off x="2622487" y="1393059"/>
            <a:ext cx="1029240"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方法：对</a:t>
            </a:r>
            <a:r>
              <a:rPr kumimoji="1" lang="zh-CN" altLang="en-US" sz="1400" b="1" dirty="0">
                <a:latin typeface="微软雅黑" panose="020B0503020204020204" pitchFamily="34" charset="-122"/>
                <a:ea typeface="微软雅黑" panose="020B0503020204020204" pitchFamily="34" charset="-122"/>
              </a:rPr>
              <a:t>所请求的对象进行的操作</a:t>
            </a:r>
            <a:r>
              <a:rPr kumimoji="1" lang="zh-CN" altLang="en-US" sz="1400" b="1" dirty="0" smtClean="0">
                <a:latin typeface="微软雅黑" panose="020B0503020204020204" pitchFamily="34" charset="-122"/>
                <a:ea typeface="微软雅黑" panose="020B0503020204020204" pitchFamily="34" charset="-122"/>
              </a:rPr>
              <a:t>，实际上就是</a:t>
            </a:r>
            <a:r>
              <a:rPr kumimoji="1" lang="zh-CN" altLang="en-US" sz="1400" b="1" dirty="0">
                <a:latin typeface="微软雅黑" panose="020B0503020204020204" pitchFamily="34" charset="-122"/>
                <a:ea typeface="微软雅黑" panose="020B0503020204020204" pitchFamily="34" charset="-122"/>
              </a:rPr>
              <a:t>一些命令</a:t>
            </a:r>
            <a:r>
              <a:rPr kumimoji="1" lang="zh-CN" altLang="en-US" sz="1400" b="1" dirty="0" smtClean="0">
                <a:latin typeface="微软雅黑" panose="020B0503020204020204" pitchFamily="34" charset="-122"/>
                <a:ea typeface="微软雅黑" panose="020B0503020204020204" pitchFamily="34" charset="-122"/>
              </a:rPr>
              <a:t>。</a:t>
            </a:r>
            <a:endParaRPr kumimoji="1" lang="en-US" altLang="zh-CN" sz="1400" b="1" dirty="0" smtClean="0">
              <a:latin typeface="微软雅黑" panose="020B0503020204020204" pitchFamily="34" charset="-122"/>
              <a:ea typeface="微软雅黑" panose="020B0503020204020204" pitchFamily="34" charset="-122"/>
            </a:endParaRPr>
          </a:p>
          <a:p>
            <a:pPr>
              <a:lnSpc>
                <a:spcPts val="2000"/>
              </a:lnSpc>
            </a:pPr>
            <a:r>
              <a:rPr kumimoji="1" lang="zh-CN" altLang="en-US" sz="1400" b="1" dirty="0" smtClean="0">
                <a:latin typeface="微软雅黑" panose="020B0503020204020204" pitchFamily="34" charset="-122"/>
                <a:ea typeface="微软雅黑" panose="020B0503020204020204" pitchFamily="34" charset="-122"/>
              </a:rPr>
              <a:t>请求</a:t>
            </a:r>
            <a:r>
              <a:rPr kumimoji="1" lang="zh-CN" altLang="en-US" sz="1400" b="1" dirty="0">
                <a:latin typeface="微软雅黑" panose="020B0503020204020204" pitchFamily="34" charset="-122"/>
                <a:ea typeface="微软雅黑" panose="020B0503020204020204" pitchFamily="34" charset="-122"/>
              </a:rPr>
              <a:t>报文的类型是由它所采用的方法决定的。 </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矩形 2"/>
          <p:cNvSpPr/>
          <p:nvPr/>
        </p:nvSpPr>
        <p:spPr>
          <a:xfrm>
            <a:off x="645268" y="560764"/>
            <a:ext cx="327423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请求报文的一些</a:t>
            </a:r>
            <a:r>
              <a:rPr lang="zh-CN" altLang="en-US" sz="2000" b="1" dirty="0" smtClean="0">
                <a:latin typeface="微软雅黑" panose="020B0503020204020204" pitchFamily="34" charset="-122"/>
                <a:ea typeface="微软雅黑" panose="020B0503020204020204" pitchFamily="34" charset="-122"/>
              </a:rPr>
              <a:t>方法</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7" name="图示 6"/>
          <p:cNvGraphicFramePr/>
          <p:nvPr/>
        </p:nvGraphicFramePr>
        <p:xfrm>
          <a:off x="556963" y="981296"/>
          <a:ext cx="8048776" cy="3242519"/>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cxnSp>
        <p:nvCxnSpPr>
          <p:cNvPr id="9" name="直接连接符 8"/>
          <p:cNvCxnSpPr/>
          <p:nvPr/>
        </p:nvCxnSpPr>
        <p:spPr>
          <a:xfrm>
            <a:off x="3060406" y="960874"/>
            <a:ext cx="0" cy="338600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en-US" altLang="zh-CN" sz="1400" b="1" dirty="0" smtClean="0">
                <a:latin typeface="微软雅黑" panose="020B0503020204020204" pitchFamily="34" charset="-122"/>
                <a:ea typeface="微软雅黑" panose="020B0503020204020204" pitchFamily="34" charset="-122"/>
              </a:rPr>
              <a:t>URL</a:t>
            </a:r>
            <a:r>
              <a:rPr kumimoji="1" lang="zh-CN" altLang="en-US" sz="1400" b="1" dirty="0" smtClean="0">
                <a:latin typeface="微软雅黑" panose="020B0503020204020204" pitchFamily="34" charset="-122"/>
                <a:ea typeface="微软雅黑" panose="020B0503020204020204" pitchFamily="34" charset="-122"/>
              </a:rPr>
              <a:t>：所</a:t>
            </a:r>
            <a:r>
              <a:rPr kumimoji="1" lang="zh-CN" altLang="en-US" sz="1400" b="1" dirty="0">
                <a:latin typeface="微软雅黑" panose="020B0503020204020204" pitchFamily="34" charset="-122"/>
                <a:ea typeface="微软雅黑" panose="020B0503020204020204" pitchFamily="34" charset="-122"/>
              </a:rPr>
              <a:t>请求的资源的 </a:t>
            </a:r>
            <a:r>
              <a:rPr kumimoji="1" lang="en-US" altLang="zh-CN" sz="1400" b="1" dirty="0">
                <a:latin typeface="微软雅黑" panose="020B0503020204020204" pitchFamily="34" charset="-122"/>
                <a:ea typeface="微软雅黑" panose="020B0503020204020204" pitchFamily="34" charset="-122"/>
              </a:rPr>
              <a:t>URL</a:t>
            </a:r>
            <a:r>
              <a:rPr kumimoji="1" lang="zh-CN" altLang="en-US" sz="1400" b="1" dirty="0">
                <a:latin typeface="微软雅黑" panose="020B0503020204020204" pitchFamily="34" charset="-122"/>
                <a:ea typeface="微软雅黑" panose="020B0503020204020204" pitchFamily="34" charset="-122"/>
              </a:rPr>
              <a:t>。</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 name="Rectangle 132"/>
          <p:cNvSpPr>
            <a:spLocks noChangeArrowheads="1"/>
          </p:cNvSpPr>
          <p:nvPr/>
        </p:nvSpPr>
        <p:spPr bwMode="auto">
          <a:xfrm>
            <a:off x="3592182" y="1395872"/>
            <a:ext cx="1006775"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版本：</a:t>
            </a:r>
            <a:r>
              <a:rPr kumimoji="1" lang="en-US" altLang="zh-CN" sz="1400" b="1" dirty="0" smtClean="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的版本。</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 name="Rectangle 132"/>
          <p:cNvSpPr>
            <a:spLocks noChangeArrowheads="1"/>
          </p:cNvSpPr>
          <p:nvPr/>
        </p:nvSpPr>
        <p:spPr bwMode="auto">
          <a:xfrm>
            <a:off x="4555129" y="1395872"/>
            <a:ext cx="948557"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25047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请求报文举例</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615736" y="1012260"/>
            <a:ext cx="3400148" cy="2092881"/>
          </a:xfrm>
          <a:prstGeom prst="rect">
            <a:avLst/>
          </a:prstGeom>
        </p:spPr>
        <p:txBody>
          <a:bodyPr wrap="square">
            <a:spAutoFit/>
          </a:bodyPr>
          <a:lstStyle/>
          <a:p>
            <a:pPr>
              <a:lnSpc>
                <a:spcPts val="2600"/>
              </a:lnSpc>
              <a:spcAft>
                <a:spcPts val="0"/>
              </a:spcAft>
            </a:pPr>
            <a:r>
              <a:rPr lang="en-US" altLang="zh-CN" b="1" kern="500" dirty="0">
                <a:solidFill>
                  <a:srgbClr val="C00000"/>
                </a:solidFill>
                <a:cs typeface="Times New Roman" panose="02020603050405020304" pitchFamily="18" charset="0"/>
              </a:rPr>
              <a:t>GET /</a:t>
            </a:r>
            <a:r>
              <a:rPr lang="en-US" altLang="zh-CN" b="1" kern="500" dirty="0" err="1">
                <a:solidFill>
                  <a:srgbClr val="C00000"/>
                </a:solidFill>
                <a:cs typeface="Times New Roman" panose="02020603050405020304" pitchFamily="18" charset="0"/>
              </a:rPr>
              <a:t>dir</a:t>
            </a:r>
            <a:r>
              <a:rPr lang="en-US" altLang="zh-CN" b="1" kern="500" dirty="0">
                <a:solidFill>
                  <a:srgbClr val="C00000"/>
                </a:solidFill>
                <a:cs typeface="Times New Roman" panose="02020603050405020304" pitchFamily="18" charset="0"/>
              </a:rPr>
              <a:t>/index.htm </a:t>
            </a:r>
            <a:r>
              <a:rPr lang="en-US" altLang="zh-CN" b="1" kern="500" dirty="0" smtClean="0">
                <a:solidFill>
                  <a:srgbClr val="C00000"/>
                </a:solidFill>
                <a:cs typeface="Times New Roman" panose="02020603050405020304" pitchFamily="18" charset="0"/>
              </a:rPr>
              <a:t>HTTP/1.1</a:t>
            </a:r>
            <a:endParaRPr lang="en-US" altLang="zh-CN" b="1" kern="500" dirty="0" smtClean="0">
              <a:solidFill>
                <a:srgbClr val="C00000"/>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Host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www.xyz.edu.cn</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Connection</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close</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User-Agent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Mozilla/5.0</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Accept-Language</a:t>
            </a:r>
            <a:r>
              <a:rPr lang="en-US" altLang="zh-CN" b="1" kern="500" dirty="0">
                <a:solidFill>
                  <a:srgbClr val="000099"/>
                </a:solidFill>
                <a:cs typeface="Times New Roman" panose="02020603050405020304" pitchFamily="18" charset="0"/>
              </a:rPr>
              <a:t>: </a:t>
            </a:r>
            <a:r>
              <a:rPr lang="en-US" altLang="zh-CN" b="1" kern="500" dirty="0" err="1" smtClean="0">
                <a:solidFill>
                  <a:srgbClr val="000099"/>
                </a:solidFill>
                <a:cs typeface="Times New Roman" panose="02020603050405020304" pitchFamily="18" charset="0"/>
              </a:rPr>
              <a:t>cn</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chemeClr val="tx1">
                    <a:lumMod val="95000"/>
                    <a:lumOff val="5000"/>
                  </a:schemeClr>
                </a:solidFill>
                <a:cs typeface="Times New Roman" panose="02020603050405020304" pitchFamily="18" charset="0"/>
              </a:rPr>
              <a:t>CRLF</a:t>
            </a:r>
            <a:endParaRPr lang="en-US" altLang="zh-CN" b="1" kern="500" dirty="0" smtClean="0">
              <a:solidFill>
                <a:schemeClr val="tx1">
                  <a:lumMod val="95000"/>
                  <a:lumOff val="5000"/>
                </a:schemeClr>
              </a:solidFill>
              <a:cs typeface="Times New Roman" panose="02020603050405020304" pitchFamily="18" charset="0"/>
            </a:endParaRPr>
          </a:p>
        </p:txBody>
      </p:sp>
      <p:sp>
        <p:nvSpPr>
          <p:cNvPr id="3" name="矩形 2"/>
          <p:cNvSpPr/>
          <p:nvPr/>
        </p:nvSpPr>
        <p:spPr>
          <a:xfrm>
            <a:off x="4898150" y="1056648"/>
            <a:ext cx="1685077" cy="338554"/>
          </a:xfrm>
          <a:prstGeom prst="rect">
            <a:avLst/>
          </a:prstGeom>
        </p:spPr>
        <p:txBody>
          <a:bodyPr wrap="none">
            <a:spAutoFit/>
          </a:bodyPr>
          <a:lstStyle/>
          <a:p>
            <a:r>
              <a:rPr lang="zh-CN" altLang="en-US" sz="1600" b="1" dirty="0" smtClean="0">
                <a:latin typeface="微软雅黑" panose="020B0503020204020204" pitchFamily="34" charset="-122"/>
                <a:ea typeface="微软雅黑" panose="020B0503020204020204" pitchFamily="34" charset="-122"/>
              </a:rPr>
              <a:t>使用</a:t>
            </a:r>
            <a:r>
              <a:rPr lang="zh-CN" altLang="en-US" sz="1600" b="1" dirty="0">
                <a:latin typeface="微软雅黑" panose="020B0503020204020204" pitchFamily="34" charset="-122"/>
                <a:ea typeface="微软雅黑" panose="020B0503020204020204" pitchFamily="34" charset="-122"/>
              </a:rPr>
              <a:t>了</a:t>
            </a:r>
            <a:r>
              <a:rPr lang="zh-CN" altLang="en-US" sz="1600" b="1" dirty="0" smtClean="0">
                <a:latin typeface="微软雅黑" panose="020B0503020204020204" pitchFamily="34" charset="-122"/>
                <a:ea typeface="微软雅黑" panose="020B0503020204020204" pitchFamily="34" charset="-122"/>
              </a:rPr>
              <a:t>相对 </a:t>
            </a:r>
            <a:r>
              <a:rPr lang="en-US" altLang="zh-CN" sz="1600" b="1" dirty="0" smtClean="0">
                <a:latin typeface="微软雅黑" panose="020B0503020204020204" pitchFamily="34" charset="-122"/>
                <a:ea typeface="微软雅黑" panose="020B0503020204020204" pitchFamily="34" charset="-122"/>
              </a:rPr>
              <a:t>URL</a:t>
            </a:r>
            <a:endParaRPr lang="zh-CN" altLang="en-US" sz="1600" b="1" dirty="0">
              <a:latin typeface="微软雅黑" panose="020B0503020204020204" pitchFamily="34" charset="-122"/>
              <a:ea typeface="微软雅黑" panose="020B0503020204020204" pitchFamily="34" charset="-122"/>
            </a:endParaRPr>
          </a:p>
        </p:txBody>
      </p:sp>
      <p:sp>
        <p:nvSpPr>
          <p:cNvPr id="63" name="Text Box 133"/>
          <p:cNvSpPr txBox="1">
            <a:spLocks noChangeArrowheads="1"/>
          </p:cNvSpPr>
          <p:nvPr/>
        </p:nvSpPr>
        <p:spPr bwMode="auto">
          <a:xfrm>
            <a:off x="759679" y="1087150"/>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745412" y="185097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66" name="AutoShape 56"/>
          <p:cNvSpPr/>
          <p:nvPr/>
        </p:nvSpPr>
        <p:spPr bwMode="auto">
          <a:xfrm flipH="1">
            <a:off x="1433175" y="1474518"/>
            <a:ext cx="167949" cy="114439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2" name="矩形 71"/>
          <p:cNvSpPr/>
          <p:nvPr/>
        </p:nvSpPr>
        <p:spPr>
          <a:xfrm>
            <a:off x="4898150" y="1396606"/>
            <a:ext cx="285206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首部</a:t>
            </a:r>
            <a:r>
              <a:rPr lang="zh-CN" altLang="en-US" sz="1600" b="1" dirty="0" smtClean="0">
                <a:latin typeface="微软雅黑" panose="020B0503020204020204" pitchFamily="34" charset="-122"/>
                <a:ea typeface="微软雅黑" panose="020B0503020204020204" pitchFamily="34" charset="-122"/>
              </a:rPr>
              <a:t>行开始。给</a:t>
            </a:r>
            <a:r>
              <a:rPr lang="zh-CN" altLang="en-US" sz="1600" b="1" dirty="0">
                <a:latin typeface="微软雅黑" panose="020B0503020204020204" pitchFamily="34" charset="-122"/>
                <a:ea typeface="微软雅黑" panose="020B0503020204020204" pitchFamily="34" charset="-122"/>
              </a:rPr>
              <a:t>出主机的</a:t>
            </a:r>
            <a:r>
              <a:rPr lang="zh-CN" altLang="en-US" sz="1600" b="1" dirty="0" smtClean="0">
                <a:latin typeface="微软雅黑" panose="020B0503020204020204" pitchFamily="34" charset="-122"/>
                <a:ea typeface="微软雅黑" panose="020B0503020204020204" pitchFamily="34" charset="-122"/>
              </a:rPr>
              <a:t>域名</a:t>
            </a:r>
            <a:endParaRPr lang="zh-CN" altLang="en-US" sz="1600" b="1" dirty="0">
              <a:latin typeface="微软雅黑" panose="020B0503020204020204" pitchFamily="34" charset="-122"/>
              <a:ea typeface="微软雅黑" panose="020B0503020204020204" pitchFamily="34" charset="-122"/>
            </a:endParaRPr>
          </a:p>
        </p:txBody>
      </p:sp>
      <p:sp>
        <p:nvSpPr>
          <p:cNvPr id="73" name="矩形 72"/>
          <p:cNvSpPr/>
          <p:nvPr/>
        </p:nvSpPr>
        <p:spPr>
          <a:xfrm>
            <a:off x="4898150" y="1712542"/>
            <a:ext cx="3877985"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告诉服务器发送完请求的文档</a:t>
            </a:r>
            <a:r>
              <a:rPr lang="zh-CN" altLang="en-US" sz="1600" b="1" dirty="0" smtClean="0">
                <a:latin typeface="微软雅黑" panose="020B0503020204020204" pitchFamily="34" charset="-122"/>
                <a:ea typeface="微软雅黑" panose="020B0503020204020204" pitchFamily="34" charset="-122"/>
              </a:rPr>
              <a:t>后释放</a:t>
            </a:r>
            <a:r>
              <a:rPr lang="zh-CN" altLang="en-US" sz="1600" b="1" dirty="0">
                <a:latin typeface="微软雅黑" panose="020B0503020204020204" pitchFamily="34" charset="-122"/>
                <a:ea typeface="微软雅黑" panose="020B0503020204020204" pitchFamily="34" charset="-122"/>
              </a:rPr>
              <a:t>连接</a:t>
            </a:r>
            <a:endParaRPr lang="zh-CN" altLang="en-US" sz="1600" b="1" dirty="0">
              <a:latin typeface="微软雅黑" panose="020B0503020204020204" pitchFamily="34" charset="-122"/>
              <a:ea typeface="微软雅黑" panose="020B0503020204020204" pitchFamily="34" charset="-122"/>
            </a:endParaRPr>
          </a:p>
        </p:txBody>
      </p:sp>
      <p:sp>
        <p:nvSpPr>
          <p:cNvPr id="74" name="矩形 73"/>
          <p:cNvSpPr/>
          <p:nvPr/>
        </p:nvSpPr>
        <p:spPr>
          <a:xfrm>
            <a:off x="4898150" y="2052500"/>
            <a:ext cx="3627596"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表明用户</a:t>
            </a:r>
            <a:r>
              <a:rPr lang="zh-CN" altLang="en-US" sz="1600" b="1" dirty="0" smtClean="0">
                <a:latin typeface="微软雅黑" panose="020B0503020204020204" pitchFamily="34" charset="-122"/>
                <a:ea typeface="微软雅黑" panose="020B0503020204020204" pitchFamily="34" charset="-122"/>
              </a:rPr>
              <a:t>代理使用</a:t>
            </a:r>
            <a:r>
              <a:rPr lang="zh-CN" altLang="en-US" sz="1600" b="1" dirty="0">
                <a:latin typeface="微软雅黑" panose="020B0503020204020204" pitchFamily="34" charset="-122"/>
                <a:ea typeface="微软雅黑" panose="020B0503020204020204" pitchFamily="34" charset="-122"/>
              </a:rPr>
              <a:t>火狐</a:t>
            </a:r>
            <a:r>
              <a:rPr lang="zh-CN" altLang="en-US" sz="1600" b="1" dirty="0" smtClean="0">
                <a:latin typeface="微软雅黑" panose="020B0503020204020204" pitchFamily="34" charset="-122"/>
                <a:ea typeface="微软雅黑" panose="020B0503020204020204" pitchFamily="34" charset="-122"/>
              </a:rPr>
              <a:t>浏览器 </a:t>
            </a:r>
            <a:r>
              <a:rPr lang="en-US" altLang="zh-CN" sz="1600" b="1" dirty="0" smtClean="0">
                <a:latin typeface="微软雅黑" panose="020B0503020204020204" pitchFamily="34" charset="-122"/>
                <a:ea typeface="微软雅黑" panose="020B0503020204020204" pitchFamily="34" charset="-122"/>
              </a:rPr>
              <a:t>Firefox</a:t>
            </a:r>
            <a:endParaRPr lang="zh-CN" altLang="en-US" sz="1600" b="1" dirty="0">
              <a:latin typeface="微软雅黑" panose="020B0503020204020204" pitchFamily="34" charset="-122"/>
              <a:ea typeface="微软雅黑" panose="020B0503020204020204" pitchFamily="34" charset="-122"/>
            </a:endParaRPr>
          </a:p>
        </p:txBody>
      </p:sp>
      <p:sp>
        <p:nvSpPr>
          <p:cNvPr id="75" name="矩形 74"/>
          <p:cNvSpPr/>
          <p:nvPr/>
        </p:nvSpPr>
        <p:spPr>
          <a:xfrm>
            <a:off x="4898150" y="2396862"/>
            <a:ext cx="3672800"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表示用户希望优先得到中文版本的文档</a:t>
            </a:r>
            <a:endParaRPr lang="zh-CN" altLang="en-US" sz="1600" b="1" dirty="0">
              <a:latin typeface="微软雅黑" panose="020B0503020204020204" pitchFamily="34" charset="-122"/>
              <a:ea typeface="微软雅黑" panose="020B0503020204020204" pitchFamily="34" charset="-122"/>
            </a:endParaRPr>
          </a:p>
        </p:txBody>
      </p:sp>
      <p:sp>
        <p:nvSpPr>
          <p:cNvPr id="76" name="矩形 75"/>
          <p:cNvSpPr/>
          <p:nvPr/>
        </p:nvSpPr>
        <p:spPr>
          <a:xfrm>
            <a:off x="4898150" y="2736820"/>
            <a:ext cx="2646878"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请求报文的</a:t>
            </a:r>
            <a:r>
              <a:rPr lang="zh-CN" altLang="en-US" sz="1600" b="1" dirty="0" smtClean="0">
                <a:latin typeface="微软雅黑" panose="020B0503020204020204" pitchFamily="34" charset="-122"/>
                <a:ea typeface="微软雅黑" panose="020B0503020204020204" pitchFamily="34" charset="-122"/>
              </a:rPr>
              <a:t>最后一行为空行</a:t>
            </a:r>
            <a:endParaRPr lang="zh-CN" altLang="en-US" sz="1600" b="1" dirty="0">
              <a:latin typeface="微软雅黑" panose="020B0503020204020204" pitchFamily="34" charset="-122"/>
              <a:ea typeface="微软雅黑" panose="020B0503020204020204" pitchFamily="34" charset="-122"/>
            </a:endParaRPr>
          </a:p>
        </p:txBody>
      </p:sp>
      <p:sp>
        <p:nvSpPr>
          <p:cNvPr id="77" name="矩形 76"/>
          <p:cNvSpPr/>
          <p:nvPr/>
        </p:nvSpPr>
        <p:spPr>
          <a:xfrm>
            <a:off x="4898150" y="3071423"/>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没有实体</a:t>
            </a:r>
            <a:r>
              <a:rPr lang="zh-CN" altLang="en-US" sz="1600" b="1" dirty="0" smtClean="0">
                <a:solidFill>
                  <a:srgbClr val="0000FF"/>
                </a:solidFill>
                <a:latin typeface="微软雅黑" panose="020B0503020204020204" pitchFamily="34" charset="-122"/>
                <a:ea typeface="微软雅黑" panose="020B0503020204020204" pitchFamily="34" charset="-122"/>
              </a:rPr>
              <a:t>主体</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xEl>
                                              <p:pRg st="0" end="0"/>
                                            </p:txEl>
                                          </p:spTgt>
                                        </p:tgtEl>
                                        <p:attrNameLst>
                                          <p:attrName>style.visibility</p:attrName>
                                        </p:attrNameLst>
                                      </p:cBhvr>
                                      <p:to>
                                        <p:strVal val="visible"/>
                                      </p:to>
                                    </p:set>
                                    <p:animEffect transition="in" filter="fade">
                                      <p:cBhvr>
                                        <p:cTn id="12" dur="1000"/>
                                        <p:tgtEl>
                                          <p:spTgt spid="7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3">
                                            <p:txEl>
                                              <p:pRg st="0" end="0"/>
                                            </p:txEl>
                                          </p:spTgt>
                                        </p:tgtEl>
                                        <p:attrNameLst>
                                          <p:attrName>style.visibility</p:attrName>
                                        </p:attrNameLst>
                                      </p:cBhvr>
                                      <p:to>
                                        <p:strVal val="visible"/>
                                      </p:to>
                                    </p:set>
                                    <p:animEffect transition="in" filter="fade">
                                      <p:cBhvr>
                                        <p:cTn id="17" dur="1000"/>
                                        <p:tgtEl>
                                          <p:spTgt spid="7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4">
                                            <p:txEl>
                                              <p:pRg st="0" end="0"/>
                                            </p:txEl>
                                          </p:spTgt>
                                        </p:tgtEl>
                                        <p:attrNameLst>
                                          <p:attrName>style.visibility</p:attrName>
                                        </p:attrNameLst>
                                      </p:cBhvr>
                                      <p:to>
                                        <p:strVal val="visible"/>
                                      </p:to>
                                    </p:set>
                                    <p:animEffect transition="in" filter="fade">
                                      <p:cBhvr>
                                        <p:cTn id="22" dur="1000"/>
                                        <p:tgtEl>
                                          <p:spTgt spid="74">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5">
                                            <p:txEl>
                                              <p:pRg st="0" end="0"/>
                                            </p:txEl>
                                          </p:spTgt>
                                        </p:tgtEl>
                                        <p:attrNameLst>
                                          <p:attrName>style.visibility</p:attrName>
                                        </p:attrNameLst>
                                      </p:cBhvr>
                                      <p:to>
                                        <p:strVal val="visible"/>
                                      </p:to>
                                    </p:set>
                                    <p:animEffect transition="in" filter="fade">
                                      <p:cBhvr>
                                        <p:cTn id="27" dur="1000"/>
                                        <p:tgtEl>
                                          <p:spTgt spid="75">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6">
                                            <p:txEl>
                                              <p:pRg st="0" end="0"/>
                                            </p:txEl>
                                          </p:spTgt>
                                        </p:tgtEl>
                                        <p:attrNameLst>
                                          <p:attrName>style.visibility</p:attrName>
                                        </p:attrNameLst>
                                      </p:cBhvr>
                                      <p:to>
                                        <p:strVal val="visible"/>
                                      </p:to>
                                    </p:set>
                                    <p:animEffect transition="in" filter="fade">
                                      <p:cBhvr>
                                        <p:cTn id="32" dur="1000"/>
                                        <p:tgtEl>
                                          <p:spTgt spid="7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7">
                                            <p:txEl>
                                              <p:pRg st="0" end="0"/>
                                            </p:txEl>
                                          </p:spTgt>
                                        </p:tgtEl>
                                        <p:attrNameLst>
                                          <p:attrName>style.visibility</p:attrName>
                                        </p:attrNameLst>
                                      </p:cBhvr>
                                      <p:to>
                                        <p:strVal val="visible"/>
                                      </p:to>
                                    </p:set>
                                    <p:animEffect transition="in" filter="fade">
                                      <p:cBhvr>
                                        <p:cTn id="37" dur="1000"/>
                                        <p:tgtEl>
                                          <p:spTgt spid="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2" grpId="0" build="p"/>
      <p:bldP spid="73" grpId="0" build="p"/>
      <p:bldP spid="74" grpId="0" build="p"/>
      <p:bldP spid="75" grpId="0" build="p"/>
      <p:bldP spid="76" grpId="0" build="p"/>
      <p:bldP spid="77" grpId="0" build="p"/>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的报文结构（响应报文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版   本</a:t>
            </a:r>
            <a:endParaRPr kumimoji="1" lang="zh-CN" altLang="en-US" sz="1200" b="1" dirty="0">
              <a:latin typeface="微软雅黑" panose="020B0503020204020204" pitchFamily="34" charset="-122"/>
              <a:ea typeface="微软雅黑" panose="020B0503020204020204" pitchFamily="34" charset="-122"/>
            </a:endParaRP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8" name="Text Box 41"/>
          <p:cNvSpPr txBox="1">
            <a:spLocks noChangeArrowheads="1"/>
          </p:cNvSpPr>
          <p:nvPr/>
        </p:nvSpPr>
        <p:spPr bwMode="auto">
          <a:xfrm>
            <a:off x="3802295" y="1414998"/>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状态码</a:t>
            </a:r>
            <a:endParaRPr kumimoji="1" lang="zh-CN" altLang="en-US" sz="1200" b="1" dirty="0">
              <a:latin typeface="微软雅黑" panose="020B0503020204020204" pitchFamily="34" charset="-122"/>
              <a:ea typeface="微软雅黑" panose="020B0503020204020204" pitchFamily="34" charset="-122"/>
            </a:endParaRP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短   语</a:t>
            </a:r>
            <a:endParaRPr kumimoji="1" lang="zh-CN" altLang="en-US" sz="1200" b="1" dirty="0">
              <a:latin typeface="微软雅黑" panose="020B0503020204020204" pitchFamily="34" charset="-122"/>
              <a:ea typeface="微软雅黑" panose="020B0503020204020204" pitchFamily="34" charset="-122"/>
            </a:endParaRP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Text Box 58"/>
          <p:cNvSpPr txBox="1">
            <a:spLocks noChangeArrowheads="1"/>
          </p:cNvSpPr>
          <p:nvPr/>
        </p:nvSpPr>
        <p:spPr bwMode="auto">
          <a:xfrm>
            <a:off x="3450505" y="2796426"/>
            <a:ext cx="198002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400" b="1" dirty="0">
              <a:solidFill>
                <a:schemeClr val="bg1"/>
              </a:solidFill>
              <a:latin typeface="微软雅黑" panose="020B0503020204020204" pitchFamily="34" charset="-122"/>
              <a:ea typeface="微软雅黑" panose="020B0503020204020204" pitchFamily="34" charset="-122"/>
            </a:endParaRPr>
          </a:p>
          <a:p>
            <a:pPr algn="ctr"/>
            <a:r>
              <a:rPr kumimoji="1" lang="zh-CN" altLang="en-US" sz="1400" b="1" dirty="0">
                <a:solidFill>
                  <a:schemeClr val="bg1"/>
                </a:solidFill>
                <a:latin typeface="微软雅黑" panose="020B0503020204020204" pitchFamily="34" charset="-122"/>
                <a:ea typeface="微软雅黑" panose="020B0503020204020204" pitchFamily="34" charset="-122"/>
              </a:rPr>
              <a:t>（有些响应报文不用）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grpSp>
        <p:nvGrpSpPr>
          <p:cNvPr id="201" name="Group 134"/>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400" b="1" dirty="0">
                  <a:latin typeface="微软雅黑" panose="020B0503020204020204" pitchFamily="34" charset="-122"/>
                  <a:ea typeface="微软雅黑" panose="020B0503020204020204" pitchFamily="34" charset="-122"/>
                </a:rPr>
                <a:t>状态</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6" name="矩形 205"/>
          <p:cNvSpPr/>
          <p:nvPr/>
        </p:nvSpPr>
        <p:spPr>
          <a:xfrm>
            <a:off x="1346773" y="3454660"/>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在响应报文</a:t>
            </a:r>
            <a:r>
              <a:rPr kumimoji="1" lang="zh-CN" altLang="en-US" sz="1400" b="1" dirty="0">
                <a:latin typeface="微软雅黑" panose="020B0503020204020204" pitchFamily="34" charset="-122"/>
                <a:ea typeface="微软雅黑" panose="020B0503020204020204" pitchFamily="34" charset="-122"/>
              </a:rPr>
              <a:t>中</a:t>
            </a:r>
            <a:r>
              <a:rPr kumimoji="1" lang="zh-CN" altLang="en-US" sz="1400" b="1" dirty="0" smtClean="0">
                <a:latin typeface="微软雅黑" panose="020B0503020204020204" pitchFamily="34" charset="-122"/>
                <a:ea typeface="微软雅黑" panose="020B0503020204020204" pitchFamily="34" charset="-122"/>
              </a:rPr>
              <a:t>，开始行是状态行。</a:t>
            </a:r>
            <a:endParaRPr kumimoji="1" lang="en-US" altLang="zh-CN" sz="1400" b="1" dirty="0" smtClean="0">
              <a:latin typeface="微软雅黑" panose="020B0503020204020204" pitchFamily="34" charset="-122"/>
              <a:ea typeface="微软雅黑" panose="020B0503020204020204" pitchFamily="34" charset="-122"/>
            </a:endParaRPr>
          </a:p>
          <a:p>
            <a:pPr>
              <a:lnSpc>
                <a:spcPts val="2000"/>
              </a:lnSpc>
            </a:pPr>
            <a:r>
              <a:rPr kumimoji="1" lang="zh-CN" altLang="en-US" sz="1400" b="1" dirty="0">
                <a:latin typeface="微软雅黑" panose="020B0503020204020204" pitchFamily="34" charset="-122"/>
                <a:ea typeface="微软雅黑" panose="020B0503020204020204" pitchFamily="34" charset="-122"/>
              </a:rPr>
              <a:t>版本：</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的版本</a:t>
            </a:r>
            <a:r>
              <a:rPr kumimoji="1" lang="zh-CN" altLang="en-US" sz="1400" b="1" dirty="0" smtClean="0">
                <a:latin typeface="微软雅黑" panose="020B0503020204020204" pitchFamily="34" charset="-122"/>
                <a:ea typeface="微软雅黑" panose="020B0503020204020204" pitchFamily="34" charset="-122"/>
              </a:rPr>
              <a:t>。状态码：服务器操作完成的状态。短语</a:t>
            </a:r>
            <a:r>
              <a:rPr kumimoji="1" lang="zh-CN" altLang="en-US" sz="1400" b="1" dirty="0">
                <a:latin typeface="微软雅黑" panose="020B0503020204020204" pitchFamily="34" charset="-122"/>
                <a:ea typeface="微软雅黑" panose="020B0503020204020204" pitchFamily="34" charset="-122"/>
              </a:rPr>
              <a:t>：解释状态</a:t>
            </a:r>
            <a:r>
              <a:rPr kumimoji="1" lang="zh-CN" altLang="en-US" sz="1400" b="1" dirty="0" smtClean="0">
                <a:latin typeface="微软雅黑" panose="020B0503020204020204" pitchFamily="34" charset="-122"/>
                <a:ea typeface="微软雅黑" panose="020B0503020204020204" pitchFamily="34" charset="-122"/>
              </a:rPr>
              <a:t>码。</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9132"/>
            <a:ext cx="8081200"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1xx </a:t>
            </a:r>
            <a:r>
              <a:rPr lang="zh-CN" altLang="en-US" sz="2000" b="1" dirty="0">
                <a:solidFill>
                  <a:srgbClr val="0000FF"/>
                </a:solidFill>
                <a:latin typeface="微软雅黑" panose="020B0503020204020204" pitchFamily="34" charset="-122"/>
                <a:ea typeface="微软雅黑" panose="020B0503020204020204" pitchFamily="34" charset="-122"/>
              </a:rPr>
              <a:t>表示通知</a:t>
            </a:r>
            <a:r>
              <a:rPr lang="zh-CN" altLang="en-US" sz="2000" b="1" dirty="0" smtClean="0">
                <a:solidFill>
                  <a:srgbClr val="0000FF"/>
                </a:solidFill>
                <a:latin typeface="微软雅黑" panose="020B0503020204020204" pitchFamily="34" charset="-122"/>
                <a:ea typeface="微软雅黑" panose="020B0503020204020204" pitchFamily="34" charset="-122"/>
              </a:rPr>
              <a:t>信息</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如请求收到了或正在进行处理。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2xx </a:t>
            </a:r>
            <a:r>
              <a:rPr lang="zh-CN" altLang="en-US" sz="2000" b="1" dirty="0">
                <a:solidFill>
                  <a:srgbClr val="0000FF"/>
                </a:solidFill>
                <a:latin typeface="微软雅黑" panose="020B0503020204020204" pitchFamily="34" charset="-122"/>
                <a:ea typeface="微软雅黑" panose="020B0503020204020204" pitchFamily="34" charset="-122"/>
              </a:rPr>
              <a:t>表示成功</a:t>
            </a:r>
            <a:r>
              <a:rPr lang="zh-CN" altLang="en-US" sz="2000" b="1" dirty="0">
                <a:latin typeface="微软雅黑" panose="020B0503020204020204" pitchFamily="34" charset="-122"/>
                <a:ea typeface="微软雅黑" panose="020B0503020204020204" pitchFamily="34" charset="-122"/>
              </a:rPr>
              <a:t>，如接受或知道了。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3xx </a:t>
            </a:r>
            <a:r>
              <a:rPr lang="zh-CN" altLang="en-US" sz="2000" b="1" dirty="0">
                <a:solidFill>
                  <a:srgbClr val="0000FF"/>
                </a:solidFill>
                <a:latin typeface="微软雅黑" panose="020B0503020204020204" pitchFamily="34" charset="-122"/>
                <a:ea typeface="微软雅黑" panose="020B0503020204020204" pitchFamily="34" charset="-122"/>
              </a:rPr>
              <a:t>表示重定向</a:t>
            </a:r>
            <a:r>
              <a:rPr lang="zh-CN" altLang="en-US" sz="2000" b="1" dirty="0">
                <a:latin typeface="微软雅黑" panose="020B0503020204020204" pitchFamily="34" charset="-122"/>
                <a:ea typeface="微软雅黑" panose="020B0503020204020204" pitchFamily="34" charset="-122"/>
              </a:rPr>
              <a:t>，表示要完成请求还必须采取进一步的行动。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4xx </a:t>
            </a:r>
            <a:r>
              <a:rPr lang="zh-CN" altLang="en-US" sz="2000" b="1" dirty="0">
                <a:solidFill>
                  <a:srgbClr val="0000FF"/>
                </a:solidFill>
                <a:latin typeface="微软雅黑" panose="020B0503020204020204" pitchFamily="34" charset="-122"/>
                <a:ea typeface="微软雅黑" panose="020B0503020204020204" pitchFamily="34" charset="-122"/>
              </a:rPr>
              <a:t>表示客户的差错</a:t>
            </a:r>
            <a:r>
              <a:rPr lang="zh-CN" altLang="en-US" sz="2000" b="1" dirty="0">
                <a:latin typeface="微软雅黑" panose="020B0503020204020204" pitchFamily="34" charset="-122"/>
                <a:ea typeface="微软雅黑" panose="020B0503020204020204" pitchFamily="34" charset="-122"/>
              </a:rPr>
              <a:t>，如请求中有错误的语法或不能完成。</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5xx </a:t>
            </a:r>
            <a:r>
              <a:rPr lang="zh-CN" altLang="en-US" sz="2000" b="1" dirty="0">
                <a:solidFill>
                  <a:srgbClr val="0000FF"/>
                </a:solidFill>
                <a:latin typeface="微软雅黑" panose="020B0503020204020204" pitchFamily="34" charset="-122"/>
                <a:ea typeface="微软雅黑" panose="020B0503020204020204" pitchFamily="34" charset="-122"/>
              </a:rPr>
              <a:t>表示服务器的差错</a:t>
            </a:r>
            <a:r>
              <a:rPr lang="zh-CN" altLang="en-US" sz="2000" b="1" dirty="0">
                <a:latin typeface="微软雅黑" panose="020B0503020204020204" pitchFamily="34" charset="-122"/>
                <a:ea typeface="微软雅黑" panose="020B0503020204020204" pitchFamily="34" charset="-122"/>
              </a:rPr>
              <a:t>，如服务器失效无法完成请求。</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28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2756"/>
            <a:ext cx="41905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状态</a:t>
            </a:r>
            <a:r>
              <a:rPr lang="zh-CN" altLang="en-US" sz="2000" b="1" dirty="0" smtClean="0">
                <a:latin typeface="微软雅黑" panose="020B0503020204020204" pitchFamily="34" charset="-122"/>
                <a:ea typeface="微软雅黑" panose="020B0503020204020204" pitchFamily="34" charset="-122"/>
              </a:rPr>
              <a:t>码</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都是</a:t>
            </a:r>
            <a:r>
              <a:rPr lang="zh-CN" altLang="en-US" sz="2000" b="1" dirty="0">
                <a:latin typeface="微软雅黑" panose="020B0503020204020204" pitchFamily="34" charset="-122"/>
                <a:ea typeface="微软雅黑" panose="020B0503020204020204" pitchFamily="34" charset="-122"/>
              </a:rPr>
              <a:t>三位</a:t>
            </a:r>
            <a:r>
              <a:rPr lang="zh-CN" altLang="en-US" sz="2000" b="1" dirty="0" smtClean="0">
                <a:latin typeface="微软雅黑" panose="020B0503020204020204" pitchFamily="34" charset="-122"/>
                <a:ea typeface="微软雅黑" panose="020B0503020204020204" pitchFamily="34" charset="-122"/>
              </a:rPr>
              <a:t>数字，分为</a:t>
            </a:r>
            <a:r>
              <a:rPr lang="en-US" altLang="zh-CN" sz="2000" b="1" dirty="0">
                <a:latin typeface="微软雅黑" panose="020B0503020204020204" pitchFamily="34" charset="-122"/>
                <a:ea typeface="微软雅黑" panose="020B0503020204020204" pitchFamily="34" charset="-122"/>
              </a:rPr>
              <a:t>5</a:t>
            </a:r>
            <a:r>
              <a:rPr lang="zh-CN" altLang="en-US" sz="2000" b="1" dirty="0">
                <a:latin typeface="微软雅黑" panose="020B0503020204020204" pitchFamily="34" charset="-122"/>
                <a:ea typeface="微软雅黑" panose="020B0503020204020204" pitchFamily="34" charset="-122"/>
              </a:rPr>
              <a:t>大</a:t>
            </a:r>
            <a:r>
              <a:rPr lang="zh-CN" altLang="en-US" sz="2000" b="1" dirty="0" smtClean="0">
                <a:latin typeface="微软雅黑" panose="020B0503020204020204" pitchFamily="34" charset="-122"/>
                <a:ea typeface="微软雅黑" panose="020B0503020204020204" pitchFamily="34" charset="-122"/>
              </a:rPr>
              <a:t>类</a:t>
            </a:r>
            <a:endParaRPr lang="zh-CN" altLang="en-US" sz="2000" b="1" dirty="0">
              <a:latin typeface="微软雅黑" panose="020B0503020204020204" pitchFamily="34" charset="-122"/>
              <a:ea typeface="微软雅黑" panose="020B0503020204020204" pitchFamily="34" charset="-122"/>
            </a:endParaRPr>
          </a:p>
        </p:txBody>
      </p:sp>
      <p:sp>
        <p:nvSpPr>
          <p:cNvPr id="5" name="矩形 4"/>
          <p:cNvSpPr/>
          <p:nvPr/>
        </p:nvSpPr>
        <p:spPr>
          <a:xfrm>
            <a:off x="834501" y="2916840"/>
            <a:ext cx="6951216" cy="1426031"/>
          </a:xfrm>
          <a:prstGeom prst="rect">
            <a:avLst/>
          </a:prstGeom>
        </p:spPr>
        <p:txBody>
          <a:bodyPr wrap="square">
            <a:spAutoFit/>
          </a:bodyPr>
          <a:lstStyle/>
          <a:p>
            <a:pPr algn="just">
              <a:lnSpc>
                <a:spcPts val="2600"/>
              </a:lnSpc>
              <a:spcAft>
                <a:spcPts val="0"/>
              </a:spcAft>
            </a:pPr>
            <a:r>
              <a:rPr lang="zh-CN" altLang="zh-CN" b="1" kern="500" dirty="0" smtClean="0">
                <a:latin typeface="微软雅黑" panose="020B0503020204020204" pitchFamily="34" charset="-122"/>
                <a:ea typeface="微软雅黑" panose="020B0503020204020204" pitchFamily="34" charset="-122"/>
              </a:rPr>
              <a:t>响应</a:t>
            </a:r>
            <a:r>
              <a:rPr lang="zh-CN" altLang="zh-CN" b="1" kern="500" dirty="0">
                <a:latin typeface="微软雅黑" panose="020B0503020204020204" pitchFamily="34" charset="-122"/>
                <a:ea typeface="微软雅黑" panose="020B0503020204020204" pitchFamily="34" charset="-122"/>
              </a:rPr>
              <a:t>报文</a:t>
            </a:r>
            <a:r>
              <a:rPr lang="zh-CN" altLang="zh-CN" b="1" kern="500" dirty="0" smtClean="0">
                <a:latin typeface="微软雅黑" panose="020B0503020204020204" pitchFamily="34" charset="-122"/>
                <a:ea typeface="微软雅黑" panose="020B0503020204020204" pitchFamily="34" charset="-122"/>
              </a:rPr>
              <a:t>中常</a:t>
            </a:r>
            <a:r>
              <a:rPr lang="zh-CN" altLang="zh-CN" b="1" kern="500" dirty="0">
                <a:latin typeface="微软雅黑" panose="020B0503020204020204" pitchFamily="34" charset="-122"/>
                <a:ea typeface="微软雅黑" panose="020B0503020204020204" pitchFamily="34" charset="-122"/>
              </a:rPr>
              <a:t>见到的</a:t>
            </a:r>
            <a:r>
              <a:rPr lang="zh-CN" altLang="zh-CN" b="1" kern="500" dirty="0" smtClean="0">
                <a:latin typeface="微软雅黑" panose="020B0503020204020204" pitchFamily="34" charset="-122"/>
                <a:ea typeface="微软雅黑" panose="020B0503020204020204" pitchFamily="34" charset="-122"/>
              </a:rPr>
              <a:t>三</a:t>
            </a:r>
            <a:r>
              <a:rPr lang="zh-CN" altLang="zh-CN" b="1" kern="500" dirty="0">
                <a:latin typeface="微软雅黑" panose="020B0503020204020204" pitchFamily="34" charset="-122"/>
                <a:ea typeface="微软雅黑" panose="020B0503020204020204" pitchFamily="34" charset="-122"/>
              </a:rPr>
              <a:t>种</a:t>
            </a:r>
            <a:r>
              <a:rPr lang="zh-CN" altLang="zh-CN" b="1" kern="500" dirty="0" smtClean="0">
                <a:latin typeface="微软雅黑" panose="020B0503020204020204" pitchFamily="34" charset="-122"/>
                <a:ea typeface="微软雅黑" panose="020B0503020204020204" pitchFamily="34" charset="-122"/>
              </a:rPr>
              <a:t>状态行</a:t>
            </a:r>
            <a:r>
              <a:rPr lang="zh-CN" altLang="en-US" b="1" kern="500" dirty="0" smtClean="0">
                <a:latin typeface="微软雅黑" panose="020B0503020204020204" pitchFamily="34" charset="-122"/>
                <a:ea typeface="微软雅黑" panose="020B0503020204020204" pitchFamily="34" charset="-122"/>
              </a:rPr>
              <a:t>：</a:t>
            </a:r>
            <a:endParaRPr lang="zh-CN" altLang="zh-CN" b="1" kern="500" dirty="0">
              <a:latin typeface="微软雅黑" panose="020B0503020204020204" pitchFamily="34" charset="-122"/>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HTTP/1.1 202 </a:t>
            </a:r>
            <a:r>
              <a:rPr lang="en-US" altLang="zh-CN" b="1" kern="500" dirty="0" smtClean="0">
                <a:solidFill>
                  <a:srgbClr val="000099"/>
                </a:solidFill>
                <a:ea typeface="微软雅黑" panose="020B0503020204020204" pitchFamily="34" charset="-122"/>
                <a:cs typeface="Times New Roman" panose="02020603050405020304" pitchFamily="18" charset="0"/>
              </a:rPr>
              <a:t>Accepted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接受</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HTTP/1.1 400 Bad Request</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错误</a:t>
            </a:r>
            <a:r>
              <a:rPr lang="zh-CN" altLang="zh-CN" b="1" kern="500" dirty="0">
                <a:ea typeface="微软雅黑" panose="020B0503020204020204" pitchFamily="34" charset="-122"/>
              </a:rPr>
              <a:t>的</a:t>
            </a:r>
            <a:r>
              <a:rPr lang="zh-CN" altLang="zh-CN" b="1" kern="500" dirty="0" smtClean="0">
                <a:ea typeface="微软雅黑" panose="020B0503020204020204" pitchFamily="34" charset="-122"/>
              </a:rPr>
              <a:t>请求</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Http/1.1 404 Not Found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找不到</a:t>
            </a:r>
            <a:endParaRPr lang="zh-CN" altLang="zh-CN" b="1" kern="500" dirty="0">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圆角矩形 57"/>
          <p:cNvSpPr/>
          <p:nvPr/>
        </p:nvSpPr>
        <p:spPr>
          <a:xfrm>
            <a:off x="556963" y="1354861"/>
            <a:ext cx="8048775" cy="326152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59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95447" y="572714"/>
            <a:ext cx="35718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在服务器上存放用户的信息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7015"/>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万维网使用 </a:t>
            </a:r>
            <a:r>
              <a:rPr lang="en-US" altLang="zh-CN" b="1" dirty="0">
                <a:solidFill>
                  <a:srgbClr val="C00000"/>
                </a:solidFill>
                <a:latin typeface="微软雅黑" panose="020B0503020204020204" pitchFamily="34" charset="-122"/>
                <a:ea typeface="微软雅黑" panose="020B0503020204020204" pitchFamily="34" charset="-122"/>
              </a:rPr>
              <a:t>Cookie</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跟踪在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服务器和客户之间传递的</a:t>
            </a:r>
            <a:r>
              <a:rPr lang="zh-CN" altLang="en-US" b="1" dirty="0">
                <a:solidFill>
                  <a:srgbClr val="C00000"/>
                </a:solidFill>
                <a:latin typeface="微软雅黑" panose="020B0503020204020204" pitchFamily="34" charset="-122"/>
                <a:ea typeface="微软雅黑" panose="020B0503020204020204" pitchFamily="34" charset="-122"/>
              </a:rPr>
              <a:t>状态</a:t>
            </a:r>
            <a:r>
              <a:rPr lang="zh-CN" altLang="en-US" b="1" dirty="0">
                <a:latin typeface="微软雅黑" panose="020B0503020204020204" pitchFamily="34" charset="-122"/>
                <a:ea typeface="微软雅黑" panose="020B0503020204020204" pitchFamily="34" charset="-122"/>
              </a:rPr>
              <a:t>信息</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7" name="Group 5"/>
          <p:cNvGrpSpPr/>
          <p:nvPr/>
        </p:nvGrpSpPr>
        <p:grpSpPr bwMode="auto">
          <a:xfrm>
            <a:off x="2353913" y="3239298"/>
            <a:ext cx="2956331" cy="318744"/>
            <a:chOff x="1285" y="2720"/>
            <a:chExt cx="2219" cy="340"/>
          </a:xfrm>
        </p:grpSpPr>
        <p:sp>
          <p:nvSpPr>
            <p:cNvPr id="8" name="Line 6"/>
            <p:cNvSpPr>
              <a:spLocks noChangeShapeType="1"/>
            </p:cNvSpPr>
            <p:nvPr/>
          </p:nvSpPr>
          <p:spPr bwMode="auto">
            <a:xfrm flipH="1">
              <a:off x="1285" y="2720"/>
              <a:ext cx="2219" cy="199"/>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1" name="Text Box 9"/>
            <p:cNvSpPr txBox="1">
              <a:spLocks noChangeArrowheads="1"/>
            </p:cNvSpPr>
            <p:nvPr/>
          </p:nvSpPr>
          <p:spPr bwMode="auto">
            <a:xfrm>
              <a:off x="1456" y="2732"/>
              <a:ext cx="1532"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endParaRPr lang="zh-CN" altLang="en-US" sz="1400" b="1" dirty="0">
                <a:latin typeface="微软雅黑" panose="020B0503020204020204" pitchFamily="34" charset="-122"/>
                <a:ea typeface="微软雅黑" panose="020B0503020204020204" pitchFamily="34" charset="-122"/>
              </a:endParaRPr>
            </a:p>
          </p:txBody>
        </p:sp>
      </p:grpSp>
      <p:grpSp>
        <p:nvGrpSpPr>
          <p:cNvPr id="12" name="Group 10"/>
          <p:cNvGrpSpPr/>
          <p:nvPr/>
        </p:nvGrpSpPr>
        <p:grpSpPr bwMode="auto">
          <a:xfrm>
            <a:off x="2354415" y="4152257"/>
            <a:ext cx="2944341" cy="348742"/>
            <a:chOff x="1365" y="3581"/>
            <a:chExt cx="2210" cy="372"/>
          </a:xfrm>
        </p:grpSpPr>
        <p:sp>
          <p:nvSpPr>
            <p:cNvPr id="13" name="Line 11"/>
            <p:cNvSpPr>
              <a:spLocks noChangeShapeType="1"/>
            </p:cNvSpPr>
            <p:nvPr/>
          </p:nvSpPr>
          <p:spPr bwMode="auto">
            <a:xfrm flipH="1">
              <a:off x="1365" y="3581"/>
              <a:ext cx="2210" cy="293"/>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1545" y="3625"/>
              <a:ext cx="1522"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endParaRPr lang="zh-CN" altLang="en-US" sz="1400" b="1" dirty="0">
                <a:latin typeface="微软雅黑" panose="020B0503020204020204" pitchFamily="34" charset="-122"/>
                <a:ea typeface="微软雅黑" panose="020B0503020204020204" pitchFamily="34" charset="-122"/>
              </a:endParaRPr>
            </a:p>
          </p:txBody>
        </p:sp>
      </p:grpSp>
      <p:sp>
        <p:nvSpPr>
          <p:cNvPr id="17" name="Text Box 15"/>
          <p:cNvSpPr txBox="1">
            <a:spLocks noChangeArrowheads="1"/>
          </p:cNvSpPr>
          <p:nvPr/>
        </p:nvSpPr>
        <p:spPr bwMode="auto">
          <a:xfrm>
            <a:off x="1138081" y="2169376"/>
            <a:ext cx="127055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a:latin typeface="微软雅黑" panose="020B0503020204020204" pitchFamily="34" charset="-122"/>
                <a:ea typeface="微软雅黑" panose="020B0503020204020204" pitchFamily="34" charset="-122"/>
              </a:rPr>
              <a:t>cookie file</a:t>
            </a:r>
            <a:endParaRPr lang="en-US" altLang="zh-CN" sz="1400" b="1" dirty="0">
              <a:latin typeface="微软雅黑" panose="020B0503020204020204" pitchFamily="34" charset="-122"/>
              <a:ea typeface="微软雅黑" panose="020B0503020204020204" pitchFamily="34" charset="-122"/>
            </a:endParaRPr>
          </a:p>
        </p:txBody>
      </p:sp>
      <p:grpSp>
        <p:nvGrpSpPr>
          <p:cNvPr id="19" name="Group 17"/>
          <p:cNvGrpSpPr/>
          <p:nvPr/>
        </p:nvGrpSpPr>
        <p:grpSpPr bwMode="auto">
          <a:xfrm>
            <a:off x="2325178" y="2776921"/>
            <a:ext cx="5145616" cy="535302"/>
            <a:chOff x="1392" y="2261"/>
            <a:chExt cx="3555" cy="571"/>
          </a:xfrm>
        </p:grpSpPr>
        <p:sp>
          <p:nvSpPr>
            <p:cNvPr id="20" name="Line 18"/>
            <p:cNvSpPr>
              <a:spLocks noChangeShapeType="1"/>
            </p:cNvSpPr>
            <p:nvPr/>
          </p:nvSpPr>
          <p:spPr bwMode="auto">
            <a:xfrm>
              <a:off x="1392" y="2357"/>
              <a:ext cx="2082" cy="240"/>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1562" y="2261"/>
              <a:ext cx="1417" cy="466"/>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80000"/>
                </a:lnSpc>
              </a:pP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a:p>
              <a:pPr algn="ctr">
                <a:lnSpc>
                  <a:spcPct val="80000"/>
                </a:lnSpc>
              </a:pPr>
              <a:r>
                <a:rPr lang="en-US" altLang="zh-CN" sz="1400" b="1" dirty="0">
                  <a:solidFill>
                    <a:srgbClr val="0000FF"/>
                  </a:solidFill>
                  <a:latin typeface="微软雅黑" panose="020B0503020204020204" pitchFamily="34" charset="-122"/>
                  <a:ea typeface="微软雅黑" panose="020B0503020204020204" pitchFamily="34" charset="-122"/>
                </a:rPr>
                <a:t>cookie: </a:t>
              </a:r>
              <a:r>
                <a:rPr lang="en-US" altLang="zh-CN" sz="1400" b="1" dirty="0" smtClean="0">
                  <a:solidFill>
                    <a:srgbClr val="0000FF"/>
                  </a:solidFill>
                  <a:latin typeface="微软雅黑" panose="020B0503020204020204" pitchFamily="34" charset="-122"/>
                  <a:ea typeface="微软雅黑" panose="020B0503020204020204" pitchFamily="34" charset="-122"/>
                </a:rPr>
                <a:t>ad42</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2" name="Text Box 20"/>
            <p:cNvSpPr txBox="1">
              <a:spLocks noChangeArrowheads="1"/>
            </p:cNvSpPr>
            <p:nvPr/>
          </p:nvSpPr>
          <p:spPr bwMode="auto">
            <a:xfrm>
              <a:off x="3508" y="2504"/>
              <a:ext cx="411"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solidFill>
                    <a:srgbClr val="0000FF"/>
                  </a:solidFill>
                  <a:latin typeface="微软雅黑" panose="020B0503020204020204" pitchFamily="34" charset="-122"/>
                  <a:ea typeface="微软雅黑" panose="020B0503020204020204" pitchFamily="34" charset="-122"/>
                </a:rPr>
                <a:t>处理</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3" name="Line 21"/>
            <p:cNvSpPr>
              <a:spLocks noChangeShapeType="1"/>
            </p:cNvSpPr>
            <p:nvPr/>
          </p:nvSpPr>
          <p:spPr bwMode="auto">
            <a:xfrm flipV="1">
              <a:off x="3967" y="2439"/>
              <a:ext cx="980" cy="228"/>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4252" y="2400"/>
              <a:ext cx="34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latin typeface="微软雅黑" panose="020B0503020204020204" pitchFamily="34" charset="-122"/>
                  <a:ea typeface="微软雅黑" panose="020B0503020204020204" pitchFamily="34" charset="-122"/>
                </a:rPr>
                <a:t>访问</a:t>
              </a:r>
              <a:endParaRPr lang="en-US" altLang="zh-CN" sz="1200" b="1" dirty="0">
                <a:latin typeface="微软雅黑" panose="020B0503020204020204" pitchFamily="34" charset="-122"/>
                <a:ea typeface="微软雅黑" panose="020B0503020204020204" pitchFamily="34" charset="-122"/>
              </a:endParaRPr>
            </a:p>
          </p:txBody>
        </p:sp>
      </p:grpSp>
      <p:grpSp>
        <p:nvGrpSpPr>
          <p:cNvPr id="27" name="Group 25"/>
          <p:cNvGrpSpPr/>
          <p:nvPr/>
        </p:nvGrpSpPr>
        <p:grpSpPr bwMode="auto">
          <a:xfrm>
            <a:off x="1119464" y="1723191"/>
            <a:ext cx="1139100" cy="455616"/>
            <a:chOff x="527" y="1047"/>
            <a:chExt cx="855" cy="486"/>
          </a:xfrm>
        </p:grpSpPr>
        <p:sp>
          <p:nvSpPr>
            <p:cNvPr id="28" name="AutoShape 26"/>
            <p:cNvSpPr>
              <a:spLocks noChangeArrowheads="1"/>
            </p:cNvSpPr>
            <p:nvPr/>
          </p:nvSpPr>
          <p:spPr bwMode="auto">
            <a:xfrm>
              <a:off x="527" y="1047"/>
              <a:ext cx="855"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7"/>
            <p:cNvSpPr txBox="1">
              <a:spLocks noChangeArrowheads="1"/>
            </p:cNvSpPr>
            <p:nvPr/>
          </p:nvSpPr>
          <p:spPr bwMode="auto">
            <a:xfrm>
              <a:off x="560" y="1134"/>
              <a:ext cx="751"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solidFill>
                    <a:schemeClr val="bg1"/>
                  </a:solidFill>
                  <a:latin typeface="微软雅黑" panose="020B0503020204020204" pitchFamily="34" charset="-122"/>
                  <a:ea typeface="微软雅黑" panose="020B0503020204020204" pitchFamily="34" charset="-122"/>
                </a:rPr>
                <a:t>JD 1234</a:t>
              </a:r>
              <a:endParaRPr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0" name="AutoShape 28"/>
          <p:cNvSpPr>
            <a:spLocks noChangeArrowheads="1"/>
          </p:cNvSpPr>
          <p:nvPr/>
        </p:nvSpPr>
        <p:spPr bwMode="auto">
          <a:xfrm>
            <a:off x="7565597" y="2623173"/>
            <a:ext cx="544020" cy="516595"/>
          </a:xfrm>
          <a:prstGeom prst="can">
            <a:avLst>
              <a:gd name="adj" fmla="val 39157"/>
            </a:avLst>
          </a:prstGeom>
          <a:solidFill>
            <a:srgbClr val="0099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9"/>
          <p:cNvGrpSpPr/>
          <p:nvPr/>
        </p:nvGrpSpPr>
        <p:grpSpPr bwMode="auto">
          <a:xfrm>
            <a:off x="2243909" y="1837564"/>
            <a:ext cx="5407917" cy="996543"/>
            <a:chOff x="1386" y="1259"/>
            <a:chExt cx="3719" cy="1063"/>
          </a:xfrm>
        </p:grpSpPr>
        <p:sp>
          <p:nvSpPr>
            <p:cNvPr id="32" name="Line 30"/>
            <p:cNvSpPr>
              <a:spLocks noChangeShapeType="1"/>
            </p:cNvSpPr>
            <p:nvPr/>
          </p:nvSpPr>
          <p:spPr bwMode="auto">
            <a:xfrm>
              <a:off x="1386" y="1364"/>
              <a:ext cx="2109" cy="200"/>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Text Box 31"/>
            <p:cNvSpPr txBox="1">
              <a:spLocks noChangeArrowheads="1"/>
            </p:cNvSpPr>
            <p:nvPr/>
          </p:nvSpPr>
          <p:spPr bwMode="auto">
            <a:xfrm>
              <a:off x="1627" y="1259"/>
              <a:ext cx="1381"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p:txBody>
        </p:sp>
        <p:sp>
          <p:nvSpPr>
            <p:cNvPr id="34" name="Text Box 32"/>
            <p:cNvSpPr txBox="1">
              <a:spLocks noChangeArrowheads="1"/>
            </p:cNvSpPr>
            <p:nvPr/>
          </p:nvSpPr>
          <p:spPr bwMode="auto">
            <a:xfrm>
              <a:off x="3467" y="1364"/>
              <a:ext cx="982" cy="6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rgbClr val="0000FF"/>
                  </a:solidFill>
                  <a:latin typeface="微软雅黑" panose="020B0503020204020204" pitchFamily="34" charset="-122"/>
                  <a:ea typeface="微软雅黑" panose="020B0503020204020204" pitchFamily="34" charset="-122"/>
                </a:rPr>
                <a:t>JD </a:t>
              </a:r>
              <a:r>
                <a:rPr lang="zh-CN" altLang="en-US" sz="1200" b="1" dirty="0" smtClean="0">
                  <a:solidFill>
                    <a:srgbClr val="0000FF"/>
                  </a:solidFill>
                  <a:latin typeface="微软雅黑" panose="020B0503020204020204" pitchFamily="34" charset="-122"/>
                  <a:ea typeface="微软雅黑" panose="020B0503020204020204" pitchFamily="34" charset="-122"/>
                </a:rPr>
                <a:t>服务器为</a:t>
              </a:r>
              <a:r>
                <a:rPr lang="zh-CN" altLang="en-US" sz="1200" b="1" dirty="0">
                  <a:solidFill>
                    <a:srgbClr val="0000FF"/>
                  </a:solidFill>
                  <a:latin typeface="微软雅黑" panose="020B0503020204020204" pitchFamily="34" charset="-122"/>
                  <a:ea typeface="微软雅黑" panose="020B0503020204020204" pitchFamily="34" charset="-122"/>
                </a:rPr>
                <a:t>用户创建</a:t>
              </a:r>
              <a:r>
                <a:rPr lang="zh-CN" altLang="en-US" sz="1200" b="1" dirty="0" smtClean="0">
                  <a:solidFill>
                    <a:srgbClr val="C00000"/>
                  </a:solidFill>
                  <a:latin typeface="微软雅黑" panose="020B0503020204020204" pitchFamily="34" charset="-122"/>
                  <a:ea typeface="微软雅黑" panose="020B0503020204020204" pitchFamily="34" charset="-122"/>
                </a:rPr>
                <a:t>唯一</a:t>
              </a:r>
              <a:r>
                <a:rPr lang="zh-CN" altLang="en-US" sz="1200" b="1" dirty="0" smtClean="0">
                  <a:solidFill>
                    <a:srgbClr val="0000FF"/>
                  </a:solidFill>
                  <a:latin typeface="微软雅黑" panose="020B0503020204020204" pitchFamily="34" charset="-122"/>
                  <a:ea typeface="微软雅黑" panose="020B0503020204020204" pitchFamily="34" charset="-122"/>
                </a:rPr>
                <a:t>识别码</a:t>
              </a:r>
              <a:r>
                <a:rPr lang="en-US" altLang="zh-CN" sz="1200" b="1" dirty="0" smtClean="0">
                  <a:solidFill>
                    <a:srgbClr val="0000FF"/>
                  </a:solidFill>
                  <a:latin typeface="微软雅黑" panose="020B0503020204020204" pitchFamily="34" charset="-122"/>
                  <a:ea typeface="微软雅黑" panose="020B0503020204020204" pitchFamily="34" charset="-122"/>
                </a:rPr>
                <a:t>ad42</a:t>
              </a:r>
              <a:endParaRPr lang="en-US" altLang="zh-CN" sz="1200" b="1" dirty="0">
                <a:solidFill>
                  <a:srgbClr val="0000FF"/>
                </a:solidFill>
                <a:latin typeface="微软雅黑" panose="020B0503020204020204" pitchFamily="34" charset="-122"/>
                <a:ea typeface="微软雅黑" panose="020B0503020204020204" pitchFamily="34" charset="-122"/>
              </a:endParaRPr>
            </a:p>
          </p:txBody>
        </p:sp>
        <p:grpSp>
          <p:nvGrpSpPr>
            <p:cNvPr id="35" name="Group 33"/>
            <p:cNvGrpSpPr/>
            <p:nvPr/>
          </p:nvGrpSpPr>
          <p:grpSpPr bwMode="auto">
            <a:xfrm>
              <a:off x="4195" y="1723"/>
              <a:ext cx="910" cy="599"/>
              <a:chOff x="4195" y="1633"/>
              <a:chExt cx="910" cy="599"/>
            </a:xfrm>
          </p:grpSpPr>
          <p:sp>
            <p:nvSpPr>
              <p:cNvPr id="36" name="Line 34"/>
              <p:cNvSpPr>
                <a:spLocks noChangeShapeType="1"/>
              </p:cNvSpPr>
              <p:nvPr/>
            </p:nvSpPr>
            <p:spPr bwMode="auto">
              <a:xfrm>
                <a:off x="4407" y="1633"/>
                <a:ext cx="574" cy="599"/>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Text Box 36"/>
              <p:cNvSpPr txBox="1">
                <a:spLocks noChangeArrowheads="1"/>
              </p:cNvSpPr>
              <p:nvPr/>
            </p:nvSpPr>
            <p:spPr bwMode="auto">
              <a:xfrm>
                <a:off x="4195" y="1796"/>
                <a:ext cx="910" cy="248"/>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75000"/>
                  </a:lnSpc>
                </a:pPr>
                <a:r>
                  <a:rPr lang="zh-CN" altLang="en-US" sz="1200" b="1" dirty="0">
                    <a:latin typeface="微软雅黑" panose="020B0503020204020204" pitchFamily="34" charset="-122"/>
                    <a:ea typeface="微软雅黑" panose="020B0503020204020204" pitchFamily="34" charset="-122"/>
                  </a:rPr>
                  <a:t>产生一个项目</a:t>
                </a:r>
                <a:endParaRPr lang="en-US" altLang="zh-CN" sz="1200" b="1" dirty="0">
                  <a:latin typeface="微软雅黑" panose="020B0503020204020204" pitchFamily="34" charset="-122"/>
                  <a:ea typeface="微软雅黑" panose="020B0503020204020204" pitchFamily="34" charset="-122"/>
                </a:endParaRPr>
              </a:p>
            </p:txBody>
          </p:sp>
        </p:grpSp>
      </p:grpSp>
      <p:grpSp>
        <p:nvGrpSpPr>
          <p:cNvPr id="39" name="Group 37"/>
          <p:cNvGrpSpPr/>
          <p:nvPr/>
        </p:nvGrpSpPr>
        <p:grpSpPr bwMode="auto">
          <a:xfrm>
            <a:off x="1139448" y="2213269"/>
            <a:ext cx="4130071" cy="754672"/>
            <a:chOff x="195" y="1584"/>
            <a:chExt cx="3100" cy="805"/>
          </a:xfrm>
        </p:grpSpPr>
        <p:sp>
          <p:nvSpPr>
            <p:cNvPr id="40" name="Line 38"/>
            <p:cNvSpPr>
              <a:spLocks noChangeShapeType="1"/>
            </p:cNvSpPr>
            <p:nvPr/>
          </p:nvSpPr>
          <p:spPr bwMode="auto">
            <a:xfrm flipH="1">
              <a:off x="1057" y="1683"/>
              <a:ext cx="2238" cy="406"/>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Text Box 39"/>
            <p:cNvSpPr txBox="1">
              <a:spLocks noChangeArrowheads="1"/>
            </p:cNvSpPr>
            <p:nvPr/>
          </p:nvSpPr>
          <p:spPr bwMode="auto">
            <a:xfrm>
              <a:off x="1271" y="1584"/>
              <a:ext cx="1523" cy="55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响应</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a:latin typeface="微软雅黑" panose="020B0503020204020204" pitchFamily="34" charset="-122"/>
                <a:ea typeface="微软雅黑" panose="020B0503020204020204" pitchFamily="34" charset="-122"/>
              </a:endParaRPr>
            </a:p>
            <a:p>
              <a:pPr algn="ctr"/>
              <a:r>
                <a:rPr lang="en-US" altLang="zh-CN" sz="1400" b="1" dirty="0" smtClean="0">
                  <a:solidFill>
                    <a:srgbClr val="0000FF"/>
                  </a:solidFill>
                  <a:latin typeface="微软雅黑" panose="020B0503020204020204" pitchFamily="34" charset="-122"/>
                  <a:ea typeface="微软雅黑" panose="020B0503020204020204" pitchFamily="34" charset="-122"/>
                </a:rPr>
                <a:t>set-cookie</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ad42 </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grpSp>
          <p:nvGrpSpPr>
            <p:cNvPr id="42" name="Group 40"/>
            <p:cNvGrpSpPr/>
            <p:nvPr/>
          </p:nvGrpSpPr>
          <p:grpSpPr bwMode="auto">
            <a:xfrm>
              <a:off x="195" y="1836"/>
              <a:ext cx="829" cy="553"/>
              <a:chOff x="420" y="1746"/>
              <a:chExt cx="829" cy="553"/>
            </a:xfrm>
          </p:grpSpPr>
          <p:sp>
            <p:nvSpPr>
              <p:cNvPr id="43" name="AutoShape 41"/>
              <p:cNvSpPr>
                <a:spLocks noChangeArrowheads="1"/>
              </p:cNvSpPr>
              <p:nvPr/>
            </p:nvSpPr>
            <p:spPr bwMode="auto">
              <a:xfrm>
                <a:off x="420" y="1746"/>
                <a:ext cx="829"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4" name="Text Box 42"/>
              <p:cNvSpPr txBox="1">
                <a:spLocks noChangeArrowheads="1"/>
              </p:cNvSpPr>
              <p:nvPr/>
            </p:nvSpPr>
            <p:spPr bwMode="auto">
              <a:xfrm>
                <a:off x="455" y="1807"/>
                <a:ext cx="763"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JD 1234</a:t>
                </a:r>
                <a:endParaRPr lang="en-US" altLang="zh-CN" sz="1200" b="1" dirty="0">
                  <a:solidFill>
                    <a:schemeClr val="bg1"/>
                  </a:solidFill>
                  <a:latin typeface="微软雅黑" panose="020B0503020204020204" pitchFamily="34" charset="-122"/>
                  <a:ea typeface="微软雅黑" panose="020B0503020204020204" pitchFamily="34" charset="-122"/>
                </a:endParaRPr>
              </a:p>
              <a:p>
                <a:pPr algn="ctr"/>
                <a:r>
                  <a:rPr lang="en-US" altLang="zh-CN" sz="1200" b="1" dirty="0" smtClean="0">
                    <a:solidFill>
                      <a:schemeClr val="bg1"/>
                    </a:solidFill>
                    <a:latin typeface="微软雅黑" panose="020B0503020204020204" pitchFamily="34" charset="-122"/>
                    <a:ea typeface="微软雅黑" panose="020B0503020204020204" pitchFamily="34" charset="-122"/>
                  </a:rPr>
                  <a:t>ad42</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grpSp>
      </p:grpSp>
      <p:grpSp>
        <p:nvGrpSpPr>
          <p:cNvPr id="45" name="Group 43"/>
          <p:cNvGrpSpPr/>
          <p:nvPr/>
        </p:nvGrpSpPr>
        <p:grpSpPr bwMode="auto">
          <a:xfrm>
            <a:off x="2332972" y="3071515"/>
            <a:ext cx="5171915" cy="1143727"/>
            <a:chOff x="1374" y="2480"/>
            <a:chExt cx="3882" cy="1220"/>
          </a:xfrm>
        </p:grpSpPr>
        <p:sp>
          <p:nvSpPr>
            <p:cNvPr id="46" name="Line 44"/>
            <p:cNvSpPr>
              <a:spLocks noChangeShapeType="1"/>
            </p:cNvSpPr>
            <p:nvPr/>
          </p:nvSpPr>
          <p:spPr bwMode="auto">
            <a:xfrm>
              <a:off x="1374" y="3293"/>
              <a:ext cx="2235" cy="158"/>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7" name="Text Box 45"/>
            <p:cNvSpPr txBox="1">
              <a:spLocks noChangeArrowheads="1"/>
            </p:cNvSpPr>
            <p:nvPr/>
          </p:nvSpPr>
          <p:spPr bwMode="auto">
            <a:xfrm>
              <a:off x="1561" y="3171"/>
              <a:ext cx="1531" cy="466"/>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80000"/>
                </a:lnSpc>
              </a:pP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endParaRPr lang="zh-CN" altLang="en-US" sz="1400" b="1" dirty="0">
                <a:latin typeface="微软雅黑" panose="020B0503020204020204" pitchFamily="34" charset="-122"/>
                <a:ea typeface="微软雅黑" panose="020B0503020204020204" pitchFamily="34" charset="-122"/>
              </a:endParaRPr>
            </a:p>
            <a:p>
              <a:pPr algn="ctr">
                <a:lnSpc>
                  <a:spcPct val="80000"/>
                </a:lnSpc>
              </a:pPr>
              <a:r>
                <a:rPr lang="en-US" altLang="zh-CN" sz="1400" b="1" dirty="0">
                  <a:latin typeface="微软雅黑" panose="020B0503020204020204" pitchFamily="34" charset="-122"/>
                  <a:ea typeface="微软雅黑" panose="020B0503020204020204" pitchFamily="34" charset="-122"/>
                </a:rPr>
                <a:t>cookie: ad42</a:t>
              </a:r>
              <a:endParaRPr lang="en-US" altLang="zh-CN" sz="1400" b="1" dirty="0">
                <a:latin typeface="微软雅黑" panose="020B0503020204020204" pitchFamily="34" charset="-122"/>
                <a:ea typeface="微软雅黑" panose="020B0503020204020204" pitchFamily="34" charset="-122"/>
              </a:endParaRPr>
            </a:p>
          </p:txBody>
        </p:sp>
        <p:sp>
          <p:nvSpPr>
            <p:cNvPr id="48" name="Text Box 46"/>
            <p:cNvSpPr txBox="1">
              <a:spLocks noChangeArrowheads="1"/>
            </p:cNvSpPr>
            <p:nvPr/>
          </p:nvSpPr>
          <p:spPr bwMode="auto">
            <a:xfrm>
              <a:off x="3706" y="3372"/>
              <a:ext cx="408"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处理</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49" name="Line 47"/>
            <p:cNvSpPr>
              <a:spLocks noChangeShapeType="1"/>
            </p:cNvSpPr>
            <p:nvPr/>
          </p:nvSpPr>
          <p:spPr bwMode="auto">
            <a:xfrm flipV="1">
              <a:off x="4211" y="2480"/>
              <a:ext cx="1045" cy="971"/>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0" name="Text Box 48"/>
            <p:cNvSpPr txBox="1">
              <a:spLocks noChangeArrowheads="1"/>
            </p:cNvSpPr>
            <p:nvPr/>
          </p:nvSpPr>
          <p:spPr bwMode="auto">
            <a:xfrm>
              <a:off x="4494" y="2844"/>
              <a:ext cx="37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latin typeface="微软雅黑" panose="020B0503020204020204" pitchFamily="34" charset="-122"/>
                  <a:ea typeface="微软雅黑" panose="020B0503020204020204" pitchFamily="34" charset="-122"/>
                </a:rPr>
                <a:t>访问</a:t>
              </a:r>
              <a:endParaRPr lang="zh-CN" altLang="en-US" sz="1200" b="1" dirty="0">
                <a:latin typeface="微软雅黑" panose="020B0503020204020204" pitchFamily="34" charset="-122"/>
                <a:ea typeface="微软雅黑" panose="020B0503020204020204" pitchFamily="34" charset="-122"/>
              </a:endParaRPr>
            </a:p>
          </p:txBody>
        </p:sp>
      </p:grpSp>
      <p:grpSp>
        <p:nvGrpSpPr>
          <p:cNvPr id="59" name="组合 58"/>
          <p:cNvGrpSpPr/>
          <p:nvPr/>
        </p:nvGrpSpPr>
        <p:grpSpPr>
          <a:xfrm>
            <a:off x="777810" y="3396225"/>
            <a:ext cx="1613074" cy="816038"/>
            <a:chOff x="777810" y="3396225"/>
            <a:chExt cx="1613074" cy="816038"/>
          </a:xfrm>
        </p:grpSpPr>
        <p:sp>
          <p:nvSpPr>
            <p:cNvPr id="18" name="Text Box 16"/>
            <p:cNvSpPr txBox="1">
              <a:spLocks noChangeArrowheads="1"/>
            </p:cNvSpPr>
            <p:nvPr/>
          </p:nvSpPr>
          <p:spPr bwMode="auto">
            <a:xfrm>
              <a:off x="777810" y="339622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a:latin typeface="微软雅黑" panose="020B0503020204020204" pitchFamily="34" charset="-122"/>
                  <a:ea typeface="微软雅黑" panose="020B0503020204020204" pitchFamily="34" charset="-122"/>
                </a:rPr>
                <a:t>几天后</a:t>
              </a:r>
              <a:endParaRPr lang="en-US" altLang="zh-CN" sz="1400" b="1" dirty="0">
                <a:latin typeface="微软雅黑" panose="020B0503020204020204" pitchFamily="34" charset="-122"/>
                <a:ea typeface="微软雅黑" panose="020B0503020204020204" pitchFamily="34" charset="-122"/>
              </a:endParaRPr>
            </a:p>
          </p:txBody>
        </p:sp>
        <p:grpSp>
          <p:nvGrpSpPr>
            <p:cNvPr id="51" name="Group 49"/>
            <p:cNvGrpSpPr/>
            <p:nvPr/>
          </p:nvGrpSpPr>
          <p:grpSpPr bwMode="auto">
            <a:xfrm>
              <a:off x="1053274" y="3696648"/>
              <a:ext cx="1337610" cy="515615"/>
              <a:chOff x="666" y="1746"/>
              <a:chExt cx="1004" cy="550"/>
            </a:xfrm>
          </p:grpSpPr>
          <p:sp>
            <p:nvSpPr>
              <p:cNvPr id="52" name="AutoShape 50"/>
              <p:cNvSpPr>
                <a:spLocks noChangeArrowheads="1"/>
              </p:cNvSpPr>
              <p:nvPr/>
            </p:nvSpPr>
            <p:spPr bwMode="auto">
              <a:xfrm>
                <a:off x="735" y="1746"/>
                <a:ext cx="829"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3" name="Text Box 51"/>
              <p:cNvSpPr txBox="1">
                <a:spLocks noChangeArrowheads="1"/>
              </p:cNvSpPr>
              <p:nvPr/>
            </p:nvSpPr>
            <p:spPr bwMode="auto">
              <a:xfrm>
                <a:off x="666" y="1804"/>
                <a:ext cx="1004"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JD 1234</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en-US" altLang="zh-CN" sz="1200" b="1" dirty="0" smtClean="0">
                    <a:solidFill>
                      <a:schemeClr val="bg1"/>
                    </a:solidFill>
                    <a:latin typeface="微软雅黑" panose="020B0503020204020204" pitchFamily="34" charset="-122"/>
                    <a:ea typeface="微软雅黑" panose="020B0503020204020204" pitchFamily="34" charset="-122"/>
                  </a:rPr>
                  <a:t>ad42</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grpSp>
      </p:grpSp>
      <p:sp>
        <p:nvSpPr>
          <p:cNvPr id="54" name="Text Box 52"/>
          <p:cNvSpPr txBox="1">
            <a:spLocks noChangeArrowheads="1"/>
          </p:cNvSpPr>
          <p:nvPr/>
        </p:nvSpPr>
        <p:spPr bwMode="auto">
          <a:xfrm>
            <a:off x="7504887" y="3158476"/>
            <a:ext cx="723275" cy="523220"/>
          </a:xfrm>
          <a:prstGeom prst="rect">
            <a:avLst/>
          </a:prstGeom>
          <a:noFill/>
          <a:ln>
            <a:noFill/>
          </a:ln>
          <a:effec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solidFill>
                  <a:srgbClr val="C00000"/>
                </a:solidFill>
                <a:latin typeface="微软雅黑" panose="020B0503020204020204" pitchFamily="34" charset="-122"/>
                <a:ea typeface="微软雅黑" panose="020B0503020204020204" pitchFamily="34" charset="-122"/>
              </a:rPr>
              <a:t>后台</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r>
              <a:rPr lang="zh-CN" altLang="en-US" sz="1400" b="1" dirty="0" smtClean="0">
                <a:solidFill>
                  <a:srgbClr val="C00000"/>
                </a:solidFill>
                <a:latin typeface="微软雅黑" panose="020B0503020204020204" pitchFamily="34" charset="-122"/>
                <a:ea typeface="微软雅黑" panose="020B0503020204020204" pitchFamily="34" charset="-122"/>
              </a:rPr>
              <a:t>数据库</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56" name="Rectangle 6"/>
          <p:cNvSpPr>
            <a:spLocks noChangeArrowheads="1"/>
          </p:cNvSpPr>
          <p:nvPr/>
        </p:nvSpPr>
        <p:spPr bwMode="auto">
          <a:xfrm>
            <a:off x="5592513" y="1399786"/>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7" name="Rectangle 7"/>
          <p:cNvSpPr>
            <a:spLocks noChangeArrowheads="1"/>
          </p:cNvSpPr>
          <p:nvPr/>
        </p:nvSpPr>
        <p:spPr bwMode="auto">
          <a:xfrm>
            <a:off x="1403785" y="1399786"/>
            <a:ext cx="72936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smtClean="0">
                <a:latin typeface="微软雅黑" panose="020B0503020204020204" pitchFamily="34" charset="-122"/>
                <a:ea typeface="微软雅黑" panose="020B0503020204020204" pitchFamily="34" charset="-122"/>
              </a:rPr>
              <a:t>用户 </a:t>
            </a:r>
            <a:r>
              <a:rPr kumimoji="1" lang="en-US" altLang="zh-CN" sz="1400" b="1" dirty="0" smtClean="0">
                <a:latin typeface="微软雅黑" panose="020B0503020204020204" pitchFamily="34" charset="-122"/>
                <a:ea typeface="微软雅黑" panose="020B0503020204020204" pitchFamily="34" charset="-122"/>
              </a:rPr>
              <a:t>A</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right)">
                                      <p:cBhvr>
                                        <p:cTn id="12" dur="10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1000"/>
                                        <p:tgtEl>
                                          <p:spTgt spid="19"/>
                                        </p:tgtEl>
                                      </p:cBhvr>
                                    </p:animEffect>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right)">
                                      <p:cBhvr>
                                        <p:cTn id="21" dur="10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wipe(left)">
                                      <p:cBhvr>
                                        <p:cTn id="30" dur="1000"/>
                                        <p:tgtEl>
                                          <p:spTgt spid="45"/>
                                        </p:tgtEl>
                                      </p:cBhvr>
                                    </p:animEffect>
                                  </p:childTnLst>
                                </p:cTn>
                              </p:par>
                            </p:childTnLst>
                          </p:cTn>
                        </p:par>
                        <p:par>
                          <p:cTn id="31" fill="hold">
                            <p:stCondLst>
                              <p:cond delay="1000"/>
                            </p:stCondLst>
                            <p:childTnLst>
                              <p:par>
                                <p:cTn id="32" presetID="22" presetClass="entr" presetSubtype="2"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right)">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23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7010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6.4.4  </a:t>
            </a:r>
            <a:r>
              <a:rPr lang="zh-CN" altLang="en-US" sz="2400" b="1" dirty="0">
                <a:solidFill>
                  <a:schemeClr val="bg1"/>
                </a:solidFill>
                <a:latin typeface="微软雅黑" panose="020B0503020204020204" pitchFamily="34" charset="-122"/>
                <a:ea typeface="微软雅黑" panose="020B0503020204020204" pitchFamily="34" charset="-122"/>
              </a:rPr>
              <a:t>万维网的文档</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91955"/>
            <a:ext cx="8048776" cy="25160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一个客户程序主窗口上显示出的万维网文档称为</a:t>
            </a:r>
            <a:r>
              <a:rPr lang="zh-CN" altLang="en-US" sz="2000" b="1" dirty="0">
                <a:solidFill>
                  <a:srgbClr val="C00000"/>
                </a:solidFill>
                <a:latin typeface="微软雅黑" panose="020B0503020204020204" pitchFamily="34" charset="-122"/>
                <a:ea typeface="微软雅黑" panose="020B0503020204020204" pitchFamily="34" charset="-122"/>
              </a:rPr>
              <a:t>页面</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(page)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页面制作的标准语言：</a:t>
            </a:r>
            <a:r>
              <a:rPr lang="en-US" altLang="zh-CN" sz="2000" b="1" dirty="0" smtClean="0">
                <a:solidFill>
                  <a:srgbClr val="C00000"/>
                </a:solidFill>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分为：</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静态</a:t>
            </a:r>
            <a:r>
              <a:rPr lang="zh-CN" altLang="en-US" sz="2000" b="1" dirty="0">
                <a:latin typeface="微软雅黑" panose="020B0503020204020204" pitchFamily="34" charset="-122"/>
                <a:ea typeface="微软雅黑" panose="020B0503020204020204" pitchFamily="34" charset="-122"/>
              </a:rPr>
              <a:t>万维网文档。内容不会改变。简单。</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动态</a:t>
            </a:r>
            <a:r>
              <a:rPr lang="zh-CN" altLang="en-US" sz="2000" b="1" dirty="0">
                <a:latin typeface="微软雅黑" panose="020B0503020204020204" pitchFamily="34" charset="-122"/>
                <a:ea typeface="微软雅黑" panose="020B0503020204020204" pitchFamily="34" charset="-122"/>
              </a:rPr>
              <a:t>万维网文档。文档的</a:t>
            </a:r>
            <a:r>
              <a:rPr lang="zh-CN" altLang="en-US" sz="2000" b="1" dirty="0" smtClean="0">
                <a:latin typeface="微软雅黑" panose="020B0503020204020204" pitchFamily="34" charset="-122"/>
                <a:ea typeface="微软雅黑" panose="020B0503020204020204" pitchFamily="34" charset="-122"/>
              </a:rPr>
              <a:t>内容由</a:t>
            </a:r>
            <a:r>
              <a:rPr lang="zh-CN" altLang="en-US" sz="2000" b="1" dirty="0">
                <a:latin typeface="微软雅黑" panose="020B0503020204020204" pitchFamily="34" charset="-122"/>
                <a:ea typeface="微软雅黑" panose="020B0503020204020204" pitchFamily="34" charset="-122"/>
              </a:rPr>
              <a:t>应用程序动态</a:t>
            </a:r>
            <a:r>
              <a:rPr lang="zh-CN" altLang="en-US" sz="2000" b="1" dirty="0" smtClean="0">
                <a:latin typeface="微软雅黑" panose="020B0503020204020204" pitchFamily="34" charset="-122"/>
                <a:ea typeface="微软雅黑" panose="020B0503020204020204" pitchFamily="34" charset="-122"/>
              </a:rPr>
              <a:t>创建。</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活动</a:t>
            </a:r>
            <a:r>
              <a:rPr lang="zh-CN" altLang="en-US" sz="2000" b="1" dirty="0">
                <a:latin typeface="微软雅黑" panose="020B0503020204020204" pitchFamily="34" charset="-122"/>
                <a:ea typeface="微软雅黑" panose="020B0503020204020204" pitchFamily="34" charset="-122"/>
              </a:rPr>
              <a:t>万维网文档</a:t>
            </a:r>
            <a:r>
              <a:rPr lang="zh-CN" altLang="en-US" sz="2000" b="1" dirty="0" smtClean="0">
                <a:latin typeface="微软雅黑" panose="020B0503020204020204" pitchFamily="34" charset="-122"/>
                <a:ea typeface="微软雅黑" panose="020B0503020204020204" pitchFamily="34" charset="-122"/>
              </a:rPr>
              <a:t>。由</a:t>
            </a:r>
            <a:r>
              <a:rPr lang="zh-CN" altLang="en-US" sz="2000" b="1" dirty="0">
                <a:latin typeface="微软雅黑" panose="020B0503020204020204" pitchFamily="34" charset="-122"/>
                <a:ea typeface="微软雅黑" panose="020B0503020204020204" pitchFamily="34" charset="-122"/>
              </a:rPr>
              <a:t>浏览器端改变</a:t>
            </a:r>
            <a:r>
              <a:rPr lang="zh-CN" altLang="en-US" sz="2000" b="1" dirty="0" smtClean="0">
                <a:latin typeface="微软雅黑" panose="020B0503020204020204" pitchFamily="34" charset="-122"/>
                <a:ea typeface="微软雅黑" panose="020B0503020204020204" pitchFamily="34" charset="-122"/>
              </a:rPr>
              <a:t>文档的内容。</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8"/>
          <p:cNvSpPr>
            <a:spLocks noChangeArrowheads="1"/>
          </p:cNvSpPr>
          <p:nvPr/>
        </p:nvSpPr>
        <p:spPr bwMode="auto">
          <a:xfrm>
            <a:off x="556963" y="991955"/>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超文本标记</a:t>
            </a:r>
            <a:r>
              <a:rPr lang="zh-CN" altLang="en-US" sz="2000" b="1" dirty="0" smtClean="0">
                <a:latin typeface="微软雅黑" panose="020B0503020204020204" pitchFamily="34" charset="-122"/>
                <a:ea typeface="微软雅黑" panose="020B0503020204020204" pitchFamily="34" charset="-122"/>
              </a:rPr>
              <a:t>语言 </a:t>
            </a:r>
            <a:r>
              <a:rPr lang="en-US" altLang="zh-CN" sz="2000" b="1" dirty="0" smtClean="0">
                <a:latin typeface="微软雅黑" panose="020B0503020204020204" pitchFamily="34" charset="-122"/>
                <a:ea typeface="微软雅黑" panose="020B0503020204020204" pitchFamily="34" charset="-122"/>
              </a:rPr>
              <a:t>HTML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Markup Language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一种制作万维网页面的</a:t>
            </a:r>
            <a:r>
              <a:rPr lang="zh-CN" altLang="en-US" sz="2000" b="1" dirty="0">
                <a:solidFill>
                  <a:srgbClr val="C00000"/>
                </a:solidFill>
                <a:latin typeface="微软雅黑" panose="020B0503020204020204" pitchFamily="34" charset="-122"/>
                <a:ea typeface="微软雅黑" panose="020B0503020204020204" pitchFamily="34" charset="-122"/>
              </a:rPr>
              <a:t>标准语言，</a:t>
            </a:r>
            <a:r>
              <a:rPr lang="zh-CN" altLang="en-US" sz="2000" b="1" dirty="0">
                <a:latin typeface="微软雅黑" panose="020B0503020204020204" pitchFamily="34" charset="-122"/>
                <a:ea typeface="微软雅黑" panose="020B0503020204020204" pitchFamily="34" charset="-122"/>
              </a:rPr>
              <a:t>它消除了不同计算机之间信息交流的</a:t>
            </a:r>
            <a:r>
              <a:rPr lang="zh-CN" altLang="en-US" sz="2000" b="1" dirty="0" smtClean="0">
                <a:latin typeface="微软雅黑" panose="020B0503020204020204" pitchFamily="34" charset="-122"/>
                <a:ea typeface="微软雅黑" panose="020B0503020204020204" pitchFamily="34" charset="-122"/>
              </a:rPr>
              <a:t>障碍，是万维网</a:t>
            </a:r>
            <a:r>
              <a:rPr lang="zh-CN" altLang="en-US" sz="2000" b="1" dirty="0">
                <a:latin typeface="微软雅黑" panose="020B0503020204020204" pitchFamily="34" charset="-122"/>
                <a:ea typeface="微软雅黑" panose="020B0503020204020204" pitchFamily="34" charset="-122"/>
              </a:rPr>
              <a:t>的重要</a:t>
            </a:r>
            <a:r>
              <a:rPr lang="zh-CN" altLang="en-US" sz="2000" b="1" dirty="0" smtClean="0">
                <a:latin typeface="微软雅黑" panose="020B0503020204020204" pitchFamily="34" charset="-122"/>
                <a:ea typeface="微软雅黑" panose="020B0503020204020204" pitchFamily="34" charset="-122"/>
              </a:rPr>
              <a:t>基础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RFC 2854]</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最新 </a:t>
            </a:r>
            <a:r>
              <a:rPr lang="en-US" altLang="zh-CN" sz="2000" b="1" dirty="0" smtClean="0">
                <a:latin typeface="微软雅黑" panose="020B0503020204020204" pitchFamily="34" charset="-122"/>
                <a:ea typeface="微软雅黑" panose="020B0503020204020204" pitchFamily="34" charset="-122"/>
              </a:rPr>
              <a:t>HTML 5.0 </a:t>
            </a:r>
            <a:r>
              <a:rPr lang="zh-CN" altLang="en-US" sz="2000" b="1" dirty="0" smtClean="0">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了</a:t>
            </a:r>
            <a:r>
              <a:rPr lang="en-US" altLang="zh-CN" sz="2000" b="1" dirty="0">
                <a:latin typeface="微软雅黑" panose="020B0503020204020204" pitchFamily="34" charset="-122"/>
                <a:ea typeface="微软雅黑" panose="020B0503020204020204" pitchFamily="34" charset="-122"/>
              </a:rPr>
              <a:t>&lt;audio&gt;</a:t>
            </a:r>
            <a:r>
              <a:rPr lang="zh-CN" altLang="en-US" sz="2000" b="1" dirty="0">
                <a:latin typeface="微软雅黑" panose="020B0503020204020204" pitchFamily="34" charset="-122"/>
                <a:ea typeface="微软雅黑" panose="020B0503020204020204" pitchFamily="34" charset="-122"/>
              </a:rPr>
              <a:t>和</a:t>
            </a:r>
            <a:r>
              <a:rPr lang="en-US" altLang="zh-CN" sz="2000" b="1" dirty="0">
                <a:latin typeface="微软雅黑" panose="020B0503020204020204" pitchFamily="34" charset="-122"/>
                <a:ea typeface="微软雅黑" panose="020B0503020204020204" pitchFamily="34" charset="-122"/>
              </a:rPr>
              <a:t>&lt;video&gt;</a:t>
            </a:r>
            <a:r>
              <a:rPr lang="zh-CN" altLang="en-US" sz="2000" b="1" dirty="0">
                <a:latin typeface="微软雅黑" panose="020B0503020204020204" pitchFamily="34" charset="-122"/>
                <a:ea typeface="微软雅黑" panose="020B0503020204020204" pitchFamily="34" charset="-122"/>
              </a:rPr>
              <a:t>两个</a:t>
            </a:r>
            <a:r>
              <a:rPr lang="zh-CN" altLang="en-US" sz="2000" b="1" dirty="0" smtClean="0">
                <a:latin typeface="微软雅黑" panose="020B0503020204020204" pitchFamily="34" charset="-122"/>
                <a:ea typeface="微软雅黑" panose="020B0503020204020204" pitchFamily="34" charset="-122"/>
              </a:rPr>
              <a:t>标签，实现</a:t>
            </a:r>
            <a:r>
              <a:rPr lang="zh-CN" altLang="en-US" sz="2000" b="1" dirty="0">
                <a:latin typeface="微软雅黑" panose="020B0503020204020204" pitchFamily="34" charset="-122"/>
                <a:ea typeface="微软雅黑" panose="020B0503020204020204" pitchFamily="34" charset="-122"/>
              </a:rPr>
              <a:t>对多媒体中的音频、视频使用的支持，增加了能够在移动设备上支持多媒体功能。</a:t>
            </a:r>
            <a:endParaRPr lang="en-US" altLang="zh-CN" sz="2000" b="1" dirty="0" smtClean="0">
              <a:latin typeface="微软雅黑" panose="020B0503020204020204" pitchFamily="34" charset="-122"/>
              <a:ea typeface="微软雅黑" panose="020B0503020204020204" pitchFamily="34" charset="-122"/>
            </a:endParaRPr>
          </a:p>
        </p:txBody>
      </p:sp>
      <p:sp>
        <p:nvSpPr>
          <p:cNvPr id="8" name="对角圆角矩形 7"/>
          <p:cNvSpPr/>
          <p:nvPr/>
        </p:nvSpPr>
        <p:spPr>
          <a:xfrm>
            <a:off x="1530819" y="3561299"/>
            <a:ext cx="6112855"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1686759" y="3685503"/>
            <a:ext cx="5823750" cy="759182"/>
          </a:xfrm>
          <a:prstGeom prst="rect">
            <a:avLst/>
          </a:prstGeom>
        </p:spPr>
        <p:txBody>
          <a:bodyPr wrap="square">
            <a:spAutoFit/>
          </a:bodyPr>
          <a:lstStyle/>
          <a:p>
            <a:pPr eaLnBrk="0" hangingPunct="0">
              <a:lnSpc>
                <a:spcPts val="2600"/>
              </a:lnSpc>
              <a:buClr>
                <a:srgbClr val="0070C0"/>
              </a:buClr>
            </a:pPr>
            <a:r>
              <a:rPr lang="zh-CN" altLang="en-US" b="1" dirty="0">
                <a:solidFill>
                  <a:schemeClr val="bg1"/>
                </a:solidFill>
                <a:latin typeface="微软雅黑" panose="020B0503020204020204" pitchFamily="34" charset="-122"/>
                <a:ea typeface="微软雅黑" panose="020B0503020204020204" pitchFamily="34" charset="-122"/>
              </a:rPr>
              <a:t>注意：</a:t>
            </a:r>
            <a:r>
              <a:rPr lang="en-US" altLang="zh-CN" b="1" dirty="0" smtClean="0">
                <a:solidFill>
                  <a:schemeClr val="bg1"/>
                </a:solidFill>
                <a:latin typeface="微软雅黑" panose="020B0503020204020204" pitchFamily="34" charset="-122"/>
                <a:ea typeface="微软雅黑" panose="020B0503020204020204" pitchFamily="34" charset="-122"/>
              </a:rPr>
              <a:t>HTML </a:t>
            </a:r>
            <a:r>
              <a:rPr lang="zh-CN" altLang="en-US" b="1" dirty="0" smtClean="0">
                <a:solidFill>
                  <a:srgbClr val="FFFF00"/>
                </a:solidFill>
                <a:latin typeface="微软雅黑" panose="020B0503020204020204" pitchFamily="34" charset="-122"/>
                <a:ea typeface="微软雅黑" panose="020B0503020204020204" pitchFamily="34" charset="-122"/>
              </a:rPr>
              <a:t>不是</a:t>
            </a:r>
            <a:r>
              <a:rPr lang="zh-CN" altLang="en-US" b="1" dirty="0">
                <a:solidFill>
                  <a:schemeClr val="bg1"/>
                </a:solidFill>
                <a:latin typeface="微软雅黑" panose="020B0503020204020204" pitchFamily="34" charset="-122"/>
                <a:ea typeface="微软雅黑" panose="020B0503020204020204" pitchFamily="34" charset="-122"/>
              </a:rPr>
              <a:t>应用层的协议，它只是万维网</a:t>
            </a:r>
            <a:r>
              <a:rPr lang="zh-CN" altLang="en-US" b="1" dirty="0">
                <a:solidFill>
                  <a:srgbClr val="FFFF00"/>
                </a:solidFill>
                <a:latin typeface="微软雅黑" panose="020B0503020204020204" pitchFamily="34" charset="-122"/>
                <a:ea typeface="微软雅黑" panose="020B0503020204020204" pitchFamily="34" charset="-122"/>
              </a:rPr>
              <a:t>浏览器使用的一种语言</a:t>
            </a:r>
            <a:r>
              <a:rPr lang="zh-CN" altLang="en-US" b="1" dirty="0" smtClean="0">
                <a:solidFill>
                  <a:srgbClr val="FFFF00"/>
                </a:solidFill>
                <a:latin typeface="微软雅黑" panose="020B0503020204020204" pitchFamily="34" charset="-122"/>
                <a:ea typeface="微软雅黑" panose="020B0503020204020204" pitchFamily="34" charset="-122"/>
              </a:rPr>
              <a:t>。</a:t>
            </a:r>
            <a:endParaRPr lang="zh-CN" altLang="en-US" b="1" dirty="0">
              <a:solidFill>
                <a:srgbClr val="FFFF00"/>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超文本标记语言 </a:t>
            </a:r>
            <a:r>
              <a:rPr lang="en-US" altLang="zh-CN" sz="2000" b="1" dirty="0">
                <a:solidFill>
                  <a:schemeClr val="bg1"/>
                </a:solidFill>
                <a:latin typeface="微软雅黑" panose="020B0503020204020204" pitchFamily="34" charset="-122"/>
                <a:ea typeface="微软雅黑" panose="020B0503020204020204" pitchFamily="34" charset="-122"/>
              </a:rPr>
              <a:t>HTML</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超文本标记语言 </a:t>
            </a:r>
            <a:r>
              <a:rPr lang="en-US" altLang="zh-CN" sz="2000" b="1" dirty="0">
                <a:solidFill>
                  <a:schemeClr val="bg1"/>
                </a:solidFill>
                <a:latin typeface="微软雅黑" panose="020B0503020204020204" pitchFamily="34" charset="-122"/>
                <a:ea typeface="微软雅黑" panose="020B0503020204020204" pitchFamily="34" charset="-122"/>
              </a:rPr>
              <a:t>HTML</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6851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定义了许多用于</a:t>
            </a:r>
            <a:r>
              <a:rPr lang="zh-CN" altLang="en-US" sz="2000" b="1" dirty="0">
                <a:solidFill>
                  <a:srgbClr val="C00000"/>
                </a:solidFill>
                <a:latin typeface="微软雅黑" panose="020B0503020204020204" pitchFamily="34" charset="-122"/>
                <a:ea typeface="微软雅黑" panose="020B0503020204020204" pitchFamily="34" charset="-122"/>
              </a:rPr>
              <a:t>排版的命令</a:t>
            </a:r>
            <a:r>
              <a:rPr lang="zh-CN" altLang="en-US" sz="2000" b="1" dirty="0">
                <a:latin typeface="微软雅黑" panose="020B0503020204020204" pitchFamily="34" charset="-122"/>
                <a:ea typeface="微软雅黑" panose="020B0503020204020204" pitchFamily="34" charset="-122"/>
              </a:rPr>
              <a:t>（即</a:t>
            </a:r>
            <a:r>
              <a:rPr lang="zh-CN" altLang="en-US" sz="2000" b="1" dirty="0">
                <a:solidFill>
                  <a:srgbClr val="C00000"/>
                </a:solidFill>
                <a:latin typeface="微软雅黑" panose="020B0503020204020204" pitchFamily="34" charset="-122"/>
                <a:ea typeface="微软雅黑" panose="020B0503020204020204" pitchFamily="34" charset="-122"/>
              </a:rPr>
              <a:t>标签</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把各种标签嵌入到万维网的页面</a:t>
            </a:r>
            <a:r>
              <a:rPr lang="zh-CN" altLang="en-US" sz="2000" b="1" dirty="0" smtClean="0">
                <a:latin typeface="微软雅黑" panose="020B0503020204020204" pitchFamily="34" charset="-122"/>
                <a:ea typeface="微软雅黑" panose="020B0503020204020204" pitchFamily="34" charset="-122"/>
              </a:rPr>
              <a:t>中，构成</a:t>
            </a:r>
            <a:r>
              <a:rPr lang="zh-CN" altLang="en-US" sz="2000" b="1" dirty="0">
                <a:latin typeface="微软雅黑" panose="020B0503020204020204" pitchFamily="34" charset="-122"/>
                <a:ea typeface="微软雅黑" panose="020B0503020204020204" pitchFamily="34" charset="-122"/>
              </a:rPr>
              <a:t>了所谓的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文档是</a:t>
            </a:r>
            <a:r>
              <a:rPr lang="zh-CN" altLang="en-US" sz="2000" b="1" dirty="0">
                <a:latin typeface="微软雅黑" panose="020B0503020204020204" pitchFamily="34" charset="-122"/>
                <a:ea typeface="微软雅黑" panose="020B0503020204020204" pitchFamily="34" charset="-122"/>
              </a:rPr>
              <a:t>一种可以用任何文本编辑器创建的 </a:t>
            </a:r>
            <a:r>
              <a:rPr lang="en-US" altLang="zh-CN" sz="2000" b="1" dirty="0">
                <a:solidFill>
                  <a:srgbClr val="C00000"/>
                </a:solidFill>
                <a:latin typeface="微软雅黑" panose="020B0503020204020204" pitchFamily="34" charset="-122"/>
                <a:ea typeface="微软雅黑" panose="020B0503020204020204" pitchFamily="34" charset="-122"/>
              </a:rPr>
              <a:t>ASCII </a:t>
            </a:r>
            <a:r>
              <a:rPr lang="zh-CN" altLang="en-US" sz="2000" b="1" dirty="0">
                <a:solidFill>
                  <a:srgbClr val="C00000"/>
                </a:solidFill>
                <a:latin typeface="微软雅黑" panose="020B0503020204020204" pitchFamily="34" charset="-122"/>
                <a:ea typeface="微软雅黑" panose="020B0503020204020204" pitchFamily="34" charset="-122"/>
              </a:rPr>
              <a:t>码文件</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文档的</a:t>
            </a:r>
            <a:r>
              <a:rPr lang="zh-CN" altLang="en-US" sz="2000" b="1" dirty="0" smtClean="0">
                <a:solidFill>
                  <a:srgbClr val="C00000"/>
                </a:solidFill>
                <a:latin typeface="微软雅黑" panose="020B0503020204020204" pitchFamily="34" charset="-122"/>
                <a:ea typeface="微软雅黑" panose="020B0503020204020204" pitchFamily="34" charset="-122"/>
              </a:rPr>
              <a:t>后缀：</a:t>
            </a: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或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htm</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pic>
        <p:nvPicPr>
          <p:cNvPr id="25" name="Picture 5" descr="HTML"/>
          <p:cNvPicPr>
            <a:picLocks noChangeAspect="1" noChangeArrowheads="1"/>
          </p:cNvPicPr>
          <p:nvPr/>
        </p:nvPicPr>
        <p:blipFill>
          <a:blip r:embed="rId1">
            <a:extLst>
              <a:ext uri="{28A0092B-C50C-407E-A947-70E740481C1C}">
                <a14:useLocalDpi xmlns:a14="http://schemas.microsoft.com/office/drawing/2010/main" val="0"/>
              </a:ext>
            </a:extLst>
          </a:blip>
          <a:srcRect r="39665" b="65755"/>
          <a:stretch>
            <a:fillRect/>
          </a:stretch>
        </p:blipFill>
        <p:spPr bwMode="auto">
          <a:xfrm>
            <a:off x="5337736" y="2697912"/>
            <a:ext cx="3078295" cy="1310371"/>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9" name="Group 9"/>
          <p:cNvGrpSpPr/>
          <p:nvPr/>
        </p:nvGrpSpPr>
        <p:grpSpPr bwMode="auto">
          <a:xfrm>
            <a:off x="3360317" y="1033391"/>
            <a:ext cx="4176159" cy="369368"/>
            <a:chOff x="1426" y="630"/>
            <a:chExt cx="4686" cy="449"/>
          </a:xfrm>
        </p:grpSpPr>
        <p:sp>
          <p:nvSpPr>
            <p:cNvPr id="20"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en-US" altLang="zh-CN" sz="1800" b="1" dirty="0">
                  <a:solidFill>
                    <a:sysClr val="windowText" lastClr="000000"/>
                  </a:solidFill>
                  <a:latin typeface="微软雅黑" panose="020B0503020204020204" pitchFamily="34" charset="-122"/>
                  <a:ea typeface="微软雅黑" panose="020B0503020204020204" pitchFamily="34" charset="-122"/>
                </a:rPr>
                <a:t>HTML </a:t>
              </a:r>
              <a:r>
                <a:rPr lang="zh-CN" altLang="en-US" sz="1800" b="1" dirty="0">
                  <a:solidFill>
                    <a:sysClr val="windowText" lastClr="000000"/>
                  </a:solidFill>
                  <a:latin typeface="微软雅黑" panose="020B0503020204020204" pitchFamily="34" charset="-122"/>
                  <a:ea typeface="微软雅黑" panose="020B0503020204020204" pitchFamily="34" charset="-122"/>
                </a:rPr>
                <a:t>文档开始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1"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22" name="Group 9"/>
          <p:cNvGrpSpPr/>
          <p:nvPr/>
        </p:nvGrpSpPr>
        <p:grpSpPr bwMode="auto">
          <a:xfrm>
            <a:off x="3360317" y="3466604"/>
            <a:ext cx="4176159" cy="369368"/>
            <a:chOff x="1426" y="630"/>
            <a:chExt cx="4686" cy="449"/>
          </a:xfrm>
        </p:grpSpPr>
        <p:sp>
          <p:nvSpPr>
            <p:cNvPr id="23"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en-US" altLang="zh-CN" sz="1800" b="1" dirty="0">
                  <a:solidFill>
                    <a:sysClr val="windowText" lastClr="000000"/>
                  </a:solidFill>
                  <a:latin typeface="微软雅黑" panose="020B0503020204020204" pitchFamily="34" charset="-122"/>
                  <a:ea typeface="微软雅黑" panose="020B0503020204020204" pitchFamily="34" charset="-122"/>
                </a:rPr>
                <a:t>HTML </a:t>
              </a:r>
              <a:r>
                <a:rPr lang="zh-CN" altLang="en-US" sz="1800" b="1" dirty="0">
                  <a:solidFill>
                    <a:sysClr val="windowText" lastClr="000000"/>
                  </a:solidFill>
                  <a:latin typeface="微软雅黑" panose="020B0503020204020204" pitchFamily="34" charset="-122"/>
                  <a:ea typeface="微软雅黑" panose="020B0503020204020204" pitchFamily="34" charset="-122"/>
                </a:rPr>
                <a:t>文档结束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4"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5" name="Group 9"/>
          <p:cNvGrpSpPr/>
          <p:nvPr/>
        </p:nvGrpSpPr>
        <p:grpSpPr bwMode="auto">
          <a:xfrm>
            <a:off x="3271543" y="1311151"/>
            <a:ext cx="3409728" cy="369368"/>
            <a:chOff x="1426" y="630"/>
            <a:chExt cx="3826" cy="449"/>
          </a:xfrm>
        </p:grpSpPr>
        <p:sp>
          <p:nvSpPr>
            <p:cNvPr id="26"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首部开始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7"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31" name="Group 9"/>
          <p:cNvGrpSpPr/>
          <p:nvPr/>
        </p:nvGrpSpPr>
        <p:grpSpPr bwMode="auto">
          <a:xfrm>
            <a:off x="3279507" y="1852127"/>
            <a:ext cx="3409728" cy="369368"/>
            <a:chOff x="1426" y="630"/>
            <a:chExt cx="3826" cy="449"/>
          </a:xfrm>
        </p:grpSpPr>
        <p:sp>
          <p:nvSpPr>
            <p:cNvPr id="32"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首部结束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33"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463312" y="1580951"/>
            <a:ext cx="4007387" cy="777521"/>
            <a:chOff x="2610222" y="1700563"/>
            <a:chExt cx="4007387" cy="777521"/>
          </a:xfrm>
        </p:grpSpPr>
        <p:grpSp>
          <p:nvGrpSpPr>
            <p:cNvPr id="22" name="Group 9"/>
            <p:cNvGrpSpPr/>
            <p:nvPr/>
          </p:nvGrpSpPr>
          <p:grpSpPr bwMode="auto">
            <a:xfrm>
              <a:off x="4398525" y="2029742"/>
              <a:ext cx="2219084" cy="448342"/>
              <a:chOff x="3021" y="534"/>
              <a:chExt cx="2490" cy="545"/>
            </a:xfrm>
          </p:grpSpPr>
          <p:sp>
            <p:nvSpPr>
              <p:cNvPr id="24" name="Text Box 5"/>
              <p:cNvSpPr txBox="1">
                <a:spLocks noChangeArrowheads="1"/>
              </p:cNvSpPr>
              <p:nvPr/>
            </p:nvSpPr>
            <p:spPr bwMode="auto">
              <a:xfrm>
                <a:off x="4009" y="630"/>
                <a:ext cx="1502"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文档的标题</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flipV="1">
                <a:off x="3021" y="534"/>
                <a:ext cx="988" cy="31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610222" y="1700563"/>
              <a:ext cx="1788042"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Group 9"/>
          <p:cNvGrpSpPr/>
          <p:nvPr/>
        </p:nvGrpSpPr>
        <p:grpSpPr bwMode="auto">
          <a:xfrm>
            <a:off x="3279507" y="2125847"/>
            <a:ext cx="3409728" cy="369368"/>
            <a:chOff x="1426" y="630"/>
            <a:chExt cx="3826" cy="449"/>
          </a:xfrm>
        </p:grpSpPr>
        <p:sp>
          <p:nvSpPr>
            <p:cNvPr id="25"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主体开始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6"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27" name="Group 9"/>
          <p:cNvGrpSpPr/>
          <p:nvPr/>
        </p:nvGrpSpPr>
        <p:grpSpPr bwMode="auto">
          <a:xfrm>
            <a:off x="3279507" y="3191982"/>
            <a:ext cx="3409728" cy="369368"/>
            <a:chOff x="1426" y="630"/>
            <a:chExt cx="3826" cy="449"/>
          </a:xfrm>
        </p:grpSpPr>
        <p:sp>
          <p:nvSpPr>
            <p:cNvPr id="29"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主体结束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30"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186458" y="1881194"/>
            <a:ext cx="4232691" cy="836219"/>
            <a:chOff x="2335902" y="1998481"/>
            <a:chExt cx="4232691" cy="836219"/>
          </a:xfrm>
        </p:grpSpPr>
        <p:grpSp>
          <p:nvGrpSpPr>
            <p:cNvPr id="22" name="Group 9"/>
            <p:cNvGrpSpPr/>
            <p:nvPr/>
          </p:nvGrpSpPr>
          <p:grpSpPr bwMode="auto">
            <a:xfrm>
              <a:off x="4124038" y="1998481"/>
              <a:ext cx="2444555" cy="506750"/>
              <a:chOff x="2713" y="496"/>
              <a:chExt cx="2743" cy="616"/>
            </a:xfrm>
          </p:grpSpPr>
          <p:sp>
            <p:nvSpPr>
              <p:cNvPr id="24" name="Text Box 5"/>
              <p:cNvSpPr txBox="1">
                <a:spLocks noChangeArrowheads="1"/>
              </p:cNvSpPr>
              <p:nvPr/>
            </p:nvSpPr>
            <p:spPr bwMode="auto">
              <a:xfrm>
                <a:off x="3380" y="496"/>
                <a:ext cx="2076"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 </a:t>
                </a:r>
                <a:r>
                  <a:rPr lang="en-US" altLang="zh-CN" sz="1800" b="1" dirty="0" smtClean="0">
                    <a:solidFill>
                      <a:sysClr val="windowText" lastClr="000000"/>
                    </a:solidFill>
                    <a:latin typeface="微软雅黑" panose="020B0503020204020204" pitchFamily="34" charset="-122"/>
                    <a:ea typeface="微软雅黑" panose="020B0503020204020204" pitchFamily="34" charset="-122"/>
                  </a:rPr>
                  <a:t>1 </a:t>
                </a:r>
                <a:r>
                  <a:rPr lang="zh-CN" altLang="en-US" sz="1800" b="1" dirty="0" smtClean="0">
                    <a:solidFill>
                      <a:sysClr val="windowText" lastClr="000000"/>
                    </a:solidFill>
                    <a:latin typeface="微软雅黑" panose="020B0503020204020204" pitchFamily="34" charset="-122"/>
                    <a:ea typeface="微软雅黑" panose="020B0503020204020204" pitchFamily="34" charset="-122"/>
                  </a:rPr>
                  <a:t>级题头</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a:off x="2713" y="711"/>
                <a:ext cx="667" cy="40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335902" y="2505295"/>
              <a:ext cx="1788042"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3059611" y="2193246"/>
            <a:ext cx="4599122" cy="799418"/>
            <a:chOff x="2189598" y="2849098"/>
            <a:chExt cx="4599122" cy="799418"/>
          </a:xfrm>
        </p:grpSpPr>
        <p:grpSp>
          <p:nvGrpSpPr>
            <p:cNvPr id="25" name="Group 9"/>
            <p:cNvGrpSpPr/>
            <p:nvPr/>
          </p:nvGrpSpPr>
          <p:grpSpPr bwMode="auto">
            <a:xfrm>
              <a:off x="3837964" y="2849098"/>
              <a:ext cx="2950756" cy="580788"/>
              <a:chOff x="2392" y="1530"/>
              <a:chExt cx="3311" cy="706"/>
            </a:xfrm>
          </p:grpSpPr>
          <p:sp>
            <p:nvSpPr>
              <p:cNvPr id="27" name="Text Box 5"/>
              <p:cNvSpPr txBox="1">
                <a:spLocks noChangeArrowheads="1"/>
              </p:cNvSpPr>
              <p:nvPr/>
            </p:nvSpPr>
            <p:spPr bwMode="auto">
              <a:xfrm>
                <a:off x="3424" y="1530"/>
                <a:ext cx="2279"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主体的第一个</a:t>
                </a:r>
                <a:r>
                  <a:rPr lang="zh-CN" altLang="en-US" sz="1800" b="1" dirty="0">
                    <a:solidFill>
                      <a:sysClr val="windowText" lastClr="000000"/>
                    </a:solidFill>
                    <a:latin typeface="微软雅黑" panose="020B0503020204020204" pitchFamily="34" charset="-122"/>
                    <a:ea typeface="微软雅黑" panose="020B0503020204020204" pitchFamily="34" charset="-122"/>
                  </a:rPr>
                  <a:t>段落</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9" name="Line 6"/>
              <p:cNvSpPr>
                <a:spLocks noChangeShapeType="1"/>
              </p:cNvSpPr>
              <p:nvPr/>
            </p:nvSpPr>
            <p:spPr bwMode="auto">
              <a:xfrm flipH="1">
                <a:off x="2392" y="1745"/>
                <a:ext cx="1032" cy="49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6" name="Rectangle 8"/>
            <p:cNvSpPr>
              <a:spLocks noChangeArrowheads="1"/>
            </p:cNvSpPr>
            <p:nvPr/>
          </p:nvSpPr>
          <p:spPr bwMode="auto">
            <a:xfrm>
              <a:off x="2189598" y="3319111"/>
              <a:ext cx="1645554"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059611" y="2455852"/>
            <a:ext cx="4600905" cy="799418"/>
            <a:chOff x="2189598" y="2849098"/>
            <a:chExt cx="4600905" cy="799418"/>
          </a:xfrm>
        </p:grpSpPr>
        <p:grpSp>
          <p:nvGrpSpPr>
            <p:cNvPr id="22" name="Group 9"/>
            <p:cNvGrpSpPr/>
            <p:nvPr/>
          </p:nvGrpSpPr>
          <p:grpSpPr bwMode="auto">
            <a:xfrm>
              <a:off x="3837964" y="2849098"/>
              <a:ext cx="2952539" cy="580788"/>
              <a:chOff x="2392" y="1530"/>
              <a:chExt cx="3313" cy="706"/>
            </a:xfrm>
          </p:grpSpPr>
          <p:sp>
            <p:nvSpPr>
              <p:cNvPr id="24" name="Text Box 5"/>
              <p:cNvSpPr txBox="1">
                <a:spLocks noChangeArrowheads="1"/>
              </p:cNvSpPr>
              <p:nvPr/>
            </p:nvSpPr>
            <p:spPr bwMode="auto">
              <a:xfrm>
                <a:off x="3424" y="1530"/>
                <a:ext cx="2281"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主体的第二个</a:t>
                </a:r>
                <a:r>
                  <a:rPr lang="zh-CN" altLang="en-US" sz="1800" b="1" dirty="0">
                    <a:solidFill>
                      <a:sysClr val="windowText" lastClr="000000"/>
                    </a:solidFill>
                    <a:latin typeface="微软雅黑" panose="020B0503020204020204" pitchFamily="34" charset="-122"/>
                    <a:ea typeface="微软雅黑" panose="020B0503020204020204" pitchFamily="34" charset="-122"/>
                  </a:rPr>
                  <a:t>段落</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a:off x="2392" y="1745"/>
                <a:ext cx="1032" cy="49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189598" y="3319111"/>
              <a:ext cx="1645554"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20544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&lt;</a:t>
            </a:r>
            <a:r>
              <a:rPr lang="en-US" altLang="zh-CN" sz="2000" b="1" dirty="0" err="1" smtClean="0">
                <a:solidFill>
                  <a:srgbClr val="C00000"/>
                </a:solidFill>
                <a:latin typeface="微软雅黑" panose="020B0503020204020204" pitchFamily="34" charset="-122"/>
                <a:ea typeface="微软雅黑" panose="020B0503020204020204" pitchFamily="34" charset="-122"/>
              </a:rPr>
              <a:t>img</a:t>
            </a:r>
            <a:r>
              <a:rPr lang="en-US" altLang="zh-CN" sz="2000" b="1" dirty="0" smtClean="0">
                <a:solidFill>
                  <a:srgbClr val="C00000"/>
                </a:solidFill>
                <a:latin typeface="微软雅黑" panose="020B0503020204020204" pitchFamily="34" charset="-122"/>
                <a:ea typeface="微软雅黑" panose="020B0503020204020204" pitchFamily="34" charset="-122"/>
              </a:rPr>
              <a:t>&gt;</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图像标</a:t>
            </a:r>
            <a:r>
              <a:rPr lang="zh-CN" altLang="en-US" sz="2000" b="1" dirty="0" smtClean="0">
                <a:latin typeface="微软雅黑" panose="020B0503020204020204" pitchFamily="34" charset="-122"/>
                <a:ea typeface="微软雅黑" panose="020B0503020204020204" pitchFamily="34" charset="-122"/>
              </a:rPr>
              <a:t>签。</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允许在万维网页面中插入图像。</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一个页面本身带有的图像称为</a:t>
            </a:r>
            <a:r>
              <a:rPr lang="zh-CN" altLang="en-US" sz="2000" b="1" dirty="0">
                <a:solidFill>
                  <a:srgbClr val="C00000"/>
                </a:solidFill>
                <a:latin typeface="微软雅黑" panose="020B0503020204020204" pitchFamily="34" charset="-122"/>
                <a:ea typeface="微软雅黑" panose="020B0503020204020204" pitchFamily="34" charset="-122"/>
              </a:rPr>
              <a:t>内含</a:t>
            </a:r>
            <a:r>
              <a:rPr lang="zh-CN" altLang="en-US" sz="2000" b="1" dirty="0" smtClean="0">
                <a:solidFill>
                  <a:srgbClr val="C00000"/>
                </a:solidFill>
                <a:latin typeface="微软雅黑" panose="020B0503020204020204" pitchFamily="34" charset="-122"/>
                <a:ea typeface="微软雅黑" panose="020B0503020204020204" pitchFamily="34" charset="-122"/>
              </a:rPr>
              <a:t>图像</a:t>
            </a: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inline image)</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标准没有</a:t>
            </a:r>
            <a:r>
              <a:rPr lang="zh-CN" altLang="en-US" sz="2000" b="1" dirty="0">
                <a:latin typeface="微软雅黑" panose="020B0503020204020204" pitchFamily="34" charset="-122"/>
                <a:ea typeface="微软雅黑" panose="020B0503020204020204" pitchFamily="34" charset="-122"/>
              </a:rPr>
              <a:t>规定该图像的格式</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大多数</a:t>
            </a:r>
            <a:r>
              <a:rPr lang="zh-CN" altLang="en-US" sz="2000" b="1" dirty="0">
                <a:latin typeface="微软雅黑" panose="020B0503020204020204" pitchFamily="34" charset="-122"/>
                <a:ea typeface="微软雅黑" panose="020B0503020204020204" pitchFamily="34" charset="-122"/>
              </a:rPr>
              <a:t>浏览器都支持 </a:t>
            </a:r>
            <a:r>
              <a:rPr lang="en-US" altLang="zh-CN" sz="2000" b="1" dirty="0">
                <a:latin typeface="微软雅黑" panose="020B0503020204020204" pitchFamily="34" charset="-122"/>
                <a:ea typeface="微软雅黑" panose="020B0503020204020204" pitchFamily="34" charset="-122"/>
              </a:rPr>
              <a:t>GIF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JPEG </a:t>
            </a:r>
            <a:r>
              <a:rPr lang="zh-CN" altLang="en-US" sz="2000" b="1" dirty="0">
                <a:latin typeface="微软雅黑" panose="020B0503020204020204" pitchFamily="34" charset="-122"/>
                <a:ea typeface="微软雅黑" panose="020B0503020204020204" pitchFamily="34" charset="-122"/>
              </a:rPr>
              <a:t>文件。</a:t>
            </a:r>
            <a:endParaRPr lang="en-US" altLang="zh-CN"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&lt;a&gt;</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链接标签。</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每个链接都有一个起点和终点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smtClean="0">
                <a:solidFill>
                  <a:srgbClr val="0000FF"/>
                </a:solidFill>
                <a:latin typeface="微软雅黑" panose="020B0503020204020204" pitchFamily="34" charset="-122"/>
                <a:ea typeface="微软雅黑" panose="020B0503020204020204" pitchFamily="34" charset="-122"/>
              </a:rPr>
              <a:t>起点：</a:t>
            </a:r>
            <a:r>
              <a:rPr lang="zh-CN" altLang="en-US" sz="2000" b="1" dirty="0" smtClean="0">
                <a:latin typeface="微软雅黑" panose="020B0503020204020204" pitchFamily="34" charset="-122"/>
                <a:ea typeface="微软雅黑" panose="020B0503020204020204" pitchFamily="34" charset="-122"/>
              </a:rPr>
              <a:t>说明</a:t>
            </a:r>
            <a:r>
              <a:rPr lang="zh-CN" altLang="en-US" sz="2000" b="1" dirty="0">
                <a:latin typeface="微软雅黑" panose="020B0503020204020204" pitchFamily="34" charset="-122"/>
                <a:ea typeface="微软雅黑" panose="020B0503020204020204" pitchFamily="34" charset="-122"/>
              </a:rPr>
              <a:t>在万维网页面中的什么地方可</a:t>
            </a:r>
            <a:r>
              <a:rPr lang="zh-CN" altLang="en-US" sz="2000" b="1" dirty="0">
                <a:solidFill>
                  <a:srgbClr val="C00000"/>
                </a:solidFill>
                <a:latin typeface="微软雅黑" panose="020B0503020204020204" pitchFamily="34" charset="-122"/>
                <a:ea typeface="微软雅黑" panose="020B0503020204020204" pitchFamily="34" charset="-122"/>
              </a:rPr>
              <a:t>引出</a:t>
            </a:r>
            <a:r>
              <a:rPr lang="zh-CN" altLang="en-US" sz="2000" b="1" dirty="0">
                <a:latin typeface="微软雅黑" panose="020B0503020204020204" pitchFamily="34" charset="-122"/>
                <a:ea typeface="微软雅黑" panose="020B0503020204020204" pitchFamily="34" charset="-122"/>
              </a:rPr>
              <a:t>一个链接</a:t>
            </a: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是一个字或几个字，或是一幅图，或是一段文字</a:t>
            </a:r>
            <a:r>
              <a:rPr lang="zh-CN" altLang="en-US" sz="2000" b="1" dirty="0" smtClean="0">
                <a:latin typeface="微软雅黑" panose="020B0503020204020204" pitchFamily="34" charset="-122"/>
                <a:ea typeface="微软雅黑" panose="020B0503020204020204" pitchFamily="34" charset="-122"/>
              </a:rPr>
              <a:t>。例如：</a:t>
            </a:r>
            <a:r>
              <a:rPr lang="en-US" altLang="zh-CN" sz="2000" b="1" dirty="0">
                <a:latin typeface="微软雅黑" panose="020B0503020204020204" pitchFamily="34" charset="-122"/>
                <a:ea typeface="微软雅黑" panose="020B0503020204020204" pitchFamily="34" charset="-122"/>
              </a:rPr>
              <a:t> </a:t>
            </a:r>
            <a:endParaRPr lang="en-US" altLang="zh-CN" sz="2000" b="1" dirty="0" smtClean="0">
              <a:latin typeface="微软雅黑" panose="020B0503020204020204" pitchFamily="34" charset="-122"/>
              <a:ea typeface="微软雅黑" panose="020B0503020204020204" pitchFamily="34" charset="-122"/>
            </a:endParaRPr>
          </a:p>
          <a:p>
            <a:pPr marL="288925" lvl="1">
              <a:lnSpc>
                <a:spcPts val="2800"/>
              </a:lnSpc>
              <a:buClr>
                <a:srgbClr val="9900CC"/>
              </a:buClr>
              <a:buSzPct val="85000"/>
            </a:pPr>
            <a:r>
              <a:rPr lang="en-US" altLang="zh-CN" b="1" dirty="0" smtClean="0">
                <a:ea typeface="微软雅黑" panose="020B0503020204020204" pitchFamily="34" charset="-122"/>
              </a:rPr>
              <a:t>	</a:t>
            </a:r>
            <a:r>
              <a:rPr lang="en-US" altLang="zh-CN" sz="2000" b="1" dirty="0" smtClean="0">
                <a:ea typeface="微软雅黑" panose="020B0503020204020204" pitchFamily="34" charset="-122"/>
              </a:rPr>
              <a:t>&lt;</a:t>
            </a:r>
            <a:r>
              <a:rPr lang="en-US" altLang="zh-CN" sz="2000" b="1" dirty="0">
                <a:ea typeface="微软雅黑" panose="020B0503020204020204" pitchFamily="34" charset="-122"/>
              </a:rPr>
              <a:t>a </a:t>
            </a:r>
            <a:r>
              <a:rPr lang="en-US" altLang="zh-CN" sz="2000" b="1" dirty="0" err="1" smtClean="0">
                <a:ea typeface="微软雅黑" panose="020B0503020204020204" pitchFamily="34" charset="-122"/>
              </a:rPr>
              <a:t>href</a:t>
            </a:r>
            <a:r>
              <a:rPr lang="en-US" altLang="zh-CN" sz="2000" b="1" dirty="0" smtClean="0">
                <a:ea typeface="微软雅黑" panose="020B0503020204020204" pitchFamily="34" charset="-122"/>
              </a:rPr>
              <a:t>=“</a:t>
            </a:r>
            <a:r>
              <a:rPr lang="en-US" altLang="zh-CN" sz="2000" b="1" u="sng" dirty="0" smtClean="0">
                <a:solidFill>
                  <a:srgbClr val="0033CC"/>
                </a:solidFill>
                <a:ea typeface="微软雅黑" panose="020B0503020204020204" pitchFamily="34" charset="-122"/>
              </a:rPr>
              <a:t>http</a:t>
            </a:r>
            <a:r>
              <a:rPr lang="en-US" altLang="zh-CN" sz="2000" b="1" u="sng" dirty="0">
                <a:solidFill>
                  <a:srgbClr val="0033CC"/>
                </a:solidFill>
                <a:ea typeface="微软雅黑" panose="020B0503020204020204" pitchFamily="34" charset="-122"/>
              </a:rPr>
              <a:t>://</a:t>
            </a:r>
            <a:r>
              <a:rPr lang="en-US" altLang="zh-CN" sz="2000" b="1" u="sng" dirty="0" smtClean="0">
                <a:solidFill>
                  <a:srgbClr val="0033CC"/>
                </a:solidFill>
                <a:ea typeface="微软雅黑" panose="020B0503020204020204" pitchFamily="34" charset="-122"/>
              </a:rPr>
              <a:t>www.tsinghua.edu.cn</a:t>
            </a:r>
            <a:r>
              <a:rPr lang="en-US" altLang="zh-CN" sz="2000" b="1" dirty="0" smtClean="0">
                <a:ea typeface="微软雅黑" panose="020B0503020204020204" pitchFamily="34" charset="-122"/>
              </a:rPr>
              <a:t>”&gt;</a:t>
            </a:r>
            <a:r>
              <a:rPr lang="zh-CN" altLang="en-US" sz="2000" b="1" dirty="0" smtClean="0">
                <a:latin typeface="微软雅黑" panose="020B0503020204020204" pitchFamily="34" charset="-122"/>
                <a:ea typeface="微软雅黑" panose="020B0503020204020204" pitchFamily="34" charset="-122"/>
              </a:rPr>
              <a:t>清华大学主页</a:t>
            </a:r>
            <a:r>
              <a:rPr lang="en-US" altLang="zh-CN" sz="2000" b="1" dirty="0">
                <a:ea typeface="微软雅黑" panose="020B0503020204020204" pitchFamily="34" charset="-122"/>
              </a:rPr>
              <a:t>&lt;/a&gt;</a:t>
            </a:r>
            <a:endParaRPr lang="en-US" altLang="zh-CN" sz="2000" b="1" dirty="0">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终点：</a:t>
            </a:r>
            <a:endParaRPr lang="en-US" altLang="zh-CN" sz="2000" b="1" dirty="0">
              <a:solidFill>
                <a:srgbClr val="0000FF"/>
              </a:solidFill>
              <a:latin typeface="微软雅黑" panose="020B0503020204020204" pitchFamily="34" charset="-122"/>
              <a:ea typeface="微软雅黑" panose="020B0503020204020204" pitchFamily="34" charset="-122"/>
            </a:endParaRPr>
          </a:p>
          <a:p>
            <a:pPr marL="986155" lvl="2" indent="-240030">
              <a:lnSpc>
                <a:spcPts val="2800"/>
              </a:lnSpc>
              <a:buClr>
                <a:srgbClr val="993300"/>
              </a:buClr>
              <a:buSzPct val="8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可以</a:t>
            </a:r>
            <a:r>
              <a:rPr lang="zh-CN" altLang="en-US" b="1" dirty="0">
                <a:latin typeface="微软雅黑" panose="020B0503020204020204" pitchFamily="34" charset="-122"/>
                <a:ea typeface="微软雅黑" panose="020B0503020204020204" pitchFamily="34" charset="-122"/>
              </a:rPr>
              <a:t>是其他网站上的页面。这种链接方式叫做</a:t>
            </a:r>
            <a:r>
              <a:rPr lang="zh-CN" altLang="en-US" b="1" dirty="0">
                <a:solidFill>
                  <a:srgbClr val="C00000"/>
                </a:solidFill>
                <a:latin typeface="微软雅黑" panose="020B0503020204020204" pitchFamily="34" charset="-122"/>
                <a:ea typeface="微软雅黑" panose="020B0503020204020204" pitchFamily="34" charset="-122"/>
              </a:rPr>
              <a:t>远程链接</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这时</a:t>
            </a:r>
            <a:r>
              <a:rPr lang="zh-CN" altLang="en-US" b="1" dirty="0" smtClean="0">
                <a:latin typeface="微软雅黑" panose="020B0503020204020204" pitchFamily="34" charset="-122"/>
                <a:ea typeface="微软雅黑" panose="020B0503020204020204" pitchFamily="34" charset="-122"/>
              </a:rPr>
              <a:t>必须指明</a:t>
            </a:r>
            <a:r>
              <a:rPr lang="zh-CN" altLang="en-US" b="1" dirty="0">
                <a:latin typeface="微软雅黑" panose="020B0503020204020204" pitchFamily="34" charset="-122"/>
                <a:ea typeface="微软雅黑" panose="020B0503020204020204" pitchFamily="34" charset="-122"/>
              </a:rPr>
              <a:t>链接到的</a:t>
            </a:r>
            <a:r>
              <a:rPr lang="zh-CN" altLang="en-US" b="1" dirty="0">
                <a:solidFill>
                  <a:srgbClr val="C00000"/>
                </a:solidFill>
                <a:latin typeface="微软雅黑" panose="020B0503020204020204" pitchFamily="34" charset="-122"/>
                <a:ea typeface="微软雅黑" panose="020B0503020204020204" pitchFamily="34" charset="-122"/>
              </a:rPr>
              <a:t>网站</a:t>
            </a:r>
            <a:r>
              <a:rPr lang="zh-CN" altLang="en-US" b="1" dirty="0" smtClean="0">
                <a:solidFill>
                  <a:srgbClr val="C00000"/>
                </a:solidFill>
                <a:latin typeface="微软雅黑" panose="020B0503020204020204" pitchFamily="34" charset="-122"/>
                <a:ea typeface="微软雅黑" panose="020B0503020204020204" pitchFamily="34" charset="-122"/>
              </a:rPr>
              <a:t>的 </a:t>
            </a:r>
            <a:r>
              <a:rPr lang="en-US" altLang="zh-CN" b="1" dirty="0" smtClean="0">
                <a:solidFill>
                  <a:srgbClr val="C00000"/>
                </a:solidFill>
                <a:latin typeface="微软雅黑" panose="020B0503020204020204" pitchFamily="34" charset="-122"/>
                <a:ea typeface="微软雅黑" panose="020B0503020204020204" pitchFamily="34" charset="-122"/>
              </a:rPr>
              <a:t>URL</a:t>
            </a: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marL="986155" lvl="2" indent="-240030">
              <a:lnSpc>
                <a:spcPts val="2800"/>
              </a:lnSpc>
              <a:buClr>
                <a:srgbClr val="993300"/>
              </a:buClr>
              <a:buSzPct val="8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可以</a:t>
            </a:r>
            <a:r>
              <a:rPr lang="zh-CN" altLang="en-US" b="1" dirty="0">
                <a:latin typeface="微软雅黑" panose="020B0503020204020204" pitchFamily="34" charset="-122"/>
                <a:ea typeface="微软雅黑" panose="020B0503020204020204" pitchFamily="34" charset="-122"/>
              </a:rPr>
              <a:t>指向本计算机中的某一个文件或本文件中的某处，这种链接方式叫做</a:t>
            </a:r>
            <a:r>
              <a:rPr lang="zh-CN" altLang="en-US" b="1" dirty="0">
                <a:solidFill>
                  <a:srgbClr val="C00000"/>
                </a:solidFill>
                <a:latin typeface="微软雅黑" panose="020B0503020204020204" pitchFamily="34" charset="-122"/>
                <a:ea typeface="微软雅黑" panose="020B0503020204020204" pitchFamily="34" charset="-122"/>
              </a:rPr>
              <a:t>本地链接。</a:t>
            </a:r>
            <a:r>
              <a:rPr lang="zh-CN" altLang="en-US" b="1" dirty="0">
                <a:latin typeface="微软雅黑" panose="020B0503020204020204" pitchFamily="34" charset="-122"/>
                <a:ea typeface="微软雅黑" panose="020B0503020204020204" pitchFamily="34" charset="-122"/>
              </a:rPr>
              <a:t>这时必须</a:t>
            </a:r>
            <a:r>
              <a:rPr lang="zh-CN" altLang="en-US" b="1" dirty="0" smtClean="0">
                <a:latin typeface="微软雅黑" panose="020B0503020204020204" pitchFamily="34" charset="-122"/>
                <a:ea typeface="微软雅黑" panose="020B0503020204020204" pitchFamily="34" charset="-122"/>
              </a:rPr>
              <a:t>指明</a:t>
            </a:r>
            <a:r>
              <a:rPr lang="zh-CN" altLang="en-US" b="1" dirty="0">
                <a:latin typeface="微软雅黑" panose="020B0503020204020204" pitchFamily="34" charset="-122"/>
                <a:ea typeface="微软雅黑" panose="020B0503020204020204" pitchFamily="34" charset="-122"/>
              </a:rPr>
              <a:t>链接的</a:t>
            </a:r>
            <a:r>
              <a:rPr lang="zh-CN" altLang="en-US" b="1" dirty="0">
                <a:solidFill>
                  <a:srgbClr val="C00000"/>
                </a:solidFill>
                <a:latin typeface="微软雅黑" panose="020B0503020204020204" pitchFamily="34" charset="-122"/>
                <a:ea typeface="微软雅黑" panose="020B0503020204020204" pitchFamily="34" charset="-122"/>
              </a:rPr>
              <a:t>路径。</a:t>
            </a:r>
            <a:endParaRPr lang="en-US" altLang="zh-CN" b="1" dirty="0">
              <a:solidFill>
                <a:srgbClr val="C00000"/>
              </a:solidFill>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256"/>
            <a:ext cx="8029253"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可扩展标记</a:t>
            </a:r>
            <a:r>
              <a:rPr lang="zh-CN" altLang="en-US" sz="2000" b="1" dirty="0" smtClean="0">
                <a:solidFill>
                  <a:srgbClr val="C00000"/>
                </a:solidFill>
                <a:latin typeface="微软雅黑" panose="020B0503020204020204" pitchFamily="34" charset="-122"/>
                <a:ea typeface="微软雅黑" panose="020B0503020204020204" pitchFamily="34" charset="-122"/>
              </a:rPr>
              <a:t>语言 </a:t>
            </a:r>
            <a:r>
              <a:rPr lang="en-US" altLang="zh-CN" sz="2000" b="1" dirty="0" smtClean="0">
                <a:solidFill>
                  <a:srgbClr val="C00000"/>
                </a:solidFill>
                <a:latin typeface="微软雅黑" panose="020B0503020204020204" pitchFamily="34" charset="-122"/>
                <a:ea typeface="微软雅黑" panose="020B0503020204020204" pitchFamily="34" charset="-122"/>
              </a:rPr>
              <a:t>XML </a:t>
            </a:r>
            <a:r>
              <a:rPr lang="en-US" altLang="zh-CN" sz="2000" b="1" dirty="0">
                <a:latin typeface="微软雅黑" panose="020B0503020204020204" pitchFamily="34" charset="-122"/>
                <a:ea typeface="微软雅黑" panose="020B0503020204020204" pitchFamily="34" charset="-122"/>
              </a:rPr>
              <a:t>(Extensible Markup Language)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很相似。</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设计</a:t>
            </a:r>
            <a:r>
              <a:rPr lang="zh-CN" altLang="en-US" sz="2000" b="1" dirty="0">
                <a:latin typeface="微软雅黑" panose="020B0503020204020204" pitchFamily="34" charset="-122"/>
                <a:ea typeface="微软雅黑" panose="020B0503020204020204" pitchFamily="34" charset="-122"/>
              </a:rPr>
              <a:t>宗旨</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C00000"/>
                </a:solidFill>
                <a:latin typeface="微软雅黑" panose="020B0503020204020204" pitchFamily="34" charset="-122"/>
                <a:ea typeface="微软雅黑" panose="020B0503020204020204" pitchFamily="34" charset="-122"/>
              </a:rPr>
              <a:t>传输</a:t>
            </a:r>
            <a:r>
              <a:rPr lang="zh-CN" altLang="en-US" sz="2000" b="1" dirty="0">
                <a:solidFill>
                  <a:srgbClr val="C00000"/>
                </a:solidFill>
                <a:latin typeface="微软雅黑" panose="020B0503020204020204" pitchFamily="34" charset="-122"/>
                <a:ea typeface="微软雅黑" panose="020B0503020204020204" pitchFamily="34" charset="-122"/>
              </a:rPr>
              <a:t>数据，</a:t>
            </a:r>
            <a:r>
              <a:rPr lang="zh-CN" altLang="en-US" sz="2000" b="1" dirty="0">
                <a:latin typeface="微软雅黑" panose="020B0503020204020204" pitchFamily="34" charset="-122"/>
                <a:ea typeface="微软雅黑" panose="020B0503020204020204" pitchFamily="34" charset="-122"/>
              </a:rPr>
              <a:t>而不是显示</a:t>
            </a:r>
            <a:r>
              <a:rPr lang="zh-CN" altLang="en-US" sz="2000" b="1" dirty="0" smtClean="0">
                <a:latin typeface="微软雅黑" panose="020B0503020204020204" pitchFamily="34" charset="-122"/>
                <a:ea typeface="微软雅黑" panose="020B0503020204020204" pitchFamily="34" charset="-122"/>
              </a:rPr>
              <a:t>数据。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特点和优点：</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可用来</a:t>
            </a:r>
            <a:r>
              <a:rPr lang="zh-CN" altLang="en-US" sz="2000" b="1" dirty="0">
                <a:solidFill>
                  <a:srgbClr val="C00000"/>
                </a:solidFill>
                <a:latin typeface="微软雅黑" panose="020B0503020204020204" pitchFamily="34" charset="-122"/>
                <a:ea typeface="微软雅黑" panose="020B0503020204020204" pitchFamily="34" charset="-122"/>
              </a:rPr>
              <a:t>标记</a:t>
            </a:r>
            <a:r>
              <a:rPr lang="zh-CN" altLang="en-US" sz="2000" b="1" dirty="0">
                <a:latin typeface="微软雅黑" panose="020B0503020204020204" pitchFamily="34" charset="-122"/>
                <a:ea typeface="微软雅黑" panose="020B0503020204020204" pitchFamily="34" charset="-122"/>
              </a:rPr>
              <a:t>数据、定义数据类型；</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允许用户对自己的标记语言</a:t>
            </a:r>
            <a:r>
              <a:rPr lang="zh-CN" altLang="en-US" sz="2000" b="1" dirty="0" smtClean="0">
                <a:latin typeface="微软雅黑" panose="020B0503020204020204" pitchFamily="34" charset="-122"/>
                <a:ea typeface="微软雅黑" panose="020B0503020204020204" pitchFamily="34" charset="-122"/>
              </a:rPr>
              <a:t>进行</a:t>
            </a:r>
            <a:r>
              <a:rPr lang="zh-CN" altLang="en-US" sz="2000" b="1" dirty="0" smtClean="0">
                <a:solidFill>
                  <a:srgbClr val="C00000"/>
                </a:solidFill>
                <a:latin typeface="微软雅黑" panose="020B0503020204020204" pitchFamily="34" charset="-122"/>
                <a:ea typeface="微软雅黑" panose="020B0503020204020204" pitchFamily="34" charset="-122"/>
              </a:rPr>
              <a:t>自定义</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并且是</a:t>
            </a:r>
            <a:r>
              <a:rPr lang="zh-CN" altLang="en-US" sz="2000" b="1" dirty="0">
                <a:solidFill>
                  <a:srgbClr val="C00000"/>
                </a:solidFill>
                <a:latin typeface="微软雅黑" panose="020B0503020204020204" pitchFamily="34" charset="-122"/>
                <a:ea typeface="微软雅黑" panose="020B0503020204020204" pitchFamily="34" charset="-122"/>
              </a:rPr>
              <a:t>无限制</a:t>
            </a:r>
            <a:r>
              <a:rPr lang="zh-CN" altLang="en-US" sz="2000" b="1" dirty="0" smtClean="0">
                <a:solidFill>
                  <a:srgbClr val="C00000"/>
                </a:solidFill>
                <a:latin typeface="微软雅黑" panose="020B0503020204020204" pitchFamily="34" charset="-122"/>
                <a:ea typeface="微软雅黑" panose="020B0503020204020204" pitchFamily="34" charset="-122"/>
              </a:rPr>
              <a:t>的；</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简单，与平台</a:t>
            </a:r>
            <a:r>
              <a:rPr lang="zh-CN" altLang="en-US" sz="2000" b="1" dirty="0">
                <a:solidFill>
                  <a:srgbClr val="C00000"/>
                </a:solidFill>
                <a:latin typeface="微软雅黑" panose="020B0503020204020204" pitchFamily="34" charset="-122"/>
                <a:ea typeface="微软雅黑" panose="020B0503020204020204" pitchFamily="34" charset="-122"/>
              </a:rPr>
              <a:t>无关；</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将用户界面与结构化数据</a:t>
            </a:r>
            <a:r>
              <a:rPr lang="zh-CN" altLang="en-US" sz="2000" b="1" dirty="0">
                <a:solidFill>
                  <a:srgbClr val="C00000"/>
                </a:solidFill>
                <a:latin typeface="微软雅黑" panose="020B0503020204020204" pitchFamily="34" charset="-122"/>
                <a:ea typeface="微软雅黑" panose="020B0503020204020204" pitchFamily="34" charset="-122"/>
              </a:rPr>
              <a:t>分隔</a:t>
            </a:r>
            <a:r>
              <a:rPr lang="zh-CN" altLang="en-US" sz="2000" b="1" dirty="0">
                <a:latin typeface="微软雅黑" panose="020B0503020204020204" pitchFamily="34" charset="-122"/>
                <a:ea typeface="微软雅黑" panose="020B0503020204020204" pitchFamily="34" charset="-122"/>
              </a:rPr>
              <a:t>开来</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860"/>
            <a:ext cx="8029253"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620"/>
            <a:ext cx="76976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XML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4899"/>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可扩展超文本标记</a:t>
            </a:r>
            <a:r>
              <a:rPr lang="zh-CN" altLang="en-US" sz="2000" b="1" dirty="0" smtClean="0">
                <a:solidFill>
                  <a:srgbClr val="C00000"/>
                </a:solidFill>
                <a:latin typeface="微软雅黑" panose="020B0503020204020204" pitchFamily="34" charset="-122"/>
                <a:ea typeface="微软雅黑" panose="020B0503020204020204" pitchFamily="34" charset="-122"/>
              </a:rPr>
              <a:t>语言 </a:t>
            </a:r>
            <a:r>
              <a:rPr lang="en-US" altLang="zh-CN" sz="2000" b="1" dirty="0" smtClean="0">
                <a:solidFill>
                  <a:srgbClr val="C00000"/>
                </a:solidFill>
                <a:latin typeface="微软雅黑" panose="020B0503020204020204" pitchFamily="34" charset="-122"/>
                <a:ea typeface="微软雅黑" panose="020B0503020204020204" pitchFamily="34" charset="-122"/>
              </a:rPr>
              <a:t>XHTML </a:t>
            </a:r>
            <a:r>
              <a:rPr lang="en-US" altLang="zh-CN" sz="2000" b="1" dirty="0">
                <a:latin typeface="微软雅黑" panose="020B0503020204020204" pitchFamily="34" charset="-122"/>
                <a:ea typeface="微软雅黑" panose="020B0503020204020204" pitchFamily="34" charset="-122"/>
              </a:rPr>
              <a:t>(Extensible HTML) </a:t>
            </a:r>
            <a:r>
              <a:rPr lang="zh-CN" altLang="en-US" sz="2000" b="1" dirty="0" smtClean="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HTML 4.01 </a:t>
            </a:r>
            <a:r>
              <a:rPr lang="zh-CN" altLang="en-US" sz="2000" b="1" dirty="0" smtClean="0">
                <a:latin typeface="微软雅黑" panose="020B0503020204020204" pitchFamily="34" charset="-122"/>
                <a:ea typeface="微软雅黑" panose="020B0503020204020204" pitchFamily="34" charset="-122"/>
              </a:rPr>
              <a:t>几乎相同，是</a:t>
            </a:r>
            <a:r>
              <a:rPr lang="zh-CN" altLang="en-US" sz="2000" b="1" dirty="0">
                <a:latin typeface="微软雅黑" panose="020B0503020204020204" pitchFamily="34" charset="-122"/>
                <a:ea typeface="微软雅黑" panose="020B0503020204020204" pitchFamily="34" charset="-122"/>
              </a:rPr>
              <a:t>更严格的 </a:t>
            </a:r>
            <a:r>
              <a:rPr lang="en-US" altLang="zh-CN" sz="2000" b="1" dirty="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版本。</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一种 </a:t>
            </a:r>
            <a:r>
              <a:rPr lang="en-US" altLang="zh-CN" sz="2000" b="1" dirty="0">
                <a:latin typeface="微软雅黑" panose="020B0503020204020204" pitchFamily="34" charset="-122"/>
                <a:ea typeface="微软雅黑" panose="020B0503020204020204" pitchFamily="34" charset="-122"/>
              </a:rPr>
              <a:t>XML </a:t>
            </a:r>
            <a:r>
              <a:rPr lang="zh-CN" altLang="en-US" sz="2000" b="1" dirty="0">
                <a:latin typeface="微软雅黑" panose="020B0503020204020204" pitchFamily="34" charset="-122"/>
                <a:ea typeface="微软雅黑" panose="020B0503020204020204" pitchFamily="34" charset="-122"/>
              </a:rPr>
              <a:t>应用被重新定义的 </a:t>
            </a:r>
            <a:r>
              <a:rPr lang="en-US" altLang="zh-CN" sz="2000" b="1" dirty="0">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，将</a:t>
            </a:r>
            <a:r>
              <a:rPr lang="zh-CN" altLang="en-US" sz="2000" b="1" dirty="0">
                <a:latin typeface="微软雅黑" panose="020B0503020204020204" pitchFamily="34" charset="-122"/>
                <a:ea typeface="微软雅黑" panose="020B0503020204020204" pitchFamily="34" charset="-122"/>
              </a:rPr>
              <a:t>逐渐取代 </a:t>
            </a:r>
            <a:r>
              <a:rPr lang="en-US" altLang="zh-CN" sz="2000" b="1" dirty="0">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74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1507"/>
            <a:ext cx="114005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XHTML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5076"/>
            <a:ext cx="817866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层叠样式</a:t>
            </a:r>
            <a:r>
              <a:rPr lang="zh-CN" altLang="en-US" sz="2000" b="1" dirty="0" smtClean="0">
                <a:solidFill>
                  <a:srgbClr val="C00000"/>
                </a:solidFill>
                <a:latin typeface="微软雅黑" panose="020B0503020204020204" pitchFamily="34" charset="-122"/>
                <a:ea typeface="微软雅黑" panose="020B0503020204020204" pitchFamily="34" charset="-122"/>
              </a:rPr>
              <a:t>表 </a:t>
            </a:r>
            <a:r>
              <a:rPr lang="en-US" altLang="zh-CN" sz="2000" b="1" dirty="0" smtClean="0">
                <a:solidFill>
                  <a:srgbClr val="C00000"/>
                </a:solidFill>
                <a:latin typeface="微软雅黑" panose="020B0503020204020204" pitchFamily="34" charset="-122"/>
                <a:ea typeface="微软雅黑" panose="020B0503020204020204" pitchFamily="34" charset="-122"/>
              </a:rPr>
              <a:t>CSS </a:t>
            </a:r>
            <a:r>
              <a:rPr lang="en-US" altLang="zh-CN" sz="2000" b="1" dirty="0">
                <a:latin typeface="微软雅黑" panose="020B0503020204020204" pitchFamily="34" charset="-122"/>
                <a:ea typeface="微软雅黑" panose="020B0503020204020204" pitchFamily="34" charset="-122"/>
              </a:rPr>
              <a:t>(Cascading Style Sheets)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一种样式表语言，用于为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r>
              <a:rPr lang="zh-CN" altLang="en-US" sz="2000" b="1" dirty="0">
                <a:solidFill>
                  <a:srgbClr val="C00000"/>
                </a:solidFill>
                <a:latin typeface="微软雅黑" panose="020B0503020204020204" pitchFamily="34" charset="-122"/>
                <a:ea typeface="微软雅黑" panose="020B0503020204020204" pitchFamily="34" charset="-122"/>
              </a:rPr>
              <a:t>定义布局。</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CSS </a:t>
            </a:r>
            <a:r>
              <a:rPr lang="zh-CN" altLang="en-US" sz="2000" b="1" dirty="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用于结构化内容，而 </a:t>
            </a:r>
            <a:r>
              <a:rPr lang="en-US" altLang="zh-CN" sz="2000" b="1" dirty="0">
                <a:latin typeface="微软雅黑" panose="020B0503020204020204" pitchFamily="34" charset="-122"/>
                <a:ea typeface="微软雅黑" panose="020B0503020204020204" pitchFamily="34" charset="-122"/>
              </a:rPr>
              <a:t>CSS </a:t>
            </a:r>
            <a:r>
              <a:rPr lang="zh-CN" altLang="en-US" sz="2000" b="1" dirty="0">
                <a:latin typeface="微软雅黑" panose="020B0503020204020204" pitchFamily="34" charset="-122"/>
                <a:ea typeface="微软雅黑" panose="020B0503020204020204" pitchFamily="34" charset="-122"/>
              </a:rPr>
              <a:t>则用于格式化结构化的内容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精确规定在</a:t>
            </a:r>
            <a:r>
              <a:rPr lang="zh-CN" altLang="en-US" sz="2000" b="1" dirty="0">
                <a:latin typeface="微软雅黑" panose="020B0503020204020204" pitchFamily="34" charset="-122"/>
                <a:ea typeface="微软雅黑" panose="020B0503020204020204" pitchFamily="34" charset="-122"/>
              </a:rPr>
              <a:t>浏览器上显示的字体、颜色、边距、高度、宽度、背景图像</a:t>
            </a:r>
            <a:r>
              <a:rPr lang="zh-CN" altLang="en-US" sz="2000" b="1" dirty="0" smtClean="0">
                <a:latin typeface="微软雅黑" panose="020B0503020204020204" pitchFamily="34" charset="-122"/>
                <a:ea typeface="微软雅黑" panose="020B0503020204020204" pitchFamily="34" charset="-122"/>
              </a:rPr>
              <a:t>等。</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92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80828"/>
            <a:ext cx="66556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CSS</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29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76088"/>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动态万维网</a:t>
            </a:r>
            <a:r>
              <a:rPr lang="zh-CN" altLang="en-US" sz="2000" b="1" dirty="0" smtClean="0">
                <a:solidFill>
                  <a:schemeClr val="bg1"/>
                </a:solidFill>
                <a:latin typeface="微软雅黑" panose="020B0503020204020204" pitchFamily="34" charset="-122"/>
                <a:ea typeface="微软雅黑" panose="020B0503020204020204" pitchFamily="34" charset="-122"/>
              </a:rPr>
              <a:t>文档</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0389"/>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静态</a:t>
            </a:r>
            <a:r>
              <a:rPr lang="zh-CN" altLang="en-US" sz="2000" b="1" dirty="0" smtClean="0">
                <a:solidFill>
                  <a:srgbClr val="C00000"/>
                </a:solidFill>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该</a:t>
            </a:r>
            <a:r>
              <a:rPr lang="zh-CN" altLang="en-US" sz="2000" b="1" dirty="0">
                <a:latin typeface="微软雅黑" panose="020B0503020204020204" pitchFamily="34" charset="-122"/>
                <a:ea typeface="微软雅黑" panose="020B0503020204020204" pitchFamily="34" charset="-122"/>
              </a:rPr>
              <a:t>文档创作完毕后就存放在万维网服务器中，在被用户浏览的过程中，内容不会改变。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动态</a:t>
            </a:r>
            <a:r>
              <a:rPr lang="zh-CN" altLang="en-US" sz="2000" b="1" dirty="0" smtClean="0">
                <a:solidFill>
                  <a:srgbClr val="C00000"/>
                </a:solidFill>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文档</a:t>
            </a:r>
            <a:r>
              <a:rPr lang="zh-CN" altLang="en-US" sz="2000" b="1" dirty="0">
                <a:latin typeface="微软雅黑" panose="020B0503020204020204" pitchFamily="34" charset="-122"/>
                <a:ea typeface="微软雅黑" panose="020B0503020204020204" pitchFamily="34" charset="-122"/>
              </a:rPr>
              <a:t>的内容是在浏览器访问万维网服务器时才由应用程序动态创建。</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动态文档和静态文档之间的</a:t>
            </a:r>
            <a:r>
              <a:rPr lang="zh-CN" altLang="en-US" sz="2000" b="1" dirty="0">
                <a:solidFill>
                  <a:srgbClr val="C00000"/>
                </a:solidFill>
                <a:latin typeface="微软雅黑" panose="020B0503020204020204" pitchFamily="34" charset="-122"/>
                <a:ea typeface="微软雅黑" panose="020B0503020204020204" pitchFamily="34" charset="-122"/>
              </a:rPr>
              <a:t>主要差别</a:t>
            </a:r>
            <a:r>
              <a:rPr lang="zh-CN" altLang="en-US" sz="2000" b="1" dirty="0">
                <a:latin typeface="微软雅黑" panose="020B0503020204020204" pitchFamily="34" charset="-122"/>
                <a:ea typeface="微软雅黑" panose="020B0503020204020204" pitchFamily="34" charset="-122"/>
              </a:rPr>
              <a:t>体现在</a:t>
            </a:r>
            <a:r>
              <a:rPr lang="zh-CN" altLang="en-US" sz="2000" b="1" dirty="0" smtClean="0">
                <a:solidFill>
                  <a:srgbClr val="0000FF"/>
                </a:solidFill>
                <a:latin typeface="微软雅黑" panose="020B0503020204020204" pitchFamily="34" charset="-122"/>
                <a:ea typeface="微软雅黑" panose="020B0503020204020204" pitchFamily="34" charset="-122"/>
              </a:rPr>
              <a:t>服务器端：</a:t>
            </a:r>
            <a:r>
              <a:rPr lang="zh-CN" altLang="en-US" sz="2000" b="1" dirty="0" smtClean="0">
                <a:latin typeface="微软雅黑" panose="020B0503020204020204" pitchFamily="34" charset="-122"/>
                <a:ea typeface="微软雅黑" panose="020B0503020204020204" pitchFamily="34" charset="-122"/>
              </a:rPr>
              <a:t>文档</a:t>
            </a:r>
            <a:r>
              <a:rPr lang="zh-CN" altLang="en-US" sz="2000" b="1" dirty="0">
                <a:latin typeface="微软雅黑" panose="020B0503020204020204" pitchFamily="34" charset="-122"/>
                <a:ea typeface="微软雅黑" panose="020B0503020204020204" pitchFamily="34" charset="-122"/>
              </a:rPr>
              <a:t>内容的生成方法不同</a:t>
            </a:r>
            <a:r>
              <a:rPr lang="zh-CN" altLang="en-US" sz="2000" b="1" dirty="0" smtClean="0">
                <a:latin typeface="微软雅黑" panose="020B0503020204020204" pitchFamily="34" charset="-122"/>
                <a:ea typeface="微软雅黑" panose="020B0503020204020204" pitchFamily="34" charset="-122"/>
              </a:rPr>
              <a:t>。从</a:t>
            </a:r>
            <a:r>
              <a:rPr lang="zh-CN" altLang="en-US" sz="2000" b="1" dirty="0">
                <a:latin typeface="微软雅黑" panose="020B0503020204020204" pitchFamily="34" charset="-122"/>
                <a:ea typeface="微软雅黑" panose="020B0503020204020204" pitchFamily="34" charset="-122"/>
              </a:rPr>
              <a:t>浏览器的角度看，这两种文档并没有区别。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54011"/>
            <a:ext cx="812069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增加一</a:t>
            </a:r>
            <a:r>
              <a:rPr lang="zh-CN" altLang="en-US" sz="2000" b="1" dirty="0">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应用程序：</a:t>
            </a:r>
            <a:r>
              <a:rPr lang="zh-CN" altLang="en-US" sz="2000" b="1" dirty="0" smtClean="0">
                <a:latin typeface="微软雅黑" panose="020B0503020204020204" pitchFamily="34" charset="-122"/>
                <a:ea typeface="微软雅黑" panose="020B0503020204020204" pitchFamily="34" charset="-122"/>
              </a:rPr>
              <a:t>处理</a:t>
            </a:r>
            <a:r>
              <a:rPr lang="zh-CN" altLang="en-US" sz="2000" b="1" dirty="0">
                <a:latin typeface="微软雅黑" panose="020B0503020204020204" pitchFamily="34" charset="-122"/>
                <a:ea typeface="微软雅黑" panose="020B0503020204020204" pitchFamily="34" charset="-122"/>
              </a:rPr>
              <a:t>浏览器发来的数据，并创建动态文档。</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(2) </a:t>
            </a:r>
            <a:r>
              <a:rPr lang="zh-CN" altLang="en-US" sz="2000" b="1" dirty="0" smtClean="0">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一个</a:t>
            </a:r>
            <a:r>
              <a:rPr lang="zh-CN" altLang="en-US" sz="2000" b="1" dirty="0" smtClean="0">
                <a:solidFill>
                  <a:srgbClr val="C00000"/>
                </a:solidFill>
                <a:latin typeface="微软雅黑" panose="020B0503020204020204" pitchFamily="34" charset="-122"/>
                <a:ea typeface="微软雅黑" panose="020B0503020204020204" pitchFamily="34" charset="-122"/>
              </a:rPr>
              <a:t>机制：</a:t>
            </a:r>
            <a:r>
              <a:rPr lang="zh-CN" altLang="en-US" sz="2000" b="1" dirty="0" smtClean="0">
                <a:latin typeface="微软雅黑" panose="020B0503020204020204" pitchFamily="34" charset="-122"/>
                <a:ea typeface="微软雅黑" panose="020B0503020204020204" pitchFamily="34" charset="-122"/>
              </a:rPr>
              <a:t>使</a:t>
            </a:r>
            <a:r>
              <a:rPr lang="zh-CN" altLang="en-US" sz="2000" b="1" dirty="0">
                <a:latin typeface="微软雅黑" panose="020B0503020204020204" pitchFamily="34" charset="-122"/>
                <a:ea typeface="微软雅黑" panose="020B0503020204020204" pitchFamily="34" charset="-122"/>
              </a:rPr>
              <a:t>万维网服务器把浏览器发来的数据</a:t>
            </a:r>
            <a:r>
              <a:rPr lang="zh-CN" altLang="en-US" sz="2000" b="1" dirty="0">
                <a:solidFill>
                  <a:srgbClr val="0000FF"/>
                </a:solidFill>
                <a:latin typeface="微软雅黑" panose="020B0503020204020204" pitchFamily="34" charset="-122"/>
                <a:ea typeface="微软雅黑" panose="020B0503020204020204" pitchFamily="34" charset="-122"/>
              </a:rPr>
              <a:t>传送</a:t>
            </a:r>
            <a:r>
              <a:rPr lang="zh-CN" altLang="en-US" sz="2000" b="1" dirty="0">
                <a:latin typeface="微软雅黑" panose="020B0503020204020204" pitchFamily="34" charset="-122"/>
                <a:ea typeface="微软雅黑" panose="020B0503020204020204" pitchFamily="34" charset="-122"/>
              </a:rPr>
              <a:t>给这个应用程序，然后万维网服务器能够</a:t>
            </a:r>
            <a:r>
              <a:rPr lang="zh-CN" altLang="en-US" sz="2000" b="1" dirty="0">
                <a:solidFill>
                  <a:srgbClr val="0000FF"/>
                </a:solidFill>
                <a:latin typeface="微软雅黑" panose="020B0503020204020204" pitchFamily="34" charset="-122"/>
                <a:ea typeface="微软雅黑" panose="020B0503020204020204" pitchFamily="34" charset="-122"/>
              </a:rPr>
              <a:t>解释</a:t>
            </a:r>
            <a:r>
              <a:rPr lang="zh-CN" altLang="en-US" sz="2000" b="1" dirty="0">
                <a:latin typeface="微软雅黑" panose="020B0503020204020204" pitchFamily="34" charset="-122"/>
                <a:ea typeface="微软雅黑" panose="020B0503020204020204" pitchFamily="34" charset="-122"/>
              </a:rPr>
              <a:t>这个应用程序的输出，并向浏览器</a:t>
            </a:r>
            <a:r>
              <a:rPr lang="zh-CN" altLang="en-US" sz="2000" b="1" dirty="0">
                <a:solidFill>
                  <a:srgbClr val="0000FF"/>
                </a:solidFill>
                <a:latin typeface="微软雅黑" panose="020B0503020204020204" pitchFamily="34" charset="-122"/>
                <a:ea typeface="微软雅黑" panose="020B0503020204020204" pitchFamily="34" charset="-122"/>
              </a:rPr>
              <a:t>返回</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85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1475"/>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万维网服务器功能的</a:t>
            </a:r>
            <a:r>
              <a:rPr lang="zh-CN" altLang="en-US" sz="2000" b="1" dirty="0" smtClean="0">
                <a:latin typeface="微软雅黑" panose="020B0503020204020204" pitchFamily="34" charset="-122"/>
                <a:ea typeface="微软雅黑" panose="020B0503020204020204" pitchFamily="34" charset="-122"/>
              </a:rPr>
              <a:t>扩充</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7"/>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464089" y="1306545"/>
            <a:ext cx="1117348" cy="1564286"/>
          </a:xfrm>
          <a:prstGeom prst="rect">
            <a:avLst/>
          </a:prstGeom>
        </p:spPr>
      </p:pic>
      <p:pic>
        <p:nvPicPr>
          <p:cNvPr id="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9331" y="1565693"/>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6"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63675"/>
            <a:ext cx="326243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扩充了功能的万维网</a:t>
            </a:r>
            <a:r>
              <a:rPr lang="zh-CN" altLang="en-US" sz="2000" b="1" dirty="0" smtClean="0">
                <a:latin typeface="微软雅黑" panose="020B0503020204020204" pitchFamily="34" charset="-122"/>
                <a:ea typeface="微软雅黑" panose="020B0503020204020204" pitchFamily="34" charset="-122"/>
              </a:rPr>
              <a:t>服务器</a:t>
            </a:r>
            <a:endParaRPr lang="zh-CN" altLang="en-US" sz="2000" b="1" dirty="0">
              <a:latin typeface="微软雅黑" panose="020B0503020204020204" pitchFamily="34" charset="-122"/>
              <a:ea typeface="微软雅黑" panose="020B0503020204020204" pitchFamily="34" charset="-122"/>
            </a:endParaRPr>
          </a:p>
        </p:txBody>
      </p:sp>
      <p:grpSp>
        <p:nvGrpSpPr>
          <p:cNvPr id="13" name="Group 49"/>
          <p:cNvGrpSpPr/>
          <p:nvPr/>
        </p:nvGrpSpPr>
        <p:grpSpPr bwMode="auto">
          <a:xfrm>
            <a:off x="5765827" y="1852999"/>
            <a:ext cx="1421552" cy="824975"/>
            <a:chOff x="3530" y="1904"/>
            <a:chExt cx="1150" cy="723"/>
          </a:xfrm>
        </p:grpSpPr>
        <p:sp>
          <p:nvSpPr>
            <p:cNvPr id="14" name="AutoShape 5"/>
            <p:cNvSpPr>
              <a:spLocks noChangeArrowheads="1"/>
            </p:cNvSpPr>
            <p:nvPr/>
          </p:nvSpPr>
          <p:spPr bwMode="auto">
            <a:xfrm>
              <a:off x="4238" y="1904"/>
              <a:ext cx="442" cy="289"/>
            </a:xfrm>
            <a:prstGeom prst="can">
              <a:avLst>
                <a:gd name="adj" fmla="val 39583"/>
              </a:avLst>
            </a:prstGeom>
            <a:solidFill>
              <a:srgbClr val="00CC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V="1">
              <a:off x="3985" y="2177"/>
              <a:ext cx="393" cy="232"/>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3530" y="2276"/>
              <a:ext cx="186" cy="181"/>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7" name="Oval 13"/>
            <p:cNvSpPr>
              <a:spLocks noChangeArrowheads="1"/>
            </p:cNvSpPr>
            <p:nvPr/>
          </p:nvSpPr>
          <p:spPr bwMode="auto">
            <a:xfrm>
              <a:off x="3658" y="2401"/>
              <a:ext cx="450" cy="226"/>
            </a:xfrm>
            <a:prstGeom prst="ellipse">
              <a:avLst/>
            </a:prstGeom>
            <a:solidFill>
              <a:srgbClr val="FFC0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400" b="1" dirty="0">
                  <a:latin typeface="微软雅黑" panose="020B0503020204020204" pitchFamily="34" charset="-122"/>
                  <a:ea typeface="微软雅黑" panose="020B0503020204020204" pitchFamily="34" charset="-122"/>
                </a:rPr>
                <a:t>CGI</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Group 45"/>
          <p:cNvGrpSpPr/>
          <p:nvPr/>
        </p:nvGrpSpPr>
        <p:grpSpPr bwMode="auto">
          <a:xfrm>
            <a:off x="2223070" y="3241656"/>
            <a:ext cx="4154643" cy="1200381"/>
            <a:chOff x="664" y="3124"/>
            <a:chExt cx="3361" cy="1052"/>
          </a:xfrm>
        </p:grpSpPr>
        <p:sp>
          <p:nvSpPr>
            <p:cNvPr id="19" name="Line 32"/>
            <p:cNvSpPr>
              <a:spLocks noChangeShapeType="1"/>
            </p:cNvSpPr>
            <p:nvPr/>
          </p:nvSpPr>
          <p:spPr bwMode="auto">
            <a:xfrm flipH="1" flipV="1">
              <a:off x="664" y="36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sp>
          <p:nvSpPr>
            <p:cNvPr id="21" name="Text Box 36"/>
            <p:cNvSpPr txBox="1">
              <a:spLocks noChangeArrowheads="1"/>
            </p:cNvSpPr>
            <p:nvPr/>
          </p:nvSpPr>
          <p:spPr bwMode="auto">
            <a:xfrm>
              <a:off x="2795" y="3217"/>
              <a:ext cx="123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响应动态文档</a:t>
              </a:r>
              <a:endParaRPr kumimoji="1" lang="zh-CN" altLang="en-US" sz="1400" b="1" dirty="0">
                <a:latin typeface="微软雅黑" panose="020B0503020204020204" pitchFamily="34" charset="-122"/>
                <a:ea typeface="微软雅黑" panose="020B0503020204020204" pitchFamily="34" charset="-122"/>
              </a:endParaRPr>
            </a:p>
          </p:txBody>
        </p:sp>
        <p:grpSp>
          <p:nvGrpSpPr>
            <p:cNvPr id="22" name="Group 37"/>
            <p:cNvGrpSpPr/>
            <p:nvPr/>
          </p:nvGrpSpPr>
          <p:grpSpPr bwMode="auto">
            <a:xfrm flipH="1">
              <a:off x="1039" y="3509"/>
              <a:ext cx="1433" cy="321"/>
              <a:chOff x="1152" y="1824"/>
              <a:chExt cx="1296" cy="240"/>
            </a:xfrm>
          </p:grpSpPr>
          <p:sp>
            <p:nvSpPr>
              <p:cNvPr id="23"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响应报文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grpSp>
      <p:sp>
        <p:nvSpPr>
          <p:cNvPr id="25" name="Rectangle 6"/>
          <p:cNvSpPr>
            <a:spLocks noChangeArrowheads="1"/>
          </p:cNvSpPr>
          <p:nvPr/>
        </p:nvSpPr>
        <p:spPr bwMode="auto">
          <a:xfrm>
            <a:off x="5439488" y="1030307"/>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26" name="Oval 7"/>
          <p:cNvSpPr>
            <a:spLocks noChangeArrowheads="1"/>
          </p:cNvSpPr>
          <p:nvPr/>
        </p:nvSpPr>
        <p:spPr bwMode="auto">
          <a:xfrm>
            <a:off x="5464090" y="2037719"/>
            <a:ext cx="531658" cy="259166"/>
          </a:xfrm>
          <a:prstGeom prst="ellipse">
            <a:avLst/>
          </a:prstGeom>
          <a:solidFill>
            <a:srgbClr val="00FFFF"/>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Rectangle 8"/>
          <p:cNvSpPr>
            <a:spLocks noChangeArrowheads="1"/>
          </p:cNvSpPr>
          <p:nvPr/>
        </p:nvSpPr>
        <p:spPr bwMode="auto">
          <a:xfrm>
            <a:off x="2940772" y="151751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anose="020B0503020204020204" pitchFamily="34" charset="-122"/>
                <a:ea typeface="微软雅黑" panose="020B0503020204020204" pitchFamily="34" charset="-122"/>
              </a:rPr>
              <a:t>浏览器</a:t>
            </a:r>
            <a:endParaRPr kumimoji="1" lang="zh-CN" altLang="en-US" sz="1400" b="1" dirty="0">
              <a:latin typeface="微软雅黑" panose="020B0503020204020204" pitchFamily="34" charset="-122"/>
              <a:ea typeface="微软雅黑" panose="020B0503020204020204" pitchFamily="34" charset="-122"/>
            </a:endParaRPr>
          </a:p>
          <a:p>
            <a:pPr>
              <a:lnSpc>
                <a:spcPct val="90000"/>
              </a:lnSpc>
            </a:pPr>
            <a:r>
              <a:rPr kumimoji="1" lang="zh-CN" altLang="en-US" sz="1400" b="1" dirty="0">
                <a:latin typeface="微软雅黑" panose="020B0503020204020204" pitchFamily="34" charset="-122"/>
                <a:ea typeface="微软雅黑" panose="020B0503020204020204" pitchFamily="34" charset="-122"/>
              </a:rPr>
              <a:t> 程序</a:t>
            </a:r>
            <a:endParaRPr kumimoji="1" lang="zh-CN" altLang="en-US" sz="1400" b="1" dirty="0">
              <a:latin typeface="微软雅黑" panose="020B0503020204020204" pitchFamily="34" charset="-122"/>
              <a:ea typeface="微软雅黑" panose="020B0503020204020204" pitchFamily="34" charset="-122"/>
            </a:endParaRPr>
          </a:p>
        </p:txBody>
      </p:sp>
      <p:sp>
        <p:nvSpPr>
          <p:cNvPr id="28" name="Rectangle 9"/>
          <p:cNvSpPr>
            <a:spLocks noChangeArrowheads="1"/>
          </p:cNvSpPr>
          <p:nvPr/>
        </p:nvSpPr>
        <p:spPr bwMode="auto">
          <a:xfrm>
            <a:off x="1815383" y="1290466"/>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万维网客户</a:t>
            </a:r>
            <a:endParaRPr kumimoji="1" lang="zh-CN" altLang="en-US" sz="1400" b="1" dirty="0">
              <a:latin typeface="微软雅黑" panose="020B0503020204020204" pitchFamily="34" charset="-122"/>
              <a:ea typeface="微软雅黑" panose="020B0503020204020204" pitchFamily="34" charset="-122"/>
            </a:endParaRPr>
          </a:p>
        </p:txBody>
      </p:sp>
      <p:sp>
        <p:nvSpPr>
          <p:cNvPr id="29" name="Line 10"/>
          <p:cNvSpPr>
            <a:spLocks noChangeShapeType="1"/>
          </p:cNvSpPr>
          <p:nvPr/>
        </p:nvSpPr>
        <p:spPr bwMode="auto">
          <a:xfrm>
            <a:off x="5067412" y="1803669"/>
            <a:ext cx="605705" cy="379093"/>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0" name="Rectangle 11"/>
          <p:cNvSpPr>
            <a:spLocks noChangeArrowheads="1"/>
          </p:cNvSpPr>
          <p:nvPr/>
        </p:nvSpPr>
        <p:spPr bwMode="auto">
          <a:xfrm>
            <a:off x="4460470" y="1529820"/>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a:p>
            <a:pPr>
              <a:lnSpc>
                <a:spcPct val="90000"/>
              </a:lnSpc>
            </a:pPr>
            <a:r>
              <a:rPr kumimoji="1" lang="zh-CN" altLang="en-US" sz="1400" b="1">
                <a:latin typeface="微软雅黑" panose="020B0503020204020204" pitchFamily="34" charset="-122"/>
                <a:ea typeface="微软雅黑" panose="020B0503020204020204" pitchFamily="34" charset="-122"/>
              </a:rPr>
              <a:t> 程序</a:t>
            </a:r>
            <a:endParaRPr kumimoji="1" lang="zh-CN" altLang="en-US" sz="1400" b="1">
              <a:latin typeface="微软雅黑" panose="020B0503020204020204" pitchFamily="34" charset="-122"/>
              <a:ea typeface="微软雅黑" panose="020B0503020204020204" pitchFamily="34" charset="-122"/>
            </a:endParaRPr>
          </a:p>
        </p:txBody>
      </p:sp>
      <p:sp>
        <p:nvSpPr>
          <p:cNvPr id="31" name="Rectangle 12"/>
          <p:cNvSpPr>
            <a:spLocks noChangeArrowheads="1"/>
          </p:cNvSpPr>
          <p:nvPr/>
        </p:nvSpPr>
        <p:spPr bwMode="auto">
          <a:xfrm>
            <a:off x="3686651" y="1935156"/>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anose="020B0503020204020204" pitchFamily="34" charset="-122"/>
                <a:ea typeface="微软雅黑" panose="020B0503020204020204" pitchFamily="34" charset="-122"/>
              </a:rPr>
              <a:t>HTTP</a:t>
            </a:r>
            <a:endParaRPr kumimoji="1" lang="en-US" altLang="zh-CN" sz="1400" b="1">
              <a:latin typeface="微软雅黑" panose="020B0503020204020204" pitchFamily="34" charset="-122"/>
              <a:ea typeface="微软雅黑" panose="020B0503020204020204" pitchFamily="34" charset="-122"/>
            </a:endParaRPr>
          </a:p>
        </p:txBody>
      </p:sp>
      <p:sp>
        <p:nvSpPr>
          <p:cNvPr id="32" name="Rectangle 16"/>
          <p:cNvSpPr>
            <a:spLocks noChangeArrowheads="1"/>
          </p:cNvSpPr>
          <p:nvPr/>
        </p:nvSpPr>
        <p:spPr bwMode="auto">
          <a:xfrm>
            <a:off x="6544861" y="1572303"/>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数据库</a:t>
            </a:r>
            <a:endParaRPr kumimoji="1" lang="zh-CN" altLang="en-US" sz="1400" b="1" dirty="0">
              <a:latin typeface="微软雅黑" panose="020B0503020204020204" pitchFamily="34" charset="-122"/>
              <a:ea typeface="微软雅黑" panose="020B0503020204020204" pitchFamily="34" charset="-122"/>
            </a:endParaRPr>
          </a:p>
        </p:txBody>
      </p:sp>
      <p:sp>
        <p:nvSpPr>
          <p:cNvPr id="34" name="Oval 20"/>
          <p:cNvSpPr>
            <a:spLocks noChangeArrowheads="1"/>
          </p:cNvSpPr>
          <p:nvPr/>
        </p:nvSpPr>
        <p:spPr bwMode="auto">
          <a:xfrm>
            <a:off x="2054028" y="2058059"/>
            <a:ext cx="567551" cy="257114"/>
          </a:xfrm>
          <a:prstGeom prst="ellipse">
            <a:avLst/>
          </a:prstGeom>
          <a:solidFill>
            <a:srgbClr val="66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Line 21"/>
          <p:cNvSpPr>
            <a:spLocks noChangeShapeType="1"/>
          </p:cNvSpPr>
          <p:nvPr/>
        </p:nvSpPr>
        <p:spPr bwMode="auto">
          <a:xfrm flipH="1">
            <a:off x="2423324" y="1803669"/>
            <a:ext cx="585052" cy="397351"/>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7" name="Group 50"/>
          <p:cNvGrpSpPr/>
          <p:nvPr/>
        </p:nvGrpSpPr>
        <p:grpSpPr bwMode="auto">
          <a:xfrm>
            <a:off x="1935051" y="2782951"/>
            <a:ext cx="3964277" cy="1325894"/>
            <a:chOff x="431" y="2722"/>
            <a:chExt cx="3207" cy="1162"/>
          </a:xfrm>
        </p:grpSpPr>
        <p:sp>
          <p:nvSpPr>
            <p:cNvPr id="38" name="Line 27"/>
            <p:cNvSpPr>
              <a:spLocks noChangeShapeType="1"/>
            </p:cNvSpPr>
            <p:nvPr/>
          </p:nvSpPr>
          <p:spPr bwMode="auto">
            <a:xfrm>
              <a:off x="664" y="2791"/>
              <a:ext cx="0" cy="1093"/>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8"/>
            <p:cNvSpPr>
              <a:spLocks noChangeShapeType="1"/>
            </p:cNvSpPr>
            <p:nvPr/>
          </p:nvSpPr>
          <p:spPr bwMode="auto">
            <a:xfrm>
              <a:off x="3638" y="2855"/>
              <a:ext cx="0" cy="1029"/>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44"/>
            <p:cNvGrpSpPr/>
            <p:nvPr/>
          </p:nvGrpSpPr>
          <p:grpSpPr bwMode="auto">
            <a:xfrm>
              <a:off x="431" y="2722"/>
              <a:ext cx="3207" cy="519"/>
              <a:chOff x="431" y="2722"/>
              <a:chExt cx="3207" cy="519"/>
            </a:xfrm>
          </p:grpSpPr>
          <p:sp>
            <p:nvSpPr>
              <p:cNvPr id="41" name="Line 23"/>
              <p:cNvSpPr>
                <a:spLocks noChangeShapeType="1"/>
              </p:cNvSpPr>
              <p:nvPr/>
            </p:nvSpPr>
            <p:spPr bwMode="auto">
              <a:xfrm flipV="1">
                <a:off x="673" y="30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2" name="Group 24"/>
              <p:cNvGrpSpPr/>
              <p:nvPr/>
            </p:nvGrpSpPr>
            <p:grpSpPr bwMode="auto">
              <a:xfrm>
                <a:off x="1419" y="2919"/>
                <a:ext cx="1461" cy="322"/>
                <a:chOff x="1152" y="1824"/>
                <a:chExt cx="1296" cy="240"/>
              </a:xfrm>
            </p:grpSpPr>
            <p:sp>
              <p:nvSpPr>
                <p:cNvPr id="44"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请求文档</a:t>
                </a:r>
                <a:endParaRPr kumimoji="1" lang="zh-CN" altLang="en-US" sz="1400" b="1" dirty="0">
                  <a:latin typeface="微软雅黑" panose="020B0503020204020204" pitchFamily="34" charset="-122"/>
                  <a:ea typeface="微软雅黑" panose="020B0503020204020204" pitchFamily="34" charset="-122"/>
                </a:endParaRPr>
              </a:p>
            </p:txBody>
          </p:sp>
        </p:grpSp>
      </p:grpSp>
      <p:grpSp>
        <p:nvGrpSpPr>
          <p:cNvPr id="46" name="Group 42"/>
          <p:cNvGrpSpPr/>
          <p:nvPr/>
        </p:nvGrpSpPr>
        <p:grpSpPr bwMode="auto">
          <a:xfrm>
            <a:off x="6355464" y="2624355"/>
            <a:ext cx="1976577" cy="1353282"/>
            <a:chOff x="3909" y="2533"/>
            <a:chExt cx="1599" cy="1186"/>
          </a:xfrm>
        </p:grpSpPr>
        <p:sp>
          <p:nvSpPr>
            <p:cNvPr id="47" name="Line 30"/>
            <p:cNvSpPr>
              <a:spLocks noChangeShapeType="1"/>
            </p:cNvSpPr>
            <p:nvPr/>
          </p:nvSpPr>
          <p:spPr bwMode="auto">
            <a:xfrm>
              <a:off x="3909" y="2533"/>
              <a:ext cx="278" cy="336"/>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a:off x="4260" y="2552"/>
              <a:ext cx="1248" cy="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800" b="1" dirty="0">
                  <a:latin typeface="微软雅黑" panose="020B0503020204020204" pitchFamily="34" charset="-122"/>
                  <a:ea typeface="微软雅黑" panose="020B0503020204020204" pitchFamily="34" charset="-122"/>
                </a:rPr>
                <a:t> </a:t>
              </a:r>
              <a:r>
                <a:rPr kumimoji="1" lang="en-US" altLang="zh-CN" sz="1400" b="1" dirty="0">
                  <a:latin typeface="微软雅黑" panose="020B0503020204020204" pitchFamily="34" charset="-122"/>
                  <a:ea typeface="微软雅黑" panose="020B0503020204020204" pitchFamily="34" charset="-122"/>
                </a:rPr>
                <a:t>CGI </a:t>
              </a:r>
              <a:r>
                <a:rPr kumimoji="1" lang="zh-CN" altLang="en-US" sz="1400" b="1" dirty="0">
                  <a:latin typeface="微软雅黑" panose="020B0503020204020204" pitchFamily="34" charset="-122"/>
                  <a:ea typeface="微软雅黑" panose="020B0503020204020204" pitchFamily="34" charset="-122"/>
                </a:rPr>
                <a:t>程序创建</a:t>
              </a:r>
              <a:endParaRPr kumimoji="1" lang="zh-CN" altLang="en-US"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动态文档</a:t>
              </a:r>
              <a:endParaRPr kumimoji="1" lang="zh-CN" altLang="en-US" sz="1400" b="1" dirty="0">
                <a:latin typeface="微软雅黑" panose="020B0503020204020204" pitchFamily="34" charset="-122"/>
                <a:ea typeface="微软雅黑" panose="020B0503020204020204" pitchFamily="34" charset="-122"/>
              </a:endParaRPr>
            </a:p>
          </p:txBody>
        </p:sp>
        <p:sp>
          <p:nvSpPr>
            <p:cNvPr id="49" name="Text Box 35"/>
            <p:cNvSpPr txBox="1">
              <a:spLocks noChangeArrowheads="1"/>
            </p:cNvSpPr>
            <p:nvPr/>
          </p:nvSpPr>
          <p:spPr bwMode="auto">
            <a:xfrm>
              <a:off x="4035" y="2667"/>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grpSp>
      <p:sp>
        <p:nvSpPr>
          <p:cNvPr id="50" name="Line 15"/>
          <p:cNvSpPr>
            <a:spLocks noChangeShapeType="1"/>
          </p:cNvSpPr>
          <p:nvPr/>
        </p:nvSpPr>
        <p:spPr bwMode="auto">
          <a:xfrm>
            <a:off x="2490075" y="2219308"/>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2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right)">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29685"/>
            <a:ext cx="804877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通用网关接口 </a:t>
            </a:r>
            <a:r>
              <a:rPr lang="en-US" altLang="zh-CN" sz="2000" b="1" dirty="0" smtClean="0">
                <a:solidFill>
                  <a:srgbClr val="C00000"/>
                </a:solidFill>
                <a:latin typeface="微软雅黑" panose="020B0503020204020204" pitchFamily="34" charset="-122"/>
                <a:ea typeface="微软雅黑" panose="020B0503020204020204" pitchFamily="34" charset="-122"/>
              </a:rPr>
              <a:t>CGI </a:t>
            </a:r>
            <a:r>
              <a:rPr lang="en-US" altLang="zh-CN" sz="2000" b="1" dirty="0">
                <a:latin typeface="微软雅黑" panose="020B0503020204020204" pitchFamily="34" charset="-122"/>
                <a:ea typeface="微软雅黑" panose="020B0503020204020204" pitchFamily="34" charset="-122"/>
              </a:rPr>
              <a:t>(Common Gateway Interface) </a:t>
            </a:r>
            <a:r>
              <a:rPr lang="zh-CN" altLang="en-US" sz="2000" b="1" dirty="0" smtClean="0">
                <a:latin typeface="微软雅黑" panose="020B0503020204020204" pitchFamily="34" charset="-122"/>
                <a:ea typeface="微软雅黑" panose="020B0503020204020204" pitchFamily="34" charset="-122"/>
              </a:rPr>
              <a:t>：定义动态</a:t>
            </a:r>
            <a:r>
              <a:rPr lang="zh-CN" altLang="en-US" sz="2000" b="1" dirty="0">
                <a:latin typeface="微软雅黑" panose="020B0503020204020204" pitchFamily="34" charset="-122"/>
                <a:ea typeface="微软雅黑" panose="020B0503020204020204" pitchFamily="34" charset="-122"/>
              </a:rPr>
              <a:t>文档应如何创建，输入数据应如何提供给应用程序，以及输出结果应如何</a:t>
            </a:r>
            <a:r>
              <a:rPr lang="zh-CN" altLang="en-US" sz="2000" b="1" dirty="0" smtClean="0">
                <a:latin typeface="微软雅黑" panose="020B0503020204020204" pitchFamily="34" charset="-122"/>
                <a:ea typeface="微软雅黑" panose="020B0503020204020204" pitchFamily="34" charset="-122"/>
              </a:rPr>
              <a:t>使用的一</a:t>
            </a:r>
            <a:r>
              <a:rPr lang="zh-CN" altLang="en-US" sz="2000" b="1" dirty="0">
                <a:latin typeface="微软雅黑" panose="020B0503020204020204" pitchFamily="34" charset="-122"/>
                <a:ea typeface="微软雅黑" panose="020B0503020204020204" pitchFamily="34" charset="-122"/>
              </a:rPr>
              <a:t>种</a:t>
            </a:r>
            <a:r>
              <a:rPr lang="zh-CN" altLang="en-US" sz="2000" b="1" dirty="0" smtClean="0">
                <a:latin typeface="微软雅黑" panose="020B0503020204020204" pitchFamily="34" charset="-122"/>
                <a:ea typeface="微软雅黑" panose="020B0503020204020204" pitchFamily="34" charset="-122"/>
              </a:rPr>
              <a:t>标准。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通用</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标准所定义的规则对其他任何语言都是通用的。</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网关</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程序的作用像网关。</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接口</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有一些已定义好的变量和调用等可供其他 </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程序使用。 </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516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2927"/>
            <a:ext cx="63177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CGI</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344"/>
            <a:ext cx="804877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正式名字：</a:t>
            </a:r>
            <a:r>
              <a:rPr lang="en-US" altLang="zh-CN" sz="2000" b="1" dirty="0" smtClean="0">
                <a:solidFill>
                  <a:srgbClr val="C00000"/>
                </a:solidFill>
                <a:latin typeface="微软雅黑" panose="020B0503020204020204" pitchFamily="34" charset="-122"/>
                <a:ea typeface="微软雅黑" panose="020B0503020204020204" pitchFamily="34" charset="-122"/>
              </a:rPr>
              <a:t>CGI </a:t>
            </a:r>
            <a:r>
              <a:rPr lang="zh-CN" altLang="en-US" sz="2000" b="1" dirty="0">
                <a:solidFill>
                  <a:srgbClr val="C00000"/>
                </a:solidFill>
                <a:latin typeface="微软雅黑" panose="020B0503020204020204" pitchFamily="34" charset="-122"/>
                <a:ea typeface="微软雅黑" panose="020B0503020204020204" pitchFamily="34" charset="-122"/>
              </a:rPr>
              <a:t>脚本 </a:t>
            </a:r>
            <a:r>
              <a:rPr lang="en-US" altLang="zh-CN" sz="2000" b="1" dirty="0">
                <a:latin typeface="微软雅黑" panose="020B0503020204020204" pitchFamily="34" charset="-122"/>
                <a:ea typeface="微软雅黑" panose="020B0503020204020204" pitchFamily="34" charset="-122"/>
              </a:rPr>
              <a:t>(script)</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脚本</a:t>
            </a:r>
            <a:r>
              <a:rPr lang="zh-CN" altLang="en-US" sz="2000" b="1" dirty="0" smtClean="0">
                <a:latin typeface="微软雅黑" panose="020B0503020204020204" pitchFamily="34" charset="-122"/>
                <a:ea typeface="微软雅黑" panose="020B0503020204020204" pitchFamily="34" charset="-122"/>
              </a:rPr>
              <a:t>：指</a:t>
            </a:r>
            <a:r>
              <a:rPr lang="zh-CN" altLang="en-US" sz="2000" b="1" dirty="0">
                <a:latin typeface="微软雅黑" panose="020B0503020204020204" pitchFamily="34" charset="-122"/>
                <a:ea typeface="微软雅黑" panose="020B0503020204020204" pitchFamily="34" charset="-122"/>
              </a:rPr>
              <a:t>的是一个程序，它被另一个程序（解释程序）而不是计算机的处理机来解释或执行</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脚本语言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script language</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：如 </a:t>
            </a:r>
            <a:r>
              <a:rPr lang="en-US" altLang="zh-CN" sz="2000" b="1" dirty="0" smtClean="0">
                <a:latin typeface="微软雅黑" panose="020B0503020204020204" pitchFamily="34" charset="-122"/>
                <a:ea typeface="微软雅黑" panose="020B0503020204020204" pitchFamily="34" charset="-122"/>
              </a:rPr>
              <a:t>Perl</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JavaScript</a:t>
            </a:r>
            <a:r>
              <a:rPr lang="zh-CN" altLang="en-US"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Tcl</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Tk</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等。也</a:t>
            </a:r>
            <a:r>
              <a:rPr lang="zh-CN" altLang="en-US" sz="2000" b="1" dirty="0">
                <a:latin typeface="微软雅黑" panose="020B0503020204020204" pitchFamily="34" charset="-122"/>
                <a:ea typeface="微软雅黑" panose="020B0503020204020204" pitchFamily="34" charset="-122"/>
              </a:rPr>
              <a:t>可用一些常用的编程语言写出，</a:t>
            </a:r>
            <a:r>
              <a:rPr lang="zh-CN" altLang="en-US" sz="2000" b="1" dirty="0" smtClean="0">
                <a:latin typeface="微软雅黑" panose="020B0503020204020204" pitchFamily="34" charset="-122"/>
                <a:ea typeface="微软雅黑" panose="020B0503020204020204" pitchFamily="34" charset="-122"/>
              </a:rPr>
              <a:t>如 </a:t>
            </a:r>
            <a:r>
              <a:rPr lang="en-US" altLang="zh-CN" sz="2000" b="1" dirty="0" smtClean="0">
                <a:latin typeface="微软雅黑" panose="020B0503020204020204" pitchFamily="34" charset="-122"/>
                <a:ea typeface="微软雅黑" panose="020B0503020204020204" pitchFamily="34" charset="-122"/>
              </a:rPr>
              <a:t>C</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a:t>
            </a:r>
            <a:r>
              <a:rPr lang="zh-CN" altLang="en-US" sz="2000" b="1" dirty="0">
                <a:latin typeface="微软雅黑" panose="020B0503020204020204" pitchFamily="34" charset="-122"/>
                <a:ea typeface="微软雅黑" panose="020B0503020204020204" pitchFamily="34" charset="-122"/>
              </a:rPr>
              <a:t>等</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脚本运行起来要比一般的编译程序要</a:t>
            </a:r>
            <a:r>
              <a:rPr lang="zh-CN" altLang="en-US" sz="2000" b="1" dirty="0" smtClean="0">
                <a:latin typeface="微软雅黑" panose="020B0503020204020204" pitchFamily="34" charset="-122"/>
                <a:ea typeface="微软雅黑" panose="020B0503020204020204" pitchFamily="34" charset="-122"/>
              </a:rPr>
              <a:t>慢。</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脚本不一定是一个独立的程序</a:t>
            </a: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是一个动态装入的库，甚至是服务器的一个子程序</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9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708"/>
            <a:ext cx="173464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CGI </a:t>
            </a:r>
            <a:r>
              <a:rPr lang="zh-CN" altLang="en-US" sz="2000" b="1" dirty="0" smtClean="0">
                <a:latin typeface="微软雅黑" panose="020B0503020204020204" pitchFamily="34" charset="-122"/>
                <a:ea typeface="微软雅黑" panose="020B0503020204020204" pitchFamily="34" charset="-122"/>
              </a:rPr>
              <a:t>网关程序</a:t>
            </a:r>
            <a:endParaRPr lang="zh-CN" altLang="en-US" sz="2000" b="1" dirty="0">
              <a:latin typeface="微软雅黑" panose="020B0503020204020204" pitchFamily="34" charset="-122"/>
              <a:ea typeface="微软雅黑" panose="020B0503020204020204" pitchFamily="34" charset="-122"/>
            </a:endParaRPr>
          </a:p>
        </p:txBody>
      </p:sp>
      <p:grpSp>
        <p:nvGrpSpPr>
          <p:cNvPr id="7" name="组合 6"/>
          <p:cNvGrpSpPr/>
          <p:nvPr/>
        </p:nvGrpSpPr>
        <p:grpSpPr>
          <a:xfrm>
            <a:off x="1154100" y="3809875"/>
            <a:ext cx="6684885" cy="824269"/>
            <a:chOff x="1154100" y="3809875"/>
            <a:chExt cx="6684885" cy="824269"/>
          </a:xfrm>
        </p:grpSpPr>
        <p:sp>
          <p:nvSpPr>
            <p:cNvPr id="5" name="对角圆角矩形 4"/>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CGI </a:t>
              </a:r>
              <a:r>
                <a:rPr lang="zh-CN" altLang="en-US" b="1" dirty="0">
                  <a:solidFill>
                    <a:schemeClr val="bg1"/>
                  </a:solidFill>
                  <a:latin typeface="微软雅黑" panose="020B0503020204020204" pitchFamily="34" charset="-122"/>
                  <a:ea typeface="微软雅黑" panose="020B0503020204020204" pitchFamily="34" charset="-122"/>
                </a:rPr>
                <a:t>程序又称为 </a:t>
              </a:r>
              <a:r>
                <a:rPr lang="en-US" altLang="zh-CN" b="1" dirty="0" err="1">
                  <a:solidFill>
                    <a:schemeClr val="bg1"/>
                  </a:solidFill>
                  <a:latin typeface="微软雅黑" panose="020B0503020204020204" pitchFamily="34" charset="-122"/>
                  <a:ea typeface="微软雅黑" panose="020B0503020204020204" pitchFamily="34" charset="-122"/>
                </a:rPr>
                <a:t>cgi</a:t>
              </a:r>
              <a:r>
                <a:rPr lang="en-US" altLang="zh-CN" b="1" dirty="0">
                  <a:solidFill>
                    <a:schemeClr val="bg1"/>
                  </a:solidFill>
                  <a:latin typeface="微软雅黑" panose="020B0503020204020204" pitchFamily="34" charset="-122"/>
                  <a:ea typeface="微软雅黑" panose="020B0503020204020204" pitchFamily="34" charset="-122"/>
                </a:rPr>
                <a:t>-bin </a:t>
              </a:r>
              <a:r>
                <a:rPr lang="zh-CN" altLang="en-US" b="1" dirty="0">
                  <a:solidFill>
                    <a:schemeClr val="bg1"/>
                  </a:solidFill>
                  <a:latin typeface="微软雅黑" panose="020B0503020204020204" pitchFamily="34" charset="-122"/>
                  <a:ea typeface="微软雅黑" panose="020B0503020204020204" pitchFamily="34" charset="-122"/>
                </a:rPr>
                <a:t>脚本</a:t>
              </a:r>
              <a:r>
                <a:rPr lang="zh-CN" altLang="en-US" b="1" dirty="0" smtClean="0">
                  <a:solidFill>
                    <a:schemeClr val="bg1"/>
                  </a:solidFill>
                  <a:latin typeface="微软雅黑" panose="020B0503020204020204" pitchFamily="34" charset="-122"/>
                  <a:ea typeface="微软雅黑" panose="020B0503020204020204" pitchFamily="34" charset="-122"/>
                </a:rPr>
                <a:t>，因为</a:t>
              </a:r>
              <a:r>
                <a:rPr lang="zh-CN" altLang="en-US" b="1" dirty="0">
                  <a:solidFill>
                    <a:schemeClr val="bg1"/>
                  </a:solidFill>
                  <a:latin typeface="微软雅黑" panose="020B0503020204020204" pitchFamily="34" charset="-122"/>
                  <a:ea typeface="微软雅黑" panose="020B0503020204020204" pitchFamily="34" charset="-122"/>
                </a:rPr>
                <a:t>在许多万维网服务器上</a:t>
              </a:r>
              <a:r>
                <a:rPr lang="zh-CN" altLang="en-US" b="1" dirty="0" smtClean="0">
                  <a:solidFill>
                    <a:schemeClr val="bg1"/>
                  </a:solidFill>
                  <a:latin typeface="微软雅黑" panose="020B0503020204020204" pitchFamily="34" charset="-122"/>
                  <a:ea typeface="微软雅黑" panose="020B0503020204020204" pitchFamily="34" charset="-122"/>
                </a:rPr>
                <a:t>，将 </a:t>
              </a:r>
              <a:r>
                <a:rPr lang="en-US" altLang="zh-CN" b="1" dirty="0" smtClean="0">
                  <a:solidFill>
                    <a:schemeClr val="bg1"/>
                  </a:solidFill>
                  <a:latin typeface="微软雅黑" panose="020B0503020204020204" pitchFamily="34" charset="-122"/>
                  <a:ea typeface="微软雅黑" panose="020B0503020204020204" pitchFamily="34" charset="-122"/>
                </a:rPr>
                <a:t>CGI </a:t>
              </a:r>
              <a:r>
                <a:rPr lang="zh-CN" altLang="en-US" b="1" dirty="0" smtClean="0">
                  <a:solidFill>
                    <a:schemeClr val="bg1"/>
                  </a:solidFill>
                  <a:latin typeface="微软雅黑" panose="020B0503020204020204" pitchFamily="34" charset="-122"/>
                  <a:ea typeface="微软雅黑" panose="020B0503020204020204" pitchFamily="34" charset="-122"/>
                </a:rPr>
                <a:t>程序</a:t>
              </a:r>
              <a:r>
                <a:rPr lang="zh-CN" altLang="en-US" b="1" dirty="0">
                  <a:solidFill>
                    <a:schemeClr val="bg1"/>
                  </a:solidFill>
                  <a:latin typeface="微软雅黑" panose="020B0503020204020204" pitchFamily="34" charset="-122"/>
                  <a:ea typeface="微软雅黑" panose="020B0503020204020204" pitchFamily="34" charset="-122"/>
                </a:rPr>
                <a:t>放</a:t>
              </a:r>
              <a:r>
                <a:rPr lang="zh-CN" altLang="en-US" b="1" dirty="0" smtClean="0">
                  <a:solidFill>
                    <a:schemeClr val="bg1"/>
                  </a:solidFill>
                  <a:latin typeface="微软雅黑" panose="020B0503020204020204" pitchFamily="34" charset="-122"/>
                  <a:ea typeface="微软雅黑" panose="020B0503020204020204" pitchFamily="34" charset="-122"/>
                </a:rPr>
                <a:t>在 </a:t>
              </a:r>
              <a:r>
                <a:rPr lang="en-US" altLang="zh-CN" b="1" dirty="0" smtClean="0">
                  <a:solidFill>
                    <a:srgbClr val="FFFF00"/>
                  </a:solidFill>
                  <a:latin typeface="微软雅黑" panose="020B0503020204020204" pitchFamily="34" charset="-122"/>
                  <a:ea typeface="微软雅黑" panose="020B0503020204020204" pitchFamily="34" charset="-122"/>
                </a:rPr>
                <a:t>/</a:t>
              </a:r>
              <a:r>
                <a:rPr lang="en-US" altLang="zh-CN" b="1" dirty="0" err="1" smtClean="0">
                  <a:solidFill>
                    <a:srgbClr val="FFFF00"/>
                  </a:solidFill>
                  <a:latin typeface="微软雅黑" panose="020B0503020204020204" pitchFamily="34" charset="-122"/>
                  <a:ea typeface="微软雅黑" panose="020B0503020204020204" pitchFamily="34" charset="-122"/>
                </a:rPr>
                <a:t>cgi</a:t>
              </a:r>
              <a:r>
                <a:rPr lang="en-US" altLang="zh-CN" b="1" dirty="0" smtClean="0">
                  <a:solidFill>
                    <a:srgbClr val="FFFF00"/>
                  </a:solidFill>
                  <a:latin typeface="微软雅黑" panose="020B0503020204020204" pitchFamily="34" charset="-122"/>
                  <a:ea typeface="微软雅黑" panose="020B0503020204020204" pitchFamily="34" charset="-122"/>
                </a:rPr>
                <a:t>-bin </a:t>
              </a:r>
              <a:r>
                <a:rPr lang="zh-CN" altLang="en-US" b="1" dirty="0" smtClean="0">
                  <a:solidFill>
                    <a:schemeClr val="bg1"/>
                  </a:solidFill>
                  <a:latin typeface="微软雅黑" panose="020B0503020204020204" pitchFamily="34" charset="-122"/>
                  <a:ea typeface="微软雅黑" panose="020B0503020204020204" pitchFamily="34" charset="-122"/>
                </a:rPr>
                <a:t>的目录下。</a:t>
              </a:r>
              <a:endParaRPr lang="zh-CN" altLang="en-US" b="1" dirty="0">
                <a:solidFill>
                  <a:srgbClr val="FFC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82480"/>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活动万维网文档</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67903"/>
            <a:ext cx="8285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活动文档 </a:t>
            </a:r>
            <a:r>
              <a:rPr lang="en-US" altLang="zh-CN" sz="2000" b="1" dirty="0">
                <a:solidFill>
                  <a:srgbClr val="C00000"/>
                </a:solidFill>
                <a:latin typeface="微软雅黑" panose="020B0503020204020204" pitchFamily="34" charset="-122"/>
                <a:ea typeface="微软雅黑" panose="020B0503020204020204" pitchFamily="34" charset="-122"/>
              </a:rPr>
              <a:t>(active document) </a:t>
            </a:r>
            <a:r>
              <a:rPr lang="zh-CN" altLang="en-US" sz="2000" b="1" dirty="0" smtClean="0">
                <a:solidFill>
                  <a:srgbClr val="C00000"/>
                </a:solidFill>
                <a:latin typeface="微软雅黑" panose="020B0503020204020204" pitchFamily="34" charset="-122"/>
                <a:ea typeface="微软雅黑" panose="020B0503020204020204" pitchFamily="34" charset="-122"/>
              </a:rPr>
              <a:t>技术：</a:t>
            </a:r>
            <a:r>
              <a:rPr lang="zh-CN" altLang="en-US" sz="2000" b="1" dirty="0" smtClean="0">
                <a:latin typeface="微软雅黑" panose="020B0503020204020204" pitchFamily="34" charset="-122"/>
                <a:ea typeface="微软雅黑" panose="020B0503020204020204" pitchFamily="34" charset="-122"/>
              </a:rPr>
              <a:t>把</a:t>
            </a:r>
            <a:r>
              <a:rPr lang="zh-CN" altLang="en-US" sz="2000" b="1" dirty="0">
                <a:latin typeface="微软雅黑" panose="020B0503020204020204" pitchFamily="34" charset="-122"/>
                <a:ea typeface="微软雅黑" panose="020B0503020204020204" pitchFamily="34" charset="-122"/>
              </a:rPr>
              <a:t>屏幕连续更新</a:t>
            </a:r>
            <a:r>
              <a:rPr lang="zh-CN" altLang="en-US" sz="2000" b="1" dirty="0" smtClean="0">
                <a:latin typeface="微软雅黑" panose="020B0503020204020204" pitchFamily="34" charset="-122"/>
                <a:ea typeface="微软雅黑" panose="020B0503020204020204" pitchFamily="34" charset="-122"/>
              </a:rPr>
              <a:t>的工作转移</a:t>
            </a:r>
            <a:r>
              <a:rPr lang="zh-CN" altLang="en-US" sz="2000" b="1" dirty="0">
                <a:latin typeface="微软雅黑" panose="020B0503020204020204" pitchFamily="34" charset="-122"/>
                <a:ea typeface="微软雅黑" panose="020B0503020204020204" pitchFamily="34" charset="-122"/>
              </a:rPr>
              <a:t>给</a:t>
            </a:r>
            <a:r>
              <a:rPr lang="zh-CN" altLang="en-US" sz="2000" b="1" dirty="0">
                <a:solidFill>
                  <a:srgbClr val="0000FF"/>
                </a:solidFill>
                <a:latin typeface="微软雅黑" panose="020B0503020204020204" pitchFamily="34" charset="-122"/>
                <a:ea typeface="微软雅黑" panose="020B0503020204020204" pitchFamily="34" charset="-122"/>
              </a:rPr>
              <a:t>浏览器端。</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每当浏览器请求一个活动文档时，服务器就返回一段</a:t>
            </a:r>
            <a:r>
              <a:rPr lang="zh-CN" altLang="en-US" sz="2000" b="1" dirty="0">
                <a:solidFill>
                  <a:srgbClr val="C00000"/>
                </a:solidFill>
                <a:latin typeface="微软雅黑" panose="020B0503020204020204" pitchFamily="34" charset="-122"/>
                <a:ea typeface="微软雅黑" panose="020B0503020204020204" pitchFamily="34" charset="-122"/>
              </a:rPr>
              <a:t>程序副本</a:t>
            </a:r>
            <a:r>
              <a:rPr lang="zh-CN" altLang="en-US" sz="2000" b="1" dirty="0">
                <a:latin typeface="微软雅黑" panose="020B0503020204020204" pitchFamily="34" charset="-122"/>
                <a:ea typeface="微软雅黑" panose="020B0503020204020204" pitchFamily="34" charset="-122"/>
              </a:rPr>
              <a:t>在浏览器端运行。</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活动文档程序可与用户</a:t>
            </a:r>
            <a:r>
              <a:rPr lang="zh-CN" altLang="en-US" sz="2000" b="1" dirty="0">
                <a:solidFill>
                  <a:srgbClr val="C00000"/>
                </a:solidFill>
                <a:latin typeface="微软雅黑" panose="020B0503020204020204" pitchFamily="34" charset="-122"/>
                <a:ea typeface="微软雅黑" panose="020B0503020204020204" pitchFamily="34" charset="-122"/>
              </a:rPr>
              <a:t>直接交互，</a:t>
            </a:r>
            <a:r>
              <a:rPr lang="zh-CN" altLang="en-US" sz="2000" b="1" dirty="0">
                <a:latin typeface="微软雅黑" panose="020B0503020204020204" pitchFamily="34" charset="-122"/>
                <a:ea typeface="微软雅黑" panose="020B0503020204020204" pitchFamily="34" charset="-122"/>
              </a:rPr>
              <a:t>并可连续地改变屏幕的显示。</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由于活动文档技术</a:t>
            </a:r>
            <a:r>
              <a:rPr lang="zh-CN" altLang="en-US" sz="2000" b="1" dirty="0">
                <a:solidFill>
                  <a:srgbClr val="C00000"/>
                </a:solidFill>
                <a:latin typeface="微软雅黑" panose="020B0503020204020204" pitchFamily="34" charset="-122"/>
                <a:ea typeface="微软雅黑" panose="020B0503020204020204" pitchFamily="34" charset="-122"/>
              </a:rPr>
              <a:t>不需要</a:t>
            </a:r>
            <a:r>
              <a:rPr lang="zh-CN" altLang="en-US" sz="2000" b="1" dirty="0">
                <a:latin typeface="微软雅黑" panose="020B0503020204020204" pitchFamily="34" charset="-122"/>
                <a:ea typeface="微软雅黑" panose="020B0503020204020204" pitchFamily="34" charset="-122"/>
              </a:rPr>
              <a:t>服务器的连续更新传送，对网络带宽的要求也不会太高。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5490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Text Box 35"/>
          <p:cNvSpPr txBox="1">
            <a:spLocks noChangeArrowheads="1"/>
          </p:cNvSpPr>
          <p:nvPr/>
        </p:nvSpPr>
        <p:spPr bwMode="auto">
          <a:xfrm>
            <a:off x="6787313" y="1644546"/>
            <a:ext cx="830681" cy="1200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pic>
        <p:nvPicPr>
          <p:cNvPr id="3" name="图片 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464089" y="1310914"/>
            <a:ext cx="1117348" cy="1564286"/>
          </a:xfrm>
          <a:prstGeom prst="rect">
            <a:avLst/>
          </a:prstGeom>
        </p:spPr>
      </p:pic>
      <p:pic>
        <p:nvPicPr>
          <p:cNvPr id="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9331" y="1570062"/>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活动文档在客户端</a:t>
            </a:r>
            <a:r>
              <a:rPr lang="zh-CN" altLang="en-US" sz="2000" b="1" dirty="0" smtClean="0">
                <a:latin typeface="微软雅黑" panose="020B0503020204020204" pitchFamily="34" charset="-122"/>
                <a:ea typeface="微软雅黑" panose="020B0503020204020204" pitchFamily="34" charset="-122"/>
              </a:rPr>
              <a:t>创建</a:t>
            </a:r>
            <a:endParaRPr lang="zh-CN" altLang="en-US" sz="2000" b="1" dirty="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6920814" y="2608418"/>
            <a:ext cx="546370" cy="329762"/>
          </a:xfrm>
          <a:prstGeom prst="can">
            <a:avLst>
              <a:gd name="adj" fmla="val 39583"/>
            </a:avLst>
          </a:prstGeom>
          <a:solidFill>
            <a:srgbClr val="00CC00"/>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2" name="Group 45"/>
          <p:cNvGrpSpPr/>
          <p:nvPr/>
        </p:nvGrpSpPr>
        <p:grpSpPr bwMode="auto">
          <a:xfrm>
            <a:off x="2223070" y="3246025"/>
            <a:ext cx="3759079" cy="1200381"/>
            <a:chOff x="664" y="3124"/>
            <a:chExt cx="3041" cy="1052"/>
          </a:xfrm>
        </p:grpSpPr>
        <p:sp>
          <p:nvSpPr>
            <p:cNvPr id="13" name="Line 32"/>
            <p:cNvSpPr>
              <a:spLocks noChangeShapeType="1"/>
            </p:cNvSpPr>
            <p:nvPr/>
          </p:nvSpPr>
          <p:spPr bwMode="auto">
            <a:xfrm flipH="1" flipV="1">
              <a:off x="664" y="36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Text Box 36"/>
            <p:cNvSpPr txBox="1">
              <a:spLocks noChangeArrowheads="1"/>
            </p:cNvSpPr>
            <p:nvPr/>
          </p:nvSpPr>
          <p:spPr bwMode="auto">
            <a:xfrm>
              <a:off x="2809" y="3369"/>
              <a:ext cx="896"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800" b="1" dirty="0" smtClean="0">
                  <a:latin typeface="微软雅黑" panose="020B0503020204020204" pitchFamily="34" charset="-122"/>
                  <a:ea typeface="微软雅黑" panose="020B0503020204020204" pitchFamily="34" charset="-122"/>
                  <a:sym typeface="Wingdings" panose="05000000000000000000" pitchFamily="2" charset="2"/>
                </a:rPr>
                <a:t></a:t>
              </a:r>
              <a:r>
                <a:rPr kumimoji="1" lang="zh-CN" altLang="en-US" sz="1400" b="1" dirty="0" smtClean="0">
                  <a:latin typeface="微软雅黑" panose="020B0503020204020204" pitchFamily="34" charset="-122"/>
                  <a:ea typeface="微软雅黑" panose="020B0503020204020204" pitchFamily="34" charset="-122"/>
                </a:rPr>
                <a:t>响应程序</a:t>
              </a:r>
              <a:endParaRPr kumimoji="1" lang="zh-CN" altLang="en-US" sz="1400" b="1" dirty="0">
                <a:latin typeface="微软雅黑" panose="020B0503020204020204" pitchFamily="34" charset="-122"/>
                <a:ea typeface="微软雅黑" panose="020B0503020204020204" pitchFamily="34" charset="-122"/>
              </a:endParaRPr>
            </a:p>
          </p:txBody>
        </p:sp>
        <p:grpSp>
          <p:nvGrpSpPr>
            <p:cNvPr id="16" name="Group 37"/>
            <p:cNvGrpSpPr/>
            <p:nvPr/>
          </p:nvGrpSpPr>
          <p:grpSpPr bwMode="auto">
            <a:xfrm flipH="1">
              <a:off x="1039" y="3509"/>
              <a:ext cx="1433" cy="321"/>
              <a:chOff x="1152" y="1824"/>
              <a:chExt cx="1296" cy="240"/>
            </a:xfrm>
          </p:grpSpPr>
          <p:sp>
            <p:nvSpPr>
              <p:cNvPr id="17"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响应报文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14"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grpSp>
      <p:sp>
        <p:nvSpPr>
          <p:cNvPr id="19" name="Rectangle 6"/>
          <p:cNvSpPr>
            <a:spLocks noChangeArrowheads="1"/>
          </p:cNvSpPr>
          <p:nvPr/>
        </p:nvSpPr>
        <p:spPr bwMode="auto">
          <a:xfrm>
            <a:off x="5439488" y="1034676"/>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20" name="Oval 7"/>
          <p:cNvSpPr>
            <a:spLocks noChangeArrowheads="1"/>
          </p:cNvSpPr>
          <p:nvPr/>
        </p:nvSpPr>
        <p:spPr bwMode="auto">
          <a:xfrm>
            <a:off x="5464090" y="2042088"/>
            <a:ext cx="531658" cy="259166"/>
          </a:xfrm>
          <a:prstGeom prst="ellipse">
            <a:avLst/>
          </a:prstGeom>
          <a:solidFill>
            <a:srgbClr val="00FFFF"/>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 name="Rectangle 8"/>
          <p:cNvSpPr>
            <a:spLocks noChangeArrowheads="1"/>
          </p:cNvSpPr>
          <p:nvPr/>
        </p:nvSpPr>
        <p:spPr bwMode="auto">
          <a:xfrm>
            <a:off x="2940772" y="1521888"/>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anose="020B0503020204020204" pitchFamily="34" charset="-122"/>
                <a:ea typeface="微软雅黑" panose="020B0503020204020204" pitchFamily="34" charset="-122"/>
              </a:rPr>
              <a:t>浏览器</a:t>
            </a:r>
            <a:endParaRPr kumimoji="1" lang="zh-CN" altLang="en-US" sz="1400" b="1" dirty="0">
              <a:latin typeface="微软雅黑" panose="020B0503020204020204" pitchFamily="34" charset="-122"/>
              <a:ea typeface="微软雅黑" panose="020B0503020204020204" pitchFamily="34" charset="-122"/>
            </a:endParaRPr>
          </a:p>
          <a:p>
            <a:pPr>
              <a:lnSpc>
                <a:spcPct val="90000"/>
              </a:lnSpc>
            </a:pPr>
            <a:r>
              <a:rPr kumimoji="1" lang="zh-CN" altLang="en-US" sz="1400" b="1" dirty="0">
                <a:latin typeface="微软雅黑" panose="020B0503020204020204" pitchFamily="34" charset="-122"/>
                <a:ea typeface="微软雅黑" panose="020B0503020204020204" pitchFamily="34" charset="-122"/>
              </a:rPr>
              <a:t> 程序</a:t>
            </a:r>
            <a:endParaRPr kumimoji="1" lang="zh-CN" altLang="en-US" sz="1400" b="1" dirty="0">
              <a:latin typeface="微软雅黑" panose="020B0503020204020204" pitchFamily="34" charset="-122"/>
              <a:ea typeface="微软雅黑" panose="020B0503020204020204" pitchFamily="34" charset="-122"/>
            </a:endParaRPr>
          </a:p>
        </p:txBody>
      </p:sp>
      <p:sp>
        <p:nvSpPr>
          <p:cNvPr id="22" name="Rectangle 9"/>
          <p:cNvSpPr>
            <a:spLocks noChangeArrowheads="1"/>
          </p:cNvSpPr>
          <p:nvPr/>
        </p:nvSpPr>
        <p:spPr bwMode="auto">
          <a:xfrm>
            <a:off x="1815383" y="1294835"/>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万维网客户</a:t>
            </a:r>
            <a:endParaRPr kumimoji="1" lang="zh-CN" altLang="en-US" sz="1400" b="1" dirty="0">
              <a:latin typeface="微软雅黑" panose="020B0503020204020204" pitchFamily="34" charset="-122"/>
              <a:ea typeface="微软雅黑" panose="020B0503020204020204" pitchFamily="34" charset="-122"/>
            </a:endParaRPr>
          </a:p>
        </p:txBody>
      </p:sp>
      <p:sp>
        <p:nvSpPr>
          <p:cNvPr id="23" name="Line 10"/>
          <p:cNvSpPr>
            <a:spLocks noChangeShapeType="1"/>
          </p:cNvSpPr>
          <p:nvPr/>
        </p:nvSpPr>
        <p:spPr bwMode="auto">
          <a:xfrm>
            <a:off x="5067412" y="1808038"/>
            <a:ext cx="605705" cy="379093"/>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4" name="Rectangle 11"/>
          <p:cNvSpPr>
            <a:spLocks noChangeArrowheads="1"/>
          </p:cNvSpPr>
          <p:nvPr/>
        </p:nvSpPr>
        <p:spPr bwMode="auto">
          <a:xfrm>
            <a:off x="4460470" y="153418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a:p>
            <a:pPr>
              <a:lnSpc>
                <a:spcPct val="90000"/>
              </a:lnSpc>
            </a:pPr>
            <a:r>
              <a:rPr kumimoji="1" lang="zh-CN" altLang="en-US" sz="1400" b="1">
                <a:latin typeface="微软雅黑" panose="020B0503020204020204" pitchFamily="34" charset="-122"/>
                <a:ea typeface="微软雅黑" panose="020B0503020204020204" pitchFamily="34" charset="-122"/>
              </a:rPr>
              <a:t> 程序</a:t>
            </a:r>
            <a:endParaRPr kumimoji="1" lang="zh-CN" altLang="en-US" sz="1400" b="1">
              <a:latin typeface="微软雅黑" panose="020B0503020204020204" pitchFamily="34" charset="-122"/>
              <a:ea typeface="微软雅黑" panose="020B0503020204020204" pitchFamily="34" charset="-122"/>
            </a:endParaRPr>
          </a:p>
        </p:txBody>
      </p:sp>
      <p:sp>
        <p:nvSpPr>
          <p:cNvPr id="25" name="Rectangle 12"/>
          <p:cNvSpPr>
            <a:spLocks noChangeArrowheads="1"/>
          </p:cNvSpPr>
          <p:nvPr/>
        </p:nvSpPr>
        <p:spPr bwMode="auto">
          <a:xfrm>
            <a:off x="3686651" y="1939525"/>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anose="020B0503020204020204" pitchFamily="34" charset="-122"/>
                <a:ea typeface="微软雅黑" panose="020B0503020204020204" pitchFamily="34" charset="-122"/>
              </a:rPr>
              <a:t>HTTP</a:t>
            </a:r>
            <a:endParaRPr kumimoji="1" lang="en-US" altLang="zh-CN" sz="1400" b="1">
              <a:latin typeface="微软雅黑" panose="020B0503020204020204" pitchFamily="34" charset="-122"/>
              <a:ea typeface="微软雅黑" panose="020B0503020204020204" pitchFamily="34" charset="-122"/>
            </a:endParaRPr>
          </a:p>
        </p:txBody>
      </p:sp>
      <p:sp>
        <p:nvSpPr>
          <p:cNvPr id="27" name="Oval 20"/>
          <p:cNvSpPr>
            <a:spLocks noChangeArrowheads="1"/>
          </p:cNvSpPr>
          <p:nvPr/>
        </p:nvSpPr>
        <p:spPr bwMode="auto">
          <a:xfrm>
            <a:off x="2054028" y="2062428"/>
            <a:ext cx="567551" cy="257114"/>
          </a:xfrm>
          <a:prstGeom prst="ellipse">
            <a:avLst/>
          </a:prstGeom>
          <a:solidFill>
            <a:srgbClr val="66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Line 21"/>
          <p:cNvSpPr>
            <a:spLocks noChangeShapeType="1"/>
          </p:cNvSpPr>
          <p:nvPr/>
        </p:nvSpPr>
        <p:spPr bwMode="auto">
          <a:xfrm flipH="1">
            <a:off x="2423324" y="1808038"/>
            <a:ext cx="585052" cy="397351"/>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29" name="Group 50"/>
          <p:cNvGrpSpPr/>
          <p:nvPr/>
        </p:nvGrpSpPr>
        <p:grpSpPr bwMode="auto">
          <a:xfrm>
            <a:off x="1935051" y="2787320"/>
            <a:ext cx="3964277" cy="1325894"/>
            <a:chOff x="431" y="2722"/>
            <a:chExt cx="3207" cy="1162"/>
          </a:xfrm>
        </p:grpSpPr>
        <p:sp>
          <p:nvSpPr>
            <p:cNvPr id="30" name="Line 27"/>
            <p:cNvSpPr>
              <a:spLocks noChangeShapeType="1"/>
            </p:cNvSpPr>
            <p:nvPr/>
          </p:nvSpPr>
          <p:spPr bwMode="auto">
            <a:xfrm>
              <a:off x="664" y="2791"/>
              <a:ext cx="0" cy="1093"/>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28"/>
            <p:cNvSpPr>
              <a:spLocks noChangeShapeType="1"/>
            </p:cNvSpPr>
            <p:nvPr/>
          </p:nvSpPr>
          <p:spPr bwMode="auto">
            <a:xfrm>
              <a:off x="3638" y="2855"/>
              <a:ext cx="0" cy="1029"/>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2" name="Group 44"/>
            <p:cNvGrpSpPr/>
            <p:nvPr/>
          </p:nvGrpSpPr>
          <p:grpSpPr bwMode="auto">
            <a:xfrm>
              <a:off x="431" y="2722"/>
              <a:ext cx="3207" cy="519"/>
              <a:chOff x="431" y="2722"/>
              <a:chExt cx="3207" cy="519"/>
            </a:xfrm>
          </p:grpSpPr>
          <p:sp>
            <p:nvSpPr>
              <p:cNvPr id="33" name="Line 23"/>
              <p:cNvSpPr>
                <a:spLocks noChangeShapeType="1"/>
              </p:cNvSpPr>
              <p:nvPr/>
            </p:nvSpPr>
            <p:spPr bwMode="auto">
              <a:xfrm flipV="1">
                <a:off x="673" y="30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4" name="Group 24"/>
              <p:cNvGrpSpPr/>
              <p:nvPr/>
            </p:nvGrpSpPr>
            <p:grpSpPr bwMode="auto">
              <a:xfrm>
                <a:off x="1419" y="2919"/>
                <a:ext cx="1461" cy="322"/>
                <a:chOff x="1152" y="1824"/>
                <a:chExt cx="1296" cy="240"/>
              </a:xfrm>
            </p:grpSpPr>
            <p:sp>
              <p:nvSpPr>
                <p:cNvPr id="36"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35"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请求文档</a:t>
                </a:r>
                <a:endParaRPr kumimoji="1" lang="zh-CN" altLang="en-US" sz="1400" b="1" dirty="0">
                  <a:latin typeface="微软雅黑" panose="020B0503020204020204" pitchFamily="34" charset="-122"/>
                  <a:ea typeface="微软雅黑" panose="020B0503020204020204" pitchFamily="34" charset="-122"/>
                </a:endParaRPr>
              </a:p>
            </p:txBody>
          </p:sp>
        </p:grpSp>
      </p:grpSp>
      <p:sp>
        <p:nvSpPr>
          <p:cNvPr id="40" name="Text Box 31"/>
          <p:cNvSpPr txBox="1">
            <a:spLocks noChangeArrowheads="1"/>
          </p:cNvSpPr>
          <p:nvPr/>
        </p:nvSpPr>
        <p:spPr bwMode="auto">
          <a:xfrm>
            <a:off x="1039584" y="3445400"/>
            <a:ext cx="1176925" cy="800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en-US" altLang="zh-CN" sz="1800" b="1" dirty="0" smtClean="0">
                <a:solidFill>
                  <a:srgbClr val="0000FF"/>
                </a:solidFill>
                <a:latin typeface="微软雅黑" panose="020B0503020204020204" pitchFamily="34" charset="-122"/>
                <a:ea typeface="微软雅黑" panose="020B0503020204020204" pitchFamily="34" charset="-122"/>
                <a:sym typeface="Wingdings" panose="05000000000000000000" pitchFamily="2" charset="2"/>
              </a:rPr>
              <a:t> </a:t>
            </a:r>
            <a:r>
              <a:rPr kumimoji="1" lang="zh-CN" altLang="en-US" sz="1400" b="1" dirty="0" smtClean="0">
                <a:solidFill>
                  <a:srgbClr val="0000FF"/>
                </a:solidFill>
                <a:latin typeface="微软雅黑" panose="020B0503020204020204" pitchFamily="34" charset="-122"/>
                <a:ea typeface="微软雅黑" panose="020B0503020204020204" pitchFamily="34" charset="-122"/>
              </a:rPr>
              <a:t>此</a:t>
            </a:r>
            <a:r>
              <a:rPr kumimoji="1" lang="zh-CN" altLang="en-US" sz="1400" b="1" dirty="0">
                <a:solidFill>
                  <a:srgbClr val="0000FF"/>
                </a:solidFill>
                <a:latin typeface="微软雅黑" panose="020B0503020204020204" pitchFamily="34" charset="-122"/>
                <a:ea typeface="微软雅黑" panose="020B0503020204020204" pitchFamily="34" charset="-122"/>
              </a:rPr>
              <a:t>程序在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a:r>
              <a:rPr kumimoji="1" lang="zh-CN" altLang="en-US" sz="1400" b="1" dirty="0">
                <a:solidFill>
                  <a:srgbClr val="CC00FF"/>
                </a:solidFill>
                <a:latin typeface="微软雅黑" panose="020B0503020204020204" pitchFamily="34" charset="-122"/>
                <a:ea typeface="微软雅黑" panose="020B0503020204020204" pitchFamily="34" charset="-122"/>
              </a:rPr>
              <a:t>客户端</a:t>
            </a:r>
            <a:r>
              <a:rPr kumimoji="1" lang="zh-CN" altLang="en-US" sz="1400" b="1" dirty="0">
                <a:solidFill>
                  <a:srgbClr val="0000FF"/>
                </a:solidFill>
                <a:latin typeface="微软雅黑" panose="020B0503020204020204" pitchFamily="34" charset="-122"/>
                <a:ea typeface="微软雅黑" panose="020B0503020204020204" pitchFamily="34" charset="-122"/>
              </a:rPr>
              <a:t>创建</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a:r>
              <a:rPr kumimoji="1" lang="zh-CN" altLang="en-US" sz="1400" b="1" dirty="0">
                <a:solidFill>
                  <a:srgbClr val="0000FF"/>
                </a:solidFill>
                <a:latin typeface="微软雅黑" panose="020B0503020204020204" pitchFamily="34" charset="-122"/>
                <a:ea typeface="微软雅黑" panose="020B0503020204020204" pitchFamily="34" charset="-122"/>
              </a:rPr>
              <a:t>出活动文档</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42" name="Line 15"/>
          <p:cNvSpPr>
            <a:spLocks noChangeShapeType="1"/>
          </p:cNvSpPr>
          <p:nvPr/>
        </p:nvSpPr>
        <p:spPr bwMode="auto">
          <a:xfrm>
            <a:off x="2490075" y="2223677"/>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5" name="Text Box 31"/>
          <p:cNvSpPr txBox="1">
            <a:spLocks noChangeArrowheads="1"/>
          </p:cNvSpPr>
          <p:nvPr/>
        </p:nvSpPr>
        <p:spPr bwMode="auto">
          <a:xfrm>
            <a:off x="6490906" y="2955417"/>
            <a:ext cx="143940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latin typeface="微软雅黑" panose="020B0503020204020204" pitchFamily="34" charset="-122"/>
                <a:ea typeface="微软雅黑" panose="020B0503020204020204" pitchFamily="34" charset="-122"/>
              </a:rPr>
              <a:t>程序</a:t>
            </a:r>
            <a:r>
              <a:rPr kumimoji="1" lang="zh-CN" altLang="en-US" sz="1400" b="1" dirty="0">
                <a:solidFill>
                  <a:srgbClr val="0000FF"/>
                </a:solidFill>
                <a:latin typeface="微软雅黑" panose="020B0503020204020204" pitchFamily="34" charset="-122"/>
                <a:ea typeface="微软雅黑" panose="020B0503020204020204" pitchFamily="34" charset="-122"/>
              </a:rPr>
              <a:t>事先</a:t>
            </a:r>
            <a:r>
              <a:rPr kumimoji="1" lang="zh-CN" altLang="en-US" sz="1400" b="1" dirty="0">
                <a:latin typeface="微软雅黑" panose="020B0503020204020204" pitchFamily="34" charset="-122"/>
                <a:ea typeface="微软雅黑" panose="020B0503020204020204" pitchFamily="34" charset="-122"/>
              </a:rPr>
              <a:t>被编译成二进制代码，存放为文件</a:t>
            </a:r>
            <a:endParaRPr kumimoji="1" lang="zh-CN" altLang="en-US" sz="1400" b="1" dirty="0">
              <a:latin typeface="微软雅黑" panose="020B0503020204020204" pitchFamily="34" charset="-122"/>
              <a:ea typeface="微软雅黑" panose="020B0503020204020204" pitchFamily="34" charset="-122"/>
            </a:endParaRPr>
          </a:p>
        </p:txBody>
      </p:sp>
      <p:sp>
        <p:nvSpPr>
          <p:cNvPr id="10" name="Line 18"/>
          <p:cNvSpPr>
            <a:spLocks noChangeShapeType="1"/>
          </p:cNvSpPr>
          <p:nvPr/>
        </p:nvSpPr>
        <p:spPr bwMode="auto">
          <a:xfrm>
            <a:off x="5845975" y="2187131"/>
            <a:ext cx="1176617" cy="586168"/>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6" name="Text Box 31"/>
          <p:cNvSpPr txBox="1">
            <a:spLocks noChangeArrowheads="1"/>
          </p:cNvSpPr>
          <p:nvPr/>
        </p:nvSpPr>
        <p:spPr bwMode="auto">
          <a:xfrm>
            <a:off x="6845948" y="1598383"/>
            <a:ext cx="6113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smtClean="0">
                <a:latin typeface="微软雅黑" panose="020B0503020204020204" pitchFamily="34" charset="-122"/>
                <a:ea typeface="微软雅黑" panose="020B0503020204020204" pitchFamily="34" charset="-122"/>
              </a:rPr>
              <a:t>程序</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2000"/>
                                        <p:tgtEl>
                                          <p:spTgt spid="29"/>
                                        </p:tgtEl>
                                      </p:cBhvr>
                                    </p:animEffect>
                                  </p:childTnLst>
                                </p:cTn>
                              </p:par>
                            </p:childTnLst>
                          </p:cTn>
                        </p:par>
                        <p:par>
                          <p:cTn id="8" fill="hold">
                            <p:stCondLst>
                              <p:cond delay="2000"/>
                            </p:stCondLst>
                            <p:childTnLst>
                              <p:par>
                                <p:cTn id="9" presetID="22" presetClass="entr" presetSubtype="2"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right)">
                                      <p:cBhvr>
                                        <p:cTn id="11" dur="2000"/>
                                        <p:tgtEl>
                                          <p:spTgt spid="12"/>
                                        </p:tgtEl>
                                      </p:cBhvr>
                                    </p:animEffect>
                                  </p:childTnLst>
                                </p:cTn>
                              </p:par>
                            </p:childTnLst>
                          </p:cTn>
                        </p:par>
                        <p:par>
                          <p:cTn id="12" fill="hold">
                            <p:stCondLst>
                              <p:cond delay="4500"/>
                            </p:stCondLst>
                            <p:childTnLst>
                              <p:par>
                                <p:cTn id="13" presetID="1" presetClass="entr" presetSubtype="0" fill="hold" grpId="0" nodeType="afterEffect">
                                  <p:stCondLst>
                                    <p:cond delay="250"/>
                                  </p:stCondLst>
                                  <p:childTnLst>
                                    <p:set>
                                      <p:cBhvr>
                                        <p:cTn id="14"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2405"/>
            <a:ext cx="8230421"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Java</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语言是一项用于创建和运行活动文档的技术。</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 </a:t>
            </a:r>
            <a:r>
              <a:rPr lang="en-US" altLang="zh-CN" sz="2000" b="1" dirty="0">
                <a:latin typeface="微软雅黑" panose="020B0503020204020204" pitchFamily="34" charset="-122"/>
                <a:ea typeface="微软雅黑" panose="020B0503020204020204" pitchFamily="34" charset="-122"/>
              </a:rPr>
              <a:t>Java </a:t>
            </a:r>
            <a:r>
              <a:rPr lang="zh-CN" altLang="en-US" sz="2000" b="1" dirty="0">
                <a:latin typeface="微软雅黑" panose="020B0503020204020204" pitchFamily="34" charset="-122"/>
                <a:ea typeface="微软雅黑" panose="020B0503020204020204" pitchFamily="34" charset="-122"/>
              </a:rPr>
              <a:t>技术中</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小应用程序</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applet) </a:t>
            </a:r>
            <a:r>
              <a:rPr lang="zh-CN" altLang="en-US" sz="2000" b="1" dirty="0">
                <a:latin typeface="微软雅黑" panose="020B0503020204020204" pitchFamily="34" charset="-122"/>
                <a:ea typeface="微软雅黑" panose="020B0503020204020204" pitchFamily="34" charset="-122"/>
              </a:rPr>
              <a:t>来描述活动文档程序。</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用户从万维网服务器下载嵌入了 </a:t>
            </a:r>
            <a:r>
              <a:rPr lang="en-US" altLang="zh-CN" sz="2000" b="1" dirty="0" smtClean="0">
                <a:latin typeface="微软雅黑" panose="020B0503020204020204" pitchFamily="34" charset="-122"/>
                <a:ea typeface="微软雅黑" panose="020B0503020204020204" pitchFamily="34" charset="-122"/>
              </a:rPr>
              <a:t>applet </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文档后，可在浏览器的屏幕上点击某个图像，就可看到动画效果，或在下拉式菜单中点击某个项目，就可看到计算结果。</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Java </a:t>
            </a:r>
            <a:r>
              <a:rPr lang="zh-CN" altLang="en-US" sz="2000" b="1" dirty="0">
                <a:latin typeface="微软雅黑" panose="020B0503020204020204" pitchFamily="34" charset="-122"/>
                <a:ea typeface="微软雅黑" panose="020B0503020204020204" pitchFamily="34" charset="-122"/>
              </a:rPr>
              <a:t>技术是活动文档技术的一部分。 </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676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5381"/>
            <a:ext cx="320228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用 </a:t>
            </a:r>
            <a:r>
              <a:rPr lang="en-US" altLang="zh-CN" sz="2000" b="1" dirty="0">
                <a:latin typeface="微软雅黑" panose="020B0503020204020204" pitchFamily="34" charset="-122"/>
                <a:ea typeface="微软雅黑" panose="020B0503020204020204" pitchFamily="34" charset="-122"/>
              </a:rPr>
              <a:t>Java </a:t>
            </a:r>
            <a:r>
              <a:rPr lang="zh-CN" altLang="en-US" sz="2000" b="1" dirty="0" smtClean="0">
                <a:latin typeface="微软雅黑" panose="020B0503020204020204" pitchFamily="34" charset="-122"/>
                <a:ea typeface="微软雅黑" panose="020B0503020204020204" pitchFamily="34" charset="-122"/>
              </a:rPr>
              <a:t>语言创建</a:t>
            </a:r>
            <a:r>
              <a:rPr lang="zh-CN" altLang="en-US" sz="2000" b="1" dirty="0">
                <a:latin typeface="微软雅黑" panose="020B0503020204020204" pitchFamily="34" charset="-122"/>
                <a:ea typeface="微软雅黑" panose="020B0503020204020204" pitchFamily="34" charset="-122"/>
              </a:rPr>
              <a:t>活动</a:t>
            </a:r>
            <a:r>
              <a:rPr lang="zh-CN" altLang="en-US" sz="2000" b="1" dirty="0" smtClean="0">
                <a:latin typeface="微软雅黑" panose="020B0503020204020204" pitchFamily="34" charset="-122"/>
                <a:ea typeface="微软雅黑" panose="020B0503020204020204" pitchFamily="34" charset="-122"/>
              </a:rPr>
              <a:t>文档</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477520" y="572590"/>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6.4.5  </a:t>
            </a:r>
            <a:r>
              <a:rPr lang="zh-CN" altLang="en-US" sz="2400" b="1" dirty="0">
                <a:solidFill>
                  <a:schemeClr val="bg1"/>
                </a:solidFill>
                <a:latin typeface="微软雅黑" panose="020B0503020204020204" pitchFamily="34" charset="-122"/>
                <a:ea typeface="微软雅黑" panose="020B0503020204020204" pitchFamily="34" charset="-122"/>
              </a:rPr>
              <a:t>万维网的信息检索系统</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6963" y="1010341"/>
            <a:ext cx="8048776" cy="88742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1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使用户能够很方便地找到所需的</a:t>
            </a:r>
            <a:r>
              <a:rPr lang="zh-CN" altLang="en-US" sz="2000" b="1" dirty="0" smtClean="0">
                <a:latin typeface="微软雅黑" panose="020B0503020204020204" pitchFamily="34" charset="-122"/>
                <a:ea typeface="微软雅黑" panose="020B0503020204020204" pitchFamily="34" charset="-122"/>
              </a:rPr>
              <a:t>信息。</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1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万维网</a:t>
            </a:r>
            <a:r>
              <a:rPr lang="zh-CN" altLang="en-US" sz="2000" b="1" dirty="0" smtClean="0">
                <a:latin typeface="微软雅黑" panose="020B0503020204020204" pitchFamily="34" charset="-122"/>
                <a:ea typeface="微软雅黑" panose="020B0503020204020204" pitchFamily="34" charset="-122"/>
              </a:rPr>
              <a:t>中用来</a:t>
            </a:r>
            <a:r>
              <a:rPr lang="zh-CN" altLang="en-US" sz="2000" b="1" dirty="0">
                <a:latin typeface="微软雅黑" panose="020B0503020204020204" pitchFamily="34" charset="-122"/>
                <a:ea typeface="微软雅黑" panose="020B0503020204020204" pitchFamily="34" charset="-122"/>
              </a:rPr>
              <a:t>进行搜索的程序叫做</a:t>
            </a:r>
            <a:r>
              <a:rPr lang="zh-CN" altLang="en-US" sz="2000" b="1" dirty="0" smtClean="0">
                <a:solidFill>
                  <a:srgbClr val="C00000"/>
                </a:solidFill>
                <a:latin typeface="微软雅黑" panose="020B0503020204020204" pitchFamily="34" charset="-122"/>
                <a:ea typeface="微软雅黑" panose="020B0503020204020204" pitchFamily="34" charset="-122"/>
              </a:rPr>
              <a:t>搜索引擎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search engine)</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628737" y="576959"/>
            <a:ext cx="3905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全文检索搜索和分类目录搜索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907553" y="1015066"/>
          <a:ext cx="7188882" cy="356581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6"/>
          <p:cNvSpPr txBox="1"/>
          <p:nvPr/>
        </p:nvSpPr>
        <p:spPr>
          <a:xfrm>
            <a:off x="3491880" y="3734537"/>
            <a:ext cx="1773242" cy="231236"/>
          </a:xfrm>
          <a:prstGeom prst="rect">
            <a:avLst/>
          </a:prstGeom>
          <a:noFill/>
        </p:spPr>
        <p:txBody>
          <a:bodyPr wrap="none" rtlCol="0">
            <a:spAutoFit/>
          </a:bodyPr>
          <a:lstStyle/>
          <a:p>
            <a:r>
              <a:rPr lang="en-US" altLang="zh-CN" sz="1600" b="1" dirty="0" smtClean="0">
                <a:latin typeface="微软雅黑" panose="020B0503020204020204" pitchFamily="34" charset="-122"/>
                <a:ea typeface="微软雅黑" panose="020B0503020204020204" pitchFamily="34" charset="-122"/>
                <a:cs typeface="Times New Roman" panose="02020603050405020304" pitchFamily="18" charset="0"/>
              </a:rPr>
              <a:t>(b) </a:t>
            </a:r>
            <a:r>
              <a:rPr lang="zh-CN" altLang="en-US" sz="1600" b="1" dirty="0" smtClean="0">
                <a:latin typeface="微软雅黑" panose="020B0503020204020204" pitchFamily="34" charset="-122"/>
                <a:ea typeface="微软雅黑" panose="020B0503020204020204" pitchFamily="34" charset="-122"/>
                <a:cs typeface="Times New Roman" panose="02020603050405020304" pitchFamily="18" charset="0"/>
              </a:rPr>
              <a:t>分类检索举例</a:t>
            </a:r>
            <a:endParaRPr lang="zh-CN" altLang="en-US" sz="16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2" name="组合 11"/>
          <p:cNvGrpSpPr/>
          <p:nvPr/>
        </p:nvGrpSpPr>
        <p:grpSpPr>
          <a:xfrm>
            <a:off x="1296140" y="2610313"/>
            <a:ext cx="6676008" cy="886063"/>
            <a:chOff x="107503" y="2060848"/>
            <a:chExt cx="8856985" cy="1399389"/>
          </a:xfrm>
        </p:grpSpPr>
        <p:pic>
          <p:nvPicPr>
            <p:cNvPr id="6" name="图片 5" descr="sina-1.jpg"/>
            <p:cNvPicPr>
              <a:picLocks noChangeAspect="1"/>
            </p:cNvPicPr>
            <p:nvPr/>
          </p:nvPicPr>
          <p:blipFill>
            <a:blip r:embed="rId1" cstate="print"/>
            <a:stretch>
              <a:fillRect/>
            </a:stretch>
          </p:blipFill>
          <p:spPr>
            <a:xfrm>
              <a:off x="107503" y="2079309"/>
              <a:ext cx="8856985" cy="1380928"/>
            </a:xfrm>
            <a:prstGeom prst="rect">
              <a:avLst/>
            </a:prstGeom>
          </p:spPr>
        </p:pic>
        <p:sp>
          <p:nvSpPr>
            <p:cNvPr id="9" name="矩形 8"/>
            <p:cNvSpPr/>
            <p:nvPr/>
          </p:nvSpPr>
          <p:spPr>
            <a:xfrm>
              <a:off x="107504" y="2060848"/>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1296140" y="861134"/>
            <a:ext cx="6668990" cy="1269550"/>
            <a:chOff x="107504" y="116632"/>
            <a:chExt cx="8850229" cy="1501140"/>
          </a:xfrm>
        </p:grpSpPr>
        <p:pic>
          <p:nvPicPr>
            <p:cNvPr id="5" name="图片 4" descr="google.jpg"/>
            <p:cNvPicPr>
              <a:picLocks noChangeAspect="1"/>
            </p:cNvPicPr>
            <p:nvPr/>
          </p:nvPicPr>
          <p:blipFill>
            <a:blip r:embed="rId2" cstate="print"/>
            <a:stretch>
              <a:fillRect/>
            </a:stretch>
          </p:blipFill>
          <p:spPr>
            <a:xfrm>
              <a:off x="1979712" y="116632"/>
              <a:ext cx="4861560" cy="1501140"/>
            </a:xfrm>
            <a:prstGeom prst="rect">
              <a:avLst/>
            </a:prstGeom>
          </p:spPr>
        </p:pic>
        <p:sp>
          <p:nvSpPr>
            <p:cNvPr id="10" name="矩形 9"/>
            <p:cNvSpPr/>
            <p:nvPr/>
          </p:nvSpPr>
          <p:spPr>
            <a:xfrm>
              <a:off x="107504" y="180173"/>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 name="TextBox 5"/>
          <p:cNvSpPr txBox="1"/>
          <p:nvPr/>
        </p:nvSpPr>
        <p:spPr>
          <a:xfrm>
            <a:off x="3491880" y="2061872"/>
            <a:ext cx="1755609" cy="338554"/>
          </a:xfrm>
          <a:prstGeom prst="rect">
            <a:avLst/>
          </a:prstGeom>
          <a:noFill/>
        </p:spPr>
        <p:txBody>
          <a:bodyPr wrap="none" rtlCol="0">
            <a:spAutoFit/>
          </a:bodyPr>
          <a:lstStyle/>
          <a:p>
            <a:r>
              <a:rPr lang="en-US" altLang="zh-CN" sz="1600" b="1" dirty="0" smtClean="0">
                <a:latin typeface="微软雅黑" panose="020B0503020204020204" pitchFamily="34" charset="-122"/>
                <a:ea typeface="微软雅黑" panose="020B0503020204020204" pitchFamily="34" charset="-122"/>
                <a:cs typeface="Times New Roman" panose="02020603050405020304" pitchFamily="18" charset="0"/>
              </a:rPr>
              <a:t>(a) </a:t>
            </a:r>
            <a:r>
              <a:rPr lang="zh-CN" altLang="en-US" sz="1600" b="1" dirty="0" smtClean="0">
                <a:latin typeface="微软雅黑" panose="020B0503020204020204" pitchFamily="34" charset="-122"/>
                <a:ea typeface="微软雅黑" panose="020B0503020204020204" pitchFamily="34" charset="-122"/>
                <a:cs typeface="Times New Roman" panose="02020603050405020304" pitchFamily="18" charset="0"/>
              </a:rPr>
              <a:t>全文检索举例</a:t>
            </a:r>
            <a:endParaRPr lang="zh-CN" altLang="en-US" sz="1600" b="1"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895596"/>
            <a:ext cx="7837229"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全文检索</a:t>
            </a:r>
            <a:r>
              <a:rPr lang="zh-CN" altLang="en-US" b="1" dirty="0">
                <a:latin typeface="微软雅黑" panose="020B0503020204020204" pitchFamily="34" charset="-122"/>
                <a:ea typeface="微软雅黑" panose="020B0503020204020204" pitchFamily="34" charset="-122"/>
              </a:rPr>
              <a:t>搜索引擎：</a:t>
            </a:r>
            <a:endParaRPr lang="zh-CN" altLang="en-US" b="1" dirty="0">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en-US" altLang="zh-CN" b="1" dirty="0">
                <a:solidFill>
                  <a:srgbClr val="0000FF"/>
                </a:solidFill>
                <a:latin typeface="微软雅黑" panose="020B0503020204020204" pitchFamily="34" charset="-122"/>
                <a:ea typeface="微软雅黑" panose="020B0503020204020204" pitchFamily="34" charset="-122"/>
              </a:rPr>
              <a:t>Google</a:t>
            </a:r>
            <a:r>
              <a:rPr lang="zh-CN" altLang="en-US" b="1" dirty="0">
                <a:solidFill>
                  <a:srgbClr val="0000FF"/>
                </a:solidFill>
                <a:latin typeface="微软雅黑" panose="020B0503020204020204" pitchFamily="34" charset="-122"/>
                <a:ea typeface="微软雅黑" panose="020B0503020204020204" pitchFamily="34" charset="-122"/>
              </a:rPr>
              <a:t>（谷歌）</a:t>
            </a:r>
            <a:r>
              <a:rPr lang="en-US" altLang="zh-CN" b="1" dirty="0">
                <a:solidFill>
                  <a:srgbClr val="0000FF"/>
                </a:solidFill>
                <a:latin typeface="微软雅黑" panose="020B0503020204020204" pitchFamily="34" charset="-122"/>
                <a:ea typeface="微软雅黑" panose="020B0503020204020204" pitchFamily="34" charset="-122"/>
              </a:rPr>
              <a:t>(www.google.com) </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smtClean="0">
                <a:solidFill>
                  <a:srgbClr val="0000FF"/>
                </a:solidFill>
                <a:latin typeface="微软雅黑" panose="020B0503020204020204" pitchFamily="34" charset="-122"/>
                <a:ea typeface="微软雅黑" panose="020B0503020204020204" pitchFamily="34" charset="-122"/>
              </a:rPr>
              <a:t>必应 </a:t>
            </a:r>
            <a:r>
              <a:rPr lang="en-US" altLang="zh-CN" b="1" dirty="0" smtClean="0">
                <a:solidFill>
                  <a:srgbClr val="0000FF"/>
                </a:solidFill>
                <a:latin typeface="微软雅黑" panose="020B0503020204020204" pitchFamily="34" charset="-122"/>
                <a:ea typeface="微软雅黑" panose="020B0503020204020204" pitchFamily="34" charset="-122"/>
              </a:rPr>
              <a:t>(</a:t>
            </a:r>
            <a:r>
              <a:rPr lang="en-US" altLang="zh-CN" b="1" dirty="0">
                <a:solidFill>
                  <a:srgbClr val="0000FF"/>
                </a:solidFill>
                <a:latin typeface="微软雅黑" panose="020B0503020204020204" pitchFamily="34" charset="-122"/>
                <a:ea typeface="微软雅黑" panose="020B0503020204020204" pitchFamily="34" charset="-122"/>
              </a:rPr>
              <a:t>cn.bing.com</a:t>
            </a:r>
            <a:r>
              <a:rPr lang="en-US" altLang="zh-CN" b="1" dirty="0" smtClean="0">
                <a:solidFill>
                  <a:srgbClr val="0000FF"/>
                </a:solidFill>
                <a:latin typeface="微软雅黑" panose="020B0503020204020204" pitchFamily="34" charset="-122"/>
                <a:ea typeface="微软雅黑" panose="020B0503020204020204" pitchFamily="34" charset="-122"/>
              </a:rPr>
              <a:t>)</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smtClean="0">
                <a:solidFill>
                  <a:srgbClr val="0000FF"/>
                </a:solidFill>
                <a:latin typeface="微软雅黑" panose="020B0503020204020204" pitchFamily="34" charset="-122"/>
                <a:ea typeface="微软雅黑" panose="020B0503020204020204" pitchFamily="34" charset="-122"/>
              </a:rPr>
              <a:t>百度 </a:t>
            </a:r>
            <a:r>
              <a:rPr lang="en-US" altLang="zh-CN" b="1" dirty="0" smtClean="0">
                <a:solidFill>
                  <a:srgbClr val="0000FF"/>
                </a:solidFill>
                <a:latin typeface="微软雅黑" panose="020B0503020204020204" pitchFamily="34" charset="-122"/>
                <a:ea typeface="微软雅黑" panose="020B0503020204020204" pitchFamily="34" charset="-122"/>
              </a:rPr>
              <a:t>(</a:t>
            </a:r>
            <a:r>
              <a:rPr lang="en-US" altLang="zh-CN" b="1" dirty="0">
                <a:solidFill>
                  <a:srgbClr val="0000FF"/>
                </a:solidFill>
                <a:latin typeface="微软雅黑" panose="020B0503020204020204" pitchFamily="34" charset="-122"/>
                <a:ea typeface="微软雅黑" panose="020B0503020204020204" pitchFamily="34" charset="-122"/>
              </a:rPr>
              <a:t>www.baidu.com)</a:t>
            </a:r>
            <a:r>
              <a:rPr lang="zh-CN" altLang="en-US" b="1" dirty="0">
                <a:solidFill>
                  <a:srgbClr val="0000FF"/>
                </a:solidFill>
                <a:latin typeface="微软雅黑" panose="020B0503020204020204" pitchFamily="34" charset="-122"/>
                <a:ea typeface="微软雅黑" panose="020B0503020204020204" pitchFamily="34" charset="-122"/>
              </a:rPr>
              <a:t>。</a:t>
            </a:r>
            <a:endParaRPr lang="en-US" altLang="zh-CN"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分类</a:t>
            </a:r>
            <a:r>
              <a:rPr lang="zh-CN" altLang="en-US" b="1" dirty="0">
                <a:latin typeface="微软雅黑" panose="020B0503020204020204" pitchFamily="34" charset="-122"/>
                <a:ea typeface="微软雅黑" panose="020B0503020204020204" pitchFamily="34" charset="-122"/>
              </a:rPr>
              <a:t>目录搜索引擎：</a:t>
            </a:r>
            <a:endParaRPr lang="zh-CN" altLang="en-US" b="1" dirty="0">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雅虎 </a:t>
            </a:r>
            <a:r>
              <a:rPr lang="en-US" altLang="zh-CN" b="1" dirty="0">
                <a:solidFill>
                  <a:srgbClr val="0000FF"/>
                </a:solidFill>
                <a:latin typeface="微软雅黑" panose="020B0503020204020204" pitchFamily="34" charset="-122"/>
                <a:ea typeface="微软雅黑" panose="020B0503020204020204" pitchFamily="34" charset="-122"/>
              </a:rPr>
              <a:t>(www.yahoo.com)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雅虎中国 </a:t>
            </a:r>
            <a:r>
              <a:rPr lang="en-US" altLang="zh-CN" b="1" dirty="0">
                <a:solidFill>
                  <a:srgbClr val="0000FF"/>
                </a:solidFill>
                <a:latin typeface="微软雅黑" panose="020B0503020204020204" pitchFamily="34" charset="-122"/>
                <a:ea typeface="微软雅黑" panose="020B0503020204020204" pitchFamily="34" charset="-122"/>
              </a:rPr>
              <a:t>(cn.yahoo.com)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新浪 </a:t>
            </a:r>
            <a:r>
              <a:rPr lang="en-US" altLang="zh-CN" b="1" dirty="0">
                <a:solidFill>
                  <a:srgbClr val="0000FF"/>
                </a:solidFill>
                <a:latin typeface="微软雅黑" panose="020B0503020204020204" pitchFamily="34" charset="-122"/>
                <a:ea typeface="微软雅黑" panose="020B0503020204020204" pitchFamily="34" charset="-122"/>
              </a:rPr>
              <a:t>(www.sina.com)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搜狐 </a:t>
            </a:r>
            <a:r>
              <a:rPr lang="en-US" altLang="zh-CN" b="1" dirty="0">
                <a:solidFill>
                  <a:srgbClr val="0000FF"/>
                </a:solidFill>
                <a:latin typeface="微软雅黑" panose="020B0503020204020204" pitchFamily="34" charset="-122"/>
                <a:ea typeface="微软雅黑" panose="020B0503020204020204" pitchFamily="34" charset="-122"/>
              </a:rPr>
              <a:t>(www.sohu.com)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网易 </a:t>
            </a:r>
            <a:r>
              <a:rPr lang="en-US" altLang="zh-CN" b="1" dirty="0">
                <a:solidFill>
                  <a:srgbClr val="0000FF"/>
                </a:solidFill>
                <a:latin typeface="微软雅黑" panose="020B0503020204020204" pitchFamily="34" charset="-122"/>
                <a:ea typeface="微软雅黑" panose="020B0503020204020204" pitchFamily="34" charset="-122"/>
              </a:rPr>
              <a:t>(www.163.com) </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930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92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一些著名的</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垂直</a:t>
            </a:r>
            <a:r>
              <a:rPr lang="zh-CN" altLang="en-US" sz="2000" b="1" dirty="0">
                <a:solidFill>
                  <a:srgbClr val="0000FF"/>
                </a:solidFill>
                <a:latin typeface="微软雅黑" panose="020B0503020204020204" pitchFamily="34" charset="-122"/>
                <a:ea typeface="微软雅黑" panose="020B0503020204020204" pitchFamily="34" charset="-122"/>
              </a:rPr>
              <a:t>搜索引擎 </a:t>
            </a:r>
            <a:r>
              <a:rPr lang="en-US" altLang="zh-CN" sz="2000" b="1" dirty="0">
                <a:latin typeface="微软雅黑" panose="020B0503020204020204" pitchFamily="34" charset="-122"/>
                <a:ea typeface="微软雅黑" panose="020B0503020204020204" pitchFamily="34" charset="-122"/>
              </a:rPr>
              <a:t>(Vertical Search Engine)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针对某一特定领域、特定人群或某一特定需求提供搜索服务。</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也是提供关键字来进行搜索，但被放到一个行业知识的上下文中，返回的结果更倾向于信息、消息、条目等。</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目前热门的垂直搜索行业有：购物、旅游、汽车、求职、房产、交友等。</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723549"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垂直</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823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元搜索引擎 </a:t>
            </a:r>
            <a:r>
              <a:rPr lang="en-US" altLang="zh-CN" sz="2000" b="1" dirty="0">
                <a:latin typeface="微软雅黑" panose="020B0503020204020204" pitchFamily="34" charset="-122"/>
                <a:ea typeface="微软雅黑" panose="020B0503020204020204" pitchFamily="34" charset="-122"/>
              </a:rPr>
              <a:t>(Meta Search Engine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把用户提交的检索请求发送到多个独立的搜索引擎上去搜索，并把检索结果集中统一处理，以统一的格式提供给用户，因此是</a:t>
            </a:r>
            <a:r>
              <a:rPr lang="zh-CN" altLang="en-US" sz="2000" b="1" dirty="0">
                <a:solidFill>
                  <a:srgbClr val="C00000"/>
                </a:solidFill>
                <a:latin typeface="微软雅黑" panose="020B0503020204020204" pitchFamily="34" charset="-122"/>
                <a:ea typeface="微软雅黑" panose="020B0503020204020204" pitchFamily="34" charset="-122"/>
              </a:rPr>
              <a:t>搜索引擎之上的搜索引擎。</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主要精力放在提高搜索速度、智能化处理搜索结果、个性化搜索功能的设置和用户检索界面的友好性上。</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其查全率和查准率都比较高。</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46706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元</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6439" y="576959"/>
            <a:ext cx="3369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en-US" altLang="zh-CN" sz="2000" b="1" dirty="0" smtClean="0">
                <a:solidFill>
                  <a:schemeClr val="bg1"/>
                </a:solidFill>
                <a:latin typeface="微软雅黑" panose="020B0503020204020204" pitchFamily="34" charset="-122"/>
                <a:ea typeface="微软雅黑" panose="020B0503020204020204" pitchFamily="34" charset="-122"/>
              </a:rPr>
              <a:t>Google </a:t>
            </a:r>
            <a:r>
              <a:rPr lang="zh-CN" altLang="en-US" sz="2000" b="1" dirty="0" smtClean="0">
                <a:solidFill>
                  <a:schemeClr val="bg1"/>
                </a:solidFill>
                <a:latin typeface="微软雅黑" panose="020B0503020204020204" pitchFamily="34" charset="-122"/>
                <a:ea typeface="微软雅黑" panose="020B0503020204020204" pitchFamily="34" charset="-122"/>
              </a:rPr>
              <a:t>搜索技术</a:t>
            </a:r>
            <a:r>
              <a:rPr lang="zh-CN" altLang="en-US" sz="2000" b="1" dirty="0">
                <a:solidFill>
                  <a:schemeClr val="bg1"/>
                </a:solidFill>
                <a:latin typeface="微软雅黑" panose="020B0503020204020204" pitchFamily="34" charset="-122"/>
                <a:ea typeface="微软雅黑" panose="020B0503020204020204" pitchFamily="34" charset="-122"/>
              </a:rPr>
              <a:t>的</a:t>
            </a:r>
            <a:r>
              <a:rPr lang="zh-CN" altLang="en-US" sz="2000" b="1" dirty="0" smtClean="0">
                <a:solidFill>
                  <a:schemeClr val="bg1"/>
                </a:solidFill>
                <a:latin typeface="微软雅黑" panose="020B0503020204020204" pitchFamily="34" charset="-122"/>
                <a:ea typeface="微软雅黑" panose="020B0503020204020204" pitchFamily="34" charset="-122"/>
              </a:rPr>
              <a:t>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67417"/>
            <a:ext cx="8048776"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核心技术：</a:t>
            </a:r>
            <a:r>
              <a:rPr lang="zh-CN" altLang="en-US" sz="2000" b="1" dirty="0">
                <a:latin typeface="微软雅黑" panose="020B0503020204020204" pitchFamily="34" charset="-122"/>
                <a:ea typeface="微软雅黑" panose="020B0503020204020204" pitchFamily="34" charset="-122"/>
              </a:rPr>
              <a:t>网页</a:t>
            </a:r>
            <a:r>
              <a:rPr lang="zh-CN" altLang="en-US" sz="2000" b="1" dirty="0" smtClean="0">
                <a:latin typeface="微软雅黑" panose="020B0503020204020204" pitchFamily="34" charset="-122"/>
                <a:ea typeface="微软雅黑" panose="020B0503020204020204" pitchFamily="34" charset="-122"/>
              </a:rPr>
              <a:t>排名（</a:t>
            </a:r>
            <a:r>
              <a:rPr lang="en-US" altLang="zh-CN" sz="2000" b="1" dirty="0" smtClean="0">
                <a:latin typeface="微软雅黑" panose="020B0503020204020204" pitchFamily="34" charset="-122"/>
                <a:ea typeface="微软雅黑" panose="020B0503020204020204" pitchFamily="34" charset="-122"/>
              </a:rPr>
              <a:t>PageRank</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对</a:t>
            </a:r>
            <a:r>
              <a:rPr lang="zh-CN" altLang="en-US" sz="2000" b="1" dirty="0" smtClean="0">
                <a:solidFill>
                  <a:srgbClr val="0000FF"/>
                </a:solidFill>
                <a:latin typeface="微软雅黑" panose="020B0503020204020204" pitchFamily="34" charset="-122"/>
                <a:ea typeface="微软雅黑" panose="020B0503020204020204" pitchFamily="34" charset="-122"/>
              </a:rPr>
              <a:t>搜索结果</a:t>
            </a:r>
            <a:r>
              <a:rPr lang="zh-CN" altLang="en-US" sz="2000" b="1" dirty="0">
                <a:solidFill>
                  <a:srgbClr val="C00000"/>
                </a:solidFill>
                <a:latin typeface="微软雅黑" panose="020B0503020204020204" pitchFamily="34" charset="-122"/>
                <a:ea typeface="微软雅黑" panose="020B0503020204020204" pitchFamily="34" charset="-122"/>
              </a:rPr>
              <a:t>按</a:t>
            </a:r>
            <a:r>
              <a:rPr lang="zh-CN" altLang="en-US" sz="2000" b="1" dirty="0" smtClean="0">
                <a:solidFill>
                  <a:srgbClr val="C00000"/>
                </a:solidFill>
                <a:latin typeface="微软雅黑" panose="020B0503020204020204" pitchFamily="34" charset="-122"/>
                <a:ea typeface="微软雅黑" panose="020B0503020204020204" pitchFamily="34" charset="-122"/>
              </a:rPr>
              <a:t>重要性</a:t>
            </a:r>
            <a:r>
              <a:rPr lang="zh-CN" altLang="en-US" sz="2000" b="1" dirty="0" smtClean="0">
                <a:solidFill>
                  <a:srgbClr val="0000FF"/>
                </a:solidFill>
                <a:latin typeface="微软雅黑" panose="020B0503020204020204" pitchFamily="34" charset="-122"/>
                <a:ea typeface="微软雅黑" panose="020B0503020204020204" pitchFamily="34" charset="-122"/>
              </a:rPr>
              <a:t>排序。</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对链接的数目进行加权统计</a:t>
            </a:r>
            <a:r>
              <a:rPr lang="zh-CN" altLang="en-US" sz="2000" b="1" dirty="0" smtClean="0">
                <a:latin typeface="微软雅黑" panose="020B0503020204020204" pitchFamily="34" charset="-122"/>
                <a:ea typeface="微软雅黑" panose="020B0503020204020204" pitchFamily="34" charset="-122"/>
              </a:rPr>
              <a:t>。来自</a:t>
            </a:r>
            <a:r>
              <a:rPr lang="zh-CN" altLang="en-US" sz="2000" b="1" dirty="0">
                <a:latin typeface="微软雅黑" panose="020B0503020204020204" pitchFamily="34" charset="-122"/>
                <a:ea typeface="微软雅黑" panose="020B0503020204020204" pitchFamily="34" charset="-122"/>
              </a:rPr>
              <a:t>重要网站的链接，其</a:t>
            </a:r>
            <a:r>
              <a:rPr lang="zh-CN" altLang="en-US" sz="2000" b="1" dirty="0" smtClean="0">
                <a:latin typeface="微软雅黑" panose="020B0503020204020204" pitchFamily="34" charset="-122"/>
                <a:ea typeface="微软雅黑" panose="020B0503020204020204" pitchFamily="34" charset="-122"/>
              </a:rPr>
              <a:t>权重较大。</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进行超文本匹配分析</a:t>
            </a:r>
            <a:r>
              <a:rPr lang="zh-CN" altLang="en-US" sz="2000" b="1" dirty="0" smtClean="0">
                <a:latin typeface="微软雅黑" panose="020B0503020204020204" pitchFamily="34" charset="-122"/>
                <a:ea typeface="微软雅黑" panose="020B0503020204020204" pitchFamily="34" charset="-122"/>
              </a:rPr>
              <a:t>，确定</a:t>
            </a:r>
            <a:r>
              <a:rPr lang="zh-CN" altLang="en-US" sz="2000" b="1" dirty="0">
                <a:latin typeface="微软雅黑" panose="020B0503020204020204" pitchFamily="34" charset="-122"/>
                <a:ea typeface="微软雅黑" panose="020B0503020204020204" pitchFamily="34" charset="-122"/>
              </a:rPr>
              <a:t>哪些网页与正在执行的特定搜索相关</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综合考虑整体重要性以及与特定查询的相关性之后，</a:t>
            </a:r>
            <a:r>
              <a:rPr lang="en-US" altLang="zh-CN" sz="2000" b="1" dirty="0">
                <a:latin typeface="微软雅黑" panose="020B0503020204020204" pitchFamily="34" charset="-122"/>
                <a:ea typeface="微软雅黑" panose="020B0503020204020204" pitchFamily="34" charset="-122"/>
              </a:rPr>
              <a:t>Google </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就</a:t>
            </a:r>
            <a:r>
              <a:rPr lang="zh-CN" altLang="en-US" sz="2000" b="1" dirty="0">
                <a:latin typeface="微软雅黑" panose="020B0503020204020204" pitchFamily="34" charset="-122"/>
                <a:ea typeface="微软雅黑" panose="020B0503020204020204" pitchFamily="34" charset="-122"/>
              </a:rPr>
              <a:t>把最相关、最可靠的搜索结果放在首位</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246961" y="573925"/>
            <a:ext cx="26500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6.4.6  </a:t>
            </a:r>
            <a:r>
              <a:rPr lang="zh-CN" altLang="en-US" sz="2400" b="1" dirty="0">
                <a:solidFill>
                  <a:schemeClr val="bg1"/>
                </a:solidFill>
                <a:latin typeface="微软雅黑" panose="020B0503020204020204" pitchFamily="34" charset="-122"/>
                <a:ea typeface="微软雅黑" panose="020B0503020204020204" pitchFamily="34" charset="-122"/>
              </a:rPr>
              <a:t>博客和微博</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graphicFrame>
        <p:nvGraphicFramePr>
          <p:cNvPr id="11" name="图示 10"/>
          <p:cNvGraphicFramePr/>
          <p:nvPr/>
        </p:nvGraphicFramePr>
        <p:xfrm>
          <a:off x="986910" y="1148231"/>
          <a:ext cx="7188882" cy="3130806"/>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69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400849" y="564426"/>
            <a:ext cx="23423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6.4.7 </a:t>
            </a:r>
            <a:r>
              <a:rPr lang="en-US" altLang="zh-CN" sz="2400" b="1" dirty="0" smtClean="0">
                <a:solidFill>
                  <a:schemeClr val="bg1"/>
                </a:solidFill>
                <a:latin typeface="微软雅黑" panose="020B0503020204020204" pitchFamily="34" charset="-122"/>
                <a:ea typeface="微软雅黑" panose="020B0503020204020204" pitchFamily="34" charset="-122"/>
              </a:rPr>
              <a:t> </a:t>
            </a:r>
            <a:r>
              <a:rPr lang="zh-CN" altLang="en-US" sz="2400" b="1" dirty="0" smtClean="0">
                <a:solidFill>
                  <a:schemeClr val="bg1"/>
                </a:solidFill>
                <a:latin typeface="微软雅黑" panose="020B0503020204020204" pitchFamily="34" charset="-122"/>
                <a:ea typeface="微软雅黑" panose="020B0503020204020204" pitchFamily="34" charset="-122"/>
              </a:rPr>
              <a:t>社交</a:t>
            </a:r>
            <a:r>
              <a:rPr lang="zh-CN" altLang="en-US" sz="2400" b="1" dirty="0">
                <a:solidFill>
                  <a:schemeClr val="bg1"/>
                </a:solidFill>
                <a:latin typeface="微软雅黑" panose="020B0503020204020204" pitchFamily="34" charset="-122"/>
                <a:ea typeface="微软雅黑" panose="020B0503020204020204" pitchFamily="34" charset="-122"/>
              </a:rPr>
              <a:t>网站</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6962" y="1005220"/>
            <a:ext cx="804877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社交网站 </a:t>
            </a:r>
            <a:r>
              <a:rPr lang="en-US" altLang="zh-CN" sz="2000" b="1" dirty="0">
                <a:solidFill>
                  <a:srgbClr val="C00000"/>
                </a:solidFill>
                <a:latin typeface="微软雅黑" panose="020B0503020204020204" pitchFamily="34" charset="-122"/>
                <a:ea typeface="微软雅黑" panose="020B0503020204020204" pitchFamily="34" charset="-122"/>
              </a:rPr>
              <a:t>SNS </a:t>
            </a:r>
            <a:r>
              <a:rPr lang="en-US" altLang="zh-CN" sz="2000" b="1" dirty="0">
                <a:latin typeface="微软雅黑" panose="020B0503020204020204" pitchFamily="34" charset="-122"/>
                <a:ea typeface="微软雅黑" panose="020B0503020204020204" pitchFamily="34" charset="-122"/>
              </a:rPr>
              <a:t>(Social Networking Site) </a:t>
            </a:r>
            <a:r>
              <a:rPr lang="zh-CN" altLang="en-US" sz="2000" b="1" dirty="0" smtClean="0">
                <a:latin typeface="微软雅黑" panose="020B0503020204020204" pitchFamily="34" charset="-122"/>
                <a:ea typeface="微软雅黑" panose="020B0503020204020204" pitchFamily="34" charset="-122"/>
              </a:rPr>
              <a:t>：为</a:t>
            </a:r>
            <a:r>
              <a:rPr lang="zh-CN" altLang="en-US" sz="2000" b="1" dirty="0">
                <a:latin typeface="微软雅黑" panose="020B0503020204020204" pitchFamily="34" charset="-122"/>
                <a:ea typeface="微软雅黑" panose="020B0503020204020204" pitchFamily="34" charset="-122"/>
              </a:rPr>
              <a:t>一群拥有相同兴趣与活动的人创建在线社区</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功能丰富：如</a:t>
            </a:r>
            <a:r>
              <a:rPr lang="zh-CN" altLang="en-US" sz="2000" b="1" dirty="0">
                <a:latin typeface="微软雅黑" panose="020B0503020204020204" pitchFamily="34" charset="-122"/>
                <a:ea typeface="微软雅黑" panose="020B0503020204020204" pitchFamily="34" charset="-122"/>
              </a:rPr>
              <a:t>电子邮件、即时传信（在线聊天）、博客撰写、共享相册、上传视频、网页游戏、创建社团、刊登广告</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热门：</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脸书 </a:t>
            </a:r>
            <a:r>
              <a:rPr lang="en-US" altLang="zh-CN" sz="2000" b="1" dirty="0">
                <a:latin typeface="微软雅黑" panose="020B0503020204020204" pitchFamily="34" charset="-122"/>
                <a:ea typeface="微软雅黑" panose="020B0503020204020204" pitchFamily="34" charset="-122"/>
              </a:rPr>
              <a:t>(Facebook</a:t>
            </a:r>
            <a:r>
              <a:rPr lang="zh-CN" altLang="en-US" sz="2000" b="1" dirty="0">
                <a:latin typeface="微软雅黑" panose="020B0503020204020204" pitchFamily="34" charset="-122"/>
                <a:ea typeface="微软雅黑" panose="020B0503020204020204" pitchFamily="34" charset="-122"/>
              </a:rPr>
              <a:t>，又名面书、脸谱、脸谱网</a:t>
            </a:r>
            <a:r>
              <a:rPr lang="en-US" altLang="zh-CN" sz="2000" b="1" dirty="0">
                <a:latin typeface="微软雅黑" panose="020B0503020204020204" pitchFamily="34" charset="-122"/>
                <a:ea typeface="微软雅黑" panose="020B0503020204020204" pitchFamily="34" charset="-122"/>
              </a:rPr>
              <a:t>) (Facebook.com)</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YouTube.com</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推特 </a:t>
            </a:r>
            <a:r>
              <a:rPr lang="en-US" altLang="zh-CN" sz="2000" b="1" dirty="0">
                <a:latin typeface="微软雅黑" panose="020B0503020204020204" pitchFamily="34" charset="-122"/>
                <a:ea typeface="微软雅黑" panose="020B0503020204020204" pitchFamily="34" charset="-122"/>
              </a:rPr>
              <a:t>Twitter (twitter.com) </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微信 </a:t>
            </a:r>
            <a:r>
              <a:rPr lang="en-US" altLang="zh-CN" sz="2000" b="1" dirty="0">
                <a:latin typeface="微软雅黑" panose="020B0503020204020204" pitchFamily="34" charset="-122"/>
                <a:ea typeface="微软雅黑" panose="020B0503020204020204" pitchFamily="34" charset="-122"/>
              </a:rPr>
              <a:t>(weixin.qq.com)</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抖音</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p:cNvSpPr>
            <a:spLocks noChangeArrowheads="1"/>
          </p:cNvSpPr>
          <p:nvPr/>
        </p:nvSpPr>
        <p:spPr bwMode="auto">
          <a:xfrm>
            <a:off x="2629135" y="3313838"/>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4" name="Rectangle 9"/>
          <p:cNvSpPr>
            <a:spLocks noChangeArrowheads="1"/>
          </p:cNvSpPr>
          <p:nvPr/>
        </p:nvSpPr>
        <p:spPr bwMode="auto">
          <a:xfrm>
            <a:off x="2629135" y="28628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240434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Rectangle 9"/>
          <p:cNvSpPr>
            <a:spLocks noChangeArrowheads="1"/>
          </p:cNvSpPr>
          <p:nvPr/>
        </p:nvSpPr>
        <p:spPr bwMode="auto">
          <a:xfrm>
            <a:off x="2629135" y="194864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7" name="Rectangle 9"/>
          <p:cNvSpPr>
            <a:spLocks noChangeArrowheads="1"/>
          </p:cNvSpPr>
          <p:nvPr/>
        </p:nvSpPr>
        <p:spPr bwMode="auto">
          <a:xfrm>
            <a:off x="2629135" y="102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8" name="Rectangle 10"/>
          <p:cNvSpPr>
            <a:spLocks noChangeArrowheads="1"/>
          </p:cNvSpPr>
          <p:nvPr/>
        </p:nvSpPr>
        <p:spPr bwMode="auto">
          <a:xfrm>
            <a:off x="2629135" y="14900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9" name="Line 16"/>
          <p:cNvSpPr>
            <a:spLocks noChangeShapeType="1"/>
          </p:cNvSpPr>
          <p:nvPr/>
        </p:nvSpPr>
        <p:spPr bwMode="auto">
          <a:xfrm>
            <a:off x="3637198" y="954899"/>
            <a:ext cx="0" cy="3357124"/>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 name="Rectangle 27"/>
          <p:cNvSpPr>
            <a:spLocks noChangeArrowheads="1"/>
          </p:cNvSpPr>
          <p:nvPr/>
        </p:nvSpPr>
        <p:spPr bwMode="auto">
          <a:xfrm>
            <a:off x="639730" y="102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1" name="Rectangle 29"/>
          <p:cNvSpPr>
            <a:spLocks noChangeArrowheads="1"/>
          </p:cNvSpPr>
          <p:nvPr/>
        </p:nvSpPr>
        <p:spPr bwMode="auto">
          <a:xfrm>
            <a:off x="648619" y="112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6.5</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2700573" y="902036"/>
            <a:ext cx="5756006"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简单邮件传送协议 </a:t>
            </a:r>
            <a:r>
              <a:rPr lang="en-US" altLang="zh-CN" sz="2000" b="1" dirty="0">
                <a:solidFill>
                  <a:schemeClr val="bg1"/>
                </a:solidFill>
                <a:latin typeface="微软雅黑" panose="020B0503020204020204" pitchFamily="34" charset="-122"/>
                <a:ea typeface="微软雅黑" panose="020B0503020204020204" pitchFamily="34" charset="-122"/>
              </a:rPr>
              <a:t>SMTP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r>
              <a:rPr lang="zh-CN" altLang="en-US" sz="2000" b="1" dirty="0">
                <a:solidFill>
                  <a:schemeClr val="bg1"/>
                </a:solidFill>
                <a:latin typeface="微软雅黑" panose="020B0503020204020204" pitchFamily="34" charset="-122"/>
                <a:ea typeface="微软雅黑" panose="020B0503020204020204" pitchFamily="34" charset="-122"/>
              </a:rPr>
              <a:t>的信息格式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邮件</a:t>
            </a:r>
            <a:r>
              <a:rPr lang="zh-CN" altLang="en-US" sz="2000" b="1" dirty="0">
                <a:solidFill>
                  <a:schemeClr val="bg1"/>
                </a:solidFill>
                <a:latin typeface="微软雅黑" panose="020B0503020204020204" pitchFamily="34" charset="-122"/>
                <a:ea typeface="微软雅黑" panose="020B0503020204020204" pitchFamily="34" charset="-122"/>
              </a:rPr>
              <a:t>读取协议 </a:t>
            </a:r>
            <a:r>
              <a:rPr lang="en-US" altLang="zh-CN" sz="2000" b="1" dirty="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和 </a:t>
            </a:r>
            <a:r>
              <a:rPr lang="en-US" altLang="zh-CN" sz="2000" b="1" dirty="0">
                <a:solidFill>
                  <a:schemeClr val="bg1"/>
                </a:solidFill>
                <a:latin typeface="微软雅黑" panose="020B0503020204020204" pitchFamily="34" charset="-122"/>
                <a:ea typeface="微软雅黑" panose="020B0503020204020204" pitchFamily="34" charset="-122"/>
              </a:rPr>
              <a:t>IMAP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基于</a:t>
            </a:r>
            <a:r>
              <a:rPr lang="zh-CN" altLang="en-US" sz="2000" b="1" dirty="0">
                <a:solidFill>
                  <a:schemeClr val="bg1"/>
                </a:solidFill>
                <a:latin typeface="微软雅黑" panose="020B0503020204020204" pitchFamily="34" charset="-122"/>
                <a:ea typeface="微软雅黑" panose="020B0503020204020204" pitchFamily="34" charset="-122"/>
              </a:rPr>
              <a:t>万维网的电子邮件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通用</a:t>
            </a:r>
            <a:r>
              <a:rPr lang="zh-CN" altLang="en-US" sz="2000" b="1" dirty="0">
                <a:solidFill>
                  <a:schemeClr val="bg1"/>
                </a:solidFill>
                <a:latin typeface="微软雅黑" panose="020B0503020204020204" pitchFamily="34" charset="-122"/>
                <a:ea typeface="微软雅黑" panose="020B0503020204020204" pitchFamily="34" charset="-122"/>
              </a:rPr>
              <a:t>互联网邮件扩充 </a:t>
            </a:r>
            <a:r>
              <a:rPr lang="en-US" altLang="zh-CN" sz="2000" b="1" dirty="0">
                <a:solidFill>
                  <a:schemeClr val="bg1"/>
                </a:solidFill>
                <a:latin typeface="微软雅黑" panose="020B0503020204020204" pitchFamily="34" charset="-122"/>
                <a:ea typeface="微软雅黑" panose="020B0503020204020204" pitchFamily="34" charset="-122"/>
              </a:rPr>
              <a:t>MIME</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0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67968"/>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6.5.1  </a:t>
            </a:r>
            <a:r>
              <a:rPr lang="zh-CN" altLang="en-US" sz="2400" b="1" dirty="0">
                <a:solidFill>
                  <a:schemeClr val="bg1"/>
                </a:solidFill>
                <a:latin typeface="微软雅黑" panose="020B0503020204020204" pitchFamily="34" charset="-122"/>
                <a:ea typeface="微软雅黑" panose="020B0503020204020204" pitchFamily="34" charset="-122"/>
              </a:rPr>
              <a:t>电子邮件</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2683"/>
            <a:ext cx="8048776" cy="32213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电子邮件</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(e-mail</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：指使用电子设备交换的邮件及其方法</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优点</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latin typeface="微软雅黑" panose="020B0503020204020204" pitchFamily="34" charset="-122"/>
                <a:ea typeface="微软雅黑" panose="020B0503020204020204" pitchFamily="34" charset="-122"/>
              </a:rPr>
              <a:t>方便，传递迅速，费用低廉，可以传送多种类型的信息（包括：文字</a:t>
            </a:r>
            <a:r>
              <a:rPr lang="zh-CN" altLang="en-US" sz="2000" b="1" dirty="0">
                <a:latin typeface="微软雅黑" panose="020B0503020204020204" pitchFamily="34" charset="-122"/>
                <a:ea typeface="微软雅黑" panose="020B0503020204020204" pitchFamily="34" charset="-122"/>
              </a:rPr>
              <a:t>信息</a:t>
            </a:r>
            <a:r>
              <a:rPr lang="zh-CN" altLang="en-US" sz="2000" b="1" dirty="0" smtClean="0">
                <a:latin typeface="微软雅黑" panose="020B0503020204020204" pitchFamily="34" charset="-122"/>
                <a:ea typeface="微软雅黑" panose="020B0503020204020204" pitchFamily="34" charset="-122"/>
              </a:rPr>
              <a:t>，声音</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latin typeface="微软雅黑" panose="020B0503020204020204" pitchFamily="34" charset="-122"/>
                <a:ea typeface="微软雅黑" panose="020B0503020204020204" pitchFamily="34" charset="-122"/>
              </a:rPr>
              <a:t>图像等）。</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重要</a:t>
            </a:r>
            <a:r>
              <a:rPr lang="zh-CN" altLang="en-US" sz="2000" b="1" dirty="0" smtClean="0">
                <a:solidFill>
                  <a:srgbClr val="C00000"/>
                </a:solidFill>
                <a:latin typeface="微软雅黑" panose="020B0503020204020204" pitchFamily="34" charset="-122"/>
                <a:ea typeface="微软雅黑" panose="020B0503020204020204" pitchFamily="34" charset="-122"/>
              </a:rPr>
              <a:t>标准：</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简单邮件发送协议：</a:t>
            </a:r>
            <a:r>
              <a:rPr lang="en-US" altLang="zh-CN" sz="2000" b="1" dirty="0">
                <a:latin typeface="微软雅黑" panose="020B0503020204020204" pitchFamily="34" charset="-122"/>
                <a:ea typeface="微软雅黑" panose="020B0503020204020204" pitchFamily="34" charset="-122"/>
              </a:rPr>
              <a:t>SMTP</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互联网文本报文格式</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通用互联网邮件扩充 </a:t>
            </a:r>
            <a:r>
              <a:rPr lang="en-US" altLang="zh-CN" sz="2000" b="1" dirty="0">
                <a:latin typeface="微软雅黑" panose="020B0503020204020204" pitchFamily="34" charset="-122"/>
                <a:ea typeface="微软雅黑" panose="020B0503020204020204" pitchFamily="34" charset="-122"/>
              </a:rPr>
              <a:t>MIME</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邮件读取协议：</a:t>
            </a:r>
            <a:r>
              <a:rPr lang="en-US" altLang="zh-CN" sz="2000" b="1" dirty="0">
                <a:latin typeface="微软雅黑" panose="020B0503020204020204" pitchFamily="34" charset="-122"/>
                <a:ea typeface="微软雅黑" panose="020B0503020204020204" pitchFamily="34" charset="-122"/>
              </a:rPr>
              <a:t>POP3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IMAP</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437177" y="574020"/>
            <a:ext cx="4288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电子邮件系统的</a:t>
            </a:r>
            <a:r>
              <a:rPr lang="zh-CN" altLang="en-US" sz="2000" b="1" dirty="0" smtClean="0">
                <a:solidFill>
                  <a:schemeClr val="bg1"/>
                </a:solidFill>
                <a:latin typeface="微软雅黑" panose="020B0503020204020204" pitchFamily="34" charset="-122"/>
                <a:ea typeface="微软雅黑" panose="020B0503020204020204" pitchFamily="34" charset="-122"/>
              </a:rPr>
              <a:t>组成：三个主要构件</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372" name="Rectangle 386"/>
          <p:cNvSpPr>
            <a:spLocks noChangeArrowheads="1"/>
          </p:cNvSpPr>
          <p:nvPr/>
        </p:nvSpPr>
        <p:spPr bwMode="auto">
          <a:xfrm>
            <a:off x="3019580" y="2138386"/>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657456" y="2138386"/>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34011" y="2481158"/>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94683" y="17942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408816" y="250746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13742" y="2202272"/>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3077118" y="2202272"/>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3077118" y="2815331"/>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729032"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412" name="对象 411"/>
          <p:cNvGraphicFramePr>
            <a:graphicFrameLocks noChangeAspect="1"/>
          </p:cNvGraphicFramePr>
          <p:nvPr/>
        </p:nvGraphicFramePr>
        <p:xfrm>
          <a:off x="875180" y="2178372"/>
          <a:ext cx="546759" cy="666388"/>
        </p:xfrm>
        <a:graphic>
          <a:graphicData uri="http://schemas.openxmlformats.org/presentationml/2006/ole">
            <mc:AlternateContent xmlns:mc="http://schemas.openxmlformats.org/markup-compatibility/2006">
              <mc:Choice xmlns:v="urn:schemas-microsoft-com:vml" Requires="v">
                <p:oleObj spid="_x0000_s12289" name="Visio" r:id="rId1" imgW="3463925" imgH="4220845" progId="">
                  <p:embed/>
                </p:oleObj>
              </mc:Choice>
              <mc:Fallback>
                <p:oleObj name="Visio" r:id="rId1" imgW="3463925" imgH="4220845" progId="">
                  <p:embed/>
                  <p:pic>
                    <p:nvPicPr>
                      <p:cNvPr id="0" name="图片 12288"/>
                      <p:cNvPicPr>
                        <a:picLocks noChangeAspect="1"/>
                      </p:cNvPicPr>
                      <p:nvPr/>
                    </p:nvPicPr>
                    <p:blipFill>
                      <a:blip r:embed="rId2"/>
                      <a:srcRect l="5348" t="4167" r="4546" b="11185"/>
                      <a:stretch>
                        <a:fillRect/>
                      </a:stretch>
                    </p:blipFill>
                    <p:spPr>
                      <a:xfrm>
                        <a:off x="875180" y="2178372"/>
                        <a:ext cx="546759" cy="666388"/>
                      </a:xfrm>
                      <a:prstGeom prst="rect">
                        <a:avLst/>
                      </a:prstGeom>
                      <a:noFill/>
                      <a:ln w="9525">
                        <a:noFill/>
                      </a:ln>
                    </p:spPr>
                  </p:pic>
                </p:oleObj>
              </mc:Fallback>
            </mc:AlternateContent>
          </a:graphicData>
        </a:graphic>
      </p:graphicFrame>
      <p:sp>
        <p:nvSpPr>
          <p:cNvPr id="371" name="Rectangle 385"/>
          <p:cNvSpPr>
            <a:spLocks noChangeArrowheads="1"/>
          </p:cNvSpPr>
          <p:nvPr/>
        </p:nvSpPr>
        <p:spPr bwMode="auto">
          <a:xfrm>
            <a:off x="6835923" y="2146987"/>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01910" y="18128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17922" y="24856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92210" y="2202272"/>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475048" y="2146987"/>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531335" y="2815331"/>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531335" y="2202272"/>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097949" y="2481158"/>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414" name="对象 413"/>
          <p:cNvGraphicFramePr>
            <a:graphicFrameLocks noChangeAspect="1"/>
          </p:cNvGraphicFramePr>
          <p:nvPr/>
        </p:nvGraphicFramePr>
        <p:xfrm>
          <a:off x="7744964" y="2178372"/>
          <a:ext cx="551626" cy="666388"/>
        </p:xfrm>
        <a:graphic>
          <a:graphicData uri="http://schemas.openxmlformats.org/presentationml/2006/ole">
            <mc:AlternateContent xmlns:mc="http://schemas.openxmlformats.org/markup-compatibility/2006">
              <mc:Choice xmlns:v="urn:schemas-microsoft-com:vml" Requires="v">
                <p:oleObj spid="_x0000_s12290" name="Visio" r:id="rId3" imgW="3463925" imgH="4220845" progId="">
                  <p:embed/>
                </p:oleObj>
              </mc:Choice>
              <mc:Fallback>
                <p:oleObj name="Visio" r:id="rId3" imgW="3463925" imgH="4220845" progId="">
                  <p:embed/>
                  <p:pic>
                    <p:nvPicPr>
                      <p:cNvPr id="0" name="图片 12289"/>
                      <p:cNvPicPr>
                        <a:picLocks noChangeAspect="1"/>
                      </p:cNvPicPr>
                      <p:nvPr/>
                    </p:nvPicPr>
                    <p:blipFill>
                      <a:blip r:embed="rId4"/>
                      <a:srcRect l="4546" t="3947" r="4546" b="11403"/>
                      <a:stretch>
                        <a:fillRect/>
                      </a:stretch>
                    </p:blipFill>
                    <p:spPr>
                      <a:xfrm>
                        <a:off x="7744964" y="2178372"/>
                        <a:ext cx="551626" cy="666388"/>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815300"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4143646" y="281410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a:t>
            </a:r>
            <a:r>
              <a:rPr kumimoji="1" lang="zh-CN" altLang="en-US" sz="1200" b="1" dirty="0" smtClean="0">
                <a:solidFill>
                  <a:srgbClr val="0000FF"/>
                </a:solidFill>
                <a:latin typeface="微软雅黑" panose="020B0503020204020204" pitchFamily="34" charset="-122"/>
                <a:ea typeface="微软雅黑" panose="020B0503020204020204" pitchFamily="34" charset="-122"/>
              </a:rPr>
              <a:t>邮件</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628236" y="3094217"/>
            <a:ext cx="1928643"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9492" y="3111416"/>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419" name="圆角矩形 418"/>
          <p:cNvSpPr/>
          <p:nvPr/>
        </p:nvSpPr>
        <p:spPr>
          <a:xfrm>
            <a:off x="1484031" y="1568391"/>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9" name="矩形 428"/>
          <p:cNvSpPr/>
          <p:nvPr/>
        </p:nvSpPr>
        <p:spPr>
          <a:xfrm>
            <a:off x="1096460" y="1078183"/>
            <a:ext cx="7188224" cy="477054"/>
          </a:xfrm>
          <a:prstGeom prst="rect">
            <a:avLst/>
          </a:prstGeom>
        </p:spPr>
        <p:txBody>
          <a:bodyPr wrap="square" anchor="ctr">
            <a:spAutoFit/>
          </a:bodyPr>
          <a:lstStyle/>
          <a:p>
            <a:pPr algn="ctr">
              <a:lnSpc>
                <a:spcPts val="3000"/>
              </a:lnSpc>
            </a:pPr>
            <a:r>
              <a:rPr lang="zh-CN" altLang="en-US" sz="2000" b="1" dirty="0" smtClean="0">
                <a:solidFill>
                  <a:srgbClr val="C00000"/>
                </a:solidFill>
                <a:latin typeface="微软雅黑" panose="020B0503020204020204" pitchFamily="34" charset="-122"/>
                <a:ea typeface="微软雅黑" panose="020B0503020204020204" pitchFamily="34" charset="-122"/>
              </a:rPr>
              <a:t>用户代理</a:t>
            </a:r>
            <a:r>
              <a:rPr lang="zh-CN" altLang="en-US" sz="2000" b="1" dirty="0">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邮件</a:t>
            </a:r>
            <a:r>
              <a:rPr lang="zh-CN" altLang="en-US" sz="2000" b="1" dirty="0">
                <a:solidFill>
                  <a:srgbClr val="C00000"/>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，以及</a:t>
            </a:r>
            <a:r>
              <a:rPr lang="zh-CN" altLang="en-US" sz="2000" b="1" dirty="0">
                <a:solidFill>
                  <a:srgbClr val="C00000"/>
                </a:solidFill>
                <a:latin typeface="微软雅黑" panose="020B0503020204020204" pitchFamily="34" charset="-122"/>
                <a:ea typeface="微软雅黑" panose="020B0503020204020204" pitchFamily="34" charset="-122"/>
              </a:rPr>
              <a:t>邮件</a:t>
            </a:r>
            <a:r>
              <a:rPr lang="zh-CN" altLang="en-US" sz="2000" b="1" dirty="0" smtClean="0">
                <a:solidFill>
                  <a:srgbClr val="C00000"/>
                </a:solidFill>
                <a:latin typeface="微软雅黑" panose="020B0503020204020204" pitchFamily="34" charset="-122"/>
                <a:ea typeface="微软雅黑" panose="020B0503020204020204" pitchFamily="34" charset="-122"/>
              </a:rPr>
              <a:t>发送和读取协议</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grpSp>
        <p:nvGrpSpPr>
          <p:cNvPr id="3" name="组合 2"/>
          <p:cNvGrpSpPr/>
          <p:nvPr/>
        </p:nvGrpSpPr>
        <p:grpSpPr>
          <a:xfrm>
            <a:off x="1621814" y="1666614"/>
            <a:ext cx="5935194" cy="1424487"/>
            <a:chOff x="1621814" y="1666614"/>
            <a:chExt cx="5935194" cy="1424487"/>
          </a:xfrm>
        </p:grpSpPr>
        <p:grpSp>
          <p:nvGrpSpPr>
            <p:cNvPr id="420" name="组合 419"/>
            <p:cNvGrpSpPr/>
            <p:nvPr/>
          </p:nvGrpSpPr>
          <p:grpSpPr>
            <a:xfrm>
              <a:off x="1621814" y="1666614"/>
              <a:ext cx="5935194" cy="799911"/>
              <a:chOff x="1509292" y="1797262"/>
              <a:chExt cx="5935194" cy="799911"/>
            </a:xfrm>
          </p:grpSpPr>
          <p:sp>
            <p:nvSpPr>
              <p:cNvPr id="375" name="Text Box 389"/>
              <p:cNvSpPr txBox="1">
                <a:spLocks noChangeArrowheads="1"/>
              </p:cNvSpPr>
              <p:nvPr/>
            </p:nvSpPr>
            <p:spPr bwMode="auto">
              <a:xfrm>
                <a:off x="2239475" y="231248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805314"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509292"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055753" y="2311432"/>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248753"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695563"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sp>
          <p:nvSpPr>
            <p:cNvPr id="41" name="Text Box 392"/>
            <p:cNvSpPr txBox="1">
              <a:spLocks noChangeArrowheads="1"/>
            </p:cNvSpPr>
            <p:nvPr/>
          </p:nvSpPr>
          <p:spPr bwMode="auto">
            <a:xfrm>
              <a:off x="4736682" y="2814102"/>
              <a:ext cx="6799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885023" y="574020"/>
            <a:ext cx="3392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用户代理 </a:t>
            </a:r>
            <a:r>
              <a:rPr lang="en-US" altLang="zh-CN" sz="2000" b="1" dirty="0">
                <a:solidFill>
                  <a:schemeClr val="bg1"/>
                </a:solidFill>
                <a:latin typeface="微软雅黑" panose="020B0503020204020204" pitchFamily="34" charset="-122"/>
                <a:ea typeface="微软雅黑" panose="020B0503020204020204" pitchFamily="34" charset="-122"/>
              </a:rPr>
              <a:t>UA (User Agent)</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36259"/>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29754"/>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29754"/>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88998"/>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62613"/>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61820"/>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69452"/>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87541"/>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8351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088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69237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78072"/>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78072"/>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36259"/>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41739"/>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78072"/>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52665"/>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78072"/>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41739"/>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88998"/>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12405"/>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72945"/>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59996"/>
          <a:ext cx="440021" cy="504000"/>
        </p:xfrm>
        <a:graphic>
          <a:graphicData uri="http://schemas.openxmlformats.org/presentationml/2006/ole">
            <mc:AlternateContent xmlns:mc="http://schemas.openxmlformats.org/markup-compatibility/2006">
              <mc:Choice xmlns:v="urn:schemas-microsoft-com:vml" Requires="v">
                <p:oleObj spid="_x0000_s13313" name="Visio" r:id="rId1" imgW="3463925" imgH="4220845" progId="">
                  <p:embed/>
                </p:oleObj>
              </mc:Choice>
              <mc:Fallback>
                <p:oleObj name="Visio" r:id="rId1" imgW="3463925" imgH="4220845" progId="">
                  <p:embed/>
                  <p:pic>
                    <p:nvPicPr>
                      <p:cNvPr id="0" name="图片 13312"/>
                      <p:cNvPicPr>
                        <a:picLocks noChangeAspect="1"/>
                      </p:cNvPicPr>
                      <p:nvPr/>
                    </p:nvPicPr>
                    <p:blipFill>
                      <a:blip r:embed="rId2"/>
                      <a:srcRect l="5348" t="4167" r="4546" b="11185"/>
                      <a:stretch>
                        <a:fillRect/>
                      </a:stretch>
                    </p:blipFill>
                    <p:spPr>
                      <a:xfrm>
                        <a:off x="1234937" y="1459996"/>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59996"/>
          <a:ext cx="443938" cy="504000"/>
        </p:xfrm>
        <a:graphic>
          <a:graphicData uri="http://schemas.openxmlformats.org/presentationml/2006/ole">
            <mc:AlternateContent xmlns:mc="http://schemas.openxmlformats.org/markup-compatibility/2006">
              <mc:Choice xmlns:v="urn:schemas-microsoft-com:vml" Requires="v">
                <p:oleObj spid="_x0000_s13314" name="Visio" r:id="rId3" imgW="3463925" imgH="4220845" progId="">
                  <p:embed/>
                </p:oleObj>
              </mc:Choice>
              <mc:Fallback>
                <p:oleObj name="Visio" r:id="rId3" imgW="3463925" imgH="4220845" progId="">
                  <p:embed/>
                  <p:pic>
                    <p:nvPicPr>
                      <p:cNvPr id="0" name="图片 13313"/>
                      <p:cNvPicPr>
                        <a:picLocks noChangeAspect="1"/>
                      </p:cNvPicPr>
                      <p:nvPr/>
                    </p:nvPicPr>
                    <p:blipFill>
                      <a:blip r:embed="rId4"/>
                      <a:srcRect l="4546" t="3947" r="4546" b="11403"/>
                      <a:stretch>
                        <a:fillRect/>
                      </a:stretch>
                    </p:blipFill>
                    <p:spPr>
                      <a:xfrm>
                        <a:off x="7436052" y="1459996"/>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72945"/>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96460" y="2624004"/>
            <a:ext cx="7188224" cy="861774"/>
          </a:xfrm>
          <a:prstGeom prst="rect">
            <a:avLst/>
          </a:prstGeom>
        </p:spPr>
        <p:txBody>
          <a:bodyPr wrap="square">
            <a:spAutoFit/>
          </a:bodyPr>
          <a:lstStyle/>
          <a:p>
            <a:pPr>
              <a:lnSpc>
                <a:spcPts val="3000"/>
              </a:lnSpc>
            </a:pPr>
            <a:r>
              <a:rPr lang="zh-CN" altLang="en-US" b="1" dirty="0" smtClean="0">
                <a:latin typeface="微软雅黑" panose="020B0503020204020204" pitchFamily="34" charset="-122"/>
                <a:ea typeface="微软雅黑" panose="020B0503020204020204" pitchFamily="34" charset="-122"/>
              </a:rPr>
              <a:t>用户</a:t>
            </a:r>
            <a:r>
              <a:rPr lang="zh-CN" altLang="en-US" b="1" dirty="0">
                <a:latin typeface="微软雅黑" panose="020B0503020204020204" pitchFamily="34" charset="-122"/>
                <a:ea typeface="微软雅黑" panose="020B0503020204020204" pitchFamily="34" charset="-122"/>
              </a:rPr>
              <a:t>与电子邮件系统的</a:t>
            </a:r>
            <a:r>
              <a:rPr lang="zh-CN" altLang="en-US" b="1" dirty="0" smtClean="0">
                <a:latin typeface="微软雅黑" panose="020B0503020204020204" pitchFamily="34" charset="-122"/>
                <a:ea typeface="微软雅黑" panose="020B0503020204020204" pitchFamily="34" charset="-122"/>
              </a:rPr>
              <a:t>接口。</a:t>
            </a:r>
            <a:r>
              <a:rPr lang="zh-CN" altLang="en-US" b="1" dirty="0">
                <a:latin typeface="微软雅黑" panose="020B0503020204020204" pitchFamily="34" charset="-122"/>
                <a:ea typeface="微软雅黑" panose="020B0503020204020204" pitchFamily="34" charset="-122"/>
              </a:rPr>
              <a:t>又被称为</a:t>
            </a:r>
            <a:r>
              <a:rPr lang="zh-CN" altLang="en-US" b="1" dirty="0">
                <a:solidFill>
                  <a:srgbClr val="0000FF"/>
                </a:solidFill>
                <a:latin typeface="微软雅黑" panose="020B0503020204020204" pitchFamily="34" charset="-122"/>
                <a:ea typeface="微软雅黑" panose="020B0503020204020204" pitchFamily="34" charset="-122"/>
              </a:rPr>
              <a:t>电子邮件客户端软件。</a:t>
            </a:r>
            <a:endParaRPr lang="zh-CN" altLang="en-US" b="1" dirty="0">
              <a:solidFill>
                <a:srgbClr val="0000FF"/>
              </a:solidFill>
              <a:latin typeface="微软雅黑" panose="020B0503020204020204" pitchFamily="34" charset="-122"/>
              <a:ea typeface="微软雅黑" panose="020B0503020204020204" pitchFamily="34" charset="-122"/>
            </a:endParaRPr>
          </a:p>
          <a:p>
            <a:pPr>
              <a:lnSpc>
                <a:spcPts val="3000"/>
              </a:lnSpc>
            </a:pPr>
            <a:r>
              <a:rPr lang="zh-CN" altLang="en-US" b="1" dirty="0" smtClean="0">
                <a:solidFill>
                  <a:srgbClr val="C00000"/>
                </a:solidFill>
                <a:latin typeface="微软雅黑" panose="020B0503020204020204" pitchFamily="34" charset="-122"/>
                <a:ea typeface="微软雅黑" panose="020B0503020204020204" pitchFamily="34" charset="-122"/>
              </a:rPr>
              <a:t>基本功能</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撰写、显示、</a:t>
            </a:r>
            <a:r>
              <a:rPr lang="zh-CN" altLang="en-US" b="1" dirty="0" smtClean="0">
                <a:latin typeface="微软雅黑" panose="020B0503020204020204" pitchFamily="34" charset="-122"/>
                <a:ea typeface="微软雅黑" panose="020B0503020204020204" pitchFamily="34" charset="-122"/>
              </a:rPr>
              <a:t>处理、通信。</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10000" fill="hold" grpId="0" nodeType="withEffect">
                                  <p:stCondLst>
                                    <p:cond delay="0"/>
                                  </p:stCondLst>
                                  <p:childTnLst>
                                    <p:anim calcmode="discrete" valueType="str">
                                      <p:cBhvr>
                                        <p:cTn id="6" dur="1000" fill="hold"/>
                                        <p:tgtEl>
                                          <p:spTgt spid="373"/>
                                        </p:tgtEl>
                                        <p:attrNameLst>
                                          <p:attrName>style.visibility</p:attrName>
                                        </p:attrNameLst>
                                      </p:cBhvr>
                                      <p:tavLst>
                                        <p:tav tm="0">
                                          <p:val>
                                            <p:strVal val="hidden"/>
                                          </p:val>
                                        </p:tav>
                                        <p:tav tm="50000">
                                          <p:val>
                                            <p:strVal val="visible"/>
                                          </p:val>
                                        </p:tav>
                                      </p:tavLst>
                                    </p:anim>
                                  </p:childTnLst>
                                </p:cTn>
                              </p:par>
                              <p:par>
                                <p:cTn id="7" presetID="35" presetClass="emph" presetSubtype="0" repeatCount="10000" fill="hold" grpId="0" nodeType="withEffect">
                                  <p:stCondLst>
                                    <p:cond delay="0"/>
                                  </p:stCondLst>
                                  <p:childTnLst>
                                    <p:anim calcmode="discrete" valueType="str">
                                      <p:cBhvr>
                                        <p:cTn id="8" dur="1000" fill="hold"/>
                                        <p:tgtEl>
                                          <p:spTgt spid="3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animBg="1"/>
      <p:bldP spid="37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77260" y="582898"/>
            <a:ext cx="3208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r>
              <a:rPr lang="en-US" altLang="zh-CN" sz="2000" b="1" dirty="0" smtClean="0">
                <a:solidFill>
                  <a:schemeClr val="bg1"/>
                </a:solidFill>
                <a:latin typeface="微软雅黑" panose="020B0503020204020204" pitchFamily="34" charset="-122"/>
                <a:ea typeface="微软雅黑" panose="020B0503020204020204" pitchFamily="34" charset="-122"/>
              </a:rPr>
              <a:t> (Mail Server)</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4337" name="Visio" r:id="rId1" imgW="3463925" imgH="4220845" progId="">
                  <p:embed/>
                </p:oleObj>
              </mc:Choice>
              <mc:Fallback>
                <p:oleObj name="Visio" r:id="rId1" imgW="3463925" imgH="4220845" progId="">
                  <p:embed/>
                  <p:pic>
                    <p:nvPicPr>
                      <p:cNvPr id="0" name="图片 14336"/>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4338" name="Visio" r:id="rId3" imgW="3463925" imgH="4220845" progId="">
                  <p:embed/>
                </p:oleObj>
              </mc:Choice>
              <mc:Fallback>
                <p:oleObj name="Visio" r:id="rId3" imgW="3463925" imgH="4220845" progId="">
                  <p:embed/>
                  <p:pic>
                    <p:nvPicPr>
                      <p:cNvPr id="0" name="图片 14337"/>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586786"/>
            <a:ext cx="7353477" cy="1246495"/>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又被称为</a:t>
            </a:r>
            <a:r>
              <a:rPr lang="zh-CN" altLang="en-US" b="1" dirty="0">
                <a:solidFill>
                  <a:srgbClr val="0000FF"/>
                </a:solidFill>
                <a:latin typeface="微软雅黑" panose="020B0503020204020204" pitchFamily="34" charset="-122"/>
                <a:ea typeface="微软雅黑" panose="020B0503020204020204" pitchFamily="34" charset="-122"/>
              </a:rPr>
              <a:t>邮件传输代理。</a:t>
            </a:r>
            <a:endParaRPr lang="en-US" altLang="zh-CN" b="1" dirty="0">
              <a:solidFill>
                <a:srgbClr val="0000FF"/>
              </a:solidFill>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功能：</a:t>
            </a:r>
            <a:r>
              <a:rPr lang="zh-CN" altLang="en-US" b="1" dirty="0" smtClean="0">
                <a:latin typeface="微软雅黑" panose="020B0503020204020204" pitchFamily="34" charset="-122"/>
                <a:ea typeface="微软雅黑" panose="020B0503020204020204" pitchFamily="34" charset="-122"/>
              </a:rPr>
              <a:t>发送</a:t>
            </a:r>
            <a:r>
              <a:rPr lang="zh-CN" altLang="en-US" b="1" dirty="0">
                <a:latin typeface="微软雅黑" panose="020B0503020204020204" pitchFamily="34" charset="-122"/>
                <a:ea typeface="微软雅黑" panose="020B0503020204020204" pitchFamily="34" charset="-122"/>
              </a:rPr>
              <a:t>和接收邮件，同时还要向发信人报告邮件传送的</a:t>
            </a:r>
            <a:r>
              <a:rPr lang="zh-CN" altLang="en-US" b="1" dirty="0" smtClean="0">
                <a:latin typeface="微软雅黑" panose="020B0503020204020204" pitchFamily="34" charset="-122"/>
                <a:ea typeface="微软雅黑" panose="020B0503020204020204" pitchFamily="34" charset="-122"/>
              </a:rPr>
              <a:t>情况。</a:t>
            </a:r>
            <a:endParaRPr lang="zh-CN" altLang="en-US" b="1" dirty="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按照</a:t>
            </a:r>
            <a:r>
              <a:rPr lang="zh-CN" altLang="en-US" b="1" dirty="0" smtClean="0">
                <a:solidFill>
                  <a:srgbClr val="CC00CC"/>
                </a:solidFill>
                <a:latin typeface="微软雅黑" panose="020B0503020204020204" pitchFamily="34" charset="-122"/>
                <a:ea typeface="微软雅黑" panose="020B0503020204020204" pitchFamily="34" charset="-122"/>
              </a:rPr>
              <a:t>客户服务器</a:t>
            </a:r>
            <a:r>
              <a:rPr lang="zh-CN" altLang="en-US" b="1" dirty="0">
                <a:latin typeface="微软雅黑" panose="020B0503020204020204" pitchFamily="34" charset="-122"/>
                <a:ea typeface="微软雅黑" panose="020B0503020204020204" pitchFamily="34" charset="-122"/>
              </a:rPr>
              <a:t>方式工作</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72"/>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animBg="1"/>
      <p:bldP spid="38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邮件发送和</a:t>
            </a:r>
            <a:r>
              <a:rPr lang="zh-CN" altLang="en-US" sz="2000" b="1" dirty="0" smtClean="0">
                <a:solidFill>
                  <a:schemeClr val="bg1"/>
                </a:solidFill>
                <a:latin typeface="微软雅黑" panose="020B0503020204020204" pitchFamily="34" charset="-122"/>
                <a:ea typeface="微软雅黑" panose="020B0503020204020204" pitchFamily="34" charset="-122"/>
              </a:rPr>
              <a:t>读取协议</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5361" name="Visio" r:id="rId1" imgW="3463925" imgH="4220845" progId="">
                  <p:embed/>
                </p:oleObj>
              </mc:Choice>
              <mc:Fallback>
                <p:oleObj name="Visio" r:id="rId1" imgW="3463925" imgH="4220845" progId="">
                  <p:embed/>
                  <p:pic>
                    <p:nvPicPr>
                      <p:cNvPr id="0" name="图片 15360"/>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5362" name="Visio" r:id="rId3" imgW="3463925" imgH="4220845" progId="">
                  <p:embed/>
                </p:oleObj>
              </mc:Choice>
              <mc:Fallback>
                <p:oleObj name="Visio" r:id="rId3" imgW="3463925" imgH="4220845" progId="">
                  <p:embed/>
                  <p:pic>
                    <p:nvPicPr>
                      <p:cNvPr id="0" name="图片 15361"/>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586786"/>
            <a:ext cx="7353477" cy="1631216"/>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邮件发送和读取使用不同的</a:t>
            </a:r>
            <a:r>
              <a:rPr lang="zh-CN" altLang="en-US" b="1" dirty="0" smtClean="0">
                <a:latin typeface="微软雅黑" panose="020B0503020204020204" pitchFamily="34" charset="-122"/>
                <a:ea typeface="微软雅黑" panose="020B0503020204020204" pitchFamily="34" charset="-122"/>
              </a:rPr>
              <a:t>协议。</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简单</a:t>
            </a:r>
            <a:r>
              <a:rPr lang="zh-CN" altLang="en-US" b="1" dirty="0">
                <a:solidFill>
                  <a:srgbClr val="C00000"/>
                </a:solidFill>
                <a:latin typeface="微软雅黑" panose="020B0503020204020204" pitchFamily="34" charset="-122"/>
                <a:ea typeface="微软雅黑" panose="020B0503020204020204" pitchFamily="34" charset="-122"/>
              </a:rPr>
              <a:t>邮件发送</a:t>
            </a:r>
            <a:r>
              <a:rPr lang="zh-CN" altLang="en-US" b="1" dirty="0" smtClean="0">
                <a:solidFill>
                  <a:srgbClr val="C00000"/>
                </a:solidFill>
                <a:latin typeface="微软雅黑" panose="020B0503020204020204" pitchFamily="34" charset="-122"/>
                <a:ea typeface="微软雅黑" panose="020B0503020204020204" pitchFamily="34" charset="-122"/>
              </a:rPr>
              <a:t>协议 </a:t>
            </a:r>
            <a:r>
              <a:rPr lang="en-US" altLang="zh-CN" b="1" dirty="0" smtClean="0">
                <a:solidFill>
                  <a:srgbClr val="C00000"/>
                </a:solidFill>
                <a:latin typeface="微软雅黑" panose="020B0503020204020204" pitchFamily="34" charset="-122"/>
                <a:ea typeface="微软雅黑" panose="020B0503020204020204" pitchFamily="34" charset="-122"/>
              </a:rPr>
              <a:t>SMTP</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用于在用户代理向邮件服务器 或 邮件</a:t>
            </a:r>
            <a:r>
              <a:rPr lang="zh-CN" altLang="en-US" b="1" dirty="0">
                <a:latin typeface="微软雅黑" panose="020B0503020204020204" pitchFamily="34" charset="-122"/>
                <a:ea typeface="微软雅黑" panose="020B0503020204020204" pitchFamily="34" charset="-122"/>
              </a:rPr>
              <a:t>服务器之间</a:t>
            </a:r>
            <a:r>
              <a:rPr lang="zh-CN" altLang="en-US" b="1" dirty="0">
                <a:solidFill>
                  <a:srgbClr val="0000FF"/>
                </a:solidFill>
                <a:latin typeface="微软雅黑" panose="020B0503020204020204" pitchFamily="34" charset="-122"/>
                <a:ea typeface="微软雅黑" panose="020B0503020204020204" pitchFamily="34" charset="-122"/>
              </a:rPr>
              <a:t>发送</a:t>
            </a:r>
            <a:r>
              <a:rPr lang="zh-CN" altLang="en-US" b="1" dirty="0" smtClean="0">
                <a:latin typeface="微软雅黑" panose="020B0503020204020204" pitchFamily="34" charset="-122"/>
                <a:ea typeface="微软雅黑" panose="020B0503020204020204" pitchFamily="34" charset="-122"/>
              </a:rPr>
              <a:t>邮件。</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邮局</a:t>
            </a:r>
            <a:r>
              <a:rPr lang="zh-CN" altLang="en-US" b="1" dirty="0" smtClean="0">
                <a:solidFill>
                  <a:srgbClr val="C00000"/>
                </a:solidFill>
                <a:latin typeface="微软雅黑" panose="020B0503020204020204" pitchFamily="34" charset="-122"/>
                <a:ea typeface="微软雅黑" panose="020B0503020204020204" pitchFamily="34" charset="-122"/>
              </a:rPr>
              <a:t>协议 </a:t>
            </a:r>
            <a:r>
              <a:rPr lang="en-US" altLang="zh-CN" b="1" dirty="0" smtClean="0">
                <a:solidFill>
                  <a:srgbClr val="C00000"/>
                </a:solidFill>
                <a:latin typeface="微软雅黑" panose="020B0503020204020204" pitchFamily="34" charset="-122"/>
                <a:ea typeface="微软雅黑" panose="020B0503020204020204" pitchFamily="34" charset="-122"/>
              </a:rPr>
              <a:t>POP3</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用于用户代理从邮件服务器</a:t>
            </a:r>
            <a:r>
              <a:rPr lang="zh-CN" altLang="en-US" b="1" dirty="0">
                <a:solidFill>
                  <a:srgbClr val="0000FF"/>
                </a:solidFill>
                <a:latin typeface="微软雅黑" panose="020B0503020204020204" pitchFamily="34" charset="-122"/>
                <a:ea typeface="微软雅黑" panose="020B0503020204020204" pitchFamily="34" charset="-122"/>
              </a:rPr>
              <a:t>读取</a:t>
            </a:r>
            <a:r>
              <a:rPr lang="zh-CN" altLang="en-US" b="1" dirty="0" smtClean="0">
                <a:latin typeface="微软雅黑" panose="020B0503020204020204" pitchFamily="34" charset="-122"/>
                <a:ea typeface="微软雅黑" panose="020B0503020204020204" pitchFamily="34" charset="-122"/>
              </a:rPr>
              <a:t>邮件。</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withEffect">
                                  <p:stCondLst>
                                    <p:cond delay="0"/>
                                  </p:stCondLst>
                                  <p:endCondLst>
                                    <p:cond evt="onNext" delay="0">
                                      <p:tgtEl>
                                        <p:sldTgt/>
                                      </p:tgtEl>
                                    </p:cond>
                                  </p:end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7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nodeType="withEffect">
                                  <p:stCondLst>
                                    <p:cond delay="0"/>
                                  </p:stCondLst>
                                  <p:endCondLst>
                                    <p:cond evt="onNext" delay="0">
                                      <p:tgtEl>
                                        <p:sldTgt/>
                                      </p:tgtEl>
                                    </p:cond>
                                  </p:end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应当注意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POP3</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服务器</a:t>
            </a:r>
            <a:endParaRPr kumimoji="1" lang="zh-CN" altLang="en-US" sz="900" b="1" dirty="0">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6385" name="Visio" r:id="rId1" imgW="3463925" imgH="4220845" progId="">
                  <p:embed/>
                </p:oleObj>
              </mc:Choice>
              <mc:Fallback>
                <p:oleObj name="Visio" r:id="rId1" imgW="3463925" imgH="4220845" progId="">
                  <p:embed/>
                  <p:pic>
                    <p:nvPicPr>
                      <p:cNvPr id="0" name="图片 16384"/>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6386" name="Visio" r:id="rId3" imgW="3463925" imgH="4220845" progId="">
                  <p:embed/>
                </p:oleObj>
              </mc:Choice>
              <mc:Fallback>
                <p:oleObj name="Visio" r:id="rId3" imgW="3463925" imgH="4220845" progId="">
                  <p:embed/>
                  <p:pic>
                    <p:nvPicPr>
                      <p:cNvPr id="0" name="图片 16385"/>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790417"/>
            <a:ext cx="7353477" cy="861774"/>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邮件服务器必须能够</a:t>
            </a:r>
            <a:r>
              <a:rPr lang="zh-CN" altLang="en-US" b="1" dirty="0">
                <a:solidFill>
                  <a:srgbClr val="C00000"/>
                </a:solidFill>
                <a:latin typeface="微软雅黑" panose="020B0503020204020204" pitchFamily="34" charset="-122"/>
                <a:ea typeface="微软雅黑" panose="020B0503020204020204" pitchFamily="34" charset="-122"/>
              </a:rPr>
              <a:t>同时充当</a:t>
            </a:r>
            <a:r>
              <a:rPr lang="zh-CN" altLang="en-US" b="1" dirty="0">
                <a:latin typeface="微软雅黑" panose="020B0503020204020204" pitchFamily="34" charset="-122"/>
                <a:ea typeface="微软雅黑" panose="020B0503020204020204" pitchFamily="34" charset="-122"/>
              </a:rPr>
              <a:t>客户和</a:t>
            </a:r>
            <a:r>
              <a:rPr lang="zh-CN" altLang="en-US" b="1" dirty="0" smtClean="0">
                <a:latin typeface="微软雅黑" panose="020B0503020204020204" pitchFamily="34" charset="-122"/>
                <a:ea typeface="微软雅黑" panose="020B0503020204020204" pitchFamily="34" charset="-122"/>
              </a:rPr>
              <a:t>服务器。</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en-US" altLang="zh-CN" b="1" dirty="0" smtClean="0">
                <a:solidFill>
                  <a:srgbClr val="0000FF"/>
                </a:solidFill>
                <a:latin typeface="微软雅黑" panose="020B0503020204020204" pitchFamily="34" charset="-122"/>
                <a:ea typeface="微软雅黑" panose="020B0503020204020204" pitchFamily="34" charset="-122"/>
              </a:rPr>
              <a:t>SMTP </a:t>
            </a:r>
            <a:r>
              <a:rPr lang="zh-CN" altLang="en-US" b="1" dirty="0" smtClean="0">
                <a:solidFill>
                  <a:srgbClr val="0000FF"/>
                </a:solidFill>
                <a:latin typeface="微软雅黑" panose="020B0503020204020204" pitchFamily="34" charset="-122"/>
                <a:ea typeface="微软雅黑" panose="020B0503020204020204" pitchFamily="34" charset="-122"/>
              </a:rPr>
              <a:t>和 </a:t>
            </a:r>
            <a:r>
              <a:rPr lang="en-US" altLang="zh-CN" b="1" dirty="0" smtClean="0">
                <a:solidFill>
                  <a:srgbClr val="0000FF"/>
                </a:solidFill>
                <a:latin typeface="微软雅黑" panose="020B0503020204020204" pitchFamily="34" charset="-122"/>
                <a:ea typeface="微软雅黑" panose="020B0503020204020204" pitchFamily="34" charset="-122"/>
              </a:rPr>
              <a:t>POP3</a:t>
            </a:r>
            <a:r>
              <a:rPr lang="zh-CN" altLang="en-US" b="1" dirty="0">
                <a:solidFill>
                  <a:srgbClr val="0000FF"/>
                </a:solidFill>
                <a:latin typeface="微软雅黑" panose="020B0503020204020204" pitchFamily="34" charset="-122"/>
                <a:ea typeface="微软雅黑" panose="020B0503020204020204" pitchFamily="34" charset="-122"/>
              </a:rPr>
              <a:t>（</a:t>
            </a:r>
            <a:r>
              <a:rPr lang="zh-CN" altLang="en-US" b="1" dirty="0" smtClean="0">
                <a:solidFill>
                  <a:srgbClr val="0000FF"/>
                </a:solidFill>
                <a:latin typeface="微软雅黑" panose="020B0503020204020204" pitchFamily="34" charset="-122"/>
                <a:ea typeface="微软雅黑" panose="020B0503020204020204" pitchFamily="34" charset="-122"/>
              </a:rPr>
              <a:t>或 </a:t>
            </a:r>
            <a:r>
              <a:rPr lang="en-US" altLang="zh-CN" b="1" dirty="0" smtClean="0">
                <a:solidFill>
                  <a:srgbClr val="0000FF"/>
                </a:solidFill>
                <a:latin typeface="微软雅黑" panose="020B0503020204020204" pitchFamily="34" charset="-122"/>
                <a:ea typeface="微软雅黑" panose="020B0503020204020204" pitchFamily="34" charset="-122"/>
              </a:rPr>
              <a:t>IMAP</a:t>
            </a:r>
            <a:r>
              <a:rPr lang="zh-CN" altLang="en-US" b="1" dirty="0">
                <a:solidFill>
                  <a:srgbClr val="0000FF"/>
                </a:solidFill>
                <a:latin typeface="微软雅黑" panose="020B0503020204020204" pitchFamily="34" charset="-122"/>
                <a:ea typeface="微软雅黑" panose="020B0503020204020204" pitchFamily="34" charset="-122"/>
              </a:rPr>
              <a:t>）</a:t>
            </a:r>
            <a:r>
              <a:rPr lang="zh-CN" altLang="en-US" b="1" dirty="0" smtClean="0">
                <a:solidFill>
                  <a:srgbClr val="0000FF"/>
                </a:solidFill>
                <a:latin typeface="微软雅黑" panose="020B0503020204020204" pitchFamily="34" charset="-122"/>
                <a:ea typeface="微软雅黑" panose="020B0503020204020204" pitchFamily="34" charset="-122"/>
              </a:rPr>
              <a:t>都使用 </a:t>
            </a:r>
            <a:r>
              <a:rPr lang="en-US" altLang="zh-CN" b="1" dirty="0" smtClean="0">
                <a:solidFill>
                  <a:srgbClr val="C00000"/>
                </a:solidFill>
                <a:latin typeface="微软雅黑" panose="020B0503020204020204" pitchFamily="34" charset="-122"/>
                <a:ea typeface="微软雅黑" panose="020B0503020204020204" pitchFamily="34" charset="-122"/>
              </a:rPr>
              <a:t>TCP </a:t>
            </a:r>
            <a:r>
              <a:rPr lang="zh-CN" altLang="en-US" b="1" dirty="0" smtClean="0">
                <a:solidFill>
                  <a:srgbClr val="C00000"/>
                </a:solidFill>
                <a:latin typeface="微软雅黑" panose="020B0503020204020204" pitchFamily="34" charset="-122"/>
                <a:ea typeface="微软雅黑" panose="020B0503020204020204" pitchFamily="34" charset="-122"/>
              </a:rPr>
              <a:t>连接</a:t>
            </a:r>
            <a:r>
              <a:rPr lang="zh-CN" altLang="en-US" b="1" dirty="0" smtClean="0">
                <a:solidFill>
                  <a:srgbClr val="0000FF"/>
                </a:solidFill>
                <a:latin typeface="微软雅黑" panose="020B0503020204020204" pitchFamily="34" charset="-122"/>
                <a:ea typeface="微软雅黑" panose="020B0503020204020204" pitchFamily="34" charset="-122"/>
              </a:rPr>
              <a:t>可靠</a:t>
            </a:r>
            <a:r>
              <a:rPr lang="zh-CN" altLang="en-US" b="1" dirty="0">
                <a:solidFill>
                  <a:srgbClr val="0000FF"/>
                </a:solidFill>
                <a:latin typeface="微软雅黑" panose="020B0503020204020204" pitchFamily="34" charset="-122"/>
                <a:ea typeface="微软雅黑" panose="020B0503020204020204" pitchFamily="34" charset="-122"/>
              </a:rPr>
              <a:t>地传送</a:t>
            </a:r>
            <a:r>
              <a:rPr lang="zh-CN" altLang="en-US" b="1" dirty="0" smtClean="0">
                <a:solidFill>
                  <a:srgbClr val="0000FF"/>
                </a:solidFill>
                <a:latin typeface="微软雅黑" panose="020B0503020204020204" pitchFamily="34" charset="-122"/>
                <a:ea typeface="微软雅黑" panose="020B0503020204020204" pitchFamily="34" charset="-122"/>
              </a:rPr>
              <a:t>邮件。</a:t>
            </a:r>
            <a:endParaRPr lang="zh-CN" altLang="en-US"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2000"/>
                                  </p:stCondLst>
                                  <p:childTnLst>
                                    <p:anim calcmode="discrete" valueType="str">
                                      <p:cBhvr>
                                        <p:cTn id="6" dur="1000" fill="hold"/>
                                        <p:tgtEl>
                                          <p:spTgt spid="38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2000"/>
                                  </p:stCondLst>
                                  <p:childTnLst>
                                    <p:anim calcmode="discrete" valueType="str">
                                      <p:cBhvr>
                                        <p:cTn id="8" dur="1000" fill="hold"/>
                                        <p:tgtEl>
                                          <p:spTgt spid="39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2000"/>
                                  </p:stCondLst>
                                  <p:childTnLst>
                                    <p:anim calcmode="discrete" valueType="str">
                                      <p:cBhvr>
                                        <p:cTn id="10" dur="1000" fill="hold"/>
                                        <p:tgtEl>
                                          <p:spTgt spid="384"/>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2000"/>
                                  </p:stCondLst>
                                  <p:childTnLst>
                                    <p:anim calcmode="discrete" valueType="str">
                                      <p:cBhvr>
                                        <p:cTn id="12" dur="1000" fill="hold"/>
                                        <p:tgtEl>
                                          <p:spTgt spid="389"/>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1000"/>
                                  </p:stCondLst>
                                  <p:childTnLst>
                                    <p:anim calcmode="discrete" valueType="str">
                                      <p:cBhvr>
                                        <p:cTn id="15" dur="1000" fill="hold"/>
                                        <p:tgtEl>
                                          <p:spTgt spid="39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1000"/>
                                  </p:stCondLst>
                                  <p:childTnLst>
                                    <p:anim calcmode="discrete" valueType="str">
                                      <p:cBhvr>
                                        <p:cTn id="17" dur="1000" fill="hold"/>
                                        <p:tgtEl>
                                          <p:spTgt spid="3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 grpId="0" animBg="1"/>
      <p:bldP spid="384" grpId="0" animBg="1"/>
      <p:bldP spid="388" grpId="0" animBg="1"/>
      <p:bldP spid="389" grpId="0" animBg="1"/>
      <p:bldP spid="391" grpId="0" animBg="1"/>
      <p:bldP spid="392"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a:t>
            </a:r>
            <a:r>
              <a:rPr lang="zh-CN" altLang="en-US" sz="2000" b="1" dirty="0" smtClean="0">
                <a:solidFill>
                  <a:schemeClr val="bg1"/>
                </a:solidFill>
                <a:latin typeface="微软雅黑" panose="020B0503020204020204" pitchFamily="34" charset="-122"/>
                <a:ea typeface="微软雅黑" panose="020B0503020204020204" pitchFamily="34" charset="-122"/>
              </a:rPr>
              <a:t>的重要</a:t>
            </a:r>
            <a:r>
              <a:rPr lang="zh-CN" altLang="en-US" sz="2000" b="1" dirty="0">
                <a:solidFill>
                  <a:schemeClr val="bg1"/>
                </a:solidFill>
                <a:latin typeface="微软雅黑" panose="020B0503020204020204" pitchFamily="34" charset="-122"/>
                <a:ea typeface="微软雅黑" panose="020B0503020204020204" pitchFamily="34" charset="-122"/>
              </a:rPr>
              <a:t>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7409" name="VISIO" r:id="rId1" imgW="3514725" imgH="2009775" progId="">
                  <p:embed/>
                </p:oleObj>
              </mc:Choice>
              <mc:Fallback>
                <p:oleObj name="VISIO" r:id="rId1" imgW="3514725" imgH="2009775" progId="">
                  <p:embed/>
                  <p:pic>
                    <p:nvPicPr>
                      <p:cNvPr id="0" name="图片 17408"/>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7410" name="VISIO" r:id="rId3" imgW="3514725" imgH="2009775" progId="">
                  <p:embed/>
                </p:oleObj>
              </mc:Choice>
              <mc:Fallback>
                <p:oleObj name="VISIO" r:id="rId3" imgW="3514725" imgH="2009775" progId="">
                  <p:embed/>
                  <p:pic>
                    <p:nvPicPr>
                      <p:cNvPr id="0" name="图片 17409"/>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3" name="组合 2"/>
          <p:cNvGrpSpPr/>
          <p:nvPr/>
        </p:nvGrpSpPr>
        <p:grpSpPr>
          <a:xfrm>
            <a:off x="1700784" y="2860589"/>
            <a:ext cx="760001" cy="1209725"/>
            <a:chOff x="1700784" y="2878345"/>
            <a:chExt cx="760001" cy="1209725"/>
          </a:xfrm>
        </p:grpSpPr>
        <p:sp>
          <p:nvSpPr>
            <p:cNvPr id="14" name="Text Box 7"/>
            <p:cNvSpPr txBox="1">
              <a:spLocks noChangeArrowheads="1"/>
            </p:cNvSpPr>
            <p:nvPr/>
          </p:nvSpPr>
          <p:spPr bwMode="auto">
            <a:xfrm>
              <a:off x="1700784" y="28783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grpSp>
          <p:nvGrpSpPr>
            <p:cNvPr id="52" name="Group 45"/>
            <p:cNvGrpSpPr/>
            <p:nvPr/>
          </p:nvGrpSpPr>
          <p:grpSpPr bwMode="auto">
            <a:xfrm>
              <a:off x="1900095" y="3171970"/>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69534"/>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211925"/>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81166"/>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65947"/>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99750"/>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700679"/>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80814"/>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28780"/>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53514"/>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63736"/>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504620"/>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94399"/>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88824"/>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31567"/>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50598"/>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215641"/>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211925"/>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98916"/>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90553"/>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80333"/>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89625"/>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85908"/>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216571"/>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35731"/>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36660"/>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53162"/>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28651"/>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97763"/>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74309"/>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76168"/>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36084"/>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98340"/>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48516"/>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572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gr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7411" name="Visio" r:id="rId4" imgW="3463925" imgH="4220845" progId="">
                  <p:embed/>
                </p:oleObj>
              </mc:Choice>
              <mc:Fallback>
                <p:oleObj name="Visio" r:id="rId4" imgW="3463925" imgH="4220845" progId="">
                  <p:embed/>
                  <p:pic>
                    <p:nvPicPr>
                      <p:cNvPr id="0" name="图片 17410"/>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7412" name="Visio" r:id="rId6" imgW="3463925" imgH="4220845" progId="">
                  <p:embed/>
                </p:oleObj>
              </mc:Choice>
              <mc:Fallback>
                <p:oleObj name="Visio" r:id="rId6" imgW="3463925" imgH="4220845" progId="">
                  <p:embed/>
                  <p:pic>
                    <p:nvPicPr>
                      <p:cNvPr id="0" name="图片 17411"/>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7"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a:t>
            </a:r>
            <a:r>
              <a:rPr lang="zh-CN" altLang="en-US" sz="2000" b="1" dirty="0" smtClean="0">
                <a:solidFill>
                  <a:schemeClr val="bg1"/>
                </a:solidFill>
                <a:latin typeface="微软雅黑" panose="020B0503020204020204" pitchFamily="34" charset="-122"/>
                <a:ea typeface="微软雅黑" panose="020B0503020204020204" pitchFamily="34" charset="-122"/>
              </a:rPr>
              <a:t>的重要</a:t>
            </a:r>
            <a:r>
              <a:rPr lang="zh-CN" altLang="en-US" sz="2000" b="1" dirty="0">
                <a:solidFill>
                  <a:schemeClr val="bg1"/>
                </a:solidFill>
                <a:latin typeface="微软雅黑" panose="020B0503020204020204" pitchFamily="34" charset="-122"/>
                <a:ea typeface="微软雅黑" panose="020B0503020204020204" pitchFamily="34" charset="-122"/>
              </a:rPr>
              <a:t>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8433" name="VISIO" r:id="rId1" imgW="3514725" imgH="2009775" progId="">
                  <p:embed/>
                </p:oleObj>
              </mc:Choice>
              <mc:Fallback>
                <p:oleObj name="VISIO" r:id="rId1" imgW="3514725" imgH="2009775" progId="">
                  <p:embed/>
                  <p:pic>
                    <p:nvPicPr>
                      <p:cNvPr id="0" name="图片 18432"/>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8434" name="VISIO" r:id="rId3" imgW="3514725" imgH="2009775" progId="">
                  <p:embed/>
                </p:oleObj>
              </mc:Choice>
              <mc:Fallback>
                <p:oleObj name="VISIO" r:id="rId3" imgW="3514725" imgH="2009775" progId="">
                  <p:embed/>
                  <p:pic>
                    <p:nvPicPr>
                      <p:cNvPr id="0" name="图片 18433"/>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8435" name="Visio" r:id="rId4" imgW="3463925" imgH="4220845" progId="">
                  <p:embed/>
                </p:oleObj>
              </mc:Choice>
              <mc:Fallback>
                <p:oleObj name="Visio" r:id="rId4" imgW="3463925" imgH="4220845" progId="">
                  <p:embed/>
                  <p:pic>
                    <p:nvPicPr>
                      <p:cNvPr id="0" name="图片 18434"/>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8436" name="Visio" r:id="rId6" imgW="3463925" imgH="4220845" progId="">
                  <p:embed/>
                </p:oleObj>
              </mc:Choice>
              <mc:Fallback>
                <p:oleObj name="Visio" r:id="rId6" imgW="3463925" imgH="4220845" progId="">
                  <p:embed/>
                  <p:pic>
                    <p:nvPicPr>
                      <p:cNvPr id="0" name="图片 18435"/>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1000"/>
                                        <p:tgtEl>
                                          <p:spTgt spid="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9457" name="VISIO" r:id="rId1" imgW="3514725" imgH="2009775" progId="">
                  <p:embed/>
                </p:oleObj>
              </mc:Choice>
              <mc:Fallback>
                <p:oleObj name="VISIO" r:id="rId1" imgW="3514725" imgH="2009775" progId="">
                  <p:embed/>
                  <p:pic>
                    <p:nvPicPr>
                      <p:cNvPr id="0" name="图片 19456"/>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9458" name="VISIO" r:id="rId3" imgW="3514725" imgH="2009775" progId="">
                  <p:embed/>
                </p:oleObj>
              </mc:Choice>
              <mc:Fallback>
                <p:oleObj name="VISIO" r:id="rId3" imgW="3514725" imgH="2009775" progId="">
                  <p:embed/>
                  <p:pic>
                    <p:nvPicPr>
                      <p:cNvPr id="0" name="图片 19457"/>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9459" name="Visio" r:id="rId4" imgW="3463925" imgH="4220845" progId="">
                  <p:embed/>
                </p:oleObj>
              </mc:Choice>
              <mc:Fallback>
                <p:oleObj name="Visio" r:id="rId4" imgW="3463925" imgH="4220845" progId="">
                  <p:embed/>
                  <p:pic>
                    <p:nvPicPr>
                      <p:cNvPr id="0" name="图片 19458"/>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9460" name="Visio" r:id="rId6" imgW="3463925" imgH="4220845" progId="">
                  <p:embed/>
                </p:oleObj>
              </mc:Choice>
              <mc:Fallback>
                <p:oleObj name="Visio" r:id="rId6" imgW="3463925" imgH="4220845" progId="">
                  <p:embed/>
                  <p:pic>
                    <p:nvPicPr>
                      <p:cNvPr id="0" name="图片 19459"/>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2"/>
                                        </p:tgtEl>
                                        <p:attrNameLst>
                                          <p:attrName>style.visibility</p:attrName>
                                        </p:attrNameLst>
                                      </p:cBhvr>
                                      <p:to>
                                        <p:strVal val="visible"/>
                                      </p:to>
                                    </p:set>
                                    <p:animEffect transition="in" filter="wipe(left)">
                                      <p:cBhvr>
                                        <p:cTn id="7" dur="10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0481" name="VISIO" r:id="rId1" imgW="3514725" imgH="2009775" progId="">
                  <p:embed/>
                </p:oleObj>
              </mc:Choice>
              <mc:Fallback>
                <p:oleObj name="VISIO" r:id="rId1" imgW="3514725" imgH="2009775" progId="">
                  <p:embed/>
                  <p:pic>
                    <p:nvPicPr>
                      <p:cNvPr id="0" name="图片 20480"/>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0482" name="VISIO" r:id="rId3" imgW="3514725" imgH="2009775" progId="">
                  <p:embed/>
                </p:oleObj>
              </mc:Choice>
              <mc:Fallback>
                <p:oleObj name="VISIO" r:id="rId3" imgW="3514725" imgH="2009775" progId="">
                  <p:embed/>
                  <p:pic>
                    <p:nvPicPr>
                      <p:cNvPr id="0" name="图片 20481"/>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0483" name="Visio" r:id="rId4" imgW="3463925" imgH="4220845" progId="">
                  <p:embed/>
                </p:oleObj>
              </mc:Choice>
              <mc:Fallback>
                <p:oleObj name="Visio" r:id="rId4" imgW="3463925" imgH="4220845" progId="">
                  <p:embed/>
                  <p:pic>
                    <p:nvPicPr>
                      <p:cNvPr id="0" name="图片 20482"/>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0484" name="Visio" r:id="rId6" imgW="3463925" imgH="4220845" progId="">
                  <p:embed/>
                </p:oleObj>
              </mc:Choice>
              <mc:Fallback>
                <p:oleObj name="Visio" r:id="rId6" imgW="3463925" imgH="4220845" progId="">
                  <p:embed/>
                  <p:pic>
                    <p:nvPicPr>
                      <p:cNvPr id="0" name="图片 20483"/>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7554133" y="2754331"/>
            <a:ext cx="874666" cy="1323439"/>
          </a:xfrm>
          <a:prstGeom prst="rect">
            <a:avLst/>
          </a:prstGeom>
          <a:solidFill>
            <a:srgbClr val="FFFF99"/>
          </a:solidFill>
        </p:spPr>
        <p:txBody>
          <a:bodyPr wrap="square">
            <a:spAutoFit/>
          </a:bodyPr>
          <a:lstStyle/>
          <a:p>
            <a:pPr>
              <a:lnSpc>
                <a:spcPts val="1600"/>
              </a:lnSpc>
            </a:pPr>
            <a:r>
              <a:rPr lang="zh-CN" altLang="en-US" sz="1200" b="1" dirty="0" smtClean="0">
                <a:solidFill>
                  <a:srgbClr val="C00000"/>
                </a:solidFill>
                <a:latin typeface="微软雅黑" panose="020B0503020204020204" pitchFamily="34" charset="-122"/>
                <a:ea typeface="微软雅黑" panose="020B0503020204020204" pitchFamily="34" charset="-122"/>
              </a:rPr>
              <a:t>注意：</a:t>
            </a:r>
            <a:r>
              <a:rPr lang="zh-CN" altLang="en-US" sz="1200" b="1" dirty="0" smtClean="0">
                <a:latin typeface="微软雅黑" panose="020B0503020204020204" pitchFamily="34" charset="-122"/>
                <a:ea typeface="微软雅黑" panose="020B0503020204020204" pitchFamily="34" charset="-122"/>
              </a:rPr>
              <a:t>邮件</a:t>
            </a:r>
            <a:r>
              <a:rPr lang="zh-CN" altLang="en-US" sz="1200" b="1" dirty="0">
                <a:latin typeface="微软雅黑" panose="020B0503020204020204" pitchFamily="34" charset="-122"/>
                <a:ea typeface="微软雅黑" panose="020B0503020204020204" pitchFamily="34" charset="-122"/>
              </a:rPr>
              <a:t>不会在互联网中的某个中间邮件服务器落地。</a:t>
            </a:r>
            <a:endParaRPr lang="zh-CN" altLang="en-US" sz="12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p:stCondLst>
                              <p:cond delay="1000"/>
                            </p:stCondLst>
                            <p:childTnLst>
                              <p:par>
                                <p:cTn id="9" presetID="35" presetClass="emph" presetSubtype="0" repeatCount="3000" fill="hold" grpId="1" nodeType="after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1505" name="VISIO" r:id="rId1" imgW="3514725" imgH="2009775" progId="">
                  <p:embed/>
                </p:oleObj>
              </mc:Choice>
              <mc:Fallback>
                <p:oleObj name="VISIO" r:id="rId1" imgW="3514725" imgH="2009775" progId="">
                  <p:embed/>
                  <p:pic>
                    <p:nvPicPr>
                      <p:cNvPr id="0" name="图片 21504"/>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1506" name="VISIO" r:id="rId3" imgW="3514725" imgH="2009775" progId="">
                  <p:embed/>
                </p:oleObj>
              </mc:Choice>
              <mc:Fallback>
                <p:oleObj name="VISIO" r:id="rId3" imgW="3514725" imgH="2009775" progId="">
                  <p:embed/>
                  <p:pic>
                    <p:nvPicPr>
                      <p:cNvPr id="0" name="图片 21505"/>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1507" name="Visio" r:id="rId4" imgW="3463925" imgH="4220845" progId="">
                  <p:embed/>
                </p:oleObj>
              </mc:Choice>
              <mc:Fallback>
                <p:oleObj name="Visio" r:id="rId4" imgW="3463925" imgH="4220845" progId="">
                  <p:embed/>
                  <p:pic>
                    <p:nvPicPr>
                      <p:cNvPr id="0" name="图片 21506"/>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1508" name="Visio" r:id="rId6" imgW="3463925" imgH="4220845" progId="">
                  <p:embed/>
                </p:oleObj>
              </mc:Choice>
              <mc:Fallback>
                <p:oleObj name="Visio" r:id="rId6" imgW="3463925" imgH="4220845" progId="">
                  <p:embed/>
                  <p:pic>
                    <p:nvPicPr>
                      <p:cNvPr id="0" name="图片 21507"/>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两种不同的通信方式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2529" name="VISIO" r:id="rId1" imgW="3514725" imgH="2009775" progId="">
                  <p:embed/>
                </p:oleObj>
              </mc:Choice>
              <mc:Fallback>
                <p:oleObj name="VISIO" r:id="rId1" imgW="3514725" imgH="2009775" progId="">
                  <p:embed/>
                  <p:pic>
                    <p:nvPicPr>
                      <p:cNvPr id="0" name="图片 22528"/>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2530" name="VISIO" r:id="rId3" imgW="3514725" imgH="2009775" progId="">
                  <p:embed/>
                </p:oleObj>
              </mc:Choice>
              <mc:Fallback>
                <p:oleObj name="VISIO" r:id="rId3" imgW="3514725" imgH="2009775" progId="">
                  <p:embed/>
                  <p:pic>
                    <p:nvPicPr>
                      <p:cNvPr id="0" name="图片 22529"/>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r>
              <a:rPr kumimoji="1" lang="zh-CN" altLang="en-US" sz="1200" b="1" dirty="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2531" name="Visio" r:id="rId4" imgW="3463925" imgH="4220845" progId="">
                  <p:embed/>
                </p:oleObj>
              </mc:Choice>
              <mc:Fallback>
                <p:oleObj name="Visio" r:id="rId4" imgW="3463925" imgH="4220845" progId="">
                  <p:embed/>
                  <p:pic>
                    <p:nvPicPr>
                      <p:cNvPr id="0" name="图片 22530"/>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2532" name="Visio" r:id="rId6" imgW="3463925" imgH="4220845" progId="">
                  <p:embed/>
                </p:oleObj>
              </mc:Choice>
              <mc:Fallback>
                <p:oleObj name="Visio" r:id="rId6" imgW="3463925" imgH="4220845" progId="">
                  <p:embed/>
                  <p:pic>
                    <p:nvPicPr>
                      <p:cNvPr id="0" name="图片 22531"/>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825927" y="3114718"/>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“推”</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lnSpc>
                <a:spcPts val="1600"/>
              </a:lnSpc>
            </a:pPr>
            <a:r>
              <a:rPr lang="en-US" altLang="zh-CN" sz="1400" b="1" dirty="0" smtClean="0">
                <a:solidFill>
                  <a:srgbClr val="C00000"/>
                </a:solidFill>
                <a:latin typeface="微软雅黑" panose="020B0503020204020204" pitchFamily="34" charset="-122"/>
                <a:ea typeface="微软雅黑" panose="020B0503020204020204" pitchFamily="34" charset="-122"/>
              </a:rPr>
              <a:t>(</a:t>
            </a:r>
            <a:r>
              <a:rPr lang="en-US" altLang="zh-CN" sz="1400" b="1" dirty="0">
                <a:solidFill>
                  <a:srgbClr val="C00000"/>
                </a:solidFill>
                <a:latin typeface="微软雅黑" panose="020B0503020204020204" pitchFamily="34" charset="-122"/>
                <a:ea typeface="微软雅黑" panose="020B0503020204020204" pitchFamily="34" charset="-122"/>
              </a:rPr>
              <a:t>push)</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01" name="矩形 400"/>
          <p:cNvSpPr/>
          <p:nvPr/>
        </p:nvSpPr>
        <p:spPr>
          <a:xfrm>
            <a:off x="7399348" y="3132925"/>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“拉”</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lnSpc>
                <a:spcPts val="1600"/>
              </a:lnSpc>
            </a:pPr>
            <a:r>
              <a:rPr lang="en-US" altLang="zh-CN" sz="1400" b="1" dirty="0" smtClean="0">
                <a:solidFill>
                  <a:srgbClr val="C00000"/>
                </a:solidFill>
                <a:latin typeface="微软雅黑" panose="020B0503020204020204" pitchFamily="34" charset="-122"/>
                <a:ea typeface="微软雅黑" panose="020B0503020204020204" pitchFamily="34" charset="-122"/>
              </a:rPr>
              <a:t>(pull)</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par>
                                <p:cTn id="8" presetID="22" presetClass="entr" presetSubtype="8" repeatCount="3000"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35" presetClass="emph" presetSubtype="0" repeatCount="3000" fill="hold" grpId="0" nodeType="with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4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P spid="353" grpId="0" animBg="1"/>
      <p:bldP spid="3" grpId="0"/>
      <p:bldP spid="401"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91341" y="57962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电子邮件的组成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927"/>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电子邮件由</a:t>
            </a:r>
            <a:r>
              <a:rPr lang="zh-CN" altLang="en-US" sz="2000" b="1" dirty="0">
                <a:solidFill>
                  <a:srgbClr val="C00000"/>
                </a:solidFill>
                <a:latin typeface="微软雅黑" panose="020B0503020204020204" pitchFamily="34" charset="-122"/>
                <a:ea typeface="微软雅黑" panose="020B0503020204020204" pitchFamily="34" charset="-122"/>
              </a:rPr>
              <a:t>信封</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(envelope) </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C00000"/>
                </a:solidFill>
                <a:latin typeface="微软雅黑" panose="020B0503020204020204" pitchFamily="34" charset="-122"/>
                <a:ea typeface="微软雅黑" panose="020B0503020204020204" pitchFamily="34" charset="-122"/>
              </a:rPr>
              <a:t>内容</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(content) </a:t>
            </a:r>
            <a:r>
              <a:rPr lang="zh-CN" altLang="en-US" sz="2000" b="1" dirty="0">
                <a:latin typeface="微软雅黑" panose="020B0503020204020204" pitchFamily="34" charset="-122"/>
                <a:ea typeface="微软雅黑" panose="020B0503020204020204" pitchFamily="34" charset="-122"/>
              </a:rPr>
              <a:t>两部分组成。</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电子邮件的传输程序根据邮件信封上的信息来传送邮件</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在从自己的邮箱中读取邮件时才能见到邮件的内容</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78205"/>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电子邮件地址的格式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506"/>
            <a:ext cx="8048776"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在邮件的信封上，最重要的就是收件人的地址。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TCP/IP </a:t>
            </a:r>
            <a:r>
              <a:rPr lang="zh-CN" altLang="en-US" sz="2000" b="1" dirty="0">
                <a:latin typeface="微软雅黑" panose="020B0503020204020204" pitchFamily="34" charset="-122"/>
                <a:ea typeface="微软雅黑" panose="020B0503020204020204" pitchFamily="34" charset="-122"/>
              </a:rPr>
              <a:t>体系的电子邮件系统规定电子邮件地址的格式如下</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a:t>
            </a:r>
            <a:r>
              <a:rPr lang="en-US" altLang="zh-CN" sz="2000" b="1" dirty="0" smtClean="0">
                <a:latin typeface="微软雅黑" panose="020B0503020204020204" pitchFamily="34" charset="-122"/>
                <a:ea typeface="微软雅黑" panose="020B0503020204020204" pitchFamily="34" charset="-122"/>
              </a:rPr>
              <a:t>	xiexiren@tsinghua.org.cn</a:t>
            </a:r>
            <a:endParaRPr lang="en-US" altLang="zh-CN" sz="2000"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1521181" y="2804542"/>
            <a:ext cx="5393247" cy="1052712"/>
            <a:chOff x="2570495" y="4437112"/>
            <a:chExt cx="8856921" cy="1728787"/>
          </a:xfrm>
        </p:grpSpPr>
        <p:grpSp>
          <p:nvGrpSpPr>
            <p:cNvPr id="6" name="Group 5"/>
            <p:cNvGrpSpPr/>
            <p:nvPr/>
          </p:nvGrpSpPr>
          <p:grpSpPr bwMode="auto">
            <a:xfrm>
              <a:off x="6202693" y="4437112"/>
              <a:ext cx="5224723" cy="1728787"/>
              <a:chOff x="3696" y="2931"/>
              <a:chExt cx="3038" cy="1089"/>
            </a:xfrm>
          </p:grpSpPr>
          <p:sp>
            <p:nvSpPr>
              <p:cNvPr id="7" name="Line 6"/>
              <p:cNvSpPr>
                <a:spLocks noChangeShapeType="1"/>
              </p:cNvSpPr>
              <p:nvPr/>
            </p:nvSpPr>
            <p:spPr bwMode="auto">
              <a:xfrm>
                <a:off x="3696" y="2931"/>
                <a:ext cx="1998" cy="1"/>
              </a:xfrm>
              <a:prstGeom prst="line">
                <a:avLst/>
              </a:prstGeom>
              <a:noFill/>
              <a:ln w="38100">
                <a:solidFill>
                  <a:srgbClr val="FF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grpSp>
            <p:nvGrpSpPr>
              <p:cNvPr id="8" name="Group 7"/>
              <p:cNvGrpSpPr/>
              <p:nvPr/>
            </p:nvGrpSpPr>
            <p:grpSpPr bwMode="auto">
              <a:xfrm>
                <a:off x="4330" y="3339"/>
                <a:ext cx="2404" cy="681"/>
                <a:chOff x="4330" y="3339"/>
                <a:chExt cx="2404" cy="681"/>
              </a:xfrm>
            </p:grpSpPr>
            <p:sp>
              <p:nvSpPr>
                <p:cNvPr id="9" name="AutoShape 8"/>
                <p:cNvSpPr>
                  <a:spLocks noChangeArrowheads="1"/>
                </p:cNvSpPr>
                <p:nvPr/>
              </p:nvSpPr>
              <p:spPr bwMode="auto">
                <a:xfrm>
                  <a:off x="4330" y="3339"/>
                  <a:ext cx="2404" cy="681"/>
                </a:xfrm>
                <a:prstGeom prst="wedgeRoundRectCallout">
                  <a:avLst>
                    <a:gd name="adj1" fmla="val -39328"/>
                    <a:gd name="adj2" fmla="val -106799"/>
                    <a:gd name="adj3" fmla="val 16667"/>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4360" y="3386"/>
                  <a:ext cx="2332"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邮箱所在的主机的</a:t>
                  </a:r>
                  <a:r>
                    <a:rPr lang="zh-CN" altLang="en-US" sz="1600" b="1" dirty="0" smtClean="0">
                      <a:latin typeface="微软雅黑" panose="020B0503020204020204" pitchFamily="34" charset="-122"/>
                      <a:ea typeface="微软雅黑" panose="020B0503020204020204" pitchFamily="34" charset="-122"/>
                    </a:rPr>
                    <a:t>域名</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gn="ctr" eaLnBrk="1" hangingPunct="1"/>
                  <a:r>
                    <a:rPr lang="zh-CN" altLang="en-US" sz="1600" b="1" dirty="0">
                      <a:latin typeface="微软雅黑" panose="020B0503020204020204" pitchFamily="34" charset="-122"/>
                      <a:ea typeface="微软雅黑" panose="020B0503020204020204" pitchFamily="34" charset="-122"/>
                    </a:rPr>
                    <a:t>在全世界必须是唯一的 </a:t>
                  </a:r>
                  <a:endParaRPr lang="zh-CN" altLang="en-US" sz="1600" b="1" dirty="0">
                    <a:latin typeface="微软雅黑" panose="020B0503020204020204" pitchFamily="34" charset="-122"/>
                    <a:ea typeface="微软雅黑" panose="020B0503020204020204" pitchFamily="34" charset="-122"/>
                  </a:endParaRPr>
                </a:p>
              </p:txBody>
            </p:sp>
          </p:grpSp>
        </p:grpSp>
        <p:grpSp>
          <p:nvGrpSpPr>
            <p:cNvPr id="11" name="Group 10"/>
            <p:cNvGrpSpPr/>
            <p:nvPr/>
          </p:nvGrpSpPr>
          <p:grpSpPr bwMode="auto">
            <a:xfrm>
              <a:off x="2570495" y="4437113"/>
              <a:ext cx="3823106" cy="1666875"/>
              <a:chOff x="1630" y="2931"/>
              <a:chExt cx="2223" cy="1050"/>
            </a:xfrm>
          </p:grpSpPr>
          <p:sp>
            <p:nvSpPr>
              <p:cNvPr id="12" name="Line 11"/>
              <p:cNvSpPr>
                <a:spLocks noChangeShapeType="1"/>
              </p:cNvSpPr>
              <p:nvPr/>
            </p:nvSpPr>
            <p:spPr bwMode="auto">
              <a:xfrm flipV="1">
                <a:off x="2537" y="2931"/>
                <a:ext cx="978" cy="1"/>
              </a:xfrm>
              <a:prstGeom prst="line">
                <a:avLst/>
              </a:prstGeom>
              <a:noFill/>
              <a:ln w="38100">
                <a:solidFill>
                  <a:srgbClr val="FF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grpSp>
            <p:nvGrpSpPr>
              <p:cNvPr id="13" name="Group 12"/>
              <p:cNvGrpSpPr/>
              <p:nvPr/>
            </p:nvGrpSpPr>
            <p:grpSpPr bwMode="auto">
              <a:xfrm>
                <a:off x="1630" y="3300"/>
                <a:ext cx="2223" cy="681"/>
                <a:chOff x="1630" y="3300"/>
                <a:chExt cx="2223" cy="681"/>
              </a:xfrm>
            </p:grpSpPr>
            <p:sp>
              <p:nvSpPr>
                <p:cNvPr id="14" name="AutoShape 13"/>
                <p:cNvSpPr>
                  <a:spLocks noChangeArrowheads="1"/>
                </p:cNvSpPr>
                <p:nvPr/>
              </p:nvSpPr>
              <p:spPr bwMode="auto">
                <a:xfrm>
                  <a:off x="1630" y="3300"/>
                  <a:ext cx="2223" cy="681"/>
                </a:xfrm>
                <a:prstGeom prst="wedgeRoundRectCallout">
                  <a:avLst>
                    <a:gd name="adj1" fmla="val 8694"/>
                    <a:gd name="adj2" fmla="val -101405"/>
                    <a:gd name="adj3" fmla="val 16667"/>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solidFill>
                      <a:srgbClr val="000099"/>
                    </a:solidFill>
                    <a:latin typeface="微软雅黑" panose="020B0503020204020204" pitchFamily="34" charset="-122"/>
                    <a:ea typeface="微软雅黑" panose="020B0503020204020204" pitchFamily="34" charset="-122"/>
                  </a:endParaRPr>
                </a:p>
              </p:txBody>
            </p:sp>
            <p:sp>
              <p:nvSpPr>
                <p:cNvPr id="15" name="Text Box 14"/>
                <p:cNvSpPr txBox="1">
                  <a:spLocks noChangeArrowheads="1"/>
                </p:cNvSpPr>
                <p:nvPr/>
              </p:nvSpPr>
              <p:spPr bwMode="auto">
                <a:xfrm>
                  <a:off x="1742" y="3339"/>
                  <a:ext cx="1998"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这个用户名在该域名</a:t>
                  </a:r>
                  <a:endParaRPr lang="zh-CN" altLang="en-US" sz="1600" b="1" dirty="0">
                    <a:latin typeface="微软雅黑" panose="020B0503020204020204" pitchFamily="34" charset="-122"/>
                    <a:ea typeface="微软雅黑" panose="020B0503020204020204" pitchFamily="34" charset="-122"/>
                  </a:endParaRPr>
                </a:p>
                <a:p>
                  <a:pPr algn="ctr" eaLnBrk="1" hangingPunct="1"/>
                  <a:r>
                    <a:rPr lang="zh-CN" altLang="en-US" sz="1600" b="1" dirty="0">
                      <a:latin typeface="微软雅黑" panose="020B0503020204020204" pitchFamily="34" charset="-122"/>
                      <a:ea typeface="微软雅黑" panose="020B0503020204020204" pitchFamily="34" charset="-122"/>
                    </a:rPr>
                    <a:t>的范围内是唯一的。 </a:t>
                  </a:r>
                  <a:endParaRPr lang="zh-CN" altLang="en-US" sz="1600" b="1" dirty="0">
                    <a:latin typeface="微软雅黑" panose="020B0503020204020204" pitchFamily="34" charset="-122"/>
                    <a:ea typeface="微软雅黑" panose="020B0503020204020204" pitchFamily="34" charset="-122"/>
                  </a:endParaRPr>
                </a:p>
              </p:txBody>
            </p:sp>
          </p:grpSp>
        </p:grpSp>
      </p:grpSp>
      <p:sp>
        <p:nvSpPr>
          <p:cNvPr id="5" name="矩形 4"/>
          <p:cNvSpPr/>
          <p:nvPr/>
        </p:nvSpPr>
        <p:spPr>
          <a:xfrm>
            <a:off x="1047565" y="1876976"/>
            <a:ext cx="6880196" cy="409101"/>
          </a:xfrm>
          <a:prstGeom prst="rect">
            <a:avLst/>
          </a:prstGeom>
          <a:solidFill>
            <a:srgbClr val="FFFF66"/>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收件人邮箱名</a:t>
            </a:r>
            <a:r>
              <a:rPr lang="en-US" altLang="zh-CN" b="1" dirty="0">
                <a:solidFill>
                  <a:srgbClr val="000099"/>
                </a:solidFill>
                <a:latin typeface="微软雅黑" panose="020B0503020204020204" pitchFamily="34" charset="-122"/>
                <a:ea typeface="微软雅黑" panose="020B0503020204020204" pitchFamily="34" charset="-122"/>
              </a:rPr>
              <a:t>@</a:t>
            </a:r>
            <a:r>
              <a:rPr lang="zh-CN" altLang="en-US" b="1" dirty="0">
                <a:solidFill>
                  <a:srgbClr val="000099"/>
                </a:solidFill>
                <a:latin typeface="微软雅黑" panose="020B0503020204020204" pitchFamily="34" charset="-122"/>
                <a:ea typeface="微软雅黑" panose="020B0503020204020204" pitchFamily="34" charset="-122"/>
              </a:rPr>
              <a:t>邮箱所在主机的域名       </a:t>
            </a:r>
            <a:r>
              <a:rPr lang="zh-CN" altLang="en-US" b="1" dirty="0" smtClean="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(6-1</a:t>
            </a:r>
            <a:r>
              <a:rPr lang="en-US" altLang="zh-CN" b="1" dirty="0" smtClean="0">
                <a:solidFill>
                  <a:srgbClr val="000099"/>
                </a:solidFill>
                <a:latin typeface="微软雅黑" panose="020B0503020204020204" pitchFamily="34" charset="-122"/>
                <a:ea typeface="微软雅黑" panose="020B0503020204020204" pitchFamily="34" charset="-122"/>
              </a:rPr>
              <a:t>)</a:t>
            </a:r>
            <a:endParaRPr lang="en-US" altLang="zh-CN" b="1" dirty="0">
              <a:solidFill>
                <a:srgbClr val="000099"/>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14899"/>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 name="Rectangle 387"/>
          <p:cNvSpPr>
            <a:spLocks noChangeArrowheads="1"/>
          </p:cNvSpPr>
          <p:nvPr/>
        </p:nvSpPr>
        <p:spPr bwMode="auto">
          <a:xfrm>
            <a:off x="1544934" y="1814899"/>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 name="Line 388"/>
          <p:cNvSpPr>
            <a:spLocks noChangeShapeType="1"/>
          </p:cNvSpPr>
          <p:nvPr/>
        </p:nvSpPr>
        <p:spPr bwMode="auto">
          <a:xfrm>
            <a:off x="2021489" y="2157671"/>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 name="Oval 397"/>
          <p:cNvSpPr>
            <a:spLocks noChangeArrowheads="1"/>
          </p:cNvSpPr>
          <p:nvPr/>
        </p:nvSpPr>
        <p:spPr bwMode="auto">
          <a:xfrm>
            <a:off x="1601220" y="1878785"/>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878785"/>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91844"/>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54885"/>
          <a:ext cx="546759" cy="666388"/>
        </p:xfrm>
        <a:graphic>
          <a:graphicData uri="http://schemas.openxmlformats.org/presentationml/2006/ole">
            <mc:AlternateContent xmlns:mc="http://schemas.openxmlformats.org/markup-compatibility/2006">
              <mc:Choice xmlns:v="urn:schemas-microsoft-com:vml" Requires="v">
                <p:oleObj spid="_x0000_s23553" name="Visio" r:id="rId1" imgW="3463925" imgH="4220845" progId="">
                  <p:embed/>
                </p:oleObj>
              </mc:Choice>
              <mc:Fallback>
                <p:oleObj name="Visio" r:id="rId1" imgW="3463925" imgH="4220845" progId="">
                  <p:embed/>
                  <p:pic>
                    <p:nvPicPr>
                      <p:cNvPr id="0" name="图片 23552"/>
                      <p:cNvPicPr>
                        <a:picLocks noChangeAspect="1"/>
                      </p:cNvPicPr>
                      <p:nvPr/>
                    </p:nvPicPr>
                    <p:blipFill>
                      <a:blip r:embed="rId2"/>
                      <a:srcRect l="5348" t="4167" r="4546" b="11185"/>
                      <a:stretch>
                        <a:fillRect/>
                      </a:stretch>
                    </p:blipFill>
                    <p:spPr>
                      <a:xfrm>
                        <a:off x="762658" y="185488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723401" y="1823500"/>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779688" y="1878785"/>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5362526" y="1823500"/>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5418813" y="2491844"/>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5418813" y="1878785"/>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2239475" y="1470728"/>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5" name="Text Box 396"/>
          <p:cNvSpPr txBox="1">
            <a:spLocks noChangeArrowheads="1"/>
          </p:cNvSpPr>
          <p:nvPr/>
        </p:nvSpPr>
        <p:spPr bwMode="auto">
          <a:xfrm>
            <a:off x="2805314"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6" name="Text Box 399"/>
          <p:cNvSpPr txBox="1">
            <a:spLocks noChangeArrowheads="1"/>
          </p:cNvSpPr>
          <p:nvPr/>
        </p:nvSpPr>
        <p:spPr bwMode="auto">
          <a:xfrm>
            <a:off x="1509292"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5248753"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695563"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5985427" y="2157671"/>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1" name="对象 30"/>
          <p:cNvGraphicFramePr>
            <a:graphicFrameLocks noChangeAspect="1"/>
          </p:cNvGraphicFramePr>
          <p:nvPr/>
        </p:nvGraphicFramePr>
        <p:xfrm>
          <a:off x="7632442" y="1854885"/>
          <a:ext cx="551626" cy="666388"/>
        </p:xfrm>
        <a:graphic>
          <a:graphicData uri="http://schemas.openxmlformats.org/presentationml/2006/ole">
            <mc:AlternateContent xmlns:mc="http://schemas.openxmlformats.org/markup-compatibility/2006">
              <mc:Choice xmlns:v="urn:schemas-microsoft-com:vml" Requires="v">
                <p:oleObj spid="_x0000_s23554" name="Visio" r:id="rId3" imgW="3463925" imgH="4220845" progId="">
                  <p:embed/>
                </p:oleObj>
              </mc:Choice>
              <mc:Fallback>
                <p:oleObj name="Visio" r:id="rId3" imgW="3463925" imgH="4220845" progId="">
                  <p:embed/>
                  <p:pic>
                    <p:nvPicPr>
                      <p:cNvPr id="0" name="图片 23553"/>
                      <p:cNvPicPr>
                        <a:picLocks noChangeAspect="1"/>
                      </p:cNvPicPr>
                      <p:nvPr/>
                    </p:nvPicPr>
                    <p:blipFill>
                      <a:blip r:embed="rId4"/>
                      <a:srcRect l="4546" t="3947" r="4546" b="11403"/>
                      <a:stretch>
                        <a:fillRect/>
                      </a:stretch>
                    </p:blipFill>
                    <p:spPr>
                      <a:xfrm>
                        <a:off x="7632442" y="1854885"/>
                        <a:ext cx="551626" cy="666388"/>
                      </a:xfrm>
                      <a:prstGeom prst="rect">
                        <a:avLst/>
                      </a:prstGeom>
                      <a:noFill/>
                      <a:ln w="9525">
                        <a:noFill/>
                      </a:ln>
                    </p:spPr>
                  </p:pic>
                </p:oleObj>
              </mc:Fallback>
            </mc:AlternateContent>
          </a:graphicData>
        </a:graphic>
      </p:graphicFrame>
      <p:sp>
        <p:nvSpPr>
          <p:cNvPr id="32" name="Text Box 399"/>
          <p:cNvSpPr txBox="1">
            <a:spLocks noChangeArrowheads="1"/>
          </p:cNvSpPr>
          <p:nvPr/>
        </p:nvSpPr>
        <p:spPr bwMode="auto">
          <a:xfrm>
            <a:off x="7702778"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sp>
        <p:nvSpPr>
          <p:cNvPr id="35" name="Line 404"/>
          <p:cNvSpPr>
            <a:spLocks noChangeShapeType="1"/>
          </p:cNvSpPr>
          <p:nvPr/>
        </p:nvSpPr>
        <p:spPr bwMode="auto">
          <a:xfrm flipV="1">
            <a:off x="3515714" y="2770730"/>
            <a:ext cx="1928643"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grpSp>
        <p:nvGrpSpPr>
          <p:cNvPr id="39" name="组合 38"/>
          <p:cNvGrpSpPr/>
          <p:nvPr/>
        </p:nvGrpSpPr>
        <p:grpSpPr>
          <a:xfrm>
            <a:off x="3884017" y="2490615"/>
            <a:ext cx="1200971" cy="728201"/>
            <a:chOff x="3884017" y="2490615"/>
            <a:chExt cx="1200971" cy="728201"/>
          </a:xfrm>
        </p:grpSpPr>
        <p:sp>
          <p:nvSpPr>
            <p:cNvPr id="34" name="Text Box 392"/>
            <p:cNvSpPr txBox="1">
              <a:spLocks noChangeArrowheads="1"/>
            </p:cNvSpPr>
            <p:nvPr/>
          </p:nvSpPr>
          <p:spPr bwMode="auto">
            <a:xfrm>
              <a:off x="3884017" y="2490615"/>
              <a:ext cx="12009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6" name="Text Box 409"/>
            <p:cNvSpPr txBox="1">
              <a:spLocks noChangeArrowheads="1"/>
            </p:cNvSpPr>
            <p:nvPr/>
          </p:nvSpPr>
          <p:spPr bwMode="auto">
            <a:xfrm>
              <a:off x="4242453" y="2787929"/>
              <a:ext cx="50206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37" name="圆角矩形 36"/>
          <p:cNvSpPr/>
          <p:nvPr/>
        </p:nvSpPr>
        <p:spPr>
          <a:xfrm>
            <a:off x="1371509" y="1244904"/>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1470662" y="3400777"/>
            <a:ext cx="6599140" cy="938719"/>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规定</a:t>
            </a:r>
            <a:r>
              <a:rPr lang="zh-CN" altLang="en-US" sz="1600" b="1" dirty="0">
                <a:latin typeface="微软雅黑" panose="020B0503020204020204" pitchFamily="34" charset="-122"/>
                <a:ea typeface="微软雅黑" panose="020B0503020204020204" pitchFamily="34" charset="-122"/>
              </a:rPr>
              <a:t>了在两个相互通信</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进程之间交换信息的方法。</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1600" b="1" dirty="0" smtClean="0">
                <a:latin typeface="微软雅黑" panose="020B0503020204020204" pitchFamily="34" charset="-122"/>
                <a:ea typeface="微软雅黑" panose="020B0503020204020204" pitchFamily="34" charset="-122"/>
              </a:rPr>
              <a:t>方式。</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实现客户与服务器的通信。</a:t>
            </a:r>
            <a:endParaRPr lang="en-US" altLang="zh-CN" sz="16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38" name="矩形 37"/>
          <p:cNvSpPr/>
          <p:nvPr/>
        </p:nvSpPr>
        <p:spPr>
          <a:xfrm>
            <a:off x="1576552" y="2525778"/>
            <a:ext cx="6708131" cy="861774"/>
          </a:xfrm>
          <a:prstGeom prst="rect">
            <a:avLst/>
          </a:prstGeom>
        </p:spPr>
        <p:txBody>
          <a:bodyPr wrap="square" anchor="ctr">
            <a:spAutoFit/>
          </a:bodyPr>
          <a:lstStyle/>
          <a:p>
            <a:pPr marL="285750" indent="-285750">
              <a:lnSpc>
                <a:spcPts val="3000"/>
              </a:lnSpc>
              <a:buClr>
                <a:srgbClr val="0066FF"/>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latin typeface="微软雅黑" panose="020B0503020204020204" pitchFamily="34" charset="-122"/>
                <a:ea typeface="微软雅黑" panose="020B0503020204020204" pitchFamily="34" charset="-122"/>
              </a:rPr>
              <a:t>是</a:t>
            </a:r>
            <a:r>
              <a:rPr lang="zh-CN" altLang="en-US" b="1" dirty="0">
                <a:latin typeface="微软雅黑" panose="020B0503020204020204" pitchFamily="34" charset="-122"/>
                <a:ea typeface="微软雅黑" panose="020B0503020204020204" pitchFamily="34" charset="-122"/>
              </a:rPr>
              <a:t>一个</a:t>
            </a:r>
            <a:r>
              <a:rPr lang="zh-CN" altLang="en-US" b="1" dirty="0">
                <a:solidFill>
                  <a:srgbClr val="C00000"/>
                </a:solidFill>
                <a:latin typeface="微软雅黑" panose="020B0503020204020204" pitchFamily="34" charset="-122"/>
                <a:ea typeface="微软雅黑" panose="020B0503020204020204" pitchFamily="34" charset="-122"/>
              </a:rPr>
              <a:t>基于</a:t>
            </a:r>
            <a:r>
              <a:rPr lang="zh-CN" altLang="en-US" b="1" dirty="0" smtClean="0">
                <a:solidFill>
                  <a:srgbClr val="C00000"/>
                </a:solidFill>
                <a:latin typeface="微软雅黑" panose="020B0503020204020204" pitchFamily="34" charset="-122"/>
                <a:ea typeface="微软雅黑" panose="020B0503020204020204" pitchFamily="34" charset="-122"/>
              </a:rPr>
              <a:t>文本</a:t>
            </a:r>
            <a:r>
              <a:rPr lang="zh-CN" altLang="en-US" b="1" dirty="0" smtClean="0">
                <a:latin typeface="微软雅黑" panose="020B0503020204020204" pitchFamily="34" charset="-122"/>
                <a:ea typeface="微软雅黑" panose="020B0503020204020204" pitchFamily="34" charset="-122"/>
              </a:rPr>
              <a:t>的 （即 </a:t>
            </a:r>
            <a:r>
              <a:rPr lang="en-US" altLang="zh-CN" b="1" dirty="0" smtClean="0">
                <a:latin typeface="微软雅黑" panose="020B0503020204020204" pitchFamily="34" charset="-122"/>
                <a:ea typeface="微软雅黑" panose="020B0503020204020204" pitchFamily="34" charset="-122"/>
              </a:rPr>
              <a:t>ASCII </a:t>
            </a:r>
            <a:r>
              <a:rPr lang="zh-CN" altLang="en-US" b="1" dirty="0" smtClean="0">
                <a:latin typeface="微软雅黑" panose="020B0503020204020204" pitchFamily="34" charset="-122"/>
                <a:ea typeface="微软雅黑" panose="020B0503020204020204" pitchFamily="34" charset="-122"/>
              </a:rPr>
              <a:t>码） </a:t>
            </a:r>
            <a:r>
              <a:rPr lang="zh-CN" altLang="en-US" b="1" dirty="0">
                <a:latin typeface="微软雅黑" panose="020B0503020204020204" pitchFamily="34" charset="-122"/>
                <a:ea typeface="微软雅黑" panose="020B0503020204020204" pitchFamily="34" charset="-122"/>
              </a:rPr>
              <a:t>的协议。 </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与服务器之间采用</a:t>
            </a:r>
            <a:r>
              <a:rPr lang="zh-CN" altLang="en-US" b="1" dirty="0">
                <a:solidFill>
                  <a:srgbClr val="C00000"/>
                </a:solidFill>
                <a:latin typeface="微软雅黑" panose="020B0503020204020204" pitchFamily="34" charset="-122"/>
                <a:ea typeface="微软雅黑" panose="020B0503020204020204" pitchFamily="34" charset="-122"/>
              </a:rPr>
              <a:t>命令</a:t>
            </a:r>
            <a:r>
              <a:rPr lang="en-US" altLang="zh-CN" b="1" dirty="0">
                <a:solidFill>
                  <a:srgbClr val="C00000"/>
                </a:solidFill>
                <a:latin typeface="微软雅黑" panose="020B0503020204020204" pitchFamily="34" charset="-122"/>
                <a:ea typeface="微软雅黑" panose="020B0503020204020204" pitchFamily="34" charset="-122"/>
              </a:rPr>
              <a:t>-</a:t>
            </a:r>
            <a:r>
              <a:rPr lang="zh-CN" altLang="en-US" b="1" dirty="0">
                <a:solidFill>
                  <a:srgbClr val="C00000"/>
                </a:solidFill>
                <a:latin typeface="微软雅黑" panose="020B0503020204020204" pitchFamily="34" charset="-122"/>
                <a:ea typeface="微软雅黑" panose="020B0503020204020204" pitchFamily="34" charset="-122"/>
              </a:rPr>
              <a:t>响应</a:t>
            </a:r>
            <a:r>
              <a:rPr lang="zh-CN" altLang="en-US" b="1" dirty="0">
                <a:latin typeface="微软雅黑" panose="020B0503020204020204" pitchFamily="34" charset="-122"/>
                <a:ea typeface="微软雅黑" panose="020B0503020204020204" pitchFamily="34" charset="-122"/>
              </a:rPr>
              <a:t>方式进行交互</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smtClean="0">
                <a:solidFill>
                  <a:schemeClr val="tx1"/>
                </a:solidFill>
                <a:latin typeface="微软雅黑" panose="020B0503020204020204" pitchFamily="34" charset="-122"/>
                <a:ea typeface="微软雅黑" panose="020B0503020204020204" pitchFamily="34" charset="-122"/>
              </a:rPr>
              <a:t>SMTP</a:t>
            </a:r>
            <a:endParaRPr lang="en-US" altLang="zh-CN" sz="16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600" b="1" dirty="0">
                <a:solidFill>
                  <a:schemeClr val="tx1"/>
                </a:solidFill>
                <a:latin typeface="微软雅黑" panose="020B0503020204020204" pitchFamily="34" charset="-122"/>
                <a:ea typeface="微软雅黑" panose="020B0503020204020204" pitchFamily="34" charset="-122"/>
              </a:rPr>
              <a:t>客户</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SMTP</a:t>
            </a:r>
            <a:endParaRPr lang="en-US" altLang="zh-CN" sz="16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600" b="1" dirty="0" smtClean="0">
                <a:solidFill>
                  <a:schemeClr val="bg1"/>
                </a:solidFill>
                <a:latin typeface="微软雅黑" panose="020B0503020204020204" pitchFamily="34" charset="-122"/>
                <a:ea typeface="微软雅黑" panose="020B0503020204020204" pitchFamily="34" charset="-122"/>
              </a:rPr>
              <a:t>服务器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2650180" y="1374875"/>
            <a:ext cx="3950006" cy="338554"/>
            <a:chOff x="2650180" y="1374875"/>
            <a:chExt cx="3950006" cy="338554"/>
          </a:xfrm>
        </p:grpSpPr>
        <p:cxnSp>
          <p:nvCxnSpPr>
            <p:cNvPr id="41" name="直接箭头连接符 40"/>
            <p:cNvCxnSpPr/>
            <p:nvPr/>
          </p:nvCxnSpPr>
          <p:spPr>
            <a:xfrm>
              <a:off x="2650180" y="1665897"/>
              <a:ext cx="3950006"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4432137" y="1374875"/>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600" b="1" dirty="0" smtClean="0">
                  <a:latin typeface="微软雅黑" panose="020B0503020204020204" pitchFamily="34" charset="-122"/>
                  <a:ea typeface="微软雅黑" panose="020B0503020204020204" pitchFamily="34" charset="-122"/>
                </a:rPr>
                <a:t>命令</a:t>
              </a:r>
              <a:endParaRPr kumimoji="1" lang="zh-CN" altLang="en-US" sz="1600" b="1" dirty="0">
                <a:latin typeface="微软雅黑" panose="020B0503020204020204" pitchFamily="34" charset="-122"/>
                <a:ea typeface="微软雅黑" panose="020B0503020204020204" pitchFamily="34" charset="-122"/>
              </a:endParaRPr>
            </a:p>
          </p:txBody>
        </p:sp>
      </p:grpSp>
      <p:grpSp>
        <p:nvGrpSpPr>
          <p:cNvPr id="6" name="组合 5"/>
          <p:cNvGrpSpPr/>
          <p:nvPr/>
        </p:nvGrpSpPr>
        <p:grpSpPr>
          <a:xfrm>
            <a:off x="2650180" y="1879872"/>
            <a:ext cx="3950006" cy="338555"/>
            <a:chOff x="2650180" y="1879872"/>
            <a:chExt cx="3950006" cy="338555"/>
          </a:xfrm>
        </p:grpSpPr>
        <p:cxnSp>
          <p:nvCxnSpPr>
            <p:cNvPr id="43" name="直接箭头连接符 42"/>
            <p:cNvCxnSpPr/>
            <p:nvPr/>
          </p:nvCxnSpPr>
          <p:spPr>
            <a:xfrm>
              <a:off x="2650180" y="1879872"/>
              <a:ext cx="3950006" cy="0"/>
            </a:xfrm>
            <a:prstGeom prst="straightConnector1">
              <a:avLst/>
            </a:prstGeom>
            <a:ln w="28575">
              <a:solidFill>
                <a:srgbClr val="3333FF"/>
              </a:solidFill>
              <a:headEnd type="stealth" w="lg" len="lg"/>
              <a:tailEnd type="none" w="med" len="med"/>
            </a:ln>
          </p:spPr>
          <p:style>
            <a:lnRef idx="1">
              <a:schemeClr val="accent1"/>
            </a:lnRef>
            <a:fillRef idx="0">
              <a:schemeClr val="accent1"/>
            </a:fillRef>
            <a:effectRef idx="0">
              <a:schemeClr val="accent1"/>
            </a:effectRef>
            <a:fontRef idx="minor">
              <a:schemeClr val="tx1"/>
            </a:fontRef>
          </p:style>
        </p:cxnSp>
        <p:sp>
          <p:nvSpPr>
            <p:cNvPr id="45" name="Text Box 409"/>
            <p:cNvSpPr txBox="1">
              <a:spLocks noChangeArrowheads="1"/>
            </p:cNvSpPr>
            <p:nvPr/>
          </p:nvSpPr>
          <p:spPr bwMode="auto">
            <a:xfrm>
              <a:off x="4432137" y="1879873"/>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600" b="1" dirty="0" smtClean="0">
                  <a:solidFill>
                    <a:srgbClr val="0000FF"/>
                  </a:solidFill>
                  <a:latin typeface="微软雅黑" panose="020B0503020204020204" pitchFamily="34" charset="-122"/>
                  <a:ea typeface="微软雅黑" panose="020B0503020204020204" pitchFamily="34" charset="-122"/>
                </a:rPr>
                <a:t>响应</a:t>
              </a:r>
              <a:endParaRPr kumimoji="1" lang="zh-CN" altLang="en-US" sz="1600" b="1" dirty="0">
                <a:solidFill>
                  <a:srgbClr val="0000FF"/>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SMTP</a:t>
            </a:r>
            <a:endParaRPr lang="en-US" altLang="zh-CN" sz="16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600" b="1" dirty="0" smtClean="0">
                <a:solidFill>
                  <a:schemeClr val="bg1"/>
                </a:solidFill>
                <a:latin typeface="微软雅黑" panose="020B0503020204020204" pitchFamily="34" charset="-122"/>
                <a:ea typeface="微软雅黑" panose="020B0503020204020204" pitchFamily="34" charset="-122"/>
              </a:rPr>
              <a:t>服务器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cxnSp>
        <p:nvCxnSpPr>
          <p:cNvPr id="41" name="直接箭头连接符 40"/>
          <p:cNvCxnSpPr/>
          <p:nvPr/>
        </p:nvCxnSpPr>
        <p:spPr>
          <a:xfrm>
            <a:off x="2280893" y="2033760"/>
            <a:ext cx="1303135" cy="1074398"/>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6535843" y="2174872"/>
            <a:ext cx="117692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TCP</a:t>
            </a:r>
            <a:endParaRPr kumimoji="1" lang="en-US" altLang="zh-CN" sz="1400" b="1" dirty="0" smtClean="0">
              <a:latin typeface="微软雅黑" panose="020B0503020204020204" pitchFamily="34" charset="-122"/>
              <a:ea typeface="微软雅黑" panose="020B0503020204020204" pitchFamily="34" charset="-122"/>
            </a:endParaRPr>
          </a:p>
          <a:p>
            <a:pPr algn="ctr" eaLnBrk="1" hangingPunct="1"/>
            <a:r>
              <a:rPr kumimoji="1" lang="zh-CN" altLang="en-US" sz="1400" b="1" dirty="0" smtClean="0">
                <a:solidFill>
                  <a:srgbClr val="CC00CC"/>
                </a:solidFill>
                <a:latin typeface="微软雅黑" panose="020B0503020204020204" pitchFamily="34" charset="-122"/>
                <a:ea typeface="微软雅黑" panose="020B0503020204020204" pitchFamily="34" charset="-122"/>
              </a:rPr>
              <a:t>熟知</a:t>
            </a:r>
            <a:r>
              <a:rPr kumimoji="1" lang="zh-CN" altLang="en-US" sz="1400" b="1" dirty="0" smtClean="0">
                <a:latin typeface="微软雅黑" panose="020B0503020204020204" pitchFamily="34" charset="-122"/>
                <a:ea typeface="微软雅黑" panose="020B0503020204020204" pitchFamily="34" charset="-122"/>
              </a:rPr>
              <a:t>端口 </a:t>
            </a:r>
            <a:r>
              <a:rPr kumimoji="1" lang="en-US" altLang="zh-CN" sz="1400" b="1" dirty="0" smtClean="0">
                <a:latin typeface="微软雅黑" panose="020B0503020204020204" pitchFamily="34" charset="-122"/>
                <a:ea typeface="微软雅黑" panose="020B0503020204020204" pitchFamily="34" charset="-122"/>
              </a:rPr>
              <a:t>25</a:t>
            </a:r>
            <a:endParaRPr kumimoji="1" lang="zh-CN" altLang="en-US" sz="1400" b="1" dirty="0">
              <a:latin typeface="微软雅黑" panose="020B0503020204020204" pitchFamily="34" charset="-122"/>
              <a:ea typeface="微软雅黑" panose="020B0503020204020204" pitchFamily="34" charset="-122"/>
            </a:endParaRPr>
          </a:p>
        </p:txBody>
      </p:sp>
      <p:sp>
        <p:nvSpPr>
          <p:cNvPr id="13" name="矩形 12"/>
          <p:cNvSpPr/>
          <p:nvPr/>
        </p:nvSpPr>
        <p:spPr>
          <a:xfrm>
            <a:off x="1576553" y="3693277"/>
            <a:ext cx="6043448" cy="477054"/>
          </a:xfrm>
          <a:prstGeom prst="rect">
            <a:avLst/>
          </a:prstGeom>
        </p:spPr>
        <p:txBody>
          <a:bodyPr wrap="square" anchor="ctr">
            <a:spAutoFit/>
          </a:bodyPr>
          <a:lstStyle/>
          <a:p>
            <a:pPr algn="ctr">
              <a:lnSpc>
                <a:spcPts val="3000"/>
              </a:lnSpc>
              <a:buClr>
                <a:srgbClr val="0066FF"/>
              </a:buClr>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solidFill>
                  <a:srgbClr val="C00000"/>
                </a:solidFill>
                <a:latin typeface="微软雅黑" panose="020B0503020204020204" pitchFamily="34" charset="-122"/>
                <a:ea typeface="微软雅黑" panose="020B0503020204020204" pitchFamily="34" charset="-122"/>
              </a:rPr>
              <a:t>基于 </a:t>
            </a:r>
            <a:r>
              <a:rPr lang="en-US" altLang="zh-CN" b="1" dirty="0" smtClean="0">
                <a:solidFill>
                  <a:srgbClr val="C00000"/>
                </a:solidFill>
                <a:latin typeface="微软雅黑" panose="020B0503020204020204" pitchFamily="34" charset="-122"/>
                <a:ea typeface="微软雅黑" panose="020B0503020204020204" pitchFamily="34" charset="-122"/>
              </a:rPr>
              <a:t>TCP </a:t>
            </a:r>
            <a:r>
              <a:rPr lang="zh-CN" altLang="en-US" b="1" dirty="0" smtClean="0">
                <a:latin typeface="微软雅黑" panose="020B0503020204020204" pitchFamily="34" charset="-122"/>
                <a:ea typeface="微软雅黑" panose="020B0503020204020204" pitchFamily="34" charset="-122"/>
              </a:rPr>
              <a:t>实现客户</a:t>
            </a:r>
            <a:r>
              <a:rPr lang="zh-CN" altLang="en-US" b="1" dirty="0">
                <a:latin typeface="微软雅黑" panose="020B0503020204020204" pitchFamily="34" charset="-122"/>
                <a:ea typeface="微软雅黑" panose="020B0503020204020204" pitchFamily="34" charset="-122"/>
              </a:rPr>
              <a:t>与服务器</a:t>
            </a:r>
            <a:r>
              <a:rPr lang="zh-CN" altLang="en-US" b="1" dirty="0" smtClean="0">
                <a:latin typeface="微软雅黑" panose="020B0503020204020204" pitchFamily="34" charset="-122"/>
                <a:ea typeface="微软雅黑" panose="020B0503020204020204" pitchFamily="34" charset="-122"/>
              </a:rPr>
              <a:t>之间的通信。</a:t>
            </a:r>
            <a:endParaRPr lang="en-US" altLang="zh-CN"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smtClean="0">
                <a:solidFill>
                  <a:schemeClr val="tx1"/>
                </a:solidFill>
                <a:latin typeface="微软雅黑" panose="020B0503020204020204" pitchFamily="34" charset="-122"/>
                <a:ea typeface="微软雅黑" panose="020B0503020204020204" pitchFamily="34" charset="-122"/>
              </a:rPr>
              <a:t>SMTP</a:t>
            </a:r>
            <a:endParaRPr lang="en-US" altLang="zh-CN" sz="16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600" b="1" dirty="0">
                <a:solidFill>
                  <a:schemeClr val="tx1"/>
                </a:solidFill>
                <a:latin typeface="微软雅黑" panose="020B0503020204020204" pitchFamily="34" charset="-122"/>
                <a:ea typeface="微软雅黑" panose="020B0503020204020204" pitchFamily="34" charset="-122"/>
              </a:rPr>
              <a:t>客户</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cxnSp>
        <p:nvCxnSpPr>
          <p:cNvPr id="19" name="直接箭头连接符 18"/>
          <p:cNvCxnSpPr/>
          <p:nvPr/>
        </p:nvCxnSpPr>
        <p:spPr>
          <a:xfrm flipV="1">
            <a:off x="5602014" y="2065292"/>
            <a:ext cx="1250421" cy="940667"/>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5" name="Freeform 1208"/>
          <p:cNvSpPr/>
          <p:nvPr/>
        </p:nvSpPr>
        <p:spPr bwMode="ltGray">
          <a:xfrm>
            <a:off x="3486305" y="2695352"/>
            <a:ext cx="2223943" cy="825613"/>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b="1" dirty="0" smtClean="0">
                <a:latin typeface="微软雅黑" panose="020B0503020204020204" pitchFamily="34" charset="-122"/>
                <a:ea typeface="微软雅黑" panose="020B0503020204020204" pitchFamily="34" charset="-122"/>
              </a:rPr>
              <a:t>互联网</a:t>
            </a:r>
            <a:endParaRPr lang="zh-CN" altLang="en-US" b="1" dirty="0">
              <a:latin typeface="微软雅黑" panose="020B0503020204020204" pitchFamily="34" charset="-122"/>
              <a:ea typeface="微软雅黑" panose="020B0503020204020204" pitchFamily="34" charset="-122"/>
            </a:endParaRPr>
          </a:p>
        </p:txBody>
      </p:sp>
      <p:sp>
        <p:nvSpPr>
          <p:cNvPr id="22" name="Text Box 409"/>
          <p:cNvSpPr txBox="1">
            <a:spLocks noChangeArrowheads="1"/>
          </p:cNvSpPr>
          <p:nvPr/>
        </p:nvSpPr>
        <p:spPr bwMode="auto">
          <a:xfrm>
            <a:off x="1638439" y="2174872"/>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TCP</a:t>
            </a:r>
            <a:endParaRPr kumimoji="1" lang="en-US" altLang="zh-CN" sz="1400" b="1" dirty="0" smtClean="0">
              <a:latin typeface="微软雅黑" panose="020B0503020204020204" pitchFamily="34" charset="-122"/>
              <a:ea typeface="微软雅黑" panose="020B0503020204020204" pitchFamily="34" charset="-122"/>
            </a:endParaRPr>
          </a:p>
          <a:p>
            <a:pPr algn="ctr" eaLnBrk="1" hangingPunct="1"/>
            <a:r>
              <a:rPr kumimoji="1" lang="zh-CN" altLang="en-US" sz="1400" b="1" dirty="0" smtClean="0">
                <a:solidFill>
                  <a:srgbClr val="CC00CC"/>
                </a:solidFill>
                <a:latin typeface="微软雅黑" panose="020B0503020204020204" pitchFamily="34" charset="-122"/>
                <a:ea typeface="微软雅黑" panose="020B0503020204020204" pitchFamily="34" charset="-122"/>
              </a:rPr>
              <a:t>短暂</a:t>
            </a:r>
            <a:r>
              <a:rPr kumimoji="1" lang="zh-CN" altLang="en-US" sz="1400" b="1" dirty="0" smtClean="0">
                <a:latin typeface="微软雅黑" panose="020B0503020204020204" pitchFamily="34" charset="-122"/>
                <a:ea typeface="微软雅黑" panose="020B0503020204020204" pitchFamily="34" charset="-122"/>
              </a:rPr>
              <a:t>端口</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927"/>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连接建立</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连接是在发送主机的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客户和接收主机的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服务器之间建立的。</a:t>
            </a:r>
            <a:r>
              <a:rPr lang="en-US" altLang="zh-CN" sz="2000" b="1" dirty="0" smtClean="0">
                <a:latin typeface="微软雅黑" panose="020B0503020204020204" pitchFamily="34" charset="-122"/>
                <a:ea typeface="微软雅黑" panose="020B0503020204020204" pitchFamily="34" charset="-122"/>
              </a:rPr>
              <a:t>SMTP </a:t>
            </a:r>
            <a:r>
              <a:rPr lang="zh-CN" altLang="en-US" sz="2000" b="1" dirty="0" smtClean="0">
                <a:latin typeface="微软雅黑" panose="020B0503020204020204" pitchFamily="34" charset="-122"/>
                <a:ea typeface="微软雅黑" panose="020B0503020204020204" pitchFamily="34" charset="-122"/>
              </a:rPr>
              <a:t>不</a:t>
            </a:r>
            <a:r>
              <a:rPr lang="zh-CN" altLang="en-US" sz="2000" b="1" dirty="0">
                <a:latin typeface="微软雅黑" panose="020B0503020204020204" pitchFamily="34" charset="-122"/>
                <a:ea typeface="微软雅黑" panose="020B0503020204020204" pitchFamily="34" charset="-122"/>
              </a:rPr>
              <a:t>使用中间的邮件服务器。   </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邮件</a:t>
            </a:r>
            <a:r>
              <a:rPr lang="zh-CN" altLang="en-US" sz="2000" b="1" dirty="0">
                <a:solidFill>
                  <a:srgbClr val="0000FF"/>
                </a:solidFill>
                <a:latin typeface="微软雅黑" panose="020B0503020204020204" pitchFamily="34" charset="-122"/>
                <a:ea typeface="微软雅黑" panose="020B0503020204020204" pitchFamily="34" charset="-122"/>
              </a:rPr>
              <a:t>传送</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连接释放</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邮件发送完毕后，</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应释放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588846"/>
            <a:ext cx="1836689"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a:t>
            </a:r>
            <a:r>
              <a:rPr lang="zh-CN" altLang="en-US" sz="1400" b="1" dirty="0">
                <a:latin typeface="微软雅黑" panose="020B0503020204020204" pitchFamily="34" charset="-122"/>
                <a:ea typeface="微软雅黑" panose="020B0503020204020204" pitchFamily="34" charset="-122"/>
              </a:rPr>
              <a:t>首先</a:t>
            </a:r>
            <a:r>
              <a:rPr lang="zh-CN" altLang="en-US" sz="1400" b="1" dirty="0" smtClean="0">
                <a:latin typeface="微软雅黑" panose="020B0503020204020204" pitchFamily="34" charset="-122"/>
                <a:ea typeface="微软雅黑" panose="020B0503020204020204" pitchFamily="34" charset="-122"/>
              </a:rPr>
              <a:t>使用熟知端口 </a:t>
            </a:r>
            <a:r>
              <a:rPr lang="en-US" altLang="zh-CN" sz="1400" b="1" dirty="0" smtClean="0">
                <a:latin typeface="微软雅黑" panose="020B0503020204020204" pitchFamily="34" charset="-122"/>
                <a:ea typeface="微软雅黑" panose="020B0503020204020204" pitchFamily="34" charset="-122"/>
              </a:rPr>
              <a:t>25 </a:t>
            </a:r>
            <a:r>
              <a:rPr lang="zh-CN" altLang="en-US" sz="1400" b="1" dirty="0" smtClean="0">
                <a:latin typeface="微软雅黑" panose="020B0503020204020204" pitchFamily="34" charset="-122"/>
                <a:ea typeface="微软雅黑" panose="020B0503020204020204" pitchFamily="34" charset="-122"/>
              </a:rPr>
              <a:t>与</a:t>
            </a:r>
            <a:r>
              <a:rPr lang="zh-CN" altLang="en-US" sz="1400" b="1" dirty="0">
                <a:latin typeface="微软雅黑" panose="020B0503020204020204" pitchFamily="34" charset="-122"/>
                <a:ea typeface="微软雅黑" panose="020B0503020204020204" pitchFamily="34" charset="-122"/>
              </a:rPr>
              <a:t>接收</a:t>
            </a:r>
            <a:r>
              <a:rPr lang="zh-CN" altLang="en-US" sz="1400" b="1" dirty="0" smtClean="0">
                <a:latin typeface="微软雅黑" panose="020B0503020204020204" pitchFamily="34" charset="-122"/>
                <a:ea typeface="微软雅黑" panose="020B0503020204020204" pitchFamily="34" charset="-122"/>
              </a:rPr>
              <a:t>方的 </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5" name="矩形 14"/>
          <p:cNvSpPr/>
          <p:nvPr/>
        </p:nvSpPr>
        <p:spPr>
          <a:xfrm>
            <a:off x="7108668" y="2542953"/>
            <a:ext cx="1836689" cy="523220"/>
          </a:xfrm>
          <a:prstGeom prst="rect">
            <a:avLst/>
          </a:prstGeom>
          <a:solidFill>
            <a:srgbClr val="FFFF66"/>
          </a:solidFill>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注意：</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不使用中间的邮件服务器。 </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680223" cy="523220"/>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服务器发出服务</a:t>
            </a:r>
            <a:r>
              <a:rPr lang="zh-CN" altLang="en-US" sz="1400" b="1" dirty="0">
                <a:latin typeface="微软雅黑" panose="020B0503020204020204" pitchFamily="34" charset="-122"/>
                <a:ea typeface="微软雅黑" panose="020B0503020204020204" pitchFamily="34" charset="-122"/>
              </a:rPr>
              <a:t>就绪。</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HELO abc.edu.cn</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680223"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客户向服务器发送问候 </a:t>
            </a:r>
            <a:r>
              <a:rPr lang="en-US" altLang="zh-CN" sz="1400" b="1" dirty="0" smtClean="0">
                <a:latin typeface="微软雅黑" panose="020B0503020204020204" pitchFamily="34" charset="-122"/>
                <a:ea typeface="微软雅黑" panose="020B0503020204020204" pitchFamily="34" charset="-122"/>
              </a:rPr>
              <a:t>(HELO</a:t>
            </a:r>
            <a:r>
              <a:rPr lang="zh-CN" altLang="en-US" sz="1400" b="1" dirty="0" smtClean="0">
                <a:latin typeface="微软雅黑" panose="020B0503020204020204" pitchFamily="34" charset="-122"/>
                <a:ea typeface="微软雅黑" panose="020B0503020204020204" pitchFamily="34" charset="-122"/>
              </a:rPr>
              <a:t>命令），</a:t>
            </a:r>
            <a:r>
              <a:rPr lang="zh-CN" altLang="en-US" sz="1400" b="1" dirty="0">
                <a:latin typeface="微软雅黑" panose="020B0503020204020204" pitchFamily="34" charset="-122"/>
                <a:ea typeface="微软雅黑" panose="020B0503020204020204" pitchFamily="34" charset="-122"/>
              </a:rPr>
              <a:t>附上发送方的主机名</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HELO 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2014274"/>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742367"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若有能力接收邮件，则回答：“</a:t>
            </a:r>
            <a:r>
              <a:rPr lang="en-US" altLang="zh-CN" sz="1400" b="1" dirty="0">
                <a:latin typeface="微软雅黑" panose="020B0503020204020204" pitchFamily="34" charset="-122"/>
                <a:ea typeface="微软雅黑" panose="020B0503020204020204" pitchFamily="34" charset="-122"/>
              </a:rPr>
              <a:t>250 OK”</a:t>
            </a:r>
            <a:r>
              <a:rPr lang="zh-CN" altLang="en-US" sz="1400" b="1" dirty="0">
                <a:latin typeface="微软雅黑" panose="020B0503020204020204" pitchFamily="34" charset="-122"/>
                <a:ea typeface="微软雅黑" panose="020B0503020204020204" pitchFamily="34" charset="-122"/>
              </a:rPr>
              <a:t>，表示已准备好接收</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矩形 85"/>
          <p:cNvSpPr/>
          <p:nvPr/>
        </p:nvSpPr>
        <p:spPr>
          <a:xfrm>
            <a:off x="2117646" y="3566713"/>
            <a:ext cx="5891237" cy="1022400"/>
          </a:xfrm>
          <a:prstGeom prst="rect">
            <a:avLst/>
          </a:prstGeom>
          <a:solidFill>
            <a:srgbClr val="FF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2117646" y="2141768"/>
            <a:ext cx="5891237" cy="1197386"/>
          </a:xfrm>
          <a:prstGeom prst="rect">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2117646" y="1332913"/>
            <a:ext cx="5891237" cy="800765"/>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0424" y="2006812"/>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622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邮件传送</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2719604" y="1266738"/>
            <a:ext cx="4350993" cy="3411794"/>
            <a:chOff x="2719604" y="944102"/>
            <a:chExt cx="4350993" cy="2580075"/>
          </a:xfrm>
        </p:grpSpPr>
        <p:cxnSp>
          <p:nvCxnSpPr>
            <p:cNvPr id="7" name="直接箭头连接符 6"/>
            <p:cNvCxnSpPr>
              <a:stCxn id="10" idx="2"/>
            </p:cNvCxnSpPr>
            <p:nvPr/>
          </p:nvCxnSpPr>
          <p:spPr>
            <a:xfrm>
              <a:off x="2719604"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4" name="组合 23"/>
          <p:cNvGrpSpPr/>
          <p:nvPr/>
        </p:nvGrpSpPr>
        <p:grpSpPr>
          <a:xfrm>
            <a:off x="2727397" y="1332913"/>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MAIL FROM: Lion@abc.edu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1535481"/>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30" name="组合 29"/>
          <p:cNvGrpSpPr/>
          <p:nvPr/>
        </p:nvGrpSpPr>
        <p:grpSpPr>
          <a:xfrm>
            <a:off x="2727397" y="1744808"/>
            <a:ext cx="4337778" cy="180000"/>
            <a:chOff x="2144264" y="2285523"/>
            <a:chExt cx="4926338" cy="292388"/>
          </a:xfrm>
        </p:grpSpPr>
        <p:sp>
          <p:nvSpPr>
            <p:cNvPr id="3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RCPT TO: Tiger@xyz.com</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40" name="组合 39"/>
          <p:cNvGrpSpPr/>
          <p:nvPr/>
        </p:nvGrpSpPr>
        <p:grpSpPr>
          <a:xfrm>
            <a:off x="2727397" y="1947376"/>
            <a:ext cx="4337778" cy="180000"/>
            <a:chOff x="2144264" y="2285523"/>
            <a:chExt cx="4926338" cy="292388"/>
          </a:xfrm>
        </p:grpSpPr>
        <p:sp>
          <p:nvSpPr>
            <p:cNvPr id="41" name="Line 55"/>
            <p:cNvSpPr>
              <a:spLocks noChangeShapeType="1"/>
            </p:cNvSpPr>
            <p:nvPr/>
          </p:nvSpPr>
          <p:spPr bwMode="auto">
            <a:xfrm>
              <a:off x="2144264" y="2409068"/>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42" name="矩形 4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2727397" y="2154698"/>
            <a:ext cx="4337778" cy="180000"/>
            <a:chOff x="2144264" y="2285523"/>
            <a:chExt cx="4926338" cy="292388"/>
          </a:xfrm>
        </p:grpSpPr>
        <p:sp>
          <p:nvSpPr>
            <p:cNvPr id="53"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54" name="矩形 53"/>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DATA</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2727397" y="2357266"/>
            <a:ext cx="4337778" cy="180000"/>
            <a:chOff x="2144264" y="2285523"/>
            <a:chExt cx="4926338" cy="292388"/>
          </a:xfrm>
        </p:grpSpPr>
        <p:sp>
          <p:nvSpPr>
            <p:cNvPr id="56"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57" name="矩形 56"/>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50" b="1" dirty="0">
                  <a:solidFill>
                    <a:schemeClr val="tx1"/>
                  </a:solidFill>
                  <a:latin typeface="微软雅黑" panose="020B0503020204020204" pitchFamily="34" charset="-122"/>
                  <a:ea typeface="微软雅黑" panose="020B0503020204020204" pitchFamily="34" charset="-122"/>
                </a:rPr>
                <a:t>354 Start mail input; end with &lt;CRLF&gt;.&lt;CRLF&gt;</a:t>
              </a:r>
              <a:endParaRPr lang="zh-CN" altLang="en-US" sz="950" b="1" dirty="0">
                <a:solidFill>
                  <a:schemeClr val="tx1"/>
                </a:solidFill>
                <a:latin typeface="微软雅黑" panose="020B0503020204020204" pitchFamily="34" charset="-122"/>
                <a:ea typeface="微软雅黑" panose="020B0503020204020204" pitchFamily="34" charset="-122"/>
              </a:endParaRPr>
            </a:p>
          </p:txBody>
        </p:sp>
      </p:grpSp>
      <p:grpSp>
        <p:nvGrpSpPr>
          <p:cNvPr id="58" name="组合 57"/>
          <p:cNvGrpSpPr/>
          <p:nvPr/>
        </p:nvGrpSpPr>
        <p:grpSpPr>
          <a:xfrm>
            <a:off x="2727397" y="2558913"/>
            <a:ext cx="4337778" cy="180000"/>
            <a:chOff x="2144264" y="2285523"/>
            <a:chExt cx="4926338" cy="292388"/>
          </a:xfrm>
        </p:grpSpPr>
        <p:sp>
          <p:nvSpPr>
            <p:cNvPr id="59"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0" name="矩形 59"/>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From: Lion@abc.edu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1" name="组合 60"/>
          <p:cNvGrpSpPr/>
          <p:nvPr/>
        </p:nvGrpSpPr>
        <p:grpSpPr>
          <a:xfrm>
            <a:off x="2727397" y="2756503"/>
            <a:ext cx="4337778" cy="180000"/>
            <a:chOff x="2144264" y="2285523"/>
            <a:chExt cx="4926338" cy="292388"/>
          </a:xfrm>
        </p:grpSpPr>
        <p:sp>
          <p:nvSpPr>
            <p:cNvPr id="62"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3" name="矩形 62"/>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To: Tiger@xyz.com</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4" name="组合 63"/>
          <p:cNvGrpSpPr/>
          <p:nvPr/>
        </p:nvGrpSpPr>
        <p:grpSpPr>
          <a:xfrm>
            <a:off x="2727397" y="2952686"/>
            <a:ext cx="4337778" cy="180000"/>
            <a:chOff x="2144264" y="2285523"/>
            <a:chExt cx="4926338" cy="292388"/>
          </a:xfrm>
        </p:grpSpPr>
        <p:sp>
          <p:nvSpPr>
            <p:cNvPr id="6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6" name="矩形 6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Date: 2018-08-18</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7" name="组合 66"/>
          <p:cNvGrpSpPr/>
          <p:nvPr/>
        </p:nvGrpSpPr>
        <p:grpSpPr>
          <a:xfrm>
            <a:off x="2727397" y="3159154"/>
            <a:ext cx="4337778" cy="180000"/>
            <a:chOff x="2144264" y="2285523"/>
            <a:chExt cx="4926338" cy="292388"/>
          </a:xfrm>
        </p:grpSpPr>
        <p:sp>
          <p:nvSpPr>
            <p:cNvPr id="68"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9" name="矩形 68"/>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Subject: Greetings</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0" name="组合 69"/>
          <p:cNvGrpSpPr/>
          <p:nvPr/>
        </p:nvGrpSpPr>
        <p:grpSpPr>
          <a:xfrm>
            <a:off x="2727397" y="3365693"/>
            <a:ext cx="4337778" cy="180000"/>
            <a:chOff x="2144264" y="2285523"/>
            <a:chExt cx="4926338" cy="292388"/>
          </a:xfrm>
        </p:grpSpPr>
        <p:sp>
          <p:nvSpPr>
            <p:cNvPr id="71"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2" name="矩形 71"/>
            <p:cNvSpPr/>
            <p:nvPr/>
          </p:nvSpPr>
          <p:spPr>
            <a:xfrm>
              <a:off x="2827283" y="2285523"/>
              <a:ext cx="3626069" cy="29238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3" name="组合 72"/>
          <p:cNvGrpSpPr/>
          <p:nvPr/>
        </p:nvGrpSpPr>
        <p:grpSpPr>
          <a:xfrm>
            <a:off x="2727397" y="3566713"/>
            <a:ext cx="4337778" cy="180000"/>
            <a:chOff x="2144264" y="2285523"/>
            <a:chExt cx="4926338" cy="292388"/>
          </a:xfrm>
        </p:grpSpPr>
        <p:sp>
          <p:nvSpPr>
            <p:cNvPr id="74"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5" name="矩形 74"/>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Dear Mr. Tiger, </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6" name="组合 75"/>
          <p:cNvGrpSpPr/>
          <p:nvPr/>
        </p:nvGrpSpPr>
        <p:grpSpPr>
          <a:xfrm>
            <a:off x="2727397" y="3773181"/>
            <a:ext cx="4337778" cy="180000"/>
            <a:chOff x="2144264" y="2285523"/>
            <a:chExt cx="4926338" cy="292388"/>
          </a:xfrm>
        </p:grpSpPr>
        <p:sp>
          <p:nvSpPr>
            <p:cNvPr id="7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8" name="矩形 7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Welcome you back.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9" name="组合 78"/>
          <p:cNvGrpSpPr/>
          <p:nvPr/>
        </p:nvGrpSpPr>
        <p:grpSpPr>
          <a:xfrm>
            <a:off x="2727397" y="4183123"/>
            <a:ext cx="4337778" cy="180000"/>
            <a:chOff x="2144264" y="2285523"/>
            <a:chExt cx="4926338" cy="292388"/>
          </a:xfrm>
        </p:grpSpPr>
        <p:sp>
          <p:nvSpPr>
            <p:cNvPr id="80"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81" name="矩形 80"/>
            <p:cNvSpPr/>
            <p:nvPr/>
          </p:nvSpPr>
          <p:spPr>
            <a:xfrm>
              <a:off x="2827283" y="2285523"/>
              <a:ext cx="3626069" cy="292388"/>
            </a:xfrm>
            <a:prstGeom prst="rect">
              <a:avLst/>
            </a:prstGeom>
            <a:solidFill>
              <a:schemeClr val="tx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grpSp>
      <p:grpSp>
        <p:nvGrpSpPr>
          <p:cNvPr id="82" name="组合 81"/>
          <p:cNvGrpSpPr/>
          <p:nvPr/>
        </p:nvGrpSpPr>
        <p:grpSpPr>
          <a:xfrm>
            <a:off x="2727397" y="4384219"/>
            <a:ext cx="4337778" cy="180000"/>
            <a:chOff x="2144264" y="2285523"/>
            <a:chExt cx="4926338" cy="292388"/>
          </a:xfrm>
        </p:grpSpPr>
        <p:sp>
          <p:nvSpPr>
            <p:cNvPr id="83"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84" name="矩形 83"/>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87" name="Text Box 409"/>
          <p:cNvSpPr txBox="1">
            <a:spLocks noChangeArrowheads="1"/>
          </p:cNvSpPr>
          <p:nvPr/>
        </p:nvSpPr>
        <p:spPr bwMode="auto">
          <a:xfrm>
            <a:off x="7086640" y="158104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smtClean="0">
                <a:solidFill>
                  <a:srgbClr val="3333FF"/>
                </a:solidFill>
                <a:latin typeface="微软雅黑" panose="020B0503020204020204" pitchFamily="34" charset="-122"/>
                <a:ea typeface="微软雅黑" panose="020B0503020204020204" pitchFamily="34" charset="-122"/>
              </a:rPr>
              <a:t>信封</a:t>
            </a:r>
            <a:endParaRPr kumimoji="1" lang="zh-CN" altLang="en-US" sz="1400" b="1" dirty="0">
              <a:solidFill>
                <a:srgbClr val="3333FF"/>
              </a:solidFill>
              <a:latin typeface="微软雅黑" panose="020B0503020204020204" pitchFamily="34" charset="-122"/>
              <a:ea typeface="微软雅黑" panose="020B0503020204020204" pitchFamily="34" charset="-122"/>
            </a:endParaRPr>
          </a:p>
        </p:txBody>
      </p:sp>
      <p:sp>
        <p:nvSpPr>
          <p:cNvPr id="88" name="Text Box 409"/>
          <p:cNvSpPr txBox="1">
            <a:spLocks noChangeArrowheads="1"/>
          </p:cNvSpPr>
          <p:nvPr/>
        </p:nvSpPr>
        <p:spPr bwMode="auto">
          <a:xfrm>
            <a:off x="7086640" y="258390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smtClean="0">
                <a:solidFill>
                  <a:srgbClr val="3333FF"/>
                </a:solidFill>
                <a:latin typeface="微软雅黑" panose="020B0503020204020204" pitchFamily="34" charset="-122"/>
                <a:ea typeface="微软雅黑" panose="020B0503020204020204" pitchFamily="34" charset="-122"/>
              </a:rPr>
              <a:t>首部</a:t>
            </a:r>
            <a:endParaRPr kumimoji="1" lang="zh-CN" altLang="en-US" sz="1400" b="1" dirty="0">
              <a:solidFill>
                <a:srgbClr val="3333FF"/>
              </a:solidFill>
              <a:latin typeface="微软雅黑" panose="020B0503020204020204" pitchFamily="34" charset="-122"/>
              <a:ea typeface="微软雅黑" panose="020B0503020204020204" pitchFamily="34" charset="-122"/>
            </a:endParaRPr>
          </a:p>
        </p:txBody>
      </p:sp>
      <p:sp>
        <p:nvSpPr>
          <p:cNvPr id="89" name="Text Box 409"/>
          <p:cNvSpPr txBox="1">
            <a:spLocks noChangeArrowheads="1"/>
          </p:cNvSpPr>
          <p:nvPr/>
        </p:nvSpPr>
        <p:spPr bwMode="auto">
          <a:xfrm>
            <a:off x="7086640" y="3911141"/>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333399"/>
                </a:solidFill>
                <a:latin typeface="微软雅黑" panose="020B0503020204020204" pitchFamily="34" charset="-122"/>
                <a:ea typeface="微软雅黑" panose="020B0503020204020204" pitchFamily="34" charset="-122"/>
              </a:rPr>
              <a:t>主体</a:t>
            </a:r>
            <a:endParaRPr kumimoji="1" lang="zh-CN" altLang="en-US" sz="1400" b="1" dirty="0">
              <a:solidFill>
                <a:srgbClr val="333399"/>
              </a:solidFill>
              <a:latin typeface="微软雅黑" panose="020B0503020204020204" pitchFamily="34" charset="-122"/>
              <a:ea typeface="微软雅黑" panose="020B0503020204020204" pitchFamily="34" charset="-122"/>
            </a:endParaRPr>
          </a:p>
        </p:txBody>
      </p:sp>
      <p:sp>
        <p:nvSpPr>
          <p:cNvPr id="90" name="Text Box 409"/>
          <p:cNvSpPr txBox="1">
            <a:spLocks noChangeArrowheads="1"/>
          </p:cNvSpPr>
          <p:nvPr/>
        </p:nvSpPr>
        <p:spPr bwMode="auto">
          <a:xfrm>
            <a:off x="7086640" y="3311697"/>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空行</a:t>
            </a:r>
            <a:endParaRPr kumimoji="1" lang="zh-CN" altLang="en-US" sz="1200" b="1" dirty="0">
              <a:latin typeface="微软雅黑" panose="020B0503020204020204" pitchFamily="34" charset="-122"/>
              <a:ea typeface="微软雅黑" panose="020B0503020204020204" pitchFamily="34" charset="-122"/>
            </a:endParaRPr>
          </a:p>
        </p:txBody>
      </p:sp>
      <p:sp>
        <p:nvSpPr>
          <p:cNvPr id="9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9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1731607"/>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00102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连接释放</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2719604" y="1266738"/>
            <a:ext cx="4350993" cy="1645138"/>
            <a:chOff x="2719604" y="991533"/>
            <a:chExt cx="4350993" cy="2348869"/>
          </a:xfrm>
        </p:grpSpPr>
        <p:cxnSp>
          <p:nvCxnSpPr>
            <p:cNvPr id="7" name="直接箭头连接符 6"/>
            <p:cNvCxnSpPr/>
            <p:nvPr/>
          </p:nvCxnSpPr>
          <p:spPr>
            <a:xfrm>
              <a:off x="2719604"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7070597"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2290113"/>
            <a:ext cx="4337778" cy="276999"/>
            <a:chOff x="2144264" y="1950857"/>
            <a:chExt cx="4926338" cy="426271"/>
          </a:xfrm>
        </p:grpSpPr>
        <p:sp>
          <p:nvSpPr>
            <p:cNvPr id="17" name="Text Box 52"/>
            <p:cNvSpPr txBox="1">
              <a:spLocks noChangeArrowheads="1"/>
            </p:cNvSpPr>
            <p:nvPr/>
          </p:nvSpPr>
          <p:spPr bwMode="auto">
            <a:xfrm>
              <a:off x="3888314" y="1950857"/>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释放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dash"/>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4" name="组合 23"/>
          <p:cNvGrpSpPr/>
          <p:nvPr/>
        </p:nvGrpSpPr>
        <p:grpSpPr>
          <a:xfrm>
            <a:off x="2727397" y="1446578"/>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12700">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QUIT</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1670166"/>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221 Service closed</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19" name="矩形 18"/>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0" name="矩形 1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2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ln>
          <a:effectLst/>
        </p:spPr>
        <p:txBody>
          <a:bodyPr wrap="none" anchor="ctr"/>
          <a:lstStyle/>
          <a:p>
            <a:endParaRPr lang="zh-CN" altLang="en-US"/>
          </a:p>
        </p:txBody>
      </p:sp>
      <p:sp>
        <p:nvSpPr>
          <p:cNvPr id="2" name="AutoShape 5"/>
          <p:cNvSpPr>
            <a:spLocks noChangeArrowheads="1"/>
          </p:cNvSpPr>
          <p:nvPr/>
        </p:nvSpPr>
        <p:spPr bwMode="auto">
          <a:xfrm>
            <a:off x="556963" y="61500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7" y="572738"/>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6.5.3  </a:t>
            </a:r>
            <a:r>
              <a:rPr lang="zh-CN" altLang="en-US" sz="2400" b="1" dirty="0">
                <a:solidFill>
                  <a:schemeClr val="bg1"/>
                </a:solidFill>
                <a:latin typeface="微软雅黑" panose="020B0503020204020204" pitchFamily="34" charset="-122"/>
                <a:ea typeface="微软雅黑" panose="020B0503020204020204" pitchFamily="34" charset="-122"/>
              </a:rPr>
              <a:t>电子邮件的信息</a:t>
            </a:r>
            <a:r>
              <a:rPr lang="zh-CN" altLang="en-US" sz="2400" b="1" dirty="0" smtClean="0">
                <a:solidFill>
                  <a:schemeClr val="bg1"/>
                </a:solidFill>
                <a:latin typeface="微软雅黑" panose="020B0503020204020204" pitchFamily="34" charset="-122"/>
                <a:ea typeface="微软雅黑" panose="020B0503020204020204" pitchFamily="34" charset="-122"/>
              </a:rPr>
              <a:t>格式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首部 </a:t>
            </a:r>
            <a:r>
              <a:rPr lang="en-US" altLang="zh-CN" b="1" dirty="0" smtClean="0">
                <a:latin typeface="微软雅黑" panose="020B0503020204020204" pitchFamily="34" charset="-122"/>
                <a:ea typeface="微软雅黑" panose="020B0503020204020204" pitchFamily="34" charset="-122"/>
              </a:rPr>
              <a:t>(header)</a:t>
            </a:r>
            <a:endParaRPr lang="en-US" altLang="zh-CN" b="1" dirty="0">
              <a:latin typeface="微软雅黑" panose="020B0503020204020204" pitchFamily="34" charset="-122"/>
              <a:ea typeface="微软雅黑" panose="020B0503020204020204" pitchFamily="34" charset="-122"/>
            </a:endParaRPr>
          </a:p>
        </p:txBody>
      </p:sp>
      <p:sp>
        <p:nvSpPr>
          <p:cNvPr id="6"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主体 </a:t>
            </a:r>
            <a:r>
              <a:rPr lang="en-US" altLang="zh-CN" b="1" dirty="0" smtClean="0">
                <a:latin typeface="微软雅黑" panose="020B0503020204020204" pitchFamily="34" charset="-122"/>
                <a:ea typeface="微软雅黑" panose="020B0503020204020204" pitchFamily="34" charset="-122"/>
              </a:rPr>
              <a:t>(body)</a:t>
            </a:r>
            <a:endParaRPr lang="en-US" altLang="zh-CN"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latin typeface="微软雅黑" panose="020B0503020204020204" pitchFamily="34" charset="-122"/>
                <a:ea typeface="微软雅黑" panose="020B0503020204020204" pitchFamily="34" charset="-122"/>
              </a:rPr>
              <a:t>空行</a:t>
            </a:r>
            <a:endParaRPr lang="en-US" altLang="zh-CN" sz="1400" b="1" dirty="0">
              <a:latin typeface="微软雅黑" panose="020B0503020204020204" pitchFamily="34" charset="-122"/>
              <a:ea typeface="微软雅黑" panose="020B0503020204020204" pitchFamily="34" charset="-122"/>
            </a:endParaRPr>
          </a:p>
        </p:txBody>
      </p:sp>
      <p:sp>
        <p:nvSpPr>
          <p:cNvPr id="10"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ln>
          <a:effectLst/>
        </p:spPr>
        <p:txBody>
          <a:bodyPr wrap="none" anchor="ctr"/>
          <a:lstStyle/>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MAIL FROM: one@abc.edu</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RCPT TO: two@xyz.com</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7441871" y="1601892"/>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信封</a:t>
            </a:r>
            <a:endParaRPr lang="en-US" altLang="zh-CN" sz="1600" b="1" dirty="0">
              <a:latin typeface="微软雅黑" panose="020B0503020204020204" pitchFamily="34" charset="-122"/>
              <a:ea typeface="微软雅黑" panose="020B0503020204020204" pitchFamily="34" charset="-122"/>
            </a:endParaRPr>
          </a:p>
        </p:txBody>
      </p:sp>
      <p:sp>
        <p:nvSpPr>
          <p:cNvPr id="12" name="矩形 11"/>
          <p:cNvSpPr/>
          <p:nvPr/>
        </p:nvSpPr>
        <p:spPr>
          <a:xfrm>
            <a:off x="7441871" y="2936735"/>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内容</a:t>
            </a:r>
            <a:endParaRPr lang="en-US" altLang="zh-CN" sz="16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7473400" y="1335334"/>
            <a:ext cx="714150" cy="2768917"/>
            <a:chOff x="7200140" y="1468504"/>
            <a:chExt cx="807016" cy="2768917"/>
          </a:xfrm>
        </p:grpSpPr>
        <p:cxnSp>
          <p:nvCxnSpPr>
            <p:cNvPr id="14" name="直接连接符 13"/>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16"/>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56963" y="1004641"/>
            <a:ext cx="3258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一个电子邮件分为</a:t>
            </a:r>
            <a:r>
              <a:rPr lang="zh-CN" altLang="en-US" sz="2000" b="1" dirty="0">
                <a:solidFill>
                  <a:srgbClr val="C00000"/>
                </a:solidFill>
                <a:latin typeface="微软雅黑" panose="020B0503020204020204" pitchFamily="34" charset="-122"/>
                <a:ea typeface="微软雅黑" panose="020B0503020204020204" pitchFamily="34" charset="-122"/>
              </a:rPr>
              <a:t>信封</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C00000"/>
                </a:solidFill>
                <a:latin typeface="微软雅黑" panose="020B0503020204020204" pitchFamily="34" charset="-122"/>
                <a:ea typeface="微软雅黑" panose="020B0503020204020204" pitchFamily="34" charset="-122"/>
              </a:rPr>
              <a:t>内容</a:t>
            </a:r>
            <a:r>
              <a:rPr lang="zh-CN" altLang="en-US" sz="2000" b="1" dirty="0">
                <a:latin typeface="微软雅黑" panose="020B0503020204020204" pitchFamily="34" charset="-122"/>
                <a:ea typeface="微软雅黑" panose="020B0503020204020204" pitchFamily="34" charset="-122"/>
              </a:rPr>
              <a:t>两大部分。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RFC </a:t>
            </a:r>
            <a:r>
              <a:rPr lang="en-US" altLang="zh-CN" sz="2000" b="1" dirty="0" smtClean="0">
                <a:latin typeface="微软雅黑" panose="020B0503020204020204" pitchFamily="34" charset="-122"/>
                <a:ea typeface="微软雅黑" panose="020B0503020204020204" pitchFamily="34" charset="-122"/>
              </a:rPr>
              <a:t>5322 </a:t>
            </a:r>
            <a:r>
              <a:rPr lang="zh-CN" altLang="en-US" sz="2000" b="1" dirty="0">
                <a:latin typeface="微软雅黑" panose="020B0503020204020204" pitchFamily="34" charset="-122"/>
                <a:ea typeface="微软雅黑" panose="020B0503020204020204" pitchFamily="34" charset="-122"/>
              </a:rPr>
              <a:t>只规定了邮件内容中的</a:t>
            </a:r>
            <a:r>
              <a:rPr lang="zh-CN" altLang="en-US" sz="2000" b="1" dirty="0">
                <a:solidFill>
                  <a:srgbClr val="0000FF"/>
                </a:solidFill>
                <a:latin typeface="微软雅黑" panose="020B0503020204020204" pitchFamily="34" charset="-122"/>
                <a:ea typeface="微软雅黑" panose="020B0503020204020204" pitchFamily="34" charset="-122"/>
              </a:rPr>
              <a:t>首部</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(header) </a:t>
            </a:r>
            <a:r>
              <a:rPr lang="zh-CN" altLang="en-US" sz="2000" b="1" dirty="0" smtClean="0">
                <a:latin typeface="微软雅黑" panose="020B0503020204020204" pitchFamily="34" charset="-122"/>
                <a:ea typeface="微软雅黑" panose="020B0503020204020204" pitchFamily="34" charset="-122"/>
              </a:rPr>
              <a:t>格式。</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邮件</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主体</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body) </a:t>
            </a:r>
            <a:r>
              <a:rPr lang="zh-CN" altLang="en-US" sz="2000" b="1" dirty="0" smtClean="0">
                <a:latin typeface="微软雅黑" panose="020B0503020204020204" pitchFamily="34" charset="-122"/>
                <a:ea typeface="微软雅黑" panose="020B0503020204020204" pitchFamily="34" charset="-122"/>
              </a:rPr>
              <a:t>部分</a:t>
            </a:r>
            <a:r>
              <a:rPr lang="zh-CN" altLang="en-US" sz="2000" b="1" dirty="0">
                <a:latin typeface="微软雅黑" panose="020B0503020204020204" pitchFamily="34" charset="-122"/>
                <a:ea typeface="微软雅黑" panose="020B0503020204020204" pitchFamily="34" charset="-122"/>
              </a:rPr>
              <a:t>则让用户自由撰写</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552869" y="578205"/>
            <a:ext cx="20569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邮件内容的</a:t>
            </a:r>
            <a:r>
              <a:rPr lang="zh-CN" altLang="en-US" sz="2000" b="1" dirty="0" smtClean="0">
                <a:solidFill>
                  <a:schemeClr val="bg1"/>
                </a:solidFill>
                <a:latin typeface="微软雅黑" panose="020B0503020204020204" pitchFamily="34" charset="-122"/>
                <a:ea typeface="微软雅黑" panose="020B0503020204020204" pitchFamily="34" charset="-122"/>
              </a:rPr>
              <a:t>首部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9" name="圆角矩形 28"/>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0"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ln>
          <a:effectLst/>
        </p:spPr>
        <p:txBody>
          <a:bodyPr wrap="none" anchor="ctr"/>
          <a:lstStyle/>
          <a:p>
            <a:endParaRPr lang="zh-CN" altLang="en-US"/>
          </a:p>
        </p:txBody>
      </p:sp>
      <p:sp>
        <p:nvSpPr>
          <p:cNvPr id="31"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首部 </a:t>
            </a:r>
            <a:r>
              <a:rPr lang="en-US" altLang="zh-CN" b="1" dirty="0" smtClean="0">
                <a:latin typeface="微软雅黑" panose="020B0503020204020204" pitchFamily="34" charset="-122"/>
                <a:ea typeface="微软雅黑" panose="020B0503020204020204" pitchFamily="34" charset="-122"/>
              </a:rPr>
              <a:t>(header)</a:t>
            </a:r>
            <a:endParaRPr lang="en-US" altLang="zh-CN" b="1" dirty="0">
              <a:latin typeface="微软雅黑" panose="020B0503020204020204" pitchFamily="34" charset="-122"/>
              <a:ea typeface="微软雅黑" panose="020B0503020204020204" pitchFamily="34" charset="-122"/>
            </a:endParaRPr>
          </a:p>
        </p:txBody>
      </p:sp>
      <p:sp>
        <p:nvSpPr>
          <p:cNvPr id="32"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主体 </a:t>
            </a:r>
            <a:r>
              <a:rPr lang="en-US" altLang="zh-CN" b="1" dirty="0" smtClean="0">
                <a:latin typeface="微软雅黑" panose="020B0503020204020204" pitchFamily="34" charset="-122"/>
                <a:ea typeface="微软雅黑" panose="020B0503020204020204" pitchFamily="34" charset="-122"/>
              </a:rPr>
              <a:t>(body)</a:t>
            </a:r>
            <a:endParaRPr lang="en-US" altLang="zh-CN" b="1" dirty="0">
              <a:latin typeface="微软雅黑" panose="020B0503020204020204" pitchFamily="34" charset="-122"/>
              <a:ea typeface="微软雅黑" panose="020B0503020204020204" pitchFamily="34" charset="-122"/>
            </a:endParaRPr>
          </a:p>
        </p:txBody>
      </p:sp>
      <p:sp>
        <p:nvSpPr>
          <p:cNvPr id="33"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latin typeface="微软雅黑" panose="020B0503020204020204" pitchFamily="34" charset="-122"/>
                <a:ea typeface="微软雅黑" panose="020B0503020204020204" pitchFamily="34" charset="-122"/>
              </a:rPr>
              <a:t>空行</a:t>
            </a:r>
            <a:endParaRPr lang="en-US" altLang="zh-CN" sz="1400" b="1" dirty="0">
              <a:latin typeface="微软雅黑" panose="020B0503020204020204" pitchFamily="34" charset="-122"/>
              <a:ea typeface="微软雅黑" panose="020B0503020204020204" pitchFamily="34" charset="-122"/>
            </a:endParaRPr>
          </a:p>
        </p:txBody>
      </p:sp>
      <p:sp>
        <p:nvSpPr>
          <p:cNvPr id="34"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ln>
          <a:effectLst/>
        </p:spPr>
        <p:txBody>
          <a:bodyPr wrap="none" anchor="ctr"/>
          <a:lstStyle/>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MAIL FROM: one@abc.edu</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RCPT TO: two@xyz.com</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矩形 34"/>
          <p:cNvSpPr/>
          <p:nvPr/>
        </p:nvSpPr>
        <p:spPr>
          <a:xfrm>
            <a:off x="7441871" y="1601892"/>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信封</a:t>
            </a:r>
            <a:endParaRPr lang="en-US" altLang="zh-CN" sz="1600" b="1" dirty="0">
              <a:latin typeface="微软雅黑" panose="020B0503020204020204" pitchFamily="34" charset="-122"/>
              <a:ea typeface="微软雅黑" panose="020B0503020204020204" pitchFamily="34" charset="-122"/>
            </a:endParaRPr>
          </a:p>
        </p:txBody>
      </p:sp>
      <p:sp>
        <p:nvSpPr>
          <p:cNvPr id="36" name="矩形 35"/>
          <p:cNvSpPr/>
          <p:nvPr/>
        </p:nvSpPr>
        <p:spPr>
          <a:xfrm>
            <a:off x="7441871" y="2936735"/>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内容</a:t>
            </a:r>
            <a:endParaRPr lang="en-US" altLang="zh-CN" sz="1600" b="1" dirty="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7473400" y="1335334"/>
            <a:ext cx="714150" cy="2768917"/>
            <a:chOff x="7200140" y="1468504"/>
            <a:chExt cx="807016" cy="2768917"/>
          </a:xfrm>
        </p:grpSpPr>
        <p:cxnSp>
          <p:nvCxnSpPr>
            <p:cNvPr id="38" name="直接连接符 37"/>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 name="直接连接符 40"/>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25511" y="1192910"/>
            <a:ext cx="3289738" cy="1759456"/>
          </a:xfrm>
          <a:prstGeom prst="rect">
            <a:avLst/>
          </a:prstGeom>
          <a:solidFill>
            <a:srgbClr val="00FFCC"/>
          </a:solidFill>
          <a:ln w="9525" algn="ctr">
            <a:solidFill>
              <a:srgbClr val="000000"/>
            </a:solidFill>
            <a:miter lim="1000000"/>
          </a:ln>
          <a:effectLst/>
        </p:spPr>
        <p:txBody>
          <a:bodyPr wrap="square">
            <a:spAutoFit/>
          </a:bodyPr>
          <a:lstStyle/>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From: LionKing@abc.edu</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solidFill>
                  <a:srgbClr val="C00000"/>
                </a:solidFill>
                <a:latin typeface="微软雅黑" panose="020B0503020204020204" pitchFamily="34" charset="-122"/>
                <a:ea typeface="微软雅黑" panose="020B0503020204020204" pitchFamily="34" charset="-122"/>
              </a:rPr>
              <a:t>To</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TigerWang@xyz.com</a:t>
            </a:r>
            <a:endParaRPr lang="en-US" altLang="zh-CN" sz="1600" b="1" dirty="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Date: 2018-08-18</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solidFill>
                  <a:srgbClr val="C00000"/>
                </a:solidFill>
                <a:latin typeface="微软雅黑" panose="020B0503020204020204" pitchFamily="34" charset="-122"/>
                <a:ea typeface="微软雅黑" panose="020B0503020204020204" pitchFamily="34" charset="-122"/>
              </a:rPr>
              <a:t>Subject</a:t>
            </a:r>
            <a:r>
              <a:rPr lang="en-US" altLang="zh-CN" sz="1600" b="1" dirty="0">
                <a:solidFill>
                  <a:srgbClr val="C00000"/>
                </a:solidFill>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Greetings</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Cc: Manager@zoo.com</a:t>
            </a:r>
            <a:endParaRPr lang="en-US" altLang="zh-CN" sz="1600" b="1" dirty="0">
              <a:latin typeface="微软雅黑" panose="020B0503020204020204" pitchFamily="34" charset="-122"/>
              <a:ea typeface="微软雅黑" panose="020B0503020204020204" pitchFamily="34" charset="-122"/>
            </a:endParaRPr>
          </a:p>
        </p:txBody>
      </p:sp>
      <p:cxnSp>
        <p:nvCxnSpPr>
          <p:cNvPr id="9" name="直接箭头连接符 8"/>
          <p:cNvCxnSpPr/>
          <p:nvPr/>
        </p:nvCxnSpPr>
        <p:spPr>
          <a:xfrm>
            <a:off x="3447391" y="2244640"/>
            <a:ext cx="1282262" cy="316918"/>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6" name="Rectangle 68"/>
          <p:cNvSpPr>
            <a:spLocks noChangeArrowheads="1"/>
          </p:cNvSpPr>
          <p:nvPr/>
        </p:nvSpPr>
        <p:spPr bwMode="auto">
          <a:xfrm>
            <a:off x="525511" y="3352769"/>
            <a:ext cx="3289738" cy="759182"/>
          </a:xfrm>
          <a:prstGeom prst="rect">
            <a:avLst/>
          </a:prstGeom>
          <a:solidFill>
            <a:srgbClr val="FF66FF"/>
          </a:solidFill>
          <a:ln w="9525" algn="ctr">
            <a:solidFill>
              <a:srgbClr val="000000"/>
            </a:solidFill>
            <a:miter lim="1000000"/>
          </a:ln>
          <a:effectLst/>
        </p:spPr>
        <p:txBody>
          <a:bodyPr wrap="square">
            <a:spAutoFit/>
          </a:bodyPr>
          <a:lstStyle/>
          <a:p>
            <a:pPr marL="285750" indent="-285750" eaLnBrk="0" hangingPunct="0">
              <a:lnSpc>
                <a:spcPts val="26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纯文本信息 （</a:t>
            </a:r>
            <a:r>
              <a:rPr lang="en-US" altLang="zh-CN" sz="1600" b="1" dirty="0" smtClean="0">
                <a:latin typeface="微软雅黑" panose="020B0503020204020204" pitchFamily="34" charset="-122"/>
                <a:ea typeface="微软雅黑" panose="020B0503020204020204" pitchFamily="34" charset="-122"/>
              </a:rPr>
              <a:t>ASCII</a:t>
            </a:r>
            <a:r>
              <a:rPr lang="zh-CN" altLang="en-US" sz="1600" b="1" dirty="0" smtClean="0">
                <a:latin typeface="微软雅黑" panose="020B0503020204020204" pitchFamily="34" charset="-122"/>
                <a:ea typeface="微软雅黑" panose="020B0503020204020204" pitchFamily="34" charset="-122"/>
              </a:rPr>
              <a:t>编码）。</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无特定结构和含义。</a:t>
            </a:r>
            <a:endParaRPr lang="en-US" altLang="zh-CN" sz="1600" b="1" dirty="0">
              <a:latin typeface="微软雅黑" panose="020B0503020204020204" pitchFamily="34" charset="-122"/>
              <a:ea typeface="微软雅黑" panose="020B0503020204020204" pitchFamily="34" charset="-122"/>
            </a:endParaRPr>
          </a:p>
        </p:txBody>
      </p:sp>
      <p:cxnSp>
        <p:nvCxnSpPr>
          <p:cNvPr id="27" name="直接箭头连接符 26"/>
          <p:cNvCxnSpPr/>
          <p:nvPr/>
        </p:nvCxnSpPr>
        <p:spPr>
          <a:xfrm flipV="1">
            <a:off x="3447391" y="3518150"/>
            <a:ext cx="1282262" cy="276883"/>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5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954139" y="559276"/>
            <a:ext cx="52357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6.5.4  </a:t>
            </a:r>
            <a:r>
              <a:rPr lang="zh-CN" altLang="en-US" sz="2400" b="1" dirty="0">
                <a:solidFill>
                  <a:schemeClr val="bg1"/>
                </a:solidFill>
                <a:latin typeface="微软雅黑" panose="020B0503020204020204" pitchFamily="34" charset="-122"/>
                <a:ea typeface="微软雅黑" panose="020B0503020204020204" pitchFamily="34" charset="-122"/>
              </a:rPr>
              <a:t>邮件读取</a:t>
            </a:r>
            <a:r>
              <a:rPr lang="zh-CN" altLang="en-US" sz="2400" b="1" dirty="0" smtClean="0">
                <a:solidFill>
                  <a:schemeClr val="bg1"/>
                </a:solidFill>
                <a:latin typeface="微软雅黑" panose="020B0503020204020204" pitchFamily="34" charset="-122"/>
                <a:ea typeface="微软雅黑" panose="020B0503020204020204" pitchFamily="34" charset="-122"/>
              </a:rPr>
              <a:t>协议 </a:t>
            </a:r>
            <a:r>
              <a:rPr lang="en-US" altLang="zh-CN" sz="2400" b="1" dirty="0" smtClean="0">
                <a:solidFill>
                  <a:schemeClr val="bg1"/>
                </a:solidFill>
                <a:latin typeface="微软雅黑" panose="020B0503020204020204" pitchFamily="34" charset="-122"/>
                <a:ea typeface="微软雅黑" panose="020B0503020204020204" pitchFamily="34" charset="-122"/>
              </a:rPr>
              <a:t>POP3 </a:t>
            </a:r>
            <a:r>
              <a:rPr lang="zh-CN" altLang="en-US" sz="2400" b="1" dirty="0">
                <a:solidFill>
                  <a:schemeClr val="bg1"/>
                </a:solidFill>
                <a:latin typeface="微软雅黑" panose="020B0503020204020204" pitchFamily="34" charset="-122"/>
                <a:ea typeface="微软雅黑" panose="020B0503020204020204" pitchFamily="34" charset="-122"/>
              </a:rPr>
              <a:t>和 </a:t>
            </a:r>
            <a:r>
              <a:rPr lang="en-US" altLang="zh-CN" sz="2400" b="1" dirty="0">
                <a:solidFill>
                  <a:schemeClr val="bg1"/>
                </a:solidFill>
                <a:latin typeface="微软雅黑" panose="020B0503020204020204" pitchFamily="34" charset="-122"/>
                <a:ea typeface="微软雅黑" panose="020B0503020204020204" pitchFamily="34" charset="-122"/>
              </a:rPr>
              <a:t>IMAP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7303"/>
            <a:ext cx="823193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两</a:t>
            </a:r>
            <a:r>
              <a:rPr lang="zh-CN" altLang="en-US" sz="2000" b="1" dirty="0">
                <a:latin typeface="微软雅黑" panose="020B0503020204020204" pitchFamily="34" charset="-122"/>
                <a:ea typeface="微软雅黑" panose="020B0503020204020204" pitchFamily="34" charset="-122"/>
              </a:rPr>
              <a:t>个</a:t>
            </a:r>
            <a:r>
              <a:rPr lang="zh-CN" altLang="en-US" sz="2000" b="1" dirty="0" smtClean="0">
                <a:latin typeface="微软雅黑" panose="020B0503020204020204" pitchFamily="34" charset="-122"/>
                <a:ea typeface="微软雅黑" panose="020B0503020204020204" pitchFamily="34" charset="-122"/>
              </a:rPr>
              <a:t>常用</a:t>
            </a:r>
            <a:r>
              <a:rPr lang="zh-CN" altLang="en-US" sz="2000" b="1" dirty="0">
                <a:latin typeface="微软雅黑" panose="020B0503020204020204" pitchFamily="34" charset="-122"/>
                <a:ea typeface="微软雅黑" panose="020B0503020204020204" pitchFamily="34" charset="-122"/>
              </a:rPr>
              <a:t>的邮件读取</a:t>
            </a:r>
            <a:r>
              <a:rPr lang="zh-CN" altLang="en-US" sz="2000" b="1" dirty="0" smtClean="0">
                <a:latin typeface="微软雅黑" panose="020B0503020204020204" pitchFamily="34" charset="-122"/>
                <a:ea typeface="微软雅黑" panose="020B0503020204020204" pitchFamily="34" charset="-122"/>
              </a:rPr>
              <a:t>协议：</a:t>
            </a:r>
            <a:endParaRPr lang="en-US" altLang="zh-CN" sz="2000" b="1" dirty="0" smtClean="0">
              <a:latin typeface="微软雅黑" panose="020B0503020204020204" pitchFamily="34" charset="-122"/>
              <a:ea typeface="微软雅黑" panose="020B0503020204020204" pitchFamily="34" charset="-122"/>
            </a:endParaRPr>
          </a:p>
          <a:p>
            <a:pPr marL="357505" indent="-357505" eaLnBrk="0" hangingPunct="0">
              <a:lnSpc>
                <a:spcPts val="3300"/>
              </a:lnSpc>
              <a:buClr>
                <a:srgbClr val="9900CC"/>
              </a:buClr>
              <a:buFont typeface="+mj-lt"/>
              <a:buAutoNum type="arabicPeriod"/>
            </a:pPr>
            <a:r>
              <a:rPr lang="en-US" altLang="zh-CN" sz="2000" b="1" dirty="0" smtClean="0">
                <a:solidFill>
                  <a:srgbClr val="C00000"/>
                </a:solidFill>
                <a:latin typeface="微软雅黑" panose="020B0503020204020204" pitchFamily="34" charset="-122"/>
                <a:ea typeface="微软雅黑" panose="020B0503020204020204" pitchFamily="34" charset="-122"/>
              </a:rPr>
              <a:t>POP3</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邮局</a:t>
            </a:r>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(Post Office Protocol) </a:t>
            </a:r>
            <a:r>
              <a:rPr lang="zh-CN" altLang="en-US" sz="2000" b="1" dirty="0" smtClean="0">
                <a:latin typeface="微软雅黑" panose="020B0503020204020204" pitchFamily="34" charset="-122"/>
                <a:ea typeface="微软雅黑" panose="020B0503020204020204" pitchFamily="34" charset="-122"/>
              </a:rPr>
              <a:t>第</a:t>
            </a:r>
            <a:r>
              <a:rPr lang="en-US" altLang="zh-CN" sz="2000" b="1" dirty="0">
                <a:latin typeface="微软雅黑" panose="020B0503020204020204" pitchFamily="34" charset="-122"/>
                <a:ea typeface="微软雅黑" panose="020B0503020204020204" pitchFamily="34" charset="-122"/>
              </a:rPr>
              <a:t>3</a:t>
            </a:r>
            <a:r>
              <a:rPr lang="zh-CN" altLang="en-US" sz="2000" b="1" dirty="0">
                <a:latin typeface="微软雅黑" panose="020B0503020204020204" pitchFamily="34" charset="-122"/>
                <a:ea typeface="微软雅黑" panose="020B0503020204020204" pitchFamily="34" charset="-122"/>
              </a:rPr>
              <a:t>个版本 </a:t>
            </a:r>
            <a:endParaRPr lang="en-US" altLang="zh-CN" sz="2000" b="1" dirty="0" smtClean="0">
              <a:latin typeface="微软雅黑" panose="020B0503020204020204" pitchFamily="34" charset="-122"/>
              <a:ea typeface="微软雅黑" panose="020B0503020204020204" pitchFamily="34" charset="-122"/>
            </a:endParaRPr>
          </a:p>
          <a:p>
            <a:pPr marL="357505" indent="-357505" eaLnBrk="0" hangingPunct="0">
              <a:lnSpc>
                <a:spcPts val="3300"/>
              </a:lnSpc>
              <a:buClr>
                <a:srgbClr val="9900CC"/>
              </a:buClr>
              <a:buFont typeface="+mj-lt"/>
              <a:buAutoNum type="arabicPeriod"/>
            </a:pPr>
            <a:r>
              <a:rPr lang="en-US" altLang="zh-CN" sz="2000" b="1" dirty="0" smtClean="0">
                <a:solidFill>
                  <a:srgbClr val="C00000"/>
                </a:solidFill>
                <a:latin typeface="微软雅黑" panose="020B0503020204020204" pitchFamily="34" charset="-122"/>
                <a:ea typeface="微软雅黑" panose="020B0503020204020204" pitchFamily="34" charset="-122"/>
              </a:rPr>
              <a:t>IMAP</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网</a:t>
            </a:r>
            <a:r>
              <a:rPr lang="zh-CN" altLang="en-US" sz="2000" b="1" dirty="0">
                <a:latin typeface="微软雅黑" panose="020B0503020204020204" pitchFamily="34" charset="-122"/>
                <a:ea typeface="微软雅黑" panose="020B0503020204020204" pitchFamily="34" charset="-122"/>
              </a:rPr>
              <a:t>际报文存取</a:t>
            </a:r>
            <a:r>
              <a:rPr lang="zh-CN" altLang="en-US" sz="2000" b="1" dirty="0" smtClean="0">
                <a:latin typeface="微软雅黑" panose="020B0503020204020204" pitchFamily="34" charset="-122"/>
                <a:ea typeface="微软雅黑" panose="020B0503020204020204" pitchFamily="34" charset="-122"/>
              </a:rPr>
              <a:t>协议</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(Internet Message Access Protocol)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圆角矩形 36"/>
          <p:cNvSpPr/>
          <p:nvPr/>
        </p:nvSpPr>
        <p:spPr>
          <a:xfrm>
            <a:off x="1371509" y="1288278"/>
            <a:ext cx="6194639" cy="2126256"/>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58273"/>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 name="Rectangle 387"/>
          <p:cNvSpPr>
            <a:spLocks noChangeArrowheads="1"/>
          </p:cNvSpPr>
          <p:nvPr/>
        </p:nvSpPr>
        <p:spPr bwMode="auto">
          <a:xfrm>
            <a:off x="1544934" y="1858273"/>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 name="Line 388"/>
          <p:cNvSpPr>
            <a:spLocks noChangeShapeType="1"/>
          </p:cNvSpPr>
          <p:nvPr/>
        </p:nvSpPr>
        <p:spPr bwMode="auto">
          <a:xfrm>
            <a:off x="2021489" y="2201045"/>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 name="Oval 397"/>
          <p:cNvSpPr>
            <a:spLocks noChangeArrowheads="1"/>
          </p:cNvSpPr>
          <p:nvPr/>
        </p:nvSpPr>
        <p:spPr bwMode="auto">
          <a:xfrm>
            <a:off x="1601220" y="1922159"/>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922159"/>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535218"/>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98259"/>
          <a:ext cx="546759" cy="666388"/>
        </p:xfrm>
        <a:graphic>
          <a:graphicData uri="http://schemas.openxmlformats.org/presentationml/2006/ole">
            <mc:AlternateContent xmlns:mc="http://schemas.openxmlformats.org/markup-compatibility/2006">
              <mc:Choice xmlns:v="urn:schemas-microsoft-com:vml" Requires="v">
                <p:oleObj spid="_x0000_s24577" name="Visio" r:id="rId1" imgW="3463925" imgH="4220845" progId="">
                  <p:embed/>
                </p:oleObj>
              </mc:Choice>
              <mc:Fallback>
                <p:oleObj name="Visio" r:id="rId1" imgW="3463925" imgH="4220845" progId="">
                  <p:embed/>
                  <p:pic>
                    <p:nvPicPr>
                      <p:cNvPr id="0" name="图片 24576"/>
                      <p:cNvPicPr>
                        <a:picLocks noChangeAspect="1"/>
                      </p:cNvPicPr>
                      <p:nvPr/>
                    </p:nvPicPr>
                    <p:blipFill>
                      <a:blip r:embed="rId2"/>
                      <a:srcRect l="5348" t="4167" r="4546" b="11185"/>
                      <a:stretch>
                        <a:fillRect/>
                      </a:stretch>
                    </p:blipFill>
                    <p:spPr>
                      <a:xfrm>
                        <a:off x="762658" y="1898259"/>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723401" y="1866874"/>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779688" y="1922159"/>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5362526" y="1866874"/>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5418813" y="2535218"/>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5418813" y="1922159"/>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2239475" y="1514102"/>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5" name="Text Box 396"/>
          <p:cNvSpPr txBox="1">
            <a:spLocks noChangeArrowheads="1"/>
          </p:cNvSpPr>
          <p:nvPr/>
        </p:nvSpPr>
        <p:spPr bwMode="auto">
          <a:xfrm>
            <a:off x="2805314"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6" name="Text Box 399"/>
          <p:cNvSpPr txBox="1">
            <a:spLocks noChangeArrowheads="1"/>
          </p:cNvSpPr>
          <p:nvPr/>
        </p:nvSpPr>
        <p:spPr bwMode="auto">
          <a:xfrm>
            <a:off x="1509292"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3" name="组合 22"/>
          <p:cNvGrpSpPr/>
          <p:nvPr/>
        </p:nvGrpSpPr>
        <p:grpSpPr>
          <a:xfrm>
            <a:off x="6055753" y="1532702"/>
            <a:ext cx="572593" cy="1149867"/>
            <a:chOff x="6055753" y="1489328"/>
            <a:chExt cx="572593" cy="1149867"/>
          </a:xfrm>
        </p:grpSpPr>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8" name="Text Box 400"/>
          <p:cNvSpPr txBox="1">
            <a:spLocks noChangeArrowheads="1"/>
          </p:cNvSpPr>
          <p:nvPr/>
        </p:nvSpPr>
        <p:spPr bwMode="auto">
          <a:xfrm>
            <a:off x="5248753"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695563"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5985427" y="2201045"/>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1" name="对象 30"/>
          <p:cNvGraphicFramePr>
            <a:graphicFrameLocks noChangeAspect="1"/>
          </p:cNvGraphicFramePr>
          <p:nvPr/>
        </p:nvGraphicFramePr>
        <p:xfrm>
          <a:off x="7632442" y="1898259"/>
          <a:ext cx="551626" cy="666388"/>
        </p:xfrm>
        <a:graphic>
          <a:graphicData uri="http://schemas.openxmlformats.org/presentationml/2006/ole">
            <mc:AlternateContent xmlns:mc="http://schemas.openxmlformats.org/markup-compatibility/2006">
              <mc:Choice xmlns:v="urn:schemas-microsoft-com:vml" Requires="v">
                <p:oleObj spid="_x0000_s24578" name="Visio" r:id="rId3" imgW="3463925" imgH="4220845" progId="">
                  <p:embed/>
                </p:oleObj>
              </mc:Choice>
              <mc:Fallback>
                <p:oleObj name="Visio" r:id="rId3" imgW="3463925" imgH="4220845" progId="">
                  <p:embed/>
                  <p:pic>
                    <p:nvPicPr>
                      <p:cNvPr id="0" name="图片 24577"/>
                      <p:cNvPicPr>
                        <a:picLocks noChangeAspect="1"/>
                      </p:cNvPicPr>
                      <p:nvPr/>
                    </p:nvPicPr>
                    <p:blipFill>
                      <a:blip r:embed="rId4"/>
                      <a:srcRect l="4546" t="3947" r="4546" b="11403"/>
                      <a:stretch>
                        <a:fillRect/>
                      </a:stretch>
                    </p:blipFill>
                    <p:spPr>
                      <a:xfrm>
                        <a:off x="7632442" y="1898259"/>
                        <a:ext cx="551626" cy="666388"/>
                      </a:xfrm>
                      <a:prstGeom prst="rect">
                        <a:avLst/>
                      </a:prstGeom>
                      <a:noFill/>
                      <a:ln w="9525">
                        <a:noFill/>
                      </a:ln>
                    </p:spPr>
                  </p:pic>
                </p:oleObj>
              </mc:Fallback>
            </mc:AlternateContent>
          </a:graphicData>
        </a:graphic>
      </p:graphicFrame>
      <p:sp>
        <p:nvSpPr>
          <p:cNvPr id="32" name="Text Box 399"/>
          <p:cNvSpPr txBox="1">
            <a:spLocks noChangeArrowheads="1"/>
          </p:cNvSpPr>
          <p:nvPr/>
        </p:nvSpPr>
        <p:spPr bwMode="auto">
          <a:xfrm>
            <a:off x="7702778"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3" name="组合 32"/>
          <p:cNvGrpSpPr/>
          <p:nvPr/>
        </p:nvGrpSpPr>
        <p:grpSpPr>
          <a:xfrm>
            <a:off x="3515714" y="2533989"/>
            <a:ext cx="1928643" cy="728201"/>
            <a:chOff x="3473673" y="2734550"/>
            <a:chExt cx="3063219" cy="728201"/>
          </a:xfrm>
        </p:grpSpPr>
        <p:sp>
          <p:nvSpPr>
            <p:cNvPr id="34"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5"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36"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38" name="矩形 37"/>
          <p:cNvSpPr/>
          <p:nvPr/>
        </p:nvSpPr>
        <p:spPr>
          <a:xfrm>
            <a:off x="1470662" y="3585215"/>
            <a:ext cx="6331270" cy="656590"/>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1600" b="1" dirty="0" smtClean="0">
                <a:latin typeface="微软雅黑" panose="020B0503020204020204" pitchFamily="34" charset="-122"/>
                <a:ea typeface="微软雅黑" panose="020B0503020204020204" pitchFamily="34" charset="-122"/>
              </a:rPr>
              <a:t>方式。</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POP3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实现客户与服务器的通信。</a:t>
            </a:r>
            <a:endParaRPr lang="en-US" altLang="zh-CN" sz="1600" b="1" dirty="0" smtClean="0">
              <a:latin typeface="微软雅黑" panose="020B0503020204020204" pitchFamily="34" charset="-122"/>
              <a:ea typeface="微软雅黑" panose="020B0503020204020204" pitchFamily="34" charset="-122"/>
            </a:endParaRPr>
          </a:p>
        </p:txBody>
      </p:sp>
      <p:sp>
        <p:nvSpPr>
          <p:cNvPr id="41"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700732"/>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147709" y="1756017"/>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2377527" y="1700732"/>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2433814" y="2369076"/>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2433814" y="1756017"/>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7" name="Text Box 393"/>
          <p:cNvSpPr txBox="1">
            <a:spLocks noChangeArrowheads="1"/>
          </p:cNvSpPr>
          <p:nvPr/>
        </p:nvSpPr>
        <p:spPr bwMode="auto">
          <a:xfrm>
            <a:off x="3455860" y="1416541"/>
            <a:ext cx="2339102"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lnSpc>
                <a:spcPts val="1500"/>
              </a:lnSpc>
            </a:pPr>
            <a:r>
              <a:rPr kumimoji="1" lang="zh-CN" altLang="en-US" sz="1400" b="1" dirty="0">
                <a:solidFill>
                  <a:srgbClr val="0000FF"/>
                </a:solidFill>
                <a:latin typeface="微软雅黑" panose="020B0503020204020204" pitchFamily="34" charset="-122"/>
                <a:ea typeface="微软雅黑" panose="020B0503020204020204" pitchFamily="34" charset="-122"/>
              </a:rPr>
              <a:t>你是谁？（用户名和口令）</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4419449" y="1793305"/>
            <a:ext cx="679994"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400" b="1" dirty="0">
                <a:solidFill>
                  <a:srgbClr val="C00000"/>
                </a:solidFill>
                <a:latin typeface="微软雅黑" panose="020B0503020204020204" pitchFamily="34" charset="-122"/>
                <a:ea typeface="微软雅黑" panose="020B0503020204020204" pitchFamily="34" charset="-122"/>
              </a:rPr>
              <a:t>POP3</a:t>
            </a:r>
            <a:endParaRPr kumimoji="1"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2263754" y="1220359"/>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063584" y="1220359"/>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3000429" y="2034903"/>
            <a:ext cx="314728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263754" y="3212226"/>
            <a:ext cx="5221263" cy="656590"/>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支持</a:t>
            </a:r>
            <a:r>
              <a:rPr lang="zh-CN" altLang="en-US" sz="1600" b="1" dirty="0">
                <a:latin typeface="微软雅黑" panose="020B0503020204020204" pitchFamily="34" charset="-122"/>
                <a:ea typeface="微软雅黑" panose="020B0503020204020204" pitchFamily="34" charset="-122"/>
              </a:rPr>
              <a:t>用户</a:t>
            </a:r>
            <a:r>
              <a:rPr lang="zh-CN" altLang="en-US" sz="1600" b="1" dirty="0">
                <a:solidFill>
                  <a:srgbClr val="C00000"/>
                </a:solidFill>
                <a:latin typeface="微软雅黑" panose="020B0503020204020204" pitchFamily="34" charset="-122"/>
                <a:ea typeface="微软雅黑" panose="020B0503020204020204" pitchFamily="34" charset="-122"/>
              </a:rPr>
              <a:t>鉴别</a:t>
            </a:r>
            <a:r>
              <a:rPr lang="zh-CN" altLang="en-US" sz="1600" b="1" dirty="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服务器</a:t>
            </a:r>
            <a:r>
              <a:rPr lang="zh-CN" altLang="en-US" sz="1600" b="1" dirty="0" smtClean="0">
                <a:solidFill>
                  <a:srgbClr val="C00000"/>
                </a:solidFill>
                <a:latin typeface="微软雅黑" panose="020B0503020204020204" pitchFamily="34" charset="-122"/>
                <a:ea typeface="微软雅黑" panose="020B0503020204020204" pitchFamily="34" charset="-122"/>
              </a:rPr>
              <a:t>删除</a:t>
            </a:r>
            <a:r>
              <a:rPr lang="zh-CN" altLang="en-US" sz="1600" b="1" dirty="0" smtClean="0">
                <a:latin typeface="微软雅黑" panose="020B0503020204020204" pitchFamily="34" charset="-122"/>
                <a:ea typeface="微软雅黑" panose="020B0503020204020204" pitchFamily="34" charset="-122"/>
              </a:rPr>
              <a:t>被用户读取了的邮件。</a:t>
            </a:r>
            <a:endParaRPr lang="en-US" altLang="zh-CN" sz="1600" b="1" dirty="0" smtClean="0">
              <a:latin typeface="微软雅黑" panose="020B0503020204020204" pitchFamily="34" charset="-122"/>
              <a:ea typeface="微软雅黑" panose="020B0503020204020204"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3" name="对象 2"/>
          <p:cNvGraphicFramePr>
            <a:graphicFrameLocks noChangeAspect="1"/>
          </p:cNvGraphicFramePr>
          <p:nvPr/>
        </p:nvGraphicFramePr>
        <p:xfrm>
          <a:off x="4006897" y="1721272"/>
          <a:ext cx="325507" cy="529316"/>
        </p:xfrm>
        <a:graphic>
          <a:graphicData uri="http://schemas.openxmlformats.org/presentationml/2006/ole">
            <mc:AlternateContent xmlns:mc="http://schemas.openxmlformats.org/markup-compatibility/2006">
              <mc:Choice xmlns:v="urn:schemas-microsoft-com:vml" Requires="v">
                <p:oleObj spid="_x0000_s25601" name="Visio" r:id="rId1" imgW="784860" imgH="1524000" progId="">
                  <p:embed/>
                </p:oleObj>
              </mc:Choice>
              <mc:Fallback>
                <p:oleObj name="Visio" r:id="rId1" imgW="784860" imgH="1524000" progId="">
                  <p:embed/>
                  <p:pic>
                    <p:nvPicPr>
                      <p:cNvPr id="0" name="图片 25600"/>
                      <p:cNvPicPr>
                        <a:picLocks noChangeAspect="1"/>
                      </p:cNvPicPr>
                      <p:nvPr/>
                    </p:nvPicPr>
                    <p:blipFill>
                      <a:blip r:embed="rId2"/>
                      <a:stretch>
                        <a:fillRect/>
                      </a:stretch>
                    </p:blipFill>
                    <p:spPr>
                      <a:xfrm>
                        <a:off x="4006897" y="1721272"/>
                        <a:ext cx="325507" cy="529316"/>
                      </a:xfrm>
                      <a:prstGeom prst="rect">
                        <a:avLst/>
                      </a:prstGeom>
                      <a:noFill/>
                      <a:ln w="9525">
                        <a:noFill/>
                      </a:ln>
                    </p:spPr>
                  </p:pic>
                </p:oleObj>
              </mc:Fallback>
            </mc:AlternateContent>
          </a:graphicData>
        </a:graphic>
      </p:graphicFrame>
      <p:sp>
        <p:nvSpPr>
          <p:cNvPr id="18" name="Text Box 395"/>
          <p:cNvSpPr txBox="1">
            <a:spLocks noChangeArrowheads="1"/>
          </p:cNvSpPr>
          <p:nvPr/>
        </p:nvSpPr>
        <p:spPr bwMode="auto">
          <a:xfrm>
            <a:off x="4303388" y="2016512"/>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 </a:t>
            </a: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618677"/>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147709" y="1673962"/>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IMAP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2377527" y="1618677"/>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2433814" y="2287021"/>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2433814" y="1673962"/>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IMAP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4276941" y="1689324"/>
            <a:ext cx="683200"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400" b="1" dirty="0" smtClean="0">
                <a:solidFill>
                  <a:srgbClr val="C00000"/>
                </a:solidFill>
                <a:latin typeface="微软雅黑" panose="020B0503020204020204" pitchFamily="34" charset="-122"/>
                <a:ea typeface="微软雅黑" panose="020B0503020204020204" pitchFamily="34" charset="-122"/>
              </a:rPr>
              <a:t>IMAP</a:t>
            </a:r>
            <a:endParaRPr kumimoji="1"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2263754" y="1138304"/>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063584" y="1138304"/>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3000429" y="1952848"/>
            <a:ext cx="314728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263754" y="3105232"/>
            <a:ext cx="5221263" cy="1015663"/>
          </a:xfrm>
          <a:prstGeom prst="rect">
            <a:avLst/>
          </a:prstGeom>
        </p:spPr>
        <p:txBody>
          <a:bodyPr wrap="square" anchor="ctr">
            <a:spAutoFit/>
          </a:bodyPr>
          <a:lstStyle/>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a:t>
            </a:r>
            <a:r>
              <a:rPr lang="zh-CN" altLang="en-US" sz="1600" b="1" dirty="0" smtClean="0">
                <a:latin typeface="微软雅黑" panose="020B0503020204020204" pitchFamily="34" charset="-122"/>
                <a:ea typeface="微软雅黑" panose="020B0503020204020204" pitchFamily="34" charset="-122"/>
              </a:rPr>
              <a:t>器</a:t>
            </a:r>
            <a:r>
              <a:rPr lang="zh-CN" altLang="en-US" sz="1600" b="1" dirty="0">
                <a:latin typeface="微软雅黑" panose="020B0503020204020204" pitchFamily="34" charset="-122"/>
                <a:ea typeface="微软雅黑" panose="020B0503020204020204" pitchFamily="34" charset="-122"/>
              </a:rPr>
              <a:t>方式</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a:t>
            </a:r>
            <a:r>
              <a:rPr lang="zh-CN" altLang="en-US" sz="1600" b="1" dirty="0">
                <a:latin typeface="微软雅黑" panose="020B0503020204020204" pitchFamily="34" charset="-122"/>
                <a:ea typeface="微软雅黑" panose="020B0503020204020204" pitchFamily="34" charset="-122"/>
              </a:rPr>
              <a:t>客户与服务器的通信</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latin typeface="微软雅黑" panose="020B0503020204020204" pitchFamily="34" charset="-122"/>
                <a:ea typeface="微软雅黑" panose="020B0503020204020204" pitchFamily="34" charset="-122"/>
              </a:rPr>
              <a:t>是</a:t>
            </a:r>
            <a:r>
              <a:rPr lang="zh-CN" altLang="en-US" sz="1600" b="1" dirty="0">
                <a:latin typeface="微软雅黑" panose="020B0503020204020204" pitchFamily="34" charset="-122"/>
                <a:ea typeface="微软雅黑" panose="020B0503020204020204" pitchFamily="34" charset="-122"/>
              </a:rPr>
              <a:t>一个</a:t>
            </a:r>
            <a:r>
              <a:rPr lang="zh-CN" altLang="en-US" sz="1600" b="1" dirty="0">
                <a:solidFill>
                  <a:srgbClr val="C00000"/>
                </a:solidFill>
                <a:latin typeface="微软雅黑" panose="020B0503020204020204" pitchFamily="34" charset="-122"/>
                <a:ea typeface="微软雅黑" panose="020B0503020204020204" pitchFamily="34" charset="-122"/>
              </a:rPr>
              <a:t>联机</a:t>
            </a:r>
            <a:r>
              <a:rPr lang="zh-CN" altLang="en-US" sz="1600" b="1" dirty="0" smtClean="0">
                <a:latin typeface="微软雅黑" panose="020B0503020204020204" pitchFamily="34" charset="-122"/>
                <a:ea typeface="微软雅黑" panose="020B0503020204020204" pitchFamily="34" charset="-122"/>
              </a:rPr>
              <a:t>协议。</a:t>
            </a:r>
            <a:endParaRPr lang="en-US" altLang="zh-CN" sz="1600" b="1" dirty="0" smtClean="0">
              <a:latin typeface="微软雅黑" panose="020B0503020204020204" pitchFamily="34" charset="-122"/>
              <a:ea typeface="微软雅黑" panose="020B0503020204020204"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5141" y="567770"/>
            <a:ext cx="14863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17" name="Text Box 395"/>
          <p:cNvSpPr txBox="1">
            <a:spLocks noChangeArrowheads="1"/>
          </p:cNvSpPr>
          <p:nvPr/>
        </p:nvSpPr>
        <p:spPr bwMode="auto">
          <a:xfrm>
            <a:off x="4170222" y="1936610"/>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 </a:t>
            </a: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09962" y="573636"/>
            <a:ext cx="17427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IMAP </a:t>
            </a:r>
            <a:r>
              <a:rPr lang="zh-CN" altLang="en-US" sz="2000" b="1" dirty="0">
                <a:solidFill>
                  <a:schemeClr val="bg1"/>
                </a:solidFill>
                <a:latin typeface="微软雅黑" panose="020B0503020204020204" pitchFamily="34" charset="-122"/>
                <a:ea typeface="微软雅黑" panose="020B0503020204020204" pitchFamily="34" charset="-122"/>
              </a:rPr>
              <a:t>的特点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7937"/>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后只下载</a:t>
            </a:r>
            <a:r>
              <a:rPr lang="zh-CN" altLang="en-US" sz="2000" b="1" dirty="0">
                <a:solidFill>
                  <a:srgbClr val="C00000"/>
                </a:solidFill>
                <a:latin typeface="微软雅黑" panose="020B0503020204020204" pitchFamily="34" charset="-122"/>
                <a:ea typeface="微软雅黑" panose="020B0503020204020204" pitchFamily="34" charset="-122"/>
              </a:rPr>
              <a:t>邮件首部</a:t>
            </a:r>
            <a:r>
              <a:rPr lang="zh-CN" altLang="en-US" sz="2000" b="1" dirty="0">
                <a:latin typeface="微软雅黑" panose="020B0503020204020204" pitchFamily="34" charset="-122"/>
                <a:ea typeface="微软雅黑" panose="020B0503020204020204" pitchFamily="34" charset="-122"/>
              </a:rPr>
              <a:t>（部分下载</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用户直接</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IMAP </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上</a:t>
            </a:r>
            <a:r>
              <a:rPr lang="zh-CN" altLang="en-US" sz="2000" b="1" dirty="0">
                <a:solidFill>
                  <a:srgbClr val="C00000"/>
                </a:solidFill>
                <a:latin typeface="微软雅黑" panose="020B0503020204020204" pitchFamily="34" charset="-122"/>
                <a:ea typeface="微软雅黑" panose="020B0503020204020204" pitchFamily="34" charset="-122"/>
              </a:rPr>
              <a:t>创建和管理</a:t>
            </a:r>
            <a:r>
              <a:rPr lang="zh-CN" altLang="en-US" sz="2000" b="1" dirty="0" smtClean="0">
                <a:latin typeface="微软雅黑" panose="020B0503020204020204" pitchFamily="34" charset="-122"/>
                <a:ea typeface="微软雅黑" panose="020B0503020204020204" pitchFamily="34" charset="-122"/>
              </a:rPr>
              <a:t>文件夹。</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用户可以</a:t>
            </a:r>
            <a:r>
              <a:rPr lang="zh-CN" altLang="en-US" sz="2000" b="1" dirty="0">
                <a:solidFill>
                  <a:srgbClr val="C00000"/>
                </a:solidFill>
                <a:latin typeface="微软雅黑" panose="020B0503020204020204" pitchFamily="34" charset="-122"/>
                <a:ea typeface="微软雅黑" panose="020B0503020204020204" pitchFamily="34" charset="-122"/>
              </a:rPr>
              <a:t>搜索</a:t>
            </a:r>
            <a:r>
              <a:rPr lang="zh-CN" altLang="en-US" sz="2000" b="1" dirty="0">
                <a:latin typeface="微软雅黑" panose="020B0503020204020204" pitchFamily="34" charset="-122"/>
                <a:ea typeface="微软雅黑" panose="020B0503020204020204" pitchFamily="34" charset="-122"/>
              </a:rPr>
              <a:t>邮件内容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用户可以在</a:t>
            </a:r>
            <a:r>
              <a:rPr lang="zh-CN" altLang="en-US" sz="2000" b="1" dirty="0" smtClean="0">
                <a:latin typeface="微软雅黑" panose="020B0503020204020204" pitchFamily="34" charset="-122"/>
                <a:ea typeface="微软雅黑" panose="020B0503020204020204" pitchFamily="34" charset="-122"/>
              </a:rPr>
              <a:t>不同</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地方</a:t>
            </a: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latin typeface="微软雅黑" panose="020B0503020204020204" pitchFamily="34" charset="-122"/>
                <a:ea typeface="微软雅黑" panose="020B0503020204020204" pitchFamily="34" charset="-122"/>
              </a:rPr>
              <a:t>不同的计算机</a:t>
            </a:r>
            <a:r>
              <a:rPr lang="zh-CN" altLang="en-US" sz="2000" b="1" dirty="0">
                <a:latin typeface="微软雅黑" panose="020B0503020204020204" pitchFamily="34" charset="-122"/>
                <a:ea typeface="微软雅黑" panose="020B0503020204020204" pitchFamily="34" charset="-122"/>
              </a:rPr>
              <a:t>随时上网阅读和处理自己的</a:t>
            </a:r>
            <a:r>
              <a:rPr lang="zh-CN" altLang="en-US" sz="2000" b="1" dirty="0" smtClean="0">
                <a:latin typeface="微软雅黑" panose="020B0503020204020204" pitchFamily="34" charset="-122"/>
                <a:ea typeface="微软雅黑" panose="020B0503020204020204" pitchFamily="34" charset="-122"/>
              </a:rPr>
              <a:t>邮件。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允许收信人</a:t>
            </a:r>
            <a:r>
              <a:rPr lang="zh-CN" altLang="en-US" sz="2000" b="1" dirty="0">
                <a:solidFill>
                  <a:srgbClr val="C00000"/>
                </a:solidFill>
                <a:latin typeface="微软雅黑" panose="020B0503020204020204" pitchFamily="34" charset="-122"/>
                <a:ea typeface="微软雅黑" panose="020B0503020204020204" pitchFamily="34" charset="-122"/>
              </a:rPr>
              <a:t>只读取</a:t>
            </a:r>
            <a:r>
              <a:rPr lang="zh-CN" altLang="en-US" sz="2000" b="1" dirty="0">
                <a:latin typeface="微软雅黑" panose="020B0503020204020204" pitchFamily="34" charset="-122"/>
                <a:ea typeface="微软雅黑" panose="020B0503020204020204" pitchFamily="34" charset="-122"/>
              </a:rPr>
              <a:t>邮件中的某一个</a:t>
            </a:r>
            <a:r>
              <a:rPr lang="zh-CN" altLang="en-US" sz="2000" b="1" dirty="0" smtClean="0">
                <a:latin typeface="微软雅黑" panose="020B0503020204020204" pitchFamily="34" charset="-122"/>
                <a:ea typeface="微软雅黑" panose="020B0503020204020204" pitchFamily="34" charset="-122"/>
              </a:rPr>
              <a:t>部分。</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CC"/>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：要想</a:t>
            </a:r>
            <a:r>
              <a:rPr lang="zh-CN" altLang="en-US" sz="2000" b="1" dirty="0" smtClean="0">
                <a:latin typeface="微软雅黑" panose="020B0503020204020204" pitchFamily="34" charset="-122"/>
                <a:ea typeface="微软雅黑" panose="020B0503020204020204" pitchFamily="34" charset="-122"/>
              </a:rPr>
              <a:t>查阅邮件</a:t>
            </a:r>
            <a:r>
              <a:rPr lang="zh-CN" altLang="en-US" sz="2000" b="1" dirty="0">
                <a:latin typeface="微软雅黑" panose="020B0503020204020204" pitchFamily="34" charset="-122"/>
                <a:ea typeface="微软雅黑" panose="020B0503020204020204" pitchFamily="34" charset="-122"/>
              </a:rPr>
              <a:t>，必须</a:t>
            </a:r>
            <a:r>
              <a:rPr lang="zh-CN" altLang="en-US" sz="2000" b="1" dirty="0" smtClean="0">
                <a:latin typeface="微软雅黑" panose="020B0503020204020204" pitchFamily="34" charset="-122"/>
                <a:ea typeface="微软雅黑" panose="020B0503020204020204" pitchFamily="34" charset="-122"/>
              </a:rPr>
              <a:t>先联网。</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4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0189"/>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smtClean="0">
                <a:solidFill>
                  <a:schemeClr val="bg1"/>
                </a:solidFill>
                <a:latin typeface="微软雅黑" panose="020B0503020204020204" pitchFamily="34" charset="-122"/>
                <a:ea typeface="微软雅黑" panose="020B0503020204020204" pitchFamily="34" charset="-122"/>
              </a:rPr>
              <a:t>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7" name="表格 6"/>
          <p:cNvGraphicFramePr>
            <a:graphicFrameLocks noGrp="1"/>
          </p:cNvGraphicFramePr>
          <p:nvPr/>
        </p:nvGraphicFramePr>
        <p:xfrm>
          <a:off x="556963" y="1069695"/>
          <a:ext cx="8048775" cy="2548154"/>
        </p:xfrm>
        <a:graphic>
          <a:graphicData uri="http://schemas.openxmlformats.org/drawingml/2006/table">
            <a:tbl>
              <a:tblPr firstRow="1" bandRow="1">
                <a:tableStyleId>{5C22544A-7EE6-4342-B048-85BDC9FD1C3A}</a:tableStyleId>
              </a:tblPr>
              <a:tblGrid>
                <a:gridCol w="1354838"/>
                <a:gridCol w="3025325"/>
                <a:gridCol w="2279548"/>
                <a:gridCol w="1389064"/>
              </a:tblGrid>
              <a:tr h="364022">
                <a:tc>
                  <a:txBody>
                    <a:bodyPr/>
                    <a:lstStyle/>
                    <a:p>
                      <a:pPr algn="ctr"/>
                      <a:r>
                        <a:rPr lang="zh-CN" altLang="en-US" sz="1600" b="1" dirty="0" smtClean="0">
                          <a:latin typeface="微软雅黑" panose="020B0503020204020204" pitchFamily="34" charset="-122"/>
                          <a:ea typeface="微软雅黑" panose="020B0503020204020204" pitchFamily="34" charset="-122"/>
                        </a:rPr>
                        <a:t>操作位置</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1600" b="1" dirty="0" smtClean="0">
                          <a:latin typeface="微软雅黑" panose="020B0503020204020204" pitchFamily="34" charset="-122"/>
                          <a:ea typeface="微软雅黑" panose="020B0503020204020204" pitchFamily="34" charset="-122"/>
                        </a:rPr>
                        <a:t>操作内容</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600" b="1" dirty="0" smtClean="0">
                          <a:latin typeface="微软雅黑" panose="020B0503020204020204" pitchFamily="34" charset="-122"/>
                          <a:ea typeface="微软雅黑" panose="020B0503020204020204" pitchFamily="34" charset="-122"/>
                        </a:rPr>
                        <a:t>IMAP</a:t>
                      </a:r>
                      <a:endParaRPr lang="en-US" altLang="zh-CN"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600" b="1" dirty="0" smtClean="0">
                          <a:latin typeface="微软雅黑" panose="020B0503020204020204" pitchFamily="34" charset="-122"/>
                          <a:ea typeface="微软雅黑" panose="020B0503020204020204" pitchFamily="34" charset="-122"/>
                        </a:rPr>
                        <a:t>POP3</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收件箱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阅读、标记、移动、删除邮件等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发件箱</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保存到已发送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创建文件夹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新建自定义的文件夹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草稿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保存草稿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垃圾文件夹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接收并移入垃圾文件夹的邮件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支持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不支持 </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广告邮件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接收并移入广告邮件夹的邮</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支持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不支持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5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1240"/>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smtClean="0">
                <a:solidFill>
                  <a:schemeClr val="bg1"/>
                </a:solidFill>
                <a:latin typeface="微软雅黑" panose="020B0503020204020204" pitchFamily="34" charset="-122"/>
                <a:ea typeface="微软雅黑" panose="020B0503020204020204" pitchFamily="34" charset="-122"/>
              </a:rPr>
              <a:t>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53588"/>
            <a:ext cx="8048776" cy="31843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9"/>
          <p:cNvSpPr>
            <a:spLocks noChangeArrowheads="1"/>
          </p:cNvSpPr>
          <p:nvPr/>
        </p:nvSpPr>
        <p:spPr bwMode="auto">
          <a:xfrm>
            <a:off x="2464906" y="120858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anose="020B0503020204020204" pitchFamily="34" charset="-122"/>
                <a:ea typeface="微软雅黑" panose="020B0503020204020204" pitchFamily="34" charset="-122"/>
              </a:rPr>
              <a:t>邮件</a:t>
            </a:r>
            <a:r>
              <a:rPr kumimoji="0" lang="zh-CN" altLang="en-US" sz="1200" b="1" dirty="0" smtClean="0">
                <a:solidFill>
                  <a:srgbClr val="25221E"/>
                </a:solidFill>
                <a:latin typeface="微软雅黑" panose="020B0503020204020204" pitchFamily="34" charset="-122"/>
                <a:ea typeface="微软雅黑" panose="020B0503020204020204" pitchFamily="34" charset="-122"/>
              </a:rPr>
              <a:t>服务器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pic>
        <p:nvPicPr>
          <p:cNvPr id="37"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780620" y="1604648"/>
            <a:ext cx="407130" cy="40713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9"/>
          <p:cNvSpPr>
            <a:spLocks noChangeArrowheads="1"/>
          </p:cNvSpPr>
          <p:nvPr/>
        </p:nvSpPr>
        <p:spPr bwMode="auto">
          <a:xfrm>
            <a:off x="2464906" y="2657367"/>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anose="020B0503020204020204" pitchFamily="34" charset="-122"/>
                <a:ea typeface="微软雅黑" panose="020B0503020204020204" pitchFamily="34" charset="-122"/>
              </a:rPr>
              <a:t>邮件</a:t>
            </a:r>
            <a:r>
              <a:rPr kumimoji="0" lang="zh-CN" altLang="en-US" sz="1200" b="1" dirty="0" smtClean="0">
                <a:solidFill>
                  <a:srgbClr val="25221E"/>
                </a:solidFill>
                <a:latin typeface="微软雅黑" panose="020B0503020204020204" pitchFamily="34" charset="-122"/>
                <a:ea typeface="微软雅黑" panose="020B0503020204020204" pitchFamily="34" charset="-122"/>
              </a:rPr>
              <a:t>服务器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pic>
        <p:nvPicPr>
          <p:cNvPr id="52"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59314" y="254119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466444" y="3048804"/>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59314" y="3557816"/>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56" name="直接连接符 55"/>
          <p:cNvCxnSpPr>
            <a:stCxn id="11" idx="3"/>
          </p:cNvCxnSpPr>
          <p:nvPr/>
        </p:nvCxnSpPr>
        <p:spPr>
          <a:xfrm>
            <a:off x="2986409" y="1830103"/>
            <a:ext cx="1165177"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直接连接符 56"/>
          <p:cNvCxnSpPr>
            <a:endCxn id="37" idx="1"/>
          </p:cNvCxnSpPr>
          <p:nvPr/>
        </p:nvCxnSpPr>
        <p:spPr>
          <a:xfrm>
            <a:off x="4882375" y="1808213"/>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Group 50"/>
          <p:cNvGrpSpPr>
            <a:grpSpLocks noChangeAspect="1"/>
          </p:cNvGrpSpPr>
          <p:nvPr/>
        </p:nvGrpSpPr>
        <p:grpSpPr bwMode="auto">
          <a:xfrm>
            <a:off x="2590426" y="1436477"/>
            <a:ext cx="478479" cy="734218"/>
            <a:chOff x="3104" y="1028"/>
            <a:chExt cx="406" cy="623"/>
          </a:xfrm>
        </p:grpSpPr>
        <p:sp>
          <p:nvSpPr>
            <p:cNvPr id="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8"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36" name="Freeform 1208"/>
          <p:cNvSpPr/>
          <p:nvPr/>
        </p:nvSpPr>
        <p:spPr bwMode="ltGray">
          <a:xfrm>
            <a:off x="3802790" y="1489510"/>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anose="020B0503020204020204" pitchFamily="34" charset="-122"/>
                <a:ea typeface="微软雅黑" panose="020B0503020204020204" pitchFamily="34" charset="-122"/>
              </a:rPr>
              <a:t>互联网</a:t>
            </a:r>
            <a:endParaRPr lang="zh-CN" altLang="en-US" sz="1200" b="1" dirty="0">
              <a:latin typeface="微软雅黑" panose="020B0503020204020204" pitchFamily="34" charset="-122"/>
              <a:ea typeface="微软雅黑" panose="020B0503020204020204" pitchFamily="34" charset="-122"/>
            </a:endParaRPr>
          </a:p>
        </p:txBody>
      </p:sp>
      <p:cxnSp>
        <p:nvCxnSpPr>
          <p:cNvPr id="64" name="直接连接符 63"/>
          <p:cNvCxnSpPr>
            <a:stCxn id="42" idx="3"/>
          </p:cNvCxnSpPr>
          <p:nvPr/>
        </p:nvCxnSpPr>
        <p:spPr>
          <a:xfrm>
            <a:off x="2986409" y="3278886"/>
            <a:ext cx="1757041"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50"/>
          <p:cNvGrpSpPr>
            <a:grpSpLocks noChangeAspect="1"/>
          </p:cNvGrpSpPr>
          <p:nvPr/>
        </p:nvGrpSpPr>
        <p:grpSpPr bwMode="auto">
          <a:xfrm>
            <a:off x="2590426" y="2885260"/>
            <a:ext cx="478479" cy="734218"/>
            <a:chOff x="3104" y="1028"/>
            <a:chExt cx="406" cy="623"/>
          </a:xfrm>
        </p:grpSpPr>
        <p:sp>
          <p:nvSpPr>
            <p:cNvPr id="40"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1"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2"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3"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4"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5"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6"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7"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8"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9"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0"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cxnSp>
        <p:nvCxnSpPr>
          <p:cNvPr id="67" name="直接连接符 66"/>
          <p:cNvCxnSpPr>
            <a:endCxn id="53" idx="1"/>
          </p:cNvCxnSpPr>
          <p:nvPr/>
        </p:nvCxnSpPr>
        <p:spPr>
          <a:xfrm>
            <a:off x="5568199" y="3252369"/>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0" name="直接连接符 69"/>
          <p:cNvCxnSpPr>
            <a:endCxn id="52" idx="1"/>
          </p:cNvCxnSpPr>
          <p:nvPr/>
        </p:nvCxnSpPr>
        <p:spPr>
          <a:xfrm flipV="1">
            <a:off x="5452585" y="2744755"/>
            <a:ext cx="1606729" cy="45399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2" name="直接连接符 71"/>
          <p:cNvCxnSpPr>
            <a:endCxn id="55" idx="1"/>
          </p:cNvCxnSpPr>
          <p:nvPr/>
        </p:nvCxnSpPr>
        <p:spPr>
          <a:xfrm>
            <a:off x="5452585" y="3293028"/>
            <a:ext cx="1606729" cy="4683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Freeform 1208"/>
          <p:cNvSpPr/>
          <p:nvPr/>
        </p:nvSpPr>
        <p:spPr bwMode="ltGray">
          <a:xfrm>
            <a:off x="4488614" y="2938293"/>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anose="020B0503020204020204" pitchFamily="34" charset="-122"/>
                <a:ea typeface="微软雅黑" panose="020B0503020204020204" pitchFamily="34" charset="-122"/>
              </a:rPr>
              <a:t>互联网</a:t>
            </a:r>
            <a:endParaRPr lang="zh-CN" altLang="en-US" sz="1200" b="1" dirty="0">
              <a:latin typeface="微软雅黑" panose="020B0503020204020204" pitchFamily="34" charset="-122"/>
              <a:ea typeface="微软雅黑" panose="020B0503020204020204" pitchFamily="34" charset="-122"/>
            </a:endParaRPr>
          </a:p>
        </p:txBody>
      </p:sp>
      <p:sp>
        <p:nvSpPr>
          <p:cNvPr id="75" name="Rectangle 9"/>
          <p:cNvSpPr>
            <a:spLocks noChangeArrowheads="1"/>
          </p:cNvSpPr>
          <p:nvPr/>
        </p:nvSpPr>
        <p:spPr bwMode="auto">
          <a:xfrm>
            <a:off x="5568200" y="1597211"/>
            <a:ext cx="8282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anose="020B0503020204020204" pitchFamily="34" charset="-122"/>
                <a:ea typeface="微软雅黑" panose="020B0503020204020204" pitchFamily="34" charset="-122"/>
              </a:rPr>
              <a:t>整个邮件</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sp>
        <p:nvSpPr>
          <p:cNvPr id="76" name="Documents"/>
          <p:cNvSpPr>
            <a:spLocks noEditPoints="1" noChangeArrowheads="1"/>
          </p:cNvSpPr>
          <p:nvPr/>
        </p:nvSpPr>
        <p:spPr bwMode="auto">
          <a:xfrm>
            <a:off x="7315192" y="1378584"/>
            <a:ext cx="871546" cy="451373"/>
          </a:xfrm>
          <a:custGeom>
            <a:avLst/>
            <a:gdLst>
              <a:gd name="T0" fmla="*/ 0 w 21600"/>
              <a:gd name="T1" fmla="*/ 2800 h 21600"/>
              <a:gd name="T2" fmla="*/ 3468 w 21600"/>
              <a:gd name="T3" fmla="*/ 0 h 21600"/>
              <a:gd name="T4" fmla="*/ 21653 w 21600"/>
              <a:gd name="T5" fmla="*/ 18828 h 21600"/>
              <a:gd name="T6" fmla="*/ 19954 w 21600"/>
              <a:gd name="T7" fmla="*/ 20214 h 21600"/>
              <a:gd name="T8" fmla="*/ 18256 w 21600"/>
              <a:gd name="T9" fmla="*/ 21628 h 21600"/>
              <a:gd name="T10" fmla="*/ 19954 w 21600"/>
              <a:gd name="T11" fmla="*/ 1428 h 21600"/>
              <a:gd name="T12" fmla="*/ 18256 w 21600"/>
              <a:gd name="T13" fmla="*/ 2800 h 21600"/>
              <a:gd name="T14" fmla="*/ 1645 w 21600"/>
              <a:gd name="T15" fmla="*/ 1428 h 21600"/>
              <a:gd name="T16" fmla="*/ 21600 w 21600"/>
              <a:gd name="T17" fmla="*/ 0 h 21600"/>
              <a:gd name="T18" fmla="*/ 10800 w 21600"/>
              <a:gd name="T19" fmla="*/ 0 h 21600"/>
              <a:gd name="T20" fmla="*/ 0 w 21600"/>
              <a:gd name="T21" fmla="*/ 10800 h 21600"/>
              <a:gd name="T22" fmla="*/ 21600 w 21600"/>
              <a:gd name="T23" fmla="*/ 10800 h 21600"/>
              <a:gd name="T24" fmla="*/ 1645 w 21600"/>
              <a:gd name="T25" fmla="*/ 4171 h 21600"/>
              <a:gd name="T26" fmla="*/ 16522 w 21600"/>
              <a:gd name="T27" fmla="*/ 17314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00FFCC"/>
          </a:solid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77" name="Rectangle 9"/>
          <p:cNvSpPr>
            <a:spLocks noChangeArrowheads="1"/>
          </p:cNvSpPr>
          <p:nvPr/>
        </p:nvSpPr>
        <p:spPr bwMode="auto">
          <a:xfrm>
            <a:off x="7314047" y="1513192"/>
            <a:ext cx="77267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所有邮件</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sp>
        <p:nvSpPr>
          <p:cNvPr id="78" name="Rectangle 9"/>
          <p:cNvSpPr>
            <a:spLocks noChangeArrowheads="1"/>
          </p:cNvSpPr>
          <p:nvPr/>
        </p:nvSpPr>
        <p:spPr bwMode="auto">
          <a:xfrm rot="20578601">
            <a:off x="6004789" y="2694178"/>
            <a:ext cx="7694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anose="020B0503020204020204" pitchFamily="34" charset="-122"/>
                <a:ea typeface="微软雅黑" panose="020B0503020204020204" pitchFamily="34" charset="-122"/>
              </a:rPr>
              <a:t>邮件首部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grpSp>
        <p:nvGrpSpPr>
          <p:cNvPr id="88" name="组合 87"/>
          <p:cNvGrpSpPr/>
          <p:nvPr/>
        </p:nvGrpSpPr>
        <p:grpSpPr>
          <a:xfrm>
            <a:off x="3149855" y="3381313"/>
            <a:ext cx="715074" cy="395003"/>
            <a:chOff x="3420280" y="3918130"/>
            <a:chExt cx="512274" cy="390821"/>
          </a:xfrm>
          <a:solidFill>
            <a:srgbClr val="00FFCC"/>
          </a:solidFill>
        </p:grpSpPr>
        <p:sp>
          <p:nvSpPr>
            <p:cNvPr id="86"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87"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工作</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grpSp>
      <p:grpSp>
        <p:nvGrpSpPr>
          <p:cNvPr id="89" name="组合 88"/>
          <p:cNvGrpSpPr/>
          <p:nvPr/>
        </p:nvGrpSpPr>
        <p:grpSpPr>
          <a:xfrm>
            <a:off x="2905346" y="3619587"/>
            <a:ext cx="715074" cy="395003"/>
            <a:chOff x="3420280" y="3918130"/>
            <a:chExt cx="512274" cy="390821"/>
          </a:xfrm>
          <a:solidFill>
            <a:srgbClr val="00FFCC"/>
          </a:solidFill>
        </p:grpSpPr>
        <p:sp>
          <p:nvSpPr>
            <p:cNvPr id="90"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91"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好友</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grpSp>
      <p:sp>
        <p:nvSpPr>
          <p:cNvPr id="92" name="Rectangle 9"/>
          <p:cNvSpPr>
            <a:spLocks noChangeArrowheads="1"/>
          </p:cNvSpPr>
          <p:nvPr/>
        </p:nvSpPr>
        <p:spPr bwMode="auto">
          <a:xfrm>
            <a:off x="949635" y="1572753"/>
            <a:ext cx="14343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使用 </a:t>
            </a:r>
            <a:r>
              <a:rPr kumimoji="0" lang="en-US" altLang="zh-CN" sz="1600" b="1" dirty="0" smtClean="0">
                <a:solidFill>
                  <a:srgbClr val="0000FF"/>
                </a:solidFill>
                <a:latin typeface="微软雅黑" panose="020B0503020204020204" pitchFamily="34" charset="-122"/>
                <a:ea typeface="微软雅黑" panose="020B0503020204020204" pitchFamily="34" charset="-122"/>
              </a:rPr>
              <a:t>POP3</a:t>
            </a:r>
            <a:endParaRPr kumimoji="0" lang="en-US" altLang="zh-CN" sz="16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读取邮件</a:t>
            </a:r>
            <a:endParaRPr kumimoji="0"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93" name="Rectangle 9"/>
          <p:cNvSpPr>
            <a:spLocks noChangeArrowheads="1"/>
          </p:cNvSpPr>
          <p:nvPr/>
        </p:nvSpPr>
        <p:spPr bwMode="auto">
          <a:xfrm>
            <a:off x="942975" y="3021536"/>
            <a:ext cx="1440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使用 </a:t>
            </a:r>
            <a:r>
              <a:rPr kumimoji="0" lang="en-US" altLang="zh-CN" sz="1600" b="1" dirty="0" smtClean="0">
                <a:solidFill>
                  <a:srgbClr val="0000FF"/>
                </a:solidFill>
                <a:latin typeface="微软雅黑" panose="020B0503020204020204" pitchFamily="34" charset="-122"/>
                <a:ea typeface="微软雅黑" panose="020B0503020204020204" pitchFamily="34" charset="-122"/>
              </a:rPr>
              <a:t>IMAP</a:t>
            </a:r>
            <a:endParaRPr kumimoji="0" lang="en-US" altLang="zh-CN" sz="16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读取邮件</a:t>
            </a:r>
            <a:endParaRPr kumimoji="0" lang="zh-CN" altLang="en-US" sz="16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2953462"/>
            <a:ext cx="8048776" cy="13522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441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1" y="571202"/>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必须注意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5503"/>
            <a:ext cx="8048776"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邮件</a:t>
            </a:r>
            <a:r>
              <a:rPr lang="zh-CN" altLang="en-US" sz="2000" b="1" dirty="0">
                <a:latin typeface="微软雅黑" panose="020B0503020204020204" pitchFamily="34" charset="-122"/>
                <a:ea typeface="微软雅黑" panose="020B0503020204020204" pitchFamily="34" charset="-122"/>
              </a:rPr>
              <a:t>读取协议 </a:t>
            </a:r>
            <a:r>
              <a:rPr lang="en-US" altLang="zh-CN" sz="2000" b="1" dirty="0">
                <a:latin typeface="微软雅黑" panose="020B0503020204020204" pitchFamily="34" charset="-122"/>
                <a:ea typeface="微软雅黑" panose="020B0503020204020204" pitchFamily="34" charset="-122"/>
              </a:rPr>
              <a:t>POP </a:t>
            </a:r>
            <a:r>
              <a:rPr lang="zh-CN" altLang="en-US" sz="2000" b="1" dirty="0">
                <a:latin typeface="微软雅黑" panose="020B0503020204020204" pitchFamily="34" charset="-122"/>
                <a:ea typeface="微软雅黑" panose="020B0503020204020204" pitchFamily="34" charset="-122"/>
              </a:rPr>
              <a:t>或 </a:t>
            </a:r>
            <a:r>
              <a:rPr lang="en-US" altLang="zh-CN" sz="2000" b="1" dirty="0">
                <a:latin typeface="微软雅黑" panose="020B0503020204020204" pitchFamily="34" charset="-122"/>
                <a:ea typeface="微软雅黑" panose="020B0503020204020204" pitchFamily="34" charset="-122"/>
              </a:rPr>
              <a:t>IMAP </a:t>
            </a:r>
            <a:r>
              <a:rPr lang="zh-CN" altLang="en-US" sz="2000" b="1" dirty="0">
                <a:latin typeface="微软雅黑" panose="020B0503020204020204" pitchFamily="34" charset="-122"/>
                <a:ea typeface="微软雅黑" panose="020B0503020204020204" pitchFamily="34" charset="-122"/>
              </a:rPr>
              <a:t>与邮件传送协议 </a:t>
            </a:r>
            <a:r>
              <a:rPr lang="en-US" altLang="zh-CN" sz="2000" b="1" dirty="0">
                <a:latin typeface="微软雅黑" panose="020B0503020204020204" pitchFamily="34" charset="-122"/>
                <a:ea typeface="微软雅黑" panose="020B0503020204020204" pitchFamily="34" charset="-122"/>
              </a:rPr>
              <a:t>SMTP </a:t>
            </a:r>
            <a:r>
              <a:rPr lang="zh-CN" altLang="en-US" sz="2000" b="1" dirty="0" smtClean="0">
                <a:latin typeface="微软雅黑" panose="020B0503020204020204" pitchFamily="34" charset="-122"/>
                <a:ea typeface="微软雅黑" panose="020B0503020204020204" pitchFamily="34" charset="-122"/>
              </a:rPr>
              <a:t>完全不同。</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发信人的用户代理向源邮件服务器发送邮件，以及源邮件服务器向目的邮件服务器发送邮件，都是使用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而 </a:t>
            </a:r>
            <a:r>
              <a:rPr lang="en-US" altLang="zh-CN" sz="2000" b="1" dirty="0">
                <a:latin typeface="微软雅黑" panose="020B0503020204020204" pitchFamily="34" charset="-122"/>
                <a:ea typeface="微软雅黑" panose="020B0503020204020204" pitchFamily="34" charset="-122"/>
              </a:rPr>
              <a:t>POP </a:t>
            </a:r>
            <a:r>
              <a:rPr lang="zh-CN" altLang="en-US" sz="2000" b="1" dirty="0">
                <a:latin typeface="微软雅黑" panose="020B0503020204020204" pitchFamily="34" charset="-122"/>
                <a:ea typeface="微软雅黑" panose="020B0503020204020204" pitchFamily="34" charset="-122"/>
              </a:rPr>
              <a:t>协议或 </a:t>
            </a:r>
            <a:r>
              <a:rPr lang="en-US" altLang="zh-CN" sz="2000" b="1" dirty="0">
                <a:latin typeface="微软雅黑" panose="020B0503020204020204" pitchFamily="34" charset="-122"/>
                <a:ea typeface="微软雅黑" panose="020B0503020204020204" pitchFamily="34" charset="-122"/>
              </a:rPr>
              <a:t>IMAP </a:t>
            </a:r>
            <a:r>
              <a:rPr lang="zh-CN" altLang="en-US" sz="2000" b="1" dirty="0">
                <a:latin typeface="微软雅黑" panose="020B0503020204020204" pitchFamily="34" charset="-122"/>
                <a:ea typeface="微软雅黑" panose="020B0503020204020204" pitchFamily="34" charset="-122"/>
              </a:rPr>
              <a:t>协议则是用户从目的邮件服务器上读取邮件所使用的协议。 </a:t>
            </a:r>
            <a:endParaRPr lang="zh-CN" altLang="en-US" sz="2000" b="1" dirty="0">
              <a:latin typeface="微软雅黑" panose="020B0503020204020204" pitchFamily="34" charset="-122"/>
              <a:ea typeface="微软雅黑" panose="020B0503020204020204" pitchFamily="34" charset="-122"/>
            </a:endParaRPr>
          </a:p>
        </p:txBody>
      </p:sp>
      <p:cxnSp>
        <p:nvCxnSpPr>
          <p:cNvPr id="20" name="直接连接符 19"/>
          <p:cNvCxnSpPr/>
          <p:nvPr/>
        </p:nvCxnSpPr>
        <p:spPr>
          <a:xfrm>
            <a:off x="1224019" y="3416863"/>
            <a:ext cx="6697519" cy="0"/>
          </a:xfrm>
          <a:prstGeom prst="line">
            <a:avLst/>
          </a:prstGeom>
          <a:ln w="28575">
            <a:solidFill>
              <a:srgbClr val="CC00CC"/>
            </a:solidFill>
            <a:prstDash val="solid"/>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1251674" y="3027323"/>
            <a:ext cx="4953053" cy="310715"/>
            <a:chOff x="1251674" y="3027323"/>
            <a:chExt cx="4953053" cy="310715"/>
          </a:xfrm>
        </p:grpSpPr>
        <p:cxnSp>
          <p:nvCxnSpPr>
            <p:cNvPr id="24" name="直接连接符 23"/>
            <p:cNvCxnSpPr/>
            <p:nvPr/>
          </p:nvCxnSpPr>
          <p:spPr>
            <a:xfrm>
              <a:off x="1251674"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914993"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6204727"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251674" y="3027323"/>
              <a:ext cx="1663319" cy="270202"/>
              <a:chOff x="1251674" y="3027323"/>
              <a:chExt cx="1663319" cy="270202"/>
            </a:xfrm>
          </p:grpSpPr>
          <p:cxnSp>
            <p:nvCxnSpPr>
              <p:cNvPr id="28" name="直接连接符 27"/>
              <p:cNvCxnSpPr/>
              <p:nvPr/>
            </p:nvCxnSpPr>
            <p:spPr>
              <a:xfrm>
                <a:off x="1251674" y="3264468"/>
                <a:ext cx="1663319"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 Box 390"/>
              <p:cNvSpPr txBox="1">
                <a:spLocks noChangeArrowheads="1"/>
              </p:cNvSpPr>
              <p:nvPr/>
            </p:nvSpPr>
            <p:spPr bwMode="auto">
              <a:xfrm>
                <a:off x="1672136"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2914993" y="3027323"/>
              <a:ext cx="3289734" cy="270202"/>
              <a:chOff x="2914993" y="3027323"/>
              <a:chExt cx="3289734" cy="270202"/>
            </a:xfrm>
          </p:grpSpPr>
          <p:cxnSp>
            <p:nvCxnSpPr>
              <p:cNvPr id="30" name="直接连接符 29"/>
              <p:cNvCxnSpPr/>
              <p:nvPr/>
            </p:nvCxnSpPr>
            <p:spPr>
              <a:xfrm>
                <a:off x="2914993" y="3264468"/>
                <a:ext cx="3289734"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 Box 390"/>
              <p:cNvSpPr txBox="1">
                <a:spLocks noChangeArrowheads="1"/>
              </p:cNvSpPr>
              <p:nvPr/>
            </p:nvSpPr>
            <p:spPr bwMode="auto">
              <a:xfrm>
                <a:off x="4262342"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grpSp>
        <p:nvGrpSpPr>
          <p:cNvPr id="19" name="组合 18"/>
          <p:cNvGrpSpPr/>
          <p:nvPr/>
        </p:nvGrpSpPr>
        <p:grpSpPr>
          <a:xfrm>
            <a:off x="6204727" y="3027323"/>
            <a:ext cx="1685268" cy="310715"/>
            <a:chOff x="6204727" y="3027323"/>
            <a:chExt cx="1685268" cy="310715"/>
          </a:xfrm>
        </p:grpSpPr>
        <p:cxnSp>
          <p:nvCxnSpPr>
            <p:cNvPr id="27" name="直接连接符 26"/>
            <p:cNvCxnSpPr/>
            <p:nvPr/>
          </p:nvCxnSpPr>
          <p:spPr>
            <a:xfrm>
              <a:off x="7889995"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组合 17"/>
            <p:cNvGrpSpPr/>
            <p:nvPr/>
          </p:nvGrpSpPr>
          <p:grpSpPr>
            <a:xfrm>
              <a:off x="6204727" y="3027323"/>
              <a:ext cx="1663319" cy="270202"/>
              <a:chOff x="6204727" y="3027323"/>
              <a:chExt cx="1663319" cy="270202"/>
            </a:xfrm>
          </p:grpSpPr>
          <p:cxnSp>
            <p:nvCxnSpPr>
              <p:cNvPr id="32" name="直接连接符 31"/>
              <p:cNvCxnSpPr/>
              <p:nvPr/>
            </p:nvCxnSpPr>
            <p:spPr>
              <a:xfrm>
                <a:off x="6204727" y="3264468"/>
                <a:ext cx="1663319" cy="0"/>
              </a:xfrm>
              <a:prstGeom prst="line">
                <a:avLst/>
              </a:prstGeom>
              <a:ln w="12700">
                <a:solidFill>
                  <a:srgbClr val="0000FF"/>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 Box 390"/>
              <p:cNvSpPr txBox="1">
                <a:spLocks noChangeArrowheads="1"/>
              </p:cNvSpPr>
              <p:nvPr/>
            </p:nvSpPr>
            <p:spPr bwMode="auto">
              <a:xfrm>
                <a:off x="6395761" y="3027323"/>
                <a:ext cx="12298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POP3 </a:t>
                </a:r>
                <a:r>
                  <a:rPr kumimoji="1" lang="en-US" altLang="zh-CN" sz="1100" b="1" dirty="0">
                    <a:solidFill>
                      <a:srgbClr val="0000FF"/>
                    </a:solidFill>
                    <a:latin typeface="微软雅黑" panose="020B0503020204020204" pitchFamily="34" charset="-122"/>
                    <a:ea typeface="微软雅黑" panose="020B0503020204020204" pitchFamily="34" charset="-122"/>
                  </a:rPr>
                  <a:t> </a:t>
                </a:r>
                <a:r>
                  <a:rPr kumimoji="1" lang="zh-CN" altLang="en-US" sz="1100" b="1" dirty="0" smtClean="0">
                    <a:solidFill>
                      <a:srgbClr val="0000FF"/>
                    </a:solidFill>
                    <a:latin typeface="微软雅黑" panose="020B0503020204020204" pitchFamily="34" charset="-122"/>
                    <a:ea typeface="微软雅黑" panose="020B0503020204020204" pitchFamily="34" charset="-122"/>
                  </a:rPr>
                  <a:t>或 </a:t>
                </a:r>
                <a:r>
                  <a:rPr kumimoji="1" lang="en-US" altLang="zh-CN" sz="1100" b="1" dirty="0" smtClean="0">
                    <a:solidFill>
                      <a:srgbClr val="0000FF"/>
                    </a:solidFill>
                    <a:latin typeface="微软雅黑" panose="020B0503020204020204" pitchFamily="34" charset="-122"/>
                    <a:ea typeface="微软雅黑" panose="020B0503020204020204" pitchFamily="34" charset="-122"/>
                  </a:rPr>
                  <a:t>IMAP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grpSp>
      </p:grpSp>
      <p:grpSp>
        <p:nvGrpSpPr>
          <p:cNvPr id="15" name="组合 14"/>
          <p:cNvGrpSpPr/>
          <p:nvPr/>
        </p:nvGrpSpPr>
        <p:grpSpPr>
          <a:xfrm>
            <a:off x="967090" y="3464161"/>
            <a:ext cx="7202234" cy="776214"/>
            <a:chOff x="967090" y="3464161"/>
            <a:chExt cx="7202234" cy="776214"/>
          </a:xfrm>
        </p:grpSpPr>
        <p:sp>
          <p:nvSpPr>
            <p:cNvPr id="5" name="矩形 4"/>
            <p:cNvSpPr/>
            <p:nvPr/>
          </p:nvSpPr>
          <p:spPr>
            <a:xfrm>
              <a:off x="2484069"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anose="020B0503020204020204" pitchFamily="34" charset="-122"/>
                  <a:ea typeface="微软雅黑" panose="020B0503020204020204" pitchFamily="34" charset="-122"/>
                </a:rPr>
                <a:t>邮件</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5773811"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anose="020B0503020204020204" pitchFamily="34" charset="-122"/>
                  <a:ea typeface="微软雅黑" panose="020B0503020204020204" pitchFamily="34" charset="-122"/>
                </a:rPr>
                <a:t>邮件</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8"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707463" y="353912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8109" y="3539120"/>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p:cNvCxnSpPr>
              <a:stCxn id="5" idx="3"/>
              <a:endCxn id="6" idx="1"/>
            </p:cNvCxnSpPr>
            <p:nvPr/>
          </p:nvCxnSpPr>
          <p:spPr>
            <a:xfrm>
              <a:off x="3345917" y="3742685"/>
              <a:ext cx="2427894"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 name="Freeform 1208"/>
            <p:cNvSpPr/>
            <p:nvPr/>
          </p:nvSpPr>
          <p:spPr bwMode="ltGray">
            <a:xfrm>
              <a:off x="3768255" y="3464161"/>
              <a:ext cx="1600702"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400" b="1" dirty="0" smtClean="0">
                  <a:latin typeface="微软雅黑" panose="020B0503020204020204" pitchFamily="34" charset="-122"/>
                  <a:ea typeface="微软雅黑" panose="020B0503020204020204" pitchFamily="34" charset="-122"/>
                </a:rPr>
                <a:t>互联网</a:t>
              </a:r>
              <a:endParaRPr lang="zh-CN" altLang="en-US" sz="1400" b="1" dirty="0">
                <a:latin typeface="微软雅黑" panose="020B0503020204020204" pitchFamily="34" charset="-122"/>
                <a:ea typeface="微软雅黑" panose="020B0503020204020204" pitchFamily="34" charset="-122"/>
              </a:endParaRPr>
            </a:p>
          </p:txBody>
        </p:sp>
        <p:cxnSp>
          <p:nvCxnSpPr>
            <p:cNvPr id="13" name="直接连接符 12"/>
            <p:cNvCxnSpPr>
              <a:stCxn id="9" idx="3"/>
              <a:endCxn id="5" idx="1"/>
            </p:cNvCxnSpPr>
            <p:nvPr/>
          </p:nvCxnSpPr>
          <p:spPr>
            <a:xfrm>
              <a:off x="1455239" y="3742685"/>
              <a:ext cx="102883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a:stCxn id="6" idx="3"/>
              <a:endCxn id="8" idx="1"/>
            </p:cNvCxnSpPr>
            <p:nvPr/>
          </p:nvCxnSpPr>
          <p:spPr>
            <a:xfrm>
              <a:off x="6635659" y="3742685"/>
              <a:ext cx="1071804"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7" name="Text Box 390"/>
            <p:cNvSpPr txBox="1">
              <a:spLocks noChangeArrowheads="1"/>
            </p:cNvSpPr>
            <p:nvPr/>
          </p:nvSpPr>
          <p:spPr bwMode="auto">
            <a:xfrm>
              <a:off x="1429810"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LAN / WAN</a:t>
              </a:r>
              <a:endParaRPr kumimoji="1" lang="en-US" altLang="zh-CN" sz="1100" b="1" dirty="0">
                <a:latin typeface="微软雅黑" panose="020B0503020204020204" pitchFamily="34" charset="-122"/>
                <a:ea typeface="微软雅黑" panose="020B0503020204020204" pitchFamily="34" charset="-122"/>
              </a:endParaRPr>
            </a:p>
          </p:txBody>
        </p:sp>
        <p:sp>
          <p:nvSpPr>
            <p:cNvPr id="38" name="Text Box 390"/>
            <p:cNvSpPr txBox="1">
              <a:spLocks noChangeArrowheads="1"/>
            </p:cNvSpPr>
            <p:nvPr/>
          </p:nvSpPr>
          <p:spPr bwMode="auto">
            <a:xfrm>
              <a:off x="6663249"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LAN / WAN</a:t>
              </a:r>
              <a:endParaRPr kumimoji="1" lang="en-US" altLang="zh-CN" sz="1100" b="1" dirty="0">
                <a:latin typeface="微软雅黑" panose="020B0503020204020204" pitchFamily="34" charset="-122"/>
                <a:ea typeface="微软雅黑" panose="020B0503020204020204" pitchFamily="34" charset="-122"/>
              </a:endParaRPr>
            </a:p>
          </p:txBody>
        </p:sp>
        <p:sp>
          <p:nvSpPr>
            <p:cNvPr id="10" name="矩形 9"/>
            <p:cNvSpPr/>
            <p:nvPr/>
          </p:nvSpPr>
          <p:spPr>
            <a:xfrm>
              <a:off x="967090" y="3932598"/>
              <a:ext cx="543739"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发信</a:t>
              </a:r>
              <a:endParaRPr lang="zh-CN" altLang="en-US" sz="1400" dirty="0"/>
            </a:p>
          </p:txBody>
        </p:sp>
        <p:sp>
          <p:nvSpPr>
            <p:cNvPr id="31" name="矩形 30"/>
            <p:cNvSpPr/>
            <p:nvPr/>
          </p:nvSpPr>
          <p:spPr>
            <a:xfrm>
              <a:off x="7625585" y="3932598"/>
              <a:ext cx="543739"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读取</a:t>
              </a:r>
              <a:endParaRPr lang="zh-CN" altLang="en-US" sz="1400" dirty="0"/>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07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477519" y="557799"/>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6.5.5  </a:t>
            </a:r>
            <a:r>
              <a:rPr lang="zh-CN" altLang="en-US" sz="2400" b="1" dirty="0">
                <a:solidFill>
                  <a:schemeClr val="bg1"/>
                </a:solidFill>
                <a:latin typeface="微软雅黑" panose="020B0503020204020204" pitchFamily="34" charset="-122"/>
                <a:ea typeface="微软雅黑" panose="020B0503020204020204" pitchFamily="34" charset="-122"/>
              </a:rPr>
              <a:t>基于万维网的电子邮件</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25" name="Rectangle 68"/>
          <p:cNvSpPr>
            <a:spLocks noChangeArrowheads="1"/>
          </p:cNvSpPr>
          <p:nvPr/>
        </p:nvSpPr>
        <p:spPr bwMode="auto">
          <a:xfrm>
            <a:off x="556963" y="981006"/>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用户代理 </a:t>
            </a:r>
            <a:r>
              <a:rPr lang="en-US" altLang="zh-CN" sz="2000" b="1" dirty="0" smtClean="0">
                <a:latin typeface="微软雅黑" panose="020B0503020204020204" pitchFamily="34" charset="-122"/>
                <a:ea typeface="微软雅黑" panose="020B0503020204020204" pitchFamily="34" charset="-122"/>
              </a:rPr>
              <a:t>(UA)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必须</a:t>
            </a:r>
            <a:r>
              <a:rPr lang="zh-CN" altLang="en-US" sz="2000" b="1" dirty="0">
                <a:latin typeface="微软雅黑" panose="020B0503020204020204" pitchFamily="34" charset="-122"/>
                <a:ea typeface="微软雅黑" panose="020B0503020204020204" pitchFamily="34" charset="-122"/>
              </a:rPr>
              <a:t>在计算机中安装用户代理</a:t>
            </a:r>
            <a:r>
              <a:rPr lang="zh-CN" altLang="en-US" sz="2000" b="1" dirty="0" smtClean="0">
                <a:latin typeface="微软雅黑" panose="020B0503020204020204" pitchFamily="34" charset="-122"/>
                <a:ea typeface="微软雅黑" panose="020B0503020204020204" pitchFamily="34" charset="-122"/>
              </a:rPr>
              <a:t>软件。</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收发邮件不方便。</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zh-CN" altLang="en-US" sz="2000" b="1" dirty="0">
                <a:latin typeface="微软雅黑" panose="020B0503020204020204" pitchFamily="34" charset="-122"/>
                <a:ea typeface="微软雅黑" panose="020B0503020204020204" pitchFamily="34" charset="-122"/>
              </a:rPr>
              <a:t>万维网电子邮件</a:t>
            </a:r>
            <a:r>
              <a:rPr lang="zh-CN" altLang="en-US" sz="2000" b="1" dirty="0" smtClean="0">
                <a:solidFill>
                  <a:srgbClr val="C00000"/>
                </a:solidFill>
                <a:latin typeface="微软雅黑" panose="020B0503020204020204" pitchFamily="34" charset="-122"/>
                <a:ea typeface="微软雅黑" panose="020B0503020204020204" pitchFamily="34" charset="-122"/>
              </a:rPr>
              <a:t>优点：</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不需要在计算机中再安装用户代理软件。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计算机能联网，就能非常方便地收发电子邮件。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界面</a:t>
            </a:r>
            <a:r>
              <a:rPr lang="zh-CN" altLang="en-US" sz="2000" b="1" dirty="0">
                <a:latin typeface="微软雅黑" panose="020B0503020204020204" pitchFamily="34" charset="-122"/>
                <a:ea typeface="微软雅黑" panose="020B0503020204020204" pitchFamily="34" charset="-122"/>
              </a:rPr>
              <a:t>非常友好。</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6625" name="Visio" r:id="rId1" imgW="3463925" imgH="4220845" progId="">
                  <p:embed/>
                </p:oleObj>
              </mc:Choice>
              <mc:Fallback>
                <p:oleObj name="Visio" r:id="rId1" imgW="3463925" imgH="4220845" progId="">
                  <p:embed/>
                  <p:pic>
                    <p:nvPicPr>
                      <p:cNvPr id="0" name="图片 26624"/>
                      <p:cNvPicPr>
                        <a:picLocks noChangeAspect="1"/>
                      </p:cNvPicPr>
                      <p:nvPr/>
                    </p:nvPicPr>
                    <p:blipFill>
                      <a:blip r:embed="rId2"/>
                      <a:srcRect l="5348" t="4167" r="4546" b="11185"/>
                      <a:stretch>
                        <a:fillRect/>
                      </a:stretch>
                    </p:blipFill>
                    <p:spPr>
                      <a:xfrm>
                        <a:off x="762658" y="187162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252299" y="1382964"/>
            <a:ext cx="569388" cy="1183063"/>
            <a:chOff x="2252299" y="1525813"/>
            <a:chExt cx="569388" cy="1183063"/>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3" name="Text Box 394"/>
            <p:cNvSpPr txBox="1">
              <a:spLocks noChangeArrowheads="1"/>
            </p:cNvSpPr>
            <p:nvPr/>
          </p:nvSpPr>
          <p:spPr bwMode="auto">
            <a:xfrm>
              <a:off x="2296294" y="2246313"/>
              <a:ext cx="466794" cy="46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8" name="组合 27"/>
          <p:cNvGrpSpPr/>
          <p:nvPr/>
        </p:nvGrpSpPr>
        <p:grpSpPr>
          <a:xfrm>
            <a:off x="6148796" y="1401564"/>
            <a:ext cx="569388" cy="1149869"/>
            <a:chOff x="6148796" y="1489328"/>
            <a:chExt cx="569388" cy="1149869"/>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0" name="Text Box 395"/>
            <p:cNvSpPr txBox="1">
              <a:spLocks noChangeArrowheads="1"/>
            </p:cNvSpPr>
            <p:nvPr/>
          </p:nvSpPr>
          <p:spPr bwMode="auto">
            <a:xfrm>
              <a:off x="6222967" y="2162143"/>
              <a:ext cx="466795"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5" name="对象 34"/>
          <p:cNvGraphicFramePr>
            <a:graphicFrameLocks noChangeAspect="1"/>
          </p:cNvGraphicFramePr>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6626" name="Visio" r:id="rId3" imgW="3463925" imgH="4220845" progId="">
                  <p:embed/>
                </p:oleObj>
              </mc:Choice>
              <mc:Fallback>
                <p:oleObj name="Visio" r:id="rId3" imgW="3463925" imgH="4220845" progId="">
                  <p:embed/>
                  <p:pic>
                    <p:nvPicPr>
                      <p:cNvPr id="0" name="图片 26625"/>
                      <p:cNvPicPr>
                        <a:picLocks noChangeAspect="1"/>
                      </p:cNvPicPr>
                      <p:nvPr/>
                    </p:nvPicPr>
                    <p:blipFill>
                      <a:blip r:embed="rId4"/>
                      <a:srcRect l="4546" t="3947" r="4546" b="11403"/>
                      <a:stretch>
                        <a:fillRect/>
                      </a:stretch>
                    </p:blipFill>
                    <p:spPr>
                      <a:xfrm>
                        <a:off x="7632442" y="1871625"/>
                        <a:ext cx="551626" cy="666388"/>
                      </a:xfrm>
                      <a:prstGeom prst="rect">
                        <a:avLst/>
                      </a:prstGeom>
                      <a:noFill/>
                      <a:ln w="9525">
                        <a:noFill/>
                      </a:ln>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42" name="矩形 41"/>
          <p:cNvSpPr/>
          <p:nvPr/>
        </p:nvSpPr>
        <p:spPr>
          <a:xfrm>
            <a:off x="1470662" y="3428877"/>
            <a:ext cx="6331270" cy="810478"/>
          </a:xfrm>
          <a:prstGeom prst="rect">
            <a:avLst/>
          </a:prstGeom>
        </p:spPr>
        <p:txBody>
          <a:bodyPr wrap="square" anchor="ctr">
            <a:spAutoFit/>
          </a:bodyPr>
          <a:lstStyle/>
          <a:p>
            <a:pPr marL="285750" indent="-285750">
              <a:lnSpc>
                <a:spcPts val="28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发送、接收电子邮件时使用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协议。</a:t>
            </a:r>
            <a:endParaRPr lang="zh-CN" altLang="en-US" b="1" dirty="0">
              <a:latin typeface="微软雅黑" panose="020B0503020204020204" pitchFamily="34" charset="-122"/>
              <a:ea typeface="微软雅黑" panose="020B0503020204020204" pitchFamily="34" charset="-122"/>
            </a:endParaRPr>
          </a:p>
          <a:p>
            <a:pPr marL="285750" indent="-285750">
              <a:lnSpc>
                <a:spcPts val="28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两个邮件服务器</a:t>
            </a:r>
            <a:r>
              <a:rPr lang="zh-CN" altLang="en-US" b="1" dirty="0" smtClean="0">
                <a:latin typeface="微软雅黑" panose="020B0503020204020204" pitchFamily="34" charset="-122"/>
                <a:ea typeface="微软雅黑" panose="020B0503020204020204" pitchFamily="34" charset="-122"/>
              </a:rPr>
              <a:t>之间传送邮件时使用 </a:t>
            </a:r>
            <a:r>
              <a:rPr lang="en-US" altLang="zh-CN" b="1" dirty="0">
                <a:latin typeface="微软雅黑" panose="020B0503020204020204" pitchFamily="34" charset="-122"/>
                <a:ea typeface="微软雅黑" panose="020B0503020204020204" pitchFamily="34" charset="-122"/>
              </a:rPr>
              <a:t>SMTP</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ABC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XYZ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4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7649" name="Visio" r:id="rId1" imgW="3463925" imgH="4220845" progId="">
                  <p:embed/>
                </p:oleObj>
              </mc:Choice>
              <mc:Fallback>
                <p:oleObj name="Visio" r:id="rId1" imgW="3463925" imgH="4220845" progId="">
                  <p:embed/>
                  <p:pic>
                    <p:nvPicPr>
                      <p:cNvPr id="0" name="图片 27648"/>
                      <p:cNvPicPr>
                        <a:picLocks noChangeAspect="1"/>
                      </p:cNvPicPr>
                      <p:nvPr/>
                    </p:nvPicPr>
                    <p:blipFill>
                      <a:blip r:embed="rId2"/>
                      <a:srcRect l="5348" t="4167" r="4546" b="11185"/>
                      <a:stretch>
                        <a:fillRect/>
                      </a:stretch>
                    </p:blipFill>
                    <p:spPr>
                      <a:xfrm>
                        <a:off x="762658" y="187162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252299" y="1382964"/>
            <a:ext cx="569388" cy="665064"/>
            <a:chOff x="2252299" y="1525813"/>
            <a:chExt cx="569388" cy="665064"/>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8" name="组合 27"/>
          <p:cNvGrpSpPr/>
          <p:nvPr/>
        </p:nvGrpSpPr>
        <p:grpSpPr>
          <a:xfrm>
            <a:off x="6148796" y="1401564"/>
            <a:ext cx="569388" cy="652662"/>
            <a:chOff x="6148796" y="1489328"/>
            <a:chExt cx="569388" cy="652662"/>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5" name="对象 34"/>
          <p:cNvGraphicFramePr>
            <a:graphicFrameLocks noChangeAspect="1"/>
          </p:cNvGraphicFramePr>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7650" name="Visio" r:id="rId3" imgW="3463925" imgH="4220845" progId="">
                  <p:embed/>
                </p:oleObj>
              </mc:Choice>
              <mc:Fallback>
                <p:oleObj name="Visio" r:id="rId3" imgW="3463925" imgH="4220845" progId="">
                  <p:embed/>
                  <p:pic>
                    <p:nvPicPr>
                      <p:cNvPr id="0" name="图片 27649"/>
                      <p:cNvPicPr>
                        <a:picLocks noChangeAspect="1"/>
                      </p:cNvPicPr>
                      <p:nvPr/>
                    </p:nvPicPr>
                    <p:blipFill>
                      <a:blip r:embed="rId4"/>
                      <a:srcRect l="4546" t="3947" r="4546" b="11403"/>
                      <a:stretch>
                        <a:fillRect/>
                      </a:stretch>
                    </p:blipFill>
                    <p:spPr>
                      <a:xfrm>
                        <a:off x="7632442" y="1871625"/>
                        <a:ext cx="551626" cy="666388"/>
                      </a:xfrm>
                      <a:prstGeom prst="rect">
                        <a:avLst/>
                      </a:prstGeom>
                      <a:noFill/>
                      <a:ln w="9525">
                        <a:noFill/>
                      </a:ln>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42" name="矩形 41"/>
          <p:cNvSpPr/>
          <p:nvPr/>
        </p:nvSpPr>
        <p:spPr>
          <a:xfrm>
            <a:off x="1470662" y="3420985"/>
            <a:ext cx="6331270" cy="861774"/>
          </a:xfrm>
          <a:prstGeom prst="rect">
            <a:avLst/>
          </a:prstGeom>
        </p:spPr>
        <p:txBody>
          <a:bodyPr wrap="square" anchor="ctr">
            <a:spAutoFit/>
          </a:bodyPr>
          <a:lstStyle/>
          <a:p>
            <a:pPr marL="285750" indent="-285750">
              <a:lnSpc>
                <a:spcPts val="30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使用 </a:t>
            </a:r>
            <a:r>
              <a:rPr lang="en-US" altLang="zh-CN" b="1" dirty="0" smtClean="0">
                <a:latin typeface="微软雅黑" panose="020B0503020204020204" pitchFamily="34" charset="-122"/>
                <a:ea typeface="微软雅黑" panose="020B0503020204020204" pitchFamily="34" charset="-122"/>
              </a:rPr>
              <a:t>HTTP POST </a:t>
            </a:r>
            <a:r>
              <a:rPr lang="zh-CN" altLang="en-US" b="1" dirty="0" smtClean="0">
                <a:latin typeface="微软雅黑" panose="020B0503020204020204" pitchFamily="34" charset="-122"/>
                <a:ea typeface="微软雅黑" panose="020B0503020204020204" pitchFamily="34" charset="-122"/>
              </a:rPr>
              <a:t>方法提交要发送的邮件。</a:t>
            </a:r>
            <a:endParaRPr lang="zh-CN" altLang="en-US" b="1" dirty="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使用 </a:t>
            </a:r>
            <a:r>
              <a:rPr lang="en-US" altLang="zh-CN" b="1" dirty="0" smtClean="0">
                <a:latin typeface="微软雅黑" panose="020B0503020204020204" pitchFamily="34" charset="-122"/>
                <a:ea typeface="微软雅黑" panose="020B0503020204020204" pitchFamily="34" charset="-122"/>
              </a:rPr>
              <a:t>HTTP GET </a:t>
            </a:r>
            <a:r>
              <a:rPr lang="zh-CN" altLang="en-US" b="1" dirty="0" smtClean="0">
                <a:latin typeface="微软雅黑" panose="020B0503020204020204" pitchFamily="34" charset="-122"/>
                <a:ea typeface="微软雅黑" panose="020B0503020204020204" pitchFamily="34" charset="-122"/>
              </a:rPr>
              <a:t>方法读取邮件。</a:t>
            </a:r>
            <a:endParaRPr lang="zh-CN" altLang="en-US" b="1" dirty="0">
              <a:latin typeface="微软雅黑" panose="020B0503020204020204" pitchFamily="34" charset="-122"/>
              <a:ea typeface="微软雅黑" panose="020B0503020204020204"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ABC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XYZ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6" name="Text Box 394"/>
          <p:cNvSpPr txBox="1">
            <a:spLocks noChangeArrowheads="1"/>
          </p:cNvSpPr>
          <p:nvPr/>
        </p:nvSpPr>
        <p:spPr bwMode="auto">
          <a:xfrm>
            <a:off x="2236182" y="2122852"/>
            <a:ext cx="587020"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POST</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提交</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7" name="Text Box 395"/>
          <p:cNvSpPr txBox="1">
            <a:spLocks noChangeArrowheads="1"/>
          </p:cNvSpPr>
          <p:nvPr/>
        </p:nvSpPr>
        <p:spPr bwMode="auto">
          <a:xfrm>
            <a:off x="6222967" y="2109890"/>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GET</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下载</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6"/>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563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130469" y="563360"/>
            <a:ext cx="48830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6.5.6  </a:t>
            </a:r>
            <a:r>
              <a:rPr lang="zh-CN" altLang="en-US" sz="2400" b="1" dirty="0">
                <a:solidFill>
                  <a:schemeClr val="bg1"/>
                </a:solidFill>
                <a:latin typeface="微软雅黑" panose="020B0503020204020204" pitchFamily="34" charset="-122"/>
                <a:ea typeface="微软雅黑" panose="020B0503020204020204" pitchFamily="34" charset="-122"/>
              </a:rPr>
              <a:t>通用互联网邮件扩充 </a:t>
            </a:r>
            <a:r>
              <a:rPr lang="en-US" altLang="zh-CN" sz="2400" b="1" dirty="0">
                <a:solidFill>
                  <a:schemeClr val="bg1"/>
                </a:solidFill>
                <a:latin typeface="微软雅黑" panose="020B0503020204020204" pitchFamily="34" charset="-122"/>
                <a:ea typeface="微软雅黑" panose="020B0503020204020204" pitchFamily="34" charset="-122"/>
              </a:rPr>
              <a:t>MIME</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99849"/>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anose="020B0503020204020204" pitchFamily="34" charset="-122"/>
                <a:ea typeface="微软雅黑" panose="020B0503020204020204" pitchFamily="34" charset="-122"/>
              </a:rPr>
              <a:t>SMTP </a:t>
            </a: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不能</a:t>
            </a:r>
            <a:r>
              <a:rPr lang="zh-CN" altLang="en-US" sz="2000" b="1" dirty="0">
                <a:latin typeface="微软雅黑" panose="020B0503020204020204" pitchFamily="34" charset="-122"/>
                <a:ea typeface="微软雅黑" panose="020B0503020204020204" pitchFamily="34" charset="-122"/>
              </a:rPr>
              <a:t>传送可执行文件或其他的二进制对象。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限于</a:t>
            </a:r>
            <a:r>
              <a:rPr lang="zh-CN" altLang="en-US" sz="2000" b="1" dirty="0">
                <a:latin typeface="微软雅黑" panose="020B0503020204020204" pitchFamily="34" charset="-122"/>
                <a:ea typeface="微软雅黑" panose="020B0503020204020204" pitchFamily="34" charset="-122"/>
              </a:rPr>
              <a:t>传送 </a:t>
            </a:r>
            <a:r>
              <a:rPr lang="en-US" altLang="zh-CN" sz="2000" b="1" dirty="0">
                <a:latin typeface="微软雅黑" panose="020B0503020204020204" pitchFamily="34" charset="-122"/>
                <a:ea typeface="微软雅黑" panose="020B0503020204020204" pitchFamily="34" charset="-122"/>
              </a:rPr>
              <a:t>7 </a:t>
            </a:r>
            <a:r>
              <a:rPr lang="zh-CN" altLang="en-US" sz="2000" b="1" dirty="0">
                <a:latin typeface="微软雅黑" panose="020B0503020204020204" pitchFamily="34" charset="-122"/>
                <a:ea typeface="微软雅黑" panose="020B0503020204020204" pitchFamily="34" charset="-122"/>
              </a:rPr>
              <a:t>位的 </a:t>
            </a:r>
            <a:r>
              <a:rPr lang="en-US" altLang="zh-CN" sz="2000" b="1" dirty="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码，无法传送非 </a:t>
            </a:r>
            <a:r>
              <a:rPr lang="en-US" altLang="zh-CN" sz="2000" b="1" dirty="0" smtClean="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编码的信息。</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会拒绝超过一定长度的邮件。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某些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的实现并没有完全按照 </a:t>
            </a:r>
            <a:r>
              <a:rPr lang="en-US" altLang="zh-CN" sz="2000" b="1" dirty="0">
                <a:latin typeface="微软雅黑" panose="020B0503020204020204" pitchFamily="34" charset="-122"/>
                <a:ea typeface="微软雅黑" panose="020B0503020204020204" pitchFamily="34" charset="-122"/>
              </a:rPr>
              <a:t>[RFC 821]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标准。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6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20195" y="573485"/>
            <a:ext cx="19223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MIME </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1004362"/>
            <a:ext cx="827845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通用互联网邮件扩充 </a:t>
            </a:r>
            <a:r>
              <a:rPr lang="en-US" altLang="zh-CN" sz="2000" b="1" dirty="0">
                <a:solidFill>
                  <a:srgbClr val="C00000"/>
                </a:solidFill>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并没有改动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或取代它。</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意图：</a:t>
            </a:r>
            <a:r>
              <a:rPr lang="zh-CN" altLang="en-US" sz="2000" b="1" dirty="0" smtClean="0">
                <a:latin typeface="微软雅黑" panose="020B0503020204020204" pitchFamily="34" charset="-122"/>
                <a:ea typeface="微软雅黑" panose="020B0503020204020204" pitchFamily="34" charset="-122"/>
              </a:rPr>
              <a:t>继续</a:t>
            </a:r>
            <a:r>
              <a:rPr lang="zh-CN" altLang="en-US" sz="2000" b="1" dirty="0">
                <a:latin typeface="微软雅黑" panose="020B0503020204020204" pitchFamily="34" charset="-122"/>
                <a:ea typeface="微软雅黑" panose="020B0503020204020204" pitchFamily="34" charset="-122"/>
              </a:rPr>
              <a:t>使用目前的 </a:t>
            </a:r>
            <a:r>
              <a:rPr lang="en-US" altLang="zh-CN" sz="2000" b="1" dirty="0">
                <a:latin typeface="微软雅黑" panose="020B0503020204020204" pitchFamily="34" charset="-122"/>
                <a:ea typeface="微软雅黑" panose="020B0503020204020204" pitchFamily="34" charset="-122"/>
              </a:rPr>
              <a:t>[RFC 822] </a:t>
            </a:r>
            <a:r>
              <a:rPr lang="zh-CN" altLang="en-US" sz="2000" b="1" dirty="0">
                <a:latin typeface="微软雅黑" panose="020B0503020204020204" pitchFamily="34" charset="-122"/>
                <a:ea typeface="微软雅黑" panose="020B0503020204020204" pitchFamily="34" charset="-122"/>
              </a:rPr>
              <a:t>格式，但</a:t>
            </a:r>
            <a:r>
              <a:rPr lang="zh-CN" altLang="en-US" sz="2000" b="1" dirty="0">
                <a:solidFill>
                  <a:srgbClr val="C00000"/>
                </a:solidFill>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了邮件主体的结构，并定义了传送非 </a:t>
            </a:r>
            <a:r>
              <a:rPr lang="en-US" altLang="zh-CN" sz="2000" b="1" dirty="0">
                <a:latin typeface="微软雅黑" panose="020B0503020204020204" pitchFamily="34" charset="-122"/>
                <a:ea typeface="微软雅黑" panose="020B0503020204020204" pitchFamily="34" charset="-122"/>
              </a:rPr>
              <a:t>ASCII </a:t>
            </a:r>
            <a:r>
              <a:rPr lang="zh-CN" altLang="en-US" sz="2000" b="1" dirty="0">
                <a:latin typeface="微软雅黑" panose="020B0503020204020204" pitchFamily="34" charset="-122"/>
                <a:ea typeface="微软雅黑" panose="020B0503020204020204" pitchFamily="34" charset="-122"/>
              </a:rPr>
              <a:t>码的</a:t>
            </a:r>
            <a:r>
              <a:rPr lang="zh-CN" altLang="en-US" sz="2000" b="1" dirty="0">
                <a:solidFill>
                  <a:srgbClr val="C00000"/>
                </a:solidFill>
                <a:latin typeface="微软雅黑" panose="020B0503020204020204" pitchFamily="34" charset="-122"/>
                <a:ea typeface="微软雅黑" panose="020B0503020204020204" pitchFamily="34" charset="-122"/>
              </a:rPr>
              <a:t>编码规则。 </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4165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组合 20"/>
          <p:cNvGrpSpPr/>
          <p:nvPr/>
        </p:nvGrpSpPr>
        <p:grpSpPr>
          <a:xfrm>
            <a:off x="1474462" y="1156605"/>
            <a:ext cx="6187085" cy="2778773"/>
            <a:chOff x="1184473" y="1772816"/>
            <a:chExt cx="7800975" cy="3503611"/>
          </a:xfrm>
        </p:grpSpPr>
        <p:sp>
          <p:nvSpPr>
            <p:cNvPr id="5" name="Text Box 3"/>
            <p:cNvSpPr txBox="1">
              <a:spLocks noChangeArrowheads="1"/>
            </p:cNvSpPr>
            <p:nvPr/>
          </p:nvSpPr>
          <p:spPr bwMode="auto">
            <a:xfrm>
              <a:off x="1839713"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a:solidFill>
                    <a:srgbClr val="C00000"/>
                  </a:solidFill>
                  <a:latin typeface="微软雅黑" panose="020B0503020204020204" pitchFamily="34" charset="-122"/>
                  <a:ea typeface="微软雅黑" panose="020B0503020204020204" pitchFamily="34" charset="-122"/>
                </a:rPr>
                <a:t>非 </a:t>
              </a:r>
              <a:r>
                <a:rPr kumimoji="1" lang="en-US" altLang="zh-CN" sz="1600" b="1" dirty="0">
                  <a:solidFill>
                    <a:srgbClr val="C00000"/>
                  </a:solidFill>
                  <a:latin typeface="微软雅黑" panose="020B0503020204020204" pitchFamily="34" charset="-122"/>
                  <a:ea typeface="微软雅黑" panose="020B0503020204020204" pitchFamily="34" charset="-122"/>
                </a:rPr>
                <a:t>ASCII </a:t>
              </a:r>
              <a:r>
                <a:rPr kumimoji="1" lang="zh-CN" altLang="en-US" sz="1600" b="1" dirty="0">
                  <a:solidFill>
                    <a:srgbClr val="C00000"/>
                  </a:solidFill>
                  <a:latin typeface="微软雅黑" panose="020B0503020204020204" pitchFamily="34" charset="-122"/>
                  <a:ea typeface="微软雅黑" panose="020B0503020204020204" pitchFamily="34" charset="-122"/>
                </a:rPr>
                <a:t>码</a:t>
              </a:r>
              <a:endParaRPr kumimoji="1"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6" name="Text Box 4"/>
            <p:cNvSpPr txBox="1">
              <a:spLocks noChangeArrowheads="1"/>
            </p:cNvSpPr>
            <p:nvPr/>
          </p:nvSpPr>
          <p:spPr bwMode="auto">
            <a:xfrm>
              <a:off x="1855191" y="3942927"/>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7" name="Rectangle 5"/>
            <p:cNvSpPr>
              <a:spLocks noChangeArrowheads="1"/>
            </p:cNvSpPr>
            <p:nvPr/>
          </p:nvSpPr>
          <p:spPr bwMode="auto">
            <a:xfrm>
              <a:off x="1184473" y="3007890"/>
              <a:ext cx="1281244" cy="596900"/>
            </a:xfrm>
            <a:prstGeom prst="rect">
              <a:avLst/>
            </a:prstGeom>
            <a:solidFill>
              <a:srgbClr val="0000FF"/>
            </a:solidFill>
            <a:ln w="9525">
              <a:solidFill>
                <a:srgbClr val="333399"/>
              </a:solidFill>
              <a:miter lim="800000"/>
            </a:ln>
            <a:effectLst/>
          </p:spPr>
          <p:txBody>
            <a:bodyPr wrap="none" anchor="ctr"/>
            <a:lstStyle/>
            <a:p>
              <a:pPr algn="ctr" eaLnBrk="1" hangingPunct="1"/>
              <a:r>
                <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rPr>
                <a:t>MIME</a:t>
              </a:r>
              <a:endPar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endParaRPr>
            </a:p>
          </p:txBody>
        </p:sp>
        <p:sp>
          <p:nvSpPr>
            <p:cNvPr id="8" name="Rectangle 6"/>
            <p:cNvSpPr>
              <a:spLocks noChangeArrowheads="1"/>
            </p:cNvSpPr>
            <p:nvPr/>
          </p:nvSpPr>
          <p:spPr bwMode="auto">
            <a:xfrm>
              <a:off x="1184473" y="4679527"/>
              <a:ext cx="1281244" cy="596900"/>
            </a:xfrm>
            <a:prstGeom prst="rect">
              <a:avLst/>
            </a:prstGeom>
            <a:solidFill>
              <a:srgbClr val="00FFCC"/>
            </a:solidFill>
            <a:ln w="9525">
              <a:solidFill>
                <a:srgbClr val="333399"/>
              </a:solidFill>
              <a:miter lim="800000"/>
            </a:ln>
            <a:effectLst/>
          </p:spPr>
          <p:txBody>
            <a:bodyPr wrap="none" anchor="ctr"/>
            <a:lstStyle/>
            <a:p>
              <a:pPr algn="ctr" eaLnBrk="1" hangingPunct="1"/>
              <a:r>
                <a:rPr kumimoji="1" lang="en-US" altLang="zh-CN" sz="1600" b="1">
                  <a:latin typeface="微软雅黑" panose="020B0503020204020204" pitchFamily="34" charset="-122"/>
                  <a:ea typeface="微软雅黑" panose="020B0503020204020204" pitchFamily="34" charset="-122"/>
                </a:rPr>
                <a:t>SMTP</a:t>
              </a:r>
              <a:endParaRPr kumimoji="1" lang="en-US" altLang="zh-CN" sz="1600" b="1">
                <a:latin typeface="微软雅黑" panose="020B0503020204020204" pitchFamily="34" charset="-122"/>
                <a:ea typeface="微软雅黑" panose="020B0503020204020204" pitchFamily="34" charset="-122"/>
              </a:endParaRPr>
            </a:p>
          </p:txBody>
        </p:sp>
        <p:sp>
          <p:nvSpPr>
            <p:cNvPr id="9" name="Rectangle 7"/>
            <p:cNvSpPr>
              <a:spLocks noChangeArrowheads="1"/>
            </p:cNvSpPr>
            <p:nvPr/>
          </p:nvSpPr>
          <p:spPr bwMode="auto">
            <a:xfrm>
              <a:off x="7704203" y="3007890"/>
              <a:ext cx="1281245" cy="596900"/>
            </a:xfrm>
            <a:prstGeom prst="rect">
              <a:avLst/>
            </a:prstGeom>
            <a:solidFill>
              <a:srgbClr val="0000FF"/>
            </a:solidFill>
            <a:ln w="9525">
              <a:solidFill>
                <a:srgbClr val="333399"/>
              </a:solidFill>
              <a:miter lim="800000"/>
            </a:ln>
            <a:effectLst/>
          </p:spPr>
          <p:txBody>
            <a:bodyPr wrap="none" anchor="ctr"/>
            <a:lstStyle/>
            <a:p>
              <a:pPr algn="ctr" eaLnBrk="1" hangingPunct="1"/>
              <a:r>
                <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rPr>
                <a:t>MIME</a:t>
              </a:r>
              <a:endPar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endParaRPr>
            </a:p>
          </p:txBody>
        </p:sp>
        <p:sp>
          <p:nvSpPr>
            <p:cNvPr id="10" name="Rectangle 8"/>
            <p:cNvSpPr>
              <a:spLocks noChangeArrowheads="1"/>
            </p:cNvSpPr>
            <p:nvPr/>
          </p:nvSpPr>
          <p:spPr bwMode="auto">
            <a:xfrm>
              <a:off x="7704203" y="4679527"/>
              <a:ext cx="1281245" cy="596900"/>
            </a:xfrm>
            <a:prstGeom prst="rect">
              <a:avLst/>
            </a:prstGeom>
            <a:solidFill>
              <a:srgbClr val="00FFCC"/>
            </a:solidFill>
            <a:ln w="9525">
              <a:solidFill>
                <a:srgbClr val="333399"/>
              </a:solidFill>
              <a:miter lim="800000"/>
            </a:ln>
            <a:effectLst/>
          </p:spPr>
          <p:txBody>
            <a:bodyPr wrap="none" anchor="ctr"/>
            <a:lstStyle/>
            <a:p>
              <a:pPr algn="ctr" eaLnBrk="1" hangingPunct="1"/>
              <a:r>
                <a:rPr kumimoji="1" lang="en-US" altLang="zh-CN" sz="1600" b="1">
                  <a:latin typeface="微软雅黑" panose="020B0503020204020204" pitchFamily="34" charset="-122"/>
                  <a:ea typeface="微软雅黑" panose="020B0503020204020204" pitchFamily="34" charset="-122"/>
                </a:rPr>
                <a:t>SMTP</a:t>
              </a:r>
              <a:endParaRPr kumimoji="1" lang="en-US" altLang="zh-CN" sz="1600" b="1">
                <a:latin typeface="微软雅黑" panose="020B0503020204020204" pitchFamily="34" charset="-122"/>
                <a:ea typeface="微软雅黑" panose="020B0503020204020204" pitchFamily="34" charset="-122"/>
              </a:endParaRPr>
            </a:p>
          </p:txBody>
        </p:sp>
        <p:sp>
          <p:nvSpPr>
            <p:cNvPr id="11" name="Line 9"/>
            <p:cNvSpPr>
              <a:spLocks noChangeShapeType="1"/>
            </p:cNvSpPr>
            <p:nvPr/>
          </p:nvSpPr>
          <p:spPr bwMode="auto">
            <a:xfrm>
              <a:off x="2484635" y="4977977"/>
              <a:ext cx="524020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10"/>
            <p:cNvSpPr>
              <a:spLocks noChangeShapeType="1"/>
            </p:cNvSpPr>
            <p:nvPr/>
          </p:nvSpPr>
          <p:spPr bwMode="auto">
            <a:xfrm rot="5400000" flipH="1" flipV="1">
              <a:off x="128686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3" name="Line 11"/>
            <p:cNvSpPr>
              <a:spLocks noChangeShapeType="1"/>
            </p:cNvSpPr>
            <p:nvPr/>
          </p:nvSpPr>
          <p:spPr bwMode="auto">
            <a:xfrm rot="5400000" flipH="1" flipV="1">
              <a:off x="780831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2"/>
            <p:cNvSpPr>
              <a:spLocks noChangeShapeType="1"/>
            </p:cNvSpPr>
            <p:nvPr/>
          </p:nvSpPr>
          <p:spPr bwMode="auto">
            <a:xfrm rot="16200000" flipV="1">
              <a:off x="143926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3"/>
            <p:cNvSpPr>
              <a:spLocks noChangeShapeType="1"/>
            </p:cNvSpPr>
            <p:nvPr/>
          </p:nvSpPr>
          <p:spPr bwMode="auto">
            <a:xfrm rot="16200000" flipV="1">
              <a:off x="796071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6490030" y="391435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17" name="Text Box 15"/>
            <p:cNvSpPr txBox="1">
              <a:spLocks noChangeArrowheads="1"/>
            </p:cNvSpPr>
            <p:nvPr/>
          </p:nvSpPr>
          <p:spPr bwMode="auto">
            <a:xfrm>
              <a:off x="3955057" y="455570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18" name="Text Box 16"/>
            <p:cNvSpPr txBox="1">
              <a:spLocks noChangeArrowheads="1"/>
            </p:cNvSpPr>
            <p:nvPr/>
          </p:nvSpPr>
          <p:spPr bwMode="auto">
            <a:xfrm>
              <a:off x="6662009"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a:solidFill>
                    <a:srgbClr val="C00000"/>
                  </a:solidFill>
                  <a:latin typeface="微软雅黑" panose="020B0503020204020204" pitchFamily="34" charset="-122"/>
                  <a:ea typeface="微软雅黑" panose="020B0503020204020204" pitchFamily="34" charset="-122"/>
                </a:rPr>
                <a:t>非 </a:t>
              </a:r>
              <a:r>
                <a:rPr kumimoji="1" lang="en-US" altLang="zh-CN" sz="1600" b="1">
                  <a:solidFill>
                    <a:srgbClr val="C00000"/>
                  </a:solidFill>
                  <a:latin typeface="微软雅黑" panose="020B0503020204020204" pitchFamily="34" charset="-122"/>
                  <a:ea typeface="微软雅黑" panose="020B0503020204020204" pitchFamily="34" charset="-122"/>
                </a:rPr>
                <a:t>ASCII </a:t>
              </a:r>
              <a:r>
                <a:rPr kumimoji="1" lang="zh-CN" altLang="en-US" sz="1600" b="1">
                  <a:solidFill>
                    <a:srgbClr val="C00000"/>
                  </a:solidFill>
                  <a:latin typeface="微软雅黑" panose="020B0503020204020204" pitchFamily="34" charset="-122"/>
                  <a:ea typeface="微软雅黑" panose="020B0503020204020204" pitchFamily="34" charset="-122"/>
                </a:rPr>
                <a:t>码</a:t>
              </a:r>
              <a:endParaRPr kumimoji="1" lang="zh-CN" altLang="en-US" sz="1600" b="1">
                <a:solidFill>
                  <a:srgbClr val="C00000"/>
                </a:solidFill>
                <a:latin typeface="微软雅黑" panose="020B0503020204020204" pitchFamily="34" charset="-122"/>
                <a:ea typeface="微软雅黑" panose="020B0503020204020204" pitchFamily="34" charset="-122"/>
              </a:endParaRPr>
            </a:p>
          </p:txBody>
        </p:sp>
        <p:sp>
          <p:nvSpPr>
            <p:cNvPr id="19" name="Rectangle 17"/>
            <p:cNvSpPr>
              <a:spLocks noChangeArrowheads="1"/>
            </p:cNvSpPr>
            <p:nvPr/>
          </p:nvSpPr>
          <p:spPr bwMode="auto">
            <a:xfrm>
              <a:off x="1301419" y="1772816"/>
              <a:ext cx="1047353" cy="477837"/>
            </a:xfrm>
            <a:prstGeom prst="rect">
              <a:avLst/>
            </a:prstGeom>
            <a:solidFill>
              <a:srgbClr val="99FFCC"/>
            </a:solidFill>
            <a:ln w="9525">
              <a:solidFill>
                <a:srgbClr val="333399"/>
              </a:solidFill>
              <a:miter lim="800000"/>
            </a:ln>
            <a:effectLst/>
          </p:spPr>
          <p:txBody>
            <a:bodyPr wrap="none" anchor="ctr"/>
            <a:lstStyle/>
            <a:p>
              <a:pPr algn="ctr" eaLnBrk="1" hangingPunct="1"/>
              <a:r>
                <a:rPr kumimoji="1" lang="zh-CN" altLang="en-US" sz="1600" b="1">
                  <a:latin typeface="微软雅黑" panose="020B0503020204020204" pitchFamily="34" charset="-122"/>
                  <a:ea typeface="微软雅黑" panose="020B0503020204020204" pitchFamily="34" charset="-122"/>
                </a:rPr>
                <a:t>用户</a:t>
              </a:r>
              <a:endParaRPr kumimoji="1" lang="zh-CN" altLang="en-US" sz="1600" b="1">
                <a:latin typeface="微软雅黑" panose="020B0503020204020204" pitchFamily="34" charset="-122"/>
                <a:ea typeface="微软雅黑" panose="020B0503020204020204" pitchFamily="34" charset="-122"/>
              </a:endParaRPr>
            </a:p>
          </p:txBody>
        </p:sp>
        <p:sp>
          <p:nvSpPr>
            <p:cNvPr id="20" name="Rectangle 18"/>
            <p:cNvSpPr>
              <a:spLocks noChangeArrowheads="1"/>
            </p:cNvSpPr>
            <p:nvPr/>
          </p:nvSpPr>
          <p:spPr bwMode="auto">
            <a:xfrm>
              <a:off x="7821148" y="1772816"/>
              <a:ext cx="1047354" cy="477837"/>
            </a:xfrm>
            <a:prstGeom prst="rect">
              <a:avLst/>
            </a:prstGeom>
            <a:solidFill>
              <a:srgbClr val="99FFCC"/>
            </a:solidFill>
            <a:ln w="9525">
              <a:solidFill>
                <a:srgbClr val="333399"/>
              </a:solidFill>
              <a:miter lim="800000"/>
            </a:ln>
            <a:effectLst/>
          </p:spPr>
          <p:txBody>
            <a:bodyPr wrap="none" anchor="ctr"/>
            <a:lstStyle/>
            <a:p>
              <a:pPr algn="ctr" eaLnBrk="1" hangingPunct="1"/>
              <a:r>
                <a:rPr kumimoji="1" lang="zh-CN" altLang="en-US" sz="1600" b="1" dirty="0">
                  <a:latin typeface="微软雅黑" panose="020B0503020204020204" pitchFamily="34" charset="-122"/>
                  <a:ea typeface="微软雅黑" panose="020B0503020204020204" pitchFamily="34" charset="-122"/>
                </a:rPr>
                <a:t>用户</a:t>
              </a:r>
              <a:endParaRPr kumimoji="1" lang="zh-CN" altLang="en-US" sz="1600" b="1" dirty="0">
                <a:latin typeface="微软雅黑" panose="020B0503020204020204" pitchFamily="34" charset="-122"/>
                <a:ea typeface="微软雅黑" panose="020B0503020204020204" pitchFamily="34" charset="-122"/>
              </a:endParaRPr>
            </a:p>
          </p:txBody>
        </p:sp>
      </p:grpSp>
      <p:sp>
        <p:nvSpPr>
          <p:cNvPr id="22" name="AutoShape 5"/>
          <p:cNvSpPr>
            <a:spLocks noChangeArrowheads="1"/>
          </p:cNvSpPr>
          <p:nvPr/>
        </p:nvSpPr>
        <p:spPr bwMode="auto">
          <a:xfrm>
            <a:off x="556963" y="602576"/>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矩形 22"/>
          <p:cNvSpPr/>
          <p:nvPr/>
        </p:nvSpPr>
        <p:spPr>
          <a:xfrm>
            <a:off x="645268" y="560336"/>
            <a:ext cx="294984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的关系</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9132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5 </a:t>
            </a:r>
            <a:r>
              <a:rPr lang="zh-CN" altLang="en-US" sz="2000" b="1" dirty="0">
                <a:latin typeface="微软雅黑" panose="020B0503020204020204" pitchFamily="34" charset="-122"/>
                <a:ea typeface="微软雅黑" panose="020B0503020204020204" pitchFamily="34" charset="-122"/>
              </a:rPr>
              <a:t>个新的邮件</a:t>
            </a:r>
            <a:r>
              <a:rPr lang="zh-CN" altLang="en-US" sz="2000" b="1" dirty="0">
                <a:solidFill>
                  <a:srgbClr val="0000FF"/>
                </a:solidFill>
                <a:latin typeface="微软雅黑" panose="020B0503020204020204" pitchFamily="34" charset="-122"/>
                <a:ea typeface="微软雅黑" panose="020B0503020204020204" pitchFamily="34" charset="-122"/>
              </a:rPr>
              <a:t>首部</a:t>
            </a:r>
            <a:r>
              <a:rPr lang="zh-CN" altLang="en-US" sz="2000" b="1" dirty="0" smtClean="0">
                <a:solidFill>
                  <a:srgbClr val="0000FF"/>
                </a:solidFill>
                <a:latin typeface="微软雅黑" panose="020B0503020204020204" pitchFamily="34" charset="-122"/>
                <a:ea typeface="微软雅黑" panose="020B0503020204020204" pitchFamily="34" charset="-122"/>
              </a:rPr>
              <a:t>字段</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定义了许多邮件内容的</a:t>
            </a:r>
            <a:r>
              <a:rPr lang="zh-CN" altLang="en-US" sz="2000" b="1" dirty="0">
                <a:solidFill>
                  <a:srgbClr val="0000FF"/>
                </a:solidFill>
                <a:latin typeface="微软雅黑" panose="020B0503020204020204" pitchFamily="34" charset="-122"/>
                <a:ea typeface="微软雅黑" panose="020B0503020204020204" pitchFamily="34" charset="-122"/>
              </a:rPr>
              <a:t>格式</a:t>
            </a:r>
            <a:r>
              <a:rPr lang="zh-CN" altLang="en-US" sz="2000" b="1" dirty="0">
                <a:latin typeface="微软雅黑" panose="020B0503020204020204" pitchFamily="34" charset="-122"/>
                <a:ea typeface="微软雅黑" panose="020B0503020204020204" pitchFamily="34" charset="-122"/>
              </a:rPr>
              <a:t>，对多媒体电子邮件的表示方法进行了标准化。</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a:t>
            </a:r>
            <a:r>
              <a:rPr lang="zh-CN" altLang="en-US" sz="2000" b="1" dirty="0">
                <a:solidFill>
                  <a:srgbClr val="0000FF"/>
                </a:solidFill>
                <a:latin typeface="微软雅黑" panose="020B0503020204020204" pitchFamily="34" charset="-122"/>
                <a:ea typeface="微软雅黑" panose="020B0503020204020204" pitchFamily="34" charset="-122"/>
              </a:rPr>
              <a:t>传送编码</a:t>
            </a:r>
            <a:r>
              <a:rPr lang="zh-CN" altLang="en-US" sz="2000" b="1" dirty="0">
                <a:latin typeface="微软雅黑" panose="020B0503020204020204" pitchFamily="34" charset="-122"/>
                <a:ea typeface="微软雅黑" panose="020B0503020204020204" pitchFamily="34" charset="-122"/>
              </a:rPr>
              <a:t>，可对任何内容格式进行转换，而不会被邮件系统改变。</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0433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2954"/>
            <a:ext cx="307488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主要包括三个部分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416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520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4681"/>
            <a:ext cx="3643946" cy="400110"/>
          </a:xfrm>
          <a:prstGeom prst="rect">
            <a:avLst/>
          </a:prstGeom>
        </p:spPr>
        <p:txBody>
          <a:bodyPr wrap="none" anchor="ctr">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增加 </a:t>
            </a:r>
            <a:r>
              <a:rPr lang="en-US" altLang="zh-CN" sz="2000" b="1" dirty="0">
                <a:latin typeface="微软雅黑" panose="020B0503020204020204" pitchFamily="34" charset="-122"/>
                <a:ea typeface="微软雅黑" panose="020B0503020204020204" pitchFamily="34" charset="-122"/>
              </a:rPr>
              <a:t>5 </a:t>
            </a:r>
            <a:r>
              <a:rPr lang="zh-CN" altLang="en-US" sz="2000" b="1" dirty="0">
                <a:latin typeface="微软雅黑" panose="020B0503020204020204" pitchFamily="34" charset="-122"/>
                <a:ea typeface="微软雅黑" panose="020B0503020204020204" pitchFamily="34" charset="-122"/>
              </a:rPr>
              <a:t>个新的邮件首部</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789774" y="1273689"/>
            <a:ext cx="6345239" cy="367862"/>
          </a:xfrm>
          <a:prstGeom prst="rect">
            <a:avLst/>
          </a:prstGeom>
          <a:solidFill>
            <a:srgbClr val="0066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bg1"/>
                </a:solidFill>
                <a:latin typeface="微软雅黑" panose="020B0503020204020204" pitchFamily="34" charset="-122"/>
                <a:ea typeface="微软雅黑" panose="020B0503020204020204" pitchFamily="34" charset="-122"/>
              </a:rPr>
              <a:t>邮件首部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7" name="矩形 6"/>
          <p:cNvSpPr/>
          <p:nvPr/>
        </p:nvSpPr>
        <p:spPr>
          <a:xfrm>
            <a:off x="1789774" y="1641551"/>
            <a:ext cx="6345239" cy="192165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789774" y="3563201"/>
            <a:ext cx="6345239" cy="367862"/>
          </a:xfrm>
          <a:prstGeom prst="rect">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tx1"/>
                </a:solidFill>
                <a:latin typeface="微软雅黑" panose="020B0503020204020204" pitchFamily="34" charset="-122"/>
                <a:ea typeface="微软雅黑" panose="020B0503020204020204" pitchFamily="34" charset="-122"/>
              </a:rPr>
              <a:t>邮件主体</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sp>
        <p:nvSpPr>
          <p:cNvPr id="3" name="矩形 2"/>
          <p:cNvSpPr/>
          <p:nvPr/>
        </p:nvSpPr>
        <p:spPr>
          <a:xfrm>
            <a:off x="885526" y="2197229"/>
            <a:ext cx="867546" cy="646331"/>
          </a:xfrm>
          <a:prstGeom prst="rect">
            <a:avLst/>
          </a:prstGeom>
        </p:spPr>
        <p:txBody>
          <a:bodyPr wrap="none">
            <a:spAutoFit/>
          </a:bodyPr>
          <a:lstStyle/>
          <a:p>
            <a:pPr algn="ctr"/>
            <a:r>
              <a:rPr lang="en-US" altLang="zh-CN" b="1" dirty="0" smtClean="0">
                <a:solidFill>
                  <a:srgbClr val="0000FF"/>
                </a:solidFill>
                <a:latin typeface="微软雅黑" panose="020B0503020204020204" pitchFamily="34" charset="-122"/>
                <a:ea typeface="微软雅黑" panose="020B0503020204020204" pitchFamily="34" charset="-122"/>
              </a:rPr>
              <a:t>MIME</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algn="ctr"/>
            <a:r>
              <a:rPr lang="zh-CN" altLang="en-US" b="1" dirty="0" smtClean="0">
                <a:solidFill>
                  <a:srgbClr val="0000FF"/>
                </a:solidFill>
                <a:latin typeface="微软雅黑" panose="020B0503020204020204" pitchFamily="34" charset="-122"/>
                <a:ea typeface="微软雅黑" panose="020B0503020204020204" pitchFamily="34" charset="-122"/>
              </a:rPr>
              <a:t>首部</a:t>
            </a:r>
            <a:endParaRPr lang="zh-CN" altLang="en-US" b="1" dirty="0">
              <a:solidFill>
                <a:srgbClr val="0000FF"/>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1825141" y="1675198"/>
            <a:ext cx="6383444" cy="17594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MIME-Version</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latin typeface="微软雅黑" panose="020B0503020204020204" pitchFamily="34" charset="-122"/>
                <a:ea typeface="微软雅黑" panose="020B0503020204020204" pitchFamily="34" charset="-122"/>
              </a:rPr>
              <a:t>MIME </a:t>
            </a:r>
            <a:r>
              <a:rPr lang="zh-CN" altLang="en-US" sz="1600" b="1" dirty="0">
                <a:latin typeface="微软雅黑" panose="020B0503020204020204" pitchFamily="34" charset="-122"/>
                <a:ea typeface="微软雅黑" panose="020B0503020204020204" pitchFamily="34" charset="-122"/>
              </a:rPr>
              <a:t>的版本</a:t>
            </a:r>
            <a:r>
              <a:rPr lang="zh-CN" altLang="en-US" sz="1600" b="1" dirty="0" smtClean="0">
                <a:latin typeface="微软雅黑" panose="020B0503020204020204" pitchFamily="34" charset="-122"/>
                <a:ea typeface="微软雅黑" panose="020B0503020204020204" pitchFamily="34" charset="-122"/>
              </a:rPr>
              <a:t>。若</a:t>
            </a:r>
            <a:r>
              <a:rPr lang="zh-CN" altLang="en-US" sz="1600" b="1" dirty="0">
                <a:latin typeface="微软雅黑" panose="020B0503020204020204" pitchFamily="34" charset="-122"/>
                <a:ea typeface="微软雅黑" panose="020B0503020204020204" pitchFamily="34" charset="-122"/>
              </a:rPr>
              <a:t>无此行，则为英文文本。</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Content-Description</a:t>
            </a:r>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这是可读字符串</a:t>
            </a:r>
            <a:r>
              <a:rPr lang="zh-CN" altLang="en-US" sz="1600" b="1" dirty="0" smtClean="0">
                <a:latin typeface="微软雅黑" panose="020B0503020204020204" pitchFamily="34" charset="-122"/>
                <a:ea typeface="微软雅黑" panose="020B0503020204020204" pitchFamily="34" charset="-122"/>
              </a:rPr>
              <a:t>，此邮件的说明。</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Content-Id</a:t>
            </a:r>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邮件的唯一标识符。 </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Content-Transfer-Encoding</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传送</a:t>
            </a:r>
            <a:r>
              <a:rPr lang="zh-CN" altLang="en-US" sz="1600" b="1" dirty="0">
                <a:latin typeface="微软雅黑" panose="020B0503020204020204" pitchFamily="34" charset="-122"/>
                <a:ea typeface="微软雅黑" panose="020B0503020204020204" pitchFamily="34" charset="-122"/>
              </a:rPr>
              <a:t>时</a:t>
            </a:r>
            <a:r>
              <a:rPr lang="zh-CN" altLang="en-US" sz="1600" b="1" dirty="0" smtClean="0">
                <a:latin typeface="微软雅黑" panose="020B0503020204020204" pitchFamily="34" charset="-122"/>
                <a:ea typeface="微软雅黑" panose="020B0503020204020204" pitchFamily="34" charset="-122"/>
              </a:rPr>
              <a:t>邮件主体使用的编码方法。</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Content-Type</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邮件内容类型 </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子类型。 </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88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49079" y="567673"/>
            <a:ext cx="58645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内容传送</a:t>
            </a:r>
            <a:r>
              <a:rPr lang="zh-CN" altLang="en-US" sz="2000" b="1" dirty="0" smtClean="0">
                <a:solidFill>
                  <a:schemeClr val="bg1"/>
                </a:solidFill>
                <a:latin typeface="微软雅黑" panose="020B0503020204020204" pitchFamily="34" charset="-122"/>
                <a:ea typeface="微软雅黑" panose="020B0503020204020204" pitchFamily="34" charset="-122"/>
              </a:rPr>
              <a:t>编码</a:t>
            </a:r>
            <a:r>
              <a:rPr lang="en-US" altLang="zh-CN"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a:solidFill>
                  <a:schemeClr val="bg1"/>
                </a:solidFill>
                <a:latin typeface="微软雅黑" panose="020B0503020204020204" pitchFamily="34" charset="-122"/>
                <a:ea typeface="微软雅黑" panose="020B0503020204020204" pitchFamily="34" charset="-122"/>
              </a:rPr>
              <a:t>Content-Transfer-Encoding) </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Group 34"/>
          <p:cNvGraphicFramePr>
            <a:graphicFrameLocks noGrp="1"/>
          </p:cNvGraphicFramePr>
          <p:nvPr/>
        </p:nvGraphicFramePr>
        <p:xfrm>
          <a:off x="663499" y="1027960"/>
          <a:ext cx="7814680" cy="3052309"/>
        </p:xfrm>
        <a:graphic>
          <a:graphicData uri="http://schemas.openxmlformats.org/drawingml/2006/table">
            <a:tbl>
              <a:tblPr firstRow="1" bandRow="1">
                <a:tableStyleId>{5C22544A-7EE6-4342-B048-85BDC9FD1C3A}</a:tableStyleId>
              </a:tblPr>
              <a:tblGrid>
                <a:gridCol w="1149825"/>
                <a:gridCol w="6664855"/>
              </a:tblGrid>
              <a:tr h="366030">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anose="05000000000000000000" pitchFamily="2" charset="2"/>
                        <a:buNone/>
                      </a:pPr>
                      <a:r>
                        <a:rPr kumimoji="1"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编码方法</a:t>
                      </a:r>
                      <a:endParaRPr kumimoji="1" lang="en-US" altLang="ko-KR"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anose="05000000000000000000" pitchFamily="2" charset="2"/>
                        <a:buNone/>
                      </a:pPr>
                      <a:r>
                        <a:rPr kumimoji="1"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说明</a:t>
                      </a:r>
                      <a:endParaRPr kumimoji="1" lang="en-US" altLang="ko-KR"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7bit</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7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 </a:t>
                      </a: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编码，每行不能超过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1000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个字符（包括回车和换行</a:t>
                      </a:r>
                      <a:r>
                        <a:rPr kumimoji="1" lang="zh-CN" altLang="en-US" sz="1600" b="1" u="none" strike="noStrike" cap="none" normalizeH="0" baseline="0" smtClean="0">
                          <a:ln>
                            <a:noFill/>
                          </a:ln>
                          <a:effectLst/>
                          <a:latin typeface="微软雅黑" panose="020B0503020204020204" pitchFamily="34" charset="-122"/>
                          <a:ea typeface="微软雅黑" panose="020B0503020204020204" pitchFamily="34" charset="-122"/>
                        </a:rPr>
                        <a:t>）。默认编码方法</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a:t>
                      </a:r>
                      <a:endParaRPr kumimoji="1" lang="ko-KR" altLang="en-US" sz="1600" b="1" i="0" u="none" strike="noStrike" cap="none" normalizeH="0" baseline="0" dirty="0" smtClean="0">
                        <a:ln>
                          <a:noFill/>
                        </a:ln>
                        <a:solidFill>
                          <a:schemeClr val="tx1"/>
                        </a:solidFill>
                        <a:effectLst/>
                        <a:latin typeface="微软雅黑" panose="020B0503020204020204" pitchFamily="34" charset="-122"/>
                        <a:ea typeface="굴림" panose="020B0600000101010101"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r h="36734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8bit</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位非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编码，每行不能超过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1000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个字节（包括回车和换行）。</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36734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Binary</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位非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编码，任意长度的字节串。</a:t>
                      </a:r>
                      <a:endParaRPr kumimoji="1" lang="ko-KR" altLang="en-US" sz="1600" b="1" i="0" u="none" strike="noStrike" cap="none" normalizeH="0" baseline="0" dirty="0" smtClean="0">
                        <a:ln>
                          <a:noFill/>
                        </a:ln>
                        <a:solidFill>
                          <a:schemeClr val="tx1"/>
                        </a:solidFill>
                        <a:effectLst/>
                        <a:latin typeface="微软雅黑" panose="020B0503020204020204" pitchFamily="34" charset="-122"/>
                        <a:ea typeface="굴림" panose="020B0600000101010101"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Base64</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将任意长度的字节串转换为用 </a:t>
                      </a:r>
                      <a:r>
                        <a:rPr kumimoji="1" lang="en-US" altLang="zh-CN"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7 </a:t>
                      </a: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位 </a:t>
                      </a:r>
                      <a:r>
                        <a:rPr kumimoji="1" lang="en-US" altLang="zh-CN"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ASCII </a:t>
                      </a: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编码表示的字符串。可用于二进制和非文本数据的编码。</a:t>
                      </a:r>
                      <a:endParaRPr kumimoji="1" lang="ko-KR"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Quoted-printable</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将任意长度的字节串转换为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编码表示的字符串。可用于二进制和非文本数据的编码。</a:t>
                      </a:r>
                      <a:endPar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4" y="1426737"/>
            <a:ext cx="8048775" cy="240686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Rectangle 68"/>
          <p:cNvSpPr>
            <a:spLocks noChangeArrowheads="1"/>
          </p:cNvSpPr>
          <p:nvPr/>
        </p:nvSpPr>
        <p:spPr bwMode="auto">
          <a:xfrm>
            <a:off x="556964" y="913678"/>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适用于所</a:t>
            </a:r>
            <a:r>
              <a:rPr lang="zh-CN" altLang="en-US" sz="2000" b="1" dirty="0">
                <a:latin typeface="微软雅黑" panose="020B0503020204020204" pitchFamily="34" charset="-122"/>
                <a:ea typeface="微软雅黑" panose="020B0503020204020204" pitchFamily="34" charset="-122"/>
              </a:rPr>
              <a:t>传送的数据中只有</a:t>
            </a:r>
            <a:r>
              <a:rPr lang="zh-CN" altLang="en-US" sz="2000" b="1" dirty="0">
                <a:solidFill>
                  <a:srgbClr val="C00000"/>
                </a:solidFill>
                <a:latin typeface="微软雅黑" panose="020B0503020204020204" pitchFamily="34" charset="-122"/>
                <a:ea typeface="微软雅黑" panose="020B0503020204020204" pitchFamily="34" charset="-122"/>
              </a:rPr>
              <a:t>少量</a:t>
            </a:r>
            <a:r>
              <a:rPr lang="zh-CN" altLang="en-US" sz="2000" b="1" dirty="0">
                <a:latin typeface="微软雅黑" panose="020B0503020204020204" pitchFamily="34" charset="-122"/>
                <a:ea typeface="微软雅黑" panose="020B0503020204020204" pitchFamily="34" charset="-122"/>
              </a:rPr>
              <a:t>的非 </a:t>
            </a:r>
            <a:r>
              <a:rPr lang="en-US" altLang="zh-CN" sz="2000" b="1" dirty="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码的情况。</a:t>
            </a:r>
            <a:endParaRPr lang="en-US" altLang="zh-CN" sz="2000"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59925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7870"/>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Quoted-printable </a:t>
            </a:r>
            <a:r>
              <a:rPr lang="zh-CN" altLang="en-US" sz="2000" b="1" dirty="0" smtClean="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8" name="Rectangle 1030"/>
          <p:cNvSpPr>
            <a:spLocks noChangeArrowheads="1"/>
          </p:cNvSpPr>
          <p:nvPr/>
        </p:nvSpPr>
        <p:spPr bwMode="auto">
          <a:xfrm>
            <a:off x="103778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a:solidFill>
                  <a:schemeClr val="bg1"/>
                </a:solidFill>
                <a:latin typeface="微软雅黑" panose="020B0503020204020204" pitchFamily="34" charset="-122"/>
                <a:ea typeface="微软雅黑" panose="020B0503020204020204" pitchFamily="34" charset="-122"/>
              </a:rPr>
              <a:t>00111101</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9" name="Rectangle 1031"/>
          <p:cNvSpPr>
            <a:spLocks noChangeArrowheads="1"/>
          </p:cNvSpPr>
          <p:nvPr/>
        </p:nvSpPr>
        <p:spPr bwMode="auto">
          <a:xfrm>
            <a:off x="203979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a:solidFill>
                  <a:schemeClr val="bg1"/>
                </a:solidFill>
                <a:latin typeface="微软雅黑" panose="020B0503020204020204" pitchFamily="34" charset="-122"/>
                <a:ea typeface="微软雅黑" panose="020B0503020204020204" pitchFamily="34" charset="-122"/>
              </a:rPr>
              <a:t>00111001</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10" name="Rectangle 1032"/>
          <p:cNvSpPr>
            <a:spLocks noChangeArrowheads="1"/>
          </p:cNvSpPr>
          <p:nvPr/>
        </p:nvSpPr>
        <p:spPr bwMode="auto">
          <a:xfrm>
            <a:off x="303129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dirty="0">
                <a:solidFill>
                  <a:schemeClr val="bg1"/>
                </a:solidFill>
                <a:latin typeface="微软雅黑" panose="020B0503020204020204" pitchFamily="34" charset="-122"/>
                <a:ea typeface="微软雅黑" panose="020B0503020204020204" pitchFamily="34" charset="-122"/>
              </a:rPr>
              <a:t>01000100</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1" name="Line 1035"/>
          <p:cNvSpPr>
            <a:spLocks noChangeShapeType="1"/>
          </p:cNvSpPr>
          <p:nvPr/>
        </p:nvSpPr>
        <p:spPr bwMode="auto">
          <a:xfrm flipH="1">
            <a:off x="1546227" y="1999099"/>
            <a:ext cx="738668" cy="731324"/>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2" name="Line 1036"/>
          <p:cNvSpPr>
            <a:spLocks noChangeShapeType="1"/>
          </p:cNvSpPr>
          <p:nvPr/>
        </p:nvSpPr>
        <p:spPr bwMode="auto">
          <a:xfrm flipH="1">
            <a:off x="2487095" y="1945728"/>
            <a:ext cx="0" cy="784695"/>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3" name="Line 1037"/>
          <p:cNvSpPr>
            <a:spLocks noChangeShapeType="1"/>
          </p:cNvSpPr>
          <p:nvPr/>
        </p:nvSpPr>
        <p:spPr bwMode="auto">
          <a:xfrm>
            <a:off x="2757862" y="1818633"/>
            <a:ext cx="791917" cy="911791"/>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4" name="Text Box 1043"/>
          <p:cNvSpPr txBox="1">
            <a:spLocks noChangeArrowheads="1"/>
          </p:cNvSpPr>
          <p:nvPr/>
        </p:nvSpPr>
        <p:spPr bwMode="auto">
          <a:xfrm>
            <a:off x="1268065" y="2422994"/>
            <a:ext cx="42030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5" name="Text Box 1044"/>
          <p:cNvSpPr txBox="1">
            <a:spLocks noChangeArrowheads="1"/>
          </p:cNvSpPr>
          <p:nvPr/>
        </p:nvSpPr>
        <p:spPr bwMode="auto">
          <a:xfrm>
            <a:off x="2482976" y="2422994"/>
            <a:ext cx="39786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(9)</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6" name="Text Box 1045"/>
          <p:cNvSpPr txBox="1">
            <a:spLocks noChangeArrowheads="1"/>
          </p:cNvSpPr>
          <p:nvPr/>
        </p:nvSpPr>
        <p:spPr bwMode="auto">
          <a:xfrm>
            <a:off x="3445006" y="2422994"/>
            <a:ext cx="4251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(D)</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7" name="Rectangle 1028"/>
          <p:cNvSpPr>
            <a:spLocks noChangeArrowheads="1"/>
          </p:cNvSpPr>
          <p:nvPr/>
        </p:nvSpPr>
        <p:spPr bwMode="auto">
          <a:xfrm>
            <a:off x="943192" y="1818633"/>
            <a:ext cx="3186846" cy="360933"/>
          </a:xfrm>
          <a:prstGeom prst="rect">
            <a:avLst/>
          </a:prstGeom>
          <a:solidFill>
            <a:srgbClr val="00CC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dirty="0" smtClean="0">
                <a:solidFill>
                  <a:srgbClr val="020202"/>
                </a:solidFill>
                <a:latin typeface="微软雅黑" panose="020B0503020204020204" pitchFamily="34" charset="-122"/>
                <a:ea typeface="微软雅黑" panose="020B0503020204020204" pitchFamily="34" charset="-122"/>
              </a:rPr>
              <a:t> … 01001100   </a:t>
            </a:r>
            <a:r>
              <a:rPr lang="en-US" altLang="zh-CN" sz="1200" b="1" dirty="0" smtClean="0">
                <a:solidFill>
                  <a:srgbClr val="0000FF"/>
                </a:solidFill>
                <a:latin typeface="微软雅黑" panose="020B0503020204020204" pitchFamily="34" charset="-122"/>
                <a:ea typeface="微软雅黑" panose="020B0503020204020204" pitchFamily="34" charset="-122"/>
              </a:rPr>
              <a:t>1001</a:t>
            </a:r>
            <a:r>
              <a:rPr lang="en-US" altLang="zh-CN" sz="1200" b="1" dirty="0" smtClean="0">
                <a:solidFill>
                  <a:srgbClr val="C00000"/>
                </a:solidFill>
                <a:latin typeface="微软雅黑" panose="020B0503020204020204" pitchFamily="34" charset="-122"/>
                <a:ea typeface="微软雅黑" panose="020B0503020204020204" pitchFamily="34" charset="-122"/>
              </a:rPr>
              <a:t>1101 </a:t>
            </a:r>
            <a:r>
              <a:rPr lang="en-US" altLang="zh-CN" sz="1200" b="1" dirty="0" smtClean="0">
                <a:solidFill>
                  <a:srgbClr val="020202"/>
                </a:solidFill>
                <a:latin typeface="微软雅黑" panose="020B0503020204020204" pitchFamily="34" charset="-122"/>
                <a:ea typeface="微软雅黑" panose="020B0503020204020204" pitchFamily="34" charset="-122"/>
              </a:rPr>
              <a:t>     00111001  … </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7" name="矩形 16"/>
          <p:cNvSpPr/>
          <p:nvPr/>
        </p:nvSpPr>
        <p:spPr>
          <a:xfrm>
            <a:off x="2092340" y="1860673"/>
            <a:ext cx="951937" cy="288000"/>
          </a:xfrm>
          <a:prstGeom prst="rect">
            <a:avLst/>
          </a:prstGeom>
          <a:solidFill>
            <a:srgbClr val="FFFF00"/>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rgbClr val="0000FF"/>
                </a:solidFill>
                <a:latin typeface="微软雅黑" panose="020B0503020204020204" pitchFamily="34" charset="-122"/>
                <a:ea typeface="微软雅黑" panose="020B0503020204020204" pitchFamily="34" charset="-122"/>
              </a:rPr>
              <a:t>1001</a:t>
            </a:r>
            <a:r>
              <a:rPr lang="en-US" altLang="zh-CN" sz="1200" b="1" dirty="0">
                <a:solidFill>
                  <a:srgbClr val="C00000"/>
                </a:solidFill>
                <a:latin typeface="微软雅黑" panose="020B0503020204020204" pitchFamily="34" charset="-122"/>
                <a:ea typeface="微软雅黑" panose="020B0503020204020204" pitchFamily="34" charset="-122"/>
              </a:rPr>
              <a:t>1101</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0" name="Line 1036"/>
          <p:cNvSpPr>
            <a:spLocks noChangeShapeType="1"/>
          </p:cNvSpPr>
          <p:nvPr/>
        </p:nvSpPr>
        <p:spPr bwMode="auto">
          <a:xfrm flipH="1">
            <a:off x="6334120" y="2187812"/>
            <a:ext cx="0" cy="469041"/>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4704345" y="2007813"/>
            <a:ext cx="3350597" cy="360000"/>
          </a:xfrm>
          <a:prstGeom prst="rect">
            <a:avLst/>
          </a:prstGeom>
          <a:solidFill>
            <a:srgbClr val="FFFF00"/>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rgbClr val="020202"/>
                </a:solidFill>
                <a:latin typeface="微软雅黑" panose="020B0503020204020204" pitchFamily="34" charset="-122"/>
                <a:ea typeface="微软雅黑" panose="020B0503020204020204" pitchFamily="34" charset="-122"/>
              </a:rPr>
              <a:t>11001111 10110101 11001101 10110011</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19" name="矩形 18"/>
          <p:cNvSpPr/>
          <p:nvPr/>
        </p:nvSpPr>
        <p:spPr>
          <a:xfrm>
            <a:off x="5599465" y="2646344"/>
            <a:ext cx="1470274" cy="276999"/>
          </a:xfrm>
          <a:prstGeom prst="rect">
            <a:avLst/>
          </a:prstGeom>
          <a:solidFill>
            <a:srgbClr val="0000FF"/>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chemeClr val="bg1"/>
                </a:solidFill>
                <a:latin typeface="微软雅黑" panose="020B0503020204020204" pitchFamily="34" charset="-122"/>
                <a:ea typeface="微软雅黑" panose="020B0503020204020204" pitchFamily="34" charset="-122"/>
              </a:rPr>
              <a:t>=CF=B5=CD=B3</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1" name="矩形 20"/>
          <p:cNvSpPr/>
          <p:nvPr/>
        </p:nvSpPr>
        <p:spPr>
          <a:xfrm>
            <a:off x="6062383" y="1749577"/>
            <a:ext cx="527709" cy="276999"/>
          </a:xfrm>
          <a:prstGeom prst="rect">
            <a:avLst/>
          </a:prstGeom>
        </p:spPr>
        <p:txBody>
          <a:bodyPr wrap="none">
            <a:spAutoFit/>
          </a:bodyPr>
          <a:lstStyle/>
          <a:p>
            <a:r>
              <a:rPr lang="en-US" altLang="zh-CN" sz="1200" b="1" dirty="0">
                <a:solidFill>
                  <a:srgbClr val="020202"/>
                </a:solidFill>
                <a:latin typeface="微软雅黑" panose="020B0503020204020204" pitchFamily="34" charset="-122"/>
                <a:ea typeface="微软雅黑" panose="020B0503020204020204" pitchFamily="34" charset="-122"/>
              </a:rPr>
              <a:t>32</a:t>
            </a:r>
            <a:r>
              <a:rPr lang="zh-CN" altLang="en-US" sz="1200" b="1" dirty="0">
                <a:solidFill>
                  <a:srgbClr val="020202"/>
                </a:solidFill>
                <a:latin typeface="微软雅黑" panose="020B0503020204020204" pitchFamily="34" charset="-122"/>
                <a:ea typeface="微软雅黑" panose="020B0503020204020204" pitchFamily="34" charset="-122"/>
              </a:rPr>
              <a:t>位</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2" name="矩形 21"/>
          <p:cNvSpPr/>
          <p:nvPr/>
        </p:nvSpPr>
        <p:spPr>
          <a:xfrm>
            <a:off x="6072893" y="2942423"/>
            <a:ext cx="527709" cy="276999"/>
          </a:xfrm>
          <a:prstGeom prst="rect">
            <a:avLst/>
          </a:prstGeom>
        </p:spPr>
        <p:txBody>
          <a:bodyPr wrap="none">
            <a:spAutoFit/>
          </a:bodyPr>
          <a:lstStyle/>
          <a:p>
            <a:r>
              <a:rPr lang="en-US" altLang="zh-CN" sz="1200" b="1" dirty="0" smtClean="0">
                <a:solidFill>
                  <a:srgbClr val="020202"/>
                </a:solidFill>
                <a:latin typeface="微软雅黑" panose="020B0503020204020204" pitchFamily="34" charset="-122"/>
                <a:ea typeface="微软雅黑" panose="020B0503020204020204" pitchFamily="34" charset="-122"/>
              </a:rPr>
              <a:t>96</a:t>
            </a:r>
            <a:r>
              <a:rPr lang="zh-CN" altLang="en-US" sz="1200" b="1" dirty="0" smtClean="0">
                <a:solidFill>
                  <a:srgbClr val="020202"/>
                </a:solidFill>
                <a:latin typeface="微软雅黑" panose="020B0503020204020204" pitchFamily="34" charset="-122"/>
                <a:ea typeface="微软雅黑" panose="020B0503020204020204" pitchFamily="34" charset="-122"/>
              </a:rPr>
              <a:t>位</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3" name="矩形 22"/>
          <p:cNvSpPr/>
          <p:nvPr/>
        </p:nvSpPr>
        <p:spPr>
          <a:xfrm>
            <a:off x="1534604" y="3250851"/>
            <a:ext cx="5776107" cy="369332"/>
          </a:xfrm>
          <a:prstGeom prst="rect">
            <a:avLst/>
          </a:prstGeom>
        </p:spPr>
        <p:txBody>
          <a:bodyPr wrap="square" anchor="ctr">
            <a:spAutoFit/>
          </a:bodyPr>
          <a:lstStyle/>
          <a:p>
            <a:pPr algn="ctr"/>
            <a:r>
              <a:rPr lang="zh-CN" altLang="en-US" b="1" dirty="0" smtClean="0">
                <a:solidFill>
                  <a:srgbClr val="C00000"/>
                </a:solidFill>
                <a:latin typeface="微软雅黑" panose="020B0503020204020204" pitchFamily="34" charset="-122"/>
                <a:ea typeface="微软雅黑" panose="020B0503020204020204" pitchFamily="34" charset="-122"/>
              </a:rPr>
              <a:t>原来 </a:t>
            </a:r>
            <a:r>
              <a:rPr lang="en-US" altLang="zh-CN" b="1" dirty="0" smtClean="0">
                <a:solidFill>
                  <a:srgbClr val="C00000"/>
                </a:solidFill>
                <a:latin typeface="微软雅黑" panose="020B0503020204020204" pitchFamily="34" charset="-122"/>
                <a:ea typeface="微软雅黑" panose="020B0503020204020204" pitchFamily="34" charset="-122"/>
              </a:rPr>
              <a:t>1 </a:t>
            </a:r>
            <a:r>
              <a:rPr lang="zh-CN" altLang="en-US" b="1" dirty="0" smtClean="0">
                <a:solidFill>
                  <a:srgbClr val="C00000"/>
                </a:solidFill>
                <a:latin typeface="微软雅黑" panose="020B0503020204020204" pitchFamily="34" charset="-122"/>
                <a:ea typeface="微软雅黑" panose="020B0503020204020204" pitchFamily="34" charset="-122"/>
              </a:rPr>
              <a:t>个字节，现在需要 </a:t>
            </a:r>
            <a:r>
              <a:rPr lang="en-US" altLang="zh-CN" b="1" dirty="0" smtClean="0">
                <a:solidFill>
                  <a:srgbClr val="C00000"/>
                </a:solidFill>
                <a:latin typeface="微软雅黑" panose="020B0503020204020204" pitchFamily="34" charset="-122"/>
                <a:ea typeface="微软雅黑" panose="020B0503020204020204" pitchFamily="34" charset="-122"/>
              </a:rPr>
              <a:t>3 </a:t>
            </a:r>
            <a:r>
              <a:rPr lang="zh-CN" altLang="en-US" b="1" dirty="0" smtClean="0">
                <a:solidFill>
                  <a:srgbClr val="C00000"/>
                </a:solidFill>
                <a:latin typeface="微软雅黑" panose="020B0503020204020204" pitchFamily="34" charset="-122"/>
                <a:ea typeface="微软雅黑" panose="020B0503020204020204" pitchFamily="34" charset="-122"/>
              </a:rPr>
              <a:t>个字节，开销 </a:t>
            </a:r>
            <a:r>
              <a:rPr lang="en-US" altLang="zh-CN" b="1" dirty="0" smtClean="0">
                <a:solidFill>
                  <a:srgbClr val="C00000"/>
                </a:solidFill>
                <a:latin typeface="微软雅黑" panose="020B0503020204020204" pitchFamily="34" charset="-122"/>
                <a:ea typeface="微软雅黑" panose="020B0503020204020204" pitchFamily="34" charset="-122"/>
              </a:rPr>
              <a:t>= 200%</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838042"/>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适合</a:t>
            </a:r>
            <a:r>
              <a:rPr lang="zh-CN" altLang="en-US" b="1" dirty="0" smtClean="0">
                <a:solidFill>
                  <a:srgbClr val="C00000"/>
                </a:solidFill>
                <a:latin typeface="微软雅黑" panose="020B0503020204020204" pitchFamily="34" charset="-122"/>
                <a:ea typeface="微软雅黑" panose="020B0503020204020204" pitchFamily="34" charset="-122"/>
              </a:rPr>
              <a:t>任意长度</a:t>
            </a:r>
            <a:r>
              <a:rPr lang="zh-CN" altLang="en-US" b="1" dirty="0" smtClean="0">
                <a:latin typeface="微软雅黑" panose="020B0503020204020204" pitchFamily="34" charset="-122"/>
                <a:ea typeface="微软雅黑" panose="020B0503020204020204" pitchFamily="34" charset="-122"/>
              </a:rPr>
              <a:t>的二进制数据。编码表如下：</a:t>
            </a:r>
            <a:endParaRPr lang="en-US" altLang="zh-CN"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594406"/>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3022"/>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Base64 </a:t>
            </a:r>
            <a:r>
              <a:rPr lang="zh-CN" altLang="en-US" sz="2000" b="1" dirty="0" smtClean="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556963" y="1255083"/>
          <a:ext cx="8048780" cy="3093912"/>
        </p:xfrm>
        <a:graphic>
          <a:graphicData uri="http://schemas.openxmlformats.org/drawingml/2006/table">
            <a:tbl>
              <a:tblPr firstRow="1" bandCol="1">
                <a:tableStyleId>{5C22544A-7EE6-4342-B048-85BDC9FD1C3A}</a:tableStyleId>
              </a:tblPr>
              <a:tblGrid>
                <a:gridCol w="804878"/>
                <a:gridCol w="804878"/>
                <a:gridCol w="804878"/>
                <a:gridCol w="804878"/>
                <a:gridCol w="804878"/>
                <a:gridCol w="804878"/>
                <a:gridCol w="804878"/>
                <a:gridCol w="804878"/>
                <a:gridCol w="804878"/>
                <a:gridCol w="804878"/>
              </a:tblGrid>
              <a:tr h="280205">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A</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N</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a</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n</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0</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B</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O</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b</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o</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1</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2</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C</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P</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c</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p</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2</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D</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Q</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d</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q</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3</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4</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E</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R</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e</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r</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4</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F</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S</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f</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s</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5</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6</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G</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T</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g</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t</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6</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7</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H</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U</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h</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u</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7</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8</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I</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V</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i</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v</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8</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J</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W</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j</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w</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9</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K</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X</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k</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x</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L</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Y</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l</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y</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M</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Z</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m</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z</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sz="1200" b="1" dirty="0">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endParaRPr lang="zh-CN" altLang="en-US" sz="1200" b="1" dirty="0">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25" name="矩形 24"/>
          <p:cNvSpPr/>
          <p:nvPr/>
        </p:nvSpPr>
        <p:spPr>
          <a:xfrm>
            <a:off x="459267" y="4337201"/>
            <a:ext cx="7734820" cy="307777"/>
          </a:xfrm>
          <a:prstGeom prst="rect">
            <a:avLst/>
          </a:prstGeom>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用</a:t>
            </a:r>
            <a:r>
              <a:rPr lang="zh-CN" altLang="en-US" sz="1400" b="1" dirty="0">
                <a:latin typeface="微软雅黑" panose="020B0503020204020204" pitchFamily="34" charset="-122"/>
                <a:ea typeface="微软雅黑" panose="020B0503020204020204" pitchFamily="34" charset="-122"/>
              </a:rPr>
              <a:t>两个连在一起的二个等号“</a:t>
            </a:r>
            <a:r>
              <a:rPr lang="en-US" altLang="zh-CN" sz="1400" b="1" dirty="0">
                <a:latin typeface="微软雅黑" panose="020B0503020204020204" pitchFamily="34" charset="-122"/>
                <a:ea typeface="微软雅黑" panose="020B0503020204020204" pitchFamily="34" charset="-122"/>
              </a:rPr>
              <a:t>==”</a:t>
            </a:r>
            <a:r>
              <a:rPr lang="zh-CN" altLang="en-US" sz="1400" b="1" dirty="0">
                <a:latin typeface="微软雅黑" panose="020B0503020204020204" pitchFamily="34" charset="-122"/>
                <a:ea typeface="微软雅黑" panose="020B0503020204020204" pitchFamily="34" charset="-122"/>
              </a:rPr>
              <a:t>和一个等号“</a:t>
            </a:r>
            <a:r>
              <a:rPr lang="en-US" altLang="zh-CN" sz="1400" b="1" dirty="0">
                <a:latin typeface="微软雅黑" panose="020B0503020204020204" pitchFamily="34" charset="-122"/>
                <a:ea typeface="微软雅黑" panose="020B0503020204020204" pitchFamily="34" charset="-122"/>
              </a:rPr>
              <a:t>=”</a:t>
            </a:r>
            <a:r>
              <a:rPr lang="zh-CN" altLang="en-US" sz="1400" b="1" dirty="0">
                <a:latin typeface="微软雅黑" panose="020B0503020204020204" pitchFamily="34" charset="-122"/>
                <a:ea typeface="微软雅黑" panose="020B0503020204020204" pitchFamily="34" charset="-122"/>
              </a:rPr>
              <a:t>分别表示最后一组的代码</a:t>
            </a:r>
            <a:r>
              <a:rPr lang="zh-CN" altLang="en-US" sz="1400" b="1" dirty="0" smtClean="0">
                <a:latin typeface="微软雅黑" panose="020B0503020204020204" pitchFamily="34" charset="-122"/>
                <a:ea typeface="微软雅黑" panose="020B0503020204020204" pitchFamily="34" charset="-122"/>
              </a:rPr>
              <a:t>只有 </a:t>
            </a:r>
            <a:r>
              <a:rPr lang="en-US" altLang="zh-CN" sz="1400" b="1" dirty="0" smtClean="0">
                <a:latin typeface="微软雅黑" panose="020B0503020204020204" pitchFamily="34" charset="-122"/>
                <a:ea typeface="微软雅黑" panose="020B0503020204020204" pitchFamily="34" charset="-122"/>
              </a:rPr>
              <a:t>8 </a:t>
            </a:r>
            <a:r>
              <a:rPr lang="zh-CN" altLang="en-US" sz="1400" b="1" dirty="0" smtClean="0">
                <a:latin typeface="微软雅黑" panose="020B0503020204020204" pitchFamily="34" charset="-122"/>
                <a:ea typeface="微软雅黑" panose="020B0503020204020204" pitchFamily="34" charset="-122"/>
              </a:rPr>
              <a:t>位或 </a:t>
            </a:r>
            <a:r>
              <a:rPr lang="en-US" altLang="zh-CN" sz="1400" b="1" dirty="0" smtClean="0">
                <a:latin typeface="微软雅黑" panose="020B0503020204020204" pitchFamily="34" charset="-122"/>
                <a:ea typeface="微软雅黑" panose="020B0503020204020204" pitchFamily="34" charset="-122"/>
              </a:rPr>
              <a:t>16 </a:t>
            </a:r>
            <a:r>
              <a:rPr lang="zh-CN" altLang="en-US" sz="1400" b="1" dirty="0" smtClean="0">
                <a:latin typeface="微软雅黑" panose="020B0503020204020204" pitchFamily="34" charset="-122"/>
                <a:ea typeface="微软雅黑" panose="020B0503020204020204" pitchFamily="34" charset="-122"/>
              </a:rPr>
              <a:t>位</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Base64 </a:t>
            </a:r>
            <a:r>
              <a:rPr lang="zh-CN" altLang="en-US" sz="2000" b="1" dirty="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22" name="矩形 21"/>
          <p:cNvSpPr/>
          <p:nvPr/>
        </p:nvSpPr>
        <p:spPr>
          <a:xfrm>
            <a:off x="804903" y="1341208"/>
            <a:ext cx="800219" cy="276999"/>
          </a:xfrm>
          <a:prstGeom prst="rect">
            <a:avLst/>
          </a:prstGeom>
        </p:spPr>
        <p:txBody>
          <a:bodyPr wrap="none">
            <a:spAutoFit/>
          </a:bodyPr>
          <a:lstStyle/>
          <a:p>
            <a:pPr algn="r"/>
            <a:r>
              <a:rPr lang="zh-CN" altLang="en-US" sz="1200" b="1" dirty="0" smtClean="0">
                <a:solidFill>
                  <a:srgbClr val="020202"/>
                </a:solidFill>
                <a:latin typeface="微软雅黑" panose="020B0503020204020204" pitchFamily="34" charset="-122"/>
                <a:ea typeface="微软雅黑" panose="020B0503020204020204" pitchFamily="34" charset="-122"/>
              </a:rPr>
              <a:t>原始字节</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3" name="矩形 22"/>
          <p:cNvSpPr/>
          <p:nvPr/>
        </p:nvSpPr>
        <p:spPr>
          <a:xfrm>
            <a:off x="1509216" y="3006326"/>
            <a:ext cx="5650604" cy="369332"/>
          </a:xfrm>
          <a:prstGeom prst="rect">
            <a:avLst/>
          </a:prstGeom>
        </p:spPr>
        <p:txBody>
          <a:bodyPr wrap="square" anchor="ctr">
            <a:spAutoFit/>
          </a:bodyPr>
          <a:lstStyle/>
          <a:p>
            <a:pPr algn="ctr"/>
            <a:r>
              <a:rPr lang="zh-CN" altLang="en-US" b="1" dirty="0" smtClean="0">
                <a:solidFill>
                  <a:srgbClr val="C00000"/>
                </a:solidFill>
                <a:latin typeface="微软雅黑" panose="020B0503020204020204" pitchFamily="34" charset="-122"/>
                <a:ea typeface="微软雅黑" panose="020B0503020204020204" pitchFamily="34" charset="-122"/>
              </a:rPr>
              <a:t>原来为 </a:t>
            </a:r>
            <a:r>
              <a:rPr lang="en-US" altLang="zh-CN" b="1" dirty="0" smtClean="0">
                <a:solidFill>
                  <a:srgbClr val="C00000"/>
                </a:solidFill>
                <a:latin typeface="微软雅黑" panose="020B0503020204020204" pitchFamily="34" charset="-122"/>
                <a:ea typeface="微软雅黑" panose="020B0503020204020204" pitchFamily="34" charset="-122"/>
              </a:rPr>
              <a:t>3 </a:t>
            </a:r>
            <a:r>
              <a:rPr lang="zh-CN" altLang="en-US" b="1" dirty="0" smtClean="0">
                <a:solidFill>
                  <a:srgbClr val="C00000"/>
                </a:solidFill>
                <a:latin typeface="微软雅黑" panose="020B0503020204020204" pitchFamily="34" charset="-122"/>
                <a:ea typeface="微软雅黑" panose="020B0503020204020204" pitchFamily="34" charset="-122"/>
              </a:rPr>
              <a:t>个字节，编码后为 </a:t>
            </a:r>
            <a:r>
              <a:rPr lang="en-US" altLang="zh-CN" b="1" dirty="0" smtClean="0">
                <a:solidFill>
                  <a:srgbClr val="C00000"/>
                </a:solidFill>
                <a:latin typeface="微软雅黑" panose="020B0503020204020204" pitchFamily="34" charset="-122"/>
                <a:ea typeface="微软雅黑" panose="020B0503020204020204" pitchFamily="34" charset="-122"/>
              </a:rPr>
              <a:t>4 </a:t>
            </a:r>
            <a:r>
              <a:rPr lang="zh-CN" altLang="en-US" b="1" dirty="0" smtClean="0">
                <a:solidFill>
                  <a:srgbClr val="C00000"/>
                </a:solidFill>
                <a:latin typeface="微软雅黑" panose="020B0503020204020204" pitchFamily="34" charset="-122"/>
                <a:ea typeface="微软雅黑" panose="020B0503020204020204" pitchFamily="34" charset="-122"/>
              </a:rPr>
              <a:t>个字节，开销 </a:t>
            </a:r>
            <a:r>
              <a:rPr lang="en-US" altLang="zh-CN" b="1" dirty="0" smtClean="0">
                <a:solidFill>
                  <a:srgbClr val="C00000"/>
                </a:solidFill>
                <a:latin typeface="微软雅黑" panose="020B0503020204020204" pitchFamily="34" charset="-122"/>
                <a:ea typeface="微软雅黑" panose="020B0503020204020204" pitchFamily="34" charset="-122"/>
              </a:rPr>
              <a:t>= 25%</a:t>
            </a:r>
            <a:endParaRPr lang="zh-CN" altLang="en-US" b="1" dirty="0">
              <a:solidFill>
                <a:srgbClr val="C00000"/>
              </a:solidFill>
              <a:latin typeface="微软雅黑" panose="020B0503020204020204" pitchFamily="34" charset="-122"/>
              <a:ea typeface="微软雅黑" panose="020B0503020204020204" pitchFamily="34" charset="-122"/>
            </a:endParaRPr>
          </a:p>
        </p:txBody>
      </p:sp>
      <p:graphicFrame>
        <p:nvGraphicFramePr>
          <p:cNvPr id="3" name="表格 2"/>
          <p:cNvGraphicFramePr>
            <a:graphicFrameLocks noGrp="1"/>
          </p:cNvGraphicFramePr>
          <p:nvPr/>
        </p:nvGraphicFramePr>
        <p:xfrm>
          <a:off x="1566773" y="1351494"/>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26" name="表格 25"/>
          <p:cNvGraphicFramePr>
            <a:graphicFrameLocks noGrp="1"/>
          </p:cNvGraphicFramePr>
          <p:nvPr/>
        </p:nvGraphicFramePr>
        <p:xfrm>
          <a:off x="1566773" y="1750883"/>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27" name="表格 26"/>
          <p:cNvGraphicFramePr>
            <a:graphicFrameLocks noGrp="1"/>
          </p:cNvGraphicFramePr>
          <p:nvPr/>
        </p:nvGraphicFramePr>
        <p:xfrm>
          <a:off x="1566773" y="2173796"/>
          <a:ext cx="5549904" cy="274320"/>
        </p:xfrm>
        <a:graphic>
          <a:graphicData uri="http://schemas.openxmlformats.org/drawingml/2006/table">
            <a:tbl>
              <a:tblPr firstRow="1" bandRow="1">
                <a:tableStyleId>{5C22544A-7EE6-4342-B048-85BDC9FD1C3A}</a:tableStyleId>
              </a:tblPr>
              <a:tblGrid>
                <a:gridCol w="1387476"/>
                <a:gridCol w="1387476"/>
                <a:gridCol w="1387476"/>
                <a:gridCol w="138747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S</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T</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F</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5</a:t>
                      </a:r>
                      <a:endParaRPr lang="en-US" altLang="zh-CN" sz="1200" b="1" dirty="0" smtClean="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28" name="表格 27"/>
          <p:cNvGraphicFramePr>
            <a:graphicFrameLocks noGrp="1"/>
          </p:cNvGraphicFramePr>
          <p:nvPr/>
        </p:nvGraphicFramePr>
        <p:xfrm>
          <a:off x="1566773" y="2625741"/>
          <a:ext cx="6981408" cy="274320"/>
        </p:xfrm>
        <a:graphic>
          <a:graphicData uri="http://schemas.openxmlformats.org/drawingml/2006/table">
            <a:tbl>
              <a:tblPr firstRow="1" bandRow="1">
                <a:tableStyleId>{5C22544A-7EE6-4342-B048-85BDC9FD1C3A}</a:tableStyleId>
              </a:tblPr>
              <a:tblGrid>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29" name="矩形 28"/>
          <p:cNvSpPr/>
          <p:nvPr/>
        </p:nvSpPr>
        <p:spPr>
          <a:xfrm>
            <a:off x="630175" y="1761623"/>
            <a:ext cx="97494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4 </a:t>
            </a:r>
            <a:r>
              <a:rPr lang="zh-CN" altLang="en-US" sz="1200" b="1" dirty="0" smtClean="0">
                <a:solidFill>
                  <a:srgbClr val="020202"/>
                </a:solidFill>
                <a:latin typeface="微软雅黑" panose="020B0503020204020204" pitchFamily="34" charset="-122"/>
                <a:ea typeface="微软雅黑" panose="020B0503020204020204" pitchFamily="34" charset="-122"/>
              </a:rPr>
              <a:t>个 </a:t>
            </a:r>
            <a:r>
              <a:rPr lang="en-US" altLang="zh-CN" sz="1200" b="1" dirty="0" smtClean="0">
                <a:solidFill>
                  <a:srgbClr val="020202"/>
                </a:solidFill>
                <a:latin typeface="微软雅黑" panose="020B0503020204020204" pitchFamily="34" charset="-122"/>
                <a:ea typeface="微软雅黑" panose="020B0503020204020204" pitchFamily="34" charset="-122"/>
              </a:rPr>
              <a:t>6 </a:t>
            </a:r>
            <a:r>
              <a:rPr lang="zh-CN" altLang="en-US" sz="1200" b="1" dirty="0" smtClean="0">
                <a:solidFill>
                  <a:srgbClr val="020202"/>
                </a:solidFill>
                <a:latin typeface="微软雅黑" panose="020B0503020204020204" pitchFamily="34" charset="-122"/>
                <a:ea typeface="微软雅黑" panose="020B0503020204020204" pitchFamily="34" charset="-122"/>
              </a:rPr>
              <a:t>位组</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30" name="矩形 29"/>
          <p:cNvSpPr/>
          <p:nvPr/>
        </p:nvSpPr>
        <p:spPr>
          <a:xfrm>
            <a:off x="517965" y="2184836"/>
            <a:ext cx="108715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Base64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31" name="矩形 30"/>
          <p:cNvSpPr/>
          <p:nvPr/>
        </p:nvSpPr>
        <p:spPr>
          <a:xfrm>
            <a:off x="651015" y="2615761"/>
            <a:ext cx="95410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ASCII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Base64 </a:t>
            </a:r>
            <a:r>
              <a:rPr lang="zh-CN" altLang="en-US" sz="2000" b="1" dirty="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14" name="矩形 13"/>
          <p:cNvSpPr/>
          <p:nvPr/>
        </p:nvSpPr>
        <p:spPr>
          <a:xfrm>
            <a:off x="808389" y="1341212"/>
            <a:ext cx="800219" cy="276999"/>
          </a:xfrm>
          <a:prstGeom prst="rect">
            <a:avLst/>
          </a:prstGeom>
        </p:spPr>
        <p:txBody>
          <a:bodyPr wrap="none">
            <a:spAutoFit/>
          </a:bodyPr>
          <a:lstStyle/>
          <a:p>
            <a:pPr algn="r"/>
            <a:r>
              <a:rPr lang="zh-CN" altLang="en-US" sz="1200" b="1" dirty="0" smtClean="0">
                <a:solidFill>
                  <a:srgbClr val="020202"/>
                </a:solidFill>
                <a:latin typeface="微软雅黑" panose="020B0503020204020204" pitchFamily="34" charset="-122"/>
                <a:ea typeface="微软雅黑" panose="020B0503020204020204" pitchFamily="34" charset="-122"/>
              </a:rPr>
              <a:t>原始字节</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graphicFrame>
        <p:nvGraphicFramePr>
          <p:cNvPr id="15" name="表格 14"/>
          <p:cNvGraphicFramePr>
            <a:graphicFrameLocks noGrp="1"/>
          </p:cNvGraphicFramePr>
          <p:nvPr/>
        </p:nvGraphicFramePr>
        <p:xfrm>
          <a:off x="1570259" y="1351498"/>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16" name="表格 15"/>
          <p:cNvGraphicFramePr>
            <a:graphicFrameLocks noGrp="1"/>
          </p:cNvGraphicFramePr>
          <p:nvPr/>
        </p:nvGraphicFramePr>
        <p:xfrm>
          <a:off x="1570259" y="1750887"/>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17" name="表格 16"/>
          <p:cNvGraphicFramePr>
            <a:graphicFrameLocks noGrp="1"/>
          </p:cNvGraphicFramePr>
          <p:nvPr/>
        </p:nvGraphicFramePr>
        <p:xfrm>
          <a:off x="1570259" y="2173800"/>
          <a:ext cx="5549904" cy="274320"/>
        </p:xfrm>
        <a:graphic>
          <a:graphicData uri="http://schemas.openxmlformats.org/drawingml/2006/table">
            <a:tbl>
              <a:tblPr firstRow="1" bandRow="1">
                <a:tableStyleId>{5C22544A-7EE6-4342-B048-85BDC9FD1C3A}</a:tableStyleId>
              </a:tblPr>
              <a:tblGrid>
                <a:gridCol w="1387476"/>
                <a:gridCol w="1387476"/>
                <a:gridCol w="1387476"/>
                <a:gridCol w="138747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T</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Q</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a:t>
                      </a:r>
                      <a:endParaRPr lang="en-US" altLang="zh-CN" sz="1200" b="1" dirty="0" smtClean="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18" name="矩形 17"/>
          <p:cNvSpPr/>
          <p:nvPr/>
        </p:nvSpPr>
        <p:spPr>
          <a:xfrm>
            <a:off x="633661" y="1761627"/>
            <a:ext cx="97494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4 </a:t>
            </a:r>
            <a:r>
              <a:rPr lang="zh-CN" altLang="en-US" sz="1200" b="1" dirty="0" smtClean="0">
                <a:solidFill>
                  <a:srgbClr val="020202"/>
                </a:solidFill>
                <a:latin typeface="微软雅黑" panose="020B0503020204020204" pitchFamily="34" charset="-122"/>
                <a:ea typeface="微软雅黑" panose="020B0503020204020204" pitchFamily="34" charset="-122"/>
              </a:rPr>
              <a:t>个 </a:t>
            </a:r>
            <a:r>
              <a:rPr lang="en-US" altLang="zh-CN" sz="1200" b="1" dirty="0" smtClean="0">
                <a:solidFill>
                  <a:srgbClr val="020202"/>
                </a:solidFill>
                <a:latin typeface="微软雅黑" panose="020B0503020204020204" pitchFamily="34" charset="-122"/>
                <a:ea typeface="微软雅黑" panose="020B0503020204020204" pitchFamily="34" charset="-122"/>
              </a:rPr>
              <a:t>6 </a:t>
            </a:r>
            <a:r>
              <a:rPr lang="zh-CN" altLang="en-US" sz="1200" b="1" dirty="0" smtClean="0">
                <a:solidFill>
                  <a:srgbClr val="020202"/>
                </a:solidFill>
                <a:latin typeface="微软雅黑" panose="020B0503020204020204" pitchFamily="34" charset="-122"/>
                <a:ea typeface="微软雅黑" panose="020B0503020204020204" pitchFamily="34" charset="-122"/>
              </a:rPr>
              <a:t>位组</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19" name="矩形 18"/>
          <p:cNvSpPr/>
          <p:nvPr/>
        </p:nvSpPr>
        <p:spPr>
          <a:xfrm>
            <a:off x="521451" y="2184840"/>
            <a:ext cx="108715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Base64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graphicFrame>
        <p:nvGraphicFramePr>
          <p:cNvPr id="20" name="表格 19"/>
          <p:cNvGraphicFramePr>
            <a:graphicFrameLocks noGrp="1"/>
          </p:cNvGraphicFramePr>
          <p:nvPr/>
        </p:nvGraphicFramePr>
        <p:xfrm>
          <a:off x="1570259" y="2625745"/>
          <a:ext cx="6981408" cy="274320"/>
        </p:xfrm>
        <a:graphic>
          <a:graphicData uri="http://schemas.openxmlformats.org/drawingml/2006/table">
            <a:tbl>
              <a:tblPr firstRow="1" bandRow="1">
                <a:tableStyleId>{5C22544A-7EE6-4342-B048-85BDC9FD1C3A}</a:tableStyleId>
              </a:tblPr>
              <a:tblGrid>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tblGrid>
              <a:tr h="195974">
                <a:tc>
                  <a:txBody>
                    <a:bodyPr/>
                    <a:lstStyle/>
                    <a:p>
                      <a:pPr marL="0" algn="ctr" defTabSz="914400" rtl="0" eaLnBrk="1" latinLnBrk="0" hangingPunct="1"/>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21" name="矩形 20"/>
          <p:cNvSpPr/>
          <p:nvPr/>
        </p:nvSpPr>
        <p:spPr>
          <a:xfrm>
            <a:off x="654502" y="2615765"/>
            <a:ext cx="95410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ASCII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1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82900" y="579914"/>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内容</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4215"/>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MIME </a:t>
            </a:r>
            <a:r>
              <a:rPr lang="zh-CN" altLang="en-US" sz="2000" b="1" dirty="0" smtClean="0">
                <a:solidFill>
                  <a:srgbClr val="0000FF"/>
                </a:solidFill>
                <a:latin typeface="微软雅黑" panose="020B0503020204020204" pitchFamily="34" charset="-122"/>
                <a:ea typeface="微软雅黑" panose="020B0503020204020204" pitchFamily="34" charset="-122"/>
              </a:rPr>
              <a:t>标准规定：</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标准原先定义了 </a:t>
            </a:r>
            <a:r>
              <a:rPr lang="en-US" altLang="zh-CN" sz="2000" b="1" dirty="0">
                <a:latin typeface="微软雅黑" panose="020B0503020204020204" pitchFamily="34" charset="-122"/>
                <a:ea typeface="微软雅黑" panose="020B0503020204020204" pitchFamily="34" charset="-122"/>
              </a:rPr>
              <a:t>7 </a:t>
            </a:r>
            <a:r>
              <a:rPr lang="zh-CN" altLang="en-US" sz="2000" b="1" dirty="0">
                <a:latin typeface="微软雅黑" panose="020B0503020204020204" pitchFamily="34" charset="-122"/>
                <a:ea typeface="微软雅黑" panose="020B0503020204020204" pitchFamily="34" charset="-122"/>
              </a:rPr>
              <a:t>个基本内容类型和 </a:t>
            </a:r>
            <a:r>
              <a:rPr lang="en-US" altLang="zh-CN" sz="2000" b="1" dirty="0">
                <a:latin typeface="微软雅黑" panose="020B0503020204020204" pitchFamily="34" charset="-122"/>
                <a:ea typeface="微软雅黑" panose="020B0503020204020204" pitchFamily="34" charset="-122"/>
              </a:rPr>
              <a:t>15 </a:t>
            </a:r>
            <a:r>
              <a:rPr lang="zh-CN" altLang="en-US" sz="2000" b="1" dirty="0">
                <a:latin typeface="微软雅黑" panose="020B0503020204020204" pitchFamily="34" charset="-122"/>
                <a:ea typeface="微软雅黑" panose="020B0503020204020204" pitchFamily="34" charset="-122"/>
              </a:rPr>
              <a:t>种子类型。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MIME </a:t>
            </a:r>
            <a:r>
              <a:rPr lang="zh-CN" altLang="en-US" sz="2000" b="1" dirty="0" smtClean="0">
                <a:latin typeface="微软雅黑" panose="020B0503020204020204" pitchFamily="34" charset="-122"/>
                <a:ea typeface="微软雅黑" panose="020B0503020204020204" pitchFamily="34" charset="-122"/>
              </a:rPr>
              <a:t>允许</a:t>
            </a:r>
            <a:r>
              <a:rPr lang="zh-CN" altLang="en-US" sz="2000" b="1" dirty="0">
                <a:latin typeface="微软雅黑" panose="020B0503020204020204" pitchFamily="34" charset="-122"/>
                <a:ea typeface="微软雅黑" panose="020B0503020204020204" pitchFamily="34" charset="-122"/>
              </a:rPr>
              <a:t>发件人和收件人</a:t>
            </a:r>
            <a:r>
              <a:rPr lang="zh-CN" altLang="en-US" sz="2000" b="1" dirty="0">
                <a:solidFill>
                  <a:srgbClr val="C00000"/>
                </a:solidFill>
                <a:latin typeface="微软雅黑" panose="020B0503020204020204" pitchFamily="34" charset="-122"/>
                <a:ea typeface="微软雅黑" panose="020B0503020204020204" pitchFamily="34" charset="-122"/>
              </a:rPr>
              <a:t>自己定义</a:t>
            </a:r>
            <a:r>
              <a:rPr lang="zh-CN" altLang="en-US" sz="2000" b="1" dirty="0">
                <a:latin typeface="微软雅黑" panose="020B0503020204020204" pitchFamily="34" charset="-122"/>
                <a:ea typeface="微软雅黑" panose="020B0503020204020204" pitchFamily="34" charset="-122"/>
              </a:rPr>
              <a:t>专用的内容类型。但为避免可能出现名字冲突，标准要求为</a:t>
            </a:r>
            <a:r>
              <a:rPr lang="zh-CN" altLang="en-US" sz="2000" b="1" dirty="0" smtClean="0">
                <a:latin typeface="微软雅黑" panose="020B0503020204020204" pitchFamily="34" charset="-122"/>
                <a:ea typeface="微软雅黑" panose="020B0503020204020204" pitchFamily="34" charset="-122"/>
              </a:rPr>
              <a:t>专用内容</a:t>
            </a:r>
            <a:r>
              <a:rPr lang="zh-CN" altLang="en-US" sz="2000" b="1" dirty="0">
                <a:latin typeface="微软雅黑" panose="020B0503020204020204" pitchFamily="34" charset="-122"/>
                <a:ea typeface="微软雅黑" panose="020B0503020204020204" pitchFamily="34" charset="-122"/>
              </a:rPr>
              <a:t>类型选择的名字要以</a:t>
            </a:r>
            <a:r>
              <a:rPr lang="zh-CN" altLang="en-US" sz="2000" b="1" dirty="0" smtClean="0">
                <a:latin typeface="微软雅黑" panose="020B0503020204020204" pitchFamily="34" charset="-122"/>
                <a:ea typeface="微软雅黑" panose="020B0503020204020204" pitchFamily="34" charset="-122"/>
              </a:rPr>
              <a:t>字符串 </a:t>
            </a:r>
            <a:r>
              <a:rPr lang="en-US" altLang="zh-CN" sz="2000" b="1" dirty="0" smtClean="0">
                <a:solidFill>
                  <a:srgbClr val="C00000"/>
                </a:solidFill>
                <a:latin typeface="微软雅黑" panose="020B0503020204020204" pitchFamily="34" charset="-122"/>
                <a:ea typeface="微软雅黑" panose="020B0503020204020204" pitchFamily="34" charset="-122"/>
              </a:rPr>
              <a:t>X-</a:t>
            </a:r>
            <a:r>
              <a:rPr lang="zh-CN" altLang="en-US" sz="2000" b="1" dirty="0">
                <a:latin typeface="微软雅黑" panose="020B0503020204020204" pitchFamily="34" charset="-122"/>
                <a:ea typeface="微软雅黑" panose="020B0503020204020204" pitchFamily="34" charset="-122"/>
              </a:rPr>
              <a:t>开始。</a:t>
            </a:r>
            <a:endParaRPr lang="zh-CN" altLang="en-US" sz="2000" b="1" dirty="0">
              <a:latin typeface="微软雅黑" panose="020B0503020204020204" pitchFamily="34" charset="-122"/>
              <a:ea typeface="微软雅黑" panose="020B0503020204020204" pitchFamily="34" charset="-122"/>
            </a:endParaRPr>
          </a:p>
        </p:txBody>
      </p:sp>
      <p:sp>
        <p:nvSpPr>
          <p:cNvPr id="5" name="矩形 4"/>
          <p:cNvSpPr/>
          <p:nvPr/>
        </p:nvSpPr>
        <p:spPr>
          <a:xfrm>
            <a:off x="1363196" y="1441780"/>
            <a:ext cx="6489577" cy="77566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marL="355600" eaLnBrk="0" hangingPunct="0">
              <a:lnSpc>
                <a:spcPts val="2800"/>
              </a:lnSpc>
              <a:buClr>
                <a:srgbClr val="0070C0"/>
              </a:buClr>
            </a:pPr>
            <a:r>
              <a:rPr lang="en-US" altLang="zh-CN" b="1" dirty="0">
                <a:solidFill>
                  <a:srgbClr val="C00000"/>
                </a:solidFill>
                <a:latin typeface="微软雅黑" panose="020B0503020204020204" pitchFamily="34" charset="-122"/>
                <a:ea typeface="微软雅黑" panose="020B0503020204020204" pitchFamily="34" charset="-122"/>
              </a:rPr>
              <a:t>Content-Type </a:t>
            </a:r>
            <a:r>
              <a:rPr lang="zh-CN" altLang="en-US" b="1" dirty="0">
                <a:latin typeface="微软雅黑" panose="020B0503020204020204" pitchFamily="34" charset="-122"/>
                <a:ea typeface="微软雅黑" panose="020B0503020204020204" pitchFamily="34" charset="-122"/>
              </a:rPr>
              <a:t>说明必须含有两个标识符：</a:t>
            </a:r>
            <a:r>
              <a:rPr lang="zh-CN" altLang="en-US" b="1" dirty="0">
                <a:solidFill>
                  <a:srgbClr val="C00000"/>
                </a:solidFill>
                <a:latin typeface="微软雅黑" panose="020B0503020204020204" pitchFamily="34" charset="-122"/>
                <a:ea typeface="微软雅黑" panose="020B0503020204020204" pitchFamily="34" charset="-122"/>
              </a:rPr>
              <a:t>内容类型</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(type) </a:t>
            </a:r>
            <a:r>
              <a:rPr lang="zh-CN" altLang="en-US" b="1" dirty="0">
                <a:latin typeface="微软雅黑" panose="020B0503020204020204" pitchFamily="34" charset="-122"/>
                <a:ea typeface="微软雅黑" panose="020B0503020204020204" pitchFamily="34" charset="-122"/>
              </a:rPr>
              <a:t>和</a:t>
            </a:r>
            <a:r>
              <a:rPr lang="zh-CN" altLang="en-US" b="1" dirty="0">
                <a:solidFill>
                  <a:srgbClr val="C00000"/>
                </a:solidFill>
                <a:latin typeface="微软雅黑" panose="020B0503020204020204" pitchFamily="34" charset="-122"/>
                <a:ea typeface="微软雅黑" panose="020B0503020204020204" pitchFamily="34" charset="-122"/>
              </a:rPr>
              <a:t>子类型</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(subtype)</a:t>
            </a:r>
            <a:r>
              <a:rPr lang="zh-CN" altLang="en-US" b="1" dirty="0">
                <a:latin typeface="微软雅黑" panose="020B0503020204020204" pitchFamily="34" charset="-122"/>
                <a:ea typeface="微软雅黑" panose="020B0503020204020204" pitchFamily="34" charset="-122"/>
              </a:rPr>
              <a:t>，中间用“</a:t>
            </a:r>
            <a:r>
              <a:rPr lang="en-US" altLang="zh-CN" b="1" dirty="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分开。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61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4370"/>
            <a:ext cx="541449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Content-Type </a:t>
            </a:r>
            <a:r>
              <a:rPr lang="zh-CN" altLang="en-US" sz="2000" b="1" dirty="0">
                <a:latin typeface="微软雅黑" panose="020B0503020204020204" pitchFamily="34" charset="-122"/>
                <a:ea typeface="微软雅黑" panose="020B0503020204020204" pitchFamily="34" charset="-122"/>
              </a:rPr>
              <a:t>说明中的类型及子类型</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5" name="内容占位符 4"/>
          <p:cNvGraphicFramePr/>
          <p:nvPr/>
        </p:nvGraphicFramePr>
        <p:xfrm>
          <a:off x="556963" y="1016720"/>
          <a:ext cx="8048775" cy="2995289"/>
        </p:xfrm>
        <a:graphic>
          <a:graphicData uri="http://schemas.openxmlformats.org/drawingml/2006/table">
            <a:tbl>
              <a:tblPr firstRow="1" firstCol="1" bandRow="1" bandCol="1"/>
              <a:tblGrid>
                <a:gridCol w="2327758"/>
                <a:gridCol w="2897348"/>
                <a:gridCol w="2823669"/>
              </a:tblGrid>
              <a:tr h="296779">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内容类型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子类型举例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说明</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text</a:t>
                      </a:r>
                      <a:r>
                        <a:rPr lang="zh-CN" sz="1400" b="1" dirty="0">
                          <a:effectLst/>
                          <a:latin typeface="微软雅黑" panose="020B0503020204020204" pitchFamily="34" charset="-122"/>
                          <a:ea typeface="微软雅黑" panose="020B0503020204020204" pitchFamily="34" charset="-122"/>
                        </a:rPr>
                        <a:t>（文本）</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plain, html, xml, </a:t>
                      </a:r>
                      <a:r>
                        <a:rPr lang="en-US" sz="1400" b="1" dirty="0" err="1">
                          <a:effectLst/>
                          <a:latin typeface="微软雅黑" panose="020B0503020204020204" pitchFamily="34" charset="-122"/>
                          <a:ea typeface="微软雅黑" panose="020B0503020204020204" pitchFamily="34" charset="-122"/>
                        </a:rPr>
                        <a:t>css</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anose="020B0503020204020204" pitchFamily="34" charset="-122"/>
                          <a:ea typeface="微软雅黑" panose="020B0503020204020204" pitchFamily="34" charset="-122"/>
                        </a:rPr>
                        <a:t>不同格式的文本</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image</a:t>
                      </a:r>
                      <a:r>
                        <a:rPr lang="zh-CN" sz="1400" b="1" dirty="0">
                          <a:effectLst/>
                          <a:latin typeface="微软雅黑" panose="020B0503020204020204" pitchFamily="34" charset="-122"/>
                          <a:ea typeface="微软雅黑" panose="020B0503020204020204" pitchFamily="34" charset="-122"/>
                        </a:rPr>
                        <a:t>（图像）</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gif, jpeg, tiff</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不同格式的静止图像</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audio</a:t>
                      </a:r>
                      <a:r>
                        <a:rPr lang="zh-CN" sz="1400" b="1" dirty="0">
                          <a:effectLst/>
                          <a:latin typeface="微软雅黑" panose="020B0503020204020204" pitchFamily="34" charset="-122"/>
                          <a:ea typeface="微软雅黑" panose="020B0503020204020204" pitchFamily="34" charset="-122"/>
                        </a:rPr>
                        <a:t>（音频）</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basic, mpeg, mp4</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可听见的声音</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69851">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video</a:t>
                      </a:r>
                      <a:r>
                        <a:rPr lang="zh-CN" sz="1400" b="1">
                          <a:effectLst/>
                          <a:latin typeface="微软雅黑" panose="020B0503020204020204" pitchFamily="34" charset="-122"/>
                          <a:ea typeface="微软雅黑" panose="020B0503020204020204" pitchFamily="34" charset="-122"/>
                        </a:rPr>
                        <a:t>（视频）</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mpeg, mp4, quicktime</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不同格式的影片</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model</a:t>
                      </a:r>
                      <a:r>
                        <a:rPr lang="zh-CN" sz="1400" b="1" dirty="0">
                          <a:effectLst/>
                          <a:latin typeface="微软雅黑" panose="020B0503020204020204" pitchFamily="34" charset="-122"/>
                          <a:ea typeface="微软雅黑" panose="020B0503020204020204" pitchFamily="34" charset="-122"/>
                        </a:rPr>
                        <a:t>（模型）</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vrml</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3D</a:t>
                      </a:r>
                      <a:r>
                        <a:rPr lang="zh-CN" sz="1400" b="1">
                          <a:effectLst/>
                          <a:latin typeface="微软雅黑" panose="020B0503020204020204" pitchFamily="34" charset="-122"/>
                          <a:ea typeface="微软雅黑" panose="020B0503020204020204" pitchFamily="34" charset="-122"/>
                        </a:rPr>
                        <a:t>模型</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39702">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application</a:t>
                      </a:r>
                      <a:r>
                        <a:rPr lang="zh-CN" sz="1400" b="1">
                          <a:effectLst/>
                          <a:latin typeface="微软雅黑" panose="020B0503020204020204" pitchFamily="34" charset="-122"/>
                          <a:ea typeface="微软雅黑" panose="020B0503020204020204" pitchFamily="34" charset="-122"/>
                        </a:rPr>
                        <a:t>（应用）</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octet-stream, </a:t>
                      </a:r>
                      <a:r>
                        <a:rPr lang="en-US" sz="1400" b="1" dirty="0" err="1">
                          <a:effectLst/>
                          <a:latin typeface="微软雅黑" panose="020B0503020204020204" pitchFamily="34" charset="-122"/>
                          <a:ea typeface="微软雅黑" panose="020B0503020204020204" pitchFamily="34" charset="-122"/>
                        </a:rPr>
                        <a:t>pdf</a:t>
                      </a:r>
                      <a:r>
                        <a:rPr lang="en-US" sz="1400" b="1" dirty="0">
                          <a:effectLst/>
                          <a:latin typeface="微软雅黑" panose="020B0503020204020204" pitchFamily="34" charset="-122"/>
                          <a:ea typeface="微软雅黑" panose="020B0503020204020204" pitchFamily="34" charset="-122"/>
                        </a:rPr>
                        <a:t>, </a:t>
                      </a:r>
                      <a:r>
                        <a:rPr lang="en-US" sz="1400" b="1" dirty="0" err="1">
                          <a:effectLst/>
                          <a:latin typeface="微软雅黑" panose="020B0503020204020204" pitchFamily="34" charset="-122"/>
                          <a:ea typeface="微软雅黑" panose="020B0503020204020204" pitchFamily="34" charset="-122"/>
                        </a:rPr>
                        <a:t>javascript</a:t>
                      </a:r>
                      <a:r>
                        <a:rPr lang="en-US" sz="1400" b="1" dirty="0">
                          <a:effectLst/>
                          <a:latin typeface="微软雅黑" panose="020B0503020204020204" pitchFamily="34" charset="-122"/>
                          <a:ea typeface="微软雅黑" panose="020B0503020204020204" pitchFamily="34" charset="-122"/>
                        </a:rPr>
                        <a:t>, zip</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不同应用程序产生的数据</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message</a:t>
                      </a:r>
                      <a:r>
                        <a:rPr lang="zh-CN" sz="1400" b="1">
                          <a:effectLst/>
                          <a:latin typeface="微软雅黑" panose="020B0503020204020204" pitchFamily="34" charset="-122"/>
                          <a:ea typeface="微软雅黑" panose="020B0503020204020204" pitchFamily="34" charset="-122"/>
                        </a:rPr>
                        <a:t>（报文）</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http, rfc822</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anose="020B0503020204020204" pitchFamily="34" charset="-122"/>
                          <a:ea typeface="微软雅黑" panose="020B0503020204020204" pitchFamily="34" charset="-122"/>
                        </a:rPr>
                        <a:t>封装的报文</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39702">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multipart</a:t>
                      </a:r>
                      <a:r>
                        <a:rPr lang="zh-CN" sz="1400" b="1">
                          <a:effectLst/>
                          <a:latin typeface="微软雅黑" panose="020B0503020204020204" pitchFamily="34" charset="-122"/>
                          <a:ea typeface="微软雅黑" panose="020B0503020204020204" pitchFamily="34" charset="-122"/>
                        </a:rPr>
                        <a:t>（多部分）</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mixed, alternative, parallel, digest</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多种类型的组合</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bl>
          </a:graphicData>
        </a:graphic>
      </p:graphicFrame>
      <p:sp>
        <p:nvSpPr>
          <p:cNvPr id="2" name="矩形 1"/>
          <p:cNvSpPr/>
          <p:nvPr/>
        </p:nvSpPr>
        <p:spPr>
          <a:xfrm>
            <a:off x="1485262" y="4054249"/>
            <a:ext cx="6211678" cy="369332"/>
          </a:xfrm>
          <a:prstGeom prst="rect">
            <a:avLst/>
          </a:prstGeom>
        </p:spPr>
        <p:txBody>
          <a:bodyPr wrap="square">
            <a:spAutoFit/>
          </a:bodyPr>
          <a:lstStyle/>
          <a:p>
            <a:pPr algn="ctr"/>
            <a:r>
              <a:rPr lang="en-US" altLang="zh-CN" b="1" dirty="0" smtClean="0">
                <a:latin typeface="微软雅黑" panose="020B0503020204020204" pitchFamily="34" charset="-122"/>
                <a:ea typeface="微软雅黑" panose="020B0503020204020204" pitchFamily="34" charset="-122"/>
              </a:rPr>
              <a:t>Multipart </a:t>
            </a:r>
            <a:r>
              <a:rPr lang="zh-CN" altLang="en-US" b="1" dirty="0" smtClean="0">
                <a:latin typeface="微软雅黑" panose="020B0503020204020204" pitchFamily="34" charset="-122"/>
                <a:ea typeface="微软雅黑" panose="020B0503020204020204" pitchFamily="34" charset="-122"/>
              </a:rPr>
              <a:t>很有用，使</a:t>
            </a:r>
            <a:r>
              <a:rPr lang="zh-CN" altLang="en-US" b="1" dirty="0">
                <a:latin typeface="微软雅黑" panose="020B0503020204020204" pitchFamily="34" charset="-122"/>
                <a:ea typeface="微软雅黑" panose="020B0503020204020204" pitchFamily="34" charset="-122"/>
              </a:rPr>
              <a:t>邮件增加了相当大的灵活性。</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974055"/>
            <a:ext cx="8048776" cy="31198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1373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2348"/>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MIME </a:t>
            </a:r>
            <a:r>
              <a:rPr lang="zh-CN" altLang="en-US" sz="2000" b="1" dirty="0" smtClean="0">
                <a:latin typeface="微软雅黑" panose="020B0503020204020204" pitchFamily="34" charset="-122"/>
                <a:ea typeface="微软雅黑" panose="020B0503020204020204" pitchFamily="34" charset="-122"/>
              </a:rPr>
              <a:t>举例</a:t>
            </a:r>
            <a:endParaRPr lang="zh-CN" altLang="en-US" sz="2000" b="1" dirty="0">
              <a:latin typeface="微软雅黑" panose="020B0503020204020204" pitchFamily="34" charset="-122"/>
              <a:ea typeface="微软雅黑" panose="020B0503020204020204" pitchFamily="34" charset="-122"/>
            </a:endParaRPr>
          </a:p>
        </p:txBody>
      </p:sp>
      <p:sp>
        <p:nvSpPr>
          <p:cNvPr id="13" name="Text Box 4"/>
          <p:cNvSpPr txBox="1">
            <a:spLocks noChangeArrowheads="1"/>
          </p:cNvSpPr>
          <p:nvPr/>
        </p:nvSpPr>
        <p:spPr bwMode="auto">
          <a:xfrm>
            <a:off x="3158350" y="1227463"/>
            <a:ext cx="4966133" cy="2554545"/>
          </a:xfrm>
          <a:prstGeom prst="rect">
            <a:avLst/>
          </a:prstGeom>
          <a:solidFill>
            <a:srgbClr val="CCFFFF"/>
          </a:solidFill>
          <a:ln w="19050">
            <a:solidFill>
              <a:schemeClr val="tx1"/>
            </a:solidFill>
            <a:miter lim="800000"/>
          </a:ln>
          <a:effec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600" b="1" dirty="0">
                <a:latin typeface="Courier New" panose="02070309020205020404" pitchFamily="49" charset="0"/>
                <a:ea typeface="宋体" panose="02010600030101010101" pitchFamily="2" charset="-122"/>
              </a:rPr>
              <a:t>From: </a:t>
            </a:r>
            <a:r>
              <a:rPr lang="en-US" altLang="zh-CN" sz="1600" b="1" dirty="0" smtClean="0">
                <a:latin typeface="Courier New" panose="02070309020205020404" pitchFamily="49" charset="0"/>
                <a:ea typeface="宋体" panose="02010600030101010101" pitchFamily="2" charset="-122"/>
              </a:rPr>
              <a:t>lionking@abc.edu </a:t>
            </a:r>
            <a:endParaRPr lang="en-US" altLang="zh-CN" sz="1600" b="1" dirty="0">
              <a:latin typeface="Courier New" panose="02070309020205020404" pitchFamily="49" charset="0"/>
              <a:ea typeface="宋体" panose="02010600030101010101" pitchFamily="2" charset="-122"/>
            </a:endParaRPr>
          </a:p>
          <a:p>
            <a:r>
              <a:rPr lang="en-US" altLang="zh-CN" sz="1600" b="1" dirty="0">
                <a:latin typeface="Courier New" panose="02070309020205020404" pitchFamily="49" charset="0"/>
                <a:ea typeface="宋体" panose="02010600030101010101" pitchFamily="2" charset="-122"/>
              </a:rPr>
              <a:t>To: </a:t>
            </a:r>
            <a:r>
              <a:rPr lang="en-US" altLang="zh-CN" sz="1600" b="1" dirty="0" smtClean="0">
                <a:latin typeface="Courier New" panose="02070309020205020404" pitchFamily="49" charset="0"/>
                <a:ea typeface="宋体" panose="02010600030101010101" pitchFamily="2" charset="-122"/>
              </a:rPr>
              <a:t>tigerwang@xyz.com </a:t>
            </a:r>
            <a:endParaRPr lang="en-US" altLang="zh-CN" sz="1600" b="1" dirty="0">
              <a:latin typeface="Courier New" panose="02070309020205020404" pitchFamily="49" charset="0"/>
              <a:ea typeface="宋体" panose="02010600030101010101" pitchFamily="2" charset="-122"/>
            </a:endParaRPr>
          </a:p>
          <a:p>
            <a:r>
              <a:rPr lang="en-US" altLang="zh-CN" sz="1600" b="1" dirty="0">
                <a:latin typeface="Courier New" panose="02070309020205020404" pitchFamily="49" charset="0"/>
                <a:ea typeface="宋体" panose="02010600030101010101" pitchFamily="2" charset="-122"/>
              </a:rPr>
              <a:t>Subject: picture of </a:t>
            </a:r>
            <a:r>
              <a:rPr lang="en-US" altLang="zh-CN" sz="1600" b="1" dirty="0" smtClean="0">
                <a:latin typeface="Courier New" panose="02070309020205020404" pitchFamily="49" charset="0"/>
                <a:ea typeface="宋体" panose="02010600030101010101" pitchFamily="2" charset="-122"/>
              </a:rPr>
              <a:t>my new home </a:t>
            </a:r>
            <a:endParaRPr lang="en-US" altLang="zh-CN" sz="1600" b="1" dirty="0">
              <a:latin typeface="Courier New" panose="02070309020205020404" pitchFamily="49" charset="0"/>
              <a:ea typeface="宋体" panose="02010600030101010101" pitchFamily="2" charset="-122"/>
            </a:endParaRPr>
          </a:p>
          <a:p>
            <a:r>
              <a:rPr lang="en-US" altLang="zh-CN" sz="1600" b="1" dirty="0">
                <a:solidFill>
                  <a:srgbClr val="FF0000"/>
                </a:solidFill>
                <a:latin typeface="Courier New" panose="02070309020205020404" pitchFamily="49" charset="0"/>
                <a:ea typeface="宋体" panose="02010600030101010101" pitchFamily="2" charset="-122"/>
              </a:rPr>
              <a:t>MIME-Version: 1.0</a:t>
            </a:r>
            <a:r>
              <a:rPr lang="en-US" altLang="zh-CN" sz="1600" b="1" dirty="0">
                <a:solidFill>
                  <a:srgbClr val="FF3300"/>
                </a:solidFill>
                <a:latin typeface="Courier New" panose="02070309020205020404" pitchFamily="49" charset="0"/>
                <a:ea typeface="宋体" panose="02010600030101010101" pitchFamily="2" charset="-122"/>
              </a:rPr>
              <a:t> </a:t>
            </a:r>
            <a:endParaRPr lang="en-US" altLang="zh-CN" sz="1600" b="1" dirty="0">
              <a:solidFill>
                <a:srgbClr val="FF3300"/>
              </a:solidFill>
              <a:latin typeface="Courier New" panose="02070309020205020404" pitchFamily="49" charset="0"/>
              <a:ea typeface="宋体" panose="02010600030101010101" pitchFamily="2" charset="-122"/>
            </a:endParaRPr>
          </a:p>
          <a:p>
            <a:r>
              <a:rPr lang="en-US" altLang="zh-CN" sz="1600" b="1" dirty="0">
                <a:solidFill>
                  <a:srgbClr val="990000"/>
                </a:solidFill>
                <a:latin typeface="Courier New" panose="02070309020205020404" pitchFamily="49" charset="0"/>
                <a:ea typeface="宋体" panose="02010600030101010101" pitchFamily="2" charset="-122"/>
              </a:rPr>
              <a:t>Content-Transfer-Encoding: base64</a:t>
            </a:r>
            <a:r>
              <a:rPr lang="en-US" altLang="zh-CN" sz="1600" b="1" dirty="0">
                <a:solidFill>
                  <a:schemeClr val="accent1"/>
                </a:solidFill>
                <a:latin typeface="Courier New" panose="02070309020205020404" pitchFamily="49" charset="0"/>
                <a:ea typeface="宋体" panose="02010600030101010101" pitchFamily="2" charset="-122"/>
              </a:rPr>
              <a:t> </a:t>
            </a:r>
            <a:endParaRPr lang="en-US" altLang="zh-CN" sz="1600" b="1" dirty="0">
              <a:solidFill>
                <a:schemeClr val="accent1"/>
              </a:solidFill>
              <a:latin typeface="Courier New" panose="02070309020205020404" pitchFamily="49" charset="0"/>
              <a:ea typeface="宋体" panose="02010600030101010101" pitchFamily="2" charset="-122"/>
            </a:endParaRPr>
          </a:p>
          <a:p>
            <a:r>
              <a:rPr lang="en-US" altLang="zh-CN" sz="1600" b="1" dirty="0">
                <a:solidFill>
                  <a:srgbClr val="0000FF"/>
                </a:solidFill>
                <a:latin typeface="Courier New" panose="02070309020205020404" pitchFamily="49" charset="0"/>
                <a:ea typeface="宋体" panose="02010600030101010101" pitchFamily="2" charset="-122"/>
              </a:rPr>
              <a:t>Content-Type: image/jpeg </a:t>
            </a:r>
            <a:endParaRPr lang="en-US" altLang="zh-CN" sz="1600" b="1" dirty="0">
              <a:solidFill>
                <a:srgbClr val="0000FF"/>
              </a:solidFill>
              <a:latin typeface="Courier New" panose="02070309020205020404" pitchFamily="49" charset="0"/>
              <a:ea typeface="宋体" panose="02010600030101010101" pitchFamily="2" charset="-122"/>
            </a:endParaRPr>
          </a:p>
          <a:p>
            <a:endParaRPr lang="en-US" altLang="zh-CN" sz="1600" b="1" dirty="0">
              <a:solidFill>
                <a:srgbClr val="0000FF"/>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base64 encoded data ..... </a:t>
            </a:r>
            <a:endParaRPr lang="en-US" altLang="zh-CN" sz="1600" b="1" dirty="0">
              <a:solidFill>
                <a:srgbClr val="008000"/>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 </a:t>
            </a:r>
            <a:endParaRPr lang="en-US" altLang="zh-CN" sz="1600" b="1" dirty="0">
              <a:solidFill>
                <a:srgbClr val="008000"/>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......base64 encoded data</a:t>
            </a:r>
            <a:r>
              <a:rPr lang="en-US" altLang="zh-CN" sz="1600" b="1" dirty="0">
                <a:latin typeface="Courier New" panose="02070309020205020404" pitchFamily="49" charset="0"/>
                <a:ea typeface="宋体" panose="02010600030101010101" pitchFamily="2" charset="-122"/>
              </a:rPr>
              <a:t> </a:t>
            </a:r>
            <a:endParaRPr lang="en-US" altLang="zh-CN" sz="1600" b="1" dirty="0">
              <a:latin typeface="Courier New" panose="02070309020205020404" pitchFamily="49" charset="0"/>
              <a:ea typeface="宋体" panose="02010600030101010101" pitchFamily="2" charset="-122"/>
            </a:endParaRPr>
          </a:p>
        </p:txBody>
      </p:sp>
      <p:sp>
        <p:nvSpPr>
          <p:cNvPr id="16" name="Text Box 5"/>
          <p:cNvSpPr txBox="1">
            <a:spLocks noChangeArrowheads="1"/>
          </p:cNvSpPr>
          <p:nvPr/>
        </p:nvSpPr>
        <p:spPr bwMode="auto">
          <a:xfrm>
            <a:off x="766943" y="2286429"/>
            <a:ext cx="1526380"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0000FF"/>
                </a:solidFill>
                <a:latin typeface="微软雅黑" panose="020B0503020204020204" pitchFamily="34" charset="-122"/>
                <a:ea typeface="微软雅黑" panose="020B0503020204020204" pitchFamily="34" charset="-122"/>
              </a:rPr>
              <a:t>内容类型</a:t>
            </a:r>
            <a:r>
              <a:rPr lang="en-US" altLang="zh-CN" sz="1400" b="1" dirty="0" smtClean="0">
                <a:solidFill>
                  <a:srgbClr val="0000FF"/>
                </a:solidFill>
                <a:latin typeface="微软雅黑" panose="020B0503020204020204" pitchFamily="34" charset="-122"/>
                <a:ea typeface="微软雅黑" panose="020B0503020204020204" pitchFamily="34" charset="-122"/>
              </a:rPr>
              <a:t>/</a:t>
            </a:r>
            <a:r>
              <a:rPr lang="zh-CN" altLang="en-US" sz="1400" b="1" dirty="0" smtClean="0">
                <a:solidFill>
                  <a:srgbClr val="0000FF"/>
                </a:solidFill>
                <a:latin typeface="微软雅黑" panose="020B0503020204020204" pitchFamily="34" charset="-122"/>
                <a:ea typeface="微软雅黑" panose="020B0503020204020204" pitchFamily="34" charset="-122"/>
              </a:rPr>
              <a:t>子类型</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7" name="Text Box 6"/>
          <p:cNvSpPr txBox="1">
            <a:spLocks noChangeArrowheads="1"/>
          </p:cNvSpPr>
          <p:nvPr/>
        </p:nvSpPr>
        <p:spPr bwMode="auto">
          <a:xfrm>
            <a:off x="1390512" y="1865122"/>
            <a:ext cx="902811"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990000"/>
                </a:solidFill>
                <a:latin typeface="微软雅黑" panose="020B0503020204020204" pitchFamily="34" charset="-122"/>
                <a:ea typeface="微软雅黑" panose="020B0503020204020204" pitchFamily="34" charset="-122"/>
              </a:rPr>
              <a:t>编码方法</a:t>
            </a:r>
            <a:endParaRPr lang="en-US" altLang="zh-CN" sz="1400" b="1" dirty="0">
              <a:solidFill>
                <a:srgbClr val="990000"/>
              </a:solidFill>
              <a:latin typeface="微软雅黑" panose="020B0503020204020204" pitchFamily="34" charset="-122"/>
              <a:ea typeface="微软雅黑" panose="020B0503020204020204" pitchFamily="34" charset="-122"/>
            </a:endParaRPr>
          </a:p>
        </p:txBody>
      </p:sp>
      <p:sp>
        <p:nvSpPr>
          <p:cNvPr id="18" name="Text Box 7"/>
          <p:cNvSpPr txBox="1">
            <a:spLocks noChangeArrowheads="1"/>
          </p:cNvSpPr>
          <p:nvPr/>
        </p:nvSpPr>
        <p:spPr bwMode="auto">
          <a:xfrm>
            <a:off x="1164488" y="1426932"/>
            <a:ext cx="1128835"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en-US" altLang="zh-CN" sz="1400" b="1" dirty="0">
                <a:solidFill>
                  <a:srgbClr val="FF0000"/>
                </a:solidFill>
                <a:latin typeface="微软雅黑" panose="020B0503020204020204" pitchFamily="34" charset="-122"/>
                <a:ea typeface="微软雅黑" panose="020B0503020204020204" pitchFamily="34" charset="-122"/>
              </a:rPr>
              <a:t>MIME </a:t>
            </a:r>
            <a:r>
              <a:rPr lang="zh-CN" altLang="en-US" sz="1400" b="1" dirty="0" smtClean="0">
                <a:solidFill>
                  <a:srgbClr val="FF0000"/>
                </a:solidFill>
                <a:latin typeface="微软雅黑" panose="020B0503020204020204" pitchFamily="34" charset="-122"/>
                <a:ea typeface="微软雅黑" panose="020B0503020204020204" pitchFamily="34" charset="-122"/>
              </a:rPr>
              <a:t>版本</a:t>
            </a:r>
            <a:endParaRPr lang="en-US" altLang="zh-CN" sz="1400" b="1" dirty="0">
              <a:solidFill>
                <a:srgbClr val="FF0000"/>
              </a:solidFill>
              <a:latin typeface="微软雅黑" panose="020B0503020204020204" pitchFamily="34" charset="-122"/>
              <a:ea typeface="微软雅黑" panose="020B0503020204020204" pitchFamily="34" charset="-122"/>
            </a:endParaRPr>
          </a:p>
        </p:txBody>
      </p:sp>
      <p:sp>
        <p:nvSpPr>
          <p:cNvPr id="19" name="Text Box 8"/>
          <p:cNvSpPr txBox="1">
            <a:spLocks noChangeArrowheads="1"/>
          </p:cNvSpPr>
          <p:nvPr/>
        </p:nvSpPr>
        <p:spPr bwMode="auto">
          <a:xfrm>
            <a:off x="1031439" y="2819166"/>
            <a:ext cx="1261884"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008000"/>
                </a:solidFill>
                <a:latin typeface="微软雅黑" panose="020B0503020204020204" pitchFamily="34" charset="-122"/>
                <a:ea typeface="微软雅黑" panose="020B0503020204020204" pitchFamily="34" charset="-122"/>
              </a:rPr>
              <a:t>编码后的数据</a:t>
            </a:r>
            <a:endParaRPr lang="en-US" altLang="zh-CN" sz="1400" b="1" dirty="0">
              <a:solidFill>
                <a:srgbClr val="008000"/>
              </a:solidFill>
              <a:latin typeface="微软雅黑" panose="020B0503020204020204" pitchFamily="34" charset="-122"/>
              <a:ea typeface="微软雅黑" panose="020B0503020204020204" pitchFamily="34" charset="-122"/>
            </a:endParaRPr>
          </a:p>
        </p:txBody>
      </p:sp>
      <p:sp>
        <p:nvSpPr>
          <p:cNvPr id="20" name="Line 9"/>
          <p:cNvSpPr>
            <a:spLocks noChangeShapeType="1"/>
          </p:cNvSpPr>
          <p:nvPr/>
        </p:nvSpPr>
        <p:spPr bwMode="auto">
          <a:xfrm>
            <a:off x="2219753" y="1586452"/>
            <a:ext cx="928688" cy="554038"/>
          </a:xfrm>
          <a:prstGeom prst="line">
            <a:avLst/>
          </a:prstGeom>
          <a:noFill/>
          <a:ln w="25400">
            <a:solidFill>
              <a:srgbClr val="FF00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1" name="Line 10"/>
          <p:cNvSpPr>
            <a:spLocks noChangeShapeType="1"/>
          </p:cNvSpPr>
          <p:nvPr/>
        </p:nvSpPr>
        <p:spPr bwMode="auto">
          <a:xfrm>
            <a:off x="2219753" y="2044031"/>
            <a:ext cx="928688" cy="332968"/>
          </a:xfrm>
          <a:prstGeom prst="line">
            <a:avLst/>
          </a:prstGeom>
          <a:noFill/>
          <a:ln w="25400">
            <a:solidFill>
              <a:srgbClr val="6633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3" name="Line 11"/>
          <p:cNvSpPr>
            <a:spLocks noChangeShapeType="1"/>
          </p:cNvSpPr>
          <p:nvPr/>
        </p:nvSpPr>
        <p:spPr bwMode="auto">
          <a:xfrm>
            <a:off x="2219753" y="2466968"/>
            <a:ext cx="938597" cy="136474"/>
          </a:xfrm>
          <a:prstGeom prst="line">
            <a:avLst/>
          </a:prstGeom>
          <a:noFill/>
          <a:ln w="25400">
            <a:solidFill>
              <a:srgbClr val="0000FF"/>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5" name="Line 12"/>
          <p:cNvSpPr>
            <a:spLocks noChangeShapeType="1"/>
          </p:cNvSpPr>
          <p:nvPr/>
        </p:nvSpPr>
        <p:spPr bwMode="auto">
          <a:xfrm>
            <a:off x="2219753" y="2991065"/>
            <a:ext cx="658812" cy="256573"/>
          </a:xfrm>
          <a:prstGeom prst="line">
            <a:avLst/>
          </a:prstGeom>
          <a:noFill/>
          <a:ln w="25400">
            <a:solidFill>
              <a:srgbClr val="0099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 name="左中括号 8"/>
          <p:cNvSpPr/>
          <p:nvPr/>
        </p:nvSpPr>
        <p:spPr>
          <a:xfrm>
            <a:off x="2933736" y="3043615"/>
            <a:ext cx="163270" cy="684149"/>
          </a:xfrm>
          <a:prstGeom prst="leftBracket">
            <a:avLst>
              <a:gd name="adj" fmla="val 0"/>
            </a:avLst>
          </a:prstGeom>
          <a:ln w="19050">
            <a:solidFill>
              <a:srgbClr val="33993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45144" y="1013472"/>
            <a:ext cx="8443408"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协议软件</a:t>
            </a:r>
            <a:r>
              <a:rPr lang="zh-CN" altLang="en-US" sz="2000" b="1" dirty="0" smtClean="0">
                <a:latin typeface="微软雅黑" panose="020B0503020204020204" pitchFamily="34" charset="-122"/>
                <a:ea typeface="微软雅黑" panose="020B0503020204020204" pitchFamily="34" charset="-122"/>
              </a:rPr>
              <a:t>中，给协议参数</a:t>
            </a:r>
            <a:r>
              <a:rPr lang="zh-CN" altLang="en-US" sz="2000" b="1" dirty="0">
                <a:latin typeface="微软雅黑" panose="020B0503020204020204" pitchFamily="34" charset="-122"/>
                <a:ea typeface="微软雅黑" panose="020B0503020204020204" pitchFamily="34" charset="-122"/>
              </a:rPr>
              <a:t>赋值的动作叫做</a:t>
            </a:r>
            <a:r>
              <a:rPr lang="zh-CN" altLang="en-US" sz="2000" b="1" dirty="0">
                <a:solidFill>
                  <a:srgbClr val="C00000"/>
                </a:solidFill>
                <a:latin typeface="微软雅黑" panose="020B0503020204020204" pitchFamily="34" charset="-122"/>
                <a:ea typeface="微软雅黑" panose="020B0503020204020204" pitchFamily="34" charset="-122"/>
              </a:rPr>
              <a:t>协议配置。</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一个协议软件在使用之前必须是已正确配置的</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具体的配置</a:t>
            </a:r>
            <a:r>
              <a:rPr lang="zh-CN" altLang="en-US" sz="2000" b="1" dirty="0" smtClean="0">
                <a:latin typeface="微软雅黑" panose="020B0503020204020204" pitchFamily="34" charset="-122"/>
                <a:ea typeface="微软雅黑" panose="020B0503020204020204" pitchFamily="34" charset="-122"/>
              </a:rPr>
              <a:t>信息取决于</a:t>
            </a:r>
            <a:r>
              <a:rPr lang="zh-CN" altLang="en-US" sz="2000" b="1" dirty="0">
                <a:latin typeface="微软雅黑" panose="020B0503020204020204" pitchFamily="34" charset="-122"/>
                <a:ea typeface="微软雅黑" panose="020B0503020204020204" pitchFamily="34" charset="-122"/>
              </a:rPr>
              <a:t>协议栈。</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到互联网的计算机的协议软件</a:t>
            </a:r>
            <a:r>
              <a:rPr lang="zh-CN" altLang="en-US" sz="2000" b="1" dirty="0" smtClean="0">
                <a:latin typeface="微软雅黑" panose="020B0503020204020204" pitchFamily="34" charset="-122"/>
                <a:ea typeface="微软雅黑" panose="020B0503020204020204" pitchFamily="34" charset="-122"/>
              </a:rPr>
              <a:t>需要正确配置的</a:t>
            </a:r>
            <a:r>
              <a:rPr lang="zh-CN" altLang="en-US" sz="2000" b="1" dirty="0">
                <a:latin typeface="微软雅黑" panose="020B0503020204020204" pitchFamily="34" charset="-122"/>
                <a:ea typeface="微软雅黑" panose="020B0503020204020204" pitchFamily="34" charset="-122"/>
              </a:rPr>
              <a:t>参数</a:t>
            </a:r>
            <a:r>
              <a:rPr lang="zh-CN" altLang="en-US" sz="2000" b="1" dirty="0" smtClean="0">
                <a:latin typeface="微软雅黑" panose="020B0503020204020204" pitchFamily="34" charset="-122"/>
                <a:ea typeface="微软雅黑" panose="020B0503020204020204" pitchFamily="34" charset="-122"/>
              </a:rPr>
              <a:t>包括</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子网掩码</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默认路由器的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域名服务器的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45144" y="611484"/>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panose="02010600030101010101" pitchFamily="2" charset="-122"/>
            </a:endParaRPr>
          </a:p>
        </p:txBody>
      </p:sp>
      <p:sp>
        <p:nvSpPr>
          <p:cNvPr id="6" name="Rectangle 6"/>
          <p:cNvSpPr>
            <a:spLocks noChangeArrowheads="1"/>
          </p:cNvSpPr>
          <p:nvPr/>
        </p:nvSpPr>
        <p:spPr bwMode="auto">
          <a:xfrm>
            <a:off x="2425421" y="569213"/>
            <a:ext cx="4293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anose="020B0503020204020204" pitchFamily="34" charset="-122"/>
                <a:ea typeface="微软雅黑" panose="020B0503020204020204" pitchFamily="34" charset="-122"/>
              </a:rPr>
              <a:t>6.6  </a:t>
            </a:r>
            <a:r>
              <a:rPr lang="zh-CN" altLang="en-US" sz="2400" b="1" dirty="0" smtClean="0">
                <a:solidFill>
                  <a:schemeClr val="bg1"/>
                </a:solidFill>
                <a:latin typeface="微软雅黑" panose="020B0503020204020204" pitchFamily="34" charset="-122"/>
                <a:ea typeface="微软雅黑" panose="020B0503020204020204" pitchFamily="34" charset="-122"/>
              </a:rPr>
              <a:t>动态</a:t>
            </a:r>
            <a:r>
              <a:rPr lang="zh-CN" altLang="en-US" sz="2400" b="1" dirty="0">
                <a:solidFill>
                  <a:schemeClr val="bg1"/>
                </a:solidFill>
                <a:latin typeface="微软雅黑" panose="020B0503020204020204" pitchFamily="34" charset="-122"/>
                <a:ea typeface="微软雅黑" panose="020B0503020204020204" pitchFamily="34" charset="-122"/>
              </a:rPr>
              <a:t>主机配置协议 </a:t>
            </a:r>
            <a:r>
              <a:rPr lang="en-US" altLang="zh-CN" sz="2400" b="1" dirty="0">
                <a:solidFill>
                  <a:schemeClr val="bg1"/>
                </a:solidFill>
                <a:latin typeface="微软雅黑" panose="020B0503020204020204" pitchFamily="34" charset="-122"/>
                <a:ea typeface="微软雅黑" panose="020B0503020204020204" pitchFamily="34" charset="-122"/>
              </a:rPr>
              <a:t>DHCP</a:t>
            </a:r>
            <a:endParaRPr lang="en-US" altLang="zh-CN"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46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50031" y="559193"/>
            <a:ext cx="36439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动态主机配置协议 </a:t>
            </a:r>
            <a:r>
              <a:rPr lang="en-US" altLang="zh-CN" sz="2400" b="1" dirty="0">
                <a:solidFill>
                  <a:schemeClr val="bg1"/>
                </a:solidFill>
                <a:latin typeface="微软雅黑" panose="020B0503020204020204" pitchFamily="34" charset="-122"/>
                <a:ea typeface="微软雅黑" panose="020B0503020204020204" pitchFamily="34" charset="-122"/>
              </a:rPr>
              <a:t>DHCP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77982" y="995682"/>
            <a:ext cx="815764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动态</a:t>
            </a:r>
            <a:r>
              <a:rPr lang="zh-CN" altLang="en-US" sz="2000" b="1" dirty="0">
                <a:solidFill>
                  <a:srgbClr val="C00000"/>
                </a:solidFill>
                <a:latin typeface="微软雅黑" panose="020B0503020204020204" pitchFamily="34" charset="-122"/>
                <a:ea typeface="微软雅黑" panose="020B0503020204020204" pitchFamily="34" charset="-122"/>
              </a:rPr>
              <a:t>主机配置协议 </a:t>
            </a:r>
            <a:r>
              <a:rPr lang="en-US" altLang="zh-CN" sz="2000" b="1" dirty="0">
                <a:solidFill>
                  <a:srgbClr val="C00000"/>
                </a:solidFill>
                <a:latin typeface="微软雅黑" panose="020B0503020204020204" pitchFamily="34" charset="-122"/>
                <a:ea typeface="微软雅黑" panose="020B0503020204020204" pitchFamily="34" charset="-122"/>
              </a:rPr>
              <a:t>DHCP </a:t>
            </a:r>
            <a:r>
              <a:rPr lang="en-US" altLang="zh-CN" sz="2000" b="1" dirty="0">
                <a:latin typeface="微软雅黑" panose="020B0503020204020204" pitchFamily="34" charset="-122"/>
                <a:ea typeface="微软雅黑" panose="020B0503020204020204" pitchFamily="34" charset="-122"/>
              </a:rPr>
              <a:t>(Dynamic Host Configuration Protocol) </a:t>
            </a:r>
            <a:r>
              <a:rPr lang="zh-CN" altLang="en-US" sz="2000" b="1" dirty="0">
                <a:latin typeface="微软雅黑" panose="020B0503020204020204" pitchFamily="34" charset="-122"/>
                <a:ea typeface="微软雅黑" panose="020B0503020204020204" pitchFamily="34" charset="-122"/>
              </a:rPr>
              <a:t>提供了</a:t>
            </a:r>
            <a:r>
              <a:rPr lang="zh-CN" altLang="en-US" sz="2000" b="1" dirty="0">
                <a:solidFill>
                  <a:srgbClr val="C00000"/>
                </a:solidFill>
                <a:latin typeface="微软雅黑" panose="020B0503020204020204" pitchFamily="34" charset="-122"/>
                <a:ea typeface="微软雅黑" panose="020B0503020204020204" pitchFamily="34" charset="-122"/>
              </a:rPr>
              <a:t>即插即用连网</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(plug-and-play networking) </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机制，允许</a:t>
            </a:r>
            <a:r>
              <a:rPr lang="zh-CN" altLang="en-US" sz="2000" b="1" dirty="0">
                <a:latin typeface="微软雅黑" panose="020B0503020204020204" pitchFamily="34" charset="-122"/>
                <a:ea typeface="微软雅黑" panose="020B0503020204020204" pitchFamily="34" charset="-122"/>
              </a:rPr>
              <a:t>一台计算机</a:t>
            </a:r>
            <a:r>
              <a:rPr lang="zh-CN" altLang="en-US" sz="2000" b="1" dirty="0" smtClean="0">
                <a:latin typeface="微软雅黑" panose="020B0503020204020204" pitchFamily="34" charset="-122"/>
                <a:ea typeface="微软雅黑" panose="020B0503020204020204" pitchFamily="34" charset="-122"/>
              </a:rPr>
              <a:t>加入网络</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latin typeface="微软雅黑" panose="020B0503020204020204" pitchFamily="34" charset="-122"/>
                <a:ea typeface="微软雅黑" panose="020B0503020204020204" pitchFamily="34" charset="-122"/>
              </a:rPr>
              <a:t>获取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地址，而</a:t>
            </a:r>
            <a:r>
              <a:rPr lang="zh-CN" altLang="en-US" sz="2000" b="1" dirty="0">
                <a:latin typeface="微软雅黑" panose="020B0503020204020204" pitchFamily="34" charset="-122"/>
                <a:ea typeface="微软雅黑" panose="020B0503020204020204" pitchFamily="34" charset="-122"/>
              </a:rPr>
              <a:t>不用</a:t>
            </a:r>
            <a:r>
              <a:rPr lang="zh-CN" altLang="en-US" sz="2000" b="1" dirty="0" smtClean="0">
                <a:latin typeface="微软雅黑" panose="020B0503020204020204" pitchFamily="34" charset="-122"/>
                <a:ea typeface="微软雅黑" panose="020B0503020204020204" pitchFamily="34" charset="-122"/>
              </a:rPr>
              <a:t>手工配置。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给</a:t>
            </a:r>
            <a:r>
              <a:rPr lang="zh-CN" altLang="en-US" sz="2000" b="1" dirty="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软件、且位置固定的计算机指派一个</a:t>
            </a:r>
            <a:r>
              <a:rPr lang="zh-CN" altLang="en-US" sz="2000" b="1" dirty="0" smtClean="0">
                <a:solidFill>
                  <a:srgbClr val="C00000"/>
                </a:solidFill>
                <a:latin typeface="微软雅黑" panose="020B0503020204020204" pitchFamily="34" charset="-122"/>
                <a:ea typeface="微软雅黑" panose="020B0503020204020204" pitchFamily="34" charset="-122"/>
              </a:rPr>
              <a:t>永久</a:t>
            </a:r>
            <a:r>
              <a:rPr lang="zh-CN" altLang="en-US" sz="2000" b="1" dirty="0" smtClean="0">
                <a:latin typeface="微软雅黑" panose="020B0503020204020204" pitchFamily="34" charset="-122"/>
                <a:ea typeface="微软雅黑" panose="020B0503020204020204" pitchFamily="34" charset="-122"/>
              </a:rPr>
              <a:t>地址，给运行</a:t>
            </a:r>
            <a:r>
              <a:rPr lang="zh-CN" altLang="en-US" sz="2000" b="1" dirty="0" smtClean="0">
                <a:solidFill>
                  <a:srgbClr val="C00000"/>
                </a:solidFill>
                <a:latin typeface="微软雅黑" panose="020B0503020204020204" pitchFamily="34" charset="-122"/>
                <a:ea typeface="微软雅黑" panose="020B0503020204020204" pitchFamily="34" charset="-122"/>
              </a:rPr>
              <a:t>客户端</a:t>
            </a:r>
            <a:r>
              <a:rPr lang="zh-CN" altLang="en-US" sz="2000" b="1" dirty="0" smtClean="0">
                <a:latin typeface="微软雅黑" panose="020B0503020204020204" pitchFamily="34" charset="-122"/>
                <a:ea typeface="微软雅黑" panose="020B0503020204020204" pitchFamily="34" charset="-122"/>
              </a:rPr>
              <a:t>软件的计算机分配一个</a:t>
            </a:r>
            <a:r>
              <a:rPr lang="zh-CN" altLang="en-US" sz="2000" b="1" dirty="0" smtClean="0">
                <a:solidFill>
                  <a:srgbClr val="C00000"/>
                </a:solidFill>
                <a:latin typeface="微软雅黑" panose="020B0503020204020204" pitchFamily="34" charset="-122"/>
                <a:ea typeface="微软雅黑" panose="020B0503020204020204" pitchFamily="34" charset="-122"/>
              </a:rPr>
              <a:t>临时</a:t>
            </a:r>
            <a:r>
              <a:rPr lang="zh-CN" altLang="en-US" sz="2000" b="1" dirty="0" smtClean="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50457" y="561851"/>
            <a:ext cx="40430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a:solidFill>
                  <a:schemeClr val="bg1"/>
                </a:solidFill>
                <a:latin typeface="微软雅黑" panose="020B0503020204020204" pitchFamily="34" charset="-122"/>
                <a:ea typeface="微软雅黑" panose="020B0503020204020204" pitchFamily="34" charset="-122"/>
              </a:rPr>
              <a:t>使用</a:t>
            </a:r>
            <a:r>
              <a:rPr lang="zh-CN" altLang="en-US" sz="2400" b="1" dirty="0" smtClean="0">
                <a:solidFill>
                  <a:schemeClr val="bg1"/>
                </a:solidFill>
                <a:latin typeface="微软雅黑" panose="020B0503020204020204" pitchFamily="34" charset="-122"/>
                <a:ea typeface="微软雅黑" panose="020B0503020204020204" pitchFamily="34" charset="-122"/>
              </a:rPr>
              <a:t>客户服务器</a:t>
            </a:r>
            <a:r>
              <a:rPr lang="zh-CN" altLang="en-US" sz="2400" b="1" dirty="0">
                <a:solidFill>
                  <a:schemeClr val="bg1"/>
                </a:solidFill>
                <a:latin typeface="微软雅黑" panose="020B0503020204020204" pitchFamily="34" charset="-122"/>
                <a:ea typeface="微软雅黑" panose="020B0503020204020204" pitchFamily="34" charset="-122"/>
              </a:rPr>
              <a:t>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0052"/>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需要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地址的主机在启动时就向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a:t>
            </a:r>
            <a:r>
              <a:rPr lang="zh-CN" altLang="en-US" sz="2000" b="1" dirty="0">
                <a:solidFill>
                  <a:srgbClr val="C00000"/>
                </a:solidFill>
                <a:latin typeface="微软雅黑" panose="020B0503020204020204" pitchFamily="34" charset="-122"/>
                <a:ea typeface="微软雅黑" panose="020B0503020204020204" pitchFamily="34" charset="-122"/>
              </a:rPr>
              <a:t>广播发送</a:t>
            </a:r>
            <a:r>
              <a:rPr lang="zh-CN" altLang="en-US" sz="2000" b="1" dirty="0">
                <a:latin typeface="微软雅黑" panose="020B0503020204020204" pitchFamily="34" charset="-122"/>
                <a:ea typeface="微软雅黑" panose="020B0503020204020204" pitchFamily="34" charset="-122"/>
              </a:rPr>
              <a:t>发现</a:t>
            </a:r>
            <a:r>
              <a:rPr lang="zh-CN" altLang="en-US" sz="2000" b="1" dirty="0" smtClean="0">
                <a:latin typeface="微软雅黑" panose="020B0503020204020204" pitchFamily="34" charset="-122"/>
                <a:ea typeface="微软雅黑" panose="020B0503020204020204" pitchFamily="34" charset="-122"/>
              </a:rPr>
              <a:t>报文</a:t>
            </a:r>
            <a:endParaRPr lang="en-US" altLang="zh-CN" sz="2000" b="1" dirty="0" smtClean="0">
              <a:latin typeface="微软雅黑" panose="020B0503020204020204" pitchFamily="34" charset="-122"/>
              <a:ea typeface="微软雅黑" panose="020B0503020204020204" pitchFamily="34" charset="-122"/>
            </a:endParaRPr>
          </a:p>
          <a:p>
            <a:pPr marL="265430"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DHCPDISCOVER</a:t>
            </a:r>
            <a:r>
              <a:rPr lang="zh-CN" altLang="en-US" sz="2000" b="1" dirty="0">
                <a:latin typeface="微软雅黑" panose="020B0503020204020204" pitchFamily="34" charset="-122"/>
                <a:ea typeface="微软雅黑" panose="020B0503020204020204" pitchFamily="34" charset="-122"/>
              </a:rPr>
              <a:t>），这时该主机就成为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本地网络上所有主机都能收到此广播报文，但只有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服务器才回答此广播报文。</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服务器先在其数据库中查找该计算机的配置信息。若找到，则返回找到的信息。若找不到，则从服务器的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地址池 </a:t>
            </a:r>
            <a:r>
              <a:rPr lang="en-US" altLang="zh-CN" sz="2000" b="1" dirty="0">
                <a:latin typeface="微软雅黑" panose="020B0503020204020204" pitchFamily="34" charset="-122"/>
                <a:ea typeface="微软雅黑" panose="020B0503020204020204" pitchFamily="34" charset="-122"/>
              </a:rPr>
              <a:t>(address pool) </a:t>
            </a:r>
            <a:r>
              <a:rPr lang="zh-CN" altLang="en-US" sz="2000" b="1" dirty="0">
                <a:latin typeface="微软雅黑" panose="020B0503020204020204" pitchFamily="34" charset="-122"/>
                <a:ea typeface="微软雅黑" panose="020B0503020204020204" pitchFamily="34" charset="-122"/>
              </a:rPr>
              <a:t>中取一个地址分配给该计算机。</a:t>
            </a:r>
            <a:r>
              <a:rPr lang="en-US" altLang="zh-CN" sz="2000" b="1" dirty="0" smtClean="0">
                <a:latin typeface="微软雅黑" panose="020B0503020204020204" pitchFamily="34" charset="-122"/>
                <a:ea typeface="微软雅黑" panose="020B0503020204020204" pitchFamily="34" charset="-122"/>
              </a:rPr>
              <a:t>DHCP</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的回答报文叫做提供</a:t>
            </a:r>
            <a:r>
              <a:rPr lang="zh-CN" altLang="en-US" sz="2000" b="1" dirty="0" smtClean="0">
                <a:latin typeface="微软雅黑" panose="020B0503020204020204" pitchFamily="34" charset="-122"/>
                <a:ea typeface="微软雅黑" panose="020B0503020204020204" pitchFamily="34" charset="-122"/>
              </a:rPr>
              <a:t>报文（</a:t>
            </a:r>
            <a:r>
              <a:rPr lang="en-US" altLang="zh-CN" sz="2000" b="1" dirty="0" smtClean="0">
                <a:latin typeface="微软雅黑" panose="020B0503020204020204" pitchFamily="34" charset="-122"/>
                <a:ea typeface="微软雅黑" panose="020B0503020204020204" pitchFamily="34" charset="-122"/>
              </a:rPr>
              <a:t>DHCPOFFER</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2226373"/>
            <a:ext cx="8048776" cy="17952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9877"/>
            <a:ext cx="8048777"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smtClean="0">
                <a:latin typeface="微软雅黑" panose="020B0503020204020204" pitchFamily="34" charset="-122"/>
                <a:ea typeface="微软雅黑" panose="020B0503020204020204" pitchFamily="34" charset="-122"/>
              </a:rPr>
              <a:t>方式，采用</a:t>
            </a:r>
            <a:r>
              <a:rPr lang="zh-CN" altLang="en-US" sz="2000" b="1" dirty="0">
                <a:solidFill>
                  <a:srgbClr val="C00000"/>
                </a:solidFill>
                <a:latin typeface="微软雅黑" panose="020B0503020204020204" pitchFamily="34" charset="-122"/>
                <a:ea typeface="微软雅黑" panose="020B0503020204020204" pitchFamily="34" charset="-122"/>
              </a:rPr>
              <a:t>请求</a:t>
            </a:r>
            <a:r>
              <a:rPr lang="en-US" altLang="zh-CN"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应答</a:t>
            </a:r>
            <a:r>
              <a:rPr lang="zh-CN" altLang="en-US" sz="2000" b="1" dirty="0" smtClean="0">
                <a:latin typeface="微软雅黑" panose="020B0503020204020204" pitchFamily="34" charset="-122"/>
                <a:ea typeface="微软雅黑" panose="020B0503020204020204" pitchFamily="34" charset="-122"/>
              </a:rPr>
              <a:t>方式</a:t>
            </a:r>
            <a:r>
              <a:rPr lang="zh-CN" altLang="en-US" sz="2000" b="1" dirty="0">
                <a:latin typeface="微软雅黑" panose="020B0503020204020204" pitchFamily="34" charset="-122"/>
                <a:ea typeface="微软雅黑" panose="020B0503020204020204" pitchFamily="34" charset="-122"/>
              </a:rPr>
              <a:t>工作</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基于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工作，</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服务器运行在 </a:t>
            </a:r>
            <a:r>
              <a:rPr lang="en-US" altLang="zh-CN" sz="2000" b="1" dirty="0" smtClean="0">
                <a:latin typeface="微软雅黑" panose="020B0503020204020204" pitchFamily="34" charset="-122"/>
                <a:ea typeface="微软雅黑" panose="020B0503020204020204" pitchFamily="34" charset="-122"/>
              </a:rPr>
              <a:t>67 </a:t>
            </a:r>
            <a:r>
              <a:rPr lang="zh-CN" altLang="en-US" sz="2000" b="1" dirty="0" smtClean="0">
                <a:latin typeface="微软雅黑" panose="020B0503020204020204" pitchFamily="34" charset="-122"/>
                <a:ea typeface="微软雅黑" panose="020B0503020204020204" pitchFamily="34" charset="-122"/>
              </a:rPr>
              <a:t>号端口，</a:t>
            </a:r>
            <a:r>
              <a:rPr lang="en-US" altLang="zh-CN" sz="2000" b="1" dirty="0">
                <a:latin typeface="微软雅黑" panose="020B0503020204020204" pitchFamily="34" charset="-122"/>
                <a:ea typeface="微软雅黑" panose="020B0503020204020204" pitchFamily="34" charset="-122"/>
              </a:rPr>
              <a:t> DHCP</a:t>
            </a:r>
            <a:r>
              <a:rPr lang="zh-CN" altLang="en-US" sz="2000" b="1" dirty="0" smtClean="0">
                <a:latin typeface="微软雅黑" panose="020B0503020204020204" pitchFamily="34" charset="-122"/>
                <a:ea typeface="微软雅黑" panose="020B0503020204020204" pitchFamily="34" charset="-122"/>
              </a:rPr>
              <a:t>客户运行在 </a:t>
            </a:r>
            <a:r>
              <a:rPr lang="en-US" altLang="zh-CN" sz="2000" b="1" dirty="0" smtClean="0">
                <a:latin typeface="微软雅黑" panose="020B0503020204020204" pitchFamily="34" charset="-122"/>
                <a:ea typeface="微软雅黑" panose="020B0503020204020204" pitchFamily="34" charset="-122"/>
              </a:rPr>
              <a:t>68 </a:t>
            </a:r>
            <a:r>
              <a:rPr lang="zh-CN" altLang="en-US" sz="2000" b="1" dirty="0" smtClean="0">
                <a:latin typeface="微软雅黑" panose="020B0503020204020204" pitchFamily="34" charset="-122"/>
                <a:ea typeface="微软雅黑" panose="020B0503020204020204" pitchFamily="34" charset="-122"/>
              </a:rPr>
              <a:t>号端口。</a:t>
            </a:r>
            <a:endParaRPr lang="zh-CN" altLang="en-US" sz="2000" b="1" dirty="0">
              <a:latin typeface="微软雅黑" panose="020B0503020204020204" pitchFamily="34" charset="-122"/>
              <a:ea typeface="微软雅黑" panose="020B0503020204020204" pitchFamily="34" charset="-122"/>
            </a:endParaRPr>
          </a:p>
        </p:txBody>
      </p:sp>
      <p:grpSp>
        <p:nvGrpSpPr>
          <p:cNvPr id="34" name="组合 33"/>
          <p:cNvGrpSpPr/>
          <p:nvPr/>
        </p:nvGrpSpPr>
        <p:grpSpPr>
          <a:xfrm>
            <a:off x="2050228" y="2324883"/>
            <a:ext cx="4918841" cy="1475407"/>
            <a:chOff x="1996962" y="2450061"/>
            <a:chExt cx="4918841" cy="1475407"/>
          </a:xfrm>
        </p:grpSpPr>
        <p:sp>
          <p:nvSpPr>
            <p:cNvPr id="8" name="矩形 7"/>
            <p:cNvSpPr/>
            <p:nvPr/>
          </p:nvSpPr>
          <p:spPr>
            <a:xfrm>
              <a:off x="1996962" y="2606571"/>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5917317" y="2606571"/>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5496907" y="2680141"/>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2" name="矩形 11"/>
            <p:cNvSpPr/>
            <p:nvPr/>
          </p:nvSpPr>
          <p:spPr>
            <a:xfrm>
              <a:off x="1996962" y="3137195"/>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3" name="矩形 12"/>
            <p:cNvSpPr/>
            <p:nvPr/>
          </p:nvSpPr>
          <p:spPr>
            <a:xfrm>
              <a:off x="5917317" y="3137195"/>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5496907" y="3210765"/>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2991405" y="3210765"/>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68</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6" name="矩形 15"/>
            <p:cNvSpPr/>
            <p:nvPr/>
          </p:nvSpPr>
          <p:spPr>
            <a:xfrm>
              <a:off x="1996962" y="3673224"/>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7" name="矩形 16"/>
            <p:cNvSpPr/>
            <p:nvPr/>
          </p:nvSpPr>
          <p:spPr>
            <a:xfrm>
              <a:off x="5917317" y="3673224"/>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8" name="矩形 17"/>
            <p:cNvSpPr/>
            <p:nvPr/>
          </p:nvSpPr>
          <p:spPr>
            <a:xfrm>
              <a:off x="5496907" y="3746794"/>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2991405" y="3746794"/>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68</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cxnSp>
          <p:nvCxnSpPr>
            <p:cNvPr id="21" name="直接箭头连接符 20"/>
            <p:cNvCxnSpPr>
              <a:stCxn id="15" idx="3"/>
              <a:endCxn id="14" idx="1"/>
            </p:cNvCxnSpPr>
            <p:nvPr/>
          </p:nvCxnSpPr>
          <p:spPr>
            <a:xfrm>
              <a:off x="3411815" y="3273826"/>
              <a:ext cx="2085092" cy="0"/>
            </a:xfrm>
            <a:prstGeom prst="straightConnector1">
              <a:avLst/>
            </a:prstGeom>
            <a:ln w="28575">
              <a:solidFill>
                <a:srgbClr val="0000FF"/>
              </a:solidFill>
              <a:tailEnd type="triangle" w="med" len="lg"/>
            </a:ln>
          </p:spPr>
          <p:style>
            <a:lnRef idx="1">
              <a:schemeClr val="accent1"/>
            </a:lnRef>
            <a:fillRef idx="0">
              <a:schemeClr val="accent1"/>
            </a:fillRef>
            <a:effectRef idx="0">
              <a:schemeClr val="accent1"/>
            </a:effectRef>
            <a:fontRef idx="minor">
              <a:schemeClr val="tx1"/>
            </a:fontRef>
          </p:style>
        </p:cxnSp>
        <p:sp>
          <p:nvSpPr>
            <p:cNvPr id="23" name="矩形 22"/>
            <p:cNvSpPr/>
            <p:nvPr/>
          </p:nvSpPr>
          <p:spPr>
            <a:xfrm>
              <a:off x="3926822" y="3179235"/>
              <a:ext cx="1032035" cy="178674"/>
            </a:xfrm>
            <a:prstGeom prst="rect">
              <a:avLst/>
            </a:prstGeom>
            <a:solidFill>
              <a:srgbClr val="00FF99"/>
            </a:solidFill>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请求</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24" name="直接箭头连接符 23"/>
            <p:cNvCxnSpPr>
              <a:stCxn id="18" idx="1"/>
              <a:endCxn id="19" idx="3"/>
            </p:cNvCxnSpPr>
            <p:nvPr/>
          </p:nvCxnSpPr>
          <p:spPr>
            <a:xfrm flipH="1">
              <a:off x="3411815" y="3809855"/>
              <a:ext cx="2085092" cy="0"/>
            </a:xfrm>
            <a:prstGeom prst="straightConnector1">
              <a:avLst/>
            </a:prstGeom>
            <a:ln w="28575">
              <a:solidFill>
                <a:srgbClr val="CC00CC"/>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flipH="1">
              <a:off x="3926822" y="3715264"/>
              <a:ext cx="1032035" cy="178674"/>
            </a:xfrm>
            <a:prstGeom prst="rect">
              <a:avLst/>
            </a:prstGeom>
            <a:solidFill>
              <a:srgbClr val="66FFFF"/>
            </a:solidFill>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a:solidFill>
                    <a:schemeClr val="tx1"/>
                  </a:solidFill>
                  <a:latin typeface="微软雅黑" panose="020B0503020204020204" pitchFamily="34" charset="-122"/>
                  <a:ea typeface="微软雅黑" panose="020B0503020204020204" pitchFamily="34" charset="-122"/>
                </a:rPr>
                <a:t>应答</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30" name="矩形 29"/>
            <p:cNvSpPr/>
            <p:nvPr/>
          </p:nvSpPr>
          <p:spPr>
            <a:xfrm>
              <a:off x="5231438" y="2450061"/>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b="1" dirty="0">
                  <a:latin typeface="微软雅黑" panose="020B0503020204020204" pitchFamily="34" charset="-122"/>
                  <a:ea typeface="微软雅黑" panose="020B0503020204020204" pitchFamily="34" charset="-122"/>
                </a:rPr>
                <a:t>被动打开</a:t>
              </a:r>
              <a:endParaRPr lang="zh-CN" altLang="en-US" sz="1000" b="1" dirty="0">
                <a:latin typeface="微软雅黑" panose="020B0503020204020204" pitchFamily="34" charset="-122"/>
                <a:ea typeface="微软雅黑" panose="020B0503020204020204" pitchFamily="34" charset="-122"/>
              </a:endParaRPr>
            </a:p>
          </p:txBody>
        </p:sp>
        <p:sp>
          <p:nvSpPr>
            <p:cNvPr id="31" name="矩形 30"/>
            <p:cNvSpPr/>
            <p:nvPr/>
          </p:nvSpPr>
          <p:spPr>
            <a:xfrm>
              <a:off x="5357558" y="276422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1000" b="1" dirty="0" smtClean="0">
                  <a:latin typeface="微软雅黑" panose="020B0503020204020204" pitchFamily="34" charset="-122"/>
                  <a:ea typeface="微软雅黑" panose="020B0503020204020204" pitchFamily="34" charset="-122"/>
                </a:rPr>
                <a:t>UDP</a:t>
              </a:r>
              <a:endParaRPr lang="zh-CN" altLang="en-US" sz="1000" b="1" dirty="0">
                <a:latin typeface="微软雅黑" panose="020B0503020204020204" pitchFamily="34" charset="-122"/>
                <a:ea typeface="微软雅黑" panose="020B0503020204020204" pitchFamily="34" charset="-122"/>
              </a:endParaRPr>
            </a:p>
          </p:txBody>
        </p:sp>
        <p:sp>
          <p:nvSpPr>
            <p:cNvPr id="32" name="矩形 31"/>
            <p:cNvSpPr/>
            <p:nvPr/>
          </p:nvSpPr>
          <p:spPr>
            <a:xfrm>
              <a:off x="2938855" y="298068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b="1" dirty="0">
                  <a:latin typeface="微软雅黑" panose="020B0503020204020204" pitchFamily="34" charset="-122"/>
                  <a:ea typeface="微软雅黑" panose="020B0503020204020204" pitchFamily="34" charset="-122"/>
                </a:rPr>
                <a:t>主动</a:t>
              </a:r>
              <a:r>
                <a:rPr lang="zh-CN" altLang="en-US" sz="1000" b="1" dirty="0" smtClean="0">
                  <a:latin typeface="微软雅黑" panose="020B0503020204020204" pitchFamily="34" charset="-122"/>
                  <a:ea typeface="微软雅黑" panose="020B0503020204020204" pitchFamily="34" charset="-122"/>
                </a:rPr>
                <a:t>打开</a:t>
              </a:r>
              <a:endParaRPr lang="zh-CN" altLang="en-US" sz="1000" b="1" dirty="0">
                <a:latin typeface="微软雅黑" panose="020B0503020204020204" pitchFamily="34" charset="-122"/>
                <a:ea typeface="微软雅黑" panose="020B0503020204020204" pitchFamily="34" charset="-122"/>
              </a:endParaRPr>
            </a:p>
          </p:txBody>
        </p:sp>
        <p:sp>
          <p:nvSpPr>
            <p:cNvPr id="33" name="矩形 32"/>
            <p:cNvSpPr/>
            <p:nvPr/>
          </p:nvSpPr>
          <p:spPr>
            <a:xfrm>
              <a:off x="2854775" y="3284339"/>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1000" b="1" dirty="0" smtClean="0">
                  <a:latin typeface="微软雅黑" panose="020B0503020204020204" pitchFamily="34" charset="-122"/>
                  <a:ea typeface="微软雅黑" panose="020B0503020204020204" pitchFamily="34" charset="-122"/>
                </a:rPr>
                <a:t>UDP</a:t>
              </a:r>
              <a:endParaRPr lang="zh-CN" altLang="en-US" sz="10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组合 102"/>
          <p:cNvGrpSpPr/>
          <p:nvPr/>
        </p:nvGrpSpPr>
        <p:grpSpPr>
          <a:xfrm>
            <a:off x="1690236" y="1666037"/>
            <a:ext cx="5619324" cy="1217260"/>
            <a:chOff x="1690236" y="1767081"/>
            <a:chExt cx="5619324" cy="1217260"/>
          </a:xfrm>
        </p:grpSpPr>
        <p:sp>
          <p:nvSpPr>
            <p:cNvPr id="22" name="弧形 21"/>
            <p:cNvSpPr/>
            <p:nvPr/>
          </p:nvSpPr>
          <p:spPr>
            <a:xfrm>
              <a:off x="3766248"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0" name="弧形 99"/>
            <p:cNvSpPr/>
            <p:nvPr/>
          </p:nvSpPr>
          <p:spPr>
            <a:xfrm>
              <a:off x="4613181"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1" name="弧形 100"/>
            <p:cNvSpPr/>
            <p:nvPr/>
          </p:nvSpPr>
          <p:spPr>
            <a:xfrm>
              <a:off x="5430600"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cxnSp>
          <p:nvCxnSpPr>
            <p:cNvPr id="7" name="直接箭头连接符 6"/>
            <p:cNvCxnSpPr/>
            <p:nvPr/>
          </p:nvCxnSpPr>
          <p:spPr>
            <a:xfrm>
              <a:off x="1690236" y="2043327"/>
              <a:ext cx="5619324" cy="0"/>
            </a:xfrm>
            <a:prstGeom prst="straightConnector1">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2031252" y="1767081"/>
              <a:ext cx="2098719" cy="667493"/>
            </a:xfrm>
            <a:prstGeom prst="rect">
              <a:avLst/>
            </a:prstGeom>
            <a:solidFill>
              <a:srgbClr val="CC00CC"/>
            </a:solidFill>
            <a:ln w="9525">
              <a:solidFill>
                <a:schemeClr val="tx1"/>
              </a:solidFill>
              <a:miter lim="800000"/>
            </a:ln>
            <a:effectLst/>
          </p:spPr>
          <p:txBody>
            <a:bodyPr wrap="none" anchor="ctr"/>
            <a:lstStyle/>
            <a:p>
              <a:r>
                <a:rPr kumimoji="1" lang="en-US" altLang="zh-CN" sz="1200" b="1" dirty="0" smtClean="0">
                  <a:solidFill>
                    <a:schemeClr val="bg1"/>
                  </a:solidFill>
                  <a:latin typeface="微软雅黑" panose="020B0503020204020204" pitchFamily="34" charset="-122"/>
                  <a:ea typeface="微软雅黑" panose="020B0503020204020204" pitchFamily="34" charset="-122"/>
                </a:rPr>
                <a:t>DHCPDISCOVER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00:a0:24:71:e4:44</a:t>
              </a:r>
              <a:endParaRPr kumimoji="1" lang="en-US" altLang="zh-CN" sz="1200" b="1" dirty="0">
                <a:solidFill>
                  <a:schemeClr val="bg1"/>
                </a:solidFill>
                <a:latin typeface="微软雅黑" panose="020B0503020204020204" pitchFamily="34" charset="-122"/>
                <a:ea typeface="微软雅黑" panose="020B0503020204020204" pitchFamily="34" charset="-122"/>
              </a:endParaRPr>
            </a:p>
            <a:p>
              <a:r>
                <a:rPr kumimoji="1" lang="zh-CN" altLang="en-US" sz="1200" b="1" dirty="0" smtClean="0">
                  <a:solidFill>
                    <a:schemeClr val="bg1"/>
                  </a:solidFill>
                  <a:latin typeface="微软雅黑" panose="020B0503020204020204" pitchFamily="34" charset="-122"/>
                  <a:ea typeface="微软雅黑" panose="020B0503020204020204" pitchFamily="34" charset="-122"/>
                </a:rPr>
                <a:t>发送到：</a:t>
              </a:r>
              <a:r>
                <a:rPr kumimoji="1" lang="en-US" altLang="zh-CN" sz="1200" b="1" dirty="0" smtClean="0">
                  <a:solidFill>
                    <a:schemeClr val="bg1"/>
                  </a:solidFill>
                  <a:latin typeface="微软雅黑" panose="020B0503020204020204" pitchFamily="34" charset="-122"/>
                  <a:ea typeface="微软雅黑" panose="020B0503020204020204" pitchFamily="34" charset="-122"/>
                </a:rPr>
                <a:t>255.255.255.255</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grpSp>
      <p:sp>
        <p:nvSpPr>
          <p:cNvPr id="2"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35" name="Line 5"/>
          <p:cNvSpPr>
            <a:spLocks noChangeShapeType="1"/>
          </p:cNvSpPr>
          <p:nvPr/>
        </p:nvSpPr>
        <p:spPr bwMode="auto">
          <a:xfrm>
            <a:off x="4937556"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8"/>
          <p:cNvSpPr txBox="1">
            <a:spLocks noChangeArrowheads="1"/>
          </p:cNvSpPr>
          <p:nvPr/>
        </p:nvSpPr>
        <p:spPr bwMode="auto">
          <a:xfrm>
            <a:off x="819222" y="1230287"/>
            <a:ext cx="170003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主机 </a:t>
            </a:r>
            <a:r>
              <a:rPr kumimoji="1" lang="en-US" altLang="zh-CN" sz="1200" b="1" dirty="0" smtClean="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a:p>
            <a:pPr algn="ctr"/>
            <a:r>
              <a:rPr kumimoji="1" lang="en-US" altLang="zh-CN" sz="1200" b="1" dirty="0">
                <a:latin typeface="微软雅黑" panose="020B0503020204020204" pitchFamily="34" charset="-122"/>
                <a:ea typeface="微软雅黑" panose="020B0503020204020204" pitchFamily="34" charset="-122"/>
              </a:rPr>
              <a:t>00:a0:24:71:e4:44</a:t>
            </a:r>
            <a:endParaRPr kumimoji="1" lang="zh-CN" altLang="en-US" sz="1200" b="1" dirty="0">
              <a:latin typeface="微软雅黑" panose="020B0503020204020204" pitchFamily="34" charset="-122"/>
              <a:ea typeface="微软雅黑" panose="020B0503020204020204" pitchFamily="34" charset="-122"/>
            </a:endParaRPr>
          </a:p>
        </p:txBody>
      </p:sp>
      <p:sp>
        <p:nvSpPr>
          <p:cNvPr id="38" name="Text Box 9"/>
          <p:cNvSpPr txBox="1">
            <a:spLocks noChangeArrowheads="1"/>
          </p:cNvSpPr>
          <p:nvPr/>
        </p:nvSpPr>
        <p:spPr bwMode="auto">
          <a:xfrm>
            <a:off x="6875698" y="1203018"/>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DHCP </a:t>
            </a:r>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1" name="Line 22"/>
          <p:cNvSpPr>
            <a:spLocks noChangeShapeType="1"/>
          </p:cNvSpPr>
          <p:nvPr/>
        </p:nvSpPr>
        <p:spPr bwMode="auto">
          <a:xfrm>
            <a:off x="1198175" y="2473236"/>
            <a:ext cx="6421817"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3"/>
          <p:cNvSpPr>
            <a:spLocks noChangeShapeType="1"/>
          </p:cNvSpPr>
          <p:nvPr/>
        </p:nvSpPr>
        <p:spPr bwMode="auto">
          <a:xfrm>
            <a:off x="1630353" y="2176210"/>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Text Box 34"/>
          <p:cNvSpPr txBox="1">
            <a:spLocks noChangeArrowheads="1"/>
          </p:cNvSpPr>
          <p:nvPr/>
        </p:nvSpPr>
        <p:spPr bwMode="auto">
          <a:xfrm>
            <a:off x="5339174" y="1622278"/>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广播</a:t>
            </a:r>
            <a:endParaRPr kumimoji="1" lang="zh-CN" altLang="en-US" sz="1400" b="1" dirty="0">
              <a:latin typeface="微软雅黑" panose="020B0503020204020204" pitchFamily="34" charset="-122"/>
              <a:ea typeface="微软雅黑" panose="020B0503020204020204" pitchFamily="34" charset="-122"/>
            </a:endParaRPr>
          </a:p>
        </p:txBody>
      </p:sp>
      <p:sp>
        <p:nvSpPr>
          <p:cNvPr id="66" name="矩形 65"/>
          <p:cNvSpPr/>
          <p:nvPr/>
        </p:nvSpPr>
        <p:spPr>
          <a:xfrm>
            <a:off x="556963" y="3764271"/>
            <a:ext cx="8048776" cy="369332"/>
          </a:xfrm>
          <a:prstGeom prst="rect">
            <a:avLst/>
          </a:prstGeom>
          <a:noFill/>
          <a:ln>
            <a:noFill/>
          </a:ln>
        </p:spPr>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需要 </a:t>
            </a:r>
            <a:r>
              <a:rPr lang="en-US" altLang="zh-CN" b="1" dirty="0" smtClean="0">
                <a:latin typeface="微软雅黑" panose="020B0503020204020204" pitchFamily="34" charset="-122"/>
                <a:ea typeface="微软雅黑" panose="020B0503020204020204" pitchFamily="34" charset="-122"/>
              </a:rPr>
              <a:t>IP </a:t>
            </a:r>
            <a:r>
              <a:rPr lang="zh-CN" altLang="en-US" b="1" dirty="0" smtClean="0">
                <a:latin typeface="微软雅黑" panose="020B0503020204020204" pitchFamily="34" charset="-122"/>
                <a:ea typeface="微软雅黑" panose="020B0503020204020204" pitchFamily="34" charset="-122"/>
              </a:rPr>
              <a:t>地址</a:t>
            </a:r>
            <a:r>
              <a:rPr lang="zh-CN" altLang="en-US" b="1" dirty="0">
                <a:latin typeface="微软雅黑" panose="020B0503020204020204" pitchFamily="34" charset="-122"/>
                <a:ea typeface="微软雅黑" panose="020B0503020204020204" pitchFamily="34" charset="-122"/>
              </a:rPr>
              <a:t>的</a:t>
            </a:r>
            <a:r>
              <a:rPr lang="zh-CN" altLang="en-US" b="1" dirty="0" smtClean="0">
                <a:latin typeface="微软雅黑" panose="020B0503020204020204" pitchFamily="34" charset="-122"/>
                <a:ea typeface="微软雅黑" panose="020B0503020204020204" pitchFamily="34" charset="-122"/>
              </a:rPr>
              <a:t>主机向 </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a:solidFill>
                  <a:srgbClr val="C00000"/>
                </a:solidFill>
                <a:latin typeface="微软雅黑" panose="020B0503020204020204" pitchFamily="34" charset="-122"/>
                <a:ea typeface="微软雅黑" panose="020B0503020204020204" pitchFamily="34" charset="-122"/>
              </a:rPr>
              <a:t>广播</a:t>
            </a:r>
            <a:r>
              <a:rPr lang="zh-CN" altLang="en-US" b="1" dirty="0">
                <a:latin typeface="微软雅黑" panose="020B0503020204020204" pitchFamily="34" charset="-122"/>
                <a:ea typeface="微软雅黑" panose="020B0503020204020204" pitchFamily="34" charset="-122"/>
              </a:rPr>
              <a:t>发送发现</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(DHCPDISCOVER) </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pic>
        <p:nvPicPr>
          <p:cNvPr id="6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665981" y="2746730"/>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59436"/>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5"/>
          <p:cNvSpPr>
            <a:spLocks noChangeShapeType="1"/>
          </p:cNvSpPr>
          <p:nvPr/>
        </p:nvSpPr>
        <p:spPr bwMode="auto">
          <a:xfrm>
            <a:off x="5784490"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5"/>
          <p:cNvSpPr>
            <a:spLocks noChangeShapeType="1"/>
          </p:cNvSpPr>
          <p:nvPr/>
        </p:nvSpPr>
        <p:spPr bwMode="auto">
          <a:xfrm>
            <a:off x="6628050"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76" name="Group 50"/>
          <p:cNvGrpSpPr>
            <a:grpSpLocks noChangeAspect="1"/>
          </p:cNvGrpSpPr>
          <p:nvPr/>
        </p:nvGrpSpPr>
        <p:grpSpPr bwMode="auto">
          <a:xfrm>
            <a:off x="5545250" y="2693555"/>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693555"/>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345055" y="1659337"/>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09560" y="1459714"/>
            <a:ext cx="582712" cy="815797"/>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left)">
                                      <p:cBhvr>
                                        <p:cTn id="7" dur="5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Line 5"/>
          <p:cNvSpPr>
            <a:spLocks noChangeShapeType="1"/>
          </p:cNvSpPr>
          <p:nvPr/>
        </p:nvSpPr>
        <p:spPr bwMode="auto">
          <a:xfrm>
            <a:off x="4937556"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8"/>
          <p:cNvSpPr txBox="1">
            <a:spLocks noChangeArrowheads="1"/>
          </p:cNvSpPr>
          <p:nvPr/>
        </p:nvSpPr>
        <p:spPr bwMode="auto">
          <a:xfrm>
            <a:off x="819222" y="1084496"/>
            <a:ext cx="170003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主机 </a:t>
            </a:r>
            <a:r>
              <a:rPr kumimoji="1" lang="en-US" altLang="zh-CN" sz="1200" b="1" dirty="0" smtClean="0">
                <a:latin typeface="微软雅黑" panose="020B0503020204020204" pitchFamily="34" charset="-122"/>
                <a:ea typeface="微软雅黑" panose="020B0503020204020204" pitchFamily="34" charset="-122"/>
              </a:rPr>
              <a:t>A</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10.12.18.112</a:t>
            </a:r>
            <a:endParaRPr kumimoji="1" lang="en-US" altLang="zh-CN" sz="1200" b="1" dirty="0">
              <a:latin typeface="微软雅黑" panose="020B0503020204020204" pitchFamily="34" charset="-122"/>
              <a:ea typeface="微软雅黑" panose="020B0503020204020204" pitchFamily="34" charset="-122"/>
            </a:endParaRPr>
          </a:p>
          <a:p>
            <a:pPr algn="ctr"/>
            <a:r>
              <a:rPr kumimoji="1" lang="en-US" altLang="zh-CN" sz="1200" b="1" dirty="0">
                <a:latin typeface="微软雅黑" panose="020B0503020204020204" pitchFamily="34" charset="-122"/>
                <a:ea typeface="微软雅黑" panose="020B0503020204020204" pitchFamily="34" charset="-122"/>
              </a:rPr>
              <a:t>00:a0:24:71:e4:44</a:t>
            </a:r>
            <a:endParaRPr kumimoji="1" lang="zh-CN" altLang="en-US" sz="1200" b="1" dirty="0">
              <a:latin typeface="微软雅黑" panose="020B0503020204020204" pitchFamily="34" charset="-122"/>
              <a:ea typeface="微软雅黑" panose="020B0503020204020204" pitchFamily="34" charset="-122"/>
            </a:endParaRPr>
          </a:p>
        </p:txBody>
      </p:sp>
      <p:sp>
        <p:nvSpPr>
          <p:cNvPr id="38" name="Text Box 9"/>
          <p:cNvSpPr txBox="1">
            <a:spLocks noChangeArrowheads="1"/>
          </p:cNvSpPr>
          <p:nvPr/>
        </p:nvSpPr>
        <p:spPr bwMode="auto">
          <a:xfrm>
            <a:off x="6875698" y="1214875"/>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DHCP </a:t>
            </a:r>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1" name="Line 22"/>
          <p:cNvSpPr>
            <a:spLocks noChangeShapeType="1"/>
          </p:cNvSpPr>
          <p:nvPr/>
        </p:nvSpPr>
        <p:spPr bwMode="auto">
          <a:xfrm>
            <a:off x="1198175" y="2485093"/>
            <a:ext cx="6421817"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3"/>
          <p:cNvSpPr>
            <a:spLocks noChangeShapeType="1"/>
          </p:cNvSpPr>
          <p:nvPr/>
        </p:nvSpPr>
        <p:spPr bwMode="auto">
          <a:xfrm>
            <a:off x="1630353" y="2188067"/>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Text Box 34"/>
          <p:cNvSpPr txBox="1">
            <a:spLocks noChangeArrowheads="1"/>
          </p:cNvSpPr>
          <p:nvPr/>
        </p:nvSpPr>
        <p:spPr bwMode="auto">
          <a:xfrm>
            <a:off x="5027403" y="118424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单播</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66" name="矩形 65"/>
          <p:cNvSpPr/>
          <p:nvPr/>
        </p:nvSpPr>
        <p:spPr>
          <a:xfrm>
            <a:off x="556963" y="3728619"/>
            <a:ext cx="8320707" cy="369332"/>
          </a:xfrm>
          <a:prstGeom prst="rect">
            <a:avLst/>
          </a:prstGeom>
          <a:noFill/>
          <a:ln>
            <a:noFill/>
          </a:ln>
        </p:spPr>
        <p:txBody>
          <a:bodyPr wrap="square">
            <a:spAutoFit/>
          </a:bodyPr>
          <a:lstStyle/>
          <a:p>
            <a:pPr algn="ct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服务器回答提供报文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DHCPOFFER</a:t>
            </a:r>
            <a:r>
              <a:rPr lang="en-US" altLang="zh-CN" b="1" dirty="0" smtClean="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单播</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提供 </a:t>
            </a:r>
            <a:r>
              <a:rPr lang="en-US" altLang="zh-CN" b="1" dirty="0" smtClean="0">
                <a:latin typeface="微软雅黑" panose="020B0503020204020204" pitchFamily="34" charset="-122"/>
                <a:ea typeface="微软雅黑" panose="020B0503020204020204" pitchFamily="34" charset="-122"/>
              </a:rPr>
              <a:t>IP </a:t>
            </a:r>
            <a:r>
              <a:rPr lang="zh-CN" altLang="en-US" b="1" dirty="0" smtClean="0">
                <a:latin typeface="微软雅黑" panose="020B0503020204020204" pitchFamily="34" charset="-122"/>
                <a:ea typeface="微软雅黑" panose="020B0503020204020204" pitchFamily="34" charset="-122"/>
              </a:rPr>
              <a:t>地址</a:t>
            </a:r>
            <a:r>
              <a:rPr lang="zh-CN" altLang="en-US" b="1" dirty="0">
                <a:latin typeface="微软雅黑" panose="020B0503020204020204" pitchFamily="34" charset="-122"/>
                <a:ea typeface="微软雅黑" panose="020B0503020204020204" pitchFamily="34" charset="-122"/>
              </a:rPr>
              <a:t>等配置信息。</a:t>
            </a:r>
            <a:endParaRPr lang="zh-CN" altLang="en-US" b="1" dirty="0">
              <a:latin typeface="微软雅黑" panose="020B0503020204020204" pitchFamily="34" charset="-122"/>
              <a:ea typeface="微软雅黑" panose="020B0503020204020204" pitchFamily="34" charset="-122"/>
            </a:endParaRPr>
          </a:p>
        </p:txBody>
      </p:sp>
      <p:pic>
        <p:nvPicPr>
          <p:cNvPr id="6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665981" y="2758587"/>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71293"/>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5"/>
          <p:cNvSpPr>
            <a:spLocks noChangeShapeType="1"/>
          </p:cNvSpPr>
          <p:nvPr/>
        </p:nvSpPr>
        <p:spPr bwMode="auto">
          <a:xfrm>
            <a:off x="5784490"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5"/>
          <p:cNvSpPr>
            <a:spLocks noChangeShapeType="1"/>
          </p:cNvSpPr>
          <p:nvPr/>
        </p:nvSpPr>
        <p:spPr bwMode="auto">
          <a:xfrm>
            <a:off x="6628050"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76" name="Group 50"/>
          <p:cNvGrpSpPr>
            <a:grpSpLocks noChangeAspect="1"/>
          </p:cNvGrpSpPr>
          <p:nvPr/>
        </p:nvGrpSpPr>
        <p:grpSpPr bwMode="auto">
          <a:xfrm>
            <a:off x="5545250" y="2705412"/>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705412"/>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345055" y="16711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09560" y="1471571"/>
            <a:ext cx="582712" cy="815797"/>
          </a:xfrm>
          <a:prstGeom prst="rect">
            <a:avLst/>
          </a:prstGeom>
        </p:spPr>
      </p:pic>
      <p:grpSp>
        <p:nvGrpSpPr>
          <p:cNvPr id="6" name="组合 5"/>
          <p:cNvGrpSpPr/>
          <p:nvPr/>
        </p:nvGrpSpPr>
        <p:grpSpPr>
          <a:xfrm>
            <a:off x="1910946" y="1472976"/>
            <a:ext cx="5398614" cy="872411"/>
            <a:chOff x="1910946" y="1562163"/>
            <a:chExt cx="5398614" cy="872411"/>
          </a:xfrm>
        </p:grpSpPr>
        <p:cxnSp>
          <p:nvCxnSpPr>
            <p:cNvPr id="7" name="直接箭头连接符 6"/>
            <p:cNvCxnSpPr>
              <a:stCxn id="70" idx="3"/>
            </p:cNvCxnSpPr>
            <p:nvPr/>
          </p:nvCxnSpPr>
          <p:spPr>
            <a:xfrm>
              <a:off x="1910946" y="1954140"/>
              <a:ext cx="5398614" cy="0"/>
            </a:xfrm>
            <a:prstGeom prst="straightConnector1">
              <a:avLst/>
            </a:prstGeom>
            <a:ln w="28575">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3971109" y="1562163"/>
              <a:ext cx="2656941" cy="872411"/>
            </a:xfrm>
            <a:prstGeom prst="rect">
              <a:avLst/>
            </a:prstGeom>
            <a:solidFill>
              <a:srgbClr val="CC00CC"/>
            </a:solidFill>
            <a:ln w="9525">
              <a:solidFill>
                <a:schemeClr val="tx1"/>
              </a:solidFill>
              <a:miter lim="800000"/>
            </a:ln>
            <a:effectLst/>
          </p:spPr>
          <p:txBody>
            <a:bodyPr wrap="none" anchor="ctr"/>
            <a:lstStyle/>
            <a:p>
              <a:r>
                <a:rPr kumimoji="1" lang="en-US" altLang="zh-CN" sz="1200" b="1" dirty="0" smtClean="0">
                  <a:solidFill>
                    <a:schemeClr val="bg1"/>
                  </a:solidFill>
                  <a:latin typeface="微软雅黑" panose="020B0503020204020204" pitchFamily="34" charset="-122"/>
                  <a:ea typeface="微软雅黑" panose="020B0503020204020204" pitchFamily="34" charset="-122"/>
                </a:rPr>
                <a:t>DHCPOFFER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IP </a:t>
              </a:r>
              <a:r>
                <a:rPr kumimoji="1" lang="en-US" altLang="zh-CN" sz="1200" b="1" dirty="0">
                  <a:solidFill>
                    <a:schemeClr val="bg1"/>
                  </a:solidFill>
                  <a:latin typeface="微软雅黑" panose="020B0503020204020204" pitchFamily="34" charset="-122"/>
                  <a:ea typeface="微软雅黑" panose="020B0503020204020204" pitchFamily="34" charset="-122"/>
                </a:rPr>
                <a:t>address: </a:t>
              </a:r>
              <a:r>
                <a:rPr kumimoji="1" lang="en-US" altLang="zh-CN" sz="1200" b="1" dirty="0" smtClean="0">
                  <a:solidFill>
                    <a:schemeClr val="bg1"/>
                  </a:solidFill>
                  <a:latin typeface="微软雅黑" panose="020B0503020204020204" pitchFamily="34" charset="-122"/>
                  <a:ea typeface="微软雅黑" panose="020B0503020204020204" pitchFamily="34" charset="-122"/>
                </a:rPr>
                <a:t>10.12.18.112</a:t>
              </a:r>
              <a:r>
                <a:rPr kumimoji="1" lang="en-US" altLang="zh-CN" sz="1200" b="1" dirty="0">
                  <a:solidFill>
                    <a:schemeClr val="bg1"/>
                  </a:solidFill>
                  <a:latin typeface="微软雅黑" panose="020B0503020204020204" pitchFamily="34" charset="-122"/>
                  <a:ea typeface="微软雅黑" panose="020B0503020204020204" pitchFamily="34" charset="-122"/>
                </a:rPr>
                <a:t>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Default </a:t>
              </a:r>
              <a:r>
                <a:rPr kumimoji="1" lang="en-US" altLang="zh-CN" sz="1200" b="1" dirty="0">
                  <a:solidFill>
                    <a:schemeClr val="bg1"/>
                  </a:solidFill>
                  <a:latin typeface="微软雅黑" panose="020B0503020204020204" pitchFamily="34" charset="-122"/>
                  <a:ea typeface="微软雅黑" panose="020B0503020204020204" pitchFamily="34" charset="-122"/>
                </a:rPr>
                <a:t>gateway: </a:t>
              </a:r>
              <a:r>
                <a:rPr kumimoji="1" lang="en-US" altLang="zh-CN" sz="1200" b="1" dirty="0" smtClean="0">
                  <a:solidFill>
                    <a:schemeClr val="bg1"/>
                  </a:solidFill>
                  <a:latin typeface="微软雅黑" panose="020B0503020204020204" pitchFamily="34" charset="-122"/>
                  <a:ea typeface="微软雅黑" panose="020B0503020204020204" pitchFamily="34" charset="-122"/>
                </a:rPr>
                <a:t>10.12.18.1</a:t>
              </a:r>
              <a:endParaRPr kumimoji="1" lang="en-US" altLang="zh-CN" sz="1200" b="1" dirty="0">
                <a:solidFill>
                  <a:schemeClr val="bg1"/>
                </a:solidFill>
                <a:latin typeface="微软雅黑" panose="020B0503020204020204" pitchFamily="34" charset="-122"/>
                <a:ea typeface="微软雅黑" panose="020B0503020204020204" pitchFamily="34" charset="-122"/>
              </a:endParaRPr>
            </a:p>
            <a:p>
              <a:r>
                <a:rPr kumimoji="1" lang="en-US" altLang="zh-CN" sz="1200" b="1" dirty="0" err="1">
                  <a:solidFill>
                    <a:schemeClr val="bg1"/>
                  </a:solidFill>
                  <a:latin typeface="微软雅黑" panose="020B0503020204020204" pitchFamily="34" charset="-122"/>
                  <a:ea typeface="微软雅黑" panose="020B0503020204020204" pitchFamily="34" charset="-122"/>
                </a:rPr>
                <a:t>Netmask</a:t>
              </a:r>
              <a:r>
                <a:rPr kumimoji="1" lang="en-US" altLang="zh-CN" sz="1200" b="1" dirty="0">
                  <a:solidFill>
                    <a:schemeClr val="bg1"/>
                  </a:solidFill>
                  <a:latin typeface="微软雅黑" panose="020B0503020204020204" pitchFamily="34" charset="-122"/>
                  <a:ea typeface="微软雅黑" panose="020B0503020204020204" pitchFamily="34" charset="-122"/>
                </a:rPr>
                <a:t>: 255.255.0.0</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grpSp>
      <p:sp>
        <p:nvSpPr>
          <p:cNvPr id="41"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2"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5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89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286699" y="574803"/>
            <a:ext cx="45706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a:solidFill>
                  <a:schemeClr val="bg1"/>
                </a:solidFill>
                <a:latin typeface="微软雅黑" panose="020B0503020204020204" pitchFamily="34" charset="-122"/>
                <a:ea typeface="微软雅黑" panose="020B0503020204020204" pitchFamily="34" charset="-122"/>
              </a:rPr>
              <a:t>中继</a:t>
            </a:r>
            <a:r>
              <a:rPr lang="zh-CN" altLang="en-US" sz="2400" b="1" dirty="0" smtClean="0">
                <a:solidFill>
                  <a:schemeClr val="bg1"/>
                </a:solidFill>
                <a:latin typeface="微软雅黑" panose="020B0503020204020204" pitchFamily="34" charset="-122"/>
                <a:ea typeface="微软雅黑" panose="020B0503020204020204" pitchFamily="34" charset="-122"/>
              </a:rPr>
              <a:t>代理 </a:t>
            </a:r>
            <a:r>
              <a:rPr lang="en-US" altLang="zh-CN" sz="2400" b="1" dirty="0" smtClean="0">
                <a:solidFill>
                  <a:schemeClr val="bg1"/>
                </a:solidFill>
                <a:latin typeface="微软雅黑" panose="020B0503020204020204" pitchFamily="34" charset="-122"/>
                <a:ea typeface="微软雅黑" panose="020B0503020204020204" pitchFamily="34" charset="-122"/>
              </a:rPr>
              <a:t>(</a:t>
            </a:r>
            <a:r>
              <a:rPr lang="en-US" altLang="zh-CN" sz="2400" b="1" dirty="0">
                <a:solidFill>
                  <a:schemeClr val="bg1"/>
                </a:solidFill>
                <a:latin typeface="微软雅黑" panose="020B0503020204020204" pitchFamily="34" charset="-122"/>
                <a:ea typeface="微软雅黑" panose="020B0503020204020204" pitchFamily="34" charset="-122"/>
              </a:rPr>
              <a:t>relay agent)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4" y="1000116"/>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问题：</a:t>
            </a:r>
            <a:r>
              <a:rPr lang="zh-CN" altLang="en-US" sz="2000" b="1" dirty="0" smtClean="0">
                <a:latin typeface="微软雅黑" panose="020B0503020204020204" pitchFamily="34" charset="-122"/>
                <a:ea typeface="微软雅黑" panose="020B0503020204020204" pitchFamily="34" charset="-122"/>
              </a:rPr>
              <a:t>每个</a:t>
            </a:r>
            <a:r>
              <a:rPr lang="zh-CN" altLang="en-US" sz="2000" b="1" dirty="0">
                <a:latin typeface="微软雅黑" panose="020B0503020204020204" pitchFamily="34" charset="-122"/>
                <a:ea typeface="微软雅黑" panose="020B0503020204020204" pitchFamily="34" charset="-122"/>
              </a:rPr>
              <a:t>网络上</a:t>
            </a:r>
            <a:r>
              <a:rPr lang="zh-CN" altLang="en-US" sz="2000" b="1" dirty="0" smtClean="0">
                <a:latin typeface="微软雅黑" panose="020B0503020204020204" pitchFamily="34" charset="-122"/>
                <a:ea typeface="微软雅黑" panose="020B0503020204020204" pitchFamily="34" charset="-122"/>
              </a:rPr>
              <a:t>都</a:t>
            </a:r>
            <a:r>
              <a:rPr lang="zh-CN" altLang="en-US" sz="2000" b="1" dirty="0">
                <a:latin typeface="微软雅黑" panose="020B0503020204020204" pitchFamily="34" charset="-122"/>
                <a:ea typeface="微软雅黑" panose="020B0503020204020204" pitchFamily="34" charset="-122"/>
              </a:rPr>
              <a:t>需要</a:t>
            </a:r>
            <a:r>
              <a:rPr lang="zh-CN" altLang="en-US" sz="2000" b="1" dirty="0" smtClean="0">
                <a:latin typeface="微软雅黑" panose="020B0503020204020204" pitchFamily="34" charset="-122"/>
                <a:ea typeface="微软雅黑" panose="020B0503020204020204" pitchFamily="34" charset="-122"/>
              </a:rPr>
              <a:t>有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服务器吗？</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答案：</a:t>
            </a:r>
            <a:r>
              <a:rPr lang="zh-CN" altLang="en-US" sz="2000" b="1" dirty="0" smtClean="0">
                <a:latin typeface="微软雅黑" panose="020B0503020204020204" pitchFamily="34" charset="-122"/>
                <a:ea typeface="微软雅黑" panose="020B0503020204020204" pitchFamily="34" charset="-122"/>
              </a:rPr>
              <a:t>不需要，因为会使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的数量太多</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问题：</a:t>
            </a:r>
            <a:r>
              <a:rPr lang="zh-CN" altLang="en-US" sz="2000" b="1" dirty="0" smtClean="0">
                <a:latin typeface="微软雅黑" panose="020B0503020204020204" pitchFamily="34" charset="-122"/>
                <a:ea typeface="微软雅黑" panose="020B0503020204020204" pitchFamily="34" charset="-122"/>
              </a:rPr>
              <a:t>若没有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服务器，如何自动获得地址？</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解决：</a:t>
            </a:r>
            <a:r>
              <a:rPr lang="zh-CN" altLang="en-US" sz="2000" b="1" dirty="0" smtClean="0">
                <a:latin typeface="微软雅黑" panose="020B0503020204020204" pitchFamily="34" charset="-122"/>
                <a:ea typeface="微软雅黑" panose="020B0503020204020204" pitchFamily="34" charset="-122"/>
              </a:rPr>
              <a:t>每</a:t>
            </a:r>
            <a:r>
              <a:rPr lang="zh-CN" altLang="en-US" sz="2000" b="1" dirty="0">
                <a:latin typeface="微软雅黑" panose="020B0503020204020204" pitchFamily="34" charset="-122"/>
                <a:ea typeface="微软雅黑" panose="020B0503020204020204" pitchFamily="34" charset="-122"/>
              </a:rPr>
              <a:t>一个网络</a:t>
            </a:r>
            <a:r>
              <a:rPr lang="zh-CN" altLang="en-US" sz="2000" b="1" dirty="0">
                <a:solidFill>
                  <a:srgbClr val="C00000"/>
                </a:solidFill>
                <a:latin typeface="微软雅黑" panose="020B0503020204020204" pitchFamily="34" charset="-122"/>
                <a:ea typeface="微软雅黑" panose="020B0503020204020204" pitchFamily="34" charset="-122"/>
              </a:rPr>
              <a:t>至少</a:t>
            </a:r>
            <a:r>
              <a:rPr lang="zh-CN" altLang="en-US" sz="2000" b="1" dirty="0">
                <a:latin typeface="微软雅黑" panose="020B0503020204020204" pitchFamily="34" charset="-122"/>
                <a:ea typeface="微软雅黑" panose="020B0503020204020204" pitchFamily="34" charset="-122"/>
              </a:rPr>
              <a:t>有一个 </a:t>
            </a:r>
            <a:r>
              <a:rPr lang="en-US" altLang="zh-CN" sz="2000" b="1" dirty="0">
                <a:latin typeface="微软雅黑" panose="020B0503020204020204" pitchFamily="34" charset="-122"/>
                <a:ea typeface="微软雅黑" panose="020B0503020204020204" pitchFamily="34" charset="-122"/>
              </a:rPr>
              <a:t>DHCP </a:t>
            </a:r>
            <a:r>
              <a:rPr lang="zh-CN" altLang="en-US" sz="2000" b="1" dirty="0">
                <a:solidFill>
                  <a:srgbClr val="C00000"/>
                </a:solidFill>
                <a:latin typeface="微软雅黑" panose="020B0503020204020204" pitchFamily="34" charset="-122"/>
                <a:ea typeface="微软雅黑" panose="020B0503020204020204" pitchFamily="34" charset="-122"/>
              </a:rPr>
              <a:t>中继代理，</a:t>
            </a:r>
            <a:r>
              <a:rPr lang="zh-CN" altLang="en-US" sz="2000" b="1" dirty="0">
                <a:latin typeface="微软雅黑" panose="020B0503020204020204" pitchFamily="34" charset="-122"/>
                <a:ea typeface="微软雅黑" panose="020B0503020204020204" pitchFamily="34" charset="-122"/>
              </a:rPr>
              <a:t>它配置了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地址信息</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91716"/>
            <a:ext cx="8048776" cy="24794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40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10965" y="570809"/>
            <a:ext cx="4940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中继</a:t>
            </a:r>
            <a:r>
              <a:rPr lang="zh-CN" altLang="en-US" sz="2000" b="1" dirty="0" smtClean="0">
                <a:solidFill>
                  <a:schemeClr val="bg1"/>
                </a:solidFill>
                <a:latin typeface="微软雅黑" panose="020B0503020204020204" pitchFamily="34" charset="-122"/>
                <a:ea typeface="微软雅黑" panose="020B0503020204020204" pitchFamily="34" charset="-122"/>
              </a:rPr>
              <a:t>代理以</a:t>
            </a:r>
            <a:r>
              <a:rPr lang="zh-CN" altLang="en-US" sz="2000" b="1" dirty="0">
                <a:solidFill>
                  <a:srgbClr val="FFFF00"/>
                </a:solidFill>
                <a:latin typeface="微软雅黑" panose="020B0503020204020204" pitchFamily="34" charset="-122"/>
                <a:ea typeface="微软雅黑" panose="020B0503020204020204" pitchFamily="34" charset="-122"/>
              </a:rPr>
              <a:t>单播</a:t>
            </a:r>
            <a:r>
              <a:rPr lang="zh-CN" altLang="en-US" sz="2000" b="1" dirty="0">
                <a:solidFill>
                  <a:schemeClr val="bg1"/>
                </a:solidFill>
                <a:latin typeface="微软雅黑" panose="020B0503020204020204" pitchFamily="34" charset="-122"/>
                <a:ea typeface="微软雅黑" panose="020B0503020204020204" pitchFamily="34" charset="-122"/>
              </a:rPr>
              <a:t>方式转发发现报文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Line 5"/>
          <p:cNvSpPr>
            <a:spLocks noChangeShapeType="1"/>
          </p:cNvSpPr>
          <p:nvPr/>
        </p:nvSpPr>
        <p:spPr bwMode="auto">
          <a:xfrm>
            <a:off x="1946778" y="2083055"/>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6"/>
          <p:cNvSpPr>
            <a:spLocks noChangeShapeType="1"/>
          </p:cNvSpPr>
          <p:nvPr/>
        </p:nvSpPr>
        <p:spPr bwMode="auto">
          <a:xfrm flipV="1">
            <a:off x="3782056" y="2707630"/>
            <a:ext cx="3898213"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1001488" y="1105533"/>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主机</a:t>
            </a:r>
            <a:endParaRPr kumimoji="1" lang="zh-CN" altLang="en-US" sz="1400" b="1" dirty="0">
              <a:latin typeface="微软雅黑" panose="020B0503020204020204" pitchFamily="34" charset="-122"/>
              <a:ea typeface="微软雅黑" panose="020B0503020204020204" pitchFamily="34" charset="-122"/>
            </a:endParaRPr>
          </a:p>
        </p:txBody>
      </p:sp>
      <p:sp>
        <p:nvSpPr>
          <p:cNvPr id="9" name="Text Box 9"/>
          <p:cNvSpPr txBox="1">
            <a:spLocks noChangeArrowheads="1"/>
          </p:cNvSpPr>
          <p:nvPr/>
        </p:nvSpPr>
        <p:spPr bwMode="auto">
          <a:xfrm>
            <a:off x="7522125" y="1385692"/>
            <a:ext cx="72327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a:latin typeface="微软雅黑" panose="020B0503020204020204" pitchFamily="34" charset="-122"/>
                <a:ea typeface="微软雅黑" panose="020B0503020204020204" pitchFamily="34" charset="-122"/>
              </a:rPr>
              <a:t>DHCP</a:t>
            </a:r>
            <a:endParaRPr kumimoji="1" lang="en-US" altLang="zh-CN"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p:txBody>
      </p:sp>
      <p:grpSp>
        <p:nvGrpSpPr>
          <p:cNvPr id="10" name="Group 10"/>
          <p:cNvGrpSpPr/>
          <p:nvPr/>
        </p:nvGrpSpPr>
        <p:grpSpPr bwMode="auto">
          <a:xfrm>
            <a:off x="6035462" y="2160540"/>
            <a:ext cx="1052951" cy="936151"/>
            <a:chOff x="3204" y="2684"/>
            <a:chExt cx="1080" cy="854"/>
          </a:xfrm>
          <a:solidFill>
            <a:srgbClr val="99FFCC"/>
          </a:solidFill>
        </p:grpSpPr>
        <p:sp>
          <p:nvSpPr>
            <p:cNvPr id="11" name="Oval 11"/>
            <p:cNvSpPr>
              <a:spLocks noChangeArrowheads="1"/>
            </p:cNvSpPr>
            <p:nvPr/>
          </p:nvSpPr>
          <p:spPr bwMode="auto">
            <a:xfrm>
              <a:off x="3457" y="2684"/>
              <a:ext cx="464" cy="228"/>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Freeform 12"/>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Freeform 13"/>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Freeform 14"/>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Oval 15"/>
            <p:cNvSpPr>
              <a:spLocks noChangeArrowheads="1"/>
            </p:cNvSpPr>
            <p:nvPr/>
          </p:nvSpPr>
          <p:spPr bwMode="auto">
            <a:xfrm>
              <a:off x="3514" y="3201"/>
              <a:ext cx="538" cy="337"/>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Freeform 16"/>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Oval 17"/>
            <p:cNvSpPr>
              <a:spLocks noChangeArrowheads="1"/>
            </p:cNvSpPr>
            <p:nvPr/>
          </p:nvSpPr>
          <p:spPr bwMode="auto">
            <a:xfrm>
              <a:off x="3204" y="3023"/>
              <a:ext cx="245" cy="219"/>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Freeform 18"/>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Freeform 19"/>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Freeform 20"/>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Freeform 21"/>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22" name="Line 22"/>
          <p:cNvSpPr>
            <a:spLocks noChangeShapeType="1"/>
          </p:cNvSpPr>
          <p:nvPr/>
        </p:nvSpPr>
        <p:spPr bwMode="auto">
          <a:xfrm>
            <a:off x="1073020" y="2066620"/>
            <a:ext cx="2860385"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1258709" y="1769594"/>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4"/>
          <p:cNvSpPr>
            <a:spLocks noChangeShapeType="1"/>
          </p:cNvSpPr>
          <p:nvPr/>
        </p:nvSpPr>
        <p:spPr bwMode="auto">
          <a:xfrm>
            <a:off x="3628161" y="2083055"/>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6"/>
          <p:cNvSpPr txBox="1">
            <a:spLocks noChangeArrowheads="1"/>
          </p:cNvSpPr>
          <p:nvPr/>
        </p:nvSpPr>
        <p:spPr bwMode="auto">
          <a:xfrm>
            <a:off x="6296803" y="2365993"/>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其他</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网络</a:t>
            </a:r>
            <a:endParaRPr kumimoji="1" lang="zh-CN" altLang="en-US" sz="1400" b="1">
              <a:latin typeface="微软雅黑" panose="020B0503020204020204" pitchFamily="34" charset="-122"/>
              <a:ea typeface="微软雅黑" panose="020B0503020204020204" pitchFamily="34" charset="-122"/>
            </a:endParaRPr>
          </a:p>
        </p:txBody>
      </p:sp>
      <p:sp>
        <p:nvSpPr>
          <p:cNvPr id="27" name="Text Box 27"/>
          <p:cNvSpPr txBox="1">
            <a:spLocks noChangeArrowheads="1"/>
          </p:cNvSpPr>
          <p:nvPr/>
        </p:nvSpPr>
        <p:spPr bwMode="auto">
          <a:xfrm>
            <a:off x="3207279" y="2812118"/>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DHCP</a:t>
            </a:r>
            <a:endParaRPr kumimoji="1" lang="en-US" altLang="zh-CN"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中继代理</a:t>
            </a:r>
            <a:endParaRPr kumimoji="1" lang="zh-CN" altLang="en-US" sz="1400" b="1" dirty="0">
              <a:latin typeface="微软雅黑" panose="020B0503020204020204" pitchFamily="34" charset="-122"/>
              <a:ea typeface="微软雅黑" panose="020B0503020204020204" pitchFamily="34" charset="-122"/>
            </a:endParaRPr>
          </a:p>
        </p:txBody>
      </p:sp>
      <p:grpSp>
        <p:nvGrpSpPr>
          <p:cNvPr id="28" name="Group 41"/>
          <p:cNvGrpSpPr/>
          <p:nvPr/>
        </p:nvGrpSpPr>
        <p:grpSpPr bwMode="auto">
          <a:xfrm>
            <a:off x="1691138" y="1291771"/>
            <a:ext cx="2064208" cy="635141"/>
            <a:chOff x="571" y="1480"/>
            <a:chExt cx="1623" cy="541"/>
          </a:xfrm>
        </p:grpSpPr>
        <p:grpSp>
          <p:nvGrpSpPr>
            <p:cNvPr id="29" name="Group 31"/>
            <p:cNvGrpSpPr/>
            <p:nvPr/>
          </p:nvGrpSpPr>
          <p:grpSpPr bwMode="auto">
            <a:xfrm>
              <a:off x="571" y="1754"/>
              <a:ext cx="1623" cy="267"/>
              <a:chOff x="1008" y="2400"/>
              <a:chExt cx="1296" cy="192"/>
            </a:xfrm>
          </p:grpSpPr>
          <p:sp>
            <p:nvSpPr>
              <p:cNvPr id="31" name="AutoShape 32"/>
              <p:cNvSpPr>
                <a:spLocks noChangeArrowheads="1"/>
              </p:cNvSpPr>
              <p:nvPr/>
            </p:nvSpPr>
            <p:spPr bwMode="auto">
              <a:xfrm>
                <a:off x="2064" y="2448"/>
                <a:ext cx="240" cy="96"/>
              </a:xfrm>
              <a:prstGeom prst="rightArrow">
                <a:avLst>
                  <a:gd name="adj1" fmla="val 50000"/>
                  <a:gd name="adj2" fmla="val 62500"/>
                </a:avLst>
              </a:prstGeom>
              <a:solidFill>
                <a:srgbClr val="CC00CC"/>
              </a:solidFill>
              <a:ln w="9525">
                <a:solidFill>
                  <a:schemeClr val="tx1"/>
                </a:solidFill>
                <a:miter lim="800000"/>
              </a:ln>
              <a:effectLst/>
            </p:spPr>
            <p:txBody>
              <a:bodyPr wrap="none" anchor="ctr"/>
              <a:lstStyle/>
              <a:p>
                <a:pPr eaLnBrk="1" hangingPunct="1"/>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32" name="Rectangle 33"/>
              <p:cNvSpPr>
                <a:spLocks noChangeArrowheads="1"/>
              </p:cNvSpPr>
              <p:nvPr/>
            </p:nvSpPr>
            <p:spPr bwMode="auto">
              <a:xfrm>
                <a:off x="1008" y="2400"/>
                <a:ext cx="1056" cy="192"/>
              </a:xfrm>
              <a:prstGeom prst="rect">
                <a:avLst/>
              </a:prstGeom>
              <a:solidFill>
                <a:srgbClr val="CC00CC"/>
              </a:solidFill>
              <a:ln w="9525">
                <a:solidFill>
                  <a:schemeClr val="tx1"/>
                </a:solidFill>
                <a:miter lim="800000"/>
              </a:ln>
              <a:effec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DHCPDISCOVER</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0" name="Text Box 34"/>
            <p:cNvSpPr txBox="1">
              <a:spLocks noChangeArrowheads="1"/>
            </p:cNvSpPr>
            <p:nvPr/>
          </p:nvSpPr>
          <p:spPr bwMode="auto">
            <a:xfrm>
              <a:off x="967" y="1480"/>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广播</a:t>
              </a:r>
              <a:endParaRPr kumimoji="1" lang="zh-CN" altLang="en-US" sz="1400" b="1" dirty="0">
                <a:latin typeface="微软雅黑" panose="020B0503020204020204" pitchFamily="34" charset="-122"/>
                <a:ea typeface="微软雅黑" panose="020B0503020204020204" pitchFamily="34" charset="-122"/>
              </a:endParaRPr>
            </a:p>
          </p:txBody>
        </p:sp>
      </p:grpSp>
      <p:grpSp>
        <p:nvGrpSpPr>
          <p:cNvPr id="33" name="Group 42"/>
          <p:cNvGrpSpPr/>
          <p:nvPr/>
        </p:nvGrpSpPr>
        <p:grpSpPr bwMode="auto">
          <a:xfrm>
            <a:off x="3933405" y="1931608"/>
            <a:ext cx="2065481" cy="619879"/>
            <a:chOff x="2334" y="2025"/>
            <a:chExt cx="1624" cy="528"/>
          </a:xfrm>
        </p:grpSpPr>
        <p:grpSp>
          <p:nvGrpSpPr>
            <p:cNvPr id="34" name="Group 28"/>
            <p:cNvGrpSpPr/>
            <p:nvPr/>
          </p:nvGrpSpPr>
          <p:grpSpPr bwMode="auto">
            <a:xfrm>
              <a:off x="2334" y="2287"/>
              <a:ext cx="1624" cy="266"/>
              <a:chOff x="1008" y="2400"/>
              <a:chExt cx="1296" cy="192"/>
            </a:xfrm>
          </p:grpSpPr>
          <p:sp>
            <p:nvSpPr>
              <p:cNvPr id="36" name="AutoShape 29"/>
              <p:cNvSpPr>
                <a:spLocks noChangeArrowheads="1"/>
              </p:cNvSpPr>
              <p:nvPr/>
            </p:nvSpPr>
            <p:spPr bwMode="auto">
              <a:xfrm>
                <a:off x="2064" y="2448"/>
                <a:ext cx="240" cy="96"/>
              </a:xfrm>
              <a:prstGeom prst="rightArrow">
                <a:avLst>
                  <a:gd name="adj1" fmla="val 50000"/>
                  <a:gd name="adj2" fmla="val 62500"/>
                </a:avLst>
              </a:prstGeom>
              <a:solidFill>
                <a:schemeClr val="accent6">
                  <a:lumMod val="75000"/>
                </a:schemeClr>
              </a:solidFill>
              <a:ln w="9525">
                <a:solidFill>
                  <a:schemeClr val="tx1"/>
                </a:solidFill>
                <a:miter lim="800000"/>
              </a:ln>
              <a:effectLst/>
            </p:spPr>
            <p:txBody>
              <a:bodyPr wrap="none" anchor="ctr"/>
              <a:lstStyle/>
              <a:p>
                <a:pPr eaLnBrk="1" hangingPunct="1"/>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37" name="Rectangle 30"/>
              <p:cNvSpPr>
                <a:spLocks noChangeArrowheads="1"/>
              </p:cNvSpPr>
              <p:nvPr/>
            </p:nvSpPr>
            <p:spPr bwMode="auto">
              <a:xfrm>
                <a:off x="1008" y="2400"/>
                <a:ext cx="1056" cy="192"/>
              </a:xfrm>
              <a:prstGeom prst="rect">
                <a:avLst/>
              </a:prstGeom>
              <a:solidFill>
                <a:schemeClr val="accent6">
                  <a:lumMod val="75000"/>
                </a:schemeClr>
              </a:solidFill>
              <a:ln w="9525">
                <a:solidFill>
                  <a:schemeClr val="tx1"/>
                </a:solidFill>
                <a:miter lim="800000"/>
              </a:ln>
              <a:effec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DHCPDISCOVER</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5" name="Text Box 35"/>
            <p:cNvSpPr txBox="1">
              <a:spLocks noChangeArrowheads="1"/>
            </p:cNvSpPr>
            <p:nvPr/>
          </p:nvSpPr>
          <p:spPr bwMode="auto">
            <a:xfrm>
              <a:off x="2764" y="2025"/>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单播</a:t>
              </a:r>
              <a:endParaRPr kumimoji="1" lang="zh-CN" altLang="en-US" sz="1400" b="1" dirty="0">
                <a:latin typeface="微软雅黑" panose="020B0503020204020204" pitchFamily="34" charset="-122"/>
                <a:ea typeface="微软雅黑" panose="020B0503020204020204" pitchFamily="34" charset="-122"/>
              </a:endParaRPr>
            </a:p>
          </p:txBody>
        </p:sp>
      </p:grpSp>
      <p:pic>
        <p:nvPicPr>
          <p:cNvPr id="43" name="图片 4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7549301" y="1912976"/>
            <a:ext cx="728974" cy="1020563"/>
          </a:xfrm>
          <a:prstGeom prst="rect">
            <a:avLst/>
          </a:prstGeom>
        </p:spPr>
      </p:pic>
      <p:pic>
        <p:nvPicPr>
          <p:cNvPr id="4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67514"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75203"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73411" y="1389351"/>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 name="矩形 6"/>
          <p:cNvSpPr/>
          <p:nvPr/>
        </p:nvSpPr>
        <p:spPr>
          <a:xfrm>
            <a:off x="556964" y="3470555"/>
            <a:ext cx="8048776" cy="1015663"/>
          </a:xfrm>
          <a:prstGeom prst="rect">
            <a:avLst/>
          </a:prstGeom>
        </p:spPr>
        <p:txBody>
          <a:bodyPr wrap="square">
            <a:spAutoFit/>
          </a:bodyPr>
          <a:lstStyle/>
          <a:p>
            <a:pPr marL="285750" indent="-285750" eaLnBrk="0" hangingPunct="0">
              <a:lnSpc>
                <a:spcPts val="24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中继代理收到主机广播发送的发现报文后，就以</a:t>
            </a:r>
            <a:r>
              <a:rPr lang="zh-CN" altLang="en-US" sz="1600" b="1" dirty="0">
                <a:solidFill>
                  <a:srgbClr val="C00000"/>
                </a:solidFill>
                <a:latin typeface="微软雅黑" panose="020B0503020204020204" pitchFamily="34" charset="-122"/>
                <a:ea typeface="微软雅黑" panose="020B0503020204020204" pitchFamily="34" charset="-122"/>
              </a:rPr>
              <a:t>单播</a:t>
            </a:r>
            <a:r>
              <a:rPr lang="zh-CN" altLang="en-US" sz="1600" b="1" dirty="0">
                <a:latin typeface="微软雅黑" panose="020B0503020204020204" pitchFamily="34" charset="-122"/>
                <a:ea typeface="微软雅黑" panose="020B0503020204020204" pitchFamily="34" charset="-122"/>
              </a:rPr>
              <a:t>方式向 </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服务器转发此报文，并等待其回答。</a:t>
            </a:r>
            <a:endParaRPr lang="en-US" altLang="zh-CN" sz="1600" b="1" dirty="0">
              <a:latin typeface="微软雅黑" panose="020B0503020204020204" pitchFamily="34" charset="-122"/>
              <a:ea typeface="微软雅黑" panose="020B0503020204020204" pitchFamily="34" charset="-122"/>
            </a:endParaRPr>
          </a:p>
          <a:p>
            <a:pPr marL="285750" indent="-285750" eaLnBrk="0" hangingPunct="0">
              <a:lnSpc>
                <a:spcPts val="2400"/>
              </a:lnSpc>
              <a:buClr>
                <a:srgbClr val="0070C0"/>
              </a:buClr>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收到 </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服务器回答的提供报文后，</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中继代理再</a:t>
            </a:r>
            <a:r>
              <a:rPr lang="zh-CN" altLang="en-US" sz="1600" b="1" dirty="0" smtClean="0">
                <a:latin typeface="微软雅黑" panose="020B0503020204020204" pitchFamily="34" charset="-122"/>
                <a:ea typeface="微软雅黑" panose="020B0503020204020204" pitchFamily="34" charset="-122"/>
              </a:rPr>
              <a:t>将</a:t>
            </a:r>
            <a:r>
              <a:rPr lang="zh-CN" altLang="en-US" sz="1600" b="1" dirty="0">
                <a:latin typeface="微软雅黑" panose="020B0503020204020204" pitchFamily="34" charset="-122"/>
                <a:ea typeface="微软雅黑" panose="020B0503020204020204" pitchFamily="34" charset="-122"/>
              </a:rPr>
              <a:t>其</a:t>
            </a:r>
            <a:r>
              <a:rPr lang="zh-CN" altLang="en-US" sz="1600" b="1" dirty="0" smtClean="0">
                <a:latin typeface="微软雅黑" panose="020B0503020204020204" pitchFamily="34" charset="-122"/>
                <a:ea typeface="微软雅黑" panose="020B0503020204020204" pitchFamily="34" charset="-122"/>
              </a:rPr>
              <a:t>发</a:t>
            </a:r>
            <a:r>
              <a:rPr lang="zh-CN" altLang="en-US" sz="1600" b="1" dirty="0">
                <a:latin typeface="微软雅黑" panose="020B0503020204020204" pitchFamily="34" charset="-122"/>
                <a:ea typeface="微软雅黑" panose="020B0503020204020204" pitchFamily="34" charset="-122"/>
              </a:rPr>
              <a:t>回给主机。</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2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02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63331" y="574901"/>
            <a:ext cx="3417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租用期 </a:t>
            </a:r>
            <a:r>
              <a:rPr lang="en-US" altLang="zh-CN" sz="2400" b="1" dirty="0">
                <a:solidFill>
                  <a:schemeClr val="bg1"/>
                </a:solidFill>
                <a:latin typeface="微软雅黑" panose="020B0503020204020204" pitchFamily="34" charset="-122"/>
                <a:ea typeface="微软雅黑" panose="020B0503020204020204" pitchFamily="34" charset="-122"/>
              </a:rPr>
              <a:t>(lease period)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2246"/>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服务器分配给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a:t>
            </a:r>
            <a:r>
              <a:rPr lang="zh-CN" altLang="en-US" sz="2000" b="1" dirty="0">
                <a:solidFill>
                  <a:srgbClr val="C00000"/>
                </a:solidFill>
                <a:latin typeface="微软雅黑" panose="020B0503020204020204" pitchFamily="34" charset="-122"/>
                <a:ea typeface="微软雅黑" panose="020B0503020204020204" pitchFamily="34" charset="-122"/>
              </a:rPr>
              <a:t>临时的，</a:t>
            </a:r>
            <a:r>
              <a:rPr lang="zh-CN" altLang="en-US" sz="2000" b="1" dirty="0">
                <a:latin typeface="微软雅黑" panose="020B0503020204020204" pitchFamily="34" charset="-122"/>
                <a:ea typeface="微软雅黑" panose="020B0503020204020204" pitchFamily="34" charset="-122"/>
              </a:rPr>
              <a:t>因此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客户只能在一段有限的时间内使用这个分配到的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协议称这段时间为</a:t>
            </a:r>
            <a:r>
              <a:rPr lang="zh-CN" altLang="en-US" sz="2000" b="1" dirty="0">
                <a:solidFill>
                  <a:srgbClr val="C00000"/>
                </a:solidFill>
                <a:latin typeface="微软雅黑" panose="020B0503020204020204" pitchFamily="34" charset="-122"/>
                <a:ea typeface="微软雅黑" panose="020B0503020204020204" pitchFamily="34" charset="-122"/>
              </a:rPr>
              <a:t>租用期。</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租用期的数值应由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服务器自己决定。</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客户也可在自己发送的报文中（例如，发现报文）提出对租用期的要求。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162" name="组合 161"/>
          <p:cNvGrpSpPr/>
          <p:nvPr/>
        </p:nvGrpSpPr>
        <p:grpSpPr>
          <a:xfrm>
            <a:off x="1933015" y="1048868"/>
            <a:ext cx="5259764" cy="3324076"/>
            <a:chOff x="-34130" y="587046"/>
            <a:chExt cx="9932621" cy="6277239"/>
          </a:xfrm>
        </p:grpSpPr>
        <p:sp>
          <p:nvSpPr>
            <p:cNvPr id="83"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5"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87"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88"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89"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91"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93"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95"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96"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97"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98"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99"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1"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03"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04"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05"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06"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7"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9"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11"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2"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13"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14"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15"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17"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20"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1"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22"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23"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24"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25"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26"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127"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28"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9"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30"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1"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2"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33"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34"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135"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36"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37"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38"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9"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0"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41"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2"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143"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44"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45"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46"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7"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8"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49"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150"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51"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152"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3"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4"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5"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6"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7"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8"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9"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60"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161"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68" name="组合 167"/>
          <p:cNvGrpSpPr/>
          <p:nvPr/>
        </p:nvGrpSpPr>
        <p:grpSpPr>
          <a:xfrm>
            <a:off x="1252728" y="3180649"/>
            <a:ext cx="6757416" cy="1081681"/>
            <a:chOff x="1252728" y="3207283"/>
            <a:chExt cx="6757416" cy="1081681"/>
          </a:xfrm>
        </p:grpSpPr>
        <p:sp>
          <p:nvSpPr>
            <p:cNvPr id="167"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166" name="矩形 165"/>
            <p:cNvSpPr/>
            <p:nvPr/>
          </p:nvSpPr>
          <p:spPr>
            <a:xfrm>
              <a:off x="2304328" y="3317290"/>
              <a:ext cx="4885718" cy="759182"/>
            </a:xfrm>
            <a:prstGeom prst="rect">
              <a:avLst/>
            </a:prstGeom>
            <a:noFill/>
          </p:spPr>
          <p:txBody>
            <a:bodyPr wrap="square">
              <a:spAutoFit/>
            </a:bodyPr>
            <a:lstStyle/>
            <a:p>
              <a:pPr>
                <a:lnSpc>
                  <a:spcPts val="2600"/>
                </a:lnSpc>
              </a:pPr>
              <a:r>
                <a:rPr lang="en-US" altLang="zh-CN" b="1" dirty="0" smtClean="0">
                  <a:latin typeface="微软雅黑" panose="020B0503020204020204" pitchFamily="34" charset="-122"/>
                  <a:ea typeface="微软雅黑" panose="020B0503020204020204" pitchFamily="34" charset="-122"/>
                  <a:sym typeface="Wingdings" panose="05000000000000000000" pitchFamily="2" charset="2"/>
                </a:rPr>
                <a:t></a:t>
              </a:r>
              <a:r>
                <a:rPr lang="zh-CN" altLang="en-US"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a:t>
              </a:r>
              <a:r>
                <a:rPr lang="zh-CN" altLang="en-US" b="1" dirty="0">
                  <a:solidFill>
                    <a:srgbClr val="0000FF"/>
                  </a:solidFill>
                  <a:latin typeface="微软雅黑" panose="020B0503020204020204" pitchFamily="34" charset="-122"/>
                  <a:ea typeface="微软雅黑" panose="020B0503020204020204" pitchFamily="34" charset="-122"/>
                </a:rPr>
                <a:t>被动</a:t>
              </a:r>
              <a:r>
                <a:rPr lang="zh-CN" altLang="en-US" b="1" dirty="0">
                  <a:latin typeface="微软雅黑" panose="020B0503020204020204" pitchFamily="34" charset="-122"/>
                  <a:ea typeface="微软雅黑" panose="020B0503020204020204" pitchFamily="34" charset="-122"/>
                </a:rPr>
                <a:t>打开 </a:t>
              </a:r>
              <a:r>
                <a:rPr lang="en-US" altLang="zh-CN" b="1" dirty="0">
                  <a:latin typeface="微软雅黑" panose="020B0503020204020204" pitchFamily="34" charset="-122"/>
                  <a:ea typeface="微软雅黑" panose="020B0503020204020204" pitchFamily="34" charset="-122"/>
                </a:rPr>
                <a:t>UDP </a:t>
              </a:r>
              <a:r>
                <a:rPr lang="zh-CN" altLang="en-US" b="1" dirty="0">
                  <a:latin typeface="微软雅黑" panose="020B0503020204020204" pitchFamily="34" charset="-122"/>
                  <a:ea typeface="微软雅黑" panose="020B0503020204020204" pitchFamily="34" charset="-122"/>
                </a:rPr>
                <a:t>端口 </a:t>
              </a:r>
              <a:r>
                <a:rPr lang="en-US" altLang="zh-CN" b="1" dirty="0">
                  <a:latin typeface="微软雅黑" panose="020B0503020204020204" pitchFamily="34" charset="-122"/>
                  <a:ea typeface="微软雅黑" panose="020B0503020204020204" pitchFamily="34" charset="-122"/>
                </a:rPr>
                <a:t>67</a:t>
              </a:r>
              <a:r>
                <a:rPr lang="zh-CN" altLang="en-US" b="1" dirty="0" smtClean="0">
                  <a:latin typeface="微软雅黑" panose="020B0503020204020204" pitchFamily="34" charset="-122"/>
                  <a:ea typeface="微软雅黑" panose="020B0503020204020204" pitchFamily="34" charset="-122"/>
                </a:rPr>
                <a:t>，等待</a:t>
              </a:r>
              <a:r>
                <a:rPr lang="zh-CN" altLang="en-US" b="1" dirty="0">
                  <a:latin typeface="微软雅黑" panose="020B0503020204020204" pitchFamily="34" charset="-122"/>
                  <a:ea typeface="微软雅黑" panose="020B0503020204020204" pitchFamily="34" charset="-122"/>
                </a:rPr>
                <a:t>客户端发来的报文。</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lnSpc>
                <a:spcPts val="2800"/>
              </a:lnSpc>
            </a:pPr>
            <a:endParaRPr lang="zh-CN" altLang="zh-CN" sz="2800" b="1" dirty="0">
              <a:solidFill>
                <a:srgbClr val="000099"/>
              </a:solidFill>
            </a:endParaRPr>
          </a:p>
        </p:txBody>
      </p:sp>
      <p:sp>
        <p:nvSpPr>
          <p:cNvPr id="86" name="矩形 85"/>
          <p:cNvSpPr/>
          <p:nvPr/>
        </p:nvSpPr>
        <p:spPr>
          <a:xfrm>
            <a:off x="2281675" y="3284521"/>
            <a:ext cx="4911104" cy="759182"/>
          </a:xfrm>
          <a:prstGeom prst="rect">
            <a:avLst/>
          </a:prstGeom>
          <a:noFill/>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cs typeface="Adobe Arabic" panose="02040503050201020203" pitchFamily="18" charset="-78"/>
              </a:rPr>
              <a:t>❷</a:t>
            </a:r>
            <a:r>
              <a:rPr lang="zh-CN" altLang="en-US"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客户从 </a:t>
            </a:r>
            <a:r>
              <a:rPr lang="en-US" altLang="zh-CN" b="1" dirty="0">
                <a:latin typeface="微软雅黑" panose="020B0503020204020204" pitchFamily="34" charset="-122"/>
                <a:ea typeface="微软雅黑" panose="020B0503020204020204" pitchFamily="34" charset="-122"/>
              </a:rPr>
              <a:t>UDP </a:t>
            </a:r>
            <a:r>
              <a:rPr lang="zh-CN" altLang="en-US" b="1" dirty="0">
                <a:latin typeface="微软雅黑" panose="020B0503020204020204" pitchFamily="34" charset="-122"/>
                <a:ea typeface="微软雅黑" panose="020B0503020204020204" pitchFamily="34" charset="-122"/>
              </a:rPr>
              <a:t>端口 </a:t>
            </a:r>
            <a:r>
              <a:rPr lang="en-US" altLang="zh-CN" b="1" dirty="0" smtClean="0">
                <a:latin typeface="微软雅黑" panose="020B0503020204020204" pitchFamily="34" charset="-122"/>
                <a:ea typeface="微软雅黑" panose="020B0503020204020204" pitchFamily="34" charset="-122"/>
              </a:rPr>
              <a:t>68 </a:t>
            </a:r>
            <a:r>
              <a:rPr lang="zh-CN" altLang="en-US" b="1" dirty="0" smtClean="0">
                <a:latin typeface="微软雅黑" panose="020B0503020204020204" pitchFamily="34" charset="-122"/>
                <a:ea typeface="微软雅黑" panose="020B0503020204020204" pitchFamily="34" charset="-122"/>
              </a:rPr>
              <a:t>发送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发现</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DHCPDISCOVER</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89103" y="3156056"/>
            <a:ext cx="6134470"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❸：凡收到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发现报文的 </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smtClean="0">
                <a:solidFill>
                  <a:srgbClr val="0000FF"/>
                </a:solidFill>
                <a:latin typeface="微软雅黑" panose="020B0503020204020204" pitchFamily="34" charset="-122"/>
                <a:ea typeface="微软雅黑" panose="020B0503020204020204" pitchFamily="34" charset="-122"/>
              </a:rPr>
              <a:t>都</a:t>
            </a:r>
            <a:r>
              <a:rPr lang="zh-CN" altLang="en-US" b="1" dirty="0">
                <a:solidFill>
                  <a:srgbClr val="0000FF"/>
                </a:solidFill>
                <a:latin typeface="微软雅黑" panose="020B0503020204020204" pitchFamily="34" charset="-122"/>
                <a:ea typeface="微软雅黑" panose="020B0503020204020204" pitchFamily="34" charset="-122"/>
              </a:rPr>
              <a:t>发出</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提供</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DHCPOFFER</a:t>
            </a:r>
            <a:r>
              <a:rPr lang="zh-CN" altLang="en-US" b="1" dirty="0" smtClean="0">
                <a:latin typeface="微软雅黑" panose="020B0503020204020204" pitchFamily="34" charset="-122"/>
                <a:ea typeface="微软雅黑" panose="020B0503020204020204" pitchFamily="34" charset="-122"/>
              </a:rPr>
              <a:t>，因此 </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客户可能</a:t>
            </a:r>
            <a:r>
              <a:rPr lang="zh-CN" altLang="en-US" b="1" dirty="0">
                <a:latin typeface="微软雅黑" panose="020B0503020204020204" pitchFamily="34" charset="-122"/>
                <a:ea typeface="微软雅黑" panose="020B0503020204020204" pitchFamily="34" charset="-122"/>
              </a:rPr>
              <a:t>收到多个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提供</a:t>
            </a:r>
            <a:r>
              <a:rPr lang="zh-CN" altLang="en-US" b="1" dirty="0" smtClean="0">
                <a:latin typeface="微软雅黑" panose="020B0503020204020204" pitchFamily="34" charset="-122"/>
                <a:ea typeface="微软雅黑" panose="020B0503020204020204" pitchFamily="34" charset="-122"/>
              </a:rPr>
              <a:t>报文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65668"/>
            <a:ext cx="6116714"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❹：</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客户从几个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服务器中</a:t>
            </a:r>
            <a:r>
              <a:rPr lang="zh-CN" altLang="en-US" b="1" dirty="0" smtClean="0">
                <a:solidFill>
                  <a:srgbClr val="0000FF"/>
                </a:solidFill>
                <a:latin typeface="微软雅黑" panose="020B0503020204020204" pitchFamily="34" charset="-122"/>
                <a:ea typeface="微软雅黑" panose="020B0503020204020204" pitchFamily="34" charset="-122"/>
              </a:rPr>
              <a:t>选择其中</a:t>
            </a:r>
            <a:r>
              <a:rPr lang="zh-CN" altLang="en-US" b="1" dirty="0">
                <a:solidFill>
                  <a:srgbClr val="0000FF"/>
                </a:solidFill>
                <a:latin typeface="微软雅黑" panose="020B0503020204020204" pitchFamily="34" charset="-122"/>
                <a:ea typeface="微软雅黑" panose="020B0503020204020204" pitchFamily="34" charset="-122"/>
              </a:rPr>
              <a:t>的一个，</a:t>
            </a:r>
            <a:r>
              <a:rPr lang="zh-CN" altLang="en-US" b="1" dirty="0">
                <a:latin typeface="微软雅黑" panose="020B0503020204020204" pitchFamily="34" charset="-122"/>
                <a:ea typeface="微软雅黑" panose="020B0503020204020204" pitchFamily="34" charset="-122"/>
              </a:rPr>
              <a:t>并向所选择的 </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a:latin typeface="微软雅黑" panose="020B0503020204020204" pitchFamily="34" charset="-122"/>
                <a:ea typeface="微软雅黑" panose="020B0503020204020204" pitchFamily="34" charset="-122"/>
              </a:rPr>
              <a:t>发送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请求</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DHCPREQUEST</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45" y="3184095"/>
            <a:ext cx="6010182"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❺：被选择的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服务器发送确认</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DHCPACK</a:t>
            </a:r>
            <a:r>
              <a:rPr lang="zh-CN" altLang="en-US" b="1" dirty="0" smtClean="0">
                <a:latin typeface="微软雅黑" panose="020B0503020204020204" pitchFamily="34" charset="-122"/>
                <a:ea typeface="微软雅黑" panose="020B0503020204020204" pitchFamily="34" charset="-122"/>
              </a:rPr>
              <a:t>，</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可</a:t>
            </a:r>
            <a:r>
              <a:rPr lang="zh-CN" altLang="en-US" b="1" dirty="0" smtClean="0">
                <a:latin typeface="微软雅黑" panose="020B0503020204020204" pitchFamily="34" charset="-122"/>
                <a:ea typeface="微软雅黑" panose="020B0503020204020204" pitchFamily="34" charset="-122"/>
              </a:rPr>
              <a:t>开始</a:t>
            </a:r>
            <a:r>
              <a:rPr lang="zh-CN" altLang="en-US" b="1" dirty="0">
                <a:latin typeface="微软雅黑" panose="020B0503020204020204" pitchFamily="34" charset="-122"/>
                <a:ea typeface="微软雅黑" panose="020B0503020204020204" pitchFamily="34" charset="-122"/>
              </a:rPr>
              <a:t>使用得到的</a:t>
            </a:r>
            <a:r>
              <a:rPr lang="zh-CN" altLang="en-US" b="1" dirty="0">
                <a:solidFill>
                  <a:srgbClr val="0000FF"/>
                </a:solidFill>
                <a:latin typeface="微软雅黑" panose="020B0503020204020204" pitchFamily="34" charset="-122"/>
                <a:ea typeface="微软雅黑" panose="020B0503020204020204" pitchFamily="34" charset="-122"/>
              </a:rPr>
              <a:t>临时</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a:t>
            </a:r>
            <a:r>
              <a:rPr lang="zh-CN" altLang="en-US" b="1" dirty="0" smtClean="0">
                <a:latin typeface="微软雅黑" panose="020B0503020204020204" pitchFamily="34" charset="-122"/>
                <a:ea typeface="微软雅黑" panose="020B0503020204020204" pitchFamily="34" charset="-122"/>
              </a:rPr>
              <a:t>了，进入</a:t>
            </a:r>
            <a:r>
              <a:rPr lang="zh-CN" altLang="en-US" b="1" dirty="0">
                <a:latin typeface="微软雅黑" panose="020B0503020204020204" pitchFamily="34" charset="-122"/>
                <a:ea typeface="微软雅黑" panose="020B0503020204020204" pitchFamily="34" charset="-122"/>
              </a:rPr>
              <a:t>已绑定</a:t>
            </a:r>
            <a:r>
              <a:rPr lang="zh-CN" altLang="en-US" b="1" dirty="0" smtClean="0">
                <a:latin typeface="微软雅黑" panose="020B0503020204020204" pitchFamily="34" charset="-122"/>
                <a:ea typeface="微软雅黑" panose="020B0503020204020204" pitchFamily="34" charset="-122"/>
              </a:rPr>
              <a:t>状态。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89032"/>
            <a:ext cx="6223246" cy="1092607"/>
          </a:xfrm>
          <a:prstGeom prst="rect">
            <a:avLst/>
          </a:prstGeom>
          <a:noFill/>
        </p:spPr>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客户现在要根据服务器提供的</a:t>
            </a:r>
            <a:r>
              <a:rPr lang="zh-CN" altLang="en-US" b="1" dirty="0">
                <a:solidFill>
                  <a:srgbClr val="0000FF"/>
                </a:solidFill>
                <a:latin typeface="微软雅黑" panose="020B0503020204020204" pitchFamily="34" charset="-122"/>
                <a:ea typeface="微软雅黑" panose="020B0503020204020204" pitchFamily="34" charset="-122"/>
              </a:rPr>
              <a:t>租用期 </a:t>
            </a:r>
            <a:r>
              <a:rPr lang="en-US" altLang="zh-CN" b="1" dirty="0">
                <a:solidFill>
                  <a:srgbClr val="0000FF"/>
                </a:solidFill>
                <a:latin typeface="微软雅黑" panose="020B0503020204020204" pitchFamily="34" charset="-122"/>
                <a:ea typeface="微软雅黑" panose="020B0503020204020204" pitchFamily="34" charset="-122"/>
              </a:rPr>
              <a:t>T </a:t>
            </a:r>
            <a:r>
              <a:rPr lang="zh-CN" altLang="en-US" b="1" dirty="0">
                <a:latin typeface="微软雅黑" panose="020B0503020204020204" pitchFamily="34" charset="-122"/>
                <a:ea typeface="微软雅黑" panose="020B0503020204020204" pitchFamily="34" charset="-122"/>
              </a:rPr>
              <a:t>设置</a:t>
            </a:r>
            <a:r>
              <a:rPr lang="zh-CN" altLang="en-US" b="1" dirty="0">
                <a:solidFill>
                  <a:srgbClr val="0000FF"/>
                </a:solidFill>
                <a:latin typeface="微软雅黑" panose="020B0503020204020204" pitchFamily="34" charset="-122"/>
                <a:ea typeface="微软雅黑" panose="020B0503020204020204" pitchFamily="34" charset="-122"/>
              </a:rPr>
              <a:t>两个</a:t>
            </a:r>
            <a:r>
              <a:rPr lang="zh-CN" altLang="en-US" b="1" dirty="0">
                <a:latin typeface="微软雅黑" panose="020B0503020204020204" pitchFamily="34" charset="-122"/>
                <a:ea typeface="微软雅黑" panose="020B0503020204020204" pitchFamily="34" charset="-122"/>
              </a:rPr>
              <a:t>计时器 </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2</a:t>
            </a:r>
            <a:r>
              <a:rPr lang="zh-CN" altLang="en-US" b="1" dirty="0">
                <a:latin typeface="微软雅黑" panose="020B0503020204020204" pitchFamily="34" charset="-122"/>
                <a:ea typeface="微软雅黑" panose="020B0503020204020204" pitchFamily="34" charset="-122"/>
              </a:rPr>
              <a:t>，它们的超时时间分别是 </a:t>
            </a:r>
            <a:r>
              <a:rPr lang="en-US" altLang="zh-CN" b="1" dirty="0">
                <a:latin typeface="微软雅黑" panose="020B0503020204020204" pitchFamily="34" charset="-122"/>
                <a:ea typeface="微软雅黑" panose="020B0503020204020204" pitchFamily="34" charset="-122"/>
              </a:rPr>
              <a:t>0.5T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0.875T</a:t>
            </a:r>
            <a:r>
              <a:rPr lang="zh-CN" altLang="en-US" b="1" dirty="0">
                <a:latin typeface="微软雅黑" panose="020B0503020204020204" pitchFamily="34" charset="-122"/>
                <a:ea typeface="微软雅黑" panose="020B0503020204020204" pitchFamily="34" charset="-122"/>
              </a:rPr>
              <a:t>。当超时时间</a:t>
            </a:r>
            <a:r>
              <a:rPr lang="zh-CN" altLang="en-US" b="1" dirty="0" smtClean="0">
                <a:latin typeface="微软雅黑" panose="020B0503020204020204" pitchFamily="34" charset="-122"/>
                <a:ea typeface="微软雅黑" panose="020B0503020204020204" pitchFamily="34" charset="-122"/>
              </a:rPr>
              <a:t>到时，就要</a:t>
            </a:r>
            <a:r>
              <a:rPr lang="zh-CN" altLang="en-US" b="1" dirty="0">
                <a:latin typeface="微软雅黑" panose="020B0503020204020204" pitchFamily="34" charset="-122"/>
                <a:ea typeface="微软雅黑" panose="020B0503020204020204" pitchFamily="34" charset="-122"/>
              </a:rPr>
              <a:t>请求更新租用期。</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84" y="3253058"/>
            <a:ext cx="6114944" cy="759182"/>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❻：租用期过了</a:t>
            </a:r>
            <a:r>
              <a:rPr lang="zh-CN" altLang="en-US" b="1" dirty="0">
                <a:solidFill>
                  <a:srgbClr val="0000FF"/>
                </a:solidFill>
                <a:latin typeface="微软雅黑" panose="020B0503020204020204" pitchFamily="34" charset="-122"/>
                <a:ea typeface="微软雅黑" panose="020B0503020204020204" pitchFamily="34" charset="-122"/>
              </a:rPr>
              <a:t>一半</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时间到），</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发送请求</a:t>
            </a:r>
            <a:r>
              <a:rPr lang="zh-CN" altLang="en-US" b="1" dirty="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DHCPREQUEST</a:t>
            </a:r>
            <a:r>
              <a:rPr lang="zh-CN" altLang="en-US" b="1" dirty="0" smtClean="0">
                <a:latin typeface="微软雅黑" panose="020B0503020204020204" pitchFamily="34" charset="-122"/>
                <a:ea typeface="微软雅黑" panose="020B0503020204020204" pitchFamily="34" charset="-122"/>
              </a:rPr>
              <a:t>，要求</a:t>
            </a:r>
            <a:r>
              <a:rPr lang="zh-CN" altLang="en-US" b="1" dirty="0">
                <a:solidFill>
                  <a:srgbClr val="0000FF"/>
                </a:solidFill>
                <a:latin typeface="微软雅黑" panose="020B0503020204020204" pitchFamily="34" charset="-122"/>
                <a:ea typeface="微软雅黑" panose="020B0503020204020204" pitchFamily="34" charset="-122"/>
              </a:rPr>
              <a:t>更新</a:t>
            </a:r>
            <a:r>
              <a:rPr lang="zh-CN" altLang="en-US" b="1" dirty="0">
                <a:latin typeface="微软雅黑" panose="020B0503020204020204" pitchFamily="34" charset="-122"/>
                <a:ea typeface="微软雅黑" panose="020B0503020204020204" pitchFamily="34" charset="-122"/>
              </a:rPr>
              <a:t>租用期。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DHCPACK</a:t>
              </a:r>
              <a:endParaRPr kumimoji="1" lang="en-US" altLang="zh-CN" sz="1100" b="1" dirty="0">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98575"/>
            <a:ext cx="6757416" cy="1083034"/>
            <a:chOff x="1252728" y="3207284"/>
            <a:chExt cx="6757416" cy="824984"/>
          </a:xfrm>
          <a:solidFill>
            <a:schemeClr val="accent6">
              <a:lumMod val="60000"/>
              <a:lumOff val="40000"/>
            </a:schemeClr>
          </a:solidFill>
        </p:grpSpPr>
        <p:sp>
          <p:nvSpPr>
            <p:cNvPr id="85" name="Rectangle 88"/>
            <p:cNvSpPr>
              <a:spLocks noChangeArrowheads="1"/>
            </p:cNvSpPr>
            <p:nvPr/>
          </p:nvSpPr>
          <p:spPr bwMode="auto">
            <a:xfrm>
              <a:off x="1252728" y="3207284"/>
              <a:ext cx="6757416" cy="824984"/>
            </a:xfrm>
            <a:prstGeom prst="rect">
              <a:avLst/>
            </a:prstGeom>
            <a:grp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1855" y="3218788"/>
              <a:ext cx="5939161" cy="578295"/>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❼：</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服务器若</a:t>
              </a:r>
              <a:r>
                <a:rPr lang="zh-CN" altLang="en-US" b="1" dirty="0">
                  <a:solidFill>
                    <a:srgbClr val="0000FF"/>
                  </a:solidFill>
                  <a:latin typeface="微软雅黑" panose="020B0503020204020204" pitchFamily="34" charset="-122"/>
                  <a:ea typeface="微软雅黑" panose="020B0503020204020204" pitchFamily="34" charset="-122"/>
                </a:rPr>
                <a:t>同意，</a:t>
              </a:r>
              <a:r>
                <a:rPr lang="zh-CN" altLang="en-US" b="1" dirty="0">
                  <a:latin typeface="微软雅黑" panose="020B0503020204020204" pitchFamily="34" charset="-122"/>
                  <a:ea typeface="微软雅黑" panose="020B0503020204020204" pitchFamily="34" charset="-122"/>
                </a:rPr>
                <a:t>则发回确认</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DHCPACK</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客户得到了新的</a:t>
              </a:r>
              <a:r>
                <a:rPr lang="zh-CN" altLang="en-US" b="1" dirty="0" smtClean="0">
                  <a:latin typeface="微软雅黑" panose="020B0503020204020204" pitchFamily="34" charset="-122"/>
                  <a:ea typeface="微软雅黑" panose="020B0503020204020204" pitchFamily="34" charset="-122"/>
                </a:rPr>
                <a:t>租用</a:t>
              </a:r>
              <a:r>
                <a:rPr lang="zh-CN" altLang="en-US" b="1" dirty="0">
                  <a:latin typeface="微软雅黑" panose="020B0503020204020204" pitchFamily="34" charset="-122"/>
                  <a:ea typeface="微软雅黑" panose="020B0503020204020204" pitchFamily="34" charset="-122"/>
                </a:rPr>
                <a:t>期，重新设置计时器。</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DHCPNACK</a:t>
              </a:r>
              <a:endParaRPr kumimoji="1" lang="en-US" altLang="zh-CN" sz="1100" b="1" dirty="0">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98575"/>
            <a:ext cx="6757416" cy="1094614"/>
            <a:chOff x="1252728" y="3207283"/>
            <a:chExt cx="6757416" cy="1094614"/>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95636" y="3209290"/>
              <a:ext cx="6098958"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❽：</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服务器若</a:t>
              </a:r>
              <a:r>
                <a:rPr lang="zh-CN" altLang="en-US" b="1" dirty="0">
                  <a:solidFill>
                    <a:srgbClr val="0000FF"/>
                  </a:solidFill>
                  <a:latin typeface="微软雅黑" panose="020B0503020204020204" pitchFamily="34" charset="-122"/>
                  <a:ea typeface="微软雅黑" panose="020B0503020204020204" pitchFamily="34" charset="-122"/>
                </a:rPr>
                <a:t>不同意，</a:t>
              </a:r>
              <a:r>
                <a:rPr lang="zh-CN" altLang="en-US" b="1" dirty="0">
                  <a:latin typeface="微软雅黑" panose="020B0503020204020204" pitchFamily="34" charset="-122"/>
                  <a:ea typeface="微软雅黑" panose="020B0503020204020204" pitchFamily="34" charset="-122"/>
                </a:rPr>
                <a:t>则发回否认</a:t>
              </a:r>
              <a:r>
                <a:rPr lang="zh-CN" altLang="en-US" b="1" dirty="0" smtClean="0">
                  <a:latin typeface="微软雅黑" panose="020B0503020204020204" pitchFamily="34" charset="-122"/>
                  <a:ea typeface="微软雅黑" panose="020B0503020204020204" pitchFamily="34" charset="-122"/>
                </a:rPr>
                <a:t>报 </a:t>
              </a:r>
              <a:r>
                <a:rPr lang="en-US" altLang="zh-CN" b="1" dirty="0" smtClean="0">
                  <a:latin typeface="微软雅黑" panose="020B0503020204020204" pitchFamily="34" charset="-122"/>
                  <a:ea typeface="微软雅黑" panose="020B0503020204020204" pitchFamily="34" charset="-122"/>
                </a:rPr>
                <a:t>DHCPNACK</a:t>
              </a:r>
              <a:r>
                <a:rPr lang="zh-CN" altLang="en-US" b="1" dirty="0" smtClean="0">
                  <a:latin typeface="微软雅黑" panose="020B0503020204020204" pitchFamily="34" charset="-122"/>
                  <a:ea typeface="微软雅黑" panose="020B0503020204020204" pitchFamily="34" charset="-122"/>
                </a:rPr>
                <a:t>。这时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客户必须</a:t>
              </a:r>
              <a:r>
                <a:rPr lang="zh-CN" altLang="en-US" b="1" dirty="0" smtClean="0">
                  <a:latin typeface="微软雅黑" panose="020B0503020204020204" pitchFamily="34" charset="-122"/>
                  <a:ea typeface="微软雅黑" panose="020B0503020204020204" pitchFamily="34" charset="-122"/>
                </a:rPr>
                <a:t>立即停止</a:t>
              </a:r>
              <a:r>
                <a:rPr lang="zh-CN" altLang="en-US" b="1" dirty="0">
                  <a:latin typeface="微软雅黑" panose="020B0503020204020204" pitchFamily="34" charset="-122"/>
                  <a:ea typeface="微软雅黑" panose="020B0503020204020204" pitchFamily="34" charset="-122"/>
                </a:rPr>
                <a:t>使用原来的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a:t>
              </a:r>
              <a:r>
                <a:rPr lang="zh-CN" altLang="en-US" b="1" dirty="0" smtClean="0">
                  <a:latin typeface="微软雅黑" panose="020B0503020204020204" pitchFamily="34" charset="-122"/>
                  <a:ea typeface="微软雅黑" panose="020B0503020204020204" pitchFamily="34" charset="-122"/>
                </a:rPr>
                <a:t>，而</a:t>
              </a:r>
              <a:r>
                <a:rPr lang="zh-CN" altLang="en-US" b="1" dirty="0">
                  <a:latin typeface="微软雅黑" panose="020B0503020204020204" pitchFamily="34" charset="-122"/>
                  <a:ea typeface="微软雅黑" panose="020B0503020204020204" pitchFamily="34" charset="-122"/>
                </a:rPr>
                <a:t>必须重新</a:t>
              </a:r>
              <a:r>
                <a:rPr lang="zh-CN" altLang="en-US" b="1" dirty="0" smtClean="0">
                  <a:latin typeface="微软雅黑" panose="020B0503020204020204" pitchFamily="34" charset="-122"/>
                  <a:ea typeface="微软雅黑" panose="020B0503020204020204" pitchFamily="34" charset="-122"/>
                </a:rPr>
                <a:t>申请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地址（回到</a:t>
              </a:r>
              <a:r>
                <a:rPr lang="zh-CN" altLang="en-US" b="1" dirty="0" smtClean="0">
                  <a:latin typeface="微软雅黑" panose="020B0503020204020204" pitchFamily="34" charset="-122"/>
                  <a:ea typeface="微软雅黑" panose="020B0503020204020204" pitchFamily="34" charset="-122"/>
                </a:rPr>
                <a:t>步骤  ❷</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83111"/>
            <a:ext cx="6757416" cy="1097145"/>
            <a:chOff x="1252728" y="3191819"/>
            <a:chExt cx="6757416" cy="1097145"/>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02057" y="3191819"/>
              <a:ext cx="6258757" cy="1092607"/>
            </a:xfrm>
            <a:prstGeom prst="rect">
              <a:avLst/>
            </a:prstGeom>
            <a:noFill/>
          </p:spPr>
          <p:txBody>
            <a:bodyPr wrap="square">
              <a:spAutoFit/>
            </a:bodyPr>
            <a:lstStyle/>
            <a:p>
              <a:pPr>
                <a:lnSpc>
                  <a:spcPts val="2600"/>
                </a:lnSpc>
              </a:pPr>
              <a:r>
                <a:rPr lang="zh-CN" altLang="en-US" sz="1600" b="1" dirty="0" smtClean="0">
                  <a:latin typeface="微软雅黑" panose="020B0503020204020204" pitchFamily="34" charset="-122"/>
                  <a:ea typeface="微软雅黑" panose="020B0503020204020204" pitchFamily="34" charset="-122"/>
                </a:rPr>
                <a:t>若 </a:t>
              </a:r>
              <a:r>
                <a:rPr lang="en-US" altLang="zh-CN" sz="1600" b="1" dirty="0" smtClean="0">
                  <a:latin typeface="微软雅黑" panose="020B0503020204020204" pitchFamily="34" charset="-122"/>
                  <a:ea typeface="微软雅黑" panose="020B0503020204020204" pitchFamily="34" charset="-122"/>
                </a:rPr>
                <a:t>DHCP </a:t>
              </a:r>
              <a:r>
                <a:rPr lang="zh-CN" altLang="en-US" sz="1600" b="1" dirty="0" smtClean="0">
                  <a:latin typeface="微软雅黑" panose="020B0503020204020204" pitchFamily="34" charset="-122"/>
                  <a:ea typeface="微软雅黑" panose="020B0503020204020204" pitchFamily="34" charset="-122"/>
                </a:rPr>
                <a:t>服务器</a:t>
              </a:r>
              <a:r>
                <a:rPr lang="zh-CN" altLang="en-US" sz="1600" b="1" dirty="0">
                  <a:latin typeface="微软雅黑" panose="020B0503020204020204" pitchFamily="34" charset="-122"/>
                  <a:ea typeface="微软雅黑" panose="020B0503020204020204" pitchFamily="34" charset="-122"/>
                </a:rPr>
                <a:t>不响应</a:t>
              </a:r>
              <a:r>
                <a:rPr lang="zh-CN" altLang="en-US" sz="1600" b="1" dirty="0" smtClean="0">
                  <a:latin typeface="微软雅黑" panose="020B0503020204020204" pitchFamily="34" charset="-122"/>
                  <a:ea typeface="微软雅黑" panose="020B0503020204020204" pitchFamily="34" charset="-122"/>
                </a:rPr>
                <a:t>步骤  ❻ 的</a:t>
              </a:r>
              <a:r>
                <a:rPr lang="zh-CN" altLang="en-US" sz="1600" b="1" dirty="0">
                  <a:latin typeface="微软雅黑" panose="020B0503020204020204" pitchFamily="34" charset="-122"/>
                  <a:ea typeface="微软雅黑" panose="020B0503020204020204" pitchFamily="34" charset="-122"/>
                </a:rPr>
                <a:t>请求</a:t>
              </a:r>
              <a:r>
                <a:rPr lang="zh-CN" altLang="en-US" sz="1600" b="1" dirty="0" smtClean="0">
                  <a:latin typeface="微软雅黑" panose="020B0503020204020204" pitchFamily="34" charset="-122"/>
                  <a:ea typeface="微软雅黑" panose="020B0503020204020204" pitchFamily="34" charset="-122"/>
                </a:rPr>
                <a:t>报文 </a:t>
              </a:r>
              <a:r>
                <a:rPr lang="en-US" altLang="zh-CN" sz="1600" b="1" dirty="0" smtClean="0">
                  <a:latin typeface="微软雅黑" panose="020B0503020204020204" pitchFamily="34" charset="-122"/>
                  <a:ea typeface="微软雅黑" panose="020B0503020204020204" pitchFamily="34" charset="-122"/>
                </a:rPr>
                <a:t>DHCPREQUEST</a:t>
              </a:r>
              <a:r>
                <a:rPr lang="zh-CN" altLang="en-US" sz="1600" b="1" dirty="0">
                  <a:latin typeface="微软雅黑" panose="020B0503020204020204" pitchFamily="34" charset="-122"/>
                  <a:ea typeface="微软雅黑" panose="020B0503020204020204" pitchFamily="34" charset="-122"/>
                </a:rPr>
                <a:t>，则在租用期过了 </a:t>
              </a:r>
              <a:r>
                <a:rPr lang="en-US" altLang="zh-CN" sz="1600" b="1" dirty="0">
                  <a:solidFill>
                    <a:srgbClr val="0000FF"/>
                  </a:solidFill>
                  <a:latin typeface="微软雅黑" panose="020B0503020204020204" pitchFamily="34" charset="-122"/>
                  <a:ea typeface="微软雅黑" panose="020B0503020204020204" pitchFamily="34" charset="-122"/>
                </a:rPr>
                <a:t>87.5% </a:t>
              </a:r>
              <a:r>
                <a:rPr lang="zh-CN" altLang="en-US" sz="1600" b="1" dirty="0" smtClean="0">
                  <a:latin typeface="微软雅黑" panose="020B0503020204020204" pitchFamily="34" charset="-122"/>
                  <a:ea typeface="微软雅黑" panose="020B0503020204020204" pitchFamily="34" charset="-122"/>
                </a:rPr>
                <a:t>时 </a:t>
              </a:r>
              <a:r>
                <a:rPr lang="en-US" altLang="zh-CN" sz="1600" b="1" dirty="0" smtClean="0">
                  <a:latin typeface="微软雅黑" panose="020B0503020204020204" pitchFamily="34" charset="-122"/>
                  <a:ea typeface="微软雅黑" panose="020B0503020204020204" pitchFamily="34" charset="-122"/>
                </a:rPr>
                <a:t>(T</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时间</a:t>
              </a:r>
              <a:r>
                <a:rPr lang="zh-CN" altLang="en-US" sz="1600" b="1" dirty="0">
                  <a:latin typeface="微软雅黑" panose="020B0503020204020204" pitchFamily="34" charset="-122"/>
                  <a:ea typeface="微软雅黑" panose="020B0503020204020204" pitchFamily="34" charset="-122"/>
                </a:rPr>
                <a:t>到</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客户必须重新发送请求报文 </a:t>
              </a:r>
              <a:r>
                <a:rPr lang="en-US" altLang="zh-CN" sz="1600" b="1" dirty="0">
                  <a:latin typeface="微软雅黑" panose="020B0503020204020204" pitchFamily="34" charset="-122"/>
                  <a:ea typeface="微软雅黑" panose="020B0503020204020204" pitchFamily="34" charset="-122"/>
                </a:rPr>
                <a:t>DHCPREQUEST</a:t>
              </a:r>
              <a:r>
                <a:rPr lang="zh-CN" altLang="en-US" sz="1600" b="1" dirty="0">
                  <a:latin typeface="微软雅黑" panose="020B0503020204020204" pitchFamily="34" charset="-122"/>
                  <a:ea typeface="微软雅黑" panose="020B0503020204020204" pitchFamily="34" charset="-122"/>
                </a:rPr>
                <a:t>（重复步骤  ❻</a:t>
              </a:r>
              <a:r>
                <a:rPr lang="zh-CN" altLang="en-US" sz="1600" b="1" dirty="0" smtClean="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然后又继续后面的步骤。 </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DHCPREQUEST</a:t>
              </a:r>
              <a:endParaRPr kumimoji="1" lang="en-US" altLang="zh-CN" sz="1100" b="1" dirty="0">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DHCPACK</a:t>
              </a:r>
              <a:endParaRPr kumimoji="1" lang="en-US" altLang="zh-CN" sz="1100" b="1" dirty="0">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82845"/>
            <a:ext cx="6757416" cy="1097411"/>
            <a:chOff x="1252728" y="3191553"/>
            <a:chExt cx="6757416" cy="1097411"/>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9001" y="3191553"/>
              <a:ext cx="6036815"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❾：</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a:t>
              </a:r>
              <a:r>
                <a:rPr lang="zh-CN" altLang="en-US" b="1" dirty="0">
                  <a:solidFill>
                    <a:srgbClr val="0000FF"/>
                  </a:solidFill>
                  <a:latin typeface="微软雅黑" panose="020B0503020204020204" pitchFamily="34" charset="-122"/>
                  <a:ea typeface="微软雅黑" panose="020B0503020204020204" pitchFamily="34" charset="-122"/>
                </a:rPr>
                <a:t>可随时提前终止</a:t>
              </a:r>
              <a:r>
                <a:rPr lang="zh-CN" altLang="en-US" b="1" dirty="0">
                  <a:latin typeface="微软雅黑" panose="020B0503020204020204" pitchFamily="34" charset="-122"/>
                  <a:ea typeface="微软雅黑" panose="020B0503020204020204" pitchFamily="34" charset="-122"/>
                </a:rPr>
                <a:t>服务器所提供</a:t>
              </a:r>
              <a:r>
                <a:rPr lang="zh-CN" altLang="en-US" b="1" dirty="0" smtClean="0">
                  <a:latin typeface="微软雅黑" panose="020B0503020204020204" pitchFamily="34" charset="-122"/>
                  <a:ea typeface="微软雅黑" panose="020B0503020204020204" pitchFamily="34" charset="-122"/>
                </a:rPr>
                <a:t>的租用</a:t>
              </a:r>
              <a:r>
                <a:rPr lang="zh-CN" altLang="en-US" b="1" dirty="0">
                  <a:latin typeface="微软雅黑" panose="020B0503020204020204" pitchFamily="34" charset="-122"/>
                  <a:ea typeface="微软雅黑" panose="020B0503020204020204" pitchFamily="34" charset="-122"/>
                </a:rPr>
                <a:t>期，这时只需向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服务器发送</a:t>
              </a:r>
              <a:r>
                <a:rPr lang="zh-CN" altLang="en-US" b="1" dirty="0" smtClean="0">
                  <a:latin typeface="微软雅黑" panose="020B0503020204020204" pitchFamily="34" charset="-122"/>
                  <a:ea typeface="微软雅黑" panose="020B0503020204020204" pitchFamily="34" charset="-122"/>
                </a:rPr>
                <a:t>释放报文 </a:t>
              </a:r>
              <a:r>
                <a:rPr lang="en-US" altLang="zh-CN" b="1" dirty="0" smtClean="0">
                  <a:latin typeface="微软雅黑" panose="020B0503020204020204" pitchFamily="34" charset="-122"/>
                  <a:ea typeface="微软雅黑" panose="020B0503020204020204" pitchFamily="34" charset="-122"/>
                </a:rPr>
                <a:t>DHCPRELEASE </a:t>
              </a:r>
              <a:r>
                <a:rPr lang="zh-CN" altLang="en-US" b="1" dirty="0">
                  <a:latin typeface="微软雅黑" panose="020B0503020204020204" pitchFamily="34" charset="-122"/>
                  <a:ea typeface="微软雅黑" panose="020B0503020204020204" pitchFamily="34" charset="-122"/>
                </a:rPr>
                <a:t>即可。</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0"/>
          <p:cNvSpPr>
            <a:spLocks noChangeArrowheads="1"/>
          </p:cNvSpPr>
          <p:nvPr/>
        </p:nvSpPr>
        <p:spPr bwMode="auto">
          <a:xfrm>
            <a:off x="2629135" y="25091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9"/>
          <p:cNvSpPr>
            <a:spLocks noChangeArrowheads="1"/>
          </p:cNvSpPr>
          <p:nvPr/>
        </p:nvSpPr>
        <p:spPr bwMode="auto">
          <a:xfrm>
            <a:off x="2629135" y="20534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Rectangle 9"/>
          <p:cNvSpPr>
            <a:spLocks noChangeArrowheads="1"/>
          </p:cNvSpPr>
          <p:nvPr/>
        </p:nvSpPr>
        <p:spPr bwMode="auto">
          <a:xfrm>
            <a:off x="2629135" y="113118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7" name="Rectangle 10"/>
          <p:cNvSpPr>
            <a:spLocks noChangeArrowheads="1"/>
          </p:cNvSpPr>
          <p:nvPr/>
        </p:nvSpPr>
        <p:spPr bwMode="auto">
          <a:xfrm>
            <a:off x="2629135" y="159493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8" name="Line 16"/>
          <p:cNvSpPr>
            <a:spLocks noChangeShapeType="1"/>
          </p:cNvSpPr>
          <p:nvPr/>
        </p:nvSpPr>
        <p:spPr bwMode="auto">
          <a:xfrm>
            <a:off x="3637198" y="1059744"/>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9" name="Rectangle 27"/>
          <p:cNvSpPr>
            <a:spLocks noChangeArrowheads="1"/>
          </p:cNvSpPr>
          <p:nvPr/>
        </p:nvSpPr>
        <p:spPr bwMode="auto">
          <a:xfrm>
            <a:off x="639730" y="113118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0" name="Rectangle 29"/>
          <p:cNvSpPr>
            <a:spLocks noChangeArrowheads="1"/>
          </p:cNvSpPr>
          <p:nvPr/>
        </p:nvSpPr>
        <p:spPr bwMode="auto">
          <a:xfrm>
            <a:off x="648619" y="122611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6.7</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简单网络管理协议 </a:t>
            </a:r>
            <a:r>
              <a:rPr lang="en-US" altLang="zh-CN" sz="2000" b="1" dirty="0">
                <a:solidFill>
                  <a:schemeClr val="bg1"/>
                </a:solidFill>
                <a:latin typeface="微软雅黑" panose="020B0503020204020204" pitchFamily="34" charset="-122"/>
                <a:ea typeface="微软雅黑" panose="020B0503020204020204" pitchFamily="34" charset="-122"/>
              </a:rPr>
              <a:t>SNMP</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1" name="Rectangle 8"/>
          <p:cNvSpPr>
            <a:spLocks noChangeArrowheads="1"/>
          </p:cNvSpPr>
          <p:nvPr/>
        </p:nvSpPr>
        <p:spPr bwMode="auto">
          <a:xfrm>
            <a:off x="2700573" y="1006881"/>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网络管理</a:t>
            </a:r>
            <a:r>
              <a:rPr lang="zh-CN" altLang="en-US" sz="2000" b="1" dirty="0">
                <a:solidFill>
                  <a:schemeClr val="bg1"/>
                </a:solidFill>
                <a:latin typeface="微软雅黑" panose="020B0503020204020204" pitchFamily="34" charset="-122"/>
                <a:ea typeface="微软雅黑" panose="020B0503020204020204" pitchFamily="34" charset="-122"/>
              </a:rPr>
              <a:t>的基本概念</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管理</a:t>
            </a:r>
            <a:r>
              <a:rPr lang="zh-CN" altLang="en-US" sz="2000" b="1" dirty="0">
                <a:solidFill>
                  <a:schemeClr val="bg1"/>
                </a:solidFill>
                <a:latin typeface="微软雅黑" panose="020B0503020204020204" pitchFamily="34" charset="-122"/>
                <a:ea typeface="微软雅黑" panose="020B0503020204020204" pitchFamily="34" charset="-122"/>
              </a:rPr>
              <a:t>信息结构 </a:t>
            </a:r>
            <a:r>
              <a:rPr lang="en-US" altLang="zh-CN" sz="2000" b="1" dirty="0">
                <a:solidFill>
                  <a:schemeClr val="bg1"/>
                </a:solidFill>
                <a:latin typeface="微软雅黑" panose="020B0503020204020204" pitchFamily="34" charset="-122"/>
                <a:ea typeface="微软雅黑" panose="020B0503020204020204" pitchFamily="34" charset="-122"/>
              </a:rPr>
              <a:t>SMI</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管理</a:t>
            </a:r>
            <a:r>
              <a:rPr lang="zh-CN" altLang="en-US" sz="2000" b="1" dirty="0">
                <a:solidFill>
                  <a:schemeClr val="bg1"/>
                </a:solidFill>
                <a:latin typeface="微软雅黑" panose="020B0503020204020204" pitchFamily="34" charset="-122"/>
                <a:ea typeface="微软雅黑" panose="020B0503020204020204" pitchFamily="34" charset="-122"/>
              </a:rPr>
              <a:t>信息库 </a:t>
            </a:r>
            <a:r>
              <a:rPr lang="en-US" altLang="zh-CN" sz="2000" b="1" dirty="0">
                <a:solidFill>
                  <a:schemeClr val="bg1"/>
                </a:solidFill>
                <a:latin typeface="微软雅黑" panose="020B0503020204020204" pitchFamily="34" charset="-122"/>
                <a:ea typeface="微软雅黑" panose="020B0503020204020204" pitchFamily="34" charset="-122"/>
              </a:rPr>
              <a:t>MIB</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的协议数据单元和报文</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5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8" y="568687"/>
            <a:ext cx="38811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6.7.1  </a:t>
            </a:r>
            <a:r>
              <a:rPr lang="zh-CN" altLang="en-US" sz="2400" b="1" dirty="0">
                <a:solidFill>
                  <a:schemeClr val="bg1"/>
                </a:solidFill>
                <a:latin typeface="微软雅黑" panose="020B0503020204020204" pitchFamily="34" charset="-122"/>
                <a:ea typeface="微软雅黑" panose="020B0503020204020204" pitchFamily="34" charset="-122"/>
              </a:rPr>
              <a:t>网络管理的基本概念</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5176"/>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a:t>
            </a:r>
            <a:r>
              <a:rPr lang="zh-CN" altLang="en-US" sz="2000" b="1" dirty="0">
                <a:latin typeface="微软雅黑" panose="020B0503020204020204" pitchFamily="34" charset="-122"/>
                <a:ea typeface="微软雅黑" panose="020B0503020204020204" pitchFamily="34" charset="-122"/>
              </a:rPr>
              <a:t>包括对硬件、软件和人力的使用、综合与协调，以便对网络资源进行监视、测试、配置、分析、评价和控制，这样就能以合理的价格满足网络的一些需求，如实时运行性能，服务质量等</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网络管理</a:t>
            </a:r>
            <a:r>
              <a:rPr lang="zh-CN" altLang="en-US" sz="2000" b="1" dirty="0">
                <a:latin typeface="微软雅黑" panose="020B0503020204020204" pitchFamily="34" charset="-122"/>
                <a:ea typeface="微软雅黑" panose="020B0503020204020204" pitchFamily="34" charset="-122"/>
              </a:rPr>
              <a:t>常简称为</a:t>
            </a:r>
            <a:r>
              <a:rPr lang="zh-CN" altLang="en-US" sz="2000" b="1" dirty="0">
                <a:solidFill>
                  <a:srgbClr val="C00000"/>
                </a:solidFill>
                <a:latin typeface="微软雅黑" panose="020B0503020204020204" pitchFamily="34" charset="-122"/>
                <a:ea typeface="微软雅黑" panose="020B0503020204020204" pitchFamily="34" charset="-122"/>
              </a:rPr>
              <a:t>网管</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1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6382"/>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网络管理的五大功能</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805"/>
            <a:ext cx="816978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故障</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：故障检测、隔离和</a:t>
            </a:r>
            <a:r>
              <a:rPr lang="zh-CN" altLang="en-US" sz="2000" b="1" dirty="0" smtClean="0">
                <a:latin typeface="微软雅黑" panose="020B0503020204020204" pitchFamily="34" charset="-122"/>
                <a:ea typeface="微软雅黑" panose="020B0503020204020204" pitchFamily="34" charset="-122"/>
              </a:rPr>
              <a:t>纠正。</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配置管理</a:t>
            </a:r>
            <a:r>
              <a:rPr lang="zh-CN" altLang="en-US" sz="2000" b="1" dirty="0">
                <a:latin typeface="微软雅黑" panose="020B0503020204020204" pitchFamily="34" charset="-122"/>
                <a:ea typeface="微软雅黑" panose="020B0503020204020204" pitchFamily="34" charset="-122"/>
              </a:rPr>
              <a:t>：初始化网络、并配置</a:t>
            </a:r>
            <a:r>
              <a:rPr lang="zh-CN" altLang="en-US" sz="2000" b="1" dirty="0" smtClean="0">
                <a:latin typeface="微软雅黑" panose="020B0503020204020204" pitchFamily="34" charset="-122"/>
                <a:ea typeface="微软雅黑" panose="020B0503020204020204" pitchFamily="34" charset="-122"/>
              </a:rPr>
              <a:t>网络。</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计费</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：记录网络资源的</a:t>
            </a:r>
            <a:r>
              <a:rPr lang="zh-CN" altLang="en-US" sz="2000" b="1" dirty="0" smtClean="0">
                <a:latin typeface="微软雅黑" panose="020B0503020204020204" pitchFamily="34" charset="-122"/>
                <a:ea typeface="微软雅黑" panose="020B0503020204020204" pitchFamily="34" charset="-122"/>
              </a:rPr>
              <a:t>使用。</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性能</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：估价系统资源的运行状况及通信效率</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网络</a:t>
            </a:r>
            <a:r>
              <a:rPr lang="zh-CN" altLang="en-US" sz="2000" b="1" dirty="0">
                <a:solidFill>
                  <a:srgbClr val="0000FF"/>
                </a:solidFill>
                <a:latin typeface="微软雅黑" panose="020B0503020204020204" pitchFamily="34" charset="-122"/>
                <a:ea typeface="微软雅黑" panose="020B0503020204020204" pitchFamily="34" charset="-122"/>
              </a:rPr>
              <a:t>安全管理</a:t>
            </a:r>
            <a:r>
              <a:rPr lang="zh-CN" altLang="en-US" sz="2000" b="1" dirty="0">
                <a:latin typeface="微软雅黑" panose="020B0503020204020204" pitchFamily="34" charset="-122"/>
                <a:ea typeface="微软雅黑" panose="020B0503020204020204" pitchFamily="34" charset="-122"/>
              </a:rPr>
              <a:t>：对授权机制、访问控制、加密和加密关键字的</a:t>
            </a:r>
            <a:r>
              <a:rPr lang="zh-CN" altLang="en-US" sz="2000" b="1" dirty="0" smtClean="0">
                <a:latin typeface="微软雅黑" panose="020B0503020204020204" pitchFamily="34" charset="-122"/>
                <a:ea typeface="微软雅黑" panose="020B0503020204020204" pitchFamily="34" charset="-122"/>
              </a:rPr>
              <a:t>管理。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网络管理的一般</a:t>
            </a:r>
            <a:r>
              <a:rPr lang="zh-CN" altLang="en-US" sz="2000" b="1" dirty="0" smtClean="0">
                <a:solidFill>
                  <a:schemeClr val="bg1"/>
                </a:solidFill>
                <a:latin typeface="微软雅黑" panose="020B0503020204020204" pitchFamily="34" charset="-122"/>
                <a:ea typeface="微软雅黑" panose="020B0503020204020204" pitchFamily="34" charset="-122"/>
              </a:rPr>
              <a:t>模型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Group 5"/>
          <p:cNvGrpSpPr/>
          <p:nvPr/>
        </p:nvGrpSpPr>
        <p:grpSpPr bwMode="auto">
          <a:xfrm>
            <a:off x="5114868" y="2672006"/>
            <a:ext cx="1313973" cy="1543910"/>
            <a:chOff x="3072" y="2208"/>
            <a:chExt cx="1056" cy="1056"/>
          </a:xfrm>
        </p:grpSpPr>
        <p:grpSp>
          <p:nvGrpSpPr>
            <p:cNvPr id="6" name="Group 6"/>
            <p:cNvGrpSpPr/>
            <p:nvPr/>
          </p:nvGrpSpPr>
          <p:grpSpPr bwMode="auto">
            <a:xfrm flipH="1">
              <a:off x="3072" y="2543"/>
              <a:ext cx="888" cy="721"/>
              <a:chOff x="2565" y="2202"/>
              <a:chExt cx="355" cy="297"/>
            </a:xfrm>
          </p:grpSpPr>
          <p:sp>
            <p:nvSpPr>
              <p:cNvPr id="146" name="Freeform 7"/>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7" name="Group 8"/>
              <p:cNvGrpSpPr/>
              <p:nvPr/>
            </p:nvGrpSpPr>
            <p:grpSpPr bwMode="auto">
              <a:xfrm>
                <a:off x="2565" y="2202"/>
                <a:ext cx="351" cy="78"/>
                <a:chOff x="2565" y="2202"/>
                <a:chExt cx="351" cy="78"/>
              </a:xfrm>
            </p:grpSpPr>
            <p:sp>
              <p:nvSpPr>
                <p:cNvPr id="149" name="Freeform 9"/>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0" name="Freeform 10"/>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1" name="Freeform 11"/>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48" name="Freeform 12"/>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7" name="Group 13"/>
            <p:cNvGrpSpPr/>
            <p:nvPr/>
          </p:nvGrpSpPr>
          <p:grpSpPr bwMode="auto">
            <a:xfrm flipH="1">
              <a:off x="3225" y="2269"/>
              <a:ext cx="610" cy="417"/>
              <a:chOff x="2615" y="2089"/>
              <a:chExt cx="244" cy="172"/>
            </a:xfrm>
          </p:grpSpPr>
          <p:grpSp>
            <p:nvGrpSpPr>
              <p:cNvPr id="95" name="Group 14"/>
              <p:cNvGrpSpPr/>
              <p:nvPr/>
            </p:nvGrpSpPr>
            <p:grpSpPr bwMode="auto">
              <a:xfrm>
                <a:off x="2671" y="2089"/>
                <a:ext cx="188" cy="156"/>
                <a:chOff x="2671" y="2089"/>
                <a:chExt cx="188" cy="156"/>
              </a:xfrm>
            </p:grpSpPr>
            <p:grpSp>
              <p:nvGrpSpPr>
                <p:cNvPr id="128" name="Group 15"/>
                <p:cNvGrpSpPr/>
                <p:nvPr/>
              </p:nvGrpSpPr>
              <p:grpSpPr bwMode="auto">
                <a:xfrm>
                  <a:off x="2671" y="2089"/>
                  <a:ext cx="188" cy="156"/>
                  <a:chOff x="2671" y="2089"/>
                  <a:chExt cx="188" cy="156"/>
                </a:xfrm>
              </p:grpSpPr>
              <p:grpSp>
                <p:nvGrpSpPr>
                  <p:cNvPr id="137" name="Group 16"/>
                  <p:cNvGrpSpPr/>
                  <p:nvPr/>
                </p:nvGrpSpPr>
                <p:grpSpPr bwMode="auto">
                  <a:xfrm>
                    <a:off x="2671" y="2177"/>
                    <a:ext cx="188" cy="68"/>
                    <a:chOff x="2671" y="2177"/>
                    <a:chExt cx="188" cy="68"/>
                  </a:xfrm>
                </p:grpSpPr>
                <p:sp>
                  <p:nvSpPr>
                    <p:cNvPr id="143" name="Freeform 17"/>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Freeform 18"/>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Freeform 19"/>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38" name="Freeform 20"/>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9" name="Group 21"/>
                  <p:cNvGrpSpPr/>
                  <p:nvPr/>
                </p:nvGrpSpPr>
                <p:grpSpPr bwMode="auto">
                  <a:xfrm>
                    <a:off x="2692" y="2089"/>
                    <a:ext cx="153" cy="97"/>
                    <a:chOff x="2692" y="2089"/>
                    <a:chExt cx="153" cy="97"/>
                  </a:xfrm>
                </p:grpSpPr>
                <p:sp>
                  <p:nvSpPr>
                    <p:cNvPr id="140" name="Freeform 22"/>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Freeform 23"/>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Freeform 24"/>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29" name="Group 25"/>
                <p:cNvGrpSpPr/>
                <p:nvPr/>
              </p:nvGrpSpPr>
              <p:grpSpPr bwMode="auto">
                <a:xfrm>
                  <a:off x="2678" y="2184"/>
                  <a:ext cx="62" cy="44"/>
                  <a:chOff x="2678" y="2184"/>
                  <a:chExt cx="62" cy="44"/>
                </a:xfrm>
              </p:grpSpPr>
              <p:sp>
                <p:nvSpPr>
                  <p:cNvPr id="130" name="Freeform 26"/>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96" name="Group 33"/>
              <p:cNvGrpSpPr/>
              <p:nvPr/>
            </p:nvGrpSpPr>
            <p:grpSpPr bwMode="auto">
              <a:xfrm>
                <a:off x="2615" y="2185"/>
                <a:ext cx="147" cy="76"/>
                <a:chOff x="2615" y="2185"/>
                <a:chExt cx="147" cy="76"/>
              </a:xfrm>
            </p:grpSpPr>
            <p:grpSp>
              <p:nvGrpSpPr>
                <p:cNvPr id="97" name="Group 34"/>
                <p:cNvGrpSpPr/>
                <p:nvPr/>
              </p:nvGrpSpPr>
              <p:grpSpPr bwMode="auto">
                <a:xfrm>
                  <a:off x="2729" y="2226"/>
                  <a:ext cx="24" cy="18"/>
                  <a:chOff x="2729" y="2226"/>
                  <a:chExt cx="24" cy="18"/>
                </a:xfrm>
              </p:grpSpPr>
              <p:sp>
                <p:nvSpPr>
                  <p:cNvPr id="126" name="Freeform 35"/>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Freeform 36"/>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8" name="Group 37"/>
                <p:cNvGrpSpPr/>
                <p:nvPr/>
              </p:nvGrpSpPr>
              <p:grpSpPr bwMode="auto">
                <a:xfrm>
                  <a:off x="2615" y="2185"/>
                  <a:ext cx="147" cy="76"/>
                  <a:chOff x="2615" y="2185"/>
                  <a:chExt cx="147" cy="76"/>
                </a:xfrm>
              </p:grpSpPr>
              <p:sp>
                <p:nvSpPr>
                  <p:cNvPr id="99" name="Freeform 38"/>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Freeform 39"/>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Freeform 40"/>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Freeform 41"/>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Freeform 42"/>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Freeform 43"/>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grpSp>
          <p:nvGrpSpPr>
            <p:cNvPr id="8" name="Group 65"/>
            <p:cNvGrpSpPr/>
            <p:nvPr/>
          </p:nvGrpSpPr>
          <p:grpSpPr bwMode="auto">
            <a:xfrm flipH="1">
              <a:off x="3808" y="2431"/>
              <a:ext cx="87" cy="168"/>
              <a:chOff x="2591" y="2156"/>
              <a:chExt cx="35" cy="69"/>
            </a:xfrm>
          </p:grpSpPr>
          <p:sp>
            <p:nvSpPr>
              <p:cNvPr id="93" name="Freeform 66"/>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Freeform 67"/>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 name="Group 68"/>
            <p:cNvGrpSpPr/>
            <p:nvPr/>
          </p:nvGrpSpPr>
          <p:grpSpPr bwMode="auto">
            <a:xfrm flipH="1">
              <a:off x="3798" y="2334"/>
              <a:ext cx="112" cy="119"/>
              <a:chOff x="2585" y="2116"/>
              <a:chExt cx="45" cy="49"/>
            </a:xfrm>
          </p:grpSpPr>
          <p:sp>
            <p:nvSpPr>
              <p:cNvPr id="78" name="Freeform 69"/>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Freeform 70"/>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Freeform 71"/>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Freeform 72"/>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2" name="Freeform 73"/>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3" name="Freeform 74"/>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Freeform 75"/>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Freeform 76"/>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Freeform 77"/>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Freeform 78"/>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Freeform 80"/>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Freeform 81"/>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Freeform 82"/>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Freeform 83"/>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 name="Group 84"/>
            <p:cNvGrpSpPr/>
            <p:nvPr/>
          </p:nvGrpSpPr>
          <p:grpSpPr bwMode="auto">
            <a:xfrm flipH="1">
              <a:off x="3535" y="3121"/>
              <a:ext cx="220" cy="111"/>
              <a:chOff x="2647" y="2440"/>
              <a:chExt cx="88" cy="46"/>
            </a:xfrm>
          </p:grpSpPr>
          <p:sp>
            <p:nvSpPr>
              <p:cNvPr id="73" name="Freeform 85"/>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Freeform 86"/>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Freeform 87"/>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Freeform 88"/>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Freeform 89"/>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 name="Group 90"/>
            <p:cNvGrpSpPr/>
            <p:nvPr/>
          </p:nvGrpSpPr>
          <p:grpSpPr bwMode="auto">
            <a:xfrm flipH="1">
              <a:off x="3658" y="2929"/>
              <a:ext cx="92" cy="221"/>
              <a:chOff x="2649" y="2361"/>
              <a:chExt cx="37" cy="91"/>
            </a:xfrm>
          </p:grpSpPr>
          <p:sp>
            <p:nvSpPr>
              <p:cNvPr id="71" name="Freeform 91"/>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Freeform 92"/>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2" name="Group 93"/>
            <p:cNvGrpSpPr/>
            <p:nvPr/>
          </p:nvGrpSpPr>
          <p:grpSpPr bwMode="auto">
            <a:xfrm flipH="1">
              <a:off x="3477" y="3152"/>
              <a:ext cx="226" cy="112"/>
              <a:chOff x="2668" y="2453"/>
              <a:chExt cx="90" cy="46"/>
            </a:xfrm>
          </p:grpSpPr>
          <p:sp>
            <p:nvSpPr>
              <p:cNvPr id="66" name="Freeform 94"/>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Freeform 95"/>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Freeform 96"/>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Freeform 97"/>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Freeform 98"/>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4" name="Group 100"/>
            <p:cNvGrpSpPr/>
            <p:nvPr/>
          </p:nvGrpSpPr>
          <p:grpSpPr bwMode="auto">
            <a:xfrm flipH="1">
              <a:off x="3710" y="2866"/>
              <a:ext cx="353" cy="121"/>
              <a:chOff x="2524" y="2335"/>
              <a:chExt cx="141" cy="50"/>
            </a:xfrm>
          </p:grpSpPr>
          <p:sp>
            <p:nvSpPr>
              <p:cNvPr id="64" name="Freeform 101"/>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5" name="Freeform 102"/>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5" name="Freeform 103"/>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Freeform 104"/>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Freeform 105"/>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Freeform 106"/>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Freeform 107"/>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Freeform 108"/>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Freeform 109"/>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Freeform 110"/>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Freeform 111"/>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Freeform 112"/>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Freeform 113"/>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Freeform 114"/>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Freeform 115"/>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Freeform 116"/>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117"/>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118"/>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119"/>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2" name="Group 120"/>
            <p:cNvGrpSpPr/>
            <p:nvPr/>
          </p:nvGrpSpPr>
          <p:grpSpPr bwMode="auto">
            <a:xfrm flipH="1">
              <a:off x="3595" y="2572"/>
              <a:ext cx="158" cy="95"/>
              <a:chOff x="2648" y="2214"/>
              <a:chExt cx="63" cy="39"/>
            </a:xfrm>
          </p:grpSpPr>
          <p:sp>
            <p:nvSpPr>
              <p:cNvPr id="54" name="Freeform 121"/>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Freeform 122"/>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Freeform 123"/>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Freeform 124"/>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Freeform 125"/>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Freeform 126"/>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Freeform 127"/>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Freeform 128"/>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Freeform 129"/>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3" name="Freeform 130"/>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3" name="Group 131"/>
            <p:cNvGrpSpPr/>
            <p:nvPr/>
          </p:nvGrpSpPr>
          <p:grpSpPr bwMode="auto">
            <a:xfrm flipH="1">
              <a:off x="3730" y="2363"/>
              <a:ext cx="365" cy="408"/>
              <a:chOff x="2511" y="2128"/>
              <a:chExt cx="146" cy="168"/>
            </a:xfrm>
          </p:grpSpPr>
          <p:sp>
            <p:nvSpPr>
              <p:cNvPr id="40" name="Freeform 132"/>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Freeform 133"/>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Freeform 134"/>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Freeform 135"/>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Freeform 136"/>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Freeform 137"/>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Freeform 138"/>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Freeform 139"/>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Freeform 140"/>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Freeform 141"/>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Freeform 142"/>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Freeform 143"/>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Freeform 144"/>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Freeform 145"/>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4" name="Group 146"/>
            <p:cNvGrpSpPr/>
            <p:nvPr/>
          </p:nvGrpSpPr>
          <p:grpSpPr bwMode="auto">
            <a:xfrm flipH="1">
              <a:off x="3933" y="2647"/>
              <a:ext cx="195" cy="260"/>
              <a:chOff x="2498" y="2245"/>
              <a:chExt cx="78" cy="107"/>
            </a:xfrm>
          </p:grpSpPr>
          <p:sp>
            <p:nvSpPr>
              <p:cNvPr id="38" name="Freeform 147"/>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Freeform 148"/>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35" name="Freeform 149"/>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Freeform 150"/>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Freeform 151"/>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管理站</a:t>
            </a:r>
            <a:endParaRPr kumimoji="1" lang="zh-CN" altLang="en-US" sz="1400" b="1" dirty="0">
              <a:latin typeface="微软雅黑" panose="020B0503020204020204" pitchFamily="34" charset="-122"/>
              <a:ea typeface="微软雅黑" panose="020B0503020204020204" pitchFamily="34" charset="-122"/>
            </a:endParaRP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latin typeface="微软雅黑" panose="020B0503020204020204" pitchFamily="34" charset="-122"/>
                <a:ea typeface="微软雅黑" panose="020B0503020204020204" pitchFamily="34" charset="-122"/>
              </a:rPr>
              <a:t>网络</a:t>
            </a:r>
            <a:endParaRPr kumimoji="1" lang="zh-CN" altLang="en-US"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管理员      </a:t>
            </a:r>
            <a:endParaRPr kumimoji="1" lang="zh-CN" altLang="en-US" sz="1400" b="1" dirty="0">
              <a:latin typeface="微软雅黑" panose="020B0503020204020204" pitchFamily="34" charset="-122"/>
              <a:ea typeface="微软雅黑" panose="020B0503020204020204" pitchFamily="34" charset="-122"/>
            </a:endParaRP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 </a:t>
            </a:r>
            <a:r>
              <a:rPr kumimoji="1" lang="zh-CN" altLang="en-US" sz="1200" b="1" dirty="0">
                <a:solidFill>
                  <a:srgbClr val="0000FF"/>
                </a:solidFill>
                <a:latin typeface="微软雅黑" panose="020B0503020204020204" pitchFamily="34" charset="-122"/>
                <a:ea typeface="微软雅黑" panose="020B0503020204020204" pitchFamily="34" charset="-122"/>
              </a:rPr>
              <a:t>管理程序（运行 </a:t>
            </a:r>
            <a:r>
              <a:rPr kumimoji="1" lang="en-US" altLang="zh-CN" sz="1200" b="1" dirty="0">
                <a:solidFill>
                  <a:srgbClr val="0000FF"/>
                </a:solidFill>
                <a:latin typeface="微软雅黑" panose="020B0503020204020204" pitchFamily="34" charset="-122"/>
                <a:ea typeface="微软雅黑" panose="020B0503020204020204" pitchFamily="34" charset="-122"/>
              </a:rPr>
              <a:t>SNMP </a:t>
            </a:r>
            <a:r>
              <a:rPr kumimoji="1" lang="zh-CN" altLang="en-US" sz="1200" b="1" dirty="0">
                <a:solidFill>
                  <a:srgbClr val="0000FF"/>
                </a:solidFill>
                <a:latin typeface="微软雅黑" panose="020B0503020204020204" pitchFamily="34" charset="-122"/>
                <a:ea typeface="微软雅黑" panose="020B0503020204020204" pitchFamily="34" charset="-122"/>
              </a:rPr>
              <a:t>客户程序）</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 </a:t>
            </a:r>
            <a:r>
              <a:rPr kumimoji="1" lang="zh-CN" altLang="en-US" sz="1200" b="1" dirty="0">
                <a:solidFill>
                  <a:srgbClr val="0000FF"/>
                </a:solidFill>
                <a:latin typeface="微软雅黑" panose="020B0503020204020204" pitchFamily="34" charset="-122"/>
                <a:ea typeface="微软雅黑" panose="020B0503020204020204" pitchFamily="34" charset="-122"/>
              </a:rPr>
              <a:t>代理程序（运行 </a:t>
            </a:r>
            <a:r>
              <a:rPr kumimoji="1" lang="en-US" altLang="zh-CN" sz="1200" b="1" dirty="0">
                <a:solidFill>
                  <a:srgbClr val="0000FF"/>
                </a:solidFill>
                <a:latin typeface="微软雅黑" panose="020B0503020204020204" pitchFamily="34" charset="-122"/>
                <a:ea typeface="微软雅黑" panose="020B0503020204020204" pitchFamily="34" charset="-122"/>
              </a:rPr>
              <a:t>SNMP </a:t>
            </a:r>
            <a:r>
              <a:rPr kumimoji="1" lang="zh-CN" altLang="en-US" sz="1200" b="1" dirty="0">
                <a:solidFill>
                  <a:srgbClr val="0000FF"/>
                </a:solidFill>
                <a:latin typeface="微软雅黑" panose="020B0503020204020204" pitchFamily="34" charset="-122"/>
                <a:ea typeface="微软雅黑" panose="020B0503020204020204" pitchFamily="34" charset="-122"/>
              </a:rPr>
              <a:t>服务器程序）</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pic>
        <p:nvPicPr>
          <p:cNvPr id="171" name="Picture 17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pic>
        <p:nvPicPr>
          <p:cNvPr id="174"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dirty="0">
                <a:latin typeface="微软雅黑" panose="020B0503020204020204" pitchFamily="34" charset="-122"/>
                <a:ea typeface="微软雅黑" panose="020B0503020204020204" pitchFamily="34" charset="-122"/>
              </a:rPr>
              <a:t>A</a:t>
            </a:r>
            <a:endParaRPr kumimoji="1" lang="en-US" altLang="zh-CN" sz="1400" b="1" dirty="0">
              <a:latin typeface="微软雅黑" panose="020B0503020204020204" pitchFamily="34" charset="-122"/>
              <a:ea typeface="微软雅黑" panose="020B0503020204020204" pitchFamily="34" charset="-122"/>
            </a:endParaRP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M</a:t>
            </a:r>
            <a:endParaRPr kumimoji="1" lang="en-US" altLang="zh-CN" sz="1400" b="1">
              <a:latin typeface="微软雅黑" panose="020B0503020204020204" pitchFamily="34" charset="-122"/>
              <a:ea typeface="微软雅黑" panose="020B0503020204020204" pitchFamily="34" charset="-122"/>
            </a:endParaRP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被管设备</a:t>
            </a:r>
            <a:endParaRPr kumimoji="1" lang="zh-CN" altLang="en-US" sz="1400" b="1" dirty="0">
              <a:latin typeface="微软雅黑" panose="020B0503020204020204" pitchFamily="34" charset="-122"/>
              <a:ea typeface="微软雅黑" panose="020B0503020204020204" pitchFamily="34" charset="-122"/>
            </a:endParaRP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M</a:t>
            </a:r>
            <a:endParaRPr kumimoji="1" lang="en-US" altLang="zh-CN" sz="1200" b="1">
              <a:latin typeface="微软雅黑" panose="020B0503020204020204" pitchFamily="34" charset="-122"/>
              <a:ea typeface="微软雅黑" panose="020B0503020204020204" pitchFamily="34" charset="-122"/>
            </a:endParaRP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185" name="Freeform 186"/>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6" name="Freeform 187"/>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7" name="Freeform 188"/>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8" name="Freeform 189"/>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被管设备</a:t>
            </a:r>
            <a:endParaRPr kumimoji="1" lang="zh-CN" altLang="en-US" sz="1400" b="1" dirty="0">
              <a:latin typeface="微软雅黑" panose="020B0503020204020204" pitchFamily="34" charset="-122"/>
              <a:ea typeface="微软雅黑" panose="020B0503020204020204" pitchFamily="34" charset="-122"/>
            </a:endParaRP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a:latin typeface="微软雅黑" panose="020B0503020204020204" pitchFamily="34" charset="-122"/>
                <a:ea typeface="微软雅黑" panose="020B0503020204020204" pitchFamily="34" charset="-122"/>
              </a:rPr>
              <a:t>网管协议</a:t>
            </a:r>
            <a:endParaRPr kumimoji="1" lang="zh-CN" altLang="en-US" sz="1400" b="1">
              <a:latin typeface="微软雅黑" panose="020B0503020204020204" pitchFamily="34" charset="-122"/>
              <a:ea typeface="微软雅黑" panose="020B0503020204020204" pitchFamily="34" charset="-122"/>
            </a:endParaRPr>
          </a:p>
        </p:txBody>
      </p:sp>
      <p:grpSp>
        <p:nvGrpSpPr>
          <p:cNvPr id="193" name="Group 10"/>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Freeform 12"/>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Freeform 13"/>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Freeform 14"/>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Freeform 16"/>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Freeform 18"/>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2" name="Freeform 19"/>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Freeform 20"/>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Freeform 21"/>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pic>
        <p:nvPicPr>
          <p:cNvPr id="205" name="图片 20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dirty="0">
                <a:latin typeface="微软雅黑" panose="020B0503020204020204" pitchFamily="34" charset="-122"/>
                <a:ea typeface="微软雅黑" panose="020B0503020204020204" pitchFamily="34" charset="-122"/>
              </a:rPr>
              <a:t>A</a:t>
            </a:r>
            <a:endParaRPr kumimoji="1" lang="en-US" altLang="zh-CN" sz="1400" b="1" dirty="0">
              <a:latin typeface="微软雅黑" panose="020B0503020204020204" pitchFamily="34" charset="-122"/>
              <a:ea typeface="微软雅黑" panose="020B0503020204020204" pitchFamily="34" charset="-122"/>
            </a:endParaRPr>
          </a:p>
        </p:txBody>
      </p:sp>
      <p:sp>
        <p:nvSpPr>
          <p:cNvPr id="184" name="Freeform 185"/>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05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11667" y="578844"/>
            <a:ext cx="33393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网络管理模型中的主要</a:t>
            </a:r>
            <a:r>
              <a:rPr lang="zh-CN" altLang="en-US" sz="2000" b="1" dirty="0" smtClean="0">
                <a:solidFill>
                  <a:schemeClr val="bg1"/>
                </a:solidFill>
                <a:latin typeface="微软雅黑" panose="020B0503020204020204" pitchFamily="34" charset="-122"/>
                <a:ea typeface="微软雅黑" panose="020B0503020204020204" pitchFamily="34" charset="-122"/>
              </a:rPr>
              <a:t>构件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3145"/>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管理站</a:t>
            </a:r>
            <a:r>
              <a:rPr lang="zh-CN" altLang="en-US" sz="2000" b="1" dirty="0" smtClean="0">
                <a:latin typeface="微软雅黑" panose="020B0503020204020204" pitchFamily="34" charset="-122"/>
                <a:ea typeface="微软雅黑" panose="020B0503020204020204" pitchFamily="34" charset="-122"/>
              </a:rPr>
              <a:t>也</a:t>
            </a:r>
            <a:r>
              <a:rPr lang="zh-CN" altLang="en-US" sz="2000" b="1" dirty="0">
                <a:latin typeface="微软雅黑" panose="020B0503020204020204" pitchFamily="34" charset="-122"/>
                <a:ea typeface="微软雅黑" panose="020B0503020204020204" pitchFamily="34" charset="-122"/>
              </a:rPr>
              <a:t>常称为</a:t>
            </a:r>
            <a:r>
              <a:rPr lang="zh-CN" altLang="en-US" sz="2000" b="1" dirty="0">
                <a:solidFill>
                  <a:srgbClr val="0000FF"/>
                </a:solidFill>
                <a:latin typeface="微软雅黑" panose="020B0503020204020204" pitchFamily="34" charset="-122"/>
                <a:ea typeface="微软雅黑" panose="020B0503020204020204" pitchFamily="34" charset="-122"/>
              </a:rPr>
              <a:t>网络运行中心 </a:t>
            </a:r>
            <a:r>
              <a:rPr lang="en-US" altLang="zh-CN" sz="2000" b="1" dirty="0">
                <a:latin typeface="微软雅黑" panose="020B0503020204020204" pitchFamily="34" charset="-122"/>
                <a:ea typeface="微软雅黑" panose="020B0503020204020204" pitchFamily="34" charset="-122"/>
              </a:rPr>
              <a:t>NOC (Network Operations Center)</a:t>
            </a:r>
            <a:r>
              <a:rPr lang="zh-CN" altLang="en-US" sz="2000" b="1" dirty="0">
                <a:latin typeface="微软雅黑" panose="020B0503020204020204" pitchFamily="34" charset="-122"/>
                <a:ea typeface="微软雅黑" panose="020B0503020204020204" pitchFamily="34" charset="-122"/>
              </a:rPr>
              <a:t>，是网络管理系统的核心。</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管理程序</a:t>
            </a:r>
            <a:r>
              <a:rPr lang="zh-CN" altLang="en-US" sz="2000" b="1" dirty="0">
                <a:latin typeface="微软雅黑" panose="020B0503020204020204" pitchFamily="34" charset="-122"/>
                <a:ea typeface="微软雅黑" panose="020B0503020204020204" pitchFamily="34" charset="-122"/>
              </a:rPr>
              <a:t>是管理站中的关键构件，在运行时就成为</a:t>
            </a:r>
            <a:r>
              <a:rPr lang="zh-CN" altLang="en-US" sz="2000" b="1" dirty="0">
                <a:solidFill>
                  <a:srgbClr val="0000FF"/>
                </a:solidFill>
                <a:latin typeface="微软雅黑" panose="020B0503020204020204" pitchFamily="34" charset="-122"/>
                <a:ea typeface="微软雅黑" panose="020B0503020204020204" pitchFamily="34" charset="-122"/>
              </a:rPr>
              <a:t>管理进程</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管理站（硬件）或管理程序（软件）都可称为</a:t>
            </a:r>
            <a:r>
              <a:rPr lang="zh-CN" altLang="en-US" sz="2000" b="1" dirty="0">
                <a:solidFill>
                  <a:srgbClr val="C00000"/>
                </a:solidFill>
                <a:latin typeface="微软雅黑" panose="020B0503020204020204" pitchFamily="34" charset="-122"/>
                <a:ea typeface="微软雅黑" panose="020B0503020204020204" pitchFamily="34" charset="-122"/>
              </a:rPr>
              <a:t>管理者</a:t>
            </a:r>
            <a:r>
              <a:rPr lang="en-US" altLang="zh-CN" sz="2000" b="1" dirty="0">
                <a:latin typeface="微软雅黑" panose="020B0503020204020204" pitchFamily="34" charset="-122"/>
                <a:ea typeface="微软雅黑" panose="020B0503020204020204" pitchFamily="34" charset="-122"/>
              </a:rPr>
              <a:t>(manager)</a:t>
            </a:r>
            <a:r>
              <a:rPr lang="zh-CN" altLang="en-US" sz="2000" b="1" dirty="0" smtClean="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Manager</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不是指</a:t>
            </a:r>
            <a:r>
              <a:rPr lang="zh-CN" altLang="en-US" sz="2000" b="1" dirty="0" smtClean="0">
                <a:latin typeface="微软雅黑" panose="020B0503020204020204" pitchFamily="34" charset="-122"/>
                <a:ea typeface="微软雅黑" panose="020B0503020204020204" pitchFamily="34" charset="-122"/>
              </a:rPr>
              <a:t>人，而是</a:t>
            </a:r>
            <a:r>
              <a:rPr lang="zh-CN" altLang="en-US" sz="2000" b="1" dirty="0">
                <a:latin typeface="微软雅黑" panose="020B0503020204020204" pitchFamily="34" charset="-122"/>
                <a:ea typeface="微软雅黑" panose="020B0503020204020204" pitchFamily="34" charset="-122"/>
              </a:rPr>
              <a:t>指机器或软件。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网络管理员</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(administrator) </a:t>
            </a:r>
            <a:r>
              <a:rPr lang="zh-CN" altLang="en-US" sz="2000" b="1" dirty="0">
                <a:latin typeface="微软雅黑" panose="020B0503020204020204" pitchFamily="34" charset="-122"/>
                <a:ea typeface="微软雅黑" panose="020B0503020204020204" pitchFamily="34" charset="-122"/>
              </a:rPr>
              <a:t>指的</a:t>
            </a:r>
            <a:r>
              <a:rPr lang="zh-CN" altLang="en-US" sz="2000" b="1" dirty="0" smtClean="0">
                <a:latin typeface="微软雅黑" panose="020B0503020204020204" pitchFamily="34" charset="-122"/>
                <a:ea typeface="微软雅黑" panose="020B0503020204020204" pitchFamily="34" charset="-122"/>
              </a:rPr>
              <a:t>是负责网络管理的人员。</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大型</a:t>
            </a:r>
            <a:r>
              <a:rPr lang="zh-CN" altLang="en-US" sz="2000" b="1" dirty="0">
                <a:latin typeface="微软雅黑" panose="020B0503020204020204" pitchFamily="34" charset="-122"/>
                <a:ea typeface="微软雅黑" panose="020B0503020204020204" pitchFamily="34" charset="-122"/>
              </a:rPr>
              <a:t>网络往往实行</a:t>
            </a:r>
            <a:r>
              <a:rPr lang="zh-CN" altLang="en-US" sz="2000" b="1" dirty="0">
                <a:solidFill>
                  <a:srgbClr val="C00000"/>
                </a:solidFill>
                <a:latin typeface="微软雅黑" panose="020B0503020204020204" pitchFamily="34" charset="-122"/>
                <a:ea typeface="微软雅黑" panose="020B0503020204020204" pitchFamily="34" charset="-122"/>
              </a:rPr>
              <a:t>多级管理，</a:t>
            </a:r>
            <a:r>
              <a:rPr lang="zh-CN" altLang="en-US" sz="2000" b="1" dirty="0">
                <a:latin typeface="微软雅黑" panose="020B0503020204020204" pitchFamily="34" charset="-122"/>
                <a:ea typeface="微软雅黑" panose="020B0503020204020204" pitchFamily="34" charset="-122"/>
              </a:rPr>
              <a:t>因而有多个管理者，而一个管理者一般只管理本地网络的设备。</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9001" y="576681"/>
            <a:ext cx="36247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被管对象 </a:t>
            </a:r>
            <a:r>
              <a:rPr lang="en-US" altLang="zh-CN" sz="2000" b="1" dirty="0">
                <a:solidFill>
                  <a:schemeClr val="bg1"/>
                </a:solidFill>
                <a:latin typeface="微软雅黑" panose="020B0503020204020204" pitchFamily="34" charset="-122"/>
                <a:ea typeface="微软雅黑" panose="020B0503020204020204" pitchFamily="34" charset="-122"/>
              </a:rPr>
              <a:t>(Managed Object</a:t>
            </a:r>
            <a:r>
              <a:rPr lang="en-US" altLang="zh-CN"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0924"/>
            <a:ext cx="787682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网络的每一个被管设备（包括设备中的软件）中可能有多个</a:t>
            </a:r>
            <a:r>
              <a:rPr lang="zh-CN" altLang="en-US" sz="2000" b="1" dirty="0">
                <a:solidFill>
                  <a:srgbClr val="C00000"/>
                </a:solidFill>
                <a:latin typeface="微软雅黑" panose="020B0503020204020204" pitchFamily="34" charset="-122"/>
                <a:ea typeface="微软雅黑" panose="020B0503020204020204" pitchFamily="34" charset="-122"/>
              </a:rPr>
              <a:t>被管对象。</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被管设备有时可称为</a:t>
            </a:r>
            <a:r>
              <a:rPr lang="zh-CN" altLang="en-US" sz="2000" b="1" dirty="0">
                <a:solidFill>
                  <a:srgbClr val="0000FF"/>
                </a:solidFill>
                <a:latin typeface="微软雅黑" panose="020B0503020204020204" pitchFamily="34" charset="-122"/>
                <a:ea typeface="微软雅黑" panose="020B0503020204020204" pitchFamily="34" charset="-122"/>
              </a:rPr>
              <a:t>网络元素</a:t>
            </a:r>
            <a:r>
              <a:rPr lang="zh-CN" altLang="en-US" sz="2000" b="1" dirty="0">
                <a:latin typeface="微软雅黑" panose="020B0503020204020204" pitchFamily="34" charset="-122"/>
                <a:ea typeface="微软雅黑" panose="020B0503020204020204" pitchFamily="34" charset="-122"/>
              </a:rPr>
              <a:t>或</a:t>
            </a:r>
            <a:r>
              <a:rPr lang="zh-CN" altLang="en-US" sz="2000" b="1" dirty="0">
                <a:solidFill>
                  <a:srgbClr val="0000FF"/>
                </a:solidFill>
                <a:latin typeface="微软雅黑" panose="020B0503020204020204" pitchFamily="34" charset="-122"/>
                <a:ea typeface="微软雅黑" panose="020B0503020204020204" pitchFamily="34" charset="-122"/>
              </a:rPr>
              <a:t>网元</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在被管设备中也会有一些不能被管的对象。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25192" y="577480"/>
            <a:ext cx="17123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代理 </a:t>
            </a:r>
            <a:r>
              <a:rPr lang="en-US" altLang="zh-CN" sz="2000" b="1" dirty="0">
                <a:solidFill>
                  <a:schemeClr val="bg1"/>
                </a:solidFill>
                <a:latin typeface="微软雅黑" panose="020B0503020204020204" pitchFamily="34" charset="-122"/>
                <a:ea typeface="微软雅黑" panose="020B0503020204020204" pitchFamily="34" charset="-122"/>
              </a:rPr>
              <a:t>(agent)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0925"/>
            <a:ext cx="816090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在每一个被管设备中都要运行一个</a:t>
            </a:r>
            <a:r>
              <a:rPr lang="zh-CN" altLang="en-US" sz="2000" b="1" dirty="0" smtClean="0">
                <a:latin typeface="微软雅黑" panose="020B0503020204020204" pitchFamily="34" charset="-122"/>
                <a:ea typeface="微软雅黑" panose="020B0503020204020204" pitchFamily="34" charset="-122"/>
              </a:rPr>
              <a:t>程序，以便</a:t>
            </a:r>
            <a:r>
              <a:rPr lang="zh-CN" altLang="en-US" sz="2000" b="1" dirty="0">
                <a:latin typeface="微软雅黑" panose="020B0503020204020204" pitchFamily="34" charset="-122"/>
                <a:ea typeface="微软雅黑" panose="020B0503020204020204" pitchFamily="34" charset="-122"/>
              </a:rPr>
              <a:t>和管理站中的管理程序进行通信</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这些</a:t>
            </a:r>
            <a:r>
              <a:rPr lang="zh-CN" altLang="en-US" sz="2000" b="1" dirty="0">
                <a:latin typeface="微软雅黑" panose="020B0503020204020204" pitchFamily="34" charset="-122"/>
                <a:ea typeface="微软雅黑" panose="020B0503020204020204" pitchFamily="34" charset="-122"/>
              </a:rPr>
              <a:t>运行着的程序叫做</a:t>
            </a:r>
            <a:r>
              <a:rPr lang="zh-CN" altLang="en-US" sz="2000" b="1" dirty="0">
                <a:solidFill>
                  <a:srgbClr val="C00000"/>
                </a:solidFill>
                <a:latin typeface="微软雅黑" panose="020B0503020204020204" pitchFamily="34" charset="-122"/>
                <a:ea typeface="微软雅黑" panose="020B0503020204020204" pitchFamily="34" charset="-122"/>
              </a:rPr>
              <a:t>网络管理代理程序，</a:t>
            </a:r>
            <a:r>
              <a:rPr lang="zh-CN" altLang="en-US" sz="2000" b="1" dirty="0">
                <a:latin typeface="微软雅黑" panose="020B0503020204020204" pitchFamily="34" charset="-122"/>
                <a:ea typeface="微软雅黑" panose="020B0503020204020204" pitchFamily="34" charset="-122"/>
              </a:rPr>
              <a:t>或简称为</a:t>
            </a:r>
            <a:r>
              <a:rPr lang="zh-CN" altLang="en-US" sz="2000" b="1" dirty="0">
                <a:solidFill>
                  <a:srgbClr val="C00000"/>
                </a:solidFill>
                <a:latin typeface="微软雅黑" panose="020B0503020204020204" pitchFamily="34" charset="-122"/>
                <a:ea typeface="微软雅黑" panose="020B0503020204020204" pitchFamily="34" charset="-122"/>
              </a:rPr>
              <a:t>代理。</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代理程序在管理程序的命令和控制下在被管设备上采取本地的行动。</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68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108"/>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网络管理协议</a:t>
            </a:r>
            <a:r>
              <a:rPr lang="zh-CN" altLang="en-US" sz="2000" b="1" dirty="0">
                <a:latin typeface="微软雅黑" panose="020B0503020204020204" pitchFamily="34" charset="-122"/>
                <a:ea typeface="微软雅黑" panose="020B0503020204020204" pitchFamily="34" charset="-122"/>
              </a:rPr>
              <a:t>简称为</a:t>
            </a:r>
            <a:r>
              <a:rPr lang="zh-CN" altLang="en-US" sz="2000" b="1" dirty="0">
                <a:solidFill>
                  <a:srgbClr val="0000FF"/>
                </a:solidFill>
                <a:latin typeface="微软雅黑" panose="020B0503020204020204" pitchFamily="34" charset="-122"/>
                <a:ea typeface="微软雅黑" panose="020B0503020204020204" pitchFamily="34" charset="-122"/>
              </a:rPr>
              <a:t>网管协议。</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网络管理协议</a:t>
            </a:r>
            <a:r>
              <a:rPr lang="zh-CN" altLang="en-US" sz="2000" b="1" dirty="0">
                <a:latin typeface="微软雅黑" panose="020B0503020204020204" pitchFamily="34" charset="-122"/>
                <a:ea typeface="微软雅黑" panose="020B0503020204020204" pitchFamily="34" charset="-122"/>
              </a:rPr>
              <a:t>是管理程序和代理程序之间进行通信的规则。</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网络管理员</a:t>
            </a:r>
            <a:r>
              <a:rPr lang="zh-CN" altLang="en-US" sz="2000" b="1" dirty="0" smtClean="0">
                <a:latin typeface="微软雅黑" panose="020B0503020204020204" pitchFamily="34" charset="-122"/>
                <a:ea typeface="微软雅黑" panose="020B0503020204020204" pitchFamily="34" charset="-122"/>
              </a:rPr>
              <a:t>利用网络管理协议，通过</a:t>
            </a:r>
            <a:r>
              <a:rPr lang="zh-CN" altLang="en-US" sz="2000" b="1" dirty="0">
                <a:latin typeface="微软雅黑" panose="020B0503020204020204" pitchFamily="34" charset="-122"/>
                <a:ea typeface="微软雅黑" panose="020B0503020204020204" pitchFamily="34" charset="-122"/>
              </a:rPr>
              <a:t>管理站对网络中的被管设备进行管理。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注意</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网</a:t>
            </a:r>
            <a:r>
              <a:rPr lang="zh-CN" altLang="en-US" sz="2000" b="1" dirty="0">
                <a:solidFill>
                  <a:srgbClr val="0000FF"/>
                </a:solidFill>
                <a:latin typeface="微软雅黑" panose="020B0503020204020204" pitchFamily="34" charset="-122"/>
                <a:ea typeface="微软雅黑" panose="020B0503020204020204" pitchFamily="34" charset="-122"/>
              </a:rPr>
              <a:t>管协议</a:t>
            </a:r>
            <a:r>
              <a:rPr lang="zh-CN" altLang="en-US" sz="2000" b="1" dirty="0" smtClean="0">
                <a:solidFill>
                  <a:srgbClr val="0000FF"/>
                </a:solidFill>
                <a:latin typeface="微软雅黑" panose="020B0503020204020204" pitchFamily="34" charset="-122"/>
                <a:ea typeface="微软雅黑" panose="020B0503020204020204" pitchFamily="34" charset="-122"/>
              </a:rPr>
              <a:t>本身不管理</a:t>
            </a:r>
            <a:r>
              <a:rPr lang="zh-CN" altLang="en-US" sz="2000" b="1" dirty="0">
                <a:solidFill>
                  <a:srgbClr val="0000FF"/>
                </a:solidFill>
                <a:latin typeface="微软雅黑" panose="020B0503020204020204" pitchFamily="34" charset="-122"/>
                <a:ea typeface="微软雅黑" panose="020B0503020204020204" pitchFamily="34" charset="-122"/>
              </a:rPr>
              <a:t>网络。</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72583" y="577451"/>
            <a:ext cx="3217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 </a:t>
            </a:r>
            <a:r>
              <a:rPr lang="en-US" altLang="zh-CN" sz="2000" b="1" dirty="0" smtClean="0">
                <a:solidFill>
                  <a:schemeClr val="bg1"/>
                </a:solidFill>
                <a:latin typeface="微软雅黑" panose="020B0503020204020204" pitchFamily="34" charset="-122"/>
                <a:ea typeface="微软雅黑" panose="020B0503020204020204" pitchFamily="34" charset="-122"/>
              </a:rPr>
              <a:t>SNMP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1752"/>
            <a:ext cx="790345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简单网络管理</a:t>
            </a:r>
            <a:r>
              <a:rPr lang="zh-CN" altLang="en-US" sz="2000" b="1" dirty="0" smtClean="0">
                <a:solidFill>
                  <a:srgbClr val="C00000"/>
                </a:solidFill>
                <a:latin typeface="微软雅黑" panose="020B0503020204020204" pitchFamily="34" charset="-122"/>
                <a:ea typeface="微软雅黑" panose="020B0503020204020204" pitchFamily="34" charset="-122"/>
              </a:rPr>
              <a:t>协议 </a:t>
            </a:r>
            <a:r>
              <a:rPr lang="en-US" altLang="zh-CN" sz="2000" b="1" dirty="0" smtClean="0">
                <a:solidFill>
                  <a:srgbClr val="C00000"/>
                </a:solidFill>
                <a:latin typeface="微软雅黑" panose="020B0503020204020204" pitchFamily="34" charset="-122"/>
                <a:ea typeface="微软雅黑" panose="020B0503020204020204" pitchFamily="34" charset="-122"/>
              </a:rPr>
              <a:t>SNMP </a:t>
            </a:r>
            <a:r>
              <a:rPr lang="en-US" altLang="zh-CN" sz="2000" b="1" dirty="0">
                <a:latin typeface="微软雅黑" panose="020B0503020204020204" pitchFamily="34" charset="-122"/>
                <a:ea typeface="微软雅黑" panose="020B0503020204020204" pitchFamily="34" charset="-122"/>
              </a:rPr>
              <a:t>(Simple Network Management Protocol</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中的管理程序</a:t>
            </a:r>
            <a:r>
              <a:rPr lang="zh-CN" altLang="en-US" sz="2000" b="1" dirty="0">
                <a:latin typeface="微软雅黑" panose="020B0503020204020204" pitchFamily="34" charset="-122"/>
                <a:ea typeface="微软雅黑" panose="020B0503020204020204" pitchFamily="34" charset="-122"/>
              </a:rPr>
              <a:t>和代理程序按</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方式工作。</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管理程序运行 </a:t>
            </a:r>
            <a:r>
              <a:rPr lang="en-US" altLang="zh-CN" sz="2000" b="1" dirty="0">
                <a:solidFill>
                  <a:srgbClr val="C00000"/>
                </a:solidFill>
                <a:latin typeface="微软雅黑" panose="020B0503020204020204" pitchFamily="34" charset="-122"/>
                <a:ea typeface="微软雅黑" panose="020B0503020204020204" pitchFamily="34" charset="-122"/>
              </a:rPr>
              <a:t>SNMP </a:t>
            </a:r>
            <a:r>
              <a:rPr lang="zh-CN" altLang="en-US" sz="2000" b="1" dirty="0">
                <a:solidFill>
                  <a:srgbClr val="C00000"/>
                </a:solidFill>
                <a:latin typeface="微软雅黑" panose="020B0503020204020204" pitchFamily="34" charset="-122"/>
                <a:ea typeface="微软雅黑" panose="020B0503020204020204" pitchFamily="34" charset="-122"/>
              </a:rPr>
              <a:t>客户程序，</a:t>
            </a:r>
            <a:r>
              <a:rPr lang="zh-CN" altLang="en-US" sz="2000" b="1" dirty="0">
                <a:latin typeface="微软雅黑" panose="020B0503020204020204" pitchFamily="34" charset="-122"/>
                <a:ea typeface="微软雅黑" panose="020B0503020204020204" pitchFamily="34" charset="-122"/>
              </a:rPr>
              <a:t>向某个代理程序发出</a:t>
            </a:r>
            <a:r>
              <a:rPr lang="zh-CN" altLang="en-US" sz="2000" b="1" dirty="0" smtClean="0">
                <a:latin typeface="微软雅黑" panose="020B0503020204020204" pitchFamily="34" charset="-122"/>
                <a:ea typeface="微软雅黑" panose="020B0503020204020204" pitchFamily="34" charset="-122"/>
              </a:rPr>
              <a:t>请求 </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或命令</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代理</a:t>
            </a:r>
            <a:r>
              <a:rPr lang="zh-CN" altLang="en-US" sz="2000" b="1" dirty="0">
                <a:latin typeface="微软雅黑" panose="020B0503020204020204" pitchFamily="34" charset="-122"/>
                <a:ea typeface="微软雅黑" panose="020B0503020204020204" pitchFamily="34" charset="-122"/>
              </a:rPr>
              <a:t>程序运行 </a:t>
            </a:r>
            <a:r>
              <a:rPr lang="en-US" altLang="zh-CN" sz="2000" b="1" dirty="0">
                <a:solidFill>
                  <a:srgbClr val="C00000"/>
                </a:solidFill>
                <a:latin typeface="微软雅黑" panose="020B0503020204020204" pitchFamily="34" charset="-122"/>
                <a:ea typeface="微软雅黑" panose="020B0503020204020204" pitchFamily="34" charset="-122"/>
              </a:rPr>
              <a:t>SNMP </a:t>
            </a:r>
            <a:r>
              <a:rPr lang="zh-CN" altLang="en-US" sz="2000" b="1" dirty="0">
                <a:solidFill>
                  <a:srgbClr val="C00000"/>
                </a:solidFill>
                <a:latin typeface="微软雅黑" panose="020B0503020204020204" pitchFamily="34" charset="-122"/>
                <a:ea typeface="微软雅黑" panose="020B0503020204020204" pitchFamily="34" charset="-122"/>
              </a:rPr>
              <a:t>服务器程序，</a:t>
            </a:r>
            <a:r>
              <a:rPr lang="zh-CN" altLang="en-US" sz="2000" b="1" dirty="0">
                <a:latin typeface="微软雅黑" panose="020B0503020204020204" pitchFamily="34" charset="-122"/>
                <a:ea typeface="微软雅黑" panose="020B0503020204020204" pitchFamily="34" charset="-122"/>
              </a:rPr>
              <a:t>返回</a:t>
            </a:r>
            <a:r>
              <a:rPr lang="zh-CN" altLang="en-US" sz="2000" b="1" dirty="0" smtClean="0">
                <a:latin typeface="微软雅黑" panose="020B0503020204020204" pitchFamily="34" charset="-122"/>
                <a:ea typeface="微软雅黑" panose="020B0503020204020204" pitchFamily="34" charset="-122"/>
              </a:rPr>
              <a:t>响应 </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latin typeface="微软雅黑" panose="020B0503020204020204" pitchFamily="34" charset="-122"/>
                <a:ea typeface="微软雅黑" panose="020B0503020204020204" pitchFamily="34" charset="-122"/>
              </a:rPr>
              <a:t>执行某个</a:t>
            </a:r>
            <a:r>
              <a:rPr lang="zh-CN" altLang="en-US" sz="2000" b="1" dirty="0" smtClean="0">
                <a:latin typeface="微软雅黑" panose="020B0503020204020204" pitchFamily="34" charset="-122"/>
                <a:ea typeface="微软雅黑" panose="020B0503020204020204" pitchFamily="34" charset="-122"/>
              </a:rPr>
              <a:t>动作</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在网管系统</a:t>
            </a:r>
            <a:r>
              <a:rPr lang="zh-CN" altLang="en-US" sz="2000" b="1" dirty="0" smtClean="0">
                <a:solidFill>
                  <a:srgbClr val="0000FF"/>
                </a:solidFill>
                <a:latin typeface="微软雅黑" panose="020B0503020204020204" pitchFamily="34" charset="-122"/>
                <a:ea typeface="微软雅黑" panose="020B0503020204020204" pitchFamily="34" charset="-122"/>
              </a:rPr>
              <a:t>中，往往</a:t>
            </a:r>
            <a:r>
              <a:rPr lang="zh-CN" altLang="en-US" sz="2000" b="1" dirty="0">
                <a:solidFill>
                  <a:srgbClr val="0000FF"/>
                </a:solidFill>
                <a:latin typeface="微软雅黑" panose="020B0503020204020204" pitchFamily="34" charset="-122"/>
                <a:ea typeface="微软雅黑" panose="020B0503020204020204" pitchFamily="34" charset="-122"/>
              </a:rPr>
              <a:t>是一个（或少数几个）客户程序与很多的服务器程序进行交互。</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6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040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网络管理的基本原理</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976547" y="1395148"/>
            <a:ext cx="7270808" cy="1206008"/>
            <a:chOff x="1154100" y="3809877"/>
            <a:chExt cx="7270808" cy="795008"/>
          </a:xfrm>
        </p:grpSpPr>
        <p:sp>
          <p:nvSpPr>
            <p:cNvPr id="6" name="对角圆角矩形 5"/>
            <p:cNvSpPr/>
            <p:nvPr/>
          </p:nvSpPr>
          <p:spPr>
            <a:xfrm>
              <a:off x="1154100" y="3809877"/>
              <a:ext cx="7270808" cy="795008"/>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482570" y="3948251"/>
              <a:ext cx="6587231" cy="534272"/>
            </a:xfrm>
            <a:prstGeom prst="rect">
              <a:avLst/>
            </a:prstGeom>
          </p:spPr>
          <p:txBody>
            <a:bodyPr wrap="square">
              <a:spAutoFit/>
            </a:bodyPr>
            <a:lstStyle/>
            <a:p>
              <a:pPr eaLnBrk="0" hangingPunct="0">
                <a:lnSpc>
                  <a:spcPts val="2800"/>
                </a:lnSpc>
                <a:buClr>
                  <a:srgbClr val="0070C0"/>
                </a:buClr>
              </a:pPr>
              <a:r>
                <a:rPr lang="zh-CN" altLang="en-US" sz="2000" b="1" dirty="0">
                  <a:solidFill>
                    <a:schemeClr val="bg1"/>
                  </a:solidFill>
                  <a:latin typeface="微软雅黑" panose="020B0503020204020204" pitchFamily="34" charset="-122"/>
                  <a:ea typeface="微软雅黑" panose="020B0503020204020204" pitchFamily="34" charset="-122"/>
                </a:rPr>
                <a:t>若要管理某个对象，就必然会给该对象添加一些软件或硬件，但这种“添加”必须对原有对象的影响尽量小些</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7" y="577713"/>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smtClean="0">
                <a:solidFill>
                  <a:schemeClr val="bg1"/>
                </a:solidFill>
                <a:latin typeface="微软雅黑" panose="020B0503020204020204" pitchFamily="34" charset="-122"/>
                <a:ea typeface="微软雅黑" panose="020B0503020204020204" pitchFamily="34" charset="-122"/>
              </a:rPr>
              <a:t>的基本功能</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01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最</a:t>
            </a:r>
            <a:r>
              <a:rPr lang="zh-CN" altLang="en-US" sz="2000" b="1" dirty="0">
                <a:latin typeface="微软雅黑" panose="020B0503020204020204" pitchFamily="34" charset="-122"/>
                <a:ea typeface="微软雅黑" panose="020B0503020204020204" pitchFamily="34" charset="-122"/>
              </a:rPr>
              <a:t>重要的</a:t>
            </a:r>
            <a:r>
              <a:rPr lang="zh-CN" altLang="en-US" sz="2000" b="1" dirty="0" smtClean="0">
                <a:latin typeface="微软雅黑" panose="020B0503020204020204" pitchFamily="34" charset="-122"/>
                <a:ea typeface="微软雅黑" panose="020B0503020204020204" pitchFamily="34" charset="-122"/>
              </a:rPr>
              <a:t>指导思想：</a:t>
            </a:r>
            <a:r>
              <a:rPr lang="zh-CN" altLang="en-US" sz="2000" b="1" dirty="0" smtClean="0">
                <a:solidFill>
                  <a:srgbClr val="C00000"/>
                </a:solidFill>
                <a:latin typeface="微软雅黑" panose="020B0503020204020204" pitchFamily="34" charset="-122"/>
                <a:ea typeface="微软雅黑" panose="020B0503020204020204" pitchFamily="34" charset="-122"/>
              </a:rPr>
              <a:t>尽可能</a:t>
            </a:r>
            <a:r>
              <a:rPr lang="zh-CN" altLang="en-US" sz="2000" b="1" dirty="0">
                <a:solidFill>
                  <a:srgbClr val="C00000"/>
                </a:solidFill>
                <a:latin typeface="微软雅黑" panose="020B0503020204020204" pitchFamily="34" charset="-122"/>
                <a:ea typeface="微软雅黑" panose="020B0503020204020204" pitchFamily="34" charset="-122"/>
              </a:rPr>
              <a:t>简单。</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基本功能：</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监视</a:t>
            </a:r>
            <a:r>
              <a:rPr lang="zh-CN" altLang="en-US" sz="2000" b="1" dirty="0">
                <a:latin typeface="微软雅黑" panose="020B0503020204020204" pitchFamily="34" charset="-122"/>
                <a:ea typeface="微软雅黑" panose="020B0503020204020204" pitchFamily="34" charset="-122"/>
              </a:rPr>
              <a:t>网络</a:t>
            </a:r>
            <a:r>
              <a:rPr lang="zh-CN" altLang="en-US" sz="2000" b="1" dirty="0" smtClean="0">
                <a:latin typeface="微软雅黑" panose="020B0503020204020204" pitchFamily="34" charset="-122"/>
                <a:ea typeface="微软雅黑" panose="020B0503020204020204" pitchFamily="34" charset="-122"/>
              </a:rPr>
              <a:t>性能</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检测</a:t>
            </a:r>
            <a:r>
              <a:rPr lang="zh-CN" altLang="en-US" sz="2000" b="1" dirty="0">
                <a:latin typeface="微软雅黑" panose="020B0503020204020204" pitchFamily="34" charset="-122"/>
                <a:ea typeface="微软雅黑" panose="020B0503020204020204" pitchFamily="34" charset="-122"/>
              </a:rPr>
              <a:t>分析网络</a:t>
            </a:r>
            <a:r>
              <a:rPr lang="zh-CN" altLang="en-US" sz="2000" b="1" dirty="0" smtClean="0">
                <a:latin typeface="微软雅黑" panose="020B0503020204020204" pitchFamily="34" charset="-122"/>
                <a:ea typeface="微软雅黑" panose="020B0503020204020204" pitchFamily="34" charset="-122"/>
              </a:rPr>
              <a:t>差错</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配置</a:t>
            </a:r>
            <a:r>
              <a:rPr lang="zh-CN" altLang="en-US" sz="2000" b="1" dirty="0">
                <a:latin typeface="微软雅黑" panose="020B0503020204020204" pitchFamily="34" charset="-122"/>
                <a:ea typeface="微软雅黑" panose="020B0503020204020204" pitchFamily="34" charset="-122"/>
              </a:rPr>
              <a:t>网络设备等</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2575710"/>
            <a:ext cx="8048776" cy="1657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09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4035" y="577781"/>
            <a:ext cx="33746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的管理站和委托代理</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082"/>
            <a:ext cx="8258564"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整个系统必须有一个</a:t>
            </a:r>
            <a:r>
              <a:rPr lang="zh-CN" altLang="en-US" sz="2000" b="1" dirty="0">
                <a:solidFill>
                  <a:srgbClr val="C00000"/>
                </a:solidFill>
                <a:latin typeface="微软雅黑" panose="020B0503020204020204" pitchFamily="34" charset="-122"/>
                <a:ea typeface="微软雅黑" panose="020B0503020204020204" pitchFamily="34" charset="-122"/>
              </a:rPr>
              <a:t>管理站。</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若</a:t>
            </a:r>
            <a:r>
              <a:rPr lang="zh-CN" altLang="en-US" sz="2000" b="1" dirty="0">
                <a:latin typeface="微软雅黑" panose="020B0503020204020204" pitchFamily="34" charset="-122"/>
                <a:ea typeface="微软雅黑" panose="020B0503020204020204" pitchFamily="34" charset="-122"/>
              </a:rPr>
              <a:t>网络元素使用的不是 </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而是另一种网络管理协议，</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协议就无法控制该网络元素。这时可使用</a:t>
            </a:r>
            <a:r>
              <a:rPr lang="zh-CN" altLang="en-US" sz="2000" b="1" dirty="0">
                <a:solidFill>
                  <a:srgbClr val="C00000"/>
                </a:solidFill>
                <a:latin typeface="微软雅黑" panose="020B0503020204020204" pitchFamily="34" charset="-122"/>
                <a:ea typeface="微软雅黑" panose="020B0503020204020204" pitchFamily="34" charset="-122"/>
              </a:rPr>
              <a:t>委托代理 </a:t>
            </a:r>
            <a:r>
              <a:rPr lang="en-US" altLang="zh-CN" sz="2000" b="1" dirty="0">
                <a:latin typeface="微软雅黑" panose="020B0503020204020204" pitchFamily="34" charset="-122"/>
                <a:ea typeface="微软雅黑" panose="020B0503020204020204" pitchFamily="34" charset="-122"/>
              </a:rPr>
              <a:t>(proxy agent)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委托</a:t>
            </a:r>
            <a:r>
              <a:rPr lang="zh-CN" altLang="en-US" sz="2000" b="1" dirty="0">
                <a:latin typeface="微软雅黑" panose="020B0503020204020204" pitchFamily="34" charset="-122"/>
                <a:ea typeface="微软雅黑" panose="020B0503020204020204" pitchFamily="34" charset="-122"/>
              </a:rPr>
              <a:t>代理能</a:t>
            </a:r>
            <a:r>
              <a:rPr lang="zh-CN" altLang="en-US" sz="2000" b="1" dirty="0" smtClean="0">
                <a:latin typeface="微软雅黑" panose="020B0503020204020204" pitchFamily="34" charset="-122"/>
                <a:ea typeface="微软雅黑" panose="020B0503020204020204" pitchFamily="34" charset="-122"/>
              </a:rPr>
              <a:t>提供协议</a:t>
            </a:r>
            <a:r>
              <a:rPr lang="zh-CN" altLang="en-US" sz="2000" b="1" dirty="0">
                <a:latin typeface="微软雅黑" panose="020B0503020204020204" pitchFamily="34" charset="-122"/>
                <a:ea typeface="微软雅黑" panose="020B0503020204020204" pitchFamily="34" charset="-122"/>
              </a:rPr>
              <a:t>转换和过滤操作等</a:t>
            </a:r>
            <a:r>
              <a:rPr lang="zh-CN" altLang="en-US" sz="2000" b="1" dirty="0" smtClean="0">
                <a:latin typeface="微软雅黑" panose="020B0503020204020204" pitchFamily="34" charset="-122"/>
                <a:ea typeface="微软雅黑" panose="020B0503020204020204" pitchFamily="34" charset="-122"/>
              </a:rPr>
              <a:t>功能，对</a:t>
            </a:r>
            <a:r>
              <a:rPr lang="zh-CN" altLang="en-US" sz="2000" b="1" dirty="0">
                <a:latin typeface="微软雅黑" panose="020B0503020204020204" pitchFamily="34" charset="-122"/>
                <a:ea typeface="微软雅黑" panose="020B0503020204020204" pitchFamily="34" charset="-122"/>
              </a:rPr>
              <a:t>被管对象进行管理。</a:t>
            </a:r>
            <a:endParaRPr lang="zh-CN" altLang="en-US" sz="2000" b="1" dirty="0">
              <a:latin typeface="微软雅黑" panose="020B0503020204020204" pitchFamily="34" charset="-122"/>
              <a:ea typeface="微软雅黑" panose="020B0503020204020204" pitchFamily="34" charset="-122"/>
            </a:endParaRPr>
          </a:p>
        </p:txBody>
      </p:sp>
      <p:sp>
        <p:nvSpPr>
          <p:cNvPr id="6" name="矩形 5"/>
          <p:cNvSpPr/>
          <p:nvPr/>
        </p:nvSpPr>
        <p:spPr>
          <a:xfrm>
            <a:off x="1918295" y="2879677"/>
            <a:ext cx="360794" cy="1054905"/>
          </a:xfrm>
          <a:prstGeom prst="rect">
            <a:avLst/>
          </a:prstGeom>
          <a:solidFill>
            <a:srgbClr val="000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anose="020B0503020204020204" pitchFamily="34" charset="-122"/>
                <a:ea typeface="微软雅黑" panose="020B0503020204020204" pitchFamily="34" charset="-122"/>
              </a:rPr>
              <a:t>管理站</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3606331" y="2879677"/>
            <a:ext cx="360794" cy="1054905"/>
          </a:xfrm>
          <a:prstGeom prst="rect">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anose="020B0503020204020204" pitchFamily="34" charset="-122"/>
                <a:ea typeface="微软雅黑" panose="020B0503020204020204" pitchFamily="34" charset="-122"/>
              </a:rPr>
              <a:t>委托代理</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9" name="椭圆 8"/>
          <p:cNvSpPr/>
          <p:nvPr/>
        </p:nvSpPr>
        <p:spPr>
          <a:xfrm>
            <a:off x="5519058" y="271435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1" name="直接箭头连接符 10"/>
          <p:cNvCxnSpPr>
            <a:endCxn id="9" idx="2"/>
          </p:cNvCxnSpPr>
          <p:nvPr/>
        </p:nvCxnSpPr>
        <p:spPr>
          <a:xfrm flipV="1">
            <a:off x="3967125" y="2937510"/>
            <a:ext cx="1551933" cy="223157"/>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椭圆 12"/>
          <p:cNvSpPr/>
          <p:nvPr/>
        </p:nvSpPr>
        <p:spPr>
          <a:xfrm>
            <a:off x="5519058" y="3572633"/>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4" name="直接箭头连接符 13"/>
          <p:cNvCxnSpPr>
            <a:endCxn id="13" idx="2"/>
          </p:cNvCxnSpPr>
          <p:nvPr/>
        </p:nvCxnSpPr>
        <p:spPr>
          <a:xfrm>
            <a:off x="3967125" y="3660283"/>
            <a:ext cx="1551933" cy="135508"/>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6509658" y="318397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8" name="直接箭头连接符 17"/>
          <p:cNvCxnSpPr>
            <a:stCxn id="8" idx="3"/>
            <a:endCxn id="17" idx="2"/>
          </p:cNvCxnSpPr>
          <p:nvPr/>
        </p:nvCxnSpPr>
        <p:spPr>
          <a:xfrm>
            <a:off x="3967125" y="3407130"/>
            <a:ext cx="2542533"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6" idx="3"/>
            <a:endCxn id="8" idx="1"/>
          </p:cNvCxnSpPr>
          <p:nvPr/>
        </p:nvCxnSpPr>
        <p:spPr>
          <a:xfrm>
            <a:off x="2279089" y="3407130"/>
            <a:ext cx="1327242"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2530138" y="3132387"/>
            <a:ext cx="747320" cy="307777"/>
          </a:xfrm>
          <a:prstGeom prst="rect">
            <a:avLst/>
          </a:prstGeom>
        </p:spPr>
        <p:txBody>
          <a:bodyPr wrap="none">
            <a:spAutoFit/>
          </a:bodyPr>
          <a:lstStyle/>
          <a:p>
            <a:r>
              <a:rPr lang="en-US" altLang="zh-CN" sz="1400" b="1" dirty="0">
                <a:latin typeface="微软雅黑" panose="020B0503020204020204" pitchFamily="34" charset="-122"/>
                <a:ea typeface="微软雅黑" panose="020B0503020204020204" pitchFamily="34" charset="-122"/>
              </a:rPr>
              <a:t>SNMP</a:t>
            </a:r>
            <a:endParaRPr lang="zh-CN" altLang="en-US" sz="1400" dirty="0"/>
          </a:p>
        </p:txBody>
      </p:sp>
      <p:sp>
        <p:nvSpPr>
          <p:cNvPr id="28" name="矩形 27"/>
          <p:cNvSpPr/>
          <p:nvPr/>
        </p:nvSpPr>
        <p:spPr>
          <a:xfrm>
            <a:off x="4487976" y="3111367"/>
            <a:ext cx="902811"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专用协议</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3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40284" y="579167"/>
            <a:ext cx="26821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网络管理</a:t>
            </a:r>
            <a:r>
              <a:rPr lang="zh-CN" altLang="en-US" sz="2000" b="1" dirty="0" smtClean="0">
                <a:solidFill>
                  <a:schemeClr val="bg1"/>
                </a:solidFill>
                <a:latin typeface="微软雅黑" panose="020B0503020204020204" pitchFamily="34" charset="-122"/>
                <a:ea typeface="微软雅黑" panose="020B0503020204020204" pitchFamily="34" charset="-122"/>
              </a:rPr>
              <a:t>组成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3468"/>
            <a:ext cx="822953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的网络管理由三个部分组成：</a:t>
            </a:r>
            <a:endParaRPr lang="zh-CN" altLang="en-US"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本身</a:t>
            </a:r>
            <a:endParaRPr lang="zh-CN" altLang="en-US"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管理信息结构 </a:t>
            </a:r>
            <a:r>
              <a:rPr lang="en-US" altLang="zh-CN" sz="2000" b="1" dirty="0">
                <a:latin typeface="微软雅黑" panose="020B0503020204020204" pitchFamily="34" charset="-122"/>
                <a:ea typeface="微软雅黑" panose="020B0503020204020204" pitchFamily="34" charset="-122"/>
              </a:rPr>
              <a:t>SMI (Structure of Management Information)</a:t>
            </a:r>
            <a:endParaRPr lang="en-US" altLang="zh-CN"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管理信息库 </a:t>
            </a:r>
            <a:r>
              <a:rPr lang="en-US" altLang="zh-CN" sz="2000" b="1" dirty="0">
                <a:latin typeface="微软雅黑" panose="020B0503020204020204" pitchFamily="34" charset="-122"/>
                <a:ea typeface="微软雅黑" panose="020B0503020204020204" pitchFamily="34" charset="-122"/>
              </a:rPr>
              <a:t>MIB (Management Information Base)</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3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22276" y="576148"/>
            <a:ext cx="31181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 </a:t>
            </a:r>
            <a:r>
              <a:rPr lang="en-US" altLang="zh-CN" sz="2000" b="1" dirty="0" smtClean="0">
                <a:solidFill>
                  <a:schemeClr val="bg1"/>
                </a:solidFill>
                <a:latin typeface="微软雅黑" panose="020B0503020204020204" pitchFamily="34" charset="-122"/>
                <a:ea typeface="微软雅黑" panose="020B0503020204020204" pitchFamily="34" charset="-122"/>
              </a:rPr>
              <a:t>SNMP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0449"/>
            <a:ext cx="812192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定义了管理站和代理之间所交换的</a:t>
            </a:r>
            <a:r>
              <a:rPr lang="zh-CN" altLang="en-US" sz="2000" b="1" dirty="0">
                <a:solidFill>
                  <a:srgbClr val="C00000"/>
                </a:solidFill>
                <a:latin typeface="微软雅黑" panose="020B0503020204020204" pitchFamily="34" charset="-122"/>
                <a:ea typeface="微软雅黑" panose="020B0503020204020204" pitchFamily="34" charset="-122"/>
              </a:rPr>
              <a:t>分组格式</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所</a:t>
            </a:r>
            <a:r>
              <a:rPr lang="zh-CN" altLang="en-US" sz="2000" b="1" dirty="0">
                <a:latin typeface="微软雅黑" panose="020B0503020204020204" pitchFamily="34" charset="-122"/>
                <a:ea typeface="微软雅黑" panose="020B0503020204020204" pitchFamily="34" charset="-122"/>
              </a:rPr>
              <a:t>交换的分组包含各代理中的对象（</a:t>
            </a:r>
            <a:r>
              <a:rPr lang="zh-CN" altLang="en-US" sz="2000" b="1" dirty="0">
                <a:solidFill>
                  <a:srgbClr val="C00000"/>
                </a:solidFill>
                <a:latin typeface="微软雅黑" panose="020B0503020204020204" pitchFamily="34" charset="-122"/>
                <a:ea typeface="微软雅黑" panose="020B0503020204020204" pitchFamily="34" charset="-122"/>
              </a:rPr>
              <a:t>变量</a:t>
            </a:r>
            <a:r>
              <a:rPr lang="zh-CN" altLang="en-US" sz="2000" b="1" dirty="0">
                <a:latin typeface="微软雅黑" panose="020B0503020204020204" pitchFamily="34" charset="-122"/>
                <a:ea typeface="微软雅黑" panose="020B0503020204020204" pitchFamily="34" charset="-122"/>
              </a:rPr>
              <a:t>）名及其状态（</a:t>
            </a:r>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负责读取和改变这些数值。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28637" y="580321"/>
            <a:ext cx="230543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管理信息结构 </a:t>
            </a:r>
            <a:r>
              <a:rPr lang="en-US" altLang="zh-CN" sz="2000" b="1" dirty="0" smtClean="0">
                <a:solidFill>
                  <a:schemeClr val="bg1"/>
                </a:solidFill>
                <a:latin typeface="微软雅黑" panose="020B0503020204020204" pitchFamily="34" charset="-122"/>
                <a:ea typeface="微软雅黑" panose="020B0503020204020204" pitchFamily="34" charset="-122"/>
              </a:rPr>
              <a:t>SMI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462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定义了命名对象和定义对象类型（包括范围和长度）的</a:t>
            </a:r>
            <a:r>
              <a:rPr lang="zh-CN" altLang="en-US" sz="2000" b="1" dirty="0">
                <a:solidFill>
                  <a:srgbClr val="C00000"/>
                </a:solidFill>
                <a:latin typeface="微软雅黑" panose="020B0503020204020204" pitchFamily="34" charset="-122"/>
                <a:ea typeface="微软雅黑" panose="020B0503020204020204" pitchFamily="34" charset="-122"/>
              </a:rPr>
              <a:t>通用规则，</a:t>
            </a:r>
            <a:r>
              <a:rPr lang="zh-CN" altLang="en-US" sz="2000" b="1" dirty="0">
                <a:latin typeface="微软雅黑" panose="020B0503020204020204" pitchFamily="34" charset="-122"/>
                <a:ea typeface="微软雅黑" panose="020B0503020204020204" pitchFamily="34" charset="-122"/>
              </a:rPr>
              <a:t>以及把对象和对象的值进行</a:t>
            </a:r>
            <a:r>
              <a:rPr lang="zh-CN" altLang="en-US" sz="2000" b="1" dirty="0">
                <a:solidFill>
                  <a:srgbClr val="C00000"/>
                </a:solidFill>
                <a:latin typeface="微软雅黑" panose="020B0503020204020204" pitchFamily="34" charset="-122"/>
                <a:ea typeface="微软雅黑" panose="020B0503020204020204" pitchFamily="34" charset="-122"/>
              </a:rPr>
              <a:t>编码的</a:t>
            </a:r>
            <a:r>
              <a:rPr lang="zh-CN" altLang="en-US" sz="2000" b="1" dirty="0" smtClean="0">
                <a:solidFill>
                  <a:srgbClr val="C00000"/>
                </a:solidFill>
                <a:latin typeface="微软雅黑" panose="020B0503020204020204" pitchFamily="34" charset="-122"/>
                <a:ea typeface="微软雅黑" panose="020B0503020204020204" pitchFamily="34" charset="-122"/>
              </a:rPr>
              <a:t>规则</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以确保</a:t>
            </a:r>
            <a:r>
              <a:rPr lang="zh-CN" altLang="en-US" sz="2000" b="1" dirty="0">
                <a:latin typeface="微软雅黑" panose="020B0503020204020204" pitchFamily="34" charset="-122"/>
                <a:ea typeface="微软雅黑" panose="020B0503020204020204" pitchFamily="34" charset="-122"/>
              </a:rPr>
              <a:t>网络管理数据的语法和语义的</a:t>
            </a:r>
            <a:r>
              <a:rPr lang="zh-CN" altLang="en-US" sz="2000" b="1" dirty="0">
                <a:solidFill>
                  <a:srgbClr val="C00000"/>
                </a:solidFill>
                <a:latin typeface="微软雅黑" panose="020B0503020204020204" pitchFamily="34" charset="-122"/>
                <a:ea typeface="微软雅黑" panose="020B0503020204020204" pitchFamily="34" charset="-122"/>
              </a:rPr>
              <a:t>无二义性</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但</a:t>
            </a:r>
            <a:r>
              <a:rPr lang="zh-CN" altLang="en-US" sz="2000" b="1" dirty="0">
                <a:latin typeface="微软雅黑" panose="020B0503020204020204" pitchFamily="34" charset="-122"/>
                <a:ea typeface="微软雅黑" panose="020B0503020204020204" pitchFamily="34" charset="-122"/>
              </a:rPr>
              <a:t>从 </a:t>
            </a: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的名称并不能看出它的功能。</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并不定义一个实体应管理的对象数目，也不定义被管对象名以及对象名及其值之间的关联。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1988294"/>
            <a:ext cx="8048776" cy="221739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546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257"/>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管理</a:t>
            </a:r>
            <a:r>
              <a:rPr lang="zh-CN" altLang="en-US" sz="2000" b="1" dirty="0" smtClean="0">
                <a:solidFill>
                  <a:schemeClr val="bg1"/>
                </a:solidFill>
                <a:latin typeface="微软雅黑" panose="020B0503020204020204" pitchFamily="34" charset="-122"/>
                <a:ea typeface="微软雅黑" panose="020B0503020204020204" pitchFamily="34" charset="-122"/>
              </a:rPr>
              <a:t>信息库 </a:t>
            </a:r>
            <a:r>
              <a:rPr lang="en-US" altLang="zh-CN" sz="2000" b="1" dirty="0" smtClean="0">
                <a:solidFill>
                  <a:schemeClr val="bg1"/>
                </a:solidFill>
                <a:latin typeface="微软雅黑" panose="020B0503020204020204" pitchFamily="34" charset="-122"/>
                <a:ea typeface="微软雅黑" panose="020B0503020204020204" pitchFamily="34" charset="-122"/>
              </a:rPr>
              <a:t>MIB</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7090"/>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在被管理的实体中创建了命名对象，并规定了其类型。</a:t>
            </a: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管理程序使用 </a:t>
            </a: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中的信息，对网络进行管理。</a:t>
            </a:r>
            <a:endParaRPr lang="zh-CN" altLang="en-US" sz="2000" b="1" dirty="0">
              <a:latin typeface="微软雅黑" panose="020B0503020204020204" pitchFamily="34" charset="-122"/>
              <a:ea typeface="微软雅黑" panose="020B0503020204020204" pitchFamily="34" charset="-122"/>
            </a:endParaRPr>
          </a:p>
        </p:txBody>
      </p:sp>
      <p:grpSp>
        <p:nvGrpSpPr>
          <p:cNvPr id="49" name="组合 48"/>
          <p:cNvGrpSpPr/>
          <p:nvPr/>
        </p:nvGrpSpPr>
        <p:grpSpPr>
          <a:xfrm>
            <a:off x="1835104" y="2207578"/>
            <a:ext cx="5543157" cy="1767025"/>
            <a:chOff x="1835104" y="2394925"/>
            <a:chExt cx="5543157" cy="1767025"/>
          </a:xfrm>
        </p:grpSpPr>
        <p:sp>
          <p:nvSpPr>
            <p:cNvPr id="9" name="Rectangle 6"/>
            <p:cNvSpPr>
              <a:spLocks noChangeArrowheads="1"/>
            </p:cNvSpPr>
            <p:nvPr/>
          </p:nvSpPr>
          <p:spPr bwMode="auto">
            <a:xfrm>
              <a:off x="2887011" y="2394925"/>
              <a:ext cx="3171626" cy="503798"/>
            </a:xfrm>
            <a:prstGeom prst="rect">
              <a:avLst/>
            </a:prstGeom>
            <a:solidFill>
              <a:srgbClr val="0000FF"/>
            </a:solidFill>
            <a:ln w="9525" algn="ctr">
              <a:solidFill>
                <a:srgbClr val="3333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7"/>
            <p:cNvSpPr>
              <a:spLocks noChangeArrowheads="1"/>
            </p:cNvSpPr>
            <p:nvPr/>
          </p:nvSpPr>
          <p:spPr bwMode="auto">
            <a:xfrm>
              <a:off x="3677027" y="2491209"/>
              <a:ext cx="1677835" cy="316654"/>
            </a:xfrm>
            <a:prstGeom prst="ellipse">
              <a:avLst/>
            </a:prstGeom>
            <a:solidFill>
              <a:srgbClr val="CCFFFF"/>
            </a:solidFill>
            <a:ln w="9525" algn="ctr">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400" b="1" dirty="0">
                  <a:latin typeface="微软雅黑" panose="020B0503020204020204" pitchFamily="34" charset="-122"/>
                  <a:ea typeface="微软雅黑" panose="020B0503020204020204" pitchFamily="34" charset="-122"/>
                </a:rPr>
                <a:t>管理程序</a:t>
              </a:r>
              <a:endParaRPr lang="zh-CN" altLang="en-US" sz="1400" b="1" dirty="0">
                <a:latin typeface="微软雅黑" panose="020B0503020204020204" pitchFamily="34" charset="-122"/>
                <a:ea typeface="微软雅黑" panose="020B0503020204020204" pitchFamily="34" charset="-122"/>
              </a:endParaRPr>
            </a:p>
          </p:txBody>
        </p:sp>
        <p:grpSp>
          <p:nvGrpSpPr>
            <p:cNvPr id="11" name="Group 8"/>
            <p:cNvGrpSpPr/>
            <p:nvPr/>
          </p:nvGrpSpPr>
          <p:grpSpPr bwMode="auto">
            <a:xfrm>
              <a:off x="2079045" y="3572038"/>
              <a:ext cx="1452049" cy="589912"/>
              <a:chOff x="818" y="2788"/>
              <a:chExt cx="1203" cy="870"/>
            </a:xfrm>
          </p:grpSpPr>
          <p:sp>
            <p:nvSpPr>
              <p:cNvPr id="29"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1"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sp>
          <p:nvSpPr>
            <p:cNvPr id="14" name="Line 20"/>
            <p:cNvSpPr>
              <a:spLocks noChangeShapeType="1"/>
            </p:cNvSpPr>
            <p:nvPr/>
          </p:nvSpPr>
          <p:spPr bwMode="auto">
            <a:xfrm>
              <a:off x="1835104" y="3351667"/>
              <a:ext cx="5543157" cy="0"/>
            </a:xfrm>
            <a:prstGeom prst="line">
              <a:avLst/>
            </a:prstGeom>
            <a:noFill/>
            <a:ln w="571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Line 21"/>
            <p:cNvSpPr>
              <a:spLocks noChangeShapeType="1"/>
            </p:cNvSpPr>
            <p:nvPr/>
          </p:nvSpPr>
          <p:spPr bwMode="auto">
            <a:xfrm flipH="1">
              <a:off x="2887011" y="2768536"/>
              <a:ext cx="1034520" cy="803500"/>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22"/>
            <p:cNvSpPr>
              <a:spLocks noChangeShapeType="1"/>
            </p:cNvSpPr>
            <p:nvPr/>
          </p:nvSpPr>
          <p:spPr bwMode="auto">
            <a:xfrm>
              <a:off x="4574625" y="2790912"/>
              <a:ext cx="226030" cy="775022"/>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23"/>
            <p:cNvSpPr>
              <a:spLocks noChangeShapeType="1"/>
            </p:cNvSpPr>
            <p:nvPr/>
          </p:nvSpPr>
          <p:spPr bwMode="auto">
            <a:xfrm>
              <a:off x="5146219" y="2751584"/>
              <a:ext cx="1387691" cy="808925"/>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Text Box 24"/>
            <p:cNvSpPr txBox="1">
              <a:spLocks noChangeArrowheads="1"/>
            </p:cNvSpPr>
            <p:nvPr/>
          </p:nvSpPr>
          <p:spPr bwMode="auto">
            <a:xfrm>
              <a:off x="2755539" y="2973988"/>
              <a:ext cx="720469" cy="277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200" b="1" dirty="0" smtClean="0">
                  <a:latin typeface="微软雅黑" panose="020B0503020204020204" pitchFamily="34" charset="-122"/>
                  <a:ea typeface="微软雅黑" panose="020B0503020204020204" pitchFamily="34" charset="-122"/>
                </a:rPr>
                <a:t>SNMP</a:t>
              </a:r>
              <a:endParaRPr lang="zh-CN" altLang="en-US" sz="1200" b="1" dirty="0">
                <a:latin typeface="微软雅黑" panose="020B0503020204020204" pitchFamily="34" charset="-122"/>
                <a:ea typeface="微软雅黑" panose="020B0503020204020204" pitchFamily="34" charset="-122"/>
              </a:endParaRPr>
            </a:p>
          </p:txBody>
        </p:sp>
        <p:sp>
          <p:nvSpPr>
            <p:cNvPr id="19" name="Line 25"/>
            <p:cNvSpPr>
              <a:spLocks noChangeShapeType="1"/>
            </p:cNvSpPr>
            <p:nvPr/>
          </p:nvSpPr>
          <p:spPr bwMode="auto">
            <a:xfrm>
              <a:off x="4511598" y="2898723"/>
              <a:ext cx="0" cy="45836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26"/>
            <p:cNvSpPr>
              <a:spLocks noChangeShapeType="1"/>
            </p:cNvSpPr>
            <p:nvPr/>
          </p:nvSpPr>
          <p:spPr bwMode="auto">
            <a:xfrm>
              <a:off x="2806596" y="3351667"/>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7"/>
            <p:cNvSpPr>
              <a:spLocks noChangeShapeType="1"/>
            </p:cNvSpPr>
            <p:nvPr/>
          </p:nvSpPr>
          <p:spPr bwMode="auto">
            <a:xfrm>
              <a:off x="4875636" y="3346920"/>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8"/>
            <p:cNvSpPr>
              <a:spLocks noChangeShapeType="1"/>
            </p:cNvSpPr>
            <p:nvPr/>
          </p:nvSpPr>
          <p:spPr bwMode="auto">
            <a:xfrm>
              <a:off x="6599111" y="3353023"/>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 name="Group 8"/>
            <p:cNvGrpSpPr/>
            <p:nvPr/>
          </p:nvGrpSpPr>
          <p:grpSpPr bwMode="auto">
            <a:xfrm>
              <a:off x="4162395" y="3572038"/>
              <a:ext cx="1452049" cy="589912"/>
              <a:chOff x="818" y="2788"/>
              <a:chExt cx="1203" cy="870"/>
            </a:xfrm>
          </p:grpSpPr>
          <p:sp>
            <p:nvSpPr>
              <p:cNvPr id="42"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4"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grpSp>
          <p:nvGrpSpPr>
            <p:cNvPr id="45" name="Group 8"/>
            <p:cNvGrpSpPr/>
            <p:nvPr/>
          </p:nvGrpSpPr>
          <p:grpSpPr bwMode="auto">
            <a:xfrm>
              <a:off x="5873086" y="3572038"/>
              <a:ext cx="1452049" cy="589912"/>
              <a:chOff x="818" y="2788"/>
              <a:chExt cx="1203" cy="870"/>
            </a:xfrm>
          </p:grpSpPr>
          <p:sp>
            <p:nvSpPr>
              <p:cNvPr id="46"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8"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0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99536" y="573748"/>
            <a:ext cx="37449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6.7.2   </a:t>
            </a:r>
            <a:r>
              <a:rPr lang="zh-CN" altLang="en-US" sz="2400" b="1" dirty="0">
                <a:solidFill>
                  <a:schemeClr val="bg1"/>
                </a:solidFill>
                <a:latin typeface="微软雅黑" panose="020B0503020204020204" pitchFamily="34" charset="-122"/>
                <a:ea typeface="微软雅黑" panose="020B0503020204020204" pitchFamily="34" charset="-122"/>
              </a:rPr>
              <a:t>管理信息结构 </a:t>
            </a:r>
            <a:r>
              <a:rPr lang="en-US" altLang="zh-CN" sz="2400" b="1" dirty="0" smtClean="0">
                <a:solidFill>
                  <a:schemeClr val="bg1"/>
                </a:solidFill>
                <a:latin typeface="微软雅黑" panose="020B0503020204020204" pitchFamily="34" charset="-122"/>
                <a:ea typeface="微软雅黑" panose="020B0503020204020204" pitchFamily="34" charset="-122"/>
              </a:rPr>
              <a:t>SMI</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1001359"/>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的功能：</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被</a:t>
            </a:r>
            <a:r>
              <a:rPr lang="zh-CN" altLang="en-US" sz="2000" b="1" dirty="0">
                <a:latin typeface="微软雅黑" panose="020B0503020204020204" pitchFamily="34" charset="-122"/>
                <a:ea typeface="微软雅黑" panose="020B0503020204020204" pitchFamily="34" charset="-122"/>
              </a:rPr>
              <a:t>管对象应怎样命名；</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用来</a:t>
            </a:r>
            <a:r>
              <a:rPr lang="zh-CN" altLang="en-US" sz="2000" b="1" dirty="0">
                <a:latin typeface="微软雅黑" panose="020B0503020204020204" pitchFamily="34" charset="-122"/>
                <a:ea typeface="微软雅黑" panose="020B0503020204020204" pitchFamily="34" charset="-122"/>
              </a:rPr>
              <a:t>存储被管对象的数据类型有哪些种；</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网络上传送的管理数据应如何编码。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规定：所有</a:t>
            </a:r>
            <a:r>
              <a:rPr lang="zh-CN" altLang="en-US" sz="2000" b="1" dirty="0">
                <a:solidFill>
                  <a:schemeClr val="bg1"/>
                </a:solidFill>
                <a:latin typeface="微软雅黑" panose="020B0503020204020204" pitchFamily="34" charset="-122"/>
                <a:ea typeface="微软雅黑" panose="020B0503020204020204" pitchFamily="34" charset="-122"/>
              </a:rPr>
              <a:t>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smtClean="0">
                <a:solidFill>
                  <a:schemeClr val="bg1"/>
                </a:solidFill>
                <a:latin typeface="微软雅黑" panose="020B0503020204020204" pitchFamily="34" charset="-122"/>
                <a:ea typeface="微软雅黑" panose="020B0503020204020204" pitchFamily="34" charset="-122"/>
              </a:rPr>
              <a:t>上</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1070847"/>
            <a:ext cx="7020910" cy="489206"/>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规定：所有被管对象必须在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a:solidFill>
                  <a:schemeClr val="bg1"/>
                </a:solidFill>
                <a:latin typeface="微软雅黑" panose="020B0503020204020204" pitchFamily="34" charset="-122"/>
                <a:ea typeface="微软雅黑" panose="020B0503020204020204" pitchFamily="34" charset="-122"/>
              </a:rPr>
              <a:t>上</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1554307"/>
            <a:ext cx="7020910" cy="76411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规定：所有被管对象必须在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a:solidFill>
                  <a:schemeClr val="bg1"/>
                </a:solidFill>
                <a:latin typeface="微软雅黑" panose="020B0503020204020204" pitchFamily="34" charset="-122"/>
                <a:ea typeface="微软雅黑" panose="020B0503020204020204" pitchFamily="34" charset="-122"/>
              </a:rPr>
              <a:t>上</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98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66307" y="576769"/>
            <a:ext cx="2230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smtClean="0">
                <a:solidFill>
                  <a:schemeClr val="bg1"/>
                </a:solidFill>
                <a:latin typeface="微软雅黑" panose="020B0503020204020204" pitchFamily="34" charset="-122"/>
                <a:ea typeface="微软雅黑" panose="020B0503020204020204" pitchFamily="34" charset="-122"/>
              </a:rPr>
              <a:t>ASN.1</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1" y="971070"/>
            <a:ext cx="8121928"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标准</a:t>
            </a:r>
            <a:r>
              <a:rPr lang="zh-CN" altLang="en-US" sz="2000" b="1" dirty="0" smtClean="0">
                <a:latin typeface="微软雅黑" panose="020B0503020204020204" pitchFamily="34" charset="-122"/>
                <a:ea typeface="微软雅黑" panose="020B0503020204020204" pitchFamily="34" charset="-122"/>
              </a:rPr>
              <a:t>指明：所有</a:t>
            </a:r>
            <a:r>
              <a:rPr lang="zh-CN" altLang="en-US" sz="2000" b="1" dirty="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MIB </a:t>
            </a:r>
            <a:r>
              <a:rPr lang="zh-CN" altLang="en-US" sz="2000" b="1" dirty="0" smtClean="0">
                <a:latin typeface="微软雅黑" panose="020B0503020204020204" pitchFamily="34" charset="-122"/>
                <a:ea typeface="微软雅黑" panose="020B0503020204020204" pitchFamily="34" charset="-122"/>
              </a:rPr>
              <a:t>变量</a:t>
            </a:r>
            <a:r>
              <a:rPr lang="zh-CN" altLang="en-US" sz="2000" b="1" dirty="0">
                <a:latin typeface="微软雅黑" panose="020B0503020204020204" pitchFamily="34" charset="-122"/>
                <a:ea typeface="微软雅黑" panose="020B0503020204020204" pitchFamily="34" charset="-122"/>
              </a:rPr>
              <a:t>必须使用</a:t>
            </a:r>
            <a:r>
              <a:rPr lang="zh-CN" altLang="en-US" sz="2000" b="1" dirty="0">
                <a:solidFill>
                  <a:srgbClr val="C00000"/>
                </a:solidFill>
                <a:latin typeface="微软雅黑" panose="020B0503020204020204" pitchFamily="34" charset="-122"/>
                <a:ea typeface="微软雅黑" panose="020B0503020204020204" pitchFamily="34" charset="-122"/>
              </a:rPr>
              <a:t>抽象语法记法 </a:t>
            </a:r>
            <a:r>
              <a:rPr lang="en-US" altLang="zh-CN" sz="2000" b="1" dirty="0" smtClean="0">
                <a:solidFill>
                  <a:srgbClr val="C00000"/>
                </a:solidFill>
                <a:latin typeface="微软雅黑" panose="020B0503020204020204" pitchFamily="34" charset="-122"/>
                <a:ea typeface="微软雅黑" panose="020B0503020204020204" pitchFamily="34" charset="-122"/>
              </a:rPr>
              <a:t>1 </a:t>
            </a:r>
            <a:r>
              <a:rPr lang="en-US" altLang="zh-CN" sz="2000" b="1" dirty="0">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ASN.1</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来定义。</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既是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的子集，又是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的超集。 </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的记法很严格</a:t>
            </a:r>
            <a:r>
              <a:rPr lang="zh-CN" altLang="en-US" sz="2000" b="1" dirty="0" smtClean="0">
                <a:latin typeface="微软雅黑" panose="020B0503020204020204" pitchFamily="34" charset="-122"/>
                <a:ea typeface="微软雅黑" panose="020B0503020204020204" pitchFamily="34" charset="-122"/>
              </a:rPr>
              <a:t>，使得</a:t>
            </a:r>
            <a:r>
              <a:rPr lang="zh-CN" altLang="en-US" sz="2000" b="1" dirty="0">
                <a:latin typeface="微软雅黑" panose="020B0503020204020204" pitchFamily="34" charset="-122"/>
                <a:ea typeface="微软雅黑" panose="020B0503020204020204" pitchFamily="34" charset="-122"/>
              </a:rPr>
              <a:t>数据的含义</a:t>
            </a:r>
            <a:r>
              <a:rPr lang="zh-CN" altLang="en-US" sz="2000" b="1" dirty="0">
                <a:solidFill>
                  <a:srgbClr val="C00000"/>
                </a:solidFill>
                <a:latin typeface="微软雅黑" panose="020B0503020204020204" pitchFamily="34" charset="-122"/>
                <a:ea typeface="微软雅黑" panose="020B0503020204020204" pitchFamily="34" charset="-122"/>
              </a:rPr>
              <a:t>不存在</a:t>
            </a:r>
            <a:r>
              <a:rPr lang="zh-CN" altLang="en-US" sz="2000" b="1" dirty="0">
                <a:latin typeface="微软雅黑" panose="020B0503020204020204" pitchFamily="34" charset="-122"/>
                <a:ea typeface="微软雅黑" panose="020B0503020204020204" pitchFamily="34" charset="-122"/>
              </a:rPr>
              <a:t>任何可能的</a:t>
            </a:r>
            <a:r>
              <a:rPr lang="zh-CN" altLang="en-US" sz="2000" b="1" dirty="0">
                <a:solidFill>
                  <a:srgbClr val="C00000"/>
                </a:solidFill>
                <a:latin typeface="微软雅黑" panose="020B0503020204020204" pitchFamily="34" charset="-122"/>
                <a:ea typeface="微软雅黑" panose="020B0503020204020204" pitchFamily="34" charset="-122"/>
              </a:rPr>
              <a:t>二义性</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32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85117" y="578112"/>
            <a:ext cx="17924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数据类型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2446042"/>
            <a:ext cx="803070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0000FF"/>
                </a:solidFill>
                <a:latin typeface="微软雅黑" panose="020B0503020204020204" pitchFamily="34" charset="-122"/>
                <a:ea typeface="微软雅黑" panose="020B0503020204020204" pitchFamily="34" charset="-122"/>
              </a:rPr>
              <a:t>SMI </a:t>
            </a:r>
            <a:r>
              <a:rPr lang="zh-CN" altLang="en-US" sz="2000" b="1" dirty="0">
                <a:solidFill>
                  <a:srgbClr val="0000FF"/>
                </a:solidFill>
                <a:latin typeface="微软雅黑" panose="020B0503020204020204" pitchFamily="34" charset="-122"/>
                <a:ea typeface="微软雅黑" panose="020B0503020204020204" pitchFamily="34" charset="-122"/>
              </a:rPr>
              <a:t>把数据类型分为两大类</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简单类型</a:t>
            </a:r>
            <a:endParaRPr lang="en-US" altLang="zh-CN" sz="2000" b="1" dirty="0" smtClean="0">
              <a:latin typeface="微软雅黑" panose="020B0503020204020204" pitchFamily="34" charset="-122"/>
              <a:ea typeface="微软雅黑" panose="020B0503020204020204"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结构化</a:t>
            </a:r>
            <a:r>
              <a:rPr lang="zh-CN" altLang="en-US" sz="2000" b="1" dirty="0">
                <a:latin typeface="微软雅黑" panose="020B0503020204020204" pitchFamily="34" charset="-122"/>
                <a:ea typeface="微软雅黑" panose="020B0503020204020204" pitchFamily="34" charset="-122"/>
              </a:rPr>
              <a:t>类型。 </a:t>
            </a:r>
            <a:endParaRPr lang="zh-CN" altLang="en-US" sz="2000" b="1" dirty="0">
              <a:latin typeface="微软雅黑" panose="020B0503020204020204" pitchFamily="34" charset="-122"/>
              <a:ea typeface="微软雅黑" panose="020B0503020204020204" pitchFamily="34" charset="-122"/>
            </a:endParaRPr>
          </a:p>
        </p:txBody>
      </p:sp>
      <p:grpSp>
        <p:nvGrpSpPr>
          <p:cNvPr id="9" name="组合 8"/>
          <p:cNvGrpSpPr/>
          <p:nvPr/>
        </p:nvGrpSpPr>
        <p:grpSpPr>
          <a:xfrm>
            <a:off x="2356587" y="1107030"/>
            <a:ext cx="4453041" cy="1223067"/>
            <a:chOff x="1124801" y="2309534"/>
            <a:chExt cx="4581132" cy="1223067"/>
          </a:xfrm>
        </p:grpSpPr>
        <p:sp>
          <p:nvSpPr>
            <p:cNvPr id="5" name="Text Box 4"/>
            <p:cNvSpPr txBox="1">
              <a:spLocks noChangeArrowheads="1"/>
            </p:cNvSpPr>
            <p:nvPr/>
          </p:nvSpPr>
          <p:spPr bwMode="auto">
            <a:xfrm>
              <a:off x="1124801" y="271448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2000" b="1" dirty="0" smtClean="0">
                  <a:latin typeface="微软雅黑" panose="020B0503020204020204" pitchFamily="34" charset="-122"/>
                  <a:ea typeface="微软雅黑" panose="020B0503020204020204" pitchFamily="34" charset="-122"/>
                </a:rPr>
                <a:t>数据</a:t>
              </a:r>
              <a:endParaRPr lang="zh-CN" altLang="en-US" sz="2000" b="1" dirty="0">
                <a:latin typeface="微软雅黑" panose="020B0503020204020204" pitchFamily="34" charset="-122"/>
                <a:ea typeface="微软雅黑" panose="020B0503020204020204" pitchFamily="34" charset="-122"/>
              </a:endParaRPr>
            </a:p>
          </p:txBody>
        </p:sp>
        <p:sp>
          <p:nvSpPr>
            <p:cNvPr id="6" name="Text Box 4"/>
            <p:cNvSpPr txBox="1">
              <a:spLocks noChangeArrowheads="1"/>
            </p:cNvSpPr>
            <p:nvPr/>
          </p:nvSpPr>
          <p:spPr bwMode="auto">
            <a:xfrm>
              <a:off x="2039196" y="2309534"/>
              <a:ext cx="26588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2000" b="1" dirty="0">
                  <a:solidFill>
                    <a:srgbClr val="C00000"/>
                  </a:solidFill>
                  <a:latin typeface="微软雅黑" panose="020B0503020204020204" pitchFamily="34" charset="-122"/>
                  <a:ea typeface="微软雅黑" panose="020B0503020204020204" pitchFamily="34" charset="-122"/>
                </a:rPr>
                <a:t>类型：</a:t>
              </a:r>
              <a:r>
                <a:rPr lang="zh-CN" altLang="en-US" sz="2000" b="1" dirty="0">
                  <a:latin typeface="微软雅黑" panose="020B0503020204020204" pitchFamily="34" charset="-122"/>
                  <a:ea typeface="微软雅黑" panose="020B0503020204020204" pitchFamily="34" charset="-122"/>
                </a:rPr>
                <a:t>值集合的名字</a:t>
              </a:r>
              <a:endParaRPr lang="zh-CN" altLang="en-US" sz="2000" b="1" dirty="0">
                <a:latin typeface="微软雅黑" panose="020B0503020204020204" pitchFamily="34" charset="-122"/>
                <a:ea typeface="微软雅黑" panose="020B0503020204020204" pitchFamily="34" charset="-122"/>
              </a:endParaRPr>
            </a:p>
          </p:txBody>
        </p:sp>
        <p:sp>
          <p:nvSpPr>
            <p:cNvPr id="7" name="Text Box 4"/>
            <p:cNvSpPr txBox="1">
              <a:spLocks noChangeArrowheads="1"/>
            </p:cNvSpPr>
            <p:nvPr/>
          </p:nvSpPr>
          <p:spPr bwMode="auto">
            <a:xfrm>
              <a:off x="2039196" y="3132491"/>
              <a:ext cx="36667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某个值集合中的一个元素</a:t>
              </a:r>
              <a:endParaRPr lang="zh-CN" altLang="en-US" sz="2000" b="1" dirty="0">
                <a:latin typeface="微软雅黑" panose="020B0503020204020204" pitchFamily="34" charset="-122"/>
                <a:ea typeface="微软雅黑" panose="020B0503020204020204" pitchFamily="34" charset="-122"/>
              </a:endParaRPr>
            </a:p>
          </p:txBody>
        </p:sp>
        <p:sp>
          <p:nvSpPr>
            <p:cNvPr id="8" name="左大括号 7"/>
            <p:cNvSpPr/>
            <p:nvPr/>
          </p:nvSpPr>
          <p:spPr>
            <a:xfrm>
              <a:off x="1831347" y="2509589"/>
              <a:ext cx="184373" cy="822957"/>
            </a:xfrm>
            <a:prstGeom prst="leftBrace">
              <a:avLst>
                <a:gd name="adj1" fmla="val 27688"/>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2764" y="582835"/>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ASN.1 </a:t>
            </a:r>
            <a:r>
              <a:rPr lang="zh-CN" altLang="en-US" sz="2000" b="1" dirty="0" smtClean="0">
                <a:solidFill>
                  <a:schemeClr val="bg1"/>
                </a:solidFill>
                <a:latin typeface="微软雅黑" panose="020B0503020204020204" pitchFamily="34" charset="-122"/>
                <a:ea typeface="微软雅黑" panose="020B0503020204020204" pitchFamily="34" charset="-122"/>
              </a:rPr>
              <a:t>部分</a:t>
            </a:r>
            <a:r>
              <a:rPr lang="zh-CN" altLang="en-US" sz="2000" b="1" dirty="0">
                <a:solidFill>
                  <a:schemeClr val="bg1"/>
                </a:solidFill>
                <a:latin typeface="微软雅黑" panose="020B0503020204020204" pitchFamily="34" charset="-122"/>
                <a:ea typeface="微软雅黑" panose="020B0503020204020204" pitchFamily="34" charset="-122"/>
              </a:rPr>
              <a:t>数据类型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Group 4"/>
          <p:cNvGraphicFramePr/>
          <p:nvPr/>
        </p:nvGraphicFramePr>
        <p:xfrm>
          <a:off x="556963" y="1039842"/>
          <a:ext cx="8048775" cy="3116772"/>
        </p:xfrm>
        <a:graphic>
          <a:graphicData uri="http://schemas.openxmlformats.org/drawingml/2006/table">
            <a:tbl>
              <a:tblPr firstRow="1" bandRow="1">
                <a:tableStyleId>{7DF18680-E054-41AD-8BC1-D1AEF772440D}</a:tableStyleId>
              </a:tblPr>
              <a:tblGrid>
                <a:gridCol w="986078"/>
                <a:gridCol w="2835764"/>
                <a:gridCol w="4226933"/>
              </a:tblGrid>
              <a:tr h="326739">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分类</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数据类型名称</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含义</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r>
              <a:tr h="297036">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简单类型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CCFF"/>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INTEGER</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任意长度整数</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BIT STRING</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0 </a:t>
                      </a: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位或多位组成的二进制串</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OCTET STRING</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0 </a:t>
                      </a: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位或多位组成的字节串</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NULL</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空值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343092">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OBJECT IDENTIFIER</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定义的数据类型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结构化类型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SEQUENCE</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由多个数据类型按序组成的值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SEQUENCE OF</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由同一数据类型按序组成的值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CHOICE</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可以从多个数据类型中选择一个</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ANY</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任何数据类型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2569" y="579789"/>
            <a:ext cx="2377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基本编码规则 </a:t>
            </a:r>
            <a:r>
              <a:rPr lang="en-US" altLang="zh-CN" sz="2000" b="1" dirty="0" smtClean="0">
                <a:solidFill>
                  <a:schemeClr val="bg1"/>
                </a:solidFill>
                <a:latin typeface="微软雅黑" panose="020B0503020204020204" pitchFamily="34" charset="-122"/>
                <a:ea typeface="微软雅黑" panose="020B0503020204020204" pitchFamily="34" charset="-122"/>
              </a:rPr>
              <a:t>BER</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4090"/>
            <a:ext cx="8257854"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ISO </a:t>
            </a:r>
            <a:r>
              <a:rPr lang="zh-CN" altLang="en-US" sz="2000" b="1" dirty="0">
                <a:latin typeface="微软雅黑" panose="020B0503020204020204" pitchFamily="34" charset="-122"/>
                <a:ea typeface="微软雅黑" panose="020B0503020204020204" pitchFamily="34" charset="-122"/>
              </a:rPr>
              <a:t>在制订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语言的同时也为它定义了一种标准的编码方案，即</a:t>
            </a:r>
            <a:r>
              <a:rPr lang="zh-CN" altLang="en-US" sz="2000" b="1" dirty="0">
                <a:solidFill>
                  <a:srgbClr val="C00000"/>
                </a:solidFill>
                <a:latin typeface="微软雅黑" panose="020B0503020204020204" pitchFamily="34" charset="-122"/>
                <a:ea typeface="微软雅黑" panose="020B0503020204020204" pitchFamily="34" charset="-122"/>
              </a:rPr>
              <a:t>基本编码规则 </a:t>
            </a:r>
            <a:r>
              <a:rPr lang="en-US" altLang="zh-CN" sz="2000" b="1" dirty="0">
                <a:solidFill>
                  <a:srgbClr val="C00000"/>
                </a:solidFill>
                <a:latin typeface="微软雅黑" panose="020B0503020204020204" pitchFamily="34" charset="-122"/>
                <a:ea typeface="微软雅黑" panose="020B0503020204020204" pitchFamily="34" charset="-122"/>
              </a:rPr>
              <a:t>BER </a:t>
            </a:r>
            <a:r>
              <a:rPr lang="en-US" altLang="zh-CN" sz="2000" b="1" dirty="0">
                <a:latin typeface="微软雅黑" panose="020B0503020204020204" pitchFamily="34" charset="-122"/>
                <a:ea typeface="微软雅黑" panose="020B0503020204020204" pitchFamily="34" charset="-122"/>
              </a:rPr>
              <a:t>(Basic Encoding Rule)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BER </a:t>
            </a:r>
            <a:r>
              <a:rPr lang="zh-CN" altLang="en-US" sz="2000" b="1" dirty="0">
                <a:solidFill>
                  <a:srgbClr val="0000FF"/>
                </a:solidFill>
                <a:latin typeface="微软雅黑" panose="020B0503020204020204" pitchFamily="34" charset="-122"/>
                <a:ea typeface="微软雅黑" panose="020B0503020204020204" pitchFamily="34" charset="-122"/>
              </a:rPr>
              <a:t>指明了每种数据类型中每个数据的值的表示。</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SMI </a:t>
            </a:r>
            <a:r>
              <a:rPr lang="zh-CN" altLang="en-US" sz="2000" b="1" dirty="0" smtClean="0">
                <a:solidFill>
                  <a:srgbClr val="C00000"/>
                </a:solidFill>
                <a:latin typeface="微软雅黑" panose="020B0503020204020204" pitchFamily="34" charset="-122"/>
                <a:ea typeface="微软雅黑" panose="020B0503020204020204" pitchFamily="34" charset="-122"/>
              </a:rPr>
              <a:t>使用 </a:t>
            </a:r>
            <a:r>
              <a:rPr lang="en-US" altLang="zh-CN" sz="2000" b="1" dirty="0" smtClean="0">
                <a:solidFill>
                  <a:srgbClr val="C00000"/>
                </a:solidFill>
                <a:latin typeface="微软雅黑" panose="020B0503020204020204" pitchFamily="34" charset="-122"/>
                <a:ea typeface="微软雅黑" panose="020B0503020204020204" pitchFamily="34" charset="-122"/>
              </a:rPr>
              <a:t>ASN.1 </a:t>
            </a:r>
            <a:r>
              <a:rPr lang="zh-CN" altLang="en-US" sz="2000" b="1" dirty="0" smtClean="0">
                <a:solidFill>
                  <a:srgbClr val="C00000"/>
                </a:solidFill>
                <a:latin typeface="微软雅黑" panose="020B0503020204020204" pitchFamily="34" charset="-122"/>
                <a:ea typeface="微软雅黑" panose="020B0503020204020204" pitchFamily="34" charset="-122"/>
              </a:rPr>
              <a:t>制定的 </a:t>
            </a:r>
            <a:r>
              <a:rPr lang="en-US" altLang="zh-CN" sz="2000" b="1" dirty="0" smtClean="0">
                <a:solidFill>
                  <a:srgbClr val="C00000"/>
                </a:solidFill>
                <a:latin typeface="微软雅黑" panose="020B0503020204020204" pitchFamily="34" charset="-122"/>
                <a:ea typeface="微软雅黑" panose="020B0503020204020204" pitchFamily="34" charset="-122"/>
              </a:rPr>
              <a:t>BER </a:t>
            </a:r>
            <a:r>
              <a:rPr lang="zh-CN" altLang="en-US" sz="2000" b="1" dirty="0" smtClean="0">
                <a:solidFill>
                  <a:srgbClr val="C00000"/>
                </a:solidFill>
                <a:latin typeface="微软雅黑" panose="020B0503020204020204" pitchFamily="34" charset="-122"/>
                <a:ea typeface="微软雅黑" panose="020B0503020204020204" pitchFamily="34" charset="-122"/>
              </a:rPr>
              <a:t>进行</a:t>
            </a:r>
            <a:r>
              <a:rPr lang="zh-CN" altLang="en-US" sz="2000" b="1" dirty="0">
                <a:solidFill>
                  <a:srgbClr val="C00000"/>
                </a:solidFill>
                <a:latin typeface="微软雅黑" panose="020B0503020204020204" pitchFamily="34" charset="-122"/>
                <a:ea typeface="微软雅黑" panose="020B0503020204020204" pitchFamily="34" charset="-122"/>
              </a:rPr>
              <a:t>数据的编码。</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发送</a:t>
            </a:r>
            <a:r>
              <a:rPr lang="zh-CN" altLang="en-US" sz="2000" b="1" dirty="0">
                <a:latin typeface="微软雅黑" panose="020B0503020204020204" pitchFamily="34" charset="-122"/>
                <a:ea typeface="微软雅黑" panose="020B0503020204020204" pitchFamily="34" charset="-122"/>
              </a:rPr>
              <a:t>端用 </a:t>
            </a:r>
            <a:r>
              <a:rPr lang="en-US" altLang="zh-CN" sz="2000" b="1" dirty="0">
                <a:latin typeface="微软雅黑" panose="020B0503020204020204" pitchFamily="34" charset="-122"/>
                <a:ea typeface="微软雅黑" panose="020B0503020204020204" pitchFamily="34" charset="-122"/>
              </a:rPr>
              <a:t>BER </a:t>
            </a:r>
            <a:r>
              <a:rPr lang="zh-CN" altLang="en-US" sz="2000" b="1" dirty="0">
                <a:solidFill>
                  <a:srgbClr val="C00000"/>
                </a:solidFill>
                <a:latin typeface="微软雅黑" panose="020B0503020204020204" pitchFamily="34" charset="-122"/>
                <a:ea typeface="微软雅黑" panose="020B0503020204020204" pitchFamily="34" charset="-122"/>
              </a:rPr>
              <a:t>编码，</a:t>
            </a:r>
            <a:r>
              <a:rPr lang="zh-CN" altLang="en-US" sz="2000" b="1" dirty="0">
                <a:latin typeface="微软雅黑" panose="020B0503020204020204" pitchFamily="34" charset="-122"/>
                <a:ea typeface="微软雅黑" panose="020B0503020204020204" pitchFamily="34" charset="-122"/>
              </a:rPr>
              <a:t>可将用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所表述的报文转换成</a:t>
            </a:r>
            <a:r>
              <a:rPr lang="zh-CN" altLang="en-US" sz="2000" b="1" dirty="0">
                <a:solidFill>
                  <a:srgbClr val="C00000"/>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的比特序列</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接收</a:t>
            </a:r>
            <a:r>
              <a:rPr lang="zh-CN" altLang="en-US" sz="2000" b="1" dirty="0">
                <a:latin typeface="微软雅黑" panose="020B0503020204020204" pitchFamily="34" charset="-122"/>
                <a:ea typeface="微软雅黑" panose="020B0503020204020204" pitchFamily="34" charset="-122"/>
              </a:rPr>
              <a:t>端用 </a:t>
            </a:r>
            <a:r>
              <a:rPr lang="en-US" altLang="zh-CN" sz="2000" b="1" dirty="0">
                <a:latin typeface="微软雅黑" panose="020B0503020204020204" pitchFamily="34" charset="-122"/>
                <a:ea typeface="微软雅黑" panose="020B0503020204020204" pitchFamily="34" charset="-122"/>
              </a:rPr>
              <a:t>BER </a:t>
            </a:r>
            <a:r>
              <a:rPr lang="zh-CN" altLang="en-US" sz="2000" b="1" dirty="0">
                <a:latin typeface="微软雅黑" panose="020B0503020204020204" pitchFamily="34" charset="-122"/>
                <a:ea typeface="微软雅黑" panose="020B0503020204020204" pitchFamily="34" charset="-122"/>
              </a:rPr>
              <a:t>进行</a:t>
            </a:r>
            <a:r>
              <a:rPr lang="zh-CN" altLang="en-US" sz="2000" b="1" dirty="0">
                <a:solidFill>
                  <a:srgbClr val="C00000"/>
                </a:solidFill>
                <a:latin typeface="微软雅黑" panose="020B0503020204020204" pitchFamily="34" charset="-122"/>
                <a:ea typeface="微软雅黑" panose="020B0503020204020204" pitchFamily="34" charset="-122"/>
              </a:rPr>
              <a:t>解码，</a:t>
            </a:r>
            <a:r>
              <a:rPr lang="zh-CN" altLang="en-US" sz="2000" b="1" dirty="0">
                <a:latin typeface="微软雅黑" panose="020B0503020204020204" pitchFamily="34" charset="-122"/>
                <a:ea typeface="微软雅黑" panose="020B0503020204020204" pitchFamily="34" charset="-122"/>
              </a:rPr>
              <a:t>得到该比特序列所表示的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报文。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77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295" y="578563"/>
            <a:ext cx="2602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用 </a:t>
            </a:r>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方法进行编码</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32834"/>
            <a:ext cx="8048776" cy="30185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38"/>
          <p:cNvSpPr>
            <a:spLocks noChangeArrowheads="1"/>
          </p:cNvSpPr>
          <p:nvPr/>
        </p:nvSpPr>
        <p:spPr bwMode="auto">
          <a:xfrm>
            <a:off x="2298313" y="1488726"/>
            <a:ext cx="5820252" cy="432357"/>
          </a:xfrm>
          <a:prstGeom prst="rect">
            <a:avLst/>
          </a:prstGeom>
          <a:solidFill>
            <a:srgbClr val="00FFCC"/>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 name="Line 39"/>
          <p:cNvSpPr>
            <a:spLocks noChangeShapeType="1"/>
          </p:cNvSpPr>
          <p:nvPr/>
        </p:nvSpPr>
        <p:spPr bwMode="auto">
          <a:xfrm>
            <a:off x="3580875" y="1501789"/>
            <a:ext cx="0" cy="43235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41"/>
          <p:cNvSpPr>
            <a:spLocks noChangeShapeType="1"/>
          </p:cNvSpPr>
          <p:nvPr/>
        </p:nvSpPr>
        <p:spPr bwMode="auto">
          <a:xfrm>
            <a:off x="4764415" y="1488726"/>
            <a:ext cx="0" cy="43235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Text Box 42"/>
          <p:cNvSpPr txBox="1">
            <a:spLocks noChangeArrowheads="1"/>
          </p:cNvSpPr>
          <p:nvPr/>
        </p:nvSpPr>
        <p:spPr bwMode="auto">
          <a:xfrm>
            <a:off x="2528218" y="1520238"/>
            <a:ext cx="39116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latin typeface="微软雅黑" panose="020B0503020204020204" pitchFamily="34" charset="-122"/>
                <a:ea typeface="微软雅黑" panose="020B0503020204020204" pitchFamily="34" charset="-122"/>
              </a:rPr>
              <a:t>标记 </a:t>
            </a:r>
            <a:r>
              <a:rPr lang="en-US" altLang="zh-CN" sz="1800" b="1" dirty="0">
                <a:latin typeface="微软雅黑" panose="020B0503020204020204" pitchFamily="34" charset="-122"/>
                <a:ea typeface="微软雅黑" panose="020B0503020204020204" pitchFamily="34" charset="-122"/>
              </a:rPr>
              <a:t>T  </a:t>
            </a:r>
            <a:r>
              <a:rPr lang="en-US" altLang="zh-CN" sz="1800" b="1" dirty="0" smtClean="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长度 </a:t>
            </a:r>
            <a:r>
              <a:rPr lang="en-US" altLang="zh-CN" sz="1800" b="1" dirty="0">
                <a:latin typeface="微软雅黑" panose="020B0503020204020204" pitchFamily="34" charset="-122"/>
                <a:ea typeface="微软雅黑" panose="020B0503020204020204" pitchFamily="34" charset="-122"/>
              </a:rPr>
              <a:t>L                   </a:t>
            </a:r>
            <a:r>
              <a:rPr lang="zh-CN" altLang="en-US" sz="1800" b="1" dirty="0">
                <a:latin typeface="微软雅黑" panose="020B0503020204020204" pitchFamily="34" charset="-122"/>
                <a:ea typeface="微软雅黑" panose="020B0503020204020204" pitchFamily="34" charset="-122"/>
              </a:rPr>
              <a:t>值 </a:t>
            </a:r>
            <a:r>
              <a:rPr lang="en-US" altLang="zh-CN" sz="1800" b="1" dirty="0">
                <a:latin typeface="微软雅黑" panose="020B0503020204020204" pitchFamily="34" charset="-122"/>
                <a:ea typeface="微软雅黑" panose="020B0503020204020204" pitchFamily="34" charset="-122"/>
              </a:rPr>
              <a:t>V</a:t>
            </a:r>
            <a:endParaRPr lang="en-US" altLang="zh-CN" sz="18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1156764" y="1543868"/>
            <a:ext cx="1306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数据元素</a:t>
            </a:r>
            <a:endParaRPr lang="zh-CN" altLang="en-US" sz="1600" b="1" dirty="0">
              <a:latin typeface="微软雅黑" panose="020B0503020204020204" pitchFamily="34" charset="-122"/>
              <a:ea typeface="微软雅黑" panose="020B0503020204020204" pitchFamily="34" charset="-122"/>
            </a:endParaRPr>
          </a:p>
        </p:txBody>
      </p:sp>
      <p:sp>
        <p:nvSpPr>
          <p:cNvPr id="20" name="矩形 19"/>
          <p:cNvSpPr/>
          <p:nvPr/>
        </p:nvSpPr>
        <p:spPr>
          <a:xfrm>
            <a:off x="5785787" y="2213950"/>
            <a:ext cx="1569660"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定义数据的值</a:t>
            </a:r>
            <a:endParaRPr lang="zh-CN" altLang="en-US" b="1" dirty="0">
              <a:latin typeface="微软雅黑" panose="020B0503020204020204" pitchFamily="34" charset="-122"/>
              <a:ea typeface="微软雅黑" panose="020B0503020204020204" pitchFamily="34" charset="-122"/>
            </a:endParaRPr>
          </a:p>
        </p:txBody>
      </p:sp>
      <p:grpSp>
        <p:nvGrpSpPr>
          <p:cNvPr id="26" name="组合 25"/>
          <p:cNvGrpSpPr/>
          <p:nvPr/>
        </p:nvGrpSpPr>
        <p:grpSpPr>
          <a:xfrm>
            <a:off x="5208439" y="1817107"/>
            <a:ext cx="577348" cy="581509"/>
            <a:chOff x="5208439" y="1841345"/>
            <a:chExt cx="577348" cy="581509"/>
          </a:xfrm>
        </p:grpSpPr>
        <p:cxnSp>
          <p:nvCxnSpPr>
            <p:cNvPr id="22" name="直接连接符 2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组合 26"/>
          <p:cNvGrpSpPr/>
          <p:nvPr/>
        </p:nvGrpSpPr>
        <p:grpSpPr>
          <a:xfrm>
            <a:off x="3759386" y="1817107"/>
            <a:ext cx="577348" cy="1017636"/>
            <a:chOff x="5208439" y="1841345"/>
            <a:chExt cx="577348" cy="581509"/>
          </a:xfrm>
        </p:grpSpPr>
        <p:cxnSp>
          <p:nvCxnSpPr>
            <p:cNvPr id="28" name="直接连接符 27"/>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矩形 29"/>
          <p:cNvSpPr/>
          <p:nvPr/>
        </p:nvSpPr>
        <p:spPr>
          <a:xfrm>
            <a:off x="4317078" y="2638797"/>
            <a:ext cx="2103461" cy="369332"/>
          </a:xfrm>
          <a:prstGeom prst="rect">
            <a:avLst/>
          </a:prstGeom>
        </p:spPr>
        <p:txBody>
          <a:bodyPr wrap="none">
            <a:spAutoFit/>
          </a:bodyPr>
          <a:lstStyle/>
          <a:p>
            <a:r>
              <a:rPr lang="zh-CN" altLang="en-US" b="1" dirty="0" smtClean="0">
                <a:latin typeface="微软雅黑" panose="020B0503020204020204" pitchFamily="34" charset="-122"/>
                <a:ea typeface="微软雅黑" panose="020B0503020204020204" pitchFamily="34" charset="-122"/>
              </a:rPr>
              <a:t>定义 </a:t>
            </a:r>
            <a:r>
              <a:rPr lang="en-US" altLang="zh-CN" b="1" dirty="0" smtClean="0">
                <a:latin typeface="微软雅黑" panose="020B0503020204020204" pitchFamily="34" charset="-122"/>
                <a:ea typeface="微软雅黑" panose="020B0503020204020204" pitchFamily="34" charset="-122"/>
              </a:rPr>
              <a:t>V </a:t>
            </a:r>
            <a:r>
              <a:rPr lang="zh-CN" altLang="en-US" b="1" dirty="0" smtClean="0">
                <a:latin typeface="微软雅黑" panose="020B0503020204020204" pitchFamily="34" charset="-122"/>
                <a:ea typeface="微软雅黑" panose="020B0503020204020204" pitchFamily="34" charset="-122"/>
              </a:rPr>
              <a:t>字段</a:t>
            </a:r>
            <a:r>
              <a:rPr lang="zh-CN" altLang="en-US" b="1" dirty="0">
                <a:latin typeface="微软雅黑" panose="020B0503020204020204" pitchFamily="34" charset="-122"/>
                <a:ea typeface="微软雅黑" panose="020B0503020204020204" pitchFamily="34" charset="-122"/>
              </a:rPr>
              <a:t>的长度</a:t>
            </a:r>
            <a:endParaRPr lang="zh-CN" altLang="en-US" b="1" dirty="0">
              <a:latin typeface="微软雅黑" panose="020B0503020204020204" pitchFamily="34" charset="-122"/>
              <a:ea typeface="微软雅黑" panose="020B0503020204020204" pitchFamily="34" charset="-122"/>
            </a:endParaRPr>
          </a:p>
        </p:txBody>
      </p:sp>
      <p:grpSp>
        <p:nvGrpSpPr>
          <p:cNvPr id="31" name="组合 30"/>
          <p:cNvGrpSpPr/>
          <p:nvPr/>
        </p:nvGrpSpPr>
        <p:grpSpPr>
          <a:xfrm>
            <a:off x="2512438" y="1817106"/>
            <a:ext cx="577348" cy="1502747"/>
            <a:chOff x="5208439" y="1841345"/>
            <a:chExt cx="577348" cy="581509"/>
          </a:xfrm>
        </p:grpSpPr>
        <p:cxnSp>
          <p:nvCxnSpPr>
            <p:cNvPr id="32" name="直接连接符 3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3045161" y="3135187"/>
            <a:ext cx="180049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定义数据的类型</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4960"/>
            <a:ext cx="8048776" cy="316938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7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83560"/>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T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1" name="组合 20"/>
          <p:cNvGrpSpPr/>
          <p:nvPr/>
        </p:nvGrpSpPr>
        <p:grpSpPr>
          <a:xfrm>
            <a:off x="1222079" y="1494645"/>
            <a:ext cx="6961801" cy="2013559"/>
            <a:chOff x="1315153" y="2110600"/>
            <a:chExt cx="7617445" cy="2203189"/>
          </a:xfrm>
        </p:grpSpPr>
        <p:sp>
          <p:nvSpPr>
            <p:cNvPr id="8" name="Freeform 36"/>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0000FF"/>
                </a:gs>
                <a:gs pos="100000">
                  <a:srgbClr val="66FF66"/>
                </a:gs>
              </a:gsLst>
              <a:lin ang="540000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Text Box 37"/>
            <p:cNvSpPr txBox="1">
              <a:spLocks noChangeArrowheads="1"/>
            </p:cNvSpPr>
            <p:nvPr/>
          </p:nvSpPr>
          <p:spPr bwMode="auto">
            <a:xfrm>
              <a:off x="2007624" y="2110600"/>
              <a:ext cx="5220165"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字节      </a:t>
              </a:r>
              <a:r>
                <a:rPr lang="zh-CN" altLang="en-US" sz="1600" b="1" dirty="0" smtClean="0">
                  <a:solidFill>
                    <a:srgbClr val="0000FF"/>
                  </a:solidFill>
                  <a:latin typeface="微软雅黑" panose="020B0503020204020204" pitchFamily="34" charset="-122"/>
                  <a:ea typeface="微软雅黑" panose="020B0503020204020204" pitchFamily="34" charset="-122"/>
                </a:rPr>
                <a:t>    </a:t>
              </a:r>
              <a:r>
                <a:rPr lang="en-US" altLang="zh-CN" sz="1600" b="1" dirty="0" smtClean="0">
                  <a:solidFill>
                    <a:srgbClr val="0000FF"/>
                  </a:solidFill>
                  <a:latin typeface="微软雅黑" panose="020B0503020204020204" pitchFamily="34" charset="-122"/>
                  <a:ea typeface="微软雅黑" panose="020B0503020204020204" pitchFamily="34" charset="-122"/>
                </a:rPr>
                <a:t>1               </a:t>
              </a:r>
              <a:r>
                <a:rPr lang="zh-CN" altLang="en-US" sz="1600" b="1" dirty="0" smtClean="0">
                  <a:solidFill>
                    <a:srgbClr val="0000FF"/>
                  </a:solidFill>
                  <a:latin typeface="微软雅黑" panose="020B0503020204020204" pitchFamily="34" charset="-122"/>
                  <a:ea typeface="微软雅黑" panose="020B0503020204020204" pitchFamily="34" charset="-122"/>
                </a:rPr>
                <a:t>可变                          可变</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0" name="Rectangle 38"/>
            <p:cNvSpPr>
              <a:spLocks noChangeArrowheads="1"/>
            </p:cNvSpPr>
            <p:nvPr/>
          </p:nvSpPr>
          <p:spPr bwMode="auto">
            <a:xfrm>
              <a:off x="2564210" y="2460626"/>
              <a:ext cx="6368388" cy="473075"/>
            </a:xfrm>
            <a:prstGeom prst="rect">
              <a:avLst/>
            </a:prstGeom>
            <a:solidFill>
              <a:srgbClr val="00FFCC"/>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 name="Line 39"/>
            <p:cNvSpPr>
              <a:spLocks noChangeShapeType="1"/>
            </p:cNvSpPr>
            <p:nvPr/>
          </p:nvSpPr>
          <p:spPr bwMode="auto">
            <a:xfrm>
              <a:off x="3967560" y="2460626"/>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Rectangle 40"/>
            <p:cNvSpPr>
              <a:spLocks noChangeArrowheads="1"/>
            </p:cNvSpPr>
            <p:nvPr/>
          </p:nvSpPr>
          <p:spPr bwMode="auto">
            <a:xfrm>
              <a:off x="2571158" y="2469552"/>
              <a:ext cx="1384431" cy="45720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 name="Line 41"/>
            <p:cNvSpPr>
              <a:spLocks noChangeShapeType="1"/>
            </p:cNvSpPr>
            <p:nvPr/>
          </p:nvSpPr>
          <p:spPr bwMode="auto">
            <a:xfrm>
              <a:off x="5262563" y="2460626"/>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42"/>
            <p:cNvSpPr txBox="1">
              <a:spLocks noChangeArrowheads="1"/>
            </p:cNvSpPr>
            <p:nvPr/>
          </p:nvSpPr>
          <p:spPr bwMode="auto">
            <a:xfrm>
              <a:off x="2862665" y="2508880"/>
              <a:ext cx="4129195"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solidFill>
                    <a:schemeClr val="bg1"/>
                  </a:solidFill>
                  <a:latin typeface="微软雅黑" panose="020B0503020204020204" pitchFamily="34" charset="-122"/>
                  <a:ea typeface="微软雅黑" panose="020B0503020204020204" pitchFamily="34" charset="-122"/>
                </a:rPr>
                <a:t>标记 </a:t>
              </a:r>
              <a:r>
                <a:rPr lang="en-US" altLang="zh-CN" sz="1800" b="1" dirty="0">
                  <a:solidFill>
                    <a:schemeClr val="bg1"/>
                  </a:solidFill>
                  <a:latin typeface="微软雅黑" panose="020B0503020204020204" pitchFamily="34" charset="-122"/>
                  <a:ea typeface="微软雅黑" panose="020B0503020204020204" pitchFamily="34" charset="-122"/>
                </a:rPr>
                <a:t>T       </a:t>
              </a:r>
              <a:r>
                <a:rPr lang="zh-CN" altLang="en-US" sz="1800" b="1" dirty="0">
                  <a:latin typeface="微软雅黑" panose="020B0503020204020204" pitchFamily="34" charset="-122"/>
                  <a:ea typeface="微软雅黑" panose="020B0503020204020204" pitchFamily="34" charset="-122"/>
                </a:rPr>
                <a:t>长度 </a:t>
              </a:r>
              <a:r>
                <a:rPr lang="en-US" altLang="zh-CN" sz="1800" b="1" dirty="0">
                  <a:latin typeface="微软雅黑" panose="020B0503020204020204" pitchFamily="34" charset="-122"/>
                  <a:ea typeface="微软雅黑" panose="020B0503020204020204" pitchFamily="34" charset="-122"/>
                </a:rPr>
                <a:t>L                   </a:t>
              </a:r>
              <a:r>
                <a:rPr lang="zh-CN" altLang="en-US" sz="1800" b="1" dirty="0">
                  <a:latin typeface="微软雅黑" panose="020B0503020204020204" pitchFamily="34" charset="-122"/>
                  <a:ea typeface="微软雅黑" panose="020B0503020204020204" pitchFamily="34" charset="-122"/>
                </a:rPr>
                <a:t>值 </a:t>
              </a:r>
              <a:r>
                <a:rPr lang="en-US" altLang="zh-CN" sz="1800" b="1" dirty="0">
                  <a:latin typeface="微软雅黑" panose="020B0503020204020204" pitchFamily="34" charset="-122"/>
                  <a:ea typeface="微软雅黑" panose="020B0503020204020204" pitchFamily="34" charset="-122"/>
                </a:rPr>
                <a:t>V</a:t>
              </a:r>
              <a:endParaRPr lang="en-US" altLang="zh-CN" sz="1800" b="1" dirty="0">
                <a:latin typeface="微软雅黑" panose="020B0503020204020204" pitchFamily="34" charset="-122"/>
                <a:ea typeface="微软雅黑" panose="020B0503020204020204" pitchFamily="34" charset="-122"/>
              </a:endParaRPr>
            </a:p>
          </p:txBody>
        </p:sp>
        <p:sp>
          <p:nvSpPr>
            <p:cNvPr id="15" name="Rectangle 43"/>
            <p:cNvSpPr>
              <a:spLocks noChangeArrowheads="1"/>
            </p:cNvSpPr>
            <p:nvPr/>
          </p:nvSpPr>
          <p:spPr bwMode="auto">
            <a:xfrm>
              <a:off x="1915849" y="3500439"/>
              <a:ext cx="6045068" cy="473075"/>
            </a:xfrm>
            <a:prstGeom prst="rect">
              <a:avLst/>
            </a:prstGeom>
            <a:solidFill>
              <a:srgbClr val="0000FF"/>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 name="Text Box 44"/>
            <p:cNvSpPr txBox="1">
              <a:spLocks noChangeArrowheads="1"/>
            </p:cNvSpPr>
            <p:nvPr/>
          </p:nvSpPr>
          <p:spPr bwMode="auto">
            <a:xfrm>
              <a:off x="2344381" y="3548543"/>
              <a:ext cx="4281790"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solidFill>
                    <a:schemeClr val="bg1"/>
                  </a:solidFill>
                  <a:latin typeface="微软雅黑" panose="020B0503020204020204" pitchFamily="34" charset="-122"/>
                  <a:ea typeface="微软雅黑" panose="020B0503020204020204" pitchFamily="34" charset="-122"/>
                </a:rPr>
                <a:t>类   别       格 式                  编     号</a:t>
              </a:r>
              <a:endParaRPr lang="zh-CN" altLang="en-US" sz="1800" b="1" dirty="0">
                <a:solidFill>
                  <a:schemeClr val="bg1"/>
                </a:solidFill>
                <a:latin typeface="微软雅黑" panose="020B0503020204020204" pitchFamily="34" charset="-122"/>
                <a:ea typeface="微软雅黑" panose="020B0503020204020204" pitchFamily="34" charset="-122"/>
              </a:endParaRPr>
            </a:p>
          </p:txBody>
        </p:sp>
        <p:sp>
          <p:nvSpPr>
            <p:cNvPr id="17" name="Line 45"/>
            <p:cNvSpPr>
              <a:spLocks noChangeShapeType="1"/>
            </p:cNvSpPr>
            <p:nvPr/>
          </p:nvSpPr>
          <p:spPr bwMode="auto">
            <a:xfrm>
              <a:off x="3427545" y="3500439"/>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Line 46"/>
            <p:cNvSpPr>
              <a:spLocks noChangeShapeType="1"/>
            </p:cNvSpPr>
            <p:nvPr/>
          </p:nvSpPr>
          <p:spPr bwMode="auto">
            <a:xfrm>
              <a:off x="4507575" y="3500439"/>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 name="Text Box 47"/>
            <p:cNvSpPr txBox="1">
              <a:spLocks noChangeArrowheads="1"/>
            </p:cNvSpPr>
            <p:nvPr/>
          </p:nvSpPr>
          <p:spPr bwMode="auto">
            <a:xfrm>
              <a:off x="1505902" y="3943351"/>
              <a:ext cx="4841306"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位         </a:t>
              </a:r>
              <a:r>
                <a:rPr lang="zh-CN" altLang="en-US" sz="1600" b="1" dirty="0" smtClean="0">
                  <a:solidFill>
                    <a:srgbClr val="0000FF"/>
                  </a:solidFill>
                  <a:latin typeface="微软雅黑" panose="020B0503020204020204" pitchFamily="34" charset="-122"/>
                  <a:ea typeface="微软雅黑" panose="020B0503020204020204" pitchFamily="34" charset="-122"/>
                </a:rPr>
                <a:t>   </a:t>
              </a:r>
              <a:r>
                <a:rPr lang="en-US" altLang="zh-CN" sz="1600" b="1" dirty="0" smtClean="0">
                  <a:solidFill>
                    <a:srgbClr val="0000FF"/>
                  </a:solidFill>
                  <a:latin typeface="微软雅黑" panose="020B0503020204020204" pitchFamily="34" charset="-122"/>
                  <a:ea typeface="微软雅黑" panose="020B0503020204020204" pitchFamily="34" charset="-122"/>
                </a:rPr>
                <a:t>2                   1                             5</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sp>
          <p:nvSpPr>
            <p:cNvPr id="20" name="Text Box 48"/>
            <p:cNvSpPr txBox="1">
              <a:spLocks noChangeArrowheads="1"/>
            </p:cNvSpPr>
            <p:nvPr/>
          </p:nvSpPr>
          <p:spPr bwMode="auto">
            <a:xfrm>
              <a:off x="1315153" y="2492375"/>
              <a:ext cx="1429148"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数据元素</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8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77664"/>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T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556963" y="1065835"/>
          <a:ext cx="8048775" cy="3119501"/>
        </p:xfrm>
        <a:graphic>
          <a:graphicData uri="http://schemas.openxmlformats.org/drawingml/2006/table">
            <a:tbl>
              <a:tblPr firstRow="1" bandRow="1">
                <a:tableStyleId>{7DF18680-E054-41AD-8BC1-D1AEF772440D}</a:tableStyleId>
              </a:tblPr>
              <a:tblGrid>
                <a:gridCol w="2303476"/>
                <a:gridCol w="696401"/>
                <a:gridCol w="618378"/>
                <a:gridCol w="923026"/>
                <a:gridCol w="1661445"/>
                <a:gridCol w="1846049"/>
              </a:tblGrid>
              <a:tr h="283591">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数据类型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类别</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格式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编号</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anose="020B0503020204020204" pitchFamily="34" charset="-122"/>
                          <a:ea typeface="微软雅黑" panose="020B0503020204020204" pitchFamily="34" charset="-122"/>
                        </a:rPr>
                        <a:t>T </a:t>
                      </a:r>
                      <a:r>
                        <a:rPr lang="zh-CN" sz="1400" b="1" dirty="0" smtClean="0">
                          <a:solidFill>
                            <a:schemeClr val="bg1"/>
                          </a:solidFill>
                          <a:effectLst/>
                          <a:latin typeface="微软雅黑" panose="020B0503020204020204" pitchFamily="34" charset="-122"/>
                          <a:ea typeface="微软雅黑" panose="020B0503020204020204" pitchFamily="34" charset="-122"/>
                        </a:rPr>
                        <a:t>字段</a:t>
                      </a:r>
                      <a:r>
                        <a:rPr lang="zh-CN" sz="1400" b="1" dirty="0">
                          <a:solidFill>
                            <a:schemeClr val="bg1"/>
                          </a:solidFill>
                          <a:effectLst/>
                          <a:latin typeface="微软雅黑" panose="020B0503020204020204" pitchFamily="34" charset="-122"/>
                          <a:ea typeface="微软雅黑" panose="020B0503020204020204" pitchFamily="34" charset="-122"/>
                        </a:rPr>
                        <a:t>（二进制）</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anose="020B0503020204020204" pitchFamily="34" charset="-122"/>
                          <a:ea typeface="微软雅黑" panose="020B0503020204020204" pitchFamily="34" charset="-122"/>
                        </a:rPr>
                        <a:t>T </a:t>
                      </a:r>
                      <a:r>
                        <a:rPr lang="zh-CN" sz="1400" b="1" dirty="0" smtClean="0">
                          <a:solidFill>
                            <a:schemeClr val="bg1"/>
                          </a:solidFill>
                          <a:effectLst/>
                          <a:latin typeface="微软雅黑" panose="020B0503020204020204" pitchFamily="34" charset="-122"/>
                          <a:ea typeface="微软雅黑" panose="020B0503020204020204" pitchFamily="34" charset="-122"/>
                        </a:rPr>
                        <a:t>字段</a:t>
                      </a:r>
                      <a:r>
                        <a:rPr lang="zh-CN" sz="1400" b="1" dirty="0">
                          <a:solidFill>
                            <a:schemeClr val="bg1"/>
                          </a:solidFill>
                          <a:effectLst/>
                          <a:latin typeface="微软雅黑" panose="020B0503020204020204" pitchFamily="34" charset="-122"/>
                          <a:ea typeface="微软雅黑" panose="020B0503020204020204" pitchFamily="34" charset="-122"/>
                        </a:rPr>
                        <a:t>（十六进制）</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INTEGER</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02</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OCTET STRING</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00000100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04</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OBJECT IDENTIFIER</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00110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00000110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06</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NULL</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00000101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05</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Sequence, sequence of</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10000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00110000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30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err="1">
                          <a:solidFill>
                            <a:schemeClr val="tx1"/>
                          </a:solidFill>
                          <a:effectLst/>
                          <a:latin typeface="微软雅黑" panose="020B0503020204020204" pitchFamily="34" charset="-122"/>
                          <a:ea typeface="微软雅黑" panose="020B0503020204020204" pitchFamily="34" charset="-122"/>
                        </a:rPr>
                        <a:t>IPAddress</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Counter</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Gauge</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01000010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42</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TimeTicks</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01000011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43</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Opaque</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00100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01000100 </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44</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451538" y="582898"/>
            <a:ext cx="42596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L </a:t>
            </a:r>
            <a:r>
              <a:rPr lang="zh-CN" altLang="en-US" sz="2000" b="1" dirty="0">
                <a:solidFill>
                  <a:schemeClr val="bg1"/>
                </a:solidFill>
                <a:latin typeface="微软雅黑" panose="020B0503020204020204" pitchFamily="34" charset="-122"/>
                <a:ea typeface="微软雅黑" panose="020B0503020204020204" pitchFamily="34" charset="-122"/>
              </a:rPr>
              <a:t>字段定义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字段的</a:t>
            </a:r>
            <a:r>
              <a:rPr lang="zh-CN" altLang="en-US" sz="2000" b="1" dirty="0" smtClean="0">
                <a:solidFill>
                  <a:schemeClr val="bg1"/>
                </a:solidFill>
                <a:latin typeface="微软雅黑" panose="020B0503020204020204" pitchFamily="34" charset="-122"/>
                <a:ea typeface="微软雅黑" panose="020B0503020204020204" pitchFamily="34" charset="-122"/>
              </a:rPr>
              <a:t>长度</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9" name="Text Box 4"/>
          <p:cNvSpPr txBox="1">
            <a:spLocks noChangeArrowheads="1"/>
          </p:cNvSpPr>
          <p:nvPr/>
        </p:nvSpPr>
        <p:spPr bwMode="auto">
          <a:xfrm>
            <a:off x="2245313" y="1521070"/>
            <a:ext cx="25603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 </a:t>
            </a:r>
            <a:r>
              <a:rPr lang="en-US" altLang="zh-CN" sz="1600" b="1" dirty="0">
                <a:solidFill>
                  <a:srgbClr val="0000FF"/>
                </a:solidFill>
                <a:latin typeface="微软雅黑" panose="020B0503020204020204" pitchFamily="34" charset="-122"/>
                <a:ea typeface="微软雅黑" panose="020B0503020204020204" pitchFamily="34" charset="-122"/>
              </a:rPr>
              <a:t>V </a:t>
            </a:r>
            <a:r>
              <a:rPr lang="zh-CN" altLang="en-US" sz="1600" b="1" dirty="0">
                <a:solidFill>
                  <a:srgbClr val="0000FF"/>
                </a:solidFill>
                <a:latin typeface="微软雅黑" panose="020B0503020204020204" pitchFamily="34" charset="-122"/>
                <a:ea typeface="微软雅黑" panose="020B0503020204020204" pitchFamily="34" charset="-122"/>
              </a:rPr>
              <a:t>字段长度 </a:t>
            </a:r>
            <a:r>
              <a:rPr lang="en-US" altLang="zh-CN" sz="1600" b="1" dirty="0">
                <a:solidFill>
                  <a:srgbClr val="0000FF"/>
                </a:solidFill>
                <a:latin typeface="微软雅黑" panose="020B0503020204020204" pitchFamily="34" charset="-122"/>
                <a:ea typeface="微软雅黑" panose="020B0503020204020204" pitchFamily="34" charset="-122"/>
              </a:rPr>
              <a:t>= 2 </a:t>
            </a:r>
            <a:r>
              <a:rPr lang="zh-CN" altLang="en-US" sz="1600" b="1" dirty="0">
                <a:solidFill>
                  <a:srgbClr val="0000FF"/>
                </a:solidFill>
                <a:latin typeface="微软雅黑" panose="020B0503020204020204" pitchFamily="34" charset="-122"/>
                <a:ea typeface="微软雅黑" panose="020B0503020204020204" pitchFamily="34" charset="-122"/>
              </a:rPr>
              <a:t>字节</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20" name="Rectangle 5"/>
          <p:cNvSpPr>
            <a:spLocks noChangeArrowheads="1"/>
          </p:cNvSpPr>
          <p:nvPr/>
        </p:nvSpPr>
        <p:spPr bwMode="auto">
          <a:xfrm>
            <a:off x="2524966" y="2007514"/>
            <a:ext cx="227656" cy="306136"/>
          </a:xfrm>
          <a:prstGeom prst="rect">
            <a:avLst/>
          </a:prstGeom>
          <a:solidFill>
            <a:srgbClr val="0000FF"/>
          </a:solidFill>
          <a:ln w="9525">
            <a:solidFill>
              <a:schemeClr val="tx1"/>
            </a:solidFill>
            <a:miter lim="800000"/>
          </a:ln>
          <a:effectLst/>
        </p:spPr>
        <p:txBody>
          <a:bodyPr wrap="none" anchor="ctr"/>
          <a:lstStyle/>
          <a:p>
            <a:pPr algn="ctr" eaLnBrk="1" hangingPunct="1"/>
            <a:r>
              <a:rPr lang="en-US" altLang="zh-CN" sz="1600" b="1">
                <a:solidFill>
                  <a:schemeClr val="bg1"/>
                </a:solidFill>
                <a:latin typeface="微软雅黑" panose="020B0503020204020204" pitchFamily="34" charset="-122"/>
                <a:ea typeface="微软雅黑" panose="020B0503020204020204" pitchFamily="34" charset="-122"/>
              </a:rPr>
              <a:t>0</a:t>
            </a:r>
            <a:endParaRPr lang="en-US" altLang="zh-CN" sz="1600" b="1">
              <a:solidFill>
                <a:schemeClr val="bg1"/>
              </a:solidFill>
              <a:latin typeface="微软雅黑" panose="020B0503020204020204" pitchFamily="34" charset="-122"/>
              <a:ea typeface="微软雅黑" panose="020B0503020204020204" pitchFamily="34" charset="-122"/>
            </a:endParaRPr>
          </a:p>
        </p:txBody>
      </p:sp>
      <p:sp>
        <p:nvSpPr>
          <p:cNvPr id="21" name="Rectangle 6"/>
          <p:cNvSpPr>
            <a:spLocks noChangeArrowheads="1"/>
          </p:cNvSpPr>
          <p:nvPr/>
        </p:nvSpPr>
        <p:spPr bwMode="auto">
          <a:xfrm>
            <a:off x="2752622"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2" name="Rectangle 7"/>
          <p:cNvSpPr>
            <a:spLocks noChangeArrowheads="1"/>
          </p:cNvSpPr>
          <p:nvPr/>
        </p:nvSpPr>
        <p:spPr bwMode="auto">
          <a:xfrm>
            <a:off x="2980278" y="2007514"/>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3" name="Rectangle 8"/>
          <p:cNvSpPr>
            <a:spLocks noChangeArrowheads="1"/>
          </p:cNvSpPr>
          <p:nvPr/>
        </p:nvSpPr>
        <p:spPr bwMode="auto">
          <a:xfrm>
            <a:off x="3206528"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4" name="Rectangle 9"/>
          <p:cNvSpPr>
            <a:spLocks noChangeArrowheads="1"/>
          </p:cNvSpPr>
          <p:nvPr/>
        </p:nvSpPr>
        <p:spPr bwMode="auto">
          <a:xfrm>
            <a:off x="3434185"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5" name="Rectangle 10"/>
          <p:cNvSpPr>
            <a:spLocks noChangeArrowheads="1"/>
          </p:cNvSpPr>
          <p:nvPr/>
        </p:nvSpPr>
        <p:spPr bwMode="auto">
          <a:xfrm>
            <a:off x="3661841"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6" name="Rectangle 11"/>
          <p:cNvSpPr>
            <a:spLocks noChangeArrowheads="1"/>
          </p:cNvSpPr>
          <p:nvPr/>
        </p:nvSpPr>
        <p:spPr bwMode="auto">
          <a:xfrm>
            <a:off x="3889496" y="2007514"/>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27" name="Rectangle 12"/>
          <p:cNvSpPr>
            <a:spLocks noChangeArrowheads="1"/>
          </p:cNvSpPr>
          <p:nvPr/>
        </p:nvSpPr>
        <p:spPr bwMode="auto">
          <a:xfrm>
            <a:off x="4115748"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8" name="Rectangle 13"/>
          <p:cNvSpPr>
            <a:spLocks noChangeArrowheads="1"/>
          </p:cNvSpPr>
          <p:nvPr/>
        </p:nvSpPr>
        <p:spPr bwMode="auto">
          <a:xfrm>
            <a:off x="2526371" y="3023210"/>
            <a:ext cx="227656" cy="306136"/>
          </a:xfrm>
          <a:prstGeom prst="rect">
            <a:avLst/>
          </a:prstGeom>
          <a:solidFill>
            <a:srgbClr val="CC00FF"/>
          </a:solidFill>
          <a:ln w="9525" algn="ctr">
            <a:solidFill>
              <a:schemeClr val="tx1"/>
            </a:solidFill>
            <a:miter lim="800000"/>
          </a:ln>
          <a:effectLst/>
        </p:spPr>
        <p:txBody>
          <a:bodyPr wrap="none" anchor="ctr"/>
          <a:lstStyle/>
          <a:p>
            <a:pPr algn="ctr" eaLnBrk="1" hangingPunct="1"/>
            <a:r>
              <a:rPr lang="en-US" altLang="zh-CN" sz="1600" b="1" dirty="0">
                <a:solidFill>
                  <a:schemeClr val="bg1"/>
                </a:solidFill>
                <a:latin typeface="微软雅黑" panose="020B0503020204020204" pitchFamily="34" charset="-122"/>
                <a:ea typeface="微软雅黑" panose="020B0503020204020204" pitchFamily="34" charset="-122"/>
              </a:rPr>
              <a:t>1</a:t>
            </a:r>
            <a:endParaRPr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9" name="Rectangle 14"/>
          <p:cNvSpPr>
            <a:spLocks noChangeArrowheads="1"/>
          </p:cNvSpPr>
          <p:nvPr/>
        </p:nvSpPr>
        <p:spPr bwMode="auto">
          <a:xfrm>
            <a:off x="2754027"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dirty="0">
              <a:latin typeface="微软雅黑" panose="020B0503020204020204" pitchFamily="34" charset="-122"/>
              <a:ea typeface="微软雅黑" panose="020B0503020204020204" pitchFamily="34" charset="-122"/>
            </a:endParaRPr>
          </a:p>
        </p:txBody>
      </p:sp>
      <p:sp>
        <p:nvSpPr>
          <p:cNvPr id="30" name="Rectangle 15"/>
          <p:cNvSpPr>
            <a:spLocks noChangeArrowheads="1"/>
          </p:cNvSpPr>
          <p:nvPr/>
        </p:nvSpPr>
        <p:spPr bwMode="auto">
          <a:xfrm>
            <a:off x="2981683" y="3025805"/>
            <a:ext cx="226251"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1" name="Rectangle 16"/>
          <p:cNvSpPr>
            <a:spLocks noChangeArrowheads="1"/>
          </p:cNvSpPr>
          <p:nvPr/>
        </p:nvSpPr>
        <p:spPr bwMode="auto">
          <a:xfrm>
            <a:off x="3207935"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2" name="Rectangle 17"/>
          <p:cNvSpPr>
            <a:spLocks noChangeArrowheads="1"/>
          </p:cNvSpPr>
          <p:nvPr/>
        </p:nvSpPr>
        <p:spPr bwMode="auto">
          <a:xfrm>
            <a:off x="3435591"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3" name="Rectangle 18"/>
          <p:cNvSpPr>
            <a:spLocks noChangeArrowheads="1"/>
          </p:cNvSpPr>
          <p:nvPr/>
        </p:nvSpPr>
        <p:spPr bwMode="auto">
          <a:xfrm>
            <a:off x="3663247"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4" name="Rectangle 19"/>
          <p:cNvSpPr>
            <a:spLocks noChangeArrowheads="1"/>
          </p:cNvSpPr>
          <p:nvPr/>
        </p:nvSpPr>
        <p:spPr bwMode="auto">
          <a:xfrm>
            <a:off x="3890902"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35" name="Rectangle 20"/>
          <p:cNvSpPr>
            <a:spLocks noChangeArrowheads="1"/>
          </p:cNvSpPr>
          <p:nvPr/>
        </p:nvSpPr>
        <p:spPr bwMode="auto">
          <a:xfrm>
            <a:off x="4118559" y="3025805"/>
            <a:ext cx="226250"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6" name="Rectangle 21"/>
          <p:cNvSpPr>
            <a:spLocks noChangeArrowheads="1"/>
          </p:cNvSpPr>
          <p:nvPr/>
        </p:nvSpPr>
        <p:spPr bwMode="auto">
          <a:xfrm>
            <a:off x="4497985" y="3025805"/>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dirty="0">
              <a:latin typeface="微软雅黑" panose="020B0503020204020204" pitchFamily="34" charset="-122"/>
              <a:ea typeface="微软雅黑" panose="020B0503020204020204" pitchFamily="34" charset="-122"/>
            </a:endParaRPr>
          </a:p>
        </p:txBody>
      </p:sp>
      <p:sp>
        <p:nvSpPr>
          <p:cNvPr id="37" name="Rectangle 22"/>
          <p:cNvSpPr>
            <a:spLocks noChangeArrowheads="1"/>
          </p:cNvSpPr>
          <p:nvPr/>
        </p:nvSpPr>
        <p:spPr bwMode="auto">
          <a:xfrm>
            <a:off x="4724236"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8" name="Rectangle 23"/>
          <p:cNvSpPr>
            <a:spLocks noChangeArrowheads="1"/>
          </p:cNvSpPr>
          <p:nvPr/>
        </p:nvSpPr>
        <p:spPr bwMode="auto">
          <a:xfrm>
            <a:off x="4951893"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9" name="Rectangle 24"/>
          <p:cNvSpPr>
            <a:spLocks noChangeArrowheads="1"/>
          </p:cNvSpPr>
          <p:nvPr/>
        </p:nvSpPr>
        <p:spPr bwMode="auto">
          <a:xfrm>
            <a:off x="5179548"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0" name="Rectangle 25"/>
          <p:cNvSpPr>
            <a:spLocks noChangeArrowheads="1"/>
          </p:cNvSpPr>
          <p:nvPr/>
        </p:nvSpPr>
        <p:spPr bwMode="auto">
          <a:xfrm>
            <a:off x="5407204"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1" name="Rectangle 26"/>
          <p:cNvSpPr>
            <a:spLocks noChangeArrowheads="1"/>
          </p:cNvSpPr>
          <p:nvPr/>
        </p:nvSpPr>
        <p:spPr bwMode="auto">
          <a:xfrm>
            <a:off x="5634860" y="3025805"/>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2" name="Rectangle 27"/>
          <p:cNvSpPr>
            <a:spLocks noChangeArrowheads="1"/>
          </p:cNvSpPr>
          <p:nvPr/>
        </p:nvSpPr>
        <p:spPr bwMode="auto">
          <a:xfrm>
            <a:off x="5861111"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3" name="Rectangle 28"/>
          <p:cNvSpPr>
            <a:spLocks noChangeArrowheads="1"/>
          </p:cNvSpPr>
          <p:nvPr/>
        </p:nvSpPr>
        <p:spPr bwMode="auto">
          <a:xfrm>
            <a:off x="6088768"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44" name="Rectangle 29"/>
          <p:cNvSpPr>
            <a:spLocks noChangeArrowheads="1"/>
          </p:cNvSpPr>
          <p:nvPr/>
        </p:nvSpPr>
        <p:spPr bwMode="auto">
          <a:xfrm>
            <a:off x="6468194"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5" name="Rectangle 30"/>
          <p:cNvSpPr>
            <a:spLocks noChangeArrowheads="1"/>
          </p:cNvSpPr>
          <p:nvPr/>
        </p:nvSpPr>
        <p:spPr bwMode="auto">
          <a:xfrm>
            <a:off x="6695851"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6" name="Rectangle 31"/>
          <p:cNvSpPr>
            <a:spLocks noChangeArrowheads="1"/>
          </p:cNvSpPr>
          <p:nvPr/>
        </p:nvSpPr>
        <p:spPr bwMode="auto">
          <a:xfrm>
            <a:off x="6923507"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7" name="Rectangle 32"/>
          <p:cNvSpPr>
            <a:spLocks noChangeArrowheads="1"/>
          </p:cNvSpPr>
          <p:nvPr/>
        </p:nvSpPr>
        <p:spPr bwMode="auto">
          <a:xfrm>
            <a:off x="7151163" y="3025805"/>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8" name="Rectangle 33"/>
          <p:cNvSpPr>
            <a:spLocks noChangeArrowheads="1"/>
          </p:cNvSpPr>
          <p:nvPr/>
        </p:nvSpPr>
        <p:spPr bwMode="auto">
          <a:xfrm>
            <a:off x="7377413"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9" name="Rectangle 34"/>
          <p:cNvSpPr>
            <a:spLocks noChangeArrowheads="1"/>
          </p:cNvSpPr>
          <p:nvPr/>
        </p:nvSpPr>
        <p:spPr bwMode="auto">
          <a:xfrm>
            <a:off x="7605069"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50" name="Rectangle 35"/>
          <p:cNvSpPr>
            <a:spLocks noChangeArrowheads="1"/>
          </p:cNvSpPr>
          <p:nvPr/>
        </p:nvSpPr>
        <p:spPr bwMode="auto">
          <a:xfrm>
            <a:off x="7832726"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51" name="Rectangle 36"/>
          <p:cNvSpPr>
            <a:spLocks noChangeArrowheads="1"/>
          </p:cNvSpPr>
          <p:nvPr/>
        </p:nvSpPr>
        <p:spPr bwMode="auto">
          <a:xfrm>
            <a:off x="8060381" y="3025805"/>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52" name="Text Box 37"/>
          <p:cNvSpPr txBox="1">
            <a:spLocks noChangeArrowheads="1"/>
          </p:cNvSpPr>
          <p:nvPr/>
        </p:nvSpPr>
        <p:spPr bwMode="auto">
          <a:xfrm>
            <a:off x="779603" y="1991949"/>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rPr>
              <a:t>单字节的 </a:t>
            </a:r>
            <a:r>
              <a:rPr lang="en-US" altLang="zh-CN" sz="1600" b="1" dirty="0">
                <a:solidFill>
                  <a:srgbClr val="C00000"/>
                </a:solidFill>
                <a:latin typeface="微软雅黑" panose="020B0503020204020204" pitchFamily="34" charset="-122"/>
                <a:ea typeface="微软雅黑" panose="020B0503020204020204" pitchFamily="34" charset="-122"/>
              </a:rPr>
              <a:t>L </a:t>
            </a:r>
            <a:r>
              <a:rPr lang="zh-CN" altLang="en-US" sz="1600" b="1" dirty="0">
                <a:solidFill>
                  <a:srgbClr val="C00000"/>
                </a:solidFill>
                <a:latin typeface="微软雅黑" panose="020B0503020204020204" pitchFamily="34" charset="-122"/>
                <a:ea typeface="微软雅黑" panose="020B0503020204020204" pitchFamily="34" charset="-122"/>
              </a:rPr>
              <a:t>字段</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53" name="AutoShape 38"/>
          <p:cNvSpPr/>
          <p:nvPr/>
        </p:nvSpPr>
        <p:spPr bwMode="auto">
          <a:xfrm rot="16200000">
            <a:off x="3487153" y="1075270"/>
            <a:ext cx="175120" cy="1590782"/>
          </a:xfrm>
          <a:prstGeom prst="rightBrace">
            <a:avLst>
              <a:gd name="adj1" fmla="val 69876"/>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AutoShape 39"/>
          <p:cNvSpPr/>
          <p:nvPr/>
        </p:nvSpPr>
        <p:spPr bwMode="auto">
          <a:xfrm rot="16200000">
            <a:off x="6344638" y="1020464"/>
            <a:ext cx="120638" cy="3791458"/>
          </a:xfrm>
          <a:prstGeom prst="rightBrace">
            <a:avLst>
              <a:gd name="adj1" fmla="val 241757"/>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Text Box 40"/>
          <p:cNvSpPr txBox="1">
            <a:spLocks noChangeArrowheads="1"/>
          </p:cNvSpPr>
          <p:nvPr/>
        </p:nvSpPr>
        <p:spPr bwMode="auto">
          <a:xfrm>
            <a:off x="5119120" y="2580871"/>
            <a:ext cx="281359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 </a:t>
            </a:r>
            <a:r>
              <a:rPr lang="en-US" altLang="zh-CN" sz="1600" b="1" dirty="0">
                <a:solidFill>
                  <a:srgbClr val="0000FF"/>
                </a:solidFill>
                <a:latin typeface="微软雅黑" panose="020B0503020204020204" pitchFamily="34" charset="-122"/>
                <a:ea typeface="微软雅黑" panose="020B0503020204020204" pitchFamily="34" charset="-122"/>
              </a:rPr>
              <a:t>V </a:t>
            </a:r>
            <a:r>
              <a:rPr lang="zh-CN" altLang="en-US" sz="1600" b="1" dirty="0">
                <a:solidFill>
                  <a:srgbClr val="0000FF"/>
                </a:solidFill>
                <a:latin typeface="微软雅黑" panose="020B0503020204020204" pitchFamily="34" charset="-122"/>
                <a:ea typeface="微软雅黑" panose="020B0503020204020204" pitchFamily="34" charset="-122"/>
              </a:rPr>
              <a:t>字段长度 </a:t>
            </a:r>
            <a:r>
              <a:rPr lang="en-US" altLang="zh-CN" sz="1600" b="1" dirty="0">
                <a:solidFill>
                  <a:srgbClr val="0000FF"/>
                </a:solidFill>
                <a:latin typeface="微软雅黑" panose="020B0503020204020204" pitchFamily="34" charset="-122"/>
                <a:ea typeface="微软雅黑" panose="020B0503020204020204" pitchFamily="34" charset="-122"/>
              </a:rPr>
              <a:t>= 262 </a:t>
            </a:r>
            <a:r>
              <a:rPr lang="zh-CN" altLang="en-US" sz="1600" b="1" dirty="0">
                <a:solidFill>
                  <a:srgbClr val="0000FF"/>
                </a:solidFill>
                <a:latin typeface="微软雅黑" panose="020B0503020204020204" pitchFamily="34" charset="-122"/>
                <a:ea typeface="微软雅黑" panose="020B0503020204020204" pitchFamily="34" charset="-122"/>
              </a:rPr>
              <a:t>字节</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56" name="Text Box 41"/>
          <p:cNvSpPr txBox="1">
            <a:spLocks noChangeArrowheads="1"/>
          </p:cNvSpPr>
          <p:nvPr/>
        </p:nvSpPr>
        <p:spPr bwMode="auto">
          <a:xfrm>
            <a:off x="779603" y="3023211"/>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rPr>
              <a:t>多字节的 </a:t>
            </a:r>
            <a:r>
              <a:rPr lang="en-US" altLang="zh-CN" sz="1600" b="1">
                <a:solidFill>
                  <a:srgbClr val="C00000"/>
                </a:solidFill>
                <a:latin typeface="微软雅黑" panose="020B0503020204020204" pitchFamily="34" charset="-122"/>
                <a:ea typeface="微软雅黑" panose="020B0503020204020204" pitchFamily="34" charset="-122"/>
              </a:rPr>
              <a:t>L </a:t>
            </a:r>
            <a:r>
              <a:rPr lang="zh-CN" altLang="en-US" sz="1600" b="1">
                <a:solidFill>
                  <a:srgbClr val="C00000"/>
                </a:solidFill>
                <a:latin typeface="微软雅黑" panose="020B0503020204020204" pitchFamily="34" charset="-122"/>
                <a:ea typeface="微软雅黑" panose="020B0503020204020204" pitchFamily="34" charset="-122"/>
              </a:rPr>
              <a:t>字段</a:t>
            </a:r>
            <a:endParaRPr lang="zh-CN" altLang="en-US" sz="1600" b="1">
              <a:solidFill>
                <a:srgbClr val="C00000"/>
              </a:solidFill>
              <a:latin typeface="微软雅黑" panose="020B0503020204020204" pitchFamily="34" charset="-122"/>
              <a:ea typeface="微软雅黑" panose="020B0503020204020204" pitchFamily="34" charset="-122"/>
            </a:endParaRPr>
          </a:p>
        </p:txBody>
      </p:sp>
      <p:sp>
        <p:nvSpPr>
          <p:cNvPr id="57" name="AutoShape 42"/>
          <p:cNvSpPr/>
          <p:nvPr/>
        </p:nvSpPr>
        <p:spPr bwMode="auto">
          <a:xfrm rot="16200000">
            <a:off x="3476884" y="2107182"/>
            <a:ext cx="147879" cy="1590782"/>
          </a:xfrm>
          <a:prstGeom prst="rightBrace">
            <a:avLst>
              <a:gd name="adj1" fmla="val 82749"/>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8" name="Line 43"/>
          <p:cNvSpPr>
            <a:spLocks noChangeShapeType="1"/>
          </p:cNvSpPr>
          <p:nvPr/>
        </p:nvSpPr>
        <p:spPr bwMode="auto">
          <a:xfrm flipV="1">
            <a:off x="4495175" y="3610836"/>
            <a:ext cx="379145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9" name="Text Box 44"/>
          <p:cNvSpPr txBox="1">
            <a:spLocks noChangeArrowheads="1"/>
          </p:cNvSpPr>
          <p:nvPr/>
        </p:nvSpPr>
        <p:spPr bwMode="auto">
          <a:xfrm>
            <a:off x="2436433" y="2552333"/>
            <a:ext cx="235806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指出后续字节数 </a:t>
            </a:r>
            <a:r>
              <a:rPr lang="en-US" altLang="zh-CN" sz="1600" b="1" dirty="0">
                <a:solidFill>
                  <a:srgbClr val="0000FF"/>
                </a:solidFill>
                <a:latin typeface="微软雅黑" panose="020B0503020204020204" pitchFamily="34" charset="-122"/>
                <a:ea typeface="微软雅黑" panose="020B0503020204020204" pitchFamily="34" charset="-122"/>
              </a:rPr>
              <a:t>= 2</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sp>
        <p:nvSpPr>
          <p:cNvPr id="60" name="Text Box 45"/>
          <p:cNvSpPr txBox="1">
            <a:spLocks noChangeArrowheads="1"/>
          </p:cNvSpPr>
          <p:nvPr/>
        </p:nvSpPr>
        <p:spPr bwMode="auto">
          <a:xfrm>
            <a:off x="5497143" y="3434420"/>
            <a:ext cx="1728500" cy="338554"/>
          </a:xfrm>
          <a:prstGeom prst="rect">
            <a:avLst/>
          </a:prstGeom>
          <a:solidFill>
            <a:srgbClr val="C3E3F9"/>
          </a:solidFill>
          <a:ln>
            <a:noFill/>
          </a:ln>
          <a:effec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CC00CC"/>
                </a:solidFill>
                <a:latin typeface="微软雅黑" panose="020B0503020204020204" pitchFamily="34" charset="-122"/>
                <a:ea typeface="微软雅黑" panose="020B0503020204020204" pitchFamily="34" charset="-122"/>
              </a:rPr>
              <a:t>后续字节数 </a:t>
            </a:r>
            <a:r>
              <a:rPr lang="en-US" altLang="zh-CN" sz="1600" b="1" dirty="0">
                <a:solidFill>
                  <a:srgbClr val="CC00CC"/>
                </a:solidFill>
                <a:latin typeface="微软雅黑" panose="020B0503020204020204" pitchFamily="34" charset="-122"/>
                <a:ea typeface="微软雅黑" panose="020B0503020204020204" pitchFamily="34" charset="-122"/>
              </a:rPr>
              <a:t>= 2</a:t>
            </a:r>
            <a:endParaRPr lang="en-US" altLang="zh-CN" sz="16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096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65727" y="576475"/>
            <a:ext cx="363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smtClean="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a:t>
            </a:r>
            <a:r>
              <a:rPr lang="zh-CN" altLang="en-US" sz="2000" b="1" dirty="0" smtClean="0">
                <a:solidFill>
                  <a:schemeClr val="bg1"/>
                </a:solidFill>
                <a:latin typeface="微软雅黑" panose="020B0503020204020204" pitchFamily="34" charset="-122"/>
                <a:ea typeface="微软雅黑" panose="020B0503020204020204" pitchFamily="34" charset="-122"/>
              </a:rPr>
              <a:t>定义数据的值</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5" name="表格 4"/>
          <p:cNvGraphicFramePr>
            <a:graphicFrameLocks noGrp="1"/>
          </p:cNvGraphicFramePr>
          <p:nvPr/>
        </p:nvGraphicFramePr>
        <p:xfrm>
          <a:off x="556964" y="1035483"/>
          <a:ext cx="8048775" cy="3052071"/>
        </p:xfrm>
        <a:graphic>
          <a:graphicData uri="http://schemas.openxmlformats.org/drawingml/2006/table">
            <a:tbl>
              <a:tblPr firstRow="1" bandRow="1">
                <a:tableStyleId>{BC89EF96-8CEA-46FF-86C4-4CE0E7609802}</a:tableStyleId>
              </a:tblPr>
              <a:tblGrid>
                <a:gridCol w="2199678"/>
                <a:gridCol w="901836"/>
                <a:gridCol w="4947261"/>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panose="020B0503020204020204" pitchFamily="34" charset="-122"/>
                          <a:ea typeface="微软雅黑" panose="020B0503020204020204" pitchFamily="34" charset="-122"/>
                        </a:rPr>
                        <a:t>类</a:t>
                      </a:r>
                      <a:r>
                        <a:rPr lang="en-US" sz="1400" b="1" kern="1200" dirty="0">
                          <a:solidFill>
                            <a:schemeClr val="bg1"/>
                          </a:solidFill>
                          <a:effectLst/>
                          <a:latin typeface="微软雅黑" panose="020B0503020204020204" pitchFamily="34" charset="-122"/>
                          <a:ea typeface="微软雅黑" panose="020B0503020204020204" pitchFamily="34" charset="-122"/>
                        </a:rPr>
                        <a:t>   </a:t>
                      </a:r>
                      <a:r>
                        <a:rPr lang="zh-CN" sz="1400" b="1" kern="1200" dirty="0">
                          <a:solidFill>
                            <a:schemeClr val="bg1"/>
                          </a:solidFill>
                          <a:effectLst/>
                          <a:latin typeface="微软雅黑" panose="020B0503020204020204" pitchFamily="34" charset="-122"/>
                          <a:ea typeface="微软雅黑" panose="020B0503020204020204" pitchFamily="34" charset="-122"/>
                        </a:rPr>
                        <a:t>型</a:t>
                      </a:r>
                      <a:endParaRPr lang="zh-CN" sz="1400" b="1" kern="1200" dirty="0">
                        <a:solidFill>
                          <a:schemeClr val="bg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大</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说</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明</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INTEGER</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在</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31 </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31</a:t>
                      </a:r>
                      <a:r>
                        <a:rPr lang="en-US" sz="1400" b="1" dirty="0" smtClean="0">
                          <a:effectLst/>
                          <a:latin typeface="微软雅黑" panose="020B0503020204020204" pitchFamily="34" charset="-122"/>
                          <a:ea typeface="微软雅黑" panose="020B0503020204020204" pitchFamily="34" charset="-122"/>
                        </a:rPr>
                        <a:t> </a:t>
                      </a:r>
                      <a:r>
                        <a:rPr lang="en-US" sz="1400" b="1" dirty="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 </a:t>
                      </a:r>
                      <a:r>
                        <a:rPr lang="zh-CN" sz="1400" b="1" dirty="0" smtClean="0">
                          <a:effectLst/>
                          <a:latin typeface="微软雅黑" panose="020B0503020204020204" pitchFamily="34" charset="-122"/>
                          <a:ea typeface="微软雅黑" panose="020B0503020204020204" pitchFamily="34" charset="-122"/>
                        </a:rPr>
                        <a:t>之间</a:t>
                      </a:r>
                      <a:r>
                        <a:rPr lang="zh-CN" sz="1400" b="1" dirty="0">
                          <a:effectLst/>
                          <a:latin typeface="微软雅黑" panose="020B0503020204020204" pitchFamily="34" charset="-122"/>
                          <a:ea typeface="微软雅黑" panose="020B0503020204020204" pitchFamily="34" charset="-122"/>
                        </a:rPr>
                        <a:t>的整数</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Interger32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和</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INTEGER </a:t>
                      </a:r>
                      <a:r>
                        <a:rPr lang="zh-CN" sz="1400" b="1" dirty="0" smtClean="0">
                          <a:effectLst/>
                          <a:latin typeface="微软雅黑" panose="020B0503020204020204" pitchFamily="34" charset="-122"/>
                          <a:ea typeface="微软雅黑" panose="020B0503020204020204" pitchFamily="34" charset="-122"/>
                        </a:rPr>
                        <a:t>相同</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Unsigned32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在</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 </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32</a:t>
                      </a:r>
                      <a:r>
                        <a:rPr lang="en-US" sz="1400" b="1" dirty="0" smtClean="0">
                          <a:effectLst/>
                          <a:latin typeface="微软雅黑" panose="020B0503020204020204" pitchFamily="34" charset="-122"/>
                          <a:ea typeface="微软雅黑" panose="020B0503020204020204" pitchFamily="34" charset="-122"/>
                        </a:rPr>
                        <a:t> </a:t>
                      </a:r>
                      <a:r>
                        <a:rPr lang="en-US" sz="1400" b="1" dirty="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 </a:t>
                      </a:r>
                      <a:r>
                        <a:rPr lang="zh-CN" sz="1400" b="1" dirty="0" smtClean="0">
                          <a:effectLst/>
                          <a:latin typeface="微软雅黑" panose="020B0503020204020204" pitchFamily="34" charset="-122"/>
                          <a:ea typeface="微软雅黑" panose="020B0503020204020204" pitchFamily="34" charset="-122"/>
                        </a:rPr>
                        <a:t>之间</a:t>
                      </a:r>
                      <a:r>
                        <a:rPr lang="zh-CN" sz="1400" b="1" dirty="0">
                          <a:effectLst/>
                          <a:latin typeface="微软雅黑" panose="020B0503020204020204" pitchFamily="34" charset="-122"/>
                          <a:ea typeface="微软雅黑" panose="020B0503020204020204" pitchFamily="34" charset="-122"/>
                        </a:rPr>
                        <a:t>的无符号数</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OCTET STRING</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可变</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不</a:t>
                      </a:r>
                      <a:r>
                        <a:rPr lang="zh-CN" sz="1400" b="1" dirty="0" smtClean="0">
                          <a:effectLst/>
                          <a:latin typeface="微软雅黑" panose="020B0503020204020204" pitchFamily="34" charset="-122"/>
                          <a:ea typeface="微软雅黑" panose="020B0503020204020204" pitchFamily="34" charset="-122"/>
                        </a:rPr>
                        <a:t>超过</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65535 </a:t>
                      </a:r>
                      <a:r>
                        <a:rPr lang="zh-CN" sz="1400" b="1" dirty="0" smtClean="0">
                          <a:effectLst/>
                          <a:latin typeface="微软雅黑" panose="020B0503020204020204" pitchFamily="34" charset="-122"/>
                          <a:ea typeface="微软雅黑" panose="020B0503020204020204" pitchFamily="34" charset="-122"/>
                        </a:rPr>
                        <a:t>字节</a:t>
                      </a:r>
                      <a:r>
                        <a:rPr lang="zh-CN" sz="1400" b="1" dirty="0">
                          <a:effectLst/>
                          <a:latin typeface="微软雅黑" panose="020B0503020204020204" pitchFamily="34" charset="-122"/>
                          <a:ea typeface="微软雅黑" panose="020B0503020204020204" pitchFamily="34" charset="-122"/>
                        </a:rPr>
                        <a:t>长的字节串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OBJECT IDENTIFIER</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可变</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对象标识符</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err="1">
                          <a:effectLst/>
                          <a:latin typeface="微软雅黑" panose="020B0503020204020204" pitchFamily="34" charset="-122"/>
                          <a:ea typeface="微软雅黑" panose="020B0503020204020204" pitchFamily="34" charset="-122"/>
                        </a:rPr>
                        <a:t>IPAddress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由</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个</a:t>
                      </a:r>
                      <a:r>
                        <a:rPr lang="zh-CN" sz="1400" b="1" dirty="0">
                          <a:effectLst/>
                          <a:latin typeface="微软雅黑" panose="020B0503020204020204" pitchFamily="34" charset="-122"/>
                          <a:ea typeface="微软雅黑" panose="020B0503020204020204" pitchFamily="34" charset="-122"/>
                        </a:rPr>
                        <a:t>整数组成的</a:t>
                      </a:r>
                      <a:r>
                        <a:rPr lang="en-US" sz="1400" b="1" dirty="0">
                          <a:effectLst/>
                          <a:latin typeface="微软雅黑" panose="020B0503020204020204" pitchFamily="34" charset="-122"/>
                          <a:ea typeface="微软雅黑" panose="020B0503020204020204" pitchFamily="34" charset="-122"/>
                        </a:rPr>
                        <a:t>IP</a:t>
                      </a:r>
                      <a:r>
                        <a:rPr lang="zh-CN" sz="1400" b="1" dirty="0">
                          <a:effectLst/>
                          <a:latin typeface="微软雅黑" panose="020B0503020204020204" pitchFamily="34" charset="-122"/>
                          <a:ea typeface="微软雅黑" panose="020B0503020204020204" pitchFamily="34" charset="-122"/>
                        </a:rPr>
                        <a:t>地址</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Counter32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a:t>
                      </a:r>
                      <a:r>
                        <a:rPr lang="zh-CN" sz="1400" b="1" dirty="0" smtClean="0">
                          <a:effectLst/>
                          <a:latin typeface="微软雅黑" panose="020B0503020204020204" pitchFamily="34" charset="-122"/>
                          <a:ea typeface="微软雅黑" panose="020B0503020204020204" pitchFamily="34" charset="-122"/>
                        </a:rPr>
                        <a:t>从</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 </a:t>
                      </a:r>
                      <a:r>
                        <a:rPr lang="zh-CN" sz="1400" b="1" dirty="0" smtClean="0">
                          <a:effectLst/>
                          <a:latin typeface="微软雅黑" panose="020B0503020204020204" pitchFamily="34" charset="-122"/>
                          <a:ea typeface="微软雅黑" panose="020B0503020204020204" pitchFamily="34" charset="-122"/>
                        </a:rPr>
                        <a:t>增加到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32 </a:t>
                      </a:r>
                      <a:r>
                        <a:rPr lang="zh-CN" sz="1400" b="1" dirty="0" smtClean="0">
                          <a:effectLst/>
                          <a:latin typeface="微软雅黑" panose="020B0503020204020204" pitchFamily="34" charset="-122"/>
                          <a:ea typeface="微软雅黑" panose="020B0503020204020204" pitchFamily="34" charset="-122"/>
                        </a:rPr>
                        <a:t>的</a:t>
                      </a:r>
                      <a:r>
                        <a:rPr lang="zh-CN" sz="1400" b="1" dirty="0">
                          <a:effectLst/>
                          <a:latin typeface="微软雅黑" panose="020B0503020204020204" pitchFamily="34" charset="-122"/>
                          <a:ea typeface="微软雅黑" panose="020B0503020204020204" pitchFamily="34" charset="-122"/>
                        </a:rPr>
                        <a:t>整数；当它到达最大值时就返回</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err="1">
                          <a:effectLst/>
                          <a:latin typeface="微软雅黑" panose="020B0503020204020204" pitchFamily="34" charset="-122"/>
                          <a:ea typeface="微软雅黑" panose="020B0503020204020204" pitchFamily="34" charset="-122"/>
                        </a:rPr>
                        <a:t>TimeTicks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记录时间的计数值，</a:t>
                      </a:r>
                      <a:r>
                        <a:rPr lang="zh-CN" sz="1400" b="1" dirty="0" smtClean="0">
                          <a:effectLst/>
                          <a:latin typeface="微软雅黑" panose="020B0503020204020204" pitchFamily="34" charset="-122"/>
                          <a:ea typeface="微软雅黑" panose="020B0503020204020204" pitchFamily="34" charset="-122"/>
                        </a:rPr>
                        <a:t>以</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1/100 </a:t>
                      </a:r>
                      <a:r>
                        <a:rPr lang="zh-CN" sz="1400" b="1" dirty="0" smtClean="0">
                          <a:effectLst/>
                          <a:latin typeface="微软雅黑" panose="020B0503020204020204" pitchFamily="34" charset="-122"/>
                          <a:ea typeface="微软雅黑" panose="020B0503020204020204" pitchFamily="34" charset="-122"/>
                        </a:rPr>
                        <a:t>秒</a:t>
                      </a:r>
                      <a:r>
                        <a:rPr lang="zh-CN" sz="1400" b="1" dirty="0">
                          <a:effectLst/>
                          <a:latin typeface="微软雅黑" panose="020B0503020204020204" pitchFamily="34" charset="-122"/>
                          <a:ea typeface="微软雅黑" panose="020B0503020204020204" pitchFamily="34" charset="-122"/>
                        </a:rPr>
                        <a:t>为单位</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BITS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a:effectLst/>
                          <a:latin typeface="微软雅黑" panose="020B0503020204020204" pitchFamily="34" charset="-122"/>
                          <a:ea typeface="微软雅黑" panose="020B0503020204020204" pitchFamily="34" charset="-122"/>
                        </a:rPr>
                        <a:t>—</a:t>
                      </a:r>
                      <a:endParaRPr lang="zh-CN" sz="14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比特串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Opaque</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a:effectLst/>
                          <a:latin typeface="微软雅黑" panose="020B0503020204020204" pitchFamily="34" charset="-122"/>
                          <a:ea typeface="微软雅黑" panose="020B0503020204020204" pitchFamily="34" charset="-122"/>
                        </a:rPr>
                        <a:t>可变</a:t>
                      </a:r>
                      <a:endParaRPr lang="zh-CN" sz="14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不解释的串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值</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例如，</a:t>
            </a:r>
            <a:r>
              <a:rPr lang="en-US" altLang="zh-CN" sz="2000" b="1" dirty="0">
                <a:latin typeface="微软雅黑" panose="020B0503020204020204" pitchFamily="34" charset="-122"/>
                <a:ea typeface="微软雅黑" panose="020B0503020204020204" pitchFamily="34" charset="-122"/>
              </a:rPr>
              <a:t>INTEGER 15</a:t>
            </a:r>
            <a:r>
              <a:rPr lang="zh-CN" altLang="en-US" sz="2000" b="1" dirty="0">
                <a:latin typeface="微软雅黑" panose="020B0503020204020204" pitchFamily="34" charset="-122"/>
                <a:ea typeface="微软雅黑" panose="020B0503020204020204" pitchFamily="34" charset="-122"/>
              </a:rPr>
              <a:t>，其 </a:t>
            </a:r>
            <a:r>
              <a:rPr lang="en-US" altLang="zh-CN" sz="2000" b="1" dirty="0">
                <a:latin typeface="微软雅黑" panose="020B0503020204020204" pitchFamily="34" charset="-122"/>
                <a:ea typeface="微软雅黑" panose="020B0503020204020204" pitchFamily="34" charset="-122"/>
              </a:rPr>
              <a:t>T </a:t>
            </a:r>
            <a:r>
              <a:rPr lang="zh-CN" altLang="en-US" sz="2000" b="1" dirty="0">
                <a:latin typeface="微软雅黑" panose="020B0503020204020204" pitchFamily="34" charset="-122"/>
                <a:ea typeface="微软雅黑" panose="020B0503020204020204" pitchFamily="34" charset="-122"/>
              </a:rPr>
              <a:t>字段</a:t>
            </a:r>
            <a:r>
              <a:rPr lang="zh-CN" altLang="en-US" sz="2000" b="1" dirty="0" smtClean="0">
                <a:latin typeface="微软雅黑" panose="020B0503020204020204" pitchFamily="34" charset="-122"/>
                <a:ea typeface="微软雅黑" panose="020B0503020204020204" pitchFamily="34" charset="-122"/>
              </a:rPr>
              <a:t>是 </a:t>
            </a:r>
            <a:r>
              <a:rPr lang="en-US" altLang="zh-CN" sz="2000" b="1" dirty="0" smtClean="0">
                <a:latin typeface="微软雅黑" panose="020B0503020204020204" pitchFamily="34" charset="-122"/>
                <a:ea typeface="微软雅黑" panose="020B0503020204020204" pitchFamily="34" charset="-122"/>
              </a:rPr>
              <a:t>02</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INTEGER </a:t>
            </a:r>
            <a:r>
              <a:rPr lang="zh-CN" altLang="en-US" sz="2000" b="1" dirty="0">
                <a:latin typeface="微软雅黑" panose="020B0503020204020204" pitchFamily="34" charset="-122"/>
                <a:ea typeface="微软雅黑" panose="020B0503020204020204" pitchFamily="34" charset="-122"/>
              </a:rPr>
              <a:t>类型要用 </a:t>
            </a:r>
            <a:r>
              <a:rPr lang="en-US" altLang="zh-CN" sz="2000" b="1" dirty="0">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字节编码。最后得出 </a:t>
            </a:r>
            <a:r>
              <a:rPr lang="en-US" altLang="zh-CN" sz="2000" b="1" dirty="0">
                <a:latin typeface="微软雅黑" panose="020B0503020204020204" pitchFamily="34" charset="-122"/>
                <a:ea typeface="微软雅黑" panose="020B0503020204020204" pitchFamily="34" charset="-122"/>
              </a:rPr>
              <a:t>TLV </a:t>
            </a:r>
            <a:r>
              <a:rPr lang="zh-CN" altLang="en-US" sz="2000" b="1" dirty="0">
                <a:latin typeface="微软雅黑" panose="020B0503020204020204" pitchFamily="34" charset="-122"/>
                <a:ea typeface="微软雅黑" panose="020B0503020204020204" pitchFamily="34" charset="-122"/>
              </a:rPr>
              <a:t>编码为 </a:t>
            </a:r>
            <a:r>
              <a:rPr lang="en-US" altLang="zh-CN" sz="2000" b="1" dirty="0">
                <a:latin typeface="微软雅黑" panose="020B0503020204020204" pitchFamily="34" charset="-122"/>
                <a:ea typeface="微软雅黑" panose="020B0503020204020204" pitchFamily="34" charset="-122"/>
              </a:rPr>
              <a:t>02 04 00 00 00 0F</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pSp>
        <p:nvGrpSpPr>
          <p:cNvPr id="14" name="组合 13"/>
          <p:cNvGrpSpPr/>
          <p:nvPr/>
        </p:nvGrpSpPr>
        <p:grpSpPr>
          <a:xfrm>
            <a:off x="1819921" y="2016696"/>
            <a:ext cx="5495279" cy="613023"/>
            <a:chOff x="1494111" y="2655888"/>
            <a:chExt cx="5495279" cy="812526"/>
          </a:xfrm>
        </p:grpSpPr>
        <p:sp>
          <p:nvSpPr>
            <p:cNvPr id="5" name="Rectangle 38"/>
            <p:cNvSpPr>
              <a:spLocks noChangeArrowheads="1"/>
            </p:cNvSpPr>
            <p:nvPr/>
          </p:nvSpPr>
          <p:spPr bwMode="auto">
            <a:xfrm>
              <a:off x="1494111" y="2655888"/>
              <a:ext cx="5495279" cy="812526"/>
            </a:xfrm>
            <a:prstGeom prst="rect">
              <a:avLst/>
            </a:prstGeom>
            <a:solidFill>
              <a:srgbClr val="99FF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nvGrpSpPr>
            <p:cNvPr id="13" name="组合 12"/>
            <p:cNvGrpSpPr/>
            <p:nvPr/>
          </p:nvGrpSpPr>
          <p:grpSpPr>
            <a:xfrm>
              <a:off x="3031573" y="2655888"/>
              <a:ext cx="1324693" cy="812526"/>
              <a:chOff x="3031573" y="2655888"/>
              <a:chExt cx="1324693" cy="569913"/>
            </a:xfrm>
          </p:grpSpPr>
          <p:sp>
            <p:nvSpPr>
              <p:cNvPr id="6" name="Line 39"/>
              <p:cNvSpPr>
                <a:spLocks noChangeShapeType="1"/>
              </p:cNvSpPr>
              <p:nvPr/>
            </p:nvSpPr>
            <p:spPr bwMode="auto">
              <a:xfrm>
                <a:off x="3031573"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sp>
            <p:nvSpPr>
              <p:cNvPr id="7" name="Line 40"/>
              <p:cNvSpPr>
                <a:spLocks noChangeShapeType="1"/>
              </p:cNvSpPr>
              <p:nvPr/>
            </p:nvSpPr>
            <p:spPr bwMode="auto">
              <a:xfrm>
                <a:off x="4356266"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grpSp>
      <p:sp>
        <p:nvSpPr>
          <p:cNvPr id="9"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T</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02</a:t>
            </a:r>
            <a:endParaRPr kumimoji="1" lang="en-US" altLang="zh-CN" sz="1600" b="1" dirty="0">
              <a:latin typeface="微软雅黑" panose="020B0503020204020204" pitchFamily="34" charset="-122"/>
              <a:ea typeface="微软雅黑" panose="020B0503020204020204" pitchFamily="34" charset="-122"/>
            </a:endParaRPr>
          </a:p>
        </p:txBody>
      </p:sp>
      <p:sp>
        <p:nvSpPr>
          <p:cNvPr id="10"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L</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04</a:t>
            </a:r>
            <a:endParaRPr kumimoji="1" lang="en-US" altLang="zh-CN" sz="1600" b="1" dirty="0">
              <a:latin typeface="微软雅黑" panose="020B0503020204020204" pitchFamily="34" charset="-122"/>
              <a:ea typeface="微软雅黑" panose="020B0503020204020204" pitchFamily="34" charset="-122"/>
            </a:endParaRPr>
          </a:p>
        </p:txBody>
      </p:sp>
      <p:sp>
        <p:nvSpPr>
          <p:cNvPr id="11" name="Text Box 58"/>
          <p:cNvSpPr txBox="1">
            <a:spLocks noChangeArrowheads="1"/>
          </p:cNvSpPr>
          <p:nvPr/>
        </p:nvSpPr>
        <p:spPr bwMode="auto">
          <a:xfrm>
            <a:off x="5299792" y="2044944"/>
            <a:ext cx="136768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V</a:t>
            </a:r>
            <a:endParaRPr kumimoji="1" lang="en-US" altLang="zh-CN" sz="1600" b="1" dirty="0" smtClean="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00 00 00 0F</a:t>
            </a:r>
            <a:endParaRPr kumimoji="1" lang="en-US"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值</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例如</a:t>
            </a:r>
            <a:r>
              <a:rPr lang="zh-CN" altLang="en-US"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IPAddress</a:t>
            </a:r>
            <a:r>
              <a:rPr lang="en-US" altLang="zh-CN" sz="2000" b="1" dirty="0" smtClean="0">
                <a:latin typeface="微软雅黑" panose="020B0503020204020204" pitchFamily="34" charset="-122"/>
                <a:ea typeface="微软雅黑" panose="020B0503020204020204" pitchFamily="34" charset="-122"/>
              </a:rPr>
              <a:t> = 192.1.2.3</a:t>
            </a:r>
            <a:r>
              <a:rPr lang="zh-CN" altLang="en-US" sz="2000" b="1" dirty="0">
                <a:latin typeface="微软雅黑" panose="020B0503020204020204" pitchFamily="34" charset="-122"/>
                <a:ea typeface="微软雅黑" panose="020B0503020204020204" pitchFamily="34" charset="-122"/>
              </a:rPr>
              <a:t>，其 </a:t>
            </a:r>
            <a:r>
              <a:rPr lang="en-US" altLang="zh-CN" sz="2000" b="1" dirty="0">
                <a:latin typeface="微软雅黑" panose="020B0503020204020204" pitchFamily="34" charset="-122"/>
                <a:ea typeface="微软雅黑" panose="020B0503020204020204" pitchFamily="34" charset="-122"/>
              </a:rPr>
              <a:t>T </a:t>
            </a:r>
            <a:r>
              <a:rPr lang="zh-CN" altLang="en-US" sz="2000" b="1" dirty="0">
                <a:latin typeface="微软雅黑" panose="020B0503020204020204" pitchFamily="34" charset="-122"/>
                <a:ea typeface="微软雅黑" panose="020B0503020204020204" pitchFamily="34" charset="-122"/>
              </a:rPr>
              <a:t>字段是 </a:t>
            </a:r>
            <a:r>
              <a:rPr lang="en-US" altLang="zh-CN" sz="2000" b="1" dirty="0">
                <a:latin typeface="微软雅黑" panose="020B0503020204020204" pitchFamily="34" charset="-122"/>
                <a:ea typeface="微软雅黑" panose="020B0503020204020204" pitchFamily="34" charset="-122"/>
              </a:rPr>
              <a:t>40</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V </a:t>
            </a:r>
            <a:r>
              <a:rPr lang="zh-CN" altLang="en-US" sz="2000" b="1" dirty="0">
                <a:latin typeface="微软雅黑" panose="020B0503020204020204" pitchFamily="34" charset="-122"/>
                <a:ea typeface="微软雅黑" panose="020B0503020204020204" pitchFamily="34" charset="-122"/>
              </a:rPr>
              <a:t>字段需要 </a:t>
            </a:r>
            <a:r>
              <a:rPr lang="en-US" altLang="zh-CN" sz="2000" b="1" dirty="0">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字节表示，因此</a:t>
            </a:r>
            <a:r>
              <a:rPr lang="zh-CN" altLang="en-US" sz="2000" b="1" dirty="0" smtClean="0">
                <a:latin typeface="微软雅黑" panose="020B0503020204020204" pitchFamily="34" charset="-122"/>
                <a:ea typeface="微软雅黑" panose="020B0503020204020204" pitchFamily="34" charset="-122"/>
              </a:rPr>
              <a:t>得出 </a:t>
            </a:r>
            <a:r>
              <a:rPr lang="en-US" altLang="zh-CN" sz="2000" b="1" dirty="0">
                <a:latin typeface="微软雅黑" panose="020B0503020204020204" pitchFamily="34" charset="-122"/>
                <a:ea typeface="微软雅黑" panose="020B0503020204020204" pitchFamily="34" charset="-122"/>
              </a:rPr>
              <a:t>TLV </a:t>
            </a:r>
            <a:r>
              <a:rPr lang="zh-CN" altLang="en-US" sz="2000" b="1" dirty="0">
                <a:latin typeface="微软雅黑" panose="020B0503020204020204" pitchFamily="34" charset="-122"/>
                <a:ea typeface="微软雅黑" panose="020B0503020204020204" pitchFamily="34" charset="-122"/>
              </a:rPr>
              <a:t>编码是 </a:t>
            </a:r>
            <a:r>
              <a:rPr lang="en-US" altLang="zh-CN" sz="2000" b="1" dirty="0">
                <a:latin typeface="微软雅黑" panose="020B0503020204020204" pitchFamily="34" charset="-122"/>
                <a:ea typeface="微软雅黑" panose="020B0503020204020204" pitchFamily="34" charset="-122"/>
              </a:rPr>
              <a:t>40 04 C0 01 02 03</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grpSp>
        <p:nvGrpSpPr>
          <p:cNvPr id="10" name="组合 9"/>
          <p:cNvGrpSpPr/>
          <p:nvPr/>
        </p:nvGrpSpPr>
        <p:grpSpPr>
          <a:xfrm>
            <a:off x="1819922" y="2016696"/>
            <a:ext cx="5513033" cy="613023"/>
            <a:chOff x="1494112" y="2655888"/>
            <a:chExt cx="5513033" cy="812526"/>
          </a:xfrm>
        </p:grpSpPr>
        <p:sp>
          <p:nvSpPr>
            <p:cNvPr id="11" name="Rectangle 38"/>
            <p:cNvSpPr>
              <a:spLocks noChangeArrowheads="1"/>
            </p:cNvSpPr>
            <p:nvPr/>
          </p:nvSpPr>
          <p:spPr bwMode="auto">
            <a:xfrm>
              <a:off x="1494112" y="2655888"/>
              <a:ext cx="5513033" cy="812526"/>
            </a:xfrm>
            <a:prstGeom prst="rect">
              <a:avLst/>
            </a:prstGeom>
            <a:solidFill>
              <a:srgbClr val="99FF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nvGrpSpPr>
            <p:cNvPr id="12" name="组合 11"/>
            <p:cNvGrpSpPr/>
            <p:nvPr/>
          </p:nvGrpSpPr>
          <p:grpSpPr>
            <a:xfrm>
              <a:off x="3031573" y="2655888"/>
              <a:ext cx="1324693" cy="812526"/>
              <a:chOff x="3031573" y="2655888"/>
              <a:chExt cx="1324693" cy="569913"/>
            </a:xfrm>
          </p:grpSpPr>
          <p:sp>
            <p:nvSpPr>
              <p:cNvPr id="13" name="Line 39"/>
              <p:cNvSpPr>
                <a:spLocks noChangeShapeType="1"/>
              </p:cNvSpPr>
              <p:nvPr/>
            </p:nvSpPr>
            <p:spPr bwMode="auto">
              <a:xfrm>
                <a:off x="3031573"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sp>
            <p:nvSpPr>
              <p:cNvPr id="14" name="Line 40"/>
              <p:cNvSpPr>
                <a:spLocks noChangeShapeType="1"/>
              </p:cNvSpPr>
              <p:nvPr/>
            </p:nvSpPr>
            <p:spPr bwMode="auto">
              <a:xfrm>
                <a:off x="4356266"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grpSp>
      <p:sp>
        <p:nvSpPr>
          <p:cNvPr id="15"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T</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40</a:t>
            </a:r>
            <a:endParaRPr kumimoji="1" lang="en-US" altLang="zh-CN" sz="1600" b="1" dirty="0">
              <a:latin typeface="微软雅黑" panose="020B0503020204020204" pitchFamily="34" charset="-122"/>
              <a:ea typeface="微软雅黑" panose="020B0503020204020204" pitchFamily="34" charset="-122"/>
            </a:endParaRPr>
          </a:p>
        </p:txBody>
      </p:sp>
      <p:sp>
        <p:nvSpPr>
          <p:cNvPr id="16"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L</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04</a:t>
            </a:r>
            <a:endParaRPr kumimoji="1" lang="en-US" altLang="zh-CN" sz="1600" b="1" dirty="0">
              <a:latin typeface="微软雅黑" panose="020B0503020204020204" pitchFamily="34" charset="-122"/>
              <a:ea typeface="微软雅黑" panose="020B0503020204020204" pitchFamily="34" charset="-122"/>
            </a:endParaRPr>
          </a:p>
        </p:txBody>
      </p:sp>
      <p:sp>
        <p:nvSpPr>
          <p:cNvPr id="17" name="Text Box 58"/>
          <p:cNvSpPr txBox="1">
            <a:spLocks noChangeArrowheads="1"/>
          </p:cNvSpPr>
          <p:nvPr/>
        </p:nvSpPr>
        <p:spPr bwMode="auto">
          <a:xfrm>
            <a:off x="5294181" y="2044944"/>
            <a:ext cx="137890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V</a:t>
            </a:r>
            <a:endParaRPr kumimoji="1" lang="en-US" altLang="zh-CN" sz="1600" b="1" dirty="0" smtClean="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C</a:t>
            </a:r>
            <a:r>
              <a:rPr kumimoji="1" lang="en-US" altLang="zh-CN" sz="1600" b="1" dirty="0" smtClean="0">
                <a:latin typeface="微软雅黑" panose="020B0503020204020204" pitchFamily="34" charset="-122"/>
                <a:ea typeface="微软雅黑" panose="020B0503020204020204" pitchFamily="34" charset="-122"/>
              </a:rPr>
              <a:t>0 01 02 03</a:t>
            </a:r>
            <a:endParaRPr kumimoji="1" lang="en-US"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101469"/>
            <a:ext cx="8048776" cy="236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43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85243" y="581164"/>
            <a:ext cx="5792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字段可嵌套其他数据元素</a:t>
            </a:r>
            <a:r>
              <a:rPr lang="zh-CN" altLang="en-US" sz="2000" b="1" dirty="0" smtClean="0">
                <a:solidFill>
                  <a:schemeClr val="bg1"/>
                </a:solidFill>
                <a:latin typeface="微软雅黑" panose="020B0503020204020204" pitchFamily="34" charset="-122"/>
                <a:ea typeface="微软雅黑" panose="020B0503020204020204" pitchFamily="34" charset="-122"/>
              </a:rPr>
              <a:t>的 </a:t>
            </a:r>
            <a:r>
              <a:rPr lang="en-US" altLang="zh-CN" sz="2000" b="1" dirty="0" smtClean="0">
                <a:solidFill>
                  <a:schemeClr val="bg1"/>
                </a:solidFill>
                <a:latin typeface="微软雅黑" panose="020B0503020204020204" pitchFamily="34" charset="-122"/>
                <a:ea typeface="微软雅黑" panose="020B0503020204020204" pitchFamily="34" charset="-122"/>
              </a:rPr>
              <a:t>TLV </a:t>
            </a:r>
            <a:r>
              <a:rPr lang="zh-CN" altLang="en-US" sz="2000" b="1" dirty="0" smtClean="0">
                <a:solidFill>
                  <a:schemeClr val="bg1"/>
                </a:solidFill>
                <a:latin typeface="微软雅黑" panose="020B0503020204020204" pitchFamily="34" charset="-122"/>
                <a:ea typeface="微软雅黑" panose="020B0503020204020204" pitchFamily="34" charset="-122"/>
              </a:rPr>
              <a:t>字段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 name="组合 7"/>
          <p:cNvGrpSpPr/>
          <p:nvPr/>
        </p:nvGrpSpPr>
        <p:grpSpPr>
          <a:xfrm>
            <a:off x="1082567" y="2024558"/>
            <a:ext cx="6663558" cy="925513"/>
            <a:chOff x="1082567" y="2669299"/>
            <a:chExt cx="6663558" cy="925513"/>
          </a:xfrm>
        </p:grpSpPr>
        <p:sp>
          <p:nvSpPr>
            <p:cNvPr id="18" name="Freeform 5"/>
            <p:cNvSpPr/>
            <p:nvPr/>
          </p:nvSpPr>
          <p:spPr bwMode="auto">
            <a:xfrm>
              <a:off x="1088006" y="2669299"/>
              <a:ext cx="6656306" cy="352425"/>
            </a:xfrm>
            <a:custGeom>
              <a:avLst/>
              <a:gdLst>
                <a:gd name="T0" fmla="*/ 0 w 3672"/>
                <a:gd name="T1" fmla="*/ 222 h 222"/>
                <a:gd name="T2" fmla="*/ 2556 w 3672"/>
                <a:gd name="T3" fmla="*/ 0 h 222"/>
                <a:gd name="T4" fmla="*/ 3564 w 3672"/>
                <a:gd name="T5" fmla="*/ 6 h 222"/>
                <a:gd name="T6" fmla="*/ 3672 w 3672"/>
                <a:gd name="T7" fmla="*/ 222 h 222"/>
                <a:gd name="T8" fmla="*/ 0 w 3672"/>
                <a:gd name="T9" fmla="*/ 222 h 222"/>
              </a:gdLst>
              <a:ahLst/>
              <a:cxnLst>
                <a:cxn ang="0">
                  <a:pos x="T0" y="T1"/>
                </a:cxn>
                <a:cxn ang="0">
                  <a:pos x="T2" y="T3"/>
                </a:cxn>
                <a:cxn ang="0">
                  <a:pos x="T4" y="T5"/>
                </a:cxn>
                <a:cxn ang="0">
                  <a:pos x="T6" y="T7"/>
                </a:cxn>
                <a:cxn ang="0">
                  <a:pos x="T8" y="T9"/>
                </a:cxn>
              </a:cxnLst>
              <a:rect l="0" t="0" r="r" b="b"/>
              <a:pathLst>
                <a:path w="3672" h="222">
                  <a:moveTo>
                    <a:pt x="0" y="222"/>
                  </a:moveTo>
                  <a:lnTo>
                    <a:pt x="2556" y="0"/>
                  </a:lnTo>
                  <a:lnTo>
                    <a:pt x="3564" y="6"/>
                  </a:lnTo>
                  <a:lnTo>
                    <a:pt x="3672" y="222"/>
                  </a:lnTo>
                  <a:lnTo>
                    <a:pt x="0" y="222"/>
                  </a:lnTo>
                  <a:close/>
                </a:path>
              </a:pathLst>
            </a:custGeom>
            <a:gradFill rotWithShape="1">
              <a:gsLst>
                <a:gs pos="0">
                  <a:srgbClr val="00CCFF"/>
                </a:gs>
                <a:gs pos="100000">
                  <a:srgbClr val="66FF66"/>
                </a:gs>
              </a:gsLst>
              <a:lin ang="5400000" scaled="1"/>
            </a:gradFill>
            <a:ln>
              <a:noFill/>
            </a:ln>
            <a:effectLst/>
            <a:extLst>
              <a:ext uri="{91240B29-F687-4F45-9708-019B960494DF}">
                <a14:hiddenLine xmlns:a14="http://schemas.microsoft.com/office/drawing/2010/main" w="19050">
                  <a:solidFill>
                    <a:srgbClr val="333399"/>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9" name="Rectangle 9"/>
            <p:cNvSpPr>
              <a:spLocks noChangeArrowheads="1"/>
            </p:cNvSpPr>
            <p:nvPr/>
          </p:nvSpPr>
          <p:spPr bwMode="auto">
            <a:xfrm>
              <a:off x="1102597" y="3024899"/>
              <a:ext cx="6643528" cy="569913"/>
            </a:xfrm>
            <a:prstGeom prst="rect">
              <a:avLst/>
            </a:prstGeom>
            <a:solidFill>
              <a:srgbClr val="0000FF"/>
            </a:solidFill>
            <a:ln w="1905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4"/>
            <p:cNvSpPr txBox="1">
              <a:spLocks noChangeArrowheads="1"/>
            </p:cNvSpPr>
            <p:nvPr/>
          </p:nvSpPr>
          <p:spPr bwMode="auto">
            <a:xfrm>
              <a:off x="3858732" y="3162514"/>
              <a:ext cx="1002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anose="020B0503020204020204" pitchFamily="34" charset="-122"/>
                  <a:ea typeface="微软雅黑" panose="020B0503020204020204" pitchFamily="34" charset="-122"/>
                </a:rPr>
                <a:t>           </a:t>
              </a:r>
              <a:r>
                <a:rPr kumimoji="1" lang="en-US" altLang="zh-CN" sz="16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2" name="Text Box 15"/>
            <p:cNvSpPr txBox="1">
              <a:spLocks noChangeArrowheads="1"/>
            </p:cNvSpPr>
            <p:nvPr/>
          </p:nvSpPr>
          <p:spPr bwMode="auto">
            <a:xfrm>
              <a:off x="300083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3" name="Text Box 16"/>
            <p:cNvSpPr txBox="1">
              <a:spLocks noChangeArrowheads="1"/>
            </p:cNvSpPr>
            <p:nvPr/>
          </p:nvSpPr>
          <p:spPr bwMode="auto">
            <a:xfrm>
              <a:off x="1429427" y="3170338"/>
              <a:ext cx="922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panose="020B0503020204020204" pitchFamily="34" charset="-122"/>
                  <a:ea typeface="微软雅黑" panose="020B0503020204020204" pitchFamily="34" charset="-122"/>
                </a:rPr>
                <a:t>    </a:t>
              </a:r>
              <a:r>
                <a:rPr kumimoji="1" lang="en-US" altLang="zh-CN" sz="1600" b="1" dirty="0" smtClean="0">
                  <a:solidFill>
                    <a:schemeClr val="bg1"/>
                  </a:solidFill>
                  <a:latin typeface="微软雅黑" panose="020B0503020204020204" pitchFamily="34" charset="-122"/>
                  <a:ea typeface="微软雅黑" panose="020B0503020204020204" pitchFamily="34" charset="-122"/>
                </a:rPr>
                <a:t>      T</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4" name="Text Box 17"/>
            <p:cNvSpPr txBox="1">
              <a:spLocks noChangeArrowheads="1"/>
            </p:cNvSpPr>
            <p:nvPr/>
          </p:nvSpPr>
          <p:spPr bwMode="auto">
            <a:xfrm>
              <a:off x="6107905" y="3162514"/>
              <a:ext cx="31290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5" name="Text Box 18"/>
            <p:cNvSpPr txBox="1">
              <a:spLocks noChangeArrowheads="1"/>
            </p:cNvSpPr>
            <p:nvPr/>
          </p:nvSpPr>
          <p:spPr bwMode="auto">
            <a:xfrm>
              <a:off x="676041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31" name="Line 93"/>
            <p:cNvSpPr>
              <a:spLocks noChangeShapeType="1"/>
            </p:cNvSpPr>
            <p:nvPr/>
          </p:nvSpPr>
          <p:spPr bwMode="auto">
            <a:xfrm>
              <a:off x="5855665"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 name="Line 94"/>
            <p:cNvSpPr>
              <a:spLocks noChangeShapeType="1"/>
            </p:cNvSpPr>
            <p:nvPr/>
          </p:nvSpPr>
          <p:spPr bwMode="auto">
            <a:xfrm>
              <a:off x="2928124"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Line 95"/>
            <p:cNvSpPr>
              <a:spLocks noChangeShapeType="1"/>
            </p:cNvSpPr>
            <p:nvPr/>
          </p:nvSpPr>
          <p:spPr bwMode="auto">
            <a:xfrm>
              <a:off x="3399431"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4" name="Line 96"/>
            <p:cNvSpPr>
              <a:spLocks noChangeShapeType="1"/>
            </p:cNvSpPr>
            <p:nvPr/>
          </p:nvSpPr>
          <p:spPr bwMode="auto">
            <a:xfrm>
              <a:off x="6722145"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7" name="Line 107"/>
            <p:cNvSpPr>
              <a:spLocks noChangeShapeType="1"/>
            </p:cNvSpPr>
            <p:nvPr/>
          </p:nvSpPr>
          <p:spPr bwMode="auto">
            <a:xfrm flipV="1">
              <a:off x="1082567" y="2686761"/>
              <a:ext cx="4644187" cy="3381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Line 108"/>
            <p:cNvSpPr>
              <a:spLocks noChangeShapeType="1"/>
            </p:cNvSpPr>
            <p:nvPr/>
          </p:nvSpPr>
          <p:spPr bwMode="auto">
            <a:xfrm flipH="1">
              <a:off x="5855665" y="2672474"/>
              <a:ext cx="679563" cy="3524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 name="Line 109"/>
            <p:cNvSpPr>
              <a:spLocks noChangeShapeType="1"/>
            </p:cNvSpPr>
            <p:nvPr/>
          </p:nvSpPr>
          <p:spPr bwMode="auto">
            <a:xfrm>
              <a:off x="7544913" y="2686761"/>
              <a:ext cx="201212" cy="3381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Line 96"/>
            <p:cNvSpPr>
              <a:spLocks noChangeShapeType="1"/>
            </p:cNvSpPr>
            <p:nvPr/>
          </p:nvSpPr>
          <p:spPr bwMode="auto">
            <a:xfrm>
              <a:off x="7184601"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7274836" y="3162514"/>
              <a:ext cx="3321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grpSp>
      <p:grpSp>
        <p:nvGrpSpPr>
          <p:cNvPr id="7" name="组合 6"/>
          <p:cNvGrpSpPr/>
          <p:nvPr/>
        </p:nvGrpSpPr>
        <p:grpSpPr>
          <a:xfrm>
            <a:off x="3808897" y="1484808"/>
            <a:ext cx="3736015" cy="552450"/>
            <a:chOff x="3808897" y="2129549"/>
            <a:chExt cx="3736015" cy="552450"/>
          </a:xfrm>
        </p:grpSpPr>
        <p:sp>
          <p:nvSpPr>
            <p:cNvPr id="20" name="Rectangle 10"/>
            <p:cNvSpPr>
              <a:spLocks noChangeArrowheads="1"/>
            </p:cNvSpPr>
            <p:nvPr/>
          </p:nvSpPr>
          <p:spPr bwMode="auto">
            <a:xfrm>
              <a:off x="3827024" y="2129549"/>
              <a:ext cx="3717888" cy="552450"/>
            </a:xfrm>
            <a:prstGeom prst="rect">
              <a:avLst/>
            </a:prstGeom>
            <a:solidFill>
              <a:srgbClr val="FFFF00"/>
            </a:solidFill>
            <a:ln w="1905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0"/>
            <p:cNvSpPr txBox="1">
              <a:spLocks noChangeArrowheads="1"/>
            </p:cNvSpPr>
            <p:nvPr/>
          </p:nvSpPr>
          <p:spPr bwMode="auto">
            <a:xfrm>
              <a:off x="3808897" y="224077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anose="020B0503020204020204" pitchFamily="34" charset="-122"/>
                  <a:ea typeface="微软雅黑" panose="020B0503020204020204" pitchFamily="34" charset="-122"/>
                </a:rPr>
                <a:t>         </a:t>
              </a:r>
              <a:r>
                <a:rPr kumimoji="1" lang="en-US" altLang="zh-CN" sz="1400" b="1" dirty="0" smtClean="0">
                  <a:solidFill>
                    <a:srgbClr val="333399"/>
                  </a:solidFill>
                  <a:latin typeface="微软雅黑" panose="020B0503020204020204" pitchFamily="34" charset="-122"/>
                  <a:ea typeface="微软雅黑" panose="020B0503020204020204" pitchFamily="34" charset="-122"/>
                </a:rPr>
                <a:t>T</a:t>
              </a:r>
              <a:endParaRPr kumimoji="1" lang="en-US" altLang="zh-CN" sz="1400" b="1" dirty="0">
                <a:solidFill>
                  <a:srgbClr val="333399"/>
                </a:solidFill>
                <a:latin typeface="微软雅黑" panose="020B0503020204020204" pitchFamily="34" charset="-122"/>
                <a:ea typeface="微软雅黑" panose="020B0503020204020204" pitchFamily="34" charset="-122"/>
              </a:endParaRPr>
            </a:p>
          </p:txBody>
        </p:sp>
        <p:sp>
          <p:nvSpPr>
            <p:cNvPr id="27" name="Rectangle 21"/>
            <p:cNvSpPr>
              <a:spLocks noChangeArrowheads="1"/>
            </p:cNvSpPr>
            <p:nvPr/>
          </p:nvSpPr>
          <p:spPr bwMode="auto">
            <a:xfrm>
              <a:off x="5732193" y="2142249"/>
              <a:ext cx="1812719" cy="5334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28" name="Text Box 22"/>
            <p:cNvSpPr txBox="1">
              <a:spLocks noChangeArrowheads="1"/>
            </p:cNvSpPr>
            <p:nvPr/>
          </p:nvSpPr>
          <p:spPr bwMode="auto">
            <a:xfrm>
              <a:off x="5222818" y="2240779"/>
              <a:ext cx="3882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anose="020B0503020204020204" pitchFamily="34" charset="-122"/>
                  <a:ea typeface="微软雅黑" panose="020B0503020204020204" pitchFamily="34" charset="-122"/>
                </a:rPr>
                <a:t>  </a:t>
              </a:r>
              <a:r>
                <a:rPr kumimoji="1" lang="en-US" altLang="zh-CN" sz="1400" b="1" dirty="0" smtClean="0">
                  <a:solidFill>
                    <a:srgbClr val="333399"/>
                  </a:solidFill>
                  <a:latin typeface="微软雅黑" panose="020B0503020204020204" pitchFamily="34" charset="-122"/>
                  <a:ea typeface="微软雅黑" panose="020B0503020204020204" pitchFamily="34" charset="-122"/>
                </a:rPr>
                <a:t>L</a:t>
              </a:r>
              <a:endParaRPr kumimoji="1" lang="en-US" altLang="zh-CN" sz="1400" b="1" dirty="0">
                <a:solidFill>
                  <a:srgbClr val="333399"/>
                </a:solidFill>
                <a:latin typeface="微软雅黑" panose="020B0503020204020204" pitchFamily="34" charset="-122"/>
                <a:ea typeface="微软雅黑" panose="020B0503020204020204" pitchFamily="34" charset="-122"/>
              </a:endParaRPr>
            </a:p>
          </p:txBody>
        </p:sp>
        <p:sp>
          <p:nvSpPr>
            <p:cNvPr id="29" name="Text Box 23"/>
            <p:cNvSpPr txBox="1">
              <a:spLocks noChangeArrowheads="1"/>
            </p:cNvSpPr>
            <p:nvPr/>
          </p:nvSpPr>
          <p:spPr bwMode="auto">
            <a:xfrm>
              <a:off x="5730380" y="2220036"/>
              <a:ext cx="1694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smtClean="0">
                  <a:solidFill>
                    <a:schemeClr val="bg1"/>
                  </a:solidFill>
                  <a:latin typeface="微软雅黑" panose="020B0503020204020204" pitchFamily="34" charset="-122"/>
                  <a:ea typeface="微软雅黑" panose="020B0503020204020204" pitchFamily="34" charset="-122"/>
                </a:rPr>
                <a:t>  name       value</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sp>
          <p:nvSpPr>
            <p:cNvPr id="30" name="Line 90"/>
            <p:cNvSpPr>
              <a:spLocks noChangeShapeType="1"/>
            </p:cNvSpPr>
            <p:nvPr/>
          </p:nvSpPr>
          <p:spPr bwMode="auto">
            <a:xfrm>
              <a:off x="5222818"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5" name="Line 105"/>
            <p:cNvSpPr>
              <a:spLocks noChangeShapeType="1"/>
            </p:cNvSpPr>
            <p:nvPr/>
          </p:nvSpPr>
          <p:spPr bwMode="auto">
            <a:xfrm>
              <a:off x="5726754"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6" name="Line 106"/>
            <p:cNvSpPr>
              <a:spLocks noChangeShapeType="1"/>
            </p:cNvSpPr>
            <p:nvPr/>
          </p:nvSpPr>
          <p:spPr bwMode="auto">
            <a:xfrm>
              <a:off x="6535227"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87087" y="572858"/>
            <a:ext cx="3369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6.7.3  </a:t>
            </a:r>
            <a:r>
              <a:rPr lang="zh-CN" altLang="en-US" sz="2400" b="1" dirty="0">
                <a:solidFill>
                  <a:schemeClr val="bg1"/>
                </a:solidFill>
                <a:latin typeface="微软雅黑" panose="020B0503020204020204" pitchFamily="34" charset="-122"/>
                <a:ea typeface="微软雅黑" panose="020B0503020204020204" pitchFamily="34" charset="-122"/>
              </a:rPr>
              <a:t>管理信息库 </a:t>
            </a:r>
            <a:r>
              <a:rPr lang="en-US" altLang="zh-CN" sz="2400" b="1" dirty="0">
                <a:solidFill>
                  <a:schemeClr val="bg1"/>
                </a:solidFill>
                <a:latin typeface="微软雅黑" panose="020B0503020204020204" pitchFamily="34" charset="-122"/>
                <a:ea typeface="微软雅黑" panose="020B0503020204020204" pitchFamily="34" charset="-122"/>
              </a:rPr>
              <a:t>MIB</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1009347"/>
            <a:ext cx="81342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被管对象必须维持可供管理程序读写的若干控制和状态信息</a:t>
            </a:r>
            <a:r>
              <a:rPr lang="zh-CN" altLang="en-US" sz="2000" b="1" dirty="0" smtClean="0">
                <a:latin typeface="微软雅黑" panose="020B0503020204020204" pitchFamily="34" charset="-122"/>
                <a:ea typeface="微软雅黑" panose="020B0503020204020204" pitchFamily="34" charset="-122"/>
              </a:rPr>
              <a:t>。这些</a:t>
            </a:r>
            <a:r>
              <a:rPr lang="zh-CN" altLang="en-US" sz="2000" b="1" dirty="0">
                <a:latin typeface="微软雅黑" panose="020B0503020204020204" pitchFamily="34" charset="-122"/>
                <a:ea typeface="微软雅黑" panose="020B0503020204020204" pitchFamily="34" charset="-122"/>
              </a:rPr>
              <a:t>信息总称为</a:t>
            </a:r>
            <a:r>
              <a:rPr lang="zh-CN" altLang="en-US" sz="2000" b="1" dirty="0">
                <a:solidFill>
                  <a:srgbClr val="C00000"/>
                </a:solidFill>
                <a:latin typeface="微软雅黑" panose="020B0503020204020204" pitchFamily="34" charset="-122"/>
                <a:ea typeface="微软雅黑" panose="020B0503020204020204" pitchFamily="34" charset="-122"/>
              </a:rPr>
              <a:t>管理</a:t>
            </a:r>
            <a:r>
              <a:rPr lang="zh-CN" altLang="en-US" sz="2000" b="1" dirty="0" smtClean="0">
                <a:solidFill>
                  <a:srgbClr val="C00000"/>
                </a:solidFill>
                <a:latin typeface="微软雅黑" panose="020B0503020204020204" pitchFamily="34" charset="-122"/>
                <a:ea typeface="微软雅黑" panose="020B0503020204020204" pitchFamily="34" charset="-122"/>
              </a:rPr>
              <a:t>信息库 </a:t>
            </a:r>
            <a:r>
              <a:rPr lang="en-US" altLang="zh-CN" sz="2000" b="1" dirty="0">
                <a:latin typeface="微软雅黑" panose="020B0503020204020204" pitchFamily="34" charset="-122"/>
                <a:ea typeface="微软雅黑" panose="020B0503020204020204" pitchFamily="34" charset="-122"/>
              </a:rPr>
              <a:t>MIB (Management Information Base)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管理程序使用 </a:t>
            </a: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中这些信息的</a:t>
            </a:r>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对网络进行管理（如读取或重新设置这些值）</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只有</a:t>
            </a:r>
            <a:r>
              <a:rPr lang="zh-CN" altLang="en-US" sz="2000" b="1" dirty="0" smtClean="0">
                <a:solidFill>
                  <a:srgbClr val="0000FF"/>
                </a:solidFill>
                <a:latin typeface="微软雅黑" panose="020B0503020204020204" pitchFamily="34" charset="-122"/>
                <a:ea typeface="微软雅黑" panose="020B0503020204020204" pitchFamily="34" charset="-122"/>
              </a:rPr>
              <a:t>在 </a:t>
            </a:r>
            <a:r>
              <a:rPr lang="en-US" altLang="zh-CN" sz="2000" b="1" dirty="0" smtClean="0">
                <a:solidFill>
                  <a:srgbClr val="0000FF"/>
                </a:solidFill>
                <a:latin typeface="微软雅黑" panose="020B0503020204020204" pitchFamily="34" charset="-122"/>
                <a:ea typeface="微软雅黑" panose="020B0503020204020204" pitchFamily="34" charset="-122"/>
              </a:rPr>
              <a:t>MIB </a:t>
            </a:r>
            <a:r>
              <a:rPr lang="zh-CN" altLang="en-US" sz="2000" b="1" dirty="0" smtClean="0">
                <a:solidFill>
                  <a:srgbClr val="0000FF"/>
                </a:solidFill>
                <a:latin typeface="微软雅黑" panose="020B0503020204020204" pitchFamily="34" charset="-122"/>
                <a:ea typeface="微软雅黑" panose="020B0503020204020204" pitchFamily="34" charset="-122"/>
              </a:rPr>
              <a:t>中</a:t>
            </a:r>
            <a:r>
              <a:rPr lang="zh-CN" altLang="en-US" sz="2000" b="1" dirty="0">
                <a:solidFill>
                  <a:srgbClr val="0000FF"/>
                </a:solidFill>
                <a:latin typeface="微软雅黑" panose="020B0503020204020204" pitchFamily="34" charset="-122"/>
                <a:ea typeface="微软雅黑" panose="020B0503020204020204" pitchFamily="34" charset="-122"/>
              </a:rPr>
              <a:t>的对象</a:t>
            </a:r>
            <a:r>
              <a:rPr lang="zh-CN" altLang="en-US" sz="2000" b="1" dirty="0" smtClean="0">
                <a:solidFill>
                  <a:srgbClr val="0000FF"/>
                </a:solidFill>
                <a:latin typeface="微软雅黑" panose="020B0503020204020204" pitchFamily="34" charset="-122"/>
                <a:ea typeface="微软雅黑" panose="020B0503020204020204" pitchFamily="34" charset="-122"/>
              </a:rPr>
              <a:t>才是 </a:t>
            </a:r>
            <a:r>
              <a:rPr lang="en-US" altLang="zh-CN" sz="2000" b="1" dirty="0" smtClean="0">
                <a:solidFill>
                  <a:srgbClr val="0000FF"/>
                </a:solidFill>
                <a:latin typeface="微软雅黑" panose="020B0503020204020204" pitchFamily="34" charset="-122"/>
                <a:ea typeface="微软雅黑" panose="020B0503020204020204" pitchFamily="34" charset="-122"/>
              </a:rPr>
              <a:t>SNMP </a:t>
            </a:r>
            <a:r>
              <a:rPr lang="zh-CN" altLang="en-US" sz="2000" b="1" dirty="0" smtClean="0">
                <a:solidFill>
                  <a:srgbClr val="0000FF"/>
                </a:solidFill>
                <a:latin typeface="微软雅黑" panose="020B0503020204020204" pitchFamily="34" charset="-122"/>
                <a:ea typeface="微软雅黑" panose="020B0503020204020204" pitchFamily="34" charset="-122"/>
              </a:rPr>
              <a:t>所</a:t>
            </a:r>
            <a:r>
              <a:rPr lang="zh-CN" altLang="en-US" sz="2000" b="1" dirty="0">
                <a:solidFill>
                  <a:srgbClr val="0000FF"/>
                </a:solidFill>
                <a:latin typeface="微软雅黑" panose="020B0503020204020204" pitchFamily="34" charset="-122"/>
                <a:ea typeface="微软雅黑" panose="020B0503020204020204" pitchFamily="34" charset="-122"/>
              </a:rPr>
              <a:t>能够管理</a:t>
            </a:r>
            <a:r>
              <a:rPr lang="zh-CN" altLang="en-US" sz="2000" b="1" dirty="0" smtClean="0">
                <a:solidFill>
                  <a:srgbClr val="0000FF"/>
                </a:solidFill>
                <a:latin typeface="微软雅黑" panose="020B0503020204020204" pitchFamily="34" charset="-122"/>
                <a:ea typeface="微软雅黑" panose="020B0503020204020204" pitchFamily="34" charset="-122"/>
              </a:rPr>
              <a:t>的。</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规定</a:t>
            </a:r>
            <a:r>
              <a:rPr lang="zh-CN" altLang="en-US" sz="2000" b="1" dirty="0">
                <a:solidFill>
                  <a:schemeClr val="bg1"/>
                </a:solidFill>
                <a:latin typeface="微软雅黑" panose="020B0503020204020204" pitchFamily="34" charset="-122"/>
                <a:ea typeface="微软雅黑" panose="020B0503020204020204" pitchFamily="34" charset="-122"/>
              </a:rPr>
              <a:t>：</a:t>
            </a:r>
            <a:r>
              <a:rPr lang="zh-CN" altLang="en-US" sz="2000" b="1" dirty="0" smtClean="0">
                <a:solidFill>
                  <a:schemeClr val="bg1"/>
                </a:solidFill>
                <a:latin typeface="微软雅黑" panose="020B0503020204020204" pitchFamily="34" charset="-122"/>
                <a:ea typeface="微软雅黑" panose="020B0503020204020204" pitchFamily="34" charset="-122"/>
              </a:rPr>
              <a:t>所有</a:t>
            </a:r>
            <a:r>
              <a:rPr lang="zh-CN" altLang="en-US" sz="2000" b="1" dirty="0">
                <a:solidFill>
                  <a:schemeClr val="bg1"/>
                </a:solidFill>
                <a:latin typeface="微软雅黑" panose="020B0503020204020204" pitchFamily="34" charset="-122"/>
                <a:ea typeface="微软雅黑" panose="020B0503020204020204" pitchFamily="34" charset="-122"/>
              </a:rPr>
              <a:t>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smtClean="0">
                <a:solidFill>
                  <a:schemeClr val="bg1"/>
                </a:solidFill>
                <a:latin typeface="微软雅黑" panose="020B0503020204020204" pitchFamily="34" charset="-122"/>
                <a:ea typeface="微软雅黑" panose="020B0503020204020204" pitchFamily="34" charset="-122"/>
              </a:rPr>
              <a:t>上</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488476" y="575260"/>
            <a:ext cx="41857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节点 </a:t>
            </a:r>
            <a:r>
              <a:rPr lang="en-US" altLang="zh-CN" sz="2000" b="1" dirty="0">
                <a:solidFill>
                  <a:schemeClr val="bg1"/>
                </a:solidFill>
                <a:latin typeface="微软雅黑" panose="020B0503020204020204" pitchFamily="34" charset="-122"/>
                <a:ea typeface="微软雅黑" panose="020B0503020204020204" pitchFamily="34" charset="-122"/>
              </a:rPr>
              <a:t>mib-2 </a:t>
            </a:r>
            <a:r>
              <a:rPr lang="zh-CN" altLang="en-US" sz="2000" b="1" dirty="0">
                <a:solidFill>
                  <a:schemeClr val="bg1"/>
                </a:solidFill>
                <a:latin typeface="微软雅黑" panose="020B0503020204020204" pitchFamily="34" charset="-122"/>
                <a:ea typeface="微软雅黑" panose="020B0503020204020204" pitchFamily="34" charset="-122"/>
              </a:rPr>
              <a:t>所包含的信息类别举例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4" name="内容占位符 6"/>
          <p:cNvGraphicFramePr/>
          <p:nvPr/>
        </p:nvGraphicFramePr>
        <p:xfrm>
          <a:off x="556964" y="1054660"/>
          <a:ext cx="8048776" cy="2819906"/>
        </p:xfrm>
        <a:graphic>
          <a:graphicData uri="http://schemas.openxmlformats.org/drawingml/2006/table">
            <a:tbl>
              <a:tblPr/>
              <a:tblGrid>
                <a:gridCol w="2465810"/>
                <a:gridCol w="1395741"/>
                <a:gridCol w="4187225"/>
              </a:tblGrid>
              <a:tr h="369799">
                <a:tc>
                  <a:txBody>
                    <a:bodyPr/>
                    <a:lstStyle/>
                    <a:p>
                      <a:pPr algn="ctr" hangingPunct="0">
                        <a:lnSpc>
                          <a:spcPct val="100000"/>
                        </a:lnSpc>
                        <a:spcAft>
                          <a:spcPts val="0"/>
                        </a:spcAft>
                      </a:pPr>
                      <a:r>
                        <a:rPr lang="zh-CN" sz="1600" b="1" dirty="0">
                          <a:solidFill>
                            <a:schemeClr val="bg1"/>
                          </a:solidFill>
                          <a:effectLst/>
                          <a:latin typeface="微软雅黑" panose="020B0503020204020204" pitchFamily="34" charset="-122"/>
                          <a:ea typeface="微软雅黑" panose="020B0503020204020204" pitchFamily="34" charset="-122"/>
                        </a:rPr>
                        <a:t>类</a:t>
                      </a:r>
                      <a:r>
                        <a:rPr lang="en-US" sz="1600" b="1" dirty="0">
                          <a:solidFill>
                            <a:schemeClr val="bg1"/>
                          </a:solidFill>
                          <a:effectLst/>
                          <a:latin typeface="微软雅黑" panose="020B0503020204020204" pitchFamily="34" charset="-122"/>
                          <a:ea typeface="微软雅黑" panose="020B0503020204020204" pitchFamily="34" charset="-122"/>
                        </a:rPr>
                        <a:t>   </a:t>
                      </a:r>
                      <a:r>
                        <a:rPr lang="zh-CN" sz="1600" b="1" dirty="0">
                          <a:solidFill>
                            <a:schemeClr val="bg1"/>
                          </a:solidFill>
                          <a:effectLst/>
                          <a:latin typeface="微软雅黑" panose="020B0503020204020204" pitchFamily="34" charset="-122"/>
                          <a:ea typeface="微软雅黑" panose="020B0503020204020204" pitchFamily="34" charset="-122"/>
                        </a:rPr>
                        <a:t>别</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panose="020B0503020204020204" pitchFamily="34" charset="-122"/>
                          <a:ea typeface="微软雅黑" panose="020B0503020204020204" pitchFamily="34" charset="-122"/>
                        </a:rPr>
                        <a:t>标</a:t>
                      </a:r>
                      <a:r>
                        <a:rPr lang="en-US" sz="1600" b="1" dirty="0">
                          <a:solidFill>
                            <a:schemeClr val="bg1"/>
                          </a:solidFill>
                          <a:effectLst/>
                          <a:latin typeface="微软雅黑" panose="020B0503020204020204" pitchFamily="34" charset="-122"/>
                          <a:ea typeface="微软雅黑" panose="020B0503020204020204" pitchFamily="34" charset="-122"/>
                        </a:rPr>
                        <a:t>  </a:t>
                      </a:r>
                      <a:r>
                        <a:rPr lang="zh-CN" sz="1600" b="1" dirty="0">
                          <a:solidFill>
                            <a:schemeClr val="bg1"/>
                          </a:solidFill>
                          <a:effectLst/>
                          <a:latin typeface="微软雅黑" panose="020B0503020204020204" pitchFamily="34" charset="-122"/>
                          <a:ea typeface="微软雅黑" panose="020B0503020204020204" pitchFamily="34" charset="-122"/>
                        </a:rPr>
                        <a:t>号</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smtClean="0">
                          <a:solidFill>
                            <a:schemeClr val="bg1"/>
                          </a:solidFill>
                          <a:effectLst/>
                          <a:latin typeface="微软雅黑" panose="020B0503020204020204" pitchFamily="34" charset="-122"/>
                          <a:ea typeface="微软雅黑" panose="020B0503020204020204" pitchFamily="34" charset="-122"/>
                        </a:rPr>
                        <a:t>所包含的信息</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r>
              <a:tr h="295839">
                <a:tc>
                  <a:txBody>
                    <a:bodyPr/>
                    <a:lstStyle/>
                    <a:p>
                      <a:pPr algn="just"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system</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1600" b="1">
                          <a:effectLst/>
                          <a:latin typeface="微软雅黑" panose="020B0503020204020204" pitchFamily="34" charset="-122"/>
                          <a:ea typeface="微软雅黑" panose="020B0503020204020204" pitchFamily="34" charset="-122"/>
                        </a:rPr>
                        <a:t>(1)</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a:effectLst/>
                          <a:latin typeface="微软雅黑" panose="020B0503020204020204" pitchFamily="34" charset="-122"/>
                          <a:ea typeface="微软雅黑" panose="020B0503020204020204" pitchFamily="34" charset="-122"/>
                        </a:rPr>
                        <a:t>主机或路由器的操作系统</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interfaces</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(2)</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zh-CN" sz="1600" b="1" dirty="0">
                          <a:effectLst/>
                          <a:latin typeface="微软雅黑" panose="020B0503020204020204" pitchFamily="34" charset="-122"/>
                          <a:ea typeface="微软雅黑" panose="020B0503020204020204" pitchFamily="34" charset="-122"/>
                        </a:rPr>
                        <a:t>各种网络接口</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379234">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address translation</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(3)</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panose="020B0503020204020204" pitchFamily="34" charset="-122"/>
                          <a:ea typeface="微软雅黑" panose="020B0503020204020204" pitchFamily="34" charset="-122"/>
                        </a:rPr>
                        <a:t>地址转换（例如，</a:t>
                      </a:r>
                      <a:r>
                        <a:rPr lang="en-US" sz="1600" b="1" dirty="0" smtClean="0">
                          <a:effectLst/>
                          <a:latin typeface="微软雅黑" panose="020B0503020204020204" pitchFamily="34" charset="-122"/>
                          <a:ea typeface="微软雅黑" panose="020B0503020204020204" pitchFamily="34" charset="-122"/>
                        </a:rPr>
                        <a:t>ARP </a:t>
                      </a:r>
                      <a:r>
                        <a:rPr lang="zh-CN" sz="1600" b="1" dirty="0" smtClean="0">
                          <a:effectLst/>
                          <a:latin typeface="微软雅黑" panose="020B0503020204020204" pitchFamily="34" charset="-122"/>
                          <a:ea typeface="微软雅黑" panose="020B0503020204020204" pitchFamily="34" charset="-122"/>
                        </a:rPr>
                        <a:t>映射</a:t>
                      </a:r>
                      <a:r>
                        <a:rPr lang="zh-CN" sz="1600" b="1" dirty="0">
                          <a:effectLst/>
                          <a:latin typeface="微软雅黑" panose="020B0503020204020204" pitchFamily="34" charset="-122"/>
                          <a:ea typeface="微软雅黑" panose="020B0503020204020204" pitchFamily="34" charset="-122"/>
                        </a:rPr>
                        <a:t>）</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ip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(4)</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IP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95839">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icmp</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(5)</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ICMP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tcp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(6)</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TCP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95839">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udp</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(7)</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UDP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egp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(8)</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EGP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764"/>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MIB </a:t>
            </a:r>
            <a:r>
              <a:rPr lang="zh-CN" altLang="en-US" sz="2000" b="1" dirty="0" smtClean="0">
                <a:solidFill>
                  <a:schemeClr val="bg1"/>
                </a:solidFill>
                <a:latin typeface="微软雅黑" panose="020B0503020204020204" pitchFamily="34" charset="-122"/>
                <a:ea typeface="微软雅黑" panose="020B0503020204020204" pitchFamily="34" charset="-122"/>
              </a:rPr>
              <a:t>变量</a:t>
            </a:r>
            <a:r>
              <a:rPr lang="zh-CN" altLang="en-US" sz="2000" b="1" dirty="0">
                <a:solidFill>
                  <a:schemeClr val="bg1"/>
                </a:solidFill>
                <a:latin typeface="微软雅黑" panose="020B0503020204020204" pitchFamily="34" charset="-122"/>
                <a:ea typeface="微软雅黑" panose="020B0503020204020204" pitchFamily="34" charset="-122"/>
              </a:rPr>
              <a:t>的例子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表格 4"/>
          <p:cNvGraphicFramePr>
            <a:graphicFrameLocks noGrp="1"/>
          </p:cNvGraphicFramePr>
          <p:nvPr/>
        </p:nvGraphicFramePr>
        <p:xfrm>
          <a:off x="556963" y="1005312"/>
          <a:ext cx="8048776" cy="3336607"/>
        </p:xfrm>
        <a:graphic>
          <a:graphicData uri="http://schemas.openxmlformats.org/drawingml/2006/table">
            <a:tbl>
              <a:tblPr firstRow="1" bandRow="1">
                <a:tableStyleId>{BDBED569-4797-4DF1-A0F4-6AAB3CD982D8}</a:tableStyleId>
              </a:tblPr>
              <a:tblGrid>
                <a:gridCol w="2356125"/>
                <a:gridCol w="1581292"/>
                <a:gridCol w="4111359"/>
              </a:tblGrid>
              <a:tr h="229552">
                <a:tc>
                  <a:txBody>
                    <a:bodyPr/>
                    <a:lstStyle/>
                    <a:p>
                      <a:pPr algn="ctr" hangingPunct="0">
                        <a:lnSpc>
                          <a:spcPts val="1500"/>
                        </a:lnSpc>
                        <a:spcAft>
                          <a:spcPts val="0"/>
                        </a:spcAft>
                      </a:pPr>
                      <a:r>
                        <a:rPr lang="en-US" sz="1400" b="1" dirty="0">
                          <a:solidFill>
                            <a:schemeClr val="bg1"/>
                          </a:solidFill>
                          <a:effectLst/>
                          <a:latin typeface="微软雅黑" panose="020B0503020204020204" pitchFamily="34" charset="-122"/>
                          <a:ea typeface="微软雅黑" panose="020B0503020204020204" pitchFamily="34" charset="-122"/>
                        </a:rPr>
                        <a:t>MIB </a:t>
                      </a:r>
                      <a:r>
                        <a:rPr lang="zh-CN" sz="1400" b="1" dirty="0">
                          <a:solidFill>
                            <a:schemeClr val="bg1"/>
                          </a:solidFill>
                          <a:effectLst/>
                          <a:latin typeface="微软雅黑" panose="020B0503020204020204" pitchFamily="34" charset="-122"/>
                          <a:ea typeface="微软雅黑" panose="020B0503020204020204" pitchFamily="34" charset="-122"/>
                        </a:rPr>
                        <a:t>变量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所属类别</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意</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义</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sysUpTime</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tabLst>
                          <a:tab pos="2637155" algn="ctr"/>
                          <a:tab pos="5274310" algn="r"/>
                          <a:tab pos="266700" algn="l"/>
                        </a:tabLst>
                      </a:pPr>
                      <a:r>
                        <a:rPr lang="en-US" sz="1200" b="1">
                          <a:effectLst/>
                          <a:latin typeface="微软雅黑" panose="020B0503020204020204" pitchFamily="34" charset="-122"/>
                          <a:ea typeface="微软雅黑" panose="020B0503020204020204" pitchFamily="34" charset="-122"/>
                        </a:rPr>
                        <a:t>system</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距上次重启动的时间</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ifNumber</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interfaces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网络接口数</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ifMtu</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a:effectLst/>
                          <a:latin typeface="微软雅黑" panose="020B0503020204020204" pitchFamily="34" charset="-122"/>
                          <a:ea typeface="微软雅黑" panose="020B0503020204020204" pitchFamily="34" charset="-122"/>
                        </a:rPr>
                        <a:t>interfaces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特定接口的最大传送</a:t>
                      </a:r>
                      <a:r>
                        <a:rPr lang="zh-CN" sz="1200" b="1" dirty="0" smtClean="0">
                          <a:effectLst/>
                          <a:latin typeface="微软雅黑" panose="020B0503020204020204" pitchFamily="34" charset="-122"/>
                          <a:ea typeface="微软雅黑" panose="020B0503020204020204" pitchFamily="34" charset="-122"/>
                        </a:rPr>
                        <a:t>单元</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MTU</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ipDefaultTTL</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IP </a:t>
                      </a:r>
                      <a:r>
                        <a:rPr lang="zh-CN" sz="1200" b="1" dirty="0" smtClean="0">
                          <a:effectLst/>
                          <a:latin typeface="微软雅黑" panose="020B0503020204020204" pitchFamily="34" charset="-122"/>
                          <a:ea typeface="微软雅黑" panose="020B0503020204020204" pitchFamily="34" charset="-122"/>
                        </a:rPr>
                        <a:t>在</a:t>
                      </a:r>
                      <a:r>
                        <a:rPr lang="zh-CN" sz="1200" b="1" dirty="0">
                          <a:effectLst/>
                          <a:latin typeface="微软雅黑" panose="020B0503020204020204" pitchFamily="34" charset="-122"/>
                          <a:ea typeface="微软雅黑" panose="020B0503020204020204" pitchFamily="34" charset="-122"/>
                        </a:rPr>
                        <a:t>生存时间字段中使用的值</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ipInReceives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接收到的数据报数目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ipForwDatagrams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转发的数据报数目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ipOutNoRoutes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路由选择失败的数目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ipReasmOKs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重装的数据报数目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ipFragOKs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分片的数据报数目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ipRoutingTable</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IP </a:t>
                      </a:r>
                      <a:r>
                        <a:rPr lang="zh-CN" sz="1200" b="1" dirty="0" smtClean="0">
                          <a:effectLst/>
                          <a:latin typeface="微软雅黑" panose="020B0503020204020204" pitchFamily="34" charset="-122"/>
                          <a:ea typeface="微软雅黑" panose="020B0503020204020204" pitchFamily="34" charset="-122"/>
                        </a:rPr>
                        <a:t>路由</a:t>
                      </a:r>
                      <a:r>
                        <a:rPr lang="zh-CN" sz="1200" b="1" dirty="0">
                          <a:effectLst/>
                          <a:latin typeface="微软雅黑" panose="020B0503020204020204" pitchFamily="34" charset="-122"/>
                          <a:ea typeface="微软雅黑" panose="020B0503020204020204" pitchFamily="34" charset="-122"/>
                        </a:rPr>
                        <a:t>表</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icmpInEchos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icmp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ICMP </a:t>
                      </a:r>
                      <a:r>
                        <a:rPr lang="zh-CN" sz="1200" b="1" dirty="0" smtClean="0">
                          <a:effectLst/>
                          <a:latin typeface="微软雅黑" panose="020B0503020204020204" pitchFamily="34" charset="-122"/>
                          <a:ea typeface="微软雅黑" panose="020B0503020204020204" pitchFamily="34" charset="-122"/>
                        </a:rPr>
                        <a:t>回送</a:t>
                      </a:r>
                      <a:r>
                        <a:rPr lang="zh-CN" sz="1200" b="1" dirty="0">
                          <a:effectLst/>
                          <a:latin typeface="微软雅黑" panose="020B0503020204020204" pitchFamily="34" charset="-122"/>
                          <a:ea typeface="微软雅黑" panose="020B0503020204020204" pitchFamily="34" charset="-122"/>
                        </a:rPr>
                        <a:t>请求数目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tcpRtoMin</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允许</a:t>
                      </a:r>
                      <a:r>
                        <a:rPr lang="zh-CN" sz="1200" b="1" dirty="0">
                          <a:effectLst/>
                          <a:latin typeface="微软雅黑" panose="020B0503020204020204" pitchFamily="34" charset="-122"/>
                          <a:ea typeface="微软雅黑" panose="020B0503020204020204" pitchFamily="34" charset="-122"/>
                        </a:rPr>
                        <a:t>的最小重传时间</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tcpMaxConn</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允许的</a:t>
                      </a:r>
                      <a:r>
                        <a:rPr lang="zh-CN" sz="1200" b="1" dirty="0" smtClean="0">
                          <a:effectLst/>
                          <a:latin typeface="微软雅黑" panose="020B0503020204020204" pitchFamily="34" charset="-122"/>
                          <a:ea typeface="微软雅黑" panose="020B0503020204020204" pitchFamily="34" charset="-122"/>
                        </a:rPr>
                        <a:t>最大</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连接</a:t>
                      </a:r>
                      <a:r>
                        <a:rPr lang="zh-CN" sz="1200" b="1" dirty="0">
                          <a:effectLst/>
                          <a:latin typeface="微软雅黑" panose="020B0503020204020204" pitchFamily="34" charset="-122"/>
                          <a:ea typeface="微软雅黑" panose="020B0503020204020204" pitchFamily="34" charset="-122"/>
                        </a:rPr>
                        <a:t>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tcpInSegs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已收到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报文</a:t>
                      </a:r>
                      <a:r>
                        <a:rPr lang="zh-CN" sz="1200" b="1" dirty="0">
                          <a:effectLst/>
                          <a:latin typeface="微软雅黑" panose="020B0503020204020204" pitchFamily="34" charset="-122"/>
                          <a:ea typeface="微软雅黑" panose="020B0503020204020204" pitchFamily="34" charset="-122"/>
                        </a:rPr>
                        <a:t>段数目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udpInDatagrams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udp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已收到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UDP </a:t>
                      </a:r>
                      <a:r>
                        <a:rPr lang="zh-CN" sz="1200" b="1" dirty="0" smtClean="0">
                          <a:effectLst/>
                          <a:latin typeface="微软雅黑" panose="020B0503020204020204" pitchFamily="34" charset="-122"/>
                          <a:ea typeface="微软雅黑" panose="020B0503020204020204" pitchFamily="34" charset="-122"/>
                        </a:rPr>
                        <a:t>数据报</a:t>
                      </a:r>
                      <a:r>
                        <a:rPr lang="zh-CN" sz="1200" b="1" dirty="0">
                          <a:effectLst/>
                          <a:latin typeface="微软雅黑" panose="020B0503020204020204" pitchFamily="34" charset="-122"/>
                          <a:ea typeface="微软雅黑" panose="020B0503020204020204" pitchFamily="34" charset="-122"/>
                        </a:rPr>
                        <a:t>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28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9242" y="610590"/>
            <a:ext cx="44855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anose="020B0503020204020204" pitchFamily="34" charset="-122"/>
                <a:ea typeface="微软雅黑" panose="020B0503020204020204" pitchFamily="34" charset="-122"/>
              </a:rPr>
              <a:t>6.7.4  SNMP </a:t>
            </a:r>
            <a:r>
              <a:rPr lang="zh-CN" altLang="en-US" sz="2000" b="1" dirty="0">
                <a:solidFill>
                  <a:schemeClr val="bg1"/>
                </a:solidFill>
                <a:latin typeface="微软雅黑" panose="020B0503020204020204" pitchFamily="34" charset="-122"/>
                <a:ea typeface="微软雅黑" panose="020B0503020204020204" pitchFamily="34" charset="-122"/>
              </a:rPr>
              <a:t>的协议数据单元和</a:t>
            </a:r>
            <a:r>
              <a:rPr lang="zh-CN" altLang="en-US" sz="2000" b="1" dirty="0" smtClean="0">
                <a:solidFill>
                  <a:schemeClr val="bg1"/>
                </a:solidFill>
                <a:latin typeface="微软雅黑" panose="020B0503020204020204" pitchFamily="34" charset="-122"/>
                <a:ea typeface="微软雅黑" panose="020B0503020204020204" pitchFamily="34" charset="-122"/>
              </a:rPr>
              <a:t>报文</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1010503"/>
            <a:ext cx="812192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的操作只有</a:t>
            </a:r>
            <a:r>
              <a:rPr lang="zh-CN" altLang="en-US" sz="2000" b="1" dirty="0">
                <a:solidFill>
                  <a:srgbClr val="C00000"/>
                </a:solidFill>
                <a:latin typeface="微软雅黑" panose="020B0503020204020204" pitchFamily="34" charset="-122"/>
                <a:ea typeface="微软雅黑" panose="020B0503020204020204" pitchFamily="34" charset="-122"/>
              </a:rPr>
              <a:t>两种</a:t>
            </a:r>
            <a:r>
              <a:rPr lang="zh-CN" altLang="en-US" sz="2000" b="1" dirty="0">
                <a:latin typeface="微软雅黑" panose="020B0503020204020204" pitchFamily="34" charset="-122"/>
                <a:ea typeface="微软雅黑" panose="020B0503020204020204" pitchFamily="34" charset="-122"/>
              </a:rPr>
              <a:t>基本的管理功能：</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读</a:t>
            </a:r>
            <a:r>
              <a:rPr lang="zh-CN" altLang="en-US" sz="2000" b="1" dirty="0">
                <a:latin typeface="微软雅黑" panose="020B0503020204020204" pitchFamily="34" charset="-122"/>
                <a:ea typeface="微软雅黑" panose="020B0503020204020204" pitchFamily="34" charset="-122"/>
              </a:rPr>
              <a:t>”操作，用 </a:t>
            </a:r>
            <a:r>
              <a:rPr lang="en-US" altLang="zh-CN" sz="2000" b="1" dirty="0">
                <a:latin typeface="微软雅黑" panose="020B0503020204020204" pitchFamily="34" charset="-122"/>
                <a:ea typeface="微软雅黑" panose="020B0503020204020204" pitchFamily="34" charset="-122"/>
              </a:rPr>
              <a:t>get </a:t>
            </a:r>
            <a:r>
              <a:rPr lang="zh-CN" altLang="en-US" sz="2000" b="1" dirty="0">
                <a:latin typeface="微软雅黑" panose="020B0503020204020204" pitchFamily="34" charset="-122"/>
                <a:ea typeface="微软雅黑" panose="020B0503020204020204" pitchFamily="34" charset="-122"/>
              </a:rPr>
              <a:t>报文来检测各被管对象的状况；</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写</a:t>
            </a:r>
            <a:r>
              <a:rPr lang="zh-CN" altLang="en-US" sz="2000" b="1" dirty="0">
                <a:latin typeface="微软雅黑" panose="020B0503020204020204" pitchFamily="34" charset="-122"/>
                <a:ea typeface="微软雅黑" panose="020B0503020204020204" pitchFamily="34" charset="-122"/>
              </a:rPr>
              <a:t>”操作，用 </a:t>
            </a:r>
            <a:r>
              <a:rPr lang="en-US" altLang="zh-CN" sz="2000" b="1" dirty="0">
                <a:latin typeface="微软雅黑" panose="020B0503020204020204" pitchFamily="34" charset="-122"/>
                <a:ea typeface="微软雅黑" panose="020B0503020204020204" pitchFamily="34" charset="-122"/>
              </a:rPr>
              <a:t>set </a:t>
            </a:r>
            <a:r>
              <a:rPr lang="zh-CN" altLang="en-US" sz="2000" b="1" dirty="0">
                <a:latin typeface="微软雅黑" panose="020B0503020204020204" pitchFamily="34" charset="-122"/>
                <a:ea typeface="微软雅黑" panose="020B0503020204020204" pitchFamily="34" charset="-122"/>
              </a:rPr>
              <a:t>报文来改变各被管对象的状况。</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的这些功能通过</a:t>
            </a:r>
            <a:r>
              <a:rPr lang="zh-CN" altLang="en-US" sz="2000" b="1" dirty="0">
                <a:solidFill>
                  <a:srgbClr val="C00000"/>
                </a:solidFill>
                <a:latin typeface="微软雅黑" panose="020B0503020204020204" pitchFamily="34" charset="-122"/>
                <a:ea typeface="微软雅黑" panose="020B0503020204020204" pitchFamily="34" charset="-122"/>
              </a:rPr>
              <a:t>探询</a:t>
            </a:r>
            <a:r>
              <a:rPr lang="zh-CN" altLang="en-US" sz="2000" b="1" dirty="0">
                <a:latin typeface="微软雅黑" panose="020B0503020204020204" pitchFamily="34" charset="-122"/>
                <a:ea typeface="微软雅黑" panose="020B0503020204020204" pitchFamily="34" charset="-122"/>
              </a:rPr>
              <a:t>操作来实现。</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6" y="581618"/>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的探询操作</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21055"/>
            <a:ext cx="8121929"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管理进程</a:t>
            </a:r>
            <a:r>
              <a:rPr lang="zh-CN" altLang="en-US" sz="2000" b="1" dirty="0">
                <a:solidFill>
                  <a:srgbClr val="C00000"/>
                </a:solidFill>
                <a:latin typeface="微软雅黑" panose="020B0503020204020204" pitchFamily="34" charset="-122"/>
                <a:ea typeface="微软雅黑" panose="020B0503020204020204" pitchFamily="34" charset="-122"/>
              </a:rPr>
              <a:t>定时</a:t>
            </a:r>
            <a:r>
              <a:rPr lang="zh-CN" altLang="en-US" sz="2000" b="1" dirty="0">
                <a:latin typeface="微软雅黑" panose="020B0503020204020204" pitchFamily="34" charset="-122"/>
                <a:ea typeface="微软雅黑" panose="020B0503020204020204" pitchFamily="34" charset="-122"/>
              </a:rPr>
              <a:t>向被管理设备</a:t>
            </a:r>
            <a:r>
              <a:rPr lang="zh-CN" altLang="en-US" sz="2000" b="1" dirty="0">
                <a:solidFill>
                  <a:srgbClr val="C00000"/>
                </a:solidFill>
                <a:latin typeface="微软雅黑" panose="020B0503020204020204" pitchFamily="34" charset="-122"/>
                <a:ea typeface="微软雅黑" panose="020B0503020204020204" pitchFamily="34" charset="-122"/>
              </a:rPr>
              <a:t>周期性</a:t>
            </a:r>
            <a:r>
              <a:rPr lang="zh-CN" altLang="en-US" sz="2000" b="1" dirty="0">
                <a:latin typeface="微软雅黑" panose="020B0503020204020204" pitchFamily="34" charset="-122"/>
                <a:ea typeface="微软雅黑" panose="020B0503020204020204" pitchFamily="34" charset="-122"/>
              </a:rPr>
              <a:t>地发送探询信息。</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好处：</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716280" indent="-342900"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可使系统相对简单。</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能限制通过网络所产生的管理信息的通信量。</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缺点：</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714375" lvl="1" indent="-357505"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不够灵活，而且所能管理的设备数目不能太多。</a:t>
            </a:r>
            <a:endParaRPr lang="en-US" altLang="zh-CN" sz="2000" b="1" dirty="0">
              <a:latin typeface="微软雅黑" panose="020B0503020204020204" pitchFamily="34" charset="-122"/>
              <a:ea typeface="微软雅黑" panose="020B0503020204020204" pitchFamily="34" charset="-122"/>
            </a:endParaRPr>
          </a:p>
          <a:p>
            <a:pPr marL="714375" lvl="1" indent="-357505"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开销也较大。</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27784" y="576800"/>
            <a:ext cx="15071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陷阱 </a:t>
            </a:r>
            <a:r>
              <a:rPr lang="en-US" altLang="zh-CN"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a:solidFill>
                  <a:schemeClr val="bg1"/>
                </a:solidFill>
                <a:latin typeface="微软雅黑" panose="020B0503020204020204" pitchFamily="34" charset="-122"/>
                <a:ea typeface="微软雅黑" panose="020B0503020204020204" pitchFamily="34" charset="-122"/>
              </a:rPr>
              <a:t>trap)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1101"/>
            <a:ext cx="7914376" cy="29233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smtClean="0">
                <a:latin typeface="微软雅黑" panose="020B0503020204020204" pitchFamily="34" charset="-122"/>
                <a:ea typeface="微软雅黑" panose="020B0503020204020204" pitchFamily="34" charset="-122"/>
              </a:rPr>
              <a:t>允许</a:t>
            </a:r>
            <a:r>
              <a:rPr lang="zh-CN" altLang="en-US" sz="2000" b="1" dirty="0">
                <a:solidFill>
                  <a:srgbClr val="C00000"/>
                </a:solidFill>
                <a:latin typeface="微软雅黑" panose="020B0503020204020204" pitchFamily="34" charset="-122"/>
                <a:ea typeface="微软雅黑" panose="020B0503020204020204" pitchFamily="34" charset="-122"/>
              </a:rPr>
              <a:t>不经过询问</a:t>
            </a:r>
            <a:r>
              <a:rPr lang="zh-CN" altLang="en-US" sz="2000" b="1" dirty="0">
                <a:latin typeface="微软雅黑" panose="020B0503020204020204" pitchFamily="34" charset="-122"/>
                <a:ea typeface="微软雅黑" panose="020B0503020204020204" pitchFamily="34" charset="-122"/>
              </a:rPr>
              <a:t>就能发送某些信息。这种信息称为</a:t>
            </a:r>
            <a:r>
              <a:rPr lang="zh-CN" altLang="en-US" sz="2000" b="1" dirty="0">
                <a:solidFill>
                  <a:srgbClr val="C00000"/>
                </a:solidFill>
                <a:latin typeface="微软雅黑" panose="020B0503020204020204" pitchFamily="34" charset="-122"/>
                <a:ea typeface="微软雅黑" panose="020B0503020204020204" pitchFamily="34" charset="-122"/>
              </a:rPr>
              <a:t>陷阱，</a:t>
            </a:r>
            <a:r>
              <a:rPr lang="zh-CN" altLang="en-US" sz="2000" b="1" dirty="0">
                <a:latin typeface="微软雅黑" panose="020B0503020204020204" pitchFamily="34" charset="-122"/>
                <a:ea typeface="微软雅黑" panose="020B0503020204020204" pitchFamily="34" charset="-122"/>
              </a:rPr>
              <a:t>表示它能够捕捉“事件”。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被管对象的代理检测到有事件发生时，就检查其门限值。代理只向管理进程报告达到某些门限值的事件（即</a:t>
            </a:r>
            <a:r>
              <a:rPr lang="zh-CN" altLang="en-US" sz="2000" b="1" dirty="0">
                <a:solidFill>
                  <a:srgbClr val="C00000"/>
                </a:solidFill>
                <a:latin typeface="微软雅黑" panose="020B0503020204020204" pitchFamily="34" charset="-122"/>
                <a:ea typeface="微软雅黑" panose="020B0503020204020204" pitchFamily="34" charset="-122"/>
              </a:rPr>
              <a:t>过滤</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过滤</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好处：</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2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仅在严重事件发生时才发送陷阱；</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2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陷阱信息很简单且所需字节数很少。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5795" y="57748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是有效的网络管理协议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4" y="971781"/>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探询</a:t>
            </a:r>
            <a:r>
              <a:rPr lang="zh-CN" altLang="en-US" sz="2000" b="1" dirty="0">
                <a:latin typeface="微软雅黑" panose="020B0503020204020204" pitchFamily="34" charset="-122"/>
                <a:ea typeface="微软雅黑" panose="020B0503020204020204" pitchFamily="34" charset="-122"/>
              </a:rPr>
              <a:t>（至少是周期性地）以维持对网络资源的实时</a:t>
            </a:r>
            <a:r>
              <a:rPr lang="zh-CN" altLang="en-US" sz="2000" b="1" dirty="0" smtClean="0">
                <a:latin typeface="微软雅黑" panose="020B0503020204020204" pitchFamily="34" charset="-122"/>
                <a:ea typeface="微软雅黑" panose="020B0503020204020204" pitchFamily="34" charset="-122"/>
              </a:rPr>
              <a:t>监视。</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同时</a:t>
            </a:r>
            <a:r>
              <a:rPr lang="zh-CN" altLang="en-US" sz="2000" b="1" dirty="0">
                <a:latin typeface="微软雅黑" panose="020B0503020204020204" pitchFamily="34" charset="-122"/>
                <a:ea typeface="微软雅黑" panose="020B0503020204020204" pitchFamily="34" charset="-122"/>
              </a:rPr>
              <a:t>也采用</a:t>
            </a:r>
            <a:r>
              <a:rPr lang="zh-CN" altLang="en-US" sz="2000" b="1" dirty="0">
                <a:solidFill>
                  <a:srgbClr val="C00000"/>
                </a:solidFill>
                <a:latin typeface="微软雅黑" panose="020B0503020204020204" pitchFamily="34" charset="-122"/>
                <a:ea typeface="微软雅黑" panose="020B0503020204020204" pitchFamily="34" charset="-122"/>
              </a:rPr>
              <a:t>陷阱</a:t>
            </a:r>
            <a:r>
              <a:rPr lang="zh-CN" altLang="en-US" sz="2000" b="1" dirty="0">
                <a:latin typeface="微软雅黑" panose="020B0503020204020204" pitchFamily="34" charset="-122"/>
                <a:ea typeface="微软雅黑" panose="020B0503020204020204" pitchFamily="34" charset="-122"/>
              </a:rPr>
              <a:t>机制报告特殊事件，使得 </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成为一种有效的网络管理协议。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17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54949" y="581962"/>
            <a:ext cx="32528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使用无连接的 </a:t>
            </a:r>
            <a:r>
              <a:rPr lang="en-US" altLang="zh-CN" sz="2000" b="1" dirty="0">
                <a:solidFill>
                  <a:schemeClr val="bg1"/>
                </a:solidFill>
                <a:latin typeface="微软雅黑" panose="020B0503020204020204" pitchFamily="34" charset="-122"/>
                <a:ea typeface="微软雅黑" panose="020B0503020204020204" pitchFamily="34" charset="-122"/>
              </a:rPr>
              <a:t>UDP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6263"/>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代理程序</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端</a:t>
            </a:r>
            <a:r>
              <a:rPr lang="zh-CN" altLang="en-US" sz="2000" b="1" dirty="0" smtClean="0">
                <a:latin typeface="微软雅黑" panose="020B0503020204020204" pitchFamily="34" charset="-122"/>
                <a:ea typeface="微软雅黑" panose="020B0503020204020204" pitchFamily="34" charset="-122"/>
              </a:rPr>
              <a:t>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solidFill>
                  <a:srgbClr val="C00000"/>
                </a:solidFill>
                <a:latin typeface="微软雅黑" panose="020B0503020204020204" pitchFamily="34" charset="-122"/>
                <a:ea typeface="微软雅黑" panose="020B0503020204020204" pitchFamily="34" charset="-122"/>
              </a:rPr>
              <a:t>熟知</a:t>
            </a:r>
            <a:r>
              <a:rPr lang="zh-CN" altLang="en-US" sz="2000" b="1" dirty="0">
                <a:solidFill>
                  <a:srgbClr val="C00000"/>
                </a:solidFill>
                <a:latin typeface="微软雅黑" panose="020B0503020204020204" pitchFamily="34" charset="-122"/>
                <a:ea typeface="微软雅黑" panose="020B0503020204020204" pitchFamily="34" charset="-122"/>
              </a:rPr>
              <a:t>端口 </a:t>
            </a:r>
            <a:r>
              <a:rPr lang="en-US" altLang="zh-CN" sz="2000" b="1" dirty="0">
                <a:latin typeface="微软雅黑" panose="020B0503020204020204" pitchFamily="34" charset="-122"/>
                <a:ea typeface="微软雅黑" panose="020B0503020204020204" pitchFamily="34" charset="-122"/>
              </a:rPr>
              <a:t>161 </a:t>
            </a:r>
            <a:r>
              <a:rPr lang="zh-CN" altLang="en-US" sz="2000" b="1" dirty="0" smtClean="0">
                <a:latin typeface="微软雅黑" panose="020B0503020204020204" pitchFamily="34" charset="-122"/>
                <a:ea typeface="微软雅黑" panose="020B0503020204020204" pitchFamily="34" charset="-122"/>
              </a:rPr>
              <a:t>接收 </a:t>
            </a:r>
            <a:r>
              <a:rPr lang="en-US" altLang="zh-CN" sz="2000" b="1" dirty="0">
                <a:latin typeface="微软雅黑" panose="020B0503020204020204" pitchFamily="34" charset="-122"/>
                <a:ea typeface="微软雅黑" panose="020B0503020204020204" pitchFamily="34" charset="-122"/>
              </a:rPr>
              <a:t>get </a:t>
            </a:r>
            <a:r>
              <a:rPr lang="zh-CN" altLang="en-US" sz="2000" b="1" dirty="0">
                <a:latin typeface="微软雅黑" panose="020B0503020204020204" pitchFamily="34" charset="-122"/>
                <a:ea typeface="微软雅黑" panose="020B0503020204020204" pitchFamily="34" charset="-122"/>
              </a:rPr>
              <a:t>或 </a:t>
            </a:r>
            <a:r>
              <a:rPr lang="en-US" altLang="zh-CN" sz="2000" b="1" dirty="0">
                <a:latin typeface="微软雅黑" panose="020B0503020204020204" pitchFamily="34" charset="-122"/>
                <a:ea typeface="微软雅黑" panose="020B0503020204020204" pitchFamily="34" charset="-122"/>
              </a:rPr>
              <a:t>set </a:t>
            </a:r>
            <a:r>
              <a:rPr lang="zh-CN" altLang="en-US" sz="2000" b="1" dirty="0" smtClean="0">
                <a:latin typeface="微软雅黑" panose="020B0503020204020204" pitchFamily="34" charset="-122"/>
                <a:ea typeface="微软雅黑" panose="020B0503020204020204" pitchFamily="34" charset="-122"/>
              </a:rPr>
              <a:t>报文，发送</a:t>
            </a:r>
            <a:r>
              <a:rPr lang="zh-CN" altLang="en-US" sz="2000" b="1" dirty="0">
                <a:latin typeface="微软雅黑" panose="020B0503020204020204" pitchFamily="34" charset="-122"/>
                <a:ea typeface="微软雅黑" panose="020B0503020204020204" pitchFamily="34" charset="-122"/>
              </a:rPr>
              <a:t>响应</a:t>
            </a:r>
            <a:r>
              <a:rPr lang="zh-CN" altLang="en-US" sz="2000" b="1" dirty="0" smtClean="0">
                <a:latin typeface="微软雅黑" panose="020B0503020204020204" pitchFamily="34" charset="-122"/>
                <a:ea typeface="微软雅黑" panose="020B0503020204020204" pitchFamily="34" charset="-122"/>
              </a:rPr>
              <a:t>报文。与</a:t>
            </a:r>
            <a:r>
              <a:rPr lang="zh-CN" altLang="en-US" sz="2000" b="1" dirty="0">
                <a:latin typeface="微软雅黑" panose="020B0503020204020204" pitchFamily="34" charset="-122"/>
                <a:ea typeface="微软雅黑" panose="020B0503020204020204" pitchFamily="34" charset="-122"/>
              </a:rPr>
              <a:t>熟知端口通信的</a:t>
            </a:r>
            <a:r>
              <a:rPr lang="zh-CN" altLang="en-US" sz="2000" b="1" dirty="0">
                <a:solidFill>
                  <a:srgbClr val="0000FF"/>
                </a:solidFill>
                <a:latin typeface="微软雅黑" panose="020B0503020204020204" pitchFamily="34" charset="-122"/>
                <a:ea typeface="微软雅黑" panose="020B0503020204020204" pitchFamily="34" charset="-122"/>
              </a:rPr>
              <a:t>客户端</a:t>
            </a: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临时</a:t>
            </a:r>
            <a:r>
              <a:rPr lang="zh-CN" altLang="en-US" sz="2000" b="1" dirty="0" smtClean="0">
                <a:solidFill>
                  <a:srgbClr val="C00000"/>
                </a:solidFill>
                <a:latin typeface="微软雅黑" panose="020B0503020204020204" pitchFamily="34" charset="-122"/>
                <a:ea typeface="微软雅黑" panose="020B0503020204020204" pitchFamily="34" charset="-122"/>
              </a:rPr>
              <a:t>端口。</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管理程序</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客户端</a:t>
            </a:r>
            <a:r>
              <a:rPr lang="zh-CN" altLang="en-US" sz="2000" b="1" dirty="0">
                <a:latin typeface="微软雅黑" panose="020B0503020204020204" pitchFamily="34" charset="-122"/>
                <a:ea typeface="微软雅黑" panose="020B0503020204020204" pitchFamily="34" charset="-122"/>
              </a:rPr>
              <a:t>则</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solidFill>
                  <a:srgbClr val="C00000"/>
                </a:solidFill>
                <a:latin typeface="微软雅黑" panose="020B0503020204020204" pitchFamily="34" charset="-122"/>
                <a:ea typeface="微软雅黑" panose="020B0503020204020204" pitchFamily="34" charset="-122"/>
              </a:rPr>
              <a:t>熟知</a:t>
            </a:r>
            <a:r>
              <a:rPr lang="zh-CN" altLang="en-US" sz="2000" b="1" dirty="0">
                <a:solidFill>
                  <a:srgbClr val="C00000"/>
                </a:solidFill>
                <a:latin typeface="微软雅黑" panose="020B0503020204020204" pitchFamily="34" charset="-122"/>
                <a:ea typeface="微软雅黑" panose="020B0503020204020204" pitchFamily="34" charset="-122"/>
              </a:rPr>
              <a:t>端口 </a:t>
            </a:r>
            <a:r>
              <a:rPr lang="en-US" altLang="zh-CN" sz="2000" b="1" dirty="0">
                <a:latin typeface="微软雅黑" panose="020B0503020204020204" pitchFamily="34" charset="-122"/>
                <a:ea typeface="微软雅黑" panose="020B0503020204020204" pitchFamily="34" charset="-122"/>
              </a:rPr>
              <a:t>162 </a:t>
            </a:r>
            <a:r>
              <a:rPr lang="zh-CN" altLang="en-US" sz="2000" b="1" dirty="0">
                <a:latin typeface="微软雅黑" panose="020B0503020204020204" pitchFamily="34" charset="-122"/>
                <a:ea typeface="微软雅黑" panose="020B0503020204020204" pitchFamily="34" charset="-122"/>
              </a:rPr>
              <a:t>来接收来自各代理的 </a:t>
            </a:r>
            <a:r>
              <a:rPr lang="en-US" altLang="zh-CN" sz="2000" b="1" dirty="0">
                <a:latin typeface="微软雅黑" panose="020B0503020204020204" pitchFamily="34" charset="-122"/>
                <a:ea typeface="微软雅黑" panose="020B0503020204020204" pitchFamily="34" charset="-122"/>
              </a:rPr>
              <a:t>trap </a:t>
            </a:r>
            <a:r>
              <a:rPr lang="zh-CN" altLang="en-US" sz="2000" b="1" dirty="0">
                <a:latin typeface="微软雅黑" panose="020B0503020204020204" pitchFamily="34" charset="-122"/>
                <a:ea typeface="微软雅黑" panose="020B0503020204020204" pitchFamily="34" charset="-122"/>
              </a:rPr>
              <a:t>报文。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96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022804" y="580753"/>
            <a:ext cx="51171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SNMPv1 </a:t>
            </a:r>
            <a:r>
              <a:rPr lang="zh-CN" altLang="en-US" sz="2000" b="1" dirty="0">
                <a:solidFill>
                  <a:schemeClr val="bg1"/>
                </a:solidFill>
                <a:latin typeface="微软雅黑" panose="020B0503020204020204" pitchFamily="34" charset="-122"/>
                <a:ea typeface="微软雅黑" panose="020B0503020204020204" pitchFamily="34" charset="-122"/>
              </a:rPr>
              <a:t>定义</a:t>
            </a:r>
            <a:r>
              <a:rPr lang="zh-CN" altLang="en-US" sz="2000" b="1" dirty="0" smtClean="0">
                <a:solidFill>
                  <a:schemeClr val="bg1"/>
                </a:solidFill>
                <a:latin typeface="微软雅黑" panose="020B0503020204020204" pitchFamily="34" charset="-122"/>
                <a:ea typeface="微软雅黑" panose="020B0503020204020204" pitchFamily="34" charset="-122"/>
              </a:rPr>
              <a:t>的协议数据单元 </a:t>
            </a:r>
            <a:r>
              <a:rPr lang="en-US" altLang="zh-CN" sz="2000" b="1" dirty="0" smtClean="0">
                <a:solidFill>
                  <a:schemeClr val="bg1"/>
                </a:solidFill>
                <a:latin typeface="微软雅黑" panose="020B0503020204020204" pitchFamily="34" charset="-122"/>
                <a:ea typeface="微软雅黑" panose="020B0503020204020204" pitchFamily="34" charset="-122"/>
              </a:rPr>
              <a:t>(PDU) </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492955" y="1023595"/>
            <a:ext cx="8048775" cy="3065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tabLst>
                <a:tab pos="3676650" algn="l"/>
              </a:tabLst>
              <a:defRPr sz="3600">
                <a:solidFill>
                  <a:schemeClr val="tx1"/>
                </a:solidFill>
                <a:latin typeface="Tahoma" panose="020B0604030504040204" pitchFamily="34" charset="0"/>
                <a:ea typeface="宋体" panose="02010600030101010101" pitchFamily="2" charset="-122"/>
              </a:defRPr>
            </a:lvl1pPr>
            <a:lvl2pPr marL="800100" indent="-342900">
              <a:tabLst>
                <a:tab pos="3676650" algn="l"/>
              </a:tabLst>
              <a:defRPr sz="3600">
                <a:solidFill>
                  <a:schemeClr val="tx1"/>
                </a:solidFill>
                <a:latin typeface="Tahoma" panose="020B0604030504040204" pitchFamily="34" charset="0"/>
                <a:ea typeface="宋体" panose="02010600030101010101" pitchFamily="2" charset="-122"/>
              </a:defRPr>
            </a:lvl2pPr>
            <a:lvl3pPr marL="1257300" indent="-342900">
              <a:tabLst>
                <a:tab pos="3676650" algn="l"/>
              </a:tabLst>
              <a:defRPr sz="3600">
                <a:solidFill>
                  <a:schemeClr val="tx1"/>
                </a:solidFill>
                <a:latin typeface="Tahoma" panose="020B0604030504040204" pitchFamily="34" charset="0"/>
                <a:ea typeface="宋体" panose="02010600030101010101" pitchFamily="2" charset="-122"/>
              </a:defRPr>
            </a:lvl3pPr>
            <a:lvl4pPr marL="1714500" indent="-342900">
              <a:tabLst>
                <a:tab pos="3676650" algn="l"/>
              </a:tabLst>
              <a:defRPr sz="3600">
                <a:solidFill>
                  <a:schemeClr val="tx1"/>
                </a:solidFill>
                <a:latin typeface="Tahoma" panose="020B0604030504040204" pitchFamily="34" charset="0"/>
                <a:ea typeface="宋体" panose="02010600030101010101" pitchFamily="2" charset="-122"/>
              </a:defRPr>
            </a:lvl4pPr>
            <a:lvl5pPr marL="2171700" indent="-342900">
              <a:tabLst>
                <a:tab pos="3676650" algn="l"/>
              </a:tabLst>
              <a:defRPr sz="3600">
                <a:solidFill>
                  <a:schemeClr val="tx1"/>
                </a:solidFill>
                <a:latin typeface="Tahoma" panose="020B0604030504040204" pitchFamily="34" charset="0"/>
                <a:ea typeface="宋体" panose="02010600030101010101" pitchFamily="2" charset="-122"/>
              </a:defRPr>
            </a:lvl5pPr>
            <a:lvl6pPr marL="26289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6pPr>
            <a:lvl7pPr marL="30861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7pPr>
            <a:lvl8pPr marL="35433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8pPr>
            <a:lvl9pPr marL="40005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9pPr>
          </a:lstStyle>
          <a:p>
            <a:pPr>
              <a:lnSpc>
                <a:spcPct val="150000"/>
              </a:lnSpc>
              <a:tabLst>
                <a:tab pos="1162050" algn="l"/>
                <a:tab pos="3319145" algn="l"/>
              </a:tabLst>
            </a:pPr>
            <a:r>
              <a:rPr lang="en-US" altLang="zh-CN" sz="1400" b="1" dirty="0" smtClean="0">
                <a:latin typeface="微软雅黑" panose="020B0503020204020204" pitchFamily="34" charset="-122"/>
                <a:ea typeface="微软雅黑" panose="020B0503020204020204" pitchFamily="34" charset="-122"/>
              </a:rPr>
              <a:t>    PDU </a:t>
            </a:r>
            <a:r>
              <a:rPr lang="zh-CN" altLang="en-US" sz="1400" b="1" dirty="0" smtClean="0">
                <a:latin typeface="微软雅黑" panose="020B0503020204020204" pitchFamily="34" charset="-122"/>
                <a:ea typeface="微软雅黑" panose="020B0503020204020204" pitchFamily="34" charset="-122"/>
              </a:rPr>
              <a:t>编号 </a:t>
            </a:r>
            <a:r>
              <a:rPr lang="en-US" altLang="zh-CN" sz="1400" b="1" dirty="0" smtClean="0">
                <a:latin typeface="微软雅黑" panose="020B0503020204020204" pitchFamily="34" charset="-122"/>
                <a:ea typeface="微软雅黑" panose="020B0503020204020204" pitchFamily="34" charset="-122"/>
              </a:rPr>
              <a:t>(T</a:t>
            </a:r>
            <a:r>
              <a:rPr lang="zh-CN" altLang="en-US" sz="1400" b="1" dirty="0" smtClean="0">
                <a:latin typeface="微软雅黑" panose="020B0503020204020204" pitchFamily="34" charset="-122"/>
                <a:ea typeface="微软雅黑" panose="020B0503020204020204" pitchFamily="34" charset="-122"/>
              </a:rPr>
              <a:t>字段</a:t>
            </a:r>
            <a:r>
              <a:rPr lang="en-US" altLang="zh-CN" sz="1400" b="1" dirty="0" smtClean="0">
                <a:latin typeface="微软雅黑" panose="020B0503020204020204" pitchFamily="34" charset="-122"/>
                <a:ea typeface="微软雅黑" panose="020B0503020204020204" pitchFamily="34" charset="-122"/>
              </a:rPr>
              <a:t>)           PDU </a:t>
            </a:r>
            <a:r>
              <a:rPr lang="zh-CN" altLang="en-US" sz="1400" b="1" dirty="0" smtClean="0">
                <a:latin typeface="微软雅黑" panose="020B0503020204020204" pitchFamily="34" charset="-122"/>
                <a:ea typeface="微软雅黑" panose="020B0503020204020204" pitchFamily="34" charset="-122"/>
              </a:rPr>
              <a:t>名称</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用途</a:t>
            </a:r>
            <a:endParaRPr lang="zh-CN" altLang="en-US" sz="1400" b="1" dirty="0">
              <a:latin typeface="微软雅黑" panose="020B0503020204020204" pitchFamily="34" charset="-122"/>
              <a:ea typeface="微软雅黑" panose="020B0503020204020204" pitchFamily="34" charset="-122"/>
            </a:endParaRPr>
          </a:p>
          <a:p>
            <a:pPr eaLnBrk="1" hangingPunct="1">
              <a:lnSpc>
                <a:spcPct val="150000"/>
              </a:lnSpc>
              <a:spcAft>
                <a:spcPct val="30000"/>
              </a:spcAft>
              <a:tabLst>
                <a:tab pos="1162050" algn="l"/>
                <a:tab pos="3319145" algn="l"/>
              </a:tabLst>
            </a:pP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0  (A0)       	               </a:t>
            </a:r>
            <a:r>
              <a:rPr lang="en-US" altLang="zh-CN" sz="1400" b="1" dirty="0" err="1" smtClean="0">
                <a:solidFill>
                  <a:srgbClr val="0000FF"/>
                </a:solidFill>
                <a:latin typeface="微软雅黑" panose="020B0503020204020204" pitchFamily="34" charset="-122"/>
                <a:ea typeface="微软雅黑" panose="020B0503020204020204" pitchFamily="34" charset="-122"/>
              </a:rPr>
              <a:t>GetRequest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用来</a:t>
            </a:r>
            <a:r>
              <a:rPr lang="zh-CN" altLang="en-US" sz="1400" b="1" dirty="0">
                <a:solidFill>
                  <a:srgbClr val="0000FF"/>
                </a:solidFill>
                <a:latin typeface="微软雅黑" panose="020B0503020204020204" pitchFamily="34" charset="-122"/>
                <a:ea typeface="微软雅黑" panose="020B0503020204020204" pitchFamily="34" charset="-122"/>
              </a:rPr>
              <a:t>查询一个或一组变量的值</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1 </a:t>
            </a:r>
            <a:r>
              <a:rPr lang="en-US" altLang="zh-CN" sz="1400" b="1" dirty="0" smtClean="0">
                <a:solidFill>
                  <a:srgbClr val="0000FF"/>
                </a:solidFill>
                <a:latin typeface="微软雅黑" panose="020B0503020204020204" pitchFamily="34" charset="-122"/>
                <a:ea typeface="微软雅黑" panose="020B0503020204020204" pitchFamily="34" charset="-122"/>
              </a:rPr>
              <a:t> (A1)       	               </a:t>
            </a:r>
            <a:r>
              <a:rPr lang="en-US" altLang="zh-CN" sz="1400" b="1" dirty="0" err="1" smtClean="0">
                <a:solidFill>
                  <a:srgbClr val="0000FF"/>
                </a:solidFill>
                <a:latin typeface="微软雅黑" panose="020B0503020204020204" pitchFamily="34" charset="-122"/>
                <a:ea typeface="微软雅黑" panose="020B0503020204020204" pitchFamily="34" charset="-122"/>
              </a:rPr>
              <a:t>GetNextRequest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允许</a:t>
            </a:r>
            <a:r>
              <a:rPr lang="zh-CN" altLang="en-US" sz="1400" b="1" dirty="0">
                <a:solidFill>
                  <a:srgbClr val="0000FF"/>
                </a:solidFill>
                <a:latin typeface="微软雅黑" panose="020B0503020204020204" pitchFamily="34" charset="-122"/>
                <a:ea typeface="微软雅黑" panose="020B0503020204020204" pitchFamily="34" charset="-122"/>
              </a:rPr>
              <a:t>在 </a:t>
            </a:r>
            <a:r>
              <a:rPr lang="en-US" altLang="zh-CN" sz="1400" b="1" dirty="0">
                <a:solidFill>
                  <a:srgbClr val="0000FF"/>
                </a:solidFill>
                <a:latin typeface="微软雅黑" panose="020B0503020204020204" pitchFamily="34" charset="-122"/>
                <a:ea typeface="微软雅黑" panose="020B0503020204020204" pitchFamily="34" charset="-122"/>
              </a:rPr>
              <a:t>MIB </a:t>
            </a:r>
            <a:r>
              <a:rPr lang="zh-CN" altLang="en-US" sz="1400" b="1" dirty="0">
                <a:solidFill>
                  <a:srgbClr val="0000FF"/>
                </a:solidFill>
                <a:latin typeface="微软雅黑" panose="020B0503020204020204" pitchFamily="34" charset="-122"/>
                <a:ea typeface="微软雅黑" panose="020B0503020204020204" pitchFamily="34" charset="-122"/>
              </a:rPr>
              <a:t>树上读取下一个变量</a:t>
            </a:r>
            <a:r>
              <a:rPr lang="zh-CN" altLang="en-US" sz="1400" b="1" dirty="0" smtClean="0">
                <a:solidFill>
                  <a:srgbClr val="0000FF"/>
                </a:solidFill>
                <a:latin typeface="微软雅黑" panose="020B0503020204020204" pitchFamily="34" charset="-122"/>
                <a:ea typeface="微软雅黑" panose="020B0503020204020204" pitchFamily="34" charset="-122"/>
              </a:rPr>
              <a:t>，此</a:t>
            </a:r>
            <a:r>
              <a:rPr lang="zh-CN" altLang="en-US" sz="1400" b="1" dirty="0">
                <a:solidFill>
                  <a:srgbClr val="0000FF"/>
                </a:solidFill>
                <a:latin typeface="微软雅黑" panose="020B0503020204020204" pitchFamily="34" charset="-122"/>
                <a:ea typeface="微软雅黑" panose="020B0503020204020204" pitchFamily="34" charset="-122"/>
              </a:rPr>
              <a:t>操作可反复进行 </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2 </a:t>
            </a:r>
            <a:r>
              <a:rPr lang="en-US" altLang="zh-CN" sz="1400" b="1" dirty="0" smtClean="0">
                <a:solidFill>
                  <a:srgbClr val="0000FF"/>
                </a:solidFill>
                <a:latin typeface="微软雅黑" panose="020B0503020204020204" pitchFamily="34" charset="-122"/>
                <a:ea typeface="微软雅黑" panose="020B0503020204020204" pitchFamily="34" charset="-122"/>
              </a:rPr>
              <a:t> (A2)       	               </a:t>
            </a:r>
            <a:r>
              <a:rPr lang="en-US" altLang="zh-CN" sz="1400" b="1" dirty="0" err="1" smtClean="0">
                <a:solidFill>
                  <a:srgbClr val="0000FF"/>
                </a:solidFill>
                <a:latin typeface="微软雅黑" panose="020B0503020204020204" pitchFamily="34" charset="-122"/>
                <a:ea typeface="微软雅黑" panose="020B0503020204020204" pitchFamily="34" charset="-122"/>
              </a:rPr>
              <a:t>Reponse</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代理</a:t>
            </a:r>
            <a:r>
              <a:rPr lang="zh-CN" altLang="en-US" sz="1400" b="1" dirty="0">
                <a:solidFill>
                  <a:srgbClr val="0000FF"/>
                </a:solidFill>
                <a:latin typeface="微软雅黑" panose="020B0503020204020204" pitchFamily="34" charset="-122"/>
                <a:ea typeface="微软雅黑" panose="020B0503020204020204" pitchFamily="34" charset="-122"/>
              </a:rPr>
              <a:t>向管理者或管理者向管理者</a:t>
            </a:r>
            <a:r>
              <a:rPr lang="zh-CN" altLang="en-US" sz="1400" b="1" dirty="0" smtClean="0">
                <a:solidFill>
                  <a:srgbClr val="0000FF"/>
                </a:solidFill>
                <a:latin typeface="微软雅黑" panose="020B0503020204020204" pitchFamily="34" charset="-122"/>
                <a:ea typeface="微软雅黑" panose="020B0503020204020204" pitchFamily="34" charset="-122"/>
              </a:rPr>
              <a:t>发送响应</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3 </a:t>
            </a:r>
            <a:r>
              <a:rPr lang="en-US" altLang="zh-CN" sz="1400" b="1" dirty="0" smtClean="0">
                <a:solidFill>
                  <a:srgbClr val="0000FF"/>
                </a:solidFill>
                <a:latin typeface="微软雅黑" panose="020B0503020204020204" pitchFamily="34" charset="-122"/>
                <a:ea typeface="微软雅黑" panose="020B0503020204020204" pitchFamily="34" charset="-122"/>
              </a:rPr>
              <a:t> (A3)       	               </a:t>
            </a:r>
            <a:r>
              <a:rPr lang="en-US" altLang="zh-CN" sz="1400" b="1" dirty="0" err="1" smtClean="0">
                <a:solidFill>
                  <a:srgbClr val="0000FF"/>
                </a:solidFill>
                <a:latin typeface="微软雅黑" panose="020B0503020204020204" pitchFamily="34" charset="-122"/>
                <a:ea typeface="微软雅黑" panose="020B0503020204020204" pitchFamily="34" charset="-122"/>
              </a:rPr>
              <a:t>SetRequest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对</a:t>
            </a:r>
            <a:r>
              <a:rPr lang="zh-CN" altLang="en-US" sz="1400" b="1" dirty="0">
                <a:solidFill>
                  <a:srgbClr val="0000FF"/>
                </a:solidFill>
                <a:latin typeface="微软雅黑" panose="020B0503020204020204" pitchFamily="34" charset="-122"/>
                <a:ea typeface="微软雅黑" panose="020B0503020204020204" pitchFamily="34" charset="-122"/>
              </a:rPr>
              <a:t>一个或多个变量值进行设置</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5 </a:t>
            </a:r>
            <a:r>
              <a:rPr lang="en-US" altLang="zh-CN" sz="1400" b="1" dirty="0" smtClean="0">
                <a:solidFill>
                  <a:srgbClr val="0000FF"/>
                </a:solidFill>
                <a:latin typeface="微软雅黑" panose="020B0503020204020204" pitchFamily="34" charset="-122"/>
                <a:ea typeface="微软雅黑" panose="020B0503020204020204" pitchFamily="34" charset="-122"/>
              </a:rPr>
              <a:t> (A5)       	               </a:t>
            </a:r>
            <a:r>
              <a:rPr lang="en-US" altLang="zh-CN" sz="1400" b="1" dirty="0" err="1" smtClean="0">
                <a:solidFill>
                  <a:srgbClr val="0000FF"/>
                </a:solidFill>
                <a:latin typeface="微软雅黑" panose="020B0503020204020204" pitchFamily="34" charset="-122"/>
                <a:ea typeface="微软雅黑" panose="020B0503020204020204" pitchFamily="34" charset="-122"/>
              </a:rPr>
              <a:t>GetBulkRequest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者从代理读取大数据块的值</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6  </a:t>
            </a:r>
            <a:r>
              <a:rPr lang="en-US" altLang="zh-CN" sz="1400" b="1" dirty="0" smtClean="0">
                <a:solidFill>
                  <a:srgbClr val="0000FF"/>
                </a:solidFill>
                <a:latin typeface="微软雅黑" panose="020B0503020204020204" pitchFamily="34" charset="-122"/>
                <a:ea typeface="微软雅黑" panose="020B0503020204020204" pitchFamily="34" charset="-122"/>
              </a:rPr>
              <a:t>(A6)      	               </a:t>
            </a:r>
            <a:r>
              <a:rPr lang="en-US" altLang="zh-CN" sz="1400" b="1" dirty="0" err="1" smtClean="0">
                <a:solidFill>
                  <a:srgbClr val="0000FF"/>
                </a:solidFill>
                <a:latin typeface="微软雅黑" panose="020B0503020204020204" pitchFamily="34" charset="-122"/>
                <a:ea typeface="微软雅黑" panose="020B0503020204020204" pitchFamily="34" charset="-122"/>
              </a:rPr>
              <a:t>InformRequest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者从另一管理者读取代理的变量</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7  </a:t>
            </a:r>
            <a:r>
              <a:rPr lang="en-US" altLang="zh-CN" sz="1400" b="1" dirty="0" smtClean="0">
                <a:solidFill>
                  <a:srgbClr val="0000FF"/>
                </a:solidFill>
                <a:latin typeface="微软雅黑" panose="020B0503020204020204" pitchFamily="34" charset="-122"/>
                <a:ea typeface="微软雅黑" panose="020B0503020204020204" pitchFamily="34" charset="-122"/>
              </a:rPr>
              <a:t>(A7)      	               SNMPv2Trap	      </a:t>
            </a:r>
            <a:r>
              <a:rPr lang="zh-CN" altLang="en-US" sz="1400" b="1" dirty="0" smtClean="0">
                <a:solidFill>
                  <a:srgbClr val="0000FF"/>
                </a:solidFill>
                <a:latin typeface="微软雅黑" panose="020B0503020204020204" pitchFamily="34" charset="-122"/>
                <a:ea typeface="微软雅黑" panose="020B0503020204020204" pitchFamily="34" charset="-122"/>
              </a:rPr>
              <a:t>代理</a:t>
            </a:r>
            <a:r>
              <a:rPr lang="zh-CN" altLang="en-US" sz="1400" b="1" dirty="0">
                <a:solidFill>
                  <a:srgbClr val="0000FF"/>
                </a:solidFill>
                <a:latin typeface="微软雅黑" panose="020B0503020204020204" pitchFamily="34" charset="-122"/>
                <a:ea typeface="微软雅黑" panose="020B0503020204020204" pitchFamily="34" charset="-122"/>
              </a:rPr>
              <a:t>向管理者报告异常事件</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8  (A8)      	               Report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者之间报告某些差错 </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387591"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2" name="Line 6"/>
          <p:cNvSpPr>
            <a:spLocks noChangeShapeType="1"/>
          </p:cNvSpPr>
          <p:nvPr/>
        </p:nvSpPr>
        <p:spPr bwMode="auto">
          <a:xfrm>
            <a:off x="4113204" y="1087843"/>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3" name="Line 5"/>
          <p:cNvSpPr>
            <a:spLocks noChangeShapeType="1"/>
          </p:cNvSpPr>
          <p:nvPr/>
        </p:nvSpPr>
        <p:spPr bwMode="auto">
          <a:xfrm>
            <a:off x="585216" y="108784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4" name="Line 5"/>
          <p:cNvSpPr>
            <a:spLocks noChangeShapeType="1"/>
          </p:cNvSpPr>
          <p:nvPr/>
        </p:nvSpPr>
        <p:spPr bwMode="auto">
          <a:xfrm>
            <a:off x="585216" y="407538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5" name="Line 5"/>
          <p:cNvSpPr>
            <a:spLocks noChangeShapeType="1"/>
          </p:cNvSpPr>
          <p:nvPr/>
        </p:nvSpPr>
        <p:spPr bwMode="auto">
          <a:xfrm>
            <a:off x="585216" y="139416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6" name="Line 6"/>
          <p:cNvSpPr>
            <a:spLocks noChangeShapeType="1"/>
          </p:cNvSpPr>
          <p:nvPr/>
        </p:nvSpPr>
        <p:spPr bwMode="auto">
          <a:xfrm>
            <a:off x="585272"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7" name="Line 6"/>
          <p:cNvSpPr>
            <a:spLocks noChangeShapeType="1"/>
          </p:cNvSpPr>
          <p:nvPr/>
        </p:nvSpPr>
        <p:spPr bwMode="auto">
          <a:xfrm>
            <a:off x="8540440"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8" name="Line 5"/>
          <p:cNvSpPr>
            <a:spLocks noChangeShapeType="1"/>
          </p:cNvSpPr>
          <p:nvPr/>
        </p:nvSpPr>
        <p:spPr bwMode="auto">
          <a:xfrm>
            <a:off x="585216" y="174369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19" name="Line 5"/>
          <p:cNvSpPr>
            <a:spLocks noChangeShapeType="1"/>
          </p:cNvSpPr>
          <p:nvPr/>
        </p:nvSpPr>
        <p:spPr bwMode="auto">
          <a:xfrm>
            <a:off x="585216" y="209573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0" name="Line 5"/>
          <p:cNvSpPr>
            <a:spLocks noChangeShapeType="1"/>
          </p:cNvSpPr>
          <p:nvPr/>
        </p:nvSpPr>
        <p:spPr bwMode="auto">
          <a:xfrm>
            <a:off x="585216" y="2419197"/>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1" name="Line 5"/>
          <p:cNvSpPr>
            <a:spLocks noChangeShapeType="1"/>
          </p:cNvSpPr>
          <p:nvPr/>
        </p:nvSpPr>
        <p:spPr bwMode="auto">
          <a:xfrm>
            <a:off x="585216" y="273466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2" name="Line 5"/>
          <p:cNvSpPr>
            <a:spLocks noChangeShapeType="1"/>
          </p:cNvSpPr>
          <p:nvPr/>
        </p:nvSpPr>
        <p:spPr bwMode="auto">
          <a:xfrm>
            <a:off x="585216" y="304898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3" name="Line 5"/>
          <p:cNvSpPr>
            <a:spLocks noChangeShapeType="1"/>
          </p:cNvSpPr>
          <p:nvPr/>
        </p:nvSpPr>
        <p:spPr bwMode="auto">
          <a:xfrm>
            <a:off x="585216" y="338273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4" name="Line 5"/>
          <p:cNvSpPr>
            <a:spLocks noChangeShapeType="1"/>
          </p:cNvSpPr>
          <p:nvPr/>
        </p:nvSpPr>
        <p:spPr bwMode="auto">
          <a:xfrm>
            <a:off x="585216" y="369705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2317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368519" y="582898"/>
            <a:ext cx="24256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的报文</a:t>
            </a:r>
            <a:r>
              <a:rPr lang="zh-CN" altLang="en-US" sz="2000" b="1" dirty="0" smtClean="0">
                <a:solidFill>
                  <a:schemeClr val="bg1"/>
                </a:solidFill>
                <a:latin typeface="微软雅黑" panose="020B0503020204020204" pitchFamily="34" charset="-122"/>
                <a:ea typeface="微软雅黑" panose="020B0503020204020204" pitchFamily="34" charset="-122"/>
              </a:rPr>
              <a:t>格式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60" name="组合 59"/>
          <p:cNvGrpSpPr/>
          <p:nvPr/>
        </p:nvGrpSpPr>
        <p:grpSpPr>
          <a:xfrm>
            <a:off x="714611" y="1275095"/>
            <a:ext cx="7636988" cy="2750850"/>
            <a:chOff x="284287" y="1433308"/>
            <a:chExt cx="9493249" cy="3419476"/>
          </a:xfrm>
        </p:grpSpPr>
        <p:grpSp>
          <p:nvGrpSpPr>
            <p:cNvPr id="5" name="Group 142"/>
            <p:cNvGrpSpPr/>
            <p:nvPr/>
          </p:nvGrpSpPr>
          <p:grpSpPr bwMode="auto">
            <a:xfrm>
              <a:off x="7266640" y="4061197"/>
              <a:ext cx="2510896" cy="344488"/>
              <a:chOff x="4177" y="2324"/>
              <a:chExt cx="1460" cy="217"/>
            </a:xfrm>
          </p:grpSpPr>
          <p:sp>
            <p:nvSpPr>
              <p:cNvPr id="6" name="Line 119"/>
              <p:cNvSpPr>
                <a:spLocks noChangeShapeType="1"/>
              </p:cNvSpPr>
              <p:nvPr/>
            </p:nvSpPr>
            <p:spPr bwMode="auto">
              <a:xfrm flipV="1">
                <a:off x="4177" y="2444"/>
                <a:ext cx="146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Rectangle 122"/>
              <p:cNvSpPr>
                <a:spLocks noChangeArrowheads="1"/>
              </p:cNvSpPr>
              <p:nvPr/>
            </p:nvSpPr>
            <p:spPr bwMode="auto">
              <a:xfrm>
                <a:off x="4593" y="2324"/>
                <a:ext cx="579"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a:solidFill>
                      <a:srgbClr val="0000FF"/>
                    </a:solidFill>
                    <a:latin typeface="微软雅黑" panose="020B0503020204020204" pitchFamily="34" charset="-122"/>
                    <a:ea typeface="微软雅黑" panose="020B0503020204020204" pitchFamily="34" charset="-122"/>
                  </a:rPr>
                  <a:t>变量绑定</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grpSp>
        <p:grpSp>
          <p:nvGrpSpPr>
            <p:cNvPr id="8" name="Group 141"/>
            <p:cNvGrpSpPr/>
            <p:nvPr/>
          </p:nvGrpSpPr>
          <p:grpSpPr bwMode="auto">
            <a:xfrm>
              <a:off x="4100504" y="4061197"/>
              <a:ext cx="3154098" cy="344488"/>
              <a:chOff x="2336" y="2324"/>
              <a:chExt cx="1834" cy="217"/>
            </a:xfrm>
          </p:grpSpPr>
          <p:sp>
            <p:nvSpPr>
              <p:cNvPr id="9" name="Line 138"/>
              <p:cNvSpPr>
                <a:spLocks noChangeShapeType="1"/>
              </p:cNvSpPr>
              <p:nvPr/>
            </p:nvSpPr>
            <p:spPr bwMode="auto">
              <a:xfrm flipV="1">
                <a:off x="2336" y="2444"/>
                <a:ext cx="183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Rectangle 139"/>
              <p:cNvSpPr>
                <a:spLocks noChangeArrowheads="1"/>
              </p:cNvSpPr>
              <p:nvPr/>
            </p:nvSpPr>
            <p:spPr bwMode="auto">
              <a:xfrm>
                <a:off x="3032" y="2324"/>
                <a:ext cx="357"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panose="020B0503020204020204" pitchFamily="34" charset="-122"/>
                    <a:ea typeface="微软雅黑" panose="020B0503020204020204" pitchFamily="34" charset="-122"/>
                  </a:rPr>
                  <a:t>首部</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sp>
          <p:nvSpPr>
            <p:cNvPr id="11" name="Rectangle 88"/>
            <p:cNvSpPr>
              <a:spLocks noChangeArrowheads="1"/>
            </p:cNvSpPr>
            <p:nvPr/>
          </p:nvSpPr>
          <p:spPr bwMode="auto">
            <a:xfrm>
              <a:off x="299764" y="3567478"/>
              <a:ext cx="9458854" cy="441325"/>
            </a:xfrm>
            <a:prstGeom prst="rect">
              <a:avLst/>
            </a:prstGeom>
            <a:solidFill>
              <a:srgbClr val="00FFCC"/>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109"/>
            <p:cNvSpPr>
              <a:spLocks noChangeArrowheads="1"/>
            </p:cNvSpPr>
            <p:nvPr/>
          </p:nvSpPr>
          <p:spPr bwMode="auto">
            <a:xfrm>
              <a:off x="2968881" y="3562715"/>
              <a:ext cx="6791458" cy="446090"/>
            </a:xfrm>
            <a:prstGeom prst="rect">
              <a:avLst/>
            </a:prstGeom>
            <a:solidFill>
              <a:srgbClr val="00B050"/>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Rectangle 111"/>
            <p:cNvSpPr>
              <a:spLocks noChangeArrowheads="1"/>
            </p:cNvSpPr>
            <p:nvPr/>
          </p:nvSpPr>
          <p:spPr bwMode="auto">
            <a:xfrm>
              <a:off x="284287" y="3642089"/>
              <a:ext cx="9164115" cy="31069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200" b="1" dirty="0">
                  <a:latin typeface="微软雅黑" panose="020B0503020204020204" pitchFamily="34" charset="-122"/>
                  <a:ea typeface="微软雅黑" panose="020B0503020204020204" pitchFamily="34" charset="-122"/>
                </a:rPr>
                <a:t>上下文引擎 </a:t>
              </a:r>
              <a:r>
                <a:rPr kumimoji="1" lang="en-US" altLang="zh-CN" sz="1200" b="1" dirty="0" smtClean="0">
                  <a:latin typeface="微软雅黑" panose="020B0503020204020204" pitchFamily="34" charset="-122"/>
                  <a:ea typeface="微软雅黑" panose="020B0503020204020204" pitchFamily="34" charset="-122"/>
                </a:rPr>
                <a:t>ID      </a:t>
              </a:r>
              <a:r>
                <a:rPr kumimoji="1" lang="zh-CN" altLang="en-US" sz="1200" b="1" dirty="0">
                  <a:latin typeface="微软雅黑" panose="020B0503020204020204" pitchFamily="34" charset="-122"/>
                  <a:ea typeface="微软雅黑" panose="020B0503020204020204" pitchFamily="34" charset="-122"/>
                </a:rPr>
                <a:t>上下文名 </a:t>
              </a:r>
              <a:r>
                <a:rPr kumimoji="1" lang="zh-CN" altLang="en-US" sz="1200" b="1" dirty="0" smtClean="0">
                  <a:latin typeface="微软雅黑" panose="020B0503020204020204" pitchFamily="34" charset="-122"/>
                  <a:ea typeface="微软雅黑" panose="020B0503020204020204" pitchFamily="34" charset="-122"/>
                </a:rPr>
                <a:t>     </a:t>
              </a:r>
              <a:r>
                <a:rPr kumimoji="1" lang="en-US" altLang="zh-CN" sz="1200" b="1" dirty="0" smtClean="0">
                  <a:solidFill>
                    <a:schemeClr val="bg1"/>
                  </a:solidFill>
                  <a:latin typeface="微软雅黑" panose="020B0503020204020204" pitchFamily="34" charset="-122"/>
                  <a:ea typeface="微软雅黑" panose="020B0503020204020204" pitchFamily="34" charset="-122"/>
                </a:rPr>
                <a:t>PDU </a:t>
              </a:r>
              <a:r>
                <a:rPr kumimoji="1" lang="zh-CN" altLang="en-US" sz="1200" b="1" dirty="0">
                  <a:solidFill>
                    <a:schemeClr val="bg1"/>
                  </a:solidFill>
                  <a:latin typeface="微软雅黑" panose="020B0503020204020204" pitchFamily="34" charset="-122"/>
                  <a:ea typeface="微软雅黑" panose="020B0503020204020204" pitchFamily="34" charset="-122"/>
                </a:rPr>
                <a:t>类型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请求 </a:t>
              </a:r>
              <a:r>
                <a:rPr kumimoji="1" lang="en-US" altLang="zh-CN" sz="1200" b="1" dirty="0">
                  <a:solidFill>
                    <a:schemeClr val="bg1"/>
                  </a:solidFill>
                  <a:latin typeface="微软雅黑" panose="020B0503020204020204" pitchFamily="34" charset="-122"/>
                  <a:ea typeface="微软雅黑" panose="020B0503020204020204" pitchFamily="34" charset="-122"/>
                </a:rPr>
                <a:t>ID </a:t>
              </a:r>
              <a:r>
                <a:rPr kumimoji="1" lang="en-US" altLang="zh-CN"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差错状态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差错索引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名      值      名     值  </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4" name="Line 89"/>
            <p:cNvSpPr>
              <a:spLocks noChangeShapeType="1"/>
            </p:cNvSpPr>
            <p:nvPr/>
          </p:nvSpPr>
          <p:spPr bwMode="auto">
            <a:xfrm>
              <a:off x="2074589" y="2005377"/>
              <a:ext cx="718701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0"/>
            <p:cNvSpPr>
              <a:spLocks noChangeShapeType="1"/>
            </p:cNvSpPr>
            <p:nvPr/>
          </p:nvSpPr>
          <p:spPr bwMode="auto">
            <a:xfrm>
              <a:off x="2741869" y="2370502"/>
              <a:ext cx="65042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91"/>
            <p:cNvSpPr>
              <a:spLocks noChangeShapeType="1"/>
            </p:cNvSpPr>
            <p:nvPr/>
          </p:nvSpPr>
          <p:spPr bwMode="auto">
            <a:xfrm>
              <a:off x="2759066" y="2238739"/>
              <a:ext cx="0" cy="3111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92"/>
            <p:cNvSpPr>
              <a:spLocks noChangeShapeType="1"/>
            </p:cNvSpPr>
            <p:nvPr/>
          </p:nvSpPr>
          <p:spPr bwMode="auto">
            <a:xfrm>
              <a:off x="9261599" y="1537065"/>
              <a:ext cx="0" cy="9937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Rectangle 93"/>
            <p:cNvSpPr>
              <a:spLocks noChangeArrowheads="1"/>
            </p:cNvSpPr>
            <p:nvPr/>
          </p:nvSpPr>
          <p:spPr bwMode="auto">
            <a:xfrm>
              <a:off x="4726508" y="1830179"/>
              <a:ext cx="128923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solidFill>
                    <a:srgbClr val="0000FF"/>
                  </a:solidFill>
                  <a:latin typeface="微软雅黑" panose="020B0503020204020204" pitchFamily="34" charset="-122"/>
                  <a:ea typeface="微软雅黑" panose="020B0503020204020204" pitchFamily="34" charset="-122"/>
                </a:rPr>
                <a:t>UDP </a:t>
              </a:r>
              <a:r>
                <a:rPr kumimoji="1" lang="zh-CN" altLang="en-US" sz="1200" b="1">
                  <a:solidFill>
                    <a:srgbClr val="0000FF"/>
                  </a:solidFill>
                  <a:latin typeface="微软雅黑" panose="020B0503020204020204" pitchFamily="34" charset="-122"/>
                  <a:ea typeface="微软雅黑" panose="020B0503020204020204" pitchFamily="34" charset="-122"/>
                </a:rPr>
                <a:t>数据报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19" name="Line 94"/>
            <p:cNvSpPr>
              <a:spLocks noChangeShapeType="1"/>
            </p:cNvSpPr>
            <p:nvPr/>
          </p:nvSpPr>
          <p:spPr bwMode="auto">
            <a:xfrm>
              <a:off x="1390112" y="1459277"/>
              <a:ext cx="0" cy="10906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0" name="Line 95"/>
            <p:cNvSpPr>
              <a:spLocks noChangeShapeType="1"/>
            </p:cNvSpPr>
            <p:nvPr/>
          </p:nvSpPr>
          <p:spPr bwMode="auto">
            <a:xfrm flipV="1">
              <a:off x="1391832" y="1619614"/>
              <a:ext cx="7871486" cy="0"/>
            </a:xfrm>
            <a:prstGeom prst="line">
              <a:avLst/>
            </a:prstGeom>
            <a:noFill/>
            <a:ln w="12700">
              <a:solidFill>
                <a:schemeClr val="tx1"/>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Rectangle 96"/>
            <p:cNvSpPr>
              <a:spLocks noChangeArrowheads="1"/>
            </p:cNvSpPr>
            <p:nvPr/>
          </p:nvSpPr>
          <p:spPr bwMode="auto">
            <a:xfrm>
              <a:off x="4451343" y="1433308"/>
              <a:ext cx="105211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panose="020B0503020204020204" pitchFamily="34" charset="-122"/>
                  <a:ea typeface="微软雅黑" panose="020B0503020204020204" pitchFamily="34" charset="-122"/>
                </a:rPr>
                <a:t>IP </a:t>
              </a:r>
              <a:r>
                <a:rPr kumimoji="1" lang="zh-CN" altLang="en-US" sz="1200" b="1" dirty="0">
                  <a:solidFill>
                    <a:srgbClr val="0000FF"/>
                  </a:solidFill>
                  <a:latin typeface="微软雅黑" panose="020B0503020204020204" pitchFamily="34" charset="-122"/>
                  <a:ea typeface="微软雅黑" panose="020B0503020204020204" pitchFamily="34" charset="-122"/>
                </a:rPr>
                <a:t>数据报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22" name="Rectangle 97"/>
            <p:cNvSpPr>
              <a:spLocks noChangeArrowheads="1"/>
            </p:cNvSpPr>
            <p:nvPr/>
          </p:nvSpPr>
          <p:spPr bwMode="auto">
            <a:xfrm>
              <a:off x="5208052" y="2190545"/>
              <a:ext cx="1271299"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C00FF"/>
                  </a:solidFill>
                  <a:latin typeface="微软雅黑" panose="020B0503020204020204" pitchFamily="34" charset="-122"/>
                  <a:ea typeface="微软雅黑" panose="020B0503020204020204" pitchFamily="34" charset="-122"/>
                </a:rPr>
                <a:t>SNMP </a:t>
              </a:r>
              <a:r>
                <a:rPr kumimoji="1" lang="zh-CN" altLang="en-US" sz="1200" b="1" dirty="0">
                  <a:solidFill>
                    <a:srgbClr val="CC00FF"/>
                  </a:solidFill>
                  <a:latin typeface="微软雅黑" panose="020B0503020204020204" pitchFamily="34" charset="-122"/>
                  <a:ea typeface="微软雅黑" panose="020B0503020204020204" pitchFamily="34" charset="-122"/>
                </a:rPr>
                <a:t>报文</a:t>
              </a:r>
              <a:endParaRPr kumimoji="1" lang="zh-CN" altLang="en-US" sz="1200" b="1" dirty="0">
                <a:solidFill>
                  <a:srgbClr val="CC00FF"/>
                </a:solidFill>
                <a:latin typeface="微软雅黑" panose="020B0503020204020204" pitchFamily="34" charset="-122"/>
                <a:ea typeface="微软雅黑" panose="020B0503020204020204" pitchFamily="34" charset="-122"/>
              </a:endParaRPr>
            </a:p>
          </p:txBody>
        </p:sp>
        <p:sp>
          <p:nvSpPr>
            <p:cNvPr id="23" name="Line 98"/>
            <p:cNvSpPr>
              <a:spLocks noChangeShapeType="1"/>
            </p:cNvSpPr>
            <p:nvPr/>
          </p:nvSpPr>
          <p:spPr bwMode="auto">
            <a:xfrm>
              <a:off x="2074589" y="1849802"/>
              <a:ext cx="0" cy="685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Rectangle 99"/>
            <p:cNvSpPr>
              <a:spLocks noChangeArrowheads="1"/>
            </p:cNvSpPr>
            <p:nvPr/>
          </p:nvSpPr>
          <p:spPr bwMode="auto">
            <a:xfrm>
              <a:off x="1390112" y="2602277"/>
              <a:ext cx="7871487" cy="563562"/>
            </a:xfrm>
            <a:prstGeom prst="rect">
              <a:avLst/>
            </a:prstGeom>
            <a:solidFill>
              <a:srgbClr val="99FFCC"/>
            </a:solidFill>
            <a:ln w="9525">
              <a:solidFill>
                <a:schemeClr val="folHlink"/>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Rectangle 100"/>
            <p:cNvSpPr>
              <a:spLocks noChangeArrowheads="1"/>
            </p:cNvSpPr>
            <p:nvPr/>
          </p:nvSpPr>
          <p:spPr bwMode="auto">
            <a:xfrm>
              <a:off x="1410749" y="2602276"/>
              <a:ext cx="613731"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anose="020B0503020204020204" pitchFamily="34" charset="-122"/>
                  <a:ea typeface="微软雅黑" panose="020B0503020204020204" pitchFamily="34" charset="-122"/>
                </a:rPr>
                <a:t>  IP </a:t>
              </a:r>
              <a:endParaRPr kumimoji="1" lang="en-US" altLang="zh-CN" sz="1200" b="1">
                <a:latin typeface="微软雅黑" panose="020B0503020204020204" pitchFamily="34" charset="-122"/>
                <a:ea typeface="微软雅黑" panose="020B0503020204020204" pitchFamily="34" charset="-122"/>
              </a:endParaRPr>
            </a:p>
            <a:p>
              <a:pPr defTabSz="762000">
                <a:lnSpc>
                  <a:spcPct val="90000"/>
                </a:lnSpc>
              </a:pPr>
              <a:r>
                <a:rPr kumimoji="1" lang="zh-CN" altLang="en-US" sz="1200" b="1">
                  <a:latin typeface="微软雅黑" panose="020B0503020204020204" pitchFamily="34" charset="-122"/>
                  <a:ea typeface="微软雅黑" panose="020B0503020204020204" pitchFamily="34" charset="-122"/>
                </a:rPr>
                <a:t>首部</a:t>
              </a:r>
              <a:endParaRPr kumimoji="1" lang="zh-CN" altLang="en-US" sz="1200" b="1">
                <a:latin typeface="微软雅黑" panose="020B0503020204020204" pitchFamily="34" charset="-122"/>
                <a:ea typeface="微软雅黑" panose="020B0503020204020204" pitchFamily="34" charset="-122"/>
              </a:endParaRPr>
            </a:p>
          </p:txBody>
        </p:sp>
        <p:sp>
          <p:nvSpPr>
            <p:cNvPr id="26" name="Rectangle 101"/>
            <p:cNvSpPr>
              <a:spLocks noChangeArrowheads="1"/>
            </p:cNvSpPr>
            <p:nvPr/>
          </p:nvSpPr>
          <p:spPr bwMode="auto">
            <a:xfrm>
              <a:off x="2088347" y="2603864"/>
              <a:ext cx="715356"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anose="020B0503020204020204" pitchFamily="34" charset="-122"/>
                  <a:ea typeface="微软雅黑" panose="020B0503020204020204" pitchFamily="34" charset="-122"/>
                </a:rPr>
                <a:t>UDP </a:t>
              </a:r>
              <a:endParaRPr kumimoji="1" lang="en-US" altLang="zh-CN" sz="1200" b="1">
                <a:latin typeface="微软雅黑" panose="020B0503020204020204" pitchFamily="34" charset="-122"/>
                <a:ea typeface="微软雅黑" panose="020B0503020204020204" pitchFamily="34" charset="-122"/>
              </a:endParaRPr>
            </a:p>
            <a:p>
              <a:pPr defTabSz="762000">
                <a:lnSpc>
                  <a:spcPct val="90000"/>
                </a:lnSpc>
              </a:pPr>
              <a:r>
                <a:rPr kumimoji="1" lang="zh-CN" altLang="en-US" sz="1200" b="1">
                  <a:latin typeface="微软雅黑" panose="020B0503020204020204" pitchFamily="34" charset="-122"/>
                  <a:ea typeface="微软雅黑" panose="020B0503020204020204" pitchFamily="34" charset="-122"/>
                </a:rPr>
                <a:t>首部</a:t>
              </a:r>
              <a:endParaRPr kumimoji="1" lang="zh-CN" altLang="en-US" sz="1200" b="1">
                <a:latin typeface="微软雅黑" panose="020B0503020204020204" pitchFamily="34" charset="-122"/>
                <a:ea typeface="微软雅黑" panose="020B0503020204020204" pitchFamily="34" charset="-122"/>
              </a:endParaRPr>
            </a:p>
          </p:txBody>
        </p:sp>
        <p:sp>
          <p:nvSpPr>
            <p:cNvPr id="27"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Rectangle 105"/>
            <p:cNvSpPr>
              <a:spLocks noChangeArrowheads="1"/>
            </p:cNvSpPr>
            <p:nvPr/>
          </p:nvSpPr>
          <p:spPr bwMode="auto">
            <a:xfrm>
              <a:off x="5555448" y="2729276"/>
              <a:ext cx="2285550"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solidFill>
                    <a:schemeClr val="bg1"/>
                  </a:solidFill>
                  <a:latin typeface="微软雅黑" panose="020B0503020204020204" pitchFamily="34" charset="-122"/>
                  <a:ea typeface="微软雅黑" panose="020B0503020204020204" pitchFamily="34" charset="-122"/>
                </a:rPr>
                <a:t>SNMP </a:t>
              </a:r>
              <a:r>
                <a:rPr kumimoji="1" lang="zh-CN" altLang="en-US" sz="1200" b="1" dirty="0">
                  <a:solidFill>
                    <a:schemeClr val="bg1"/>
                  </a:solidFill>
                  <a:latin typeface="微软雅黑" panose="020B0503020204020204" pitchFamily="34" charset="-122"/>
                  <a:ea typeface="微软雅黑" panose="020B0503020204020204" pitchFamily="34" charset="-122"/>
                </a:rPr>
                <a:t>报文的数据部分 </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2" name="Rectangle 145"/>
            <p:cNvSpPr>
              <a:spLocks noChangeArrowheads="1"/>
            </p:cNvSpPr>
            <p:nvPr/>
          </p:nvSpPr>
          <p:spPr bwMode="auto">
            <a:xfrm>
              <a:off x="2759065" y="2602276"/>
              <a:ext cx="1918473" cy="563563"/>
            </a:xfrm>
            <a:prstGeom prst="rect">
              <a:avLst/>
            </a:prstGeom>
            <a:solidFill>
              <a:srgbClr val="CC00CC"/>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Rectangle 107"/>
            <p:cNvSpPr>
              <a:spLocks noChangeArrowheads="1"/>
            </p:cNvSpPr>
            <p:nvPr/>
          </p:nvSpPr>
          <p:spPr bwMode="auto">
            <a:xfrm>
              <a:off x="2726390" y="2749914"/>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版本</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Rectangle 108"/>
            <p:cNvSpPr>
              <a:spLocks noChangeArrowheads="1"/>
            </p:cNvSpPr>
            <p:nvPr/>
          </p:nvSpPr>
          <p:spPr bwMode="auto">
            <a:xfrm>
              <a:off x="3355835" y="2738803"/>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a:solidFill>
                    <a:schemeClr val="bg1"/>
                  </a:solidFill>
                  <a:latin typeface="微软雅黑" panose="020B0503020204020204" pitchFamily="34" charset="-122"/>
                  <a:ea typeface="微软雅黑" panose="020B0503020204020204" pitchFamily="34" charset="-122"/>
                </a:rPr>
                <a:t>首部</a:t>
              </a:r>
              <a:endParaRPr kumimoji="1" lang="zh-CN" altLang="en-US" sz="1200" b="1">
                <a:solidFill>
                  <a:schemeClr val="bg1"/>
                </a:solidFill>
                <a:latin typeface="微软雅黑" panose="020B0503020204020204" pitchFamily="34" charset="-122"/>
                <a:ea typeface="微软雅黑" panose="020B0503020204020204" pitchFamily="34" charset="-122"/>
              </a:endParaRPr>
            </a:p>
          </p:txBody>
        </p:sp>
        <p:sp>
          <p:nvSpPr>
            <p:cNvPr id="36"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112"/>
            <p:cNvSpPr txBox="1">
              <a:spLocks noChangeArrowheads="1"/>
            </p:cNvSpPr>
            <p:nvPr/>
          </p:nvSpPr>
          <p:spPr bwMode="auto">
            <a:xfrm>
              <a:off x="9342804" y="3563478"/>
              <a:ext cx="412873" cy="344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38" name="Rectangle 113"/>
            <p:cNvSpPr>
              <a:spLocks noChangeArrowheads="1"/>
            </p:cNvSpPr>
            <p:nvPr/>
          </p:nvSpPr>
          <p:spPr bwMode="auto">
            <a:xfrm>
              <a:off x="1304122" y="2291127"/>
              <a:ext cx="906648"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anose="020B0503020204020204" pitchFamily="34" charset="-122"/>
                  <a:ea typeface="微软雅黑" panose="020B0503020204020204" pitchFamily="34" charset="-122"/>
                </a:rPr>
                <a:t>20 </a:t>
              </a:r>
              <a:r>
                <a:rPr kumimoji="1" lang="zh-CN" altLang="en-US" sz="1200" b="1">
                  <a:latin typeface="微软雅黑" panose="020B0503020204020204" pitchFamily="34" charset="-122"/>
                  <a:ea typeface="微软雅黑" panose="020B0503020204020204" pitchFamily="34" charset="-122"/>
                </a:rPr>
                <a:t>字节</a:t>
              </a:r>
              <a:endParaRPr kumimoji="1" lang="zh-CN" altLang="en-US" sz="1200" b="1">
                <a:latin typeface="微软雅黑" panose="020B0503020204020204" pitchFamily="34" charset="-122"/>
                <a:ea typeface="微软雅黑" panose="020B0503020204020204" pitchFamily="34" charset="-122"/>
              </a:endParaRPr>
            </a:p>
          </p:txBody>
        </p:sp>
        <p:sp>
          <p:nvSpPr>
            <p:cNvPr id="39" name="Rectangle 114"/>
            <p:cNvSpPr>
              <a:spLocks noChangeArrowheads="1"/>
            </p:cNvSpPr>
            <p:nvPr/>
          </p:nvSpPr>
          <p:spPr bwMode="auto">
            <a:xfrm>
              <a:off x="2050511" y="2291127"/>
              <a:ext cx="789082"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anose="020B0503020204020204" pitchFamily="34" charset="-122"/>
                  <a:ea typeface="微软雅黑" panose="020B0503020204020204" pitchFamily="34" charset="-122"/>
                </a:rPr>
                <a:t>8 </a:t>
              </a:r>
              <a:r>
                <a:rPr kumimoji="1" lang="zh-CN" altLang="en-US" sz="1200" b="1">
                  <a:latin typeface="微软雅黑" panose="020B0503020204020204" pitchFamily="34" charset="-122"/>
                  <a:ea typeface="微软雅黑" panose="020B0503020204020204" pitchFamily="34" charset="-122"/>
                </a:rPr>
                <a:t>字节</a:t>
              </a:r>
              <a:endParaRPr kumimoji="1" lang="zh-CN" altLang="en-US" sz="1200" b="1">
                <a:latin typeface="微软雅黑" panose="020B0503020204020204" pitchFamily="34" charset="-122"/>
                <a:ea typeface="微软雅黑" panose="020B0503020204020204" pitchFamily="34" charset="-122"/>
              </a:endParaRPr>
            </a:p>
          </p:txBody>
        </p:sp>
        <p:sp>
          <p:nvSpPr>
            <p:cNvPr id="40" name="Line 115"/>
            <p:cNvSpPr>
              <a:spLocks noChangeShapeType="1"/>
            </p:cNvSpPr>
            <p:nvPr/>
          </p:nvSpPr>
          <p:spPr bwMode="auto">
            <a:xfrm flipH="1">
              <a:off x="9760338" y="4083415"/>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18"/>
            <p:cNvSpPr>
              <a:spLocks noChangeShapeType="1"/>
            </p:cNvSpPr>
            <p:nvPr/>
          </p:nvSpPr>
          <p:spPr bwMode="auto">
            <a:xfrm flipV="1">
              <a:off x="3003277" y="4499339"/>
              <a:ext cx="677254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Rectangle 121"/>
            <p:cNvSpPr>
              <a:spLocks noChangeArrowheads="1"/>
            </p:cNvSpPr>
            <p:nvPr/>
          </p:nvSpPr>
          <p:spPr bwMode="auto">
            <a:xfrm>
              <a:off x="5834054" y="4386058"/>
              <a:ext cx="1315137"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00000"/>
                  </a:solidFill>
                  <a:latin typeface="微软雅黑" panose="020B0503020204020204" pitchFamily="34" charset="-122"/>
                  <a:ea typeface="微软雅黑" panose="020B0503020204020204" pitchFamily="34" charset="-122"/>
                </a:rPr>
                <a:t>SNMP PDU</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44"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Line 132"/>
            <p:cNvSpPr>
              <a:spLocks noChangeShapeType="1"/>
            </p:cNvSpPr>
            <p:nvPr/>
          </p:nvSpPr>
          <p:spPr bwMode="auto">
            <a:xfrm flipH="1">
              <a:off x="7254601" y="4083414"/>
              <a:ext cx="0" cy="2984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33"/>
            <p:cNvSpPr>
              <a:spLocks noChangeShapeType="1"/>
            </p:cNvSpPr>
            <p:nvPr/>
          </p:nvSpPr>
          <p:spPr bwMode="auto">
            <a:xfrm flipH="1">
              <a:off x="2968880" y="4083415"/>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5"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Rectangle 135"/>
            <p:cNvSpPr>
              <a:spLocks noChangeArrowheads="1"/>
            </p:cNvSpPr>
            <p:nvPr/>
          </p:nvSpPr>
          <p:spPr bwMode="auto">
            <a:xfrm>
              <a:off x="903595" y="4278108"/>
              <a:ext cx="1378901" cy="5746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1200" b="1" dirty="0">
                  <a:solidFill>
                    <a:srgbClr val="0000FF"/>
                  </a:solidFill>
                  <a:latin typeface="微软雅黑" panose="020B0503020204020204" pitchFamily="34" charset="-122"/>
                  <a:ea typeface="微软雅黑" panose="020B0503020204020204" pitchFamily="34" charset="-122"/>
                </a:rPr>
                <a:t>有关加密信息</a:t>
              </a:r>
              <a:endParaRPr kumimoji="1" lang="zh-CN" altLang="en-US" sz="1200" b="1" dirty="0">
                <a:solidFill>
                  <a:srgbClr val="0000FF"/>
                </a:solidFill>
                <a:latin typeface="微软雅黑" panose="020B0503020204020204" pitchFamily="34" charset="-122"/>
                <a:ea typeface="微软雅黑" panose="020B0503020204020204" pitchFamily="34" charset="-122"/>
              </a:endParaRPr>
            </a:p>
            <a:p>
              <a:pPr algn="ctr" defTabSz="762000"/>
              <a:r>
                <a:rPr kumimoji="1" lang="zh-CN" altLang="en-US" sz="1200" b="1" dirty="0">
                  <a:solidFill>
                    <a:srgbClr val="0000FF"/>
                  </a:solidFill>
                  <a:latin typeface="微软雅黑" panose="020B0503020204020204" pitchFamily="34" charset="-122"/>
                  <a:ea typeface="微软雅黑" panose="020B0503020204020204" pitchFamily="34" charset="-122"/>
                </a:rPr>
                <a:t>的字段</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57" name="AutoShape 136"/>
            <p:cNvSpPr/>
            <p:nvPr/>
          </p:nvSpPr>
          <p:spPr bwMode="auto">
            <a:xfrm rot="-5400000">
              <a:off x="1500972" y="2877444"/>
              <a:ext cx="225425" cy="2627842"/>
            </a:xfrm>
            <a:prstGeom prst="leftBrace">
              <a:avLst>
                <a:gd name="adj1" fmla="val 89671"/>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Line 137"/>
            <p:cNvSpPr>
              <a:spLocks noChangeShapeType="1"/>
            </p:cNvSpPr>
            <p:nvPr/>
          </p:nvSpPr>
          <p:spPr bwMode="auto">
            <a:xfrm flipH="1">
              <a:off x="4100503" y="4083414"/>
              <a:ext cx="0" cy="2984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Freeform 143"/>
            <p:cNvSpPr/>
            <p:nvPr/>
          </p:nvSpPr>
          <p:spPr bwMode="auto">
            <a:xfrm>
              <a:off x="320400" y="3153141"/>
              <a:ext cx="9431338" cy="409574"/>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5400000" scaled="1"/>
              <a:tileRect/>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Rectangle 144"/>
            <p:cNvSpPr>
              <a:spLocks noChangeArrowheads="1"/>
            </p:cNvSpPr>
            <p:nvPr/>
          </p:nvSpPr>
          <p:spPr bwMode="auto">
            <a:xfrm>
              <a:off x="4683513" y="2602276"/>
              <a:ext cx="4572926" cy="550864"/>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solidFill>
                  <a:schemeClr val="bg1"/>
                </a:solidFill>
                <a:latin typeface="微软雅黑" panose="020B0503020204020204" pitchFamily="34" charset="-122"/>
                <a:ea typeface="微软雅黑" panose="020B0503020204020204" pitchFamily="34" charset="-122"/>
              </a:endParaRPr>
            </a:p>
          </p:txBody>
        </p:sp>
      </p:grpSp>
      <p:sp>
        <p:nvSpPr>
          <p:cNvPr id="61" name="Rectangle 124"/>
          <p:cNvSpPr>
            <a:spLocks noChangeArrowheads="1"/>
          </p:cNvSpPr>
          <p:nvPr/>
        </p:nvSpPr>
        <p:spPr bwMode="auto">
          <a:xfrm>
            <a:off x="3748055" y="2229538"/>
            <a:ext cx="493725" cy="4253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安全</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参数</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2119"/>
            <a:ext cx="8048776" cy="24384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494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99811" y="581732"/>
            <a:ext cx="37630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a:solidFill>
                  <a:schemeClr val="bg1"/>
                </a:solidFill>
                <a:latin typeface="微软雅黑" panose="020B0503020204020204" pitchFamily="34" charset="-122"/>
                <a:ea typeface="微软雅黑" panose="020B0503020204020204" pitchFamily="34" charset="-122"/>
              </a:rPr>
              <a:t>报文 </a:t>
            </a:r>
            <a:r>
              <a:rPr lang="en-US" altLang="zh-CN" sz="2000" b="1" dirty="0">
                <a:solidFill>
                  <a:schemeClr val="bg1"/>
                </a:solidFill>
                <a:latin typeface="微软雅黑" panose="020B0503020204020204" pitchFamily="34" charset="-122"/>
                <a:ea typeface="微软雅黑" panose="020B0503020204020204" pitchFamily="34" charset="-122"/>
              </a:rPr>
              <a:t>ASN.1 </a:t>
            </a:r>
            <a:r>
              <a:rPr lang="zh-CN" altLang="en-US" sz="2000" b="1" dirty="0" smtClean="0">
                <a:solidFill>
                  <a:schemeClr val="bg1"/>
                </a:solidFill>
                <a:latin typeface="微软雅黑" panose="020B0503020204020204" pitchFamily="34" charset="-122"/>
                <a:ea typeface="微软雅黑" panose="020B0503020204020204" pitchFamily="34" charset="-122"/>
              </a:rPr>
              <a:t>定义</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矩形 4"/>
          <p:cNvSpPr/>
          <p:nvPr/>
        </p:nvSpPr>
        <p:spPr>
          <a:xfrm>
            <a:off x="903285" y="1246382"/>
            <a:ext cx="7533684" cy="1938992"/>
          </a:xfrm>
          <a:prstGeom prst="rect">
            <a:avLst/>
          </a:prstGeom>
        </p:spPr>
        <p:txBody>
          <a:bodyPr wrap="square">
            <a:spAutoFit/>
          </a:bodyPr>
          <a:lstStyle/>
          <a:p>
            <a:pPr hangingPunct="0">
              <a:lnSpc>
                <a:spcPts val="2400"/>
              </a:lnSpc>
            </a:pPr>
            <a:r>
              <a:rPr lang="en-US" altLang="zh-CN" sz="1400" b="1" dirty="0">
                <a:latin typeface="微软雅黑" panose="020B0503020204020204" pitchFamily="34" charset="-122"/>
                <a:ea typeface="微软雅黑" panose="020B0503020204020204" pitchFamily="34" charset="-122"/>
              </a:rPr>
              <a:t>Get-request-PDU ::</a:t>
            </a:r>
            <a:r>
              <a:rPr lang="en-US" altLang="zh-CN" sz="1400" b="1" dirty="0">
                <a:latin typeface="微软雅黑" panose="020B0503020204020204" pitchFamily="34" charset="-122"/>
                <a:ea typeface="微软雅黑" panose="020B0503020204020204" pitchFamily="34" charset="-122"/>
                <a:sym typeface="Symbol" panose="05050102010706020507"/>
              </a:rPr>
              <a:t></a:t>
            </a:r>
            <a:r>
              <a:rPr lang="en-US" altLang="zh-CN" sz="1400" b="1" dirty="0">
                <a:latin typeface="微软雅黑" panose="020B0503020204020204" pitchFamily="34" charset="-122"/>
                <a:ea typeface="微软雅黑" panose="020B0503020204020204" pitchFamily="34" charset="-122"/>
              </a:rPr>
              <a:t> [0]                      </a:t>
            </a:r>
            <a:r>
              <a:rPr lang="en-US" altLang="zh-CN" sz="1400" b="1" dirty="0" smtClean="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0</a:t>
            </a:r>
            <a:r>
              <a:rPr lang="en-US" altLang="zh-CN" sz="1400" b="1" dirty="0" smtClean="0">
                <a:latin typeface="微软雅黑" panose="020B0503020204020204" pitchFamily="34" charset="-122"/>
                <a:ea typeface="微软雅黑" panose="020B0503020204020204" pitchFamily="34" charset="-122"/>
              </a:rPr>
              <a:t>] </a:t>
            </a:r>
            <a:r>
              <a:rPr lang="zh-CN" altLang="zh-CN" sz="1400" b="1" dirty="0" smtClean="0">
                <a:latin typeface="微软雅黑" panose="020B0503020204020204" pitchFamily="34" charset="-122"/>
                <a:ea typeface="微软雅黑" panose="020B0503020204020204" pitchFamily="34" charset="-122"/>
              </a:rPr>
              <a:t>表示</a:t>
            </a:r>
            <a:r>
              <a:rPr lang="zh-CN" altLang="zh-CN" sz="1400" b="1" dirty="0">
                <a:latin typeface="微软雅黑" panose="020B0503020204020204" pitchFamily="34" charset="-122"/>
                <a:ea typeface="微软雅黑" panose="020B0503020204020204" pitchFamily="34" charset="-122"/>
              </a:rPr>
              <a:t>上下文类，编号</a:t>
            </a:r>
            <a:r>
              <a:rPr lang="zh-CN" altLang="zh-CN" sz="1400" b="1" dirty="0" smtClean="0">
                <a:latin typeface="微软雅黑" panose="020B0503020204020204" pitchFamily="34" charset="-122"/>
                <a:ea typeface="微软雅黑" panose="020B0503020204020204" pitchFamily="34" charset="-122"/>
              </a:rPr>
              <a:t>为</a:t>
            </a:r>
            <a:r>
              <a:rPr lang="en-US" altLang="zh-CN" sz="1400" b="1" dirty="0" smtClean="0">
                <a:latin typeface="微软雅黑" panose="020B0503020204020204" pitchFamily="34" charset="-122"/>
                <a:ea typeface="微软雅黑" panose="020B0503020204020204" pitchFamily="34" charset="-122"/>
              </a:rPr>
              <a:t> 0</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IMPLICIT SEQUENCE {                      -</a:t>
            </a:r>
            <a:r>
              <a:rPr lang="en-US" altLang="zh-CN" sz="1400" b="1" dirty="0" smtClean="0">
                <a:latin typeface="微软雅黑" panose="020B0503020204020204" pitchFamily="34" charset="-122"/>
                <a:ea typeface="微软雅黑" panose="020B0503020204020204" pitchFamily="34" charset="-122"/>
              </a:rPr>
              <a:t>-</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SEQUENCE</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request-id</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integer32</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request-id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integer32</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error-status</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 </a:t>
            </a:r>
            <a:r>
              <a:rPr lang="en-US" altLang="zh-CN" sz="1400" b="1" dirty="0">
                <a:latin typeface="微软雅黑" panose="020B0503020204020204" pitchFamily="34" charset="-122"/>
                <a:ea typeface="微软雅黑" panose="020B0503020204020204" pitchFamily="34" charset="-122"/>
              </a:rPr>
              <a:t>{0..18},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error-status </a:t>
            </a:r>
            <a:r>
              <a:rPr lang="zh-CN" altLang="zh-CN" sz="1400" b="1" dirty="0" smtClean="0">
                <a:latin typeface="微软雅黑" panose="020B0503020204020204" pitchFamily="34" charset="-122"/>
                <a:ea typeface="微软雅黑" panose="020B0503020204020204" pitchFamily="34" charset="-122"/>
              </a:rPr>
              <a:t>取值为</a:t>
            </a:r>
            <a:r>
              <a:rPr lang="en-US" altLang="zh-CN" sz="1400" b="1" dirty="0" smtClean="0">
                <a:latin typeface="微软雅黑" panose="020B0503020204020204" pitchFamily="34" charset="-122"/>
                <a:ea typeface="微软雅黑" panose="020B0503020204020204" pitchFamily="34" charset="-122"/>
              </a:rPr>
              <a:t> 0 </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18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整数</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error-index</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 </a:t>
            </a:r>
            <a:r>
              <a:rPr lang="en-US" altLang="zh-CN" sz="1400" b="1" dirty="0">
                <a:latin typeface="微软雅黑" panose="020B0503020204020204" pitchFamily="34" charset="-122"/>
                <a:ea typeface="微软雅黑" panose="020B0503020204020204" pitchFamily="34" charset="-122"/>
              </a:rPr>
              <a:t>{0..max-bindings}, </a:t>
            </a:r>
            <a:r>
              <a:rPr lang="en-US" altLang="zh-CN" sz="1050" b="1" dirty="0">
                <a:latin typeface="微软雅黑" panose="020B0503020204020204" pitchFamily="34" charset="-122"/>
                <a:ea typeface="微软雅黑" panose="020B0503020204020204" pitchFamily="34" charset="-122"/>
              </a:rPr>
              <a:t>--</a:t>
            </a:r>
            <a:r>
              <a:rPr lang="zh-CN" altLang="zh-CN" sz="1050" b="1" dirty="0" smtClean="0">
                <a:latin typeface="微软雅黑" panose="020B0503020204020204" pitchFamily="34" charset="-122"/>
                <a:ea typeface="微软雅黑" panose="020B0503020204020204" pitchFamily="34" charset="-122"/>
              </a:rPr>
              <a:t>变量</a:t>
            </a:r>
            <a:r>
              <a:rPr lang="en-US" altLang="zh-CN" sz="1050" b="1" dirty="0" smtClean="0">
                <a:latin typeface="微软雅黑" panose="020B0503020204020204" pitchFamily="34" charset="-122"/>
                <a:ea typeface="微软雅黑" panose="020B0503020204020204" pitchFamily="34" charset="-122"/>
              </a:rPr>
              <a:t> error-index </a:t>
            </a:r>
            <a:r>
              <a:rPr lang="zh-CN" altLang="zh-CN" sz="1050" b="1" dirty="0" smtClean="0">
                <a:latin typeface="微软雅黑" panose="020B0503020204020204" pitchFamily="34" charset="-122"/>
                <a:ea typeface="微软雅黑" panose="020B0503020204020204" pitchFamily="34" charset="-122"/>
              </a:rPr>
              <a:t>取值为</a:t>
            </a:r>
            <a:r>
              <a:rPr lang="en-US" altLang="zh-CN" sz="1050" b="1" dirty="0" smtClean="0">
                <a:latin typeface="微软雅黑" panose="020B0503020204020204" pitchFamily="34" charset="-122"/>
                <a:ea typeface="微软雅黑" panose="020B0503020204020204" pitchFamily="34" charset="-122"/>
              </a:rPr>
              <a:t> 0 </a:t>
            </a:r>
            <a:r>
              <a:rPr lang="en-US" altLang="zh-CN" sz="1050" b="1" dirty="0">
                <a:latin typeface="微软雅黑" panose="020B0503020204020204" pitchFamily="34" charset="-122"/>
                <a:ea typeface="微软雅黑" panose="020B0503020204020204" pitchFamily="34" charset="-122"/>
              </a:rPr>
              <a:t>~ max-bindings</a:t>
            </a:r>
            <a:r>
              <a:rPr lang="zh-CN" altLang="zh-CN" sz="1050" b="1" dirty="0">
                <a:latin typeface="微软雅黑" panose="020B0503020204020204" pitchFamily="34" charset="-122"/>
                <a:ea typeface="微软雅黑" panose="020B0503020204020204" pitchFamily="34" charset="-122"/>
              </a:rPr>
              <a:t>的整数</a:t>
            </a:r>
            <a:endParaRPr lang="zh-CN" altLang="zh-CN" sz="105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variable-bindings</a:t>
            </a:r>
            <a:r>
              <a:rPr lang="en-US" altLang="zh-CN" sz="1400" b="1" dirty="0">
                <a:latin typeface="微软雅黑" panose="020B0503020204020204" pitchFamily="34" charset="-122"/>
                <a:ea typeface="微软雅黑" panose="020B0503020204020204" pitchFamily="34" charset="-122"/>
              </a:rPr>
              <a:t>  </a:t>
            </a:r>
            <a:r>
              <a:rPr lang="en-US" altLang="zh-CN" sz="1400" b="1" dirty="0" err="1">
                <a:latin typeface="微软雅黑" panose="020B0503020204020204" pitchFamily="34" charset="-122"/>
                <a:ea typeface="微软雅黑" panose="020B0503020204020204" pitchFamily="34" charset="-122"/>
              </a:rPr>
              <a:t>VarBindList</a:t>
            </a:r>
            <a:r>
              <a:rPr lang="en-US" altLang="zh-CN" sz="1400" b="1" dirty="0">
                <a:latin typeface="微软雅黑" panose="020B0503020204020204" pitchFamily="34" charset="-122"/>
                <a:ea typeface="微软雅黑" panose="020B0503020204020204" pitchFamily="34" charset="-122"/>
              </a:rPr>
              <a:t> }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variable-binding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a:t>
            </a:r>
            <a:r>
              <a:rPr lang="en-US" altLang="zh-CN" sz="1400" b="1" dirty="0" err="1" smtClean="0">
                <a:latin typeface="微软雅黑" panose="020B0503020204020204" pitchFamily="34" charset="-122"/>
                <a:ea typeface="微软雅黑" panose="020B0503020204020204" pitchFamily="34" charset="-122"/>
              </a:rPr>
              <a:t>VarBindList</a:t>
            </a:r>
            <a:endParaRPr lang="zh-CN" altLang="zh-CN"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19849" y="582898"/>
            <a:ext cx="3723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smtClean="0">
                <a:solidFill>
                  <a:schemeClr val="bg1"/>
                </a:solidFill>
                <a:latin typeface="微软雅黑" panose="020B0503020204020204" pitchFamily="34" charset="-122"/>
                <a:ea typeface="微软雅黑" panose="020B0503020204020204" pitchFamily="34" charset="-122"/>
              </a:rPr>
              <a:t>报文的 </a:t>
            </a:r>
            <a:r>
              <a:rPr lang="en-US" altLang="zh-CN" sz="2000" b="1" dirty="0" smtClean="0">
                <a:solidFill>
                  <a:schemeClr val="bg1"/>
                </a:solidFill>
                <a:latin typeface="微软雅黑" panose="020B0503020204020204" pitchFamily="34" charset="-122"/>
                <a:ea typeface="微软雅黑" panose="020B0503020204020204" pitchFamily="34" charset="-122"/>
              </a:rPr>
              <a:t>BER </a:t>
            </a:r>
            <a:r>
              <a:rPr lang="zh-CN" altLang="en-US" sz="2000" b="1" dirty="0" smtClean="0">
                <a:solidFill>
                  <a:schemeClr val="bg1"/>
                </a:solidFill>
                <a:latin typeface="微软雅黑" panose="020B0503020204020204" pitchFamily="34" charset="-122"/>
                <a:ea typeface="微软雅黑" panose="020B0503020204020204" pitchFamily="34" charset="-122"/>
              </a:rPr>
              <a:t>编码</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61" name="Freeform 200"/>
          <p:cNvSpPr/>
          <p:nvPr/>
        </p:nvSpPr>
        <p:spPr bwMode="auto">
          <a:xfrm>
            <a:off x="1163991" y="2087402"/>
            <a:ext cx="6375405" cy="18956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chemeClr val="tx2">
                  <a:lumMod val="60000"/>
                  <a:lumOff val="40000"/>
                </a:schemeClr>
              </a:gs>
              <a:gs pos="100000">
                <a:srgbClr val="00FFCC"/>
              </a:gs>
            </a:gsLst>
            <a:lin ang="5400000" scaled="1"/>
          </a:gradFill>
          <a:ln>
            <a:noFill/>
          </a:ln>
          <a:effec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62" name="Rectangle 195"/>
          <p:cNvSpPr>
            <a:spLocks noChangeArrowheads="1"/>
          </p:cNvSpPr>
          <p:nvPr/>
        </p:nvSpPr>
        <p:spPr bwMode="auto">
          <a:xfrm>
            <a:off x="6846316" y="3599577"/>
            <a:ext cx="847098" cy="414664"/>
          </a:xfrm>
          <a:prstGeom prst="rect">
            <a:avLst/>
          </a:prstGeom>
          <a:solidFill>
            <a:srgbClr val="FF99FF"/>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3" name="Rectangle 168"/>
          <p:cNvSpPr>
            <a:spLocks noChangeArrowheads="1"/>
          </p:cNvSpPr>
          <p:nvPr/>
        </p:nvSpPr>
        <p:spPr bwMode="auto">
          <a:xfrm>
            <a:off x="5141618" y="2930731"/>
            <a:ext cx="2425780" cy="412509"/>
          </a:xfrm>
          <a:prstGeom prst="rect">
            <a:avLst/>
          </a:prstGeom>
          <a:solidFill>
            <a:srgbClr val="CC00CC"/>
          </a:solidFill>
          <a:ln w="19050">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4" name="Rectangle 197"/>
          <p:cNvSpPr>
            <a:spLocks noChangeArrowheads="1"/>
          </p:cNvSpPr>
          <p:nvPr/>
        </p:nvSpPr>
        <p:spPr bwMode="auto">
          <a:xfrm>
            <a:off x="6913989" y="2947963"/>
            <a:ext cx="648742" cy="382352"/>
          </a:xfrm>
          <a:prstGeom prst="rect">
            <a:avLst/>
          </a:prstGeom>
          <a:solidFill>
            <a:srgbClr val="FF99FF"/>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5" name="Rectangle 198"/>
          <p:cNvSpPr>
            <a:spLocks noChangeArrowheads="1"/>
          </p:cNvSpPr>
          <p:nvPr/>
        </p:nvSpPr>
        <p:spPr bwMode="auto">
          <a:xfrm>
            <a:off x="6380762" y="2941501"/>
            <a:ext cx="512226" cy="388814"/>
          </a:xfrm>
          <a:prstGeom prst="rect">
            <a:avLst/>
          </a:prstGeom>
          <a:solidFill>
            <a:srgbClr val="00FF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6" name="Rectangle 134"/>
          <p:cNvSpPr>
            <a:spLocks noChangeArrowheads="1"/>
          </p:cNvSpPr>
          <p:nvPr/>
        </p:nvSpPr>
        <p:spPr bwMode="auto">
          <a:xfrm>
            <a:off x="1154656" y="2274809"/>
            <a:ext cx="6412743" cy="412510"/>
          </a:xfrm>
          <a:prstGeom prst="rect">
            <a:avLst/>
          </a:prstGeom>
          <a:solidFill>
            <a:srgbClr val="0000FF"/>
          </a:solidFill>
          <a:ln w="19050">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8" name="Freeform 190"/>
          <p:cNvSpPr/>
          <p:nvPr/>
        </p:nvSpPr>
        <p:spPr bwMode="auto">
          <a:xfrm>
            <a:off x="2963198" y="1531646"/>
            <a:ext cx="4191152" cy="305881"/>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0070C0"/>
              </a:gs>
              <a:gs pos="100000">
                <a:srgbClr val="00CC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69" name="Rectangle 192"/>
          <p:cNvSpPr>
            <a:spLocks noChangeArrowheads="1"/>
          </p:cNvSpPr>
          <p:nvPr/>
        </p:nvSpPr>
        <p:spPr bwMode="auto">
          <a:xfrm>
            <a:off x="3240898" y="3603885"/>
            <a:ext cx="3599584" cy="400662"/>
          </a:xfrm>
          <a:prstGeom prst="rect">
            <a:avLst/>
          </a:prstGeom>
          <a:solidFill>
            <a:srgbClr val="00FF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1" name="Text Box 119"/>
          <p:cNvSpPr txBox="1">
            <a:spLocks noChangeArrowheads="1"/>
          </p:cNvSpPr>
          <p:nvPr/>
        </p:nvSpPr>
        <p:spPr bwMode="auto">
          <a:xfrm>
            <a:off x="4733237"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L</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09</a:t>
            </a:r>
            <a:endParaRPr kumimoji="1" lang="en-US" altLang="zh-CN" sz="1100" b="1" dirty="0">
              <a:latin typeface="微软雅黑" panose="020B0503020204020204" pitchFamily="34" charset="-122"/>
              <a:ea typeface="微软雅黑" panose="020B0503020204020204" pitchFamily="34" charset="-122"/>
            </a:endParaRPr>
          </a:p>
        </p:txBody>
      </p:sp>
      <p:sp>
        <p:nvSpPr>
          <p:cNvPr id="72" name="Text Box 120"/>
          <p:cNvSpPr txBox="1">
            <a:spLocks noChangeArrowheads="1"/>
          </p:cNvSpPr>
          <p:nvPr/>
        </p:nvSpPr>
        <p:spPr bwMode="auto">
          <a:xfrm>
            <a:off x="3191892" y="3590962"/>
            <a:ext cx="156805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T</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OBJECT IDENTIFIER</a:t>
            </a:r>
            <a:endParaRPr kumimoji="1" lang="en-US" altLang="zh-CN" sz="1100" b="1" dirty="0">
              <a:latin typeface="微软雅黑" panose="020B0503020204020204" pitchFamily="34" charset="-122"/>
              <a:ea typeface="微软雅黑" panose="020B0503020204020204" pitchFamily="34" charset="-122"/>
            </a:endParaRPr>
          </a:p>
        </p:txBody>
      </p:sp>
      <p:sp>
        <p:nvSpPr>
          <p:cNvPr id="82" name="Rectangle 136"/>
          <p:cNvSpPr>
            <a:spLocks noChangeArrowheads="1"/>
          </p:cNvSpPr>
          <p:nvPr/>
        </p:nvSpPr>
        <p:spPr bwMode="auto">
          <a:xfrm>
            <a:off x="2955032" y="1849376"/>
            <a:ext cx="4216822" cy="243413"/>
          </a:xfrm>
          <a:prstGeom prst="rect">
            <a:avLst/>
          </a:prstGeom>
          <a:solidFill>
            <a:srgbClr val="0066FF"/>
          </a:solidFill>
          <a:ln w="19050">
            <a:solidFill>
              <a:schemeClr val="tx2"/>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3" name="Line 137"/>
          <p:cNvSpPr>
            <a:spLocks noChangeShapeType="1"/>
          </p:cNvSpPr>
          <p:nvPr/>
        </p:nvSpPr>
        <p:spPr bwMode="auto">
          <a:xfrm>
            <a:off x="3876806" y="1849376"/>
            <a:ext cx="1166"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4" name="Line 138"/>
          <p:cNvSpPr>
            <a:spLocks noChangeShapeType="1"/>
          </p:cNvSpPr>
          <p:nvPr/>
        </p:nvSpPr>
        <p:spPr bwMode="auto">
          <a:xfrm>
            <a:off x="4865086" y="1849376"/>
            <a:ext cx="1167"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5" name="Line 139"/>
          <p:cNvSpPr>
            <a:spLocks noChangeShapeType="1"/>
          </p:cNvSpPr>
          <p:nvPr/>
        </p:nvSpPr>
        <p:spPr bwMode="auto">
          <a:xfrm>
            <a:off x="5854534" y="1849376"/>
            <a:ext cx="1167"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6" name="Text Box 141"/>
          <p:cNvSpPr txBox="1">
            <a:spLocks noChangeArrowheads="1"/>
          </p:cNvSpPr>
          <p:nvPr/>
        </p:nvSpPr>
        <p:spPr bwMode="auto">
          <a:xfrm>
            <a:off x="2945340" y="1837528"/>
            <a:ext cx="91403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request-id</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87" name="Text Box 142"/>
          <p:cNvSpPr txBox="1">
            <a:spLocks noChangeArrowheads="1"/>
          </p:cNvSpPr>
          <p:nvPr/>
        </p:nvSpPr>
        <p:spPr bwMode="auto">
          <a:xfrm>
            <a:off x="3835363" y="1837528"/>
            <a:ext cx="102463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error-status</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88" name="Text Box 143"/>
          <p:cNvSpPr txBox="1">
            <a:spLocks noChangeArrowheads="1"/>
          </p:cNvSpPr>
          <p:nvPr/>
        </p:nvSpPr>
        <p:spPr bwMode="auto">
          <a:xfrm>
            <a:off x="4849044" y="1837528"/>
            <a:ext cx="9877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error-index</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89" name="Text Box 144"/>
          <p:cNvSpPr txBox="1">
            <a:spLocks noChangeArrowheads="1"/>
          </p:cNvSpPr>
          <p:nvPr/>
        </p:nvSpPr>
        <p:spPr bwMode="auto">
          <a:xfrm>
            <a:off x="5799225" y="1837528"/>
            <a:ext cx="142539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variable-bindings</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0" name="Line 145"/>
          <p:cNvSpPr>
            <a:spLocks noChangeShapeType="1"/>
          </p:cNvSpPr>
          <p:nvPr/>
        </p:nvSpPr>
        <p:spPr bwMode="auto">
          <a:xfrm flipH="1">
            <a:off x="4273517"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1" name="Line 146"/>
          <p:cNvSpPr>
            <a:spLocks noChangeShapeType="1"/>
          </p:cNvSpPr>
          <p:nvPr/>
        </p:nvSpPr>
        <p:spPr bwMode="auto">
          <a:xfrm>
            <a:off x="3119550"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2" name="Line 147"/>
          <p:cNvSpPr>
            <a:spLocks noChangeShapeType="1"/>
          </p:cNvSpPr>
          <p:nvPr/>
        </p:nvSpPr>
        <p:spPr bwMode="auto">
          <a:xfrm flipH="1">
            <a:off x="1875740" y="2274808"/>
            <a:ext cx="3501" cy="40497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3" name="Line 148"/>
          <p:cNvSpPr>
            <a:spLocks noChangeShapeType="1"/>
          </p:cNvSpPr>
          <p:nvPr/>
        </p:nvSpPr>
        <p:spPr bwMode="auto">
          <a:xfrm>
            <a:off x="2208278"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4" name="Line 149"/>
          <p:cNvSpPr>
            <a:spLocks noChangeShapeType="1"/>
          </p:cNvSpPr>
          <p:nvPr/>
        </p:nvSpPr>
        <p:spPr bwMode="auto">
          <a:xfrm>
            <a:off x="6579118"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5" name="Line 150"/>
          <p:cNvSpPr>
            <a:spLocks noChangeShapeType="1"/>
          </p:cNvSpPr>
          <p:nvPr/>
        </p:nvSpPr>
        <p:spPr bwMode="auto">
          <a:xfrm>
            <a:off x="6908156"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0" name="Line 155"/>
          <p:cNvSpPr>
            <a:spLocks noChangeShapeType="1"/>
          </p:cNvSpPr>
          <p:nvPr/>
        </p:nvSpPr>
        <p:spPr bwMode="auto">
          <a:xfrm>
            <a:off x="3823132"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1" name="Line 156"/>
          <p:cNvSpPr>
            <a:spLocks noChangeShapeType="1"/>
          </p:cNvSpPr>
          <p:nvPr/>
        </p:nvSpPr>
        <p:spPr bwMode="auto">
          <a:xfrm>
            <a:off x="4064660"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3" name="Line 158"/>
          <p:cNvSpPr>
            <a:spLocks noChangeShapeType="1"/>
          </p:cNvSpPr>
          <p:nvPr/>
        </p:nvSpPr>
        <p:spPr bwMode="auto">
          <a:xfrm>
            <a:off x="5453154" y="2282348"/>
            <a:ext cx="0" cy="39527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5" name="Line 160"/>
          <p:cNvSpPr>
            <a:spLocks noChangeShapeType="1"/>
          </p:cNvSpPr>
          <p:nvPr/>
        </p:nvSpPr>
        <p:spPr bwMode="auto">
          <a:xfrm>
            <a:off x="4986433"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6" name="Line 161"/>
          <p:cNvSpPr>
            <a:spLocks noChangeShapeType="1"/>
          </p:cNvSpPr>
          <p:nvPr/>
        </p:nvSpPr>
        <p:spPr bwMode="auto">
          <a:xfrm>
            <a:off x="5227962"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7" name="Line 162"/>
          <p:cNvSpPr>
            <a:spLocks noChangeShapeType="1"/>
          </p:cNvSpPr>
          <p:nvPr/>
        </p:nvSpPr>
        <p:spPr bwMode="auto">
          <a:xfrm flipV="1">
            <a:off x="1154656" y="2092788"/>
            <a:ext cx="1800375" cy="17986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8" name="Line 163"/>
          <p:cNvSpPr>
            <a:spLocks noChangeShapeType="1"/>
          </p:cNvSpPr>
          <p:nvPr/>
        </p:nvSpPr>
        <p:spPr bwMode="auto">
          <a:xfrm flipV="1">
            <a:off x="3119550" y="2092788"/>
            <a:ext cx="758421" cy="17663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9" name="Line 164"/>
          <p:cNvSpPr>
            <a:spLocks noChangeShapeType="1"/>
          </p:cNvSpPr>
          <p:nvPr/>
        </p:nvSpPr>
        <p:spPr bwMode="auto">
          <a:xfrm flipV="1">
            <a:off x="4273517" y="2092788"/>
            <a:ext cx="592735" cy="1820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0" name="Line 165"/>
          <p:cNvSpPr>
            <a:spLocks noChangeShapeType="1"/>
          </p:cNvSpPr>
          <p:nvPr/>
        </p:nvSpPr>
        <p:spPr bwMode="auto">
          <a:xfrm flipV="1">
            <a:off x="5448487" y="2092788"/>
            <a:ext cx="406047" cy="1820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1" name="Rectangle 199"/>
          <p:cNvSpPr>
            <a:spLocks noChangeArrowheads="1"/>
          </p:cNvSpPr>
          <p:nvPr/>
        </p:nvSpPr>
        <p:spPr bwMode="auto">
          <a:xfrm>
            <a:off x="6910490" y="2279117"/>
            <a:ext cx="649908" cy="404970"/>
          </a:xfrm>
          <a:prstGeom prst="rect">
            <a:avLst/>
          </a:prstGeom>
          <a:solidFill>
            <a:srgbClr val="CC00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13" name="Line 167"/>
          <p:cNvSpPr>
            <a:spLocks noChangeShapeType="1"/>
          </p:cNvSpPr>
          <p:nvPr/>
        </p:nvSpPr>
        <p:spPr bwMode="auto">
          <a:xfrm>
            <a:off x="7171853" y="2092788"/>
            <a:ext cx="395546" cy="19279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4" name="Line 169"/>
          <p:cNvSpPr>
            <a:spLocks noChangeShapeType="1"/>
          </p:cNvSpPr>
          <p:nvPr/>
        </p:nvSpPr>
        <p:spPr bwMode="auto">
          <a:xfrm>
            <a:off x="6051724" y="2930731"/>
            <a:ext cx="0" cy="41250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5" name="Line 170"/>
          <p:cNvSpPr>
            <a:spLocks noChangeShapeType="1"/>
          </p:cNvSpPr>
          <p:nvPr/>
        </p:nvSpPr>
        <p:spPr bwMode="auto">
          <a:xfrm flipV="1">
            <a:off x="5134618" y="2687318"/>
            <a:ext cx="1771205" cy="2477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6" name="Line 171"/>
          <p:cNvSpPr>
            <a:spLocks noChangeShapeType="1"/>
          </p:cNvSpPr>
          <p:nvPr/>
        </p:nvSpPr>
        <p:spPr bwMode="auto">
          <a:xfrm>
            <a:off x="7559232" y="2687319"/>
            <a:ext cx="0"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7" name="Rectangle 172"/>
          <p:cNvSpPr>
            <a:spLocks noChangeArrowheads="1"/>
          </p:cNvSpPr>
          <p:nvPr/>
        </p:nvSpPr>
        <p:spPr bwMode="auto">
          <a:xfrm>
            <a:off x="3239731" y="3598500"/>
            <a:ext cx="4459517" cy="425433"/>
          </a:xfrm>
          <a:prstGeom prst="rect">
            <a:avLst/>
          </a:prstGeom>
          <a:noFill/>
          <a:ln w="19050">
            <a:solidFill>
              <a:schemeClr val="tx2"/>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18" name="Line 173"/>
          <p:cNvSpPr>
            <a:spLocks noChangeShapeType="1"/>
          </p:cNvSpPr>
          <p:nvPr/>
        </p:nvSpPr>
        <p:spPr bwMode="auto">
          <a:xfrm>
            <a:off x="6842815"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9" name="Line 174"/>
          <p:cNvSpPr>
            <a:spLocks noChangeShapeType="1"/>
          </p:cNvSpPr>
          <p:nvPr/>
        </p:nvSpPr>
        <p:spPr bwMode="auto">
          <a:xfrm>
            <a:off x="4734404"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0" name="Rectangle 201"/>
          <p:cNvSpPr>
            <a:spLocks noChangeArrowheads="1"/>
          </p:cNvSpPr>
          <p:nvPr/>
        </p:nvSpPr>
        <p:spPr bwMode="auto">
          <a:xfrm>
            <a:off x="3688950" y="1166527"/>
            <a:ext cx="420049" cy="365119"/>
          </a:xfrm>
          <a:prstGeom prst="rect">
            <a:avLst/>
          </a:prstGeom>
          <a:solidFill>
            <a:srgbClr val="009900"/>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1" name="Line 175"/>
          <p:cNvSpPr>
            <a:spLocks noChangeShapeType="1"/>
          </p:cNvSpPr>
          <p:nvPr/>
        </p:nvSpPr>
        <p:spPr bwMode="auto">
          <a:xfrm>
            <a:off x="5045940"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2" name="Line 176"/>
          <p:cNvSpPr>
            <a:spLocks noChangeShapeType="1"/>
          </p:cNvSpPr>
          <p:nvPr/>
        </p:nvSpPr>
        <p:spPr bwMode="auto">
          <a:xfrm>
            <a:off x="7408714"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3" name="Rectangle 202"/>
          <p:cNvSpPr>
            <a:spLocks noChangeArrowheads="1"/>
          </p:cNvSpPr>
          <p:nvPr/>
        </p:nvSpPr>
        <p:spPr bwMode="auto">
          <a:xfrm>
            <a:off x="4120666" y="1172990"/>
            <a:ext cx="420049" cy="358656"/>
          </a:xfrm>
          <a:prstGeom prst="rect">
            <a:avLst/>
          </a:prstGeom>
          <a:solidFill>
            <a:srgbClr val="CC00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5" name="Rectangle 189"/>
          <p:cNvSpPr>
            <a:spLocks noChangeArrowheads="1"/>
          </p:cNvSpPr>
          <p:nvPr/>
        </p:nvSpPr>
        <p:spPr bwMode="auto">
          <a:xfrm>
            <a:off x="4550049" y="1176221"/>
            <a:ext cx="997199" cy="355426"/>
          </a:xfrm>
          <a:prstGeom prst="rect">
            <a:avLst/>
          </a:prstGeom>
          <a:solidFill>
            <a:srgbClr val="0066FF"/>
          </a:solidFill>
          <a:ln>
            <a:solidFill>
              <a:schemeClr val="tx1"/>
            </a:solid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8" name="Rectangle 135"/>
          <p:cNvSpPr>
            <a:spLocks noChangeArrowheads="1"/>
          </p:cNvSpPr>
          <p:nvPr/>
        </p:nvSpPr>
        <p:spPr bwMode="auto">
          <a:xfrm>
            <a:off x="3676116" y="1168681"/>
            <a:ext cx="1871132" cy="365119"/>
          </a:xfrm>
          <a:prstGeom prst="rect">
            <a:avLst/>
          </a:prstGeom>
          <a:noFill/>
          <a:ln w="1905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9" name="Line 177"/>
          <p:cNvSpPr>
            <a:spLocks noChangeShapeType="1"/>
          </p:cNvSpPr>
          <p:nvPr/>
        </p:nvSpPr>
        <p:spPr bwMode="auto">
          <a:xfrm>
            <a:off x="4547716" y="1170836"/>
            <a:ext cx="0" cy="36296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0" name="Line 178"/>
          <p:cNvSpPr>
            <a:spLocks noChangeShapeType="1"/>
          </p:cNvSpPr>
          <p:nvPr/>
        </p:nvSpPr>
        <p:spPr bwMode="auto">
          <a:xfrm>
            <a:off x="4111332" y="1170836"/>
            <a:ext cx="0" cy="36296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1" name="Line 179"/>
          <p:cNvSpPr>
            <a:spLocks noChangeShapeType="1"/>
          </p:cNvSpPr>
          <p:nvPr/>
        </p:nvSpPr>
        <p:spPr bwMode="auto">
          <a:xfrm>
            <a:off x="6381928" y="2930731"/>
            <a:ext cx="0" cy="41250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2" name="Line 180"/>
          <p:cNvSpPr>
            <a:spLocks noChangeShapeType="1"/>
          </p:cNvSpPr>
          <p:nvPr/>
        </p:nvSpPr>
        <p:spPr bwMode="auto">
          <a:xfrm>
            <a:off x="6908156" y="2930731"/>
            <a:ext cx="0" cy="412509"/>
          </a:xfrm>
          <a:prstGeom prst="line">
            <a:avLst/>
          </a:prstGeom>
          <a:noFill/>
          <a:ln w="9525">
            <a:solidFill>
              <a:schemeClr val="folHlink"/>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3" name="Line 181"/>
          <p:cNvSpPr>
            <a:spLocks noChangeShapeType="1"/>
          </p:cNvSpPr>
          <p:nvPr/>
        </p:nvSpPr>
        <p:spPr bwMode="auto">
          <a:xfrm flipV="1">
            <a:off x="3239732" y="3345394"/>
            <a:ext cx="3142197" cy="250952"/>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4" name="Line 182"/>
          <p:cNvSpPr>
            <a:spLocks noChangeShapeType="1"/>
          </p:cNvSpPr>
          <p:nvPr/>
        </p:nvSpPr>
        <p:spPr bwMode="auto">
          <a:xfrm flipH="1">
            <a:off x="6853316" y="3335701"/>
            <a:ext cx="54840" cy="25310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5" name="Line 183"/>
          <p:cNvSpPr>
            <a:spLocks noChangeShapeType="1"/>
          </p:cNvSpPr>
          <p:nvPr/>
        </p:nvSpPr>
        <p:spPr bwMode="auto">
          <a:xfrm>
            <a:off x="7567399" y="3345394"/>
            <a:ext cx="131849" cy="25310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6" name="Text Box 184"/>
          <p:cNvSpPr txBox="1">
            <a:spLocks noChangeArrowheads="1"/>
          </p:cNvSpPr>
          <p:nvPr/>
        </p:nvSpPr>
        <p:spPr bwMode="auto">
          <a:xfrm>
            <a:off x="2070452" y="2643160"/>
            <a:ext cx="113832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request-ID</a:t>
            </a:r>
            <a:endParaRPr kumimoji="1" lang="en-US" altLang="zh-CN" sz="1400" b="1" dirty="0">
              <a:latin typeface="微软雅黑" panose="020B0503020204020204" pitchFamily="34" charset="-122"/>
              <a:ea typeface="微软雅黑" panose="020B0503020204020204" pitchFamily="34" charset="-122"/>
            </a:endParaRPr>
          </a:p>
        </p:txBody>
      </p:sp>
      <p:sp>
        <p:nvSpPr>
          <p:cNvPr id="137" name="Text Box 185"/>
          <p:cNvSpPr txBox="1">
            <a:spLocks noChangeArrowheads="1"/>
          </p:cNvSpPr>
          <p:nvPr/>
        </p:nvSpPr>
        <p:spPr bwMode="auto">
          <a:xfrm>
            <a:off x="4969740" y="4004547"/>
            <a:ext cx="195117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050" b="1" dirty="0">
                <a:latin typeface="微软雅黑" panose="020B0503020204020204" pitchFamily="34" charset="-122"/>
                <a:ea typeface="微软雅黑" panose="020B0503020204020204" pitchFamily="34" charset="-122"/>
              </a:rPr>
              <a:t>1.  3.  6.  1.  2.  1.  7.  1.  0</a:t>
            </a:r>
            <a:endParaRPr kumimoji="1" lang="en-US" altLang="zh-CN" sz="1050" b="1" dirty="0">
              <a:latin typeface="微软雅黑" panose="020B0503020204020204" pitchFamily="34" charset="-122"/>
              <a:ea typeface="微软雅黑" panose="020B0503020204020204" pitchFamily="34" charset="-122"/>
            </a:endParaRPr>
          </a:p>
        </p:txBody>
      </p:sp>
      <p:sp>
        <p:nvSpPr>
          <p:cNvPr id="138" name="Text Box 186"/>
          <p:cNvSpPr txBox="1">
            <a:spLocks noChangeArrowheads="1"/>
          </p:cNvSpPr>
          <p:nvPr/>
        </p:nvSpPr>
        <p:spPr bwMode="auto">
          <a:xfrm>
            <a:off x="2007949" y="1211314"/>
            <a:ext cx="16969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err="1">
                <a:latin typeface="微软雅黑" panose="020B0503020204020204" pitchFamily="34" charset="-122"/>
                <a:ea typeface="微软雅黑" panose="020B0503020204020204" pitchFamily="34" charset="-122"/>
              </a:rPr>
              <a:t>GetRequest</a:t>
            </a:r>
            <a:r>
              <a:rPr kumimoji="1" lang="en-US" altLang="zh-CN" sz="1400" b="1" dirty="0">
                <a:latin typeface="微软雅黑" panose="020B0503020204020204" pitchFamily="34" charset="-122"/>
                <a:ea typeface="微软雅黑" panose="020B0503020204020204" pitchFamily="34" charset="-122"/>
              </a:rPr>
              <a:t>-PDU</a:t>
            </a:r>
            <a:endParaRPr kumimoji="1" lang="en-US" altLang="zh-CN" sz="1400" b="1" dirty="0">
              <a:latin typeface="微软雅黑" panose="020B0503020204020204" pitchFamily="34" charset="-122"/>
              <a:ea typeface="微软雅黑" panose="020B0503020204020204" pitchFamily="34" charset="-122"/>
            </a:endParaRPr>
          </a:p>
        </p:txBody>
      </p:sp>
      <p:sp>
        <p:nvSpPr>
          <p:cNvPr id="139" name="Freeform 193"/>
          <p:cNvSpPr/>
          <p:nvPr/>
        </p:nvSpPr>
        <p:spPr bwMode="auto">
          <a:xfrm>
            <a:off x="5145119" y="2681932"/>
            <a:ext cx="2429281" cy="245567"/>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FF66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0" name="Freeform 194"/>
          <p:cNvSpPr/>
          <p:nvPr/>
        </p:nvSpPr>
        <p:spPr bwMode="auto">
          <a:xfrm>
            <a:off x="3228064" y="3341085"/>
            <a:ext cx="3674258" cy="258491"/>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00B0F0"/>
              </a:gs>
              <a:gs pos="100000">
                <a:srgbClr val="99FFCC"/>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1" name="Freeform 196"/>
          <p:cNvSpPr/>
          <p:nvPr/>
        </p:nvSpPr>
        <p:spPr bwMode="auto">
          <a:xfrm>
            <a:off x="6853316" y="3341085"/>
            <a:ext cx="840097" cy="258491"/>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7030A0"/>
              </a:gs>
              <a:gs pos="100000">
                <a:srgbClr val="FF00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3" name="Text Box 127"/>
          <p:cNvSpPr txBox="1">
            <a:spLocks noChangeArrowheads="1"/>
          </p:cNvSpPr>
          <p:nvPr/>
        </p:nvSpPr>
        <p:spPr bwMode="auto">
          <a:xfrm>
            <a:off x="3712555" y="1128203"/>
            <a:ext cx="37702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 T</a:t>
            </a:r>
            <a:endParaRPr kumimoji="1" lang="en-US" altLang="zh-CN" sz="1100" b="1">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A0</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144" name="Text Box 128"/>
          <p:cNvSpPr txBox="1">
            <a:spLocks noChangeArrowheads="1"/>
          </p:cNvSpPr>
          <p:nvPr/>
        </p:nvSpPr>
        <p:spPr bwMode="auto">
          <a:xfrm>
            <a:off x="4139986" y="1128203"/>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  L</a:t>
            </a:r>
            <a:endParaRPr kumimoji="1" lang="en-US" altLang="zh-CN" sz="1100" b="1">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1D</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146" name="Text Box 129"/>
          <p:cNvSpPr txBox="1">
            <a:spLocks noChangeArrowheads="1"/>
          </p:cNvSpPr>
          <p:nvPr/>
        </p:nvSpPr>
        <p:spPr bwMode="auto">
          <a:xfrm>
            <a:off x="4557995" y="1134553"/>
            <a:ext cx="100380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err="1">
                <a:solidFill>
                  <a:schemeClr val="bg1"/>
                </a:solidFill>
                <a:latin typeface="微软雅黑" panose="020B0503020204020204" pitchFamily="34" charset="-122"/>
                <a:ea typeface="微软雅黑" panose="020B0503020204020204" pitchFamily="34" charset="-122"/>
              </a:rPr>
              <a:t>GetRequest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-PDU</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47" name="Text Box 123"/>
          <p:cNvSpPr txBox="1">
            <a:spLocks noChangeArrowheads="1"/>
          </p:cNvSpPr>
          <p:nvPr/>
        </p:nvSpPr>
        <p:spPr bwMode="auto">
          <a:xfrm>
            <a:off x="4945214"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48" name="Text Box 130"/>
          <p:cNvSpPr txBox="1">
            <a:spLocks noChangeArrowheads="1"/>
          </p:cNvSpPr>
          <p:nvPr/>
        </p:nvSpPr>
        <p:spPr bwMode="auto">
          <a:xfrm>
            <a:off x="6579118" y="2264039"/>
            <a:ext cx="34977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0F</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0" name="Text Box 132"/>
          <p:cNvSpPr txBox="1">
            <a:spLocks noChangeArrowheads="1"/>
          </p:cNvSpPr>
          <p:nvPr/>
        </p:nvSpPr>
        <p:spPr bwMode="auto">
          <a:xfrm>
            <a:off x="3076380"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1" name="Text Box 133"/>
          <p:cNvSpPr txBox="1">
            <a:spLocks noChangeArrowheads="1"/>
          </p:cNvSpPr>
          <p:nvPr/>
        </p:nvSpPr>
        <p:spPr bwMode="auto">
          <a:xfrm>
            <a:off x="3775562"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3" name="Text Box 152"/>
          <p:cNvSpPr txBox="1">
            <a:spLocks noChangeArrowheads="1"/>
          </p:cNvSpPr>
          <p:nvPr/>
        </p:nvSpPr>
        <p:spPr bwMode="auto">
          <a:xfrm>
            <a:off x="2163313" y="2264039"/>
            <a:ext cx="101502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05 AE 56 02</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4" name="Text Box 153"/>
          <p:cNvSpPr txBox="1">
            <a:spLocks noChangeArrowheads="1"/>
          </p:cNvSpPr>
          <p:nvPr/>
        </p:nvSpPr>
        <p:spPr bwMode="auto">
          <a:xfrm>
            <a:off x="4000756"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00</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5" name="Text Box 154"/>
          <p:cNvSpPr txBox="1">
            <a:spLocks noChangeArrowheads="1"/>
          </p:cNvSpPr>
          <p:nvPr/>
        </p:nvSpPr>
        <p:spPr bwMode="auto">
          <a:xfrm>
            <a:off x="5430199" y="2264039"/>
            <a:ext cx="122661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SEQUENCE OF </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6" name="Text Box 157"/>
          <p:cNvSpPr txBox="1">
            <a:spLocks noChangeArrowheads="1"/>
          </p:cNvSpPr>
          <p:nvPr/>
        </p:nvSpPr>
        <p:spPr bwMode="auto">
          <a:xfrm>
            <a:off x="4239679"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7" name="Text Box 159"/>
          <p:cNvSpPr txBox="1">
            <a:spLocks noChangeArrowheads="1"/>
          </p:cNvSpPr>
          <p:nvPr/>
        </p:nvSpPr>
        <p:spPr bwMode="auto">
          <a:xfrm>
            <a:off x="5157708"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00</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9" name="Text Box 118"/>
          <p:cNvSpPr txBox="1">
            <a:spLocks noChangeArrowheads="1"/>
          </p:cNvSpPr>
          <p:nvPr/>
        </p:nvSpPr>
        <p:spPr bwMode="auto">
          <a:xfrm>
            <a:off x="5009194" y="3590962"/>
            <a:ext cx="19062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000" b="1" dirty="0" smtClean="0">
                <a:latin typeface="微软雅黑" panose="020B0503020204020204" pitchFamily="34" charset="-122"/>
                <a:ea typeface="微软雅黑" panose="020B0503020204020204" pitchFamily="34" charset="-122"/>
              </a:rPr>
              <a:t>V</a:t>
            </a:r>
            <a:endParaRPr kumimoji="1" lang="en-US" altLang="zh-CN" sz="1000" b="1" dirty="0">
              <a:latin typeface="微软雅黑" panose="020B0503020204020204" pitchFamily="34" charset="-122"/>
              <a:ea typeface="微软雅黑" panose="020B0503020204020204" pitchFamily="34" charset="-122"/>
            </a:endParaRPr>
          </a:p>
          <a:p>
            <a:pPr algn="ctr" eaLnBrk="1" hangingPunct="1"/>
            <a:r>
              <a:rPr kumimoji="1" lang="en-US" altLang="zh-CN" sz="1000" b="1" dirty="0">
                <a:latin typeface="微软雅黑" panose="020B0503020204020204" pitchFamily="34" charset="-122"/>
                <a:ea typeface="微软雅黑" panose="020B0503020204020204" pitchFamily="34" charset="-122"/>
              </a:rPr>
              <a:t>01 03 06 01 02 01 01 01 00</a:t>
            </a:r>
            <a:endParaRPr kumimoji="1" lang="en-US" altLang="zh-CN" sz="1000" b="1" dirty="0">
              <a:latin typeface="微软雅黑" panose="020B0503020204020204" pitchFamily="34" charset="-122"/>
              <a:ea typeface="微软雅黑" panose="020B0503020204020204" pitchFamily="34" charset="-122"/>
            </a:endParaRPr>
          </a:p>
        </p:txBody>
      </p:sp>
      <p:sp>
        <p:nvSpPr>
          <p:cNvPr id="162" name="Text Box 131"/>
          <p:cNvSpPr txBox="1">
            <a:spLocks noChangeArrowheads="1"/>
          </p:cNvSpPr>
          <p:nvPr/>
        </p:nvSpPr>
        <p:spPr bwMode="auto">
          <a:xfrm>
            <a:off x="1869659"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04</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63" name="Text Box 151"/>
          <p:cNvSpPr txBox="1">
            <a:spLocks noChangeArrowheads="1"/>
          </p:cNvSpPr>
          <p:nvPr/>
        </p:nvSpPr>
        <p:spPr bwMode="auto">
          <a:xfrm>
            <a:off x="1110318"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Text Box 124"/>
          <p:cNvSpPr txBox="1">
            <a:spLocks noChangeArrowheads="1"/>
          </p:cNvSpPr>
          <p:nvPr/>
        </p:nvSpPr>
        <p:spPr bwMode="auto">
          <a:xfrm>
            <a:off x="5129951" y="2911344"/>
            <a:ext cx="949299"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SEQUENCE</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7" name="Text Box 125"/>
          <p:cNvSpPr txBox="1">
            <a:spLocks noChangeArrowheads="1"/>
          </p:cNvSpPr>
          <p:nvPr/>
        </p:nvSpPr>
        <p:spPr bwMode="auto">
          <a:xfrm>
            <a:off x="6051724" y="2911344"/>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0D</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8" name="Text Box 166"/>
          <p:cNvSpPr txBox="1">
            <a:spLocks noChangeArrowheads="1"/>
          </p:cNvSpPr>
          <p:nvPr/>
        </p:nvSpPr>
        <p:spPr bwMode="auto">
          <a:xfrm>
            <a:off x="6877820" y="2348048"/>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VarBind</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99" name="Text Box 126"/>
          <p:cNvSpPr txBox="1">
            <a:spLocks noChangeArrowheads="1"/>
          </p:cNvSpPr>
          <p:nvPr/>
        </p:nvSpPr>
        <p:spPr bwMode="auto">
          <a:xfrm>
            <a:off x="6374894" y="3010433"/>
            <a:ext cx="116410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name     </a:t>
            </a:r>
            <a:r>
              <a:rPr kumimoji="1" lang="en-US" altLang="zh-CN" sz="1100" b="1" dirty="0" smtClean="0">
                <a:latin typeface="微软雅黑" panose="020B0503020204020204" pitchFamily="34" charset="-122"/>
                <a:ea typeface="微软雅黑" panose="020B0503020204020204" pitchFamily="34" charset="-122"/>
              </a:rPr>
              <a:t>value</a:t>
            </a:r>
            <a:endParaRPr kumimoji="1" lang="en-US" altLang="zh-CN" sz="1100" b="1" dirty="0">
              <a:latin typeface="微软雅黑" panose="020B0503020204020204" pitchFamily="34" charset="-122"/>
              <a:ea typeface="微软雅黑" panose="020B0503020204020204" pitchFamily="34" charset="-122"/>
            </a:endParaRPr>
          </a:p>
        </p:txBody>
      </p:sp>
      <p:sp>
        <p:nvSpPr>
          <p:cNvPr id="102" name="Text Box 121"/>
          <p:cNvSpPr txBox="1">
            <a:spLocks noChangeArrowheads="1"/>
          </p:cNvSpPr>
          <p:nvPr/>
        </p:nvSpPr>
        <p:spPr bwMode="auto">
          <a:xfrm>
            <a:off x="6842815" y="3590962"/>
            <a:ext cx="56778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T</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NULL</a:t>
            </a:r>
            <a:endParaRPr kumimoji="1" lang="en-US" altLang="zh-CN" sz="1100" b="1" dirty="0">
              <a:latin typeface="微软雅黑" panose="020B0503020204020204" pitchFamily="34" charset="-122"/>
              <a:ea typeface="微软雅黑" panose="020B0503020204020204" pitchFamily="34" charset="-122"/>
            </a:endParaRPr>
          </a:p>
        </p:txBody>
      </p:sp>
      <p:sp>
        <p:nvSpPr>
          <p:cNvPr id="104" name="Text Box 122"/>
          <p:cNvSpPr txBox="1">
            <a:spLocks noChangeArrowheads="1"/>
          </p:cNvSpPr>
          <p:nvPr/>
        </p:nvSpPr>
        <p:spPr bwMode="auto">
          <a:xfrm>
            <a:off x="7386546"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L</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00</a:t>
            </a:r>
            <a:endParaRPr kumimoji="1" lang="en-US" altLang="zh-CN" sz="11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7042"/>
            <a:ext cx="8048776" cy="28632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383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33901" y="580624"/>
            <a:ext cx="40949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smtClean="0">
                <a:solidFill>
                  <a:schemeClr val="bg1"/>
                </a:solidFill>
                <a:latin typeface="微软雅黑" panose="020B0503020204020204" pitchFamily="34" charset="-122"/>
                <a:ea typeface="微软雅黑" panose="020B0503020204020204" pitchFamily="34" charset="-122"/>
              </a:rPr>
              <a:t>报文</a:t>
            </a:r>
            <a:r>
              <a:rPr lang="zh-CN" altLang="en-US" sz="2000" b="1" dirty="0">
                <a:solidFill>
                  <a:schemeClr val="bg1"/>
                </a:solidFill>
                <a:latin typeface="微软雅黑" panose="020B0503020204020204" pitchFamily="34" charset="-122"/>
                <a:ea typeface="微软雅黑" panose="020B0503020204020204" pitchFamily="34" charset="-122"/>
              </a:rPr>
              <a:t>的十六进制</a:t>
            </a:r>
            <a:r>
              <a:rPr lang="zh-CN" altLang="en-US" sz="2000" b="1" dirty="0" smtClean="0">
                <a:solidFill>
                  <a:schemeClr val="bg1"/>
                </a:solidFill>
                <a:latin typeface="微软雅黑" panose="020B0503020204020204" pitchFamily="34" charset="-122"/>
                <a:ea typeface="微软雅黑" panose="020B0503020204020204" pitchFamily="34" charset="-122"/>
              </a:rPr>
              <a:t>编码</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1"/>
          <p:cNvSpPr>
            <a:spLocks noChangeArrowheads="1"/>
          </p:cNvSpPr>
          <p:nvPr/>
        </p:nvSpPr>
        <p:spPr bwMode="auto">
          <a:xfrm>
            <a:off x="819807" y="1122955"/>
            <a:ext cx="778593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p>
            <a:pPr marL="0" marR="0" lvl="0" indent="114300" algn="l" defTabSz="914400" rtl="0" eaLnBrk="1" fontAlgn="base" latinLnBrk="0" hangingPunct="1">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A0 1D                          -- </a:t>
            </a:r>
            <a:r>
              <a:rPr kumimoji="0" lang="en-US" altLang="zh-CN" sz="1400" b="1" i="0" u="none" strike="noStrike" cap="none" normalizeH="0" baseline="0" dirty="0" err="1"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GetRequest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-PDU</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，上下文类型，长度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1D</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29</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04 05 AE 56 02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04</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request-id = 05 AE 56 02 </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01 00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01</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error status = 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01 00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01</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error index = 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30 0F                           -- SEQUENCE OF</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0F</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15</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30 0D                   	    -- SEQUENCE</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0D</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13</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06 09 01 03 06 01 02 01 07 01 00    </a:t>
            </a:r>
            <a:r>
              <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OBJECT IDENTIFIER</a:t>
            </a:r>
            <a:r>
              <a:rPr kumimoji="0" lang="zh-CN" altLang="en-US"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09</a:t>
            </a:r>
            <a:r>
              <a:rPr kumimoji="0" lang="en-US" altLang="zh-CN" sz="12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200" b="1" i="0" u="none" strike="noStrike" cap="none" normalizeH="0" baseline="0" dirty="0" err="1"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udpInDatagrams</a:t>
            </a:r>
            <a:endPar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05 00                       	</a:t>
            </a:r>
            <a:r>
              <a:rPr kumimoji="0" lang="en-US" altLang="zh-CN" sz="1400" b="1" i="0" u="none" strike="noStrike" cap="none" normalizeH="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NULL</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2629135" y="129417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175793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Line 16"/>
          <p:cNvSpPr>
            <a:spLocks noChangeShapeType="1"/>
          </p:cNvSpPr>
          <p:nvPr/>
        </p:nvSpPr>
        <p:spPr bwMode="auto">
          <a:xfrm>
            <a:off x="3637198" y="1222738"/>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4176"/>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8" name="Rectangle 29"/>
          <p:cNvSpPr>
            <a:spLocks noChangeArrowheads="1"/>
          </p:cNvSpPr>
          <p:nvPr/>
        </p:nvSpPr>
        <p:spPr bwMode="auto">
          <a:xfrm>
            <a:off x="648619" y="1389108"/>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6.8</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应用进程跨越网络</a:t>
            </a:r>
            <a:r>
              <a:rPr lang="zh-CN" altLang="en-US" sz="2000" b="1" dirty="0" smtClean="0">
                <a:solidFill>
                  <a:schemeClr val="bg1"/>
                </a:solidFill>
                <a:latin typeface="微软雅黑" panose="020B0503020204020204" pitchFamily="34" charset="-122"/>
                <a:ea typeface="微软雅黑" panose="020B0503020204020204" pitchFamily="34" charset="-122"/>
              </a:rPr>
              <a:t>的</a:t>
            </a:r>
            <a:endParaRPr lang="en-US" altLang="zh-CN" sz="2000" b="1" dirty="0" smtClean="0">
              <a:solidFill>
                <a:schemeClr val="bg1"/>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通信</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2700573" y="1169875"/>
            <a:ext cx="5756006" cy="96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6.8.1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系统</a:t>
            </a:r>
            <a:r>
              <a:rPr lang="zh-CN" altLang="en-US" sz="2000" b="1" dirty="0">
                <a:solidFill>
                  <a:schemeClr val="bg1"/>
                </a:solidFill>
                <a:latin typeface="微软雅黑" panose="020B0503020204020204" pitchFamily="34" charset="-122"/>
                <a:ea typeface="微软雅黑" panose="020B0503020204020204" pitchFamily="34" charset="-122"/>
              </a:rPr>
              <a:t>调用和应用编程接口</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6.8.2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几种</a:t>
            </a:r>
            <a:r>
              <a:rPr lang="zh-CN" altLang="en-US" sz="2000" b="1" dirty="0">
                <a:solidFill>
                  <a:schemeClr val="bg1"/>
                </a:solidFill>
                <a:latin typeface="微软雅黑" panose="020B0503020204020204" pitchFamily="34" charset="-122"/>
                <a:ea typeface="微软雅黑" panose="020B0503020204020204" pitchFamily="34" charset="-122"/>
              </a:rPr>
              <a:t>常用的系统调用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3631" y="572682"/>
            <a:ext cx="4496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6.8.1  </a:t>
            </a:r>
            <a:r>
              <a:rPr lang="zh-CN" altLang="en-US" sz="2400" b="1" dirty="0">
                <a:solidFill>
                  <a:schemeClr val="bg1"/>
                </a:solidFill>
                <a:latin typeface="微软雅黑" panose="020B0503020204020204" pitchFamily="34" charset="-122"/>
                <a:ea typeface="微软雅黑" panose="020B0503020204020204" pitchFamily="34" charset="-122"/>
              </a:rPr>
              <a:t>系统调用和应用编程接口</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9171"/>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大多数操作系统使用</a:t>
            </a:r>
            <a:r>
              <a:rPr lang="zh-CN" altLang="en-US" sz="2000" b="1" dirty="0">
                <a:solidFill>
                  <a:srgbClr val="C00000"/>
                </a:solidFill>
                <a:latin typeface="微软雅黑" panose="020B0503020204020204" pitchFamily="34" charset="-122"/>
                <a:ea typeface="微软雅黑" panose="020B0503020204020204" pitchFamily="34" charset="-122"/>
              </a:rPr>
              <a:t>系统调用 </a:t>
            </a:r>
            <a:r>
              <a:rPr lang="en-US" altLang="zh-CN" sz="2000" b="1" dirty="0">
                <a:latin typeface="微软雅黑" panose="020B0503020204020204" pitchFamily="34" charset="-122"/>
                <a:ea typeface="微软雅黑" panose="020B0503020204020204" pitchFamily="34" charset="-122"/>
              </a:rPr>
              <a:t>(system call ) </a:t>
            </a:r>
            <a:r>
              <a:rPr lang="zh-CN" altLang="en-US" sz="2000" b="1" dirty="0">
                <a:latin typeface="微软雅黑" panose="020B0503020204020204" pitchFamily="34" charset="-122"/>
                <a:ea typeface="微软雅黑" panose="020B0503020204020204" pitchFamily="34" charset="-122"/>
              </a:rPr>
              <a:t>的机制在应用程序和操作系统之间传递控制权。</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对程序员来说，每一个系统调用和一般程序设计中的函数调用非常相似，只是系统调用是将控制权传递给了操作系统。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26943" y="582898"/>
            <a:ext cx="41088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多个应用</a:t>
            </a:r>
            <a:r>
              <a:rPr lang="zh-CN" altLang="en-US" sz="2000" b="1" dirty="0" smtClean="0">
                <a:solidFill>
                  <a:schemeClr val="bg1"/>
                </a:solidFill>
                <a:latin typeface="微软雅黑" panose="020B0503020204020204" pitchFamily="34" charset="-122"/>
                <a:ea typeface="微软雅黑" panose="020B0503020204020204" pitchFamily="34" charset="-122"/>
              </a:rPr>
              <a:t>进程使用</a:t>
            </a:r>
            <a:r>
              <a:rPr lang="zh-CN" altLang="en-US" sz="2000" b="1" dirty="0">
                <a:solidFill>
                  <a:schemeClr val="bg1"/>
                </a:solidFill>
                <a:latin typeface="微软雅黑" panose="020B0503020204020204" pitchFamily="34" charset="-122"/>
                <a:ea typeface="微软雅黑" panose="020B0503020204020204" pitchFamily="34" charset="-122"/>
              </a:rPr>
              <a:t>系统调用的机制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3"/>
          <p:cNvSpPr>
            <a:spLocks noChangeArrowheads="1"/>
          </p:cNvSpPr>
          <p:nvPr/>
        </p:nvSpPr>
        <p:spPr bwMode="auto">
          <a:xfrm>
            <a:off x="1384729" y="1509223"/>
            <a:ext cx="4452402" cy="2393411"/>
          </a:xfrm>
          <a:prstGeom prst="rect">
            <a:avLst/>
          </a:prstGeom>
          <a:solidFill>
            <a:srgbClr val="99FFCC"/>
          </a:solidFill>
          <a:ln w="63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 name="Oval 4"/>
          <p:cNvSpPr>
            <a:spLocks noChangeArrowheads="1"/>
          </p:cNvSpPr>
          <p:nvPr/>
        </p:nvSpPr>
        <p:spPr bwMode="auto">
          <a:xfrm>
            <a:off x="1590938" y="1659023"/>
            <a:ext cx="1099374"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应用程序 </a:t>
            </a:r>
            <a:r>
              <a:rPr kumimoji="1" lang="en-US" altLang="zh-CN" sz="1400" b="1" dirty="0">
                <a:solidFill>
                  <a:schemeClr val="bg1"/>
                </a:solidFill>
                <a:latin typeface="微软雅黑" panose="020B0503020204020204" pitchFamily="34" charset="-122"/>
                <a:ea typeface="微软雅黑" panose="020B0503020204020204" pitchFamily="34" charset="-122"/>
              </a:rPr>
              <a:t>1</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sp>
        <p:nvSpPr>
          <p:cNvPr id="7" name="Oval 5"/>
          <p:cNvSpPr>
            <a:spLocks noChangeArrowheads="1"/>
          </p:cNvSpPr>
          <p:nvPr/>
        </p:nvSpPr>
        <p:spPr bwMode="auto">
          <a:xfrm>
            <a:off x="2896520" y="1659023"/>
            <a:ext cx="1099374"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应用程序 </a:t>
            </a:r>
            <a:r>
              <a:rPr kumimoji="1" lang="en-US" altLang="zh-CN" sz="1400" b="1">
                <a:solidFill>
                  <a:schemeClr val="bg1"/>
                </a:solidFill>
                <a:latin typeface="微软雅黑" panose="020B0503020204020204" pitchFamily="34" charset="-122"/>
                <a:ea typeface="微软雅黑" panose="020B0503020204020204" pitchFamily="34" charset="-122"/>
              </a:rPr>
              <a:t>2</a:t>
            </a: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8" name="Oval 6"/>
          <p:cNvSpPr>
            <a:spLocks noChangeArrowheads="1"/>
          </p:cNvSpPr>
          <p:nvPr/>
        </p:nvSpPr>
        <p:spPr bwMode="auto">
          <a:xfrm>
            <a:off x="4544971" y="1659023"/>
            <a:ext cx="1099373"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应用程序 </a:t>
            </a:r>
            <a:r>
              <a:rPr kumimoji="1" lang="en-US" altLang="zh-CN" sz="1400" b="1">
                <a:solidFill>
                  <a:schemeClr val="bg1"/>
                </a:solidFill>
                <a:latin typeface="微软雅黑" panose="020B0503020204020204" pitchFamily="34" charset="-122"/>
                <a:ea typeface="微软雅黑" panose="020B0503020204020204" pitchFamily="34" charset="-122"/>
              </a:rPr>
              <a:t>n</a:t>
            </a: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9" name="Text Box 7"/>
          <p:cNvSpPr txBox="1">
            <a:spLocks noChangeArrowheads="1"/>
          </p:cNvSpPr>
          <p:nvPr/>
        </p:nvSpPr>
        <p:spPr bwMode="auto">
          <a:xfrm>
            <a:off x="4064223" y="1652266"/>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a:t>
            </a:r>
            <a:endParaRPr kumimoji="1" lang="en-US" altLang="zh-CN" sz="1400" b="1">
              <a:latin typeface="微软雅黑" panose="020B0503020204020204" pitchFamily="34" charset="-122"/>
              <a:ea typeface="微软雅黑" panose="020B0503020204020204" pitchFamily="34" charset="-122"/>
            </a:endParaRPr>
          </a:p>
        </p:txBody>
      </p:sp>
      <p:sp>
        <p:nvSpPr>
          <p:cNvPr id="10" name="Line 8"/>
          <p:cNvSpPr>
            <a:spLocks noChangeShapeType="1"/>
          </p:cNvSpPr>
          <p:nvPr/>
        </p:nvSpPr>
        <p:spPr bwMode="auto">
          <a:xfrm>
            <a:off x="1384729" y="2706492"/>
            <a:ext cx="44658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Rectangle 9"/>
          <p:cNvSpPr>
            <a:spLocks noChangeArrowheads="1"/>
          </p:cNvSpPr>
          <p:nvPr/>
        </p:nvSpPr>
        <p:spPr bwMode="auto">
          <a:xfrm>
            <a:off x="1401812" y="2720008"/>
            <a:ext cx="4435319" cy="275946"/>
          </a:xfrm>
          <a:prstGeom prst="rect">
            <a:avLst/>
          </a:prstGeom>
          <a:solidFill>
            <a:srgbClr val="CC00CC"/>
          </a:solidFill>
          <a:ln w="9525">
            <a:solidFill>
              <a:schemeClr val="tx1"/>
            </a:solidFill>
            <a:miter lim="800000"/>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Line 10"/>
          <p:cNvSpPr>
            <a:spLocks noChangeShapeType="1"/>
          </p:cNvSpPr>
          <p:nvPr/>
        </p:nvSpPr>
        <p:spPr bwMode="auto">
          <a:xfrm>
            <a:off x="1384729" y="3004964"/>
            <a:ext cx="44658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Text Box 11"/>
          <p:cNvSpPr txBox="1">
            <a:spLocks noChangeArrowheads="1"/>
          </p:cNvSpPr>
          <p:nvPr/>
        </p:nvSpPr>
        <p:spPr bwMode="auto">
          <a:xfrm>
            <a:off x="2391625" y="2690724"/>
            <a:ext cx="26468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由应用程序调用的系统函数</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4" name="Line 12"/>
          <p:cNvSpPr>
            <a:spLocks noChangeShapeType="1"/>
          </p:cNvSpPr>
          <p:nvPr/>
        </p:nvSpPr>
        <p:spPr bwMode="auto">
          <a:xfrm>
            <a:off x="2140014"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3"/>
          <p:cNvSpPr>
            <a:spLocks noChangeShapeType="1"/>
          </p:cNvSpPr>
          <p:nvPr/>
        </p:nvSpPr>
        <p:spPr bwMode="auto">
          <a:xfrm>
            <a:off x="3445597"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4"/>
          <p:cNvSpPr>
            <a:spLocks noChangeShapeType="1"/>
          </p:cNvSpPr>
          <p:nvPr/>
        </p:nvSpPr>
        <p:spPr bwMode="auto">
          <a:xfrm>
            <a:off x="5095267"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
          <p:cNvSpPr>
            <a:spLocks noChangeShapeType="1"/>
          </p:cNvSpPr>
          <p:nvPr/>
        </p:nvSpPr>
        <p:spPr bwMode="auto">
          <a:xfrm>
            <a:off x="2415773" y="2182757"/>
            <a:ext cx="1029824"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6"/>
          <p:cNvSpPr>
            <a:spLocks noChangeShapeType="1"/>
          </p:cNvSpPr>
          <p:nvPr/>
        </p:nvSpPr>
        <p:spPr bwMode="auto">
          <a:xfrm flipH="1">
            <a:off x="3531008" y="2157978"/>
            <a:ext cx="1226271" cy="553019"/>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17"/>
          <p:cNvSpPr>
            <a:spLocks noChangeShapeType="1"/>
          </p:cNvSpPr>
          <p:nvPr/>
        </p:nvSpPr>
        <p:spPr bwMode="auto">
          <a:xfrm flipH="1">
            <a:off x="2171739" y="2029579"/>
            <a:ext cx="2413497" cy="66114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18"/>
          <p:cNvSpPr>
            <a:spLocks noChangeShapeType="1"/>
          </p:cNvSpPr>
          <p:nvPr/>
        </p:nvSpPr>
        <p:spPr bwMode="auto">
          <a:xfrm>
            <a:off x="3745759" y="2168115"/>
            <a:ext cx="539315" cy="530492"/>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 name="Group 26"/>
          <p:cNvGrpSpPr/>
          <p:nvPr/>
        </p:nvGrpSpPr>
        <p:grpSpPr bwMode="auto">
          <a:xfrm>
            <a:off x="5868854" y="1749130"/>
            <a:ext cx="1703357" cy="479809"/>
            <a:chOff x="4004" y="1563"/>
            <a:chExt cx="1396" cy="426"/>
          </a:xfrm>
        </p:grpSpPr>
        <p:sp>
          <p:nvSpPr>
            <p:cNvPr id="22" name="Text Box 19"/>
            <p:cNvSpPr txBox="1">
              <a:spLocks noChangeArrowheads="1"/>
            </p:cNvSpPr>
            <p:nvPr/>
          </p:nvSpPr>
          <p:spPr bwMode="auto">
            <a:xfrm>
              <a:off x="4366" y="1563"/>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用户地址空间</a:t>
              </a:r>
              <a:endParaRPr kumimoji="1" lang="zh-CN" altLang="en-US" sz="1400" b="1" dirty="0">
                <a:latin typeface="微软雅黑" panose="020B0503020204020204" pitchFamily="34" charset="-122"/>
                <a:ea typeface="微软雅黑" panose="020B0503020204020204" pitchFamily="34" charset="-122"/>
              </a:endParaRPr>
            </a:p>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中的应用程序</a:t>
              </a:r>
              <a:endParaRPr kumimoji="1" lang="zh-CN" altLang="en-US" sz="1400" b="1" dirty="0">
                <a:latin typeface="微软雅黑" panose="020B0503020204020204" pitchFamily="34" charset="-122"/>
                <a:ea typeface="微软雅黑" panose="020B0503020204020204" pitchFamily="34" charset="-122"/>
              </a:endParaRPr>
            </a:p>
          </p:txBody>
        </p:sp>
        <p:sp>
          <p:nvSpPr>
            <p:cNvPr id="23" name="Line 20"/>
            <p:cNvSpPr>
              <a:spLocks noChangeShapeType="1"/>
            </p:cNvSpPr>
            <p:nvPr/>
          </p:nvSpPr>
          <p:spPr bwMode="auto">
            <a:xfrm rot="5400000">
              <a:off x="4201" y="1551"/>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24" name="Group 27"/>
          <p:cNvGrpSpPr/>
          <p:nvPr/>
        </p:nvGrpSpPr>
        <p:grpSpPr bwMode="auto">
          <a:xfrm>
            <a:off x="5868854" y="2704243"/>
            <a:ext cx="1703357" cy="307483"/>
            <a:chOff x="4004" y="2411"/>
            <a:chExt cx="1396" cy="273"/>
          </a:xfrm>
        </p:grpSpPr>
        <p:sp>
          <p:nvSpPr>
            <p:cNvPr id="25" name="Line 21"/>
            <p:cNvSpPr>
              <a:spLocks noChangeShapeType="1"/>
            </p:cNvSpPr>
            <p:nvPr/>
          </p:nvSpPr>
          <p:spPr bwMode="auto">
            <a:xfrm rot="5400000">
              <a:off x="4201" y="2348"/>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3"/>
            <p:cNvSpPr txBox="1">
              <a:spLocks noChangeArrowheads="1"/>
            </p:cNvSpPr>
            <p:nvPr/>
          </p:nvSpPr>
          <p:spPr bwMode="auto">
            <a:xfrm>
              <a:off x="4366" y="2411"/>
              <a:ext cx="1034" cy="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系统调用接口</a:t>
              </a:r>
              <a:endParaRPr kumimoji="1" lang="zh-CN" altLang="en-US" sz="1400" b="1" dirty="0">
                <a:latin typeface="微软雅黑" panose="020B0503020204020204" pitchFamily="34" charset="-122"/>
                <a:ea typeface="微软雅黑" panose="020B0503020204020204" pitchFamily="34" charset="-122"/>
              </a:endParaRPr>
            </a:p>
          </p:txBody>
        </p:sp>
      </p:grpSp>
      <p:grpSp>
        <p:nvGrpSpPr>
          <p:cNvPr id="27" name="Group 28"/>
          <p:cNvGrpSpPr/>
          <p:nvPr/>
        </p:nvGrpSpPr>
        <p:grpSpPr bwMode="auto">
          <a:xfrm>
            <a:off x="5868854" y="3193062"/>
            <a:ext cx="1703357" cy="479809"/>
            <a:chOff x="4004" y="2845"/>
            <a:chExt cx="1396" cy="426"/>
          </a:xfrm>
        </p:grpSpPr>
        <p:sp>
          <p:nvSpPr>
            <p:cNvPr id="28" name="Line 22"/>
            <p:cNvSpPr>
              <a:spLocks noChangeShapeType="1"/>
            </p:cNvSpPr>
            <p:nvPr/>
          </p:nvSpPr>
          <p:spPr bwMode="auto">
            <a:xfrm rot="5400000">
              <a:off x="4201" y="2845"/>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4"/>
            <p:cNvSpPr txBox="1">
              <a:spLocks noChangeArrowheads="1"/>
            </p:cNvSpPr>
            <p:nvPr/>
          </p:nvSpPr>
          <p:spPr bwMode="auto">
            <a:xfrm>
              <a:off x="4366" y="2845"/>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系统地址空间</a:t>
              </a:r>
              <a:endParaRPr kumimoji="1" lang="zh-CN" altLang="en-US" sz="1400" b="1" dirty="0">
                <a:latin typeface="微软雅黑" panose="020B0503020204020204" pitchFamily="34" charset="-122"/>
                <a:ea typeface="微软雅黑" panose="020B0503020204020204" pitchFamily="34" charset="-122"/>
              </a:endParaRPr>
            </a:p>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中的协议软件</a:t>
              </a:r>
              <a:endParaRPr kumimoji="1" lang="zh-CN" altLang="en-US" sz="1400" b="1" dirty="0">
                <a:latin typeface="微软雅黑" panose="020B0503020204020204" pitchFamily="34" charset="-122"/>
                <a:ea typeface="微软雅黑" panose="020B0503020204020204" pitchFamily="34" charset="-122"/>
              </a:endParaRPr>
            </a:p>
          </p:txBody>
        </p:sp>
      </p:grpSp>
      <p:sp>
        <p:nvSpPr>
          <p:cNvPr id="30" name="Text Box 25"/>
          <p:cNvSpPr txBox="1">
            <a:spLocks noChangeArrowheads="1"/>
          </p:cNvSpPr>
          <p:nvPr/>
        </p:nvSpPr>
        <p:spPr bwMode="auto">
          <a:xfrm>
            <a:off x="1938687" y="3264016"/>
            <a:ext cx="323300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a:latin typeface="微软雅黑" panose="020B0503020204020204" pitchFamily="34" charset="-122"/>
                <a:ea typeface="微软雅黑" panose="020B0503020204020204" pitchFamily="34" charset="-122"/>
              </a:rPr>
              <a:t>包括 </a:t>
            </a:r>
            <a:r>
              <a:rPr kumimoji="1" lang="en-US" altLang="zh-CN" sz="1400" b="1">
                <a:latin typeface="微软雅黑" panose="020B0503020204020204" pitchFamily="34" charset="-122"/>
                <a:ea typeface="微软雅黑" panose="020B0503020204020204" pitchFamily="34" charset="-122"/>
              </a:rPr>
              <a:t>TCP/IP </a:t>
            </a:r>
            <a:r>
              <a:rPr kumimoji="1" lang="zh-CN" altLang="en-US" sz="1400" b="1">
                <a:latin typeface="微软雅黑" panose="020B0503020204020204" pitchFamily="34" charset="-122"/>
                <a:ea typeface="微软雅黑" panose="020B0503020204020204" pitchFamily="34" charset="-122"/>
              </a:rPr>
              <a:t>协议软件的操作系统内核</a:t>
            </a:r>
            <a:endParaRPr kumimoji="1"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21"/>
                                        </p:tgtEl>
                                        <p:attrNameLst>
                                          <p:attrName>style.visibility</p:attrName>
                                        </p:attrNameLst>
                                      </p:cBhvr>
                                      <p:to>
                                        <p:strVal val="visible"/>
                                      </p:to>
                                    </p:set>
                                  </p:childTnLst>
                                </p:cTn>
                              </p:par>
                            </p:childTnLst>
                          </p:cTn>
                        </p:par>
                        <p:par>
                          <p:cTn id="7" fill="hold">
                            <p:stCondLst>
                              <p:cond delay="1000"/>
                            </p:stCondLst>
                            <p:childTnLst>
                              <p:par>
                                <p:cTn id="8" presetID="35" presetClass="emph" presetSubtype="0" repeatCount="3000" fill="hold" nodeType="afterEffect">
                                  <p:stCondLst>
                                    <p:cond delay="0"/>
                                  </p:stCondLst>
                                  <p:childTnLst>
                                    <p:anim calcmode="discrete" valueType="str">
                                      <p:cBhvr>
                                        <p:cTn id="9" dur="1000" fill="hold"/>
                                        <p:tgtEl>
                                          <p:spTgt spid="21"/>
                                        </p:tgtEl>
                                        <p:attrNameLst>
                                          <p:attrName>style.visibility</p:attrName>
                                        </p:attrNameLst>
                                      </p:cBhvr>
                                      <p:tavLst>
                                        <p:tav tm="0">
                                          <p:val>
                                            <p:strVal val="hidden"/>
                                          </p:val>
                                        </p:tav>
                                        <p:tav tm="50000">
                                          <p:val>
                                            <p:strVal val="visible"/>
                                          </p:val>
                                        </p:tav>
                                      </p:tavLst>
                                    </p:anim>
                                  </p:childTnLst>
                                </p:cTn>
                              </p:par>
                            </p:childTnLst>
                          </p:cTn>
                        </p:par>
                        <p:par>
                          <p:cTn id="10" fill="hold">
                            <p:stCondLst>
                              <p:cond delay="2000"/>
                            </p:stCondLst>
                            <p:childTnLst>
                              <p:par>
                                <p:cTn id="11" presetID="1" presetClass="entr" presetSubtype="0" fill="hold" nodeType="afterEffect">
                                  <p:stCondLst>
                                    <p:cond delay="1000"/>
                                  </p:stCondLst>
                                  <p:childTnLst>
                                    <p:set>
                                      <p:cBhvr>
                                        <p:cTn id="12" dur="1" fill="hold">
                                          <p:stCondLst>
                                            <p:cond delay="0"/>
                                          </p:stCondLst>
                                        </p:cTn>
                                        <p:tgtEl>
                                          <p:spTgt spid="24"/>
                                        </p:tgtEl>
                                        <p:attrNameLst>
                                          <p:attrName>style.visibility</p:attrName>
                                        </p:attrNameLst>
                                      </p:cBhvr>
                                      <p:to>
                                        <p:strVal val="visible"/>
                                      </p:to>
                                    </p:set>
                                  </p:childTnLst>
                                </p:cTn>
                              </p:par>
                            </p:childTnLst>
                          </p:cTn>
                        </p:par>
                        <p:par>
                          <p:cTn id="13" fill="hold">
                            <p:stCondLst>
                              <p:cond delay="3000"/>
                            </p:stCondLst>
                            <p:childTnLst>
                              <p:par>
                                <p:cTn id="14" presetID="35" presetClass="emph" presetSubtype="0" repeatCount="3000" fill="hold" nodeType="afterEffect">
                                  <p:stCondLst>
                                    <p:cond delay="0"/>
                                  </p:stCondLst>
                                  <p:childTnLst>
                                    <p:anim calcmode="discrete" valueType="str">
                                      <p:cBhvr>
                                        <p:cTn id="15" dur="1000" fill="hold"/>
                                        <p:tgtEl>
                                          <p:spTgt spid="24"/>
                                        </p:tgtEl>
                                        <p:attrNameLst>
                                          <p:attrName>style.visibility</p:attrName>
                                        </p:attrNameLst>
                                      </p:cBhvr>
                                      <p:tavLst>
                                        <p:tav tm="0">
                                          <p:val>
                                            <p:strVal val="hidden"/>
                                          </p:val>
                                        </p:tav>
                                        <p:tav tm="50000">
                                          <p:val>
                                            <p:strVal val="visible"/>
                                          </p:val>
                                        </p:tav>
                                      </p:tavLst>
                                    </p:anim>
                                  </p:childTnLst>
                                </p:cTn>
                              </p:par>
                            </p:childTnLst>
                          </p:cTn>
                        </p:par>
                        <p:par>
                          <p:cTn id="16" fill="hold">
                            <p:stCondLst>
                              <p:cond delay="4000"/>
                            </p:stCondLst>
                            <p:childTnLst>
                              <p:par>
                                <p:cTn id="17" presetID="1" presetClass="entr" presetSubtype="0" fill="hold" nodeType="afterEffect">
                                  <p:stCondLst>
                                    <p:cond delay="1000"/>
                                  </p:stCondLst>
                                  <p:childTnLst>
                                    <p:set>
                                      <p:cBhvr>
                                        <p:cTn id="18" dur="1" fill="hold">
                                          <p:stCondLst>
                                            <p:cond delay="0"/>
                                          </p:stCondLst>
                                        </p:cTn>
                                        <p:tgtEl>
                                          <p:spTgt spid="27"/>
                                        </p:tgtEl>
                                        <p:attrNameLst>
                                          <p:attrName>style.visibility</p:attrName>
                                        </p:attrNameLst>
                                      </p:cBhvr>
                                      <p:to>
                                        <p:strVal val="visible"/>
                                      </p:to>
                                    </p:set>
                                  </p:childTnLst>
                                </p:cTn>
                              </p:par>
                            </p:childTnLst>
                          </p:cTn>
                        </p:par>
                        <p:par>
                          <p:cTn id="19" fill="hold">
                            <p:stCondLst>
                              <p:cond delay="5000"/>
                            </p:stCondLst>
                            <p:childTnLst>
                              <p:par>
                                <p:cTn id="20" presetID="35" presetClass="emph" presetSubtype="0" repeatCount="3000" fill="hold" nodeType="afterEffect">
                                  <p:stCondLst>
                                    <p:cond delay="0"/>
                                  </p:stCondLst>
                                  <p:childTnLst>
                                    <p:anim calcmode="discrete" valueType="str">
                                      <p:cBhvr>
                                        <p:cTn id="21"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4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57491" y="582429"/>
            <a:ext cx="2247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应用编程接口 </a:t>
            </a:r>
            <a:r>
              <a:rPr lang="en-US" altLang="zh-CN" sz="2000" b="1" dirty="0">
                <a:solidFill>
                  <a:schemeClr val="bg1"/>
                </a:solidFill>
                <a:latin typeface="微软雅黑" panose="020B0503020204020204" pitchFamily="34" charset="-122"/>
                <a:ea typeface="微软雅黑" panose="020B0503020204020204" pitchFamily="34" charset="-122"/>
              </a:rPr>
              <a:t>API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74666" y="931010"/>
            <a:ext cx="8276142"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系统调用接口</a:t>
            </a:r>
            <a:r>
              <a:rPr lang="zh-CN" altLang="en-US" sz="2000" b="1" dirty="0">
                <a:latin typeface="微软雅黑" panose="020B0503020204020204" pitchFamily="34" charset="-122"/>
                <a:ea typeface="微软雅黑" panose="020B0503020204020204" pitchFamily="34" charset="-122"/>
              </a:rPr>
              <a:t>实际上就是应用进程的控制权和操作系统的控制权进行转换的一个接口</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使用系统调用之前要编写一些程序，特别是需要设置系统调用中的许多参数，因此这种系统调用接口又称为</a:t>
            </a:r>
            <a:r>
              <a:rPr lang="zh-CN" altLang="en-US" sz="2000" b="1" dirty="0">
                <a:solidFill>
                  <a:srgbClr val="C00000"/>
                </a:solidFill>
                <a:latin typeface="微软雅黑" panose="020B0503020204020204" pitchFamily="34" charset="-122"/>
                <a:ea typeface="微软雅黑" panose="020B0503020204020204" pitchFamily="34" charset="-122"/>
              </a:rPr>
              <a:t>应用编程</a:t>
            </a:r>
            <a:r>
              <a:rPr lang="zh-CN" altLang="en-US" sz="2000" b="1" dirty="0" smtClean="0">
                <a:solidFill>
                  <a:srgbClr val="C00000"/>
                </a:solidFill>
                <a:latin typeface="微软雅黑" panose="020B0503020204020204" pitchFamily="34" charset="-122"/>
                <a:ea typeface="微软雅黑" panose="020B0503020204020204" pitchFamily="34" charset="-122"/>
              </a:rPr>
              <a:t>接口 </a:t>
            </a:r>
            <a:r>
              <a:rPr lang="en-US" altLang="zh-CN" sz="2000" b="1" dirty="0" smtClean="0">
                <a:solidFill>
                  <a:srgbClr val="C00000"/>
                </a:solidFill>
                <a:latin typeface="微软雅黑" panose="020B0503020204020204" pitchFamily="34" charset="-122"/>
                <a:ea typeface="微软雅黑" panose="020B0503020204020204" pitchFamily="34" charset="-122"/>
              </a:rPr>
              <a:t>API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Application Programming Interface)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6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62538" y="579391"/>
            <a:ext cx="28376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几种应用编程接口 </a:t>
            </a:r>
            <a:r>
              <a:rPr lang="en-US" altLang="zh-CN" sz="2000" b="1" dirty="0" smtClean="0">
                <a:solidFill>
                  <a:schemeClr val="bg1"/>
                </a:solidFill>
                <a:latin typeface="微软雅黑" panose="020B0503020204020204" pitchFamily="34" charset="-122"/>
                <a:ea typeface="微软雅黑" panose="020B0503020204020204" pitchFamily="34" charset="-122"/>
              </a:rPr>
              <a:t>API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69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Berkeley </a:t>
            </a:r>
            <a:r>
              <a:rPr lang="en-US" altLang="zh-CN" sz="2000" b="1" dirty="0">
                <a:latin typeface="微软雅黑" panose="020B0503020204020204" pitchFamily="34" charset="-122"/>
                <a:ea typeface="微软雅黑" panose="020B0503020204020204" pitchFamily="34" charset="-122"/>
              </a:rPr>
              <a:t>UNIX </a:t>
            </a:r>
            <a:r>
              <a:rPr lang="zh-CN" altLang="en-US" sz="2000" b="1" dirty="0">
                <a:latin typeface="微软雅黑" panose="020B0503020204020204" pitchFamily="34" charset="-122"/>
                <a:ea typeface="微软雅黑" panose="020B0503020204020204" pitchFamily="34" charset="-122"/>
              </a:rPr>
              <a:t>操作系统定义了一种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，它又称为</a:t>
            </a:r>
            <a:r>
              <a:rPr lang="zh-CN" altLang="en-US" sz="2000" b="1" dirty="0">
                <a:solidFill>
                  <a:srgbClr val="C00000"/>
                </a:solidFill>
                <a:latin typeface="微软雅黑" panose="020B0503020204020204" pitchFamily="34" charset="-122"/>
                <a:ea typeface="微软雅黑" panose="020B0503020204020204" pitchFamily="34" charset="-122"/>
              </a:rPr>
              <a:t>套接字接口 </a:t>
            </a:r>
            <a:r>
              <a:rPr lang="en-US" altLang="zh-CN" sz="2000" b="1" dirty="0">
                <a:latin typeface="微软雅黑" panose="020B0503020204020204" pitchFamily="34" charset="-122"/>
                <a:ea typeface="微软雅黑" panose="020B0503020204020204" pitchFamily="34" charset="-122"/>
              </a:rPr>
              <a:t>(socket interface)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微软</a:t>
            </a:r>
            <a:r>
              <a:rPr lang="zh-CN" altLang="en-US" sz="2000" b="1" dirty="0">
                <a:latin typeface="微软雅黑" panose="020B0503020204020204" pitchFamily="34" charset="-122"/>
                <a:ea typeface="微软雅黑" panose="020B0503020204020204" pitchFamily="34" charset="-122"/>
              </a:rPr>
              <a:t>公司在其操作系统中采用了套接字接口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，形成了一个稍有不同的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，并称之为  </a:t>
            </a:r>
            <a:r>
              <a:rPr lang="en-US" altLang="zh-CN" sz="2000" b="1" dirty="0">
                <a:solidFill>
                  <a:srgbClr val="C00000"/>
                </a:solidFill>
                <a:latin typeface="微软雅黑" panose="020B0503020204020204" pitchFamily="34" charset="-122"/>
                <a:ea typeface="微软雅黑" panose="020B0503020204020204" pitchFamily="34" charset="-122"/>
              </a:rPr>
              <a:t>Windows Socket</a:t>
            </a:r>
            <a:r>
              <a:rPr lang="zh-CN" altLang="en-US" sz="2000" b="1" dirty="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AT&amp;T </a:t>
            </a:r>
            <a:r>
              <a:rPr lang="zh-CN" altLang="en-US" sz="2000" b="1" dirty="0">
                <a:latin typeface="微软雅黑" panose="020B0503020204020204" pitchFamily="34" charset="-122"/>
                <a:ea typeface="微软雅黑" panose="020B0503020204020204" pitchFamily="34" charset="-122"/>
              </a:rPr>
              <a:t>为其 </a:t>
            </a:r>
            <a:r>
              <a:rPr lang="en-US" altLang="zh-CN" sz="2000" b="1" dirty="0">
                <a:latin typeface="微软雅黑" panose="020B0503020204020204" pitchFamily="34" charset="-122"/>
                <a:ea typeface="微软雅黑" panose="020B0503020204020204" pitchFamily="34" charset="-122"/>
              </a:rPr>
              <a:t>UNIX </a:t>
            </a:r>
            <a:r>
              <a:rPr lang="zh-CN" altLang="en-US" sz="2000" b="1" dirty="0">
                <a:latin typeface="微软雅黑" panose="020B0503020204020204" pitchFamily="34" charset="-122"/>
                <a:ea typeface="微软雅黑" panose="020B0503020204020204" pitchFamily="34" charset="-122"/>
              </a:rPr>
              <a:t>系统 </a:t>
            </a:r>
            <a:r>
              <a:rPr lang="en-US" altLang="zh-CN" sz="2000" b="1" dirty="0">
                <a:latin typeface="微软雅黑" panose="020B0503020204020204" pitchFamily="34" charset="-122"/>
                <a:ea typeface="微软雅黑" panose="020B0503020204020204" pitchFamily="34" charset="-122"/>
              </a:rPr>
              <a:t>V </a:t>
            </a:r>
            <a:r>
              <a:rPr lang="zh-CN" altLang="en-US" sz="2000" b="1" dirty="0">
                <a:latin typeface="微软雅黑" panose="020B0503020204020204" pitchFamily="34" charset="-122"/>
                <a:ea typeface="微软雅黑" panose="020B0503020204020204" pitchFamily="34" charset="-122"/>
              </a:rPr>
              <a:t>定义了一种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，简写为 </a:t>
            </a:r>
            <a:r>
              <a:rPr lang="en-US" altLang="zh-CN" sz="2000" b="1" dirty="0">
                <a:solidFill>
                  <a:srgbClr val="C00000"/>
                </a:solidFill>
                <a:latin typeface="微软雅黑" panose="020B0503020204020204" pitchFamily="34" charset="-122"/>
                <a:ea typeface="微软雅黑" panose="020B0503020204020204" pitchFamily="34" charset="-122"/>
              </a:rPr>
              <a:t>TLI</a:t>
            </a:r>
            <a:r>
              <a:rPr lang="en-US" altLang="zh-CN" sz="2000" b="1" dirty="0">
                <a:latin typeface="微软雅黑" panose="020B0503020204020204" pitchFamily="34" charset="-122"/>
                <a:ea typeface="微软雅黑" panose="020B0503020204020204" pitchFamily="34" charset="-122"/>
              </a:rPr>
              <a:t> (Transport Layer Interface)</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55183" y="582898"/>
            <a:ext cx="38523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应用进程通过套接字接入到</a:t>
            </a:r>
            <a:r>
              <a:rPr lang="zh-CN" altLang="en-US" sz="2000" b="1" dirty="0" smtClean="0">
                <a:solidFill>
                  <a:schemeClr val="bg1"/>
                </a:solidFill>
                <a:latin typeface="微软雅黑" panose="020B0503020204020204" pitchFamily="34" charset="-122"/>
                <a:ea typeface="微软雅黑" panose="020B0503020204020204" pitchFamily="34" charset="-122"/>
              </a:rPr>
              <a:t>网络</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AutoShape 71"/>
          <p:cNvSpPr>
            <a:spLocks noChangeArrowheads="1"/>
          </p:cNvSpPr>
          <p:nvPr/>
        </p:nvSpPr>
        <p:spPr bwMode="auto">
          <a:xfrm>
            <a:off x="1977318" y="1694767"/>
            <a:ext cx="372733" cy="972704"/>
          </a:xfrm>
          <a:prstGeom prst="upArrow">
            <a:avLst>
              <a:gd name="adj1" fmla="val 50000"/>
              <a:gd name="adj2" fmla="val 70678"/>
            </a:avLst>
          </a:prstGeom>
          <a:solidFill>
            <a:srgbClr val="00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graphicFrame>
        <p:nvGraphicFramePr>
          <p:cNvPr id="6" name="Object 72"/>
          <p:cNvGraphicFramePr>
            <a:graphicFrameLocks noChangeAspect="1"/>
          </p:cNvGraphicFramePr>
          <p:nvPr/>
        </p:nvGraphicFramePr>
        <p:xfrm>
          <a:off x="4158128" y="2372394"/>
          <a:ext cx="2448672" cy="1651498"/>
        </p:xfrm>
        <a:graphic>
          <a:graphicData uri="http://schemas.openxmlformats.org/presentationml/2006/ole">
            <mc:AlternateContent xmlns:mc="http://schemas.openxmlformats.org/markup-compatibility/2006">
              <mc:Choice xmlns:v="urn:schemas-microsoft-com:vml" Requires="v">
                <p:oleObj spid="_x0000_s28673" name="VISIO" r:id="rId1" imgW="3514725" imgH="2009775" progId="">
                  <p:embed/>
                </p:oleObj>
              </mc:Choice>
              <mc:Fallback>
                <p:oleObj name="VISIO" r:id="rId1" imgW="3514725" imgH="2009775" progId="">
                  <p:embed/>
                  <p:pic>
                    <p:nvPicPr>
                      <p:cNvPr id="0" name="图片 28672"/>
                      <p:cNvPicPr>
                        <a:picLocks noChangeAspect="1"/>
                      </p:cNvPicPr>
                      <p:nvPr/>
                    </p:nvPicPr>
                    <p:blipFill>
                      <a:blip r:embed="rId2"/>
                      <a:stretch>
                        <a:fillRect/>
                      </a:stretch>
                    </p:blipFill>
                    <p:spPr>
                      <a:xfrm>
                        <a:off x="4158128" y="2372394"/>
                        <a:ext cx="2448672" cy="1651498"/>
                      </a:xfrm>
                      <a:prstGeom prst="rect">
                        <a:avLst/>
                      </a:prstGeom>
                      <a:noFill/>
                      <a:ln w="9525">
                        <a:noFill/>
                      </a:ln>
                    </p:spPr>
                  </p:pic>
                </p:oleObj>
              </mc:Fallback>
            </mc:AlternateContent>
          </a:graphicData>
        </a:graphic>
      </p:graphicFrame>
      <p:sp>
        <p:nvSpPr>
          <p:cNvPr id="7" name="Rectangle 73"/>
          <p:cNvSpPr>
            <a:spLocks noChangeArrowheads="1"/>
          </p:cNvSpPr>
          <p:nvPr/>
        </p:nvSpPr>
        <p:spPr bwMode="auto">
          <a:xfrm>
            <a:off x="2673509" y="2181120"/>
            <a:ext cx="1394909" cy="534171"/>
          </a:xfrm>
          <a:prstGeom prst="rect">
            <a:avLst/>
          </a:prstGeom>
          <a:solidFill>
            <a:srgbClr val="00FFCC"/>
          </a:solidFill>
          <a:ln w="12700">
            <a:solidFill>
              <a:schemeClr val="tx1"/>
            </a:solidFill>
            <a:miter lim="800000"/>
          </a:ln>
          <a:effectLst/>
        </p:spPr>
        <p:txBody>
          <a:bodyPr wrap="none" anchor="ctr"/>
          <a:lstStyle/>
          <a:p>
            <a:pPr algn="ctr" eaLnBrk="1" hangingPunct="1"/>
            <a:r>
              <a:rPr kumimoji="1" lang="zh-CN" altLang="en-US" sz="1400" b="1" dirty="0">
                <a:latin typeface="微软雅黑" panose="020B0503020204020204" pitchFamily="34" charset="-122"/>
                <a:ea typeface="微软雅黑" panose="020B0503020204020204" pitchFamily="34" charset="-122"/>
              </a:rPr>
              <a:t>应用进程</a:t>
            </a:r>
            <a:endParaRPr kumimoji="1" lang="zh-CN" altLang="en-US" sz="1400" b="1" dirty="0">
              <a:latin typeface="微软雅黑" panose="020B0503020204020204" pitchFamily="34" charset="-122"/>
              <a:ea typeface="微软雅黑" panose="020B0503020204020204" pitchFamily="34" charset="-122"/>
            </a:endParaRPr>
          </a:p>
        </p:txBody>
      </p:sp>
      <p:sp>
        <p:nvSpPr>
          <p:cNvPr id="8" name="Rectangle 74"/>
          <p:cNvSpPr>
            <a:spLocks noChangeArrowheads="1"/>
          </p:cNvSpPr>
          <p:nvPr/>
        </p:nvSpPr>
        <p:spPr bwMode="auto">
          <a:xfrm>
            <a:off x="2673509" y="3058186"/>
            <a:ext cx="1394909" cy="825749"/>
          </a:xfrm>
          <a:prstGeom prst="rect">
            <a:avLst/>
          </a:prstGeom>
          <a:solidFill>
            <a:srgbClr val="0000FF"/>
          </a:solidFill>
          <a:ln w="12700">
            <a:solidFill>
              <a:schemeClr val="tx1"/>
            </a:solidFill>
            <a:miter lim="800000"/>
          </a:ln>
          <a:effectLst/>
        </p:spPr>
        <p:txBody>
          <a:bodyPr wrap="none" anchor="ctr"/>
          <a:lstStyle/>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r>
              <a:rPr kumimoji="1" lang="en-US" altLang="zh-CN" sz="1400" b="1">
                <a:solidFill>
                  <a:schemeClr val="bg1"/>
                </a:solidFill>
                <a:latin typeface="微软雅黑" panose="020B0503020204020204" pitchFamily="34" charset="-122"/>
                <a:ea typeface="微软雅黑" panose="020B0503020204020204" pitchFamily="34" charset="-122"/>
              </a:rPr>
              <a:t>TCP</a:t>
            </a: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9" name="Line 75"/>
          <p:cNvSpPr>
            <a:spLocks noChangeShapeType="1"/>
          </p:cNvSpPr>
          <p:nvPr/>
        </p:nvSpPr>
        <p:spPr bwMode="auto">
          <a:xfrm>
            <a:off x="4068418" y="3396417"/>
            <a:ext cx="2634408" cy="5831"/>
          </a:xfrm>
          <a:prstGeom prst="line">
            <a:avLst/>
          </a:prstGeom>
          <a:noFill/>
          <a:ln w="5715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103"/>
          <p:cNvSpPr txBox="1">
            <a:spLocks noChangeArrowheads="1"/>
          </p:cNvSpPr>
          <p:nvPr/>
        </p:nvSpPr>
        <p:spPr bwMode="auto">
          <a:xfrm>
            <a:off x="913053" y="1893040"/>
            <a:ext cx="1082348"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由应用程序</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控制</a:t>
            </a:r>
            <a:endParaRPr kumimoji="1" lang="zh-CN" altLang="en-US" sz="1400" b="1">
              <a:latin typeface="微软雅黑" panose="020B0503020204020204" pitchFamily="34" charset="-122"/>
              <a:ea typeface="微软雅黑" panose="020B0503020204020204" pitchFamily="34" charset="-122"/>
            </a:endParaRPr>
          </a:p>
        </p:txBody>
      </p:sp>
      <p:sp>
        <p:nvSpPr>
          <p:cNvPr id="38" name="Text Box 104"/>
          <p:cNvSpPr txBox="1">
            <a:spLocks noChangeArrowheads="1"/>
          </p:cNvSpPr>
          <p:nvPr/>
        </p:nvSpPr>
        <p:spPr bwMode="auto">
          <a:xfrm>
            <a:off x="5023984" y="2963388"/>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sp>
        <p:nvSpPr>
          <p:cNvPr id="39" name="Text Box 105"/>
          <p:cNvSpPr txBox="1">
            <a:spLocks noChangeArrowheads="1"/>
          </p:cNvSpPr>
          <p:nvPr/>
        </p:nvSpPr>
        <p:spPr bwMode="auto">
          <a:xfrm>
            <a:off x="913053" y="3108337"/>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由操作系统</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控制</a:t>
            </a:r>
            <a:endParaRPr kumimoji="1" lang="zh-CN" altLang="en-US" sz="1400" b="1">
              <a:latin typeface="微软雅黑" panose="020B0503020204020204" pitchFamily="34" charset="-122"/>
              <a:ea typeface="微软雅黑" panose="020B0503020204020204" pitchFamily="34" charset="-122"/>
            </a:endParaRPr>
          </a:p>
        </p:txBody>
      </p:sp>
      <p:sp>
        <p:nvSpPr>
          <p:cNvPr id="40" name="Text Box 106"/>
          <p:cNvSpPr txBox="1">
            <a:spLocks noChangeArrowheads="1"/>
          </p:cNvSpPr>
          <p:nvPr/>
        </p:nvSpPr>
        <p:spPr bwMode="auto">
          <a:xfrm>
            <a:off x="3119460" y="151165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客户</a:t>
            </a:r>
            <a:endParaRPr kumimoji="1" lang="zh-CN" altLang="en-US" sz="1400" b="1" dirty="0">
              <a:latin typeface="微软雅黑" panose="020B0503020204020204" pitchFamily="34" charset="-122"/>
              <a:ea typeface="微软雅黑" panose="020B0503020204020204" pitchFamily="34" charset="-122"/>
            </a:endParaRPr>
          </a:p>
        </p:txBody>
      </p:sp>
      <p:sp>
        <p:nvSpPr>
          <p:cNvPr id="41" name="Text Box 107"/>
          <p:cNvSpPr txBox="1">
            <a:spLocks noChangeArrowheads="1"/>
          </p:cNvSpPr>
          <p:nvPr/>
        </p:nvSpPr>
        <p:spPr bwMode="auto">
          <a:xfrm>
            <a:off x="7025253" y="120387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42" name="Rectangle 108"/>
          <p:cNvSpPr>
            <a:spLocks noChangeArrowheads="1"/>
          </p:cNvSpPr>
          <p:nvPr/>
        </p:nvSpPr>
        <p:spPr bwMode="auto">
          <a:xfrm>
            <a:off x="2996966" y="2675635"/>
            <a:ext cx="747995" cy="429203"/>
          </a:xfrm>
          <a:prstGeom prst="rect">
            <a:avLst/>
          </a:prstGeom>
          <a:solidFill>
            <a:srgbClr val="CC00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套接字</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43" name="Rectangle 109"/>
          <p:cNvSpPr>
            <a:spLocks noChangeArrowheads="1"/>
          </p:cNvSpPr>
          <p:nvPr/>
        </p:nvSpPr>
        <p:spPr bwMode="auto">
          <a:xfrm>
            <a:off x="6692718" y="3073347"/>
            <a:ext cx="1396172" cy="825749"/>
          </a:xfrm>
          <a:prstGeom prst="rect">
            <a:avLst/>
          </a:prstGeom>
          <a:solidFill>
            <a:srgbClr val="0000FF"/>
          </a:solidFill>
          <a:ln w="12700" algn="ctr">
            <a:solidFill>
              <a:schemeClr val="tx1"/>
            </a:solidFill>
            <a:miter lim="800000"/>
          </a:ln>
          <a:effectLst/>
        </p:spPr>
        <p:txBody>
          <a:bodyPr wrap="none" anchor="ctr"/>
          <a:lstStyle/>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r>
              <a:rPr kumimoji="1" lang="en-US" altLang="zh-CN" sz="1400" b="1">
                <a:solidFill>
                  <a:schemeClr val="bg1"/>
                </a:solidFill>
                <a:latin typeface="微软雅黑" panose="020B0503020204020204" pitchFamily="34" charset="-122"/>
                <a:ea typeface="微软雅黑" panose="020B0503020204020204" pitchFamily="34" charset="-122"/>
              </a:rPr>
              <a:t>TCP</a:t>
            </a: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44" name="Rectangle 110"/>
          <p:cNvSpPr>
            <a:spLocks noChangeArrowheads="1"/>
          </p:cNvSpPr>
          <p:nvPr/>
        </p:nvSpPr>
        <p:spPr bwMode="auto">
          <a:xfrm>
            <a:off x="6692718" y="2181120"/>
            <a:ext cx="1396172" cy="534171"/>
          </a:xfrm>
          <a:prstGeom prst="rect">
            <a:avLst/>
          </a:prstGeom>
          <a:solidFill>
            <a:srgbClr val="00FFCC"/>
          </a:solidFill>
          <a:ln w="12700" algn="ctr">
            <a:solidFill>
              <a:schemeClr val="tx1"/>
            </a:solidFill>
            <a:miter lim="800000"/>
          </a:ln>
          <a:effectLst/>
        </p:spPr>
        <p:txBody>
          <a:bodyPr wrap="none" anchor="ctr"/>
          <a:lstStyle/>
          <a:p>
            <a:pPr algn="ctr" eaLnBrk="1" hangingPunct="1"/>
            <a:r>
              <a:rPr kumimoji="1" lang="zh-CN" altLang="en-US" sz="1400" b="1">
                <a:latin typeface="微软雅黑" panose="020B0503020204020204" pitchFamily="34" charset="-122"/>
                <a:ea typeface="微软雅黑" panose="020B0503020204020204" pitchFamily="34" charset="-122"/>
              </a:rPr>
              <a:t>应用进程</a:t>
            </a:r>
            <a:endParaRPr kumimoji="1" lang="zh-CN" altLang="en-US" sz="1400" b="1">
              <a:latin typeface="微软雅黑" panose="020B0503020204020204" pitchFamily="34" charset="-122"/>
              <a:ea typeface="微软雅黑" panose="020B0503020204020204" pitchFamily="34" charset="-122"/>
            </a:endParaRPr>
          </a:p>
        </p:txBody>
      </p:sp>
      <p:sp>
        <p:nvSpPr>
          <p:cNvPr id="45" name="Rectangle 111"/>
          <p:cNvSpPr>
            <a:spLocks noChangeArrowheads="1"/>
          </p:cNvSpPr>
          <p:nvPr/>
        </p:nvSpPr>
        <p:spPr bwMode="auto">
          <a:xfrm>
            <a:off x="7017438" y="2675635"/>
            <a:ext cx="746731" cy="429203"/>
          </a:xfrm>
          <a:prstGeom prst="rect">
            <a:avLst/>
          </a:prstGeom>
          <a:solidFill>
            <a:srgbClr val="CC00CC"/>
          </a:solidFill>
          <a:ln w="2857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套接字</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73" name="Line 139"/>
          <p:cNvSpPr>
            <a:spLocks noChangeShapeType="1"/>
          </p:cNvSpPr>
          <p:nvPr/>
        </p:nvSpPr>
        <p:spPr bwMode="auto">
          <a:xfrm>
            <a:off x="933664" y="3073347"/>
            <a:ext cx="1790386" cy="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AutoShape 140"/>
          <p:cNvSpPr>
            <a:spLocks noChangeArrowheads="1"/>
          </p:cNvSpPr>
          <p:nvPr/>
        </p:nvSpPr>
        <p:spPr bwMode="auto">
          <a:xfrm flipV="1">
            <a:off x="1978582" y="3074514"/>
            <a:ext cx="373997" cy="889896"/>
          </a:xfrm>
          <a:prstGeom prst="upArrow">
            <a:avLst>
              <a:gd name="adj1" fmla="val 50000"/>
              <a:gd name="adj2" fmla="val 64443"/>
            </a:avLst>
          </a:prstGeom>
          <a:solidFill>
            <a:srgbClr val="0000FF"/>
          </a:solidFill>
          <a:ln w="12700" algn="ctr">
            <a:solidFill>
              <a:schemeClr val="tx1"/>
            </a:solidFill>
            <a:miter lim="800000"/>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Line 141"/>
          <p:cNvSpPr>
            <a:spLocks noChangeShapeType="1"/>
          </p:cNvSpPr>
          <p:nvPr/>
        </p:nvSpPr>
        <p:spPr bwMode="auto">
          <a:xfrm>
            <a:off x="933664" y="2667471"/>
            <a:ext cx="1715839" cy="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7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8017" y="1762850"/>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78" name="图片 7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082937" y="1480714"/>
            <a:ext cx="619871" cy="867819"/>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2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80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套接字的</a:t>
            </a:r>
            <a:r>
              <a:rPr lang="zh-CN" altLang="en-US" sz="2000" b="1" dirty="0" smtClean="0">
                <a:solidFill>
                  <a:schemeClr val="bg1"/>
                </a:solidFill>
                <a:latin typeface="微软雅黑" panose="020B0503020204020204" pitchFamily="34" charset="-122"/>
                <a:ea typeface="微软雅黑" panose="020B0503020204020204" pitchFamily="34" charset="-122"/>
              </a:rPr>
              <a:t>作用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244"/>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当应用进程需要使用网络进行通信时就发出系统调用，请求操作系统为其</a:t>
            </a:r>
            <a:r>
              <a:rPr lang="zh-CN" altLang="en-US" sz="2000" b="1" dirty="0" smtClean="0">
                <a:solidFill>
                  <a:srgbClr val="0000FF"/>
                </a:solidFill>
                <a:latin typeface="微软雅黑" panose="020B0503020204020204" pitchFamily="34" charset="-122"/>
                <a:ea typeface="微软雅黑" panose="020B0503020204020204" pitchFamily="34" charset="-122"/>
              </a:rPr>
              <a:t>创建</a:t>
            </a:r>
            <a:r>
              <a:rPr lang="zh-CN" altLang="en-US" sz="2000" b="1" dirty="0" smtClean="0">
                <a:solidFill>
                  <a:srgbClr val="C00000"/>
                </a:solidFill>
                <a:latin typeface="微软雅黑" panose="020B0503020204020204" pitchFamily="34" charset="-122"/>
                <a:ea typeface="微软雅黑" panose="020B0503020204020204" pitchFamily="34" charset="-122"/>
              </a:rPr>
              <a:t>套</a:t>
            </a:r>
            <a:r>
              <a:rPr lang="zh-CN" altLang="en-US" sz="2000" b="1" dirty="0">
                <a:solidFill>
                  <a:srgbClr val="C00000"/>
                </a:solidFill>
                <a:latin typeface="微软雅黑" panose="020B0503020204020204" pitchFamily="34" charset="-122"/>
                <a:ea typeface="微软雅黑" panose="020B0503020204020204" pitchFamily="34" charset="-122"/>
              </a:rPr>
              <a:t>接</a:t>
            </a:r>
            <a:r>
              <a:rPr lang="zh-CN" altLang="en-US" sz="2000" b="1" dirty="0" smtClean="0">
                <a:solidFill>
                  <a:srgbClr val="C00000"/>
                </a:solidFill>
                <a:latin typeface="微软雅黑" panose="020B0503020204020204" pitchFamily="34" charset="-122"/>
                <a:ea typeface="微软雅黑" panose="020B0503020204020204" pitchFamily="34" charset="-122"/>
              </a:rPr>
              <a:t>字</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以便把网络通信所需要的系统资源分配给该应用进程。</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操作系统为这些资源的总和用一</a:t>
            </a:r>
            <a:r>
              <a:rPr lang="zh-CN" altLang="en-US" sz="2000" b="1" dirty="0" smtClean="0">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套</a:t>
            </a:r>
            <a:r>
              <a:rPr lang="zh-CN" altLang="en-US" sz="2000" b="1" dirty="0">
                <a:solidFill>
                  <a:srgbClr val="C00000"/>
                </a:solidFill>
                <a:latin typeface="微软雅黑" panose="020B0503020204020204" pitchFamily="34" charset="-122"/>
                <a:ea typeface="微软雅黑" panose="020B0503020204020204" pitchFamily="34" charset="-122"/>
              </a:rPr>
              <a:t>接字描述符</a:t>
            </a:r>
            <a:r>
              <a:rPr lang="zh-CN" altLang="en-US" sz="2000" b="1" dirty="0">
                <a:latin typeface="微软雅黑" panose="020B0503020204020204" pitchFamily="34" charset="-122"/>
                <a:ea typeface="微软雅黑" panose="020B0503020204020204" pitchFamily="34" charset="-122"/>
              </a:rPr>
              <a:t>的号码来</a:t>
            </a:r>
            <a:r>
              <a:rPr lang="zh-CN" altLang="en-US" sz="2000" b="1" dirty="0" smtClean="0">
                <a:latin typeface="微软雅黑" panose="020B0503020204020204" pitchFamily="34" charset="-122"/>
                <a:ea typeface="微软雅黑" panose="020B0503020204020204" pitchFamily="34" charset="-122"/>
              </a:rPr>
              <a:t>表示。</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应用</a:t>
            </a:r>
            <a:r>
              <a:rPr lang="zh-CN" altLang="en-US" sz="2000" b="1" dirty="0">
                <a:latin typeface="微软雅黑" panose="020B0503020204020204" pitchFamily="34" charset="-122"/>
                <a:ea typeface="微软雅黑" panose="020B0503020204020204" pitchFamily="34" charset="-122"/>
              </a:rPr>
              <a:t>进程所进行的网络操作都必须使用这个套接字描述符。</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通信完毕后，应用进程通过一个</a:t>
            </a:r>
            <a:r>
              <a:rPr lang="zh-CN" altLang="en-US" sz="2000" b="1" dirty="0">
                <a:solidFill>
                  <a:srgbClr val="0000FF"/>
                </a:solidFill>
                <a:latin typeface="微软雅黑" panose="020B0503020204020204" pitchFamily="34" charset="-122"/>
                <a:ea typeface="微软雅黑" panose="020B0503020204020204" pitchFamily="34" charset="-122"/>
              </a:rPr>
              <a:t>关闭</a:t>
            </a:r>
            <a:r>
              <a:rPr lang="zh-CN" altLang="en-US" sz="2000" b="1" dirty="0">
                <a:latin typeface="微软雅黑" panose="020B0503020204020204" pitchFamily="34" charset="-122"/>
                <a:ea typeface="微软雅黑" panose="020B0503020204020204" pitchFamily="34" charset="-122"/>
              </a:rPr>
              <a:t>套接字的系统调用通知操作系统回收与该套接字描述符相关的所有资源。</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060358" y="582898"/>
            <a:ext cx="30419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调用 </a:t>
            </a:r>
            <a:r>
              <a:rPr lang="en-US" altLang="zh-CN" sz="2000" b="1" dirty="0">
                <a:solidFill>
                  <a:schemeClr val="bg1"/>
                </a:solidFill>
                <a:latin typeface="微软雅黑" panose="020B0503020204020204" pitchFamily="34" charset="-122"/>
                <a:ea typeface="微软雅黑" panose="020B0503020204020204" pitchFamily="34" charset="-122"/>
              </a:rPr>
              <a:t>socket </a:t>
            </a:r>
            <a:r>
              <a:rPr lang="zh-CN" altLang="en-US" sz="2000" b="1" dirty="0">
                <a:solidFill>
                  <a:schemeClr val="bg1"/>
                </a:solidFill>
                <a:latin typeface="微软雅黑" panose="020B0503020204020204" pitchFamily="34" charset="-122"/>
                <a:ea typeface="微软雅黑" panose="020B0503020204020204" pitchFamily="34" charset="-122"/>
              </a:rPr>
              <a:t>创建套接</a:t>
            </a:r>
            <a:r>
              <a:rPr lang="zh-CN" altLang="en-US" sz="2000" b="1" dirty="0" smtClean="0">
                <a:solidFill>
                  <a:schemeClr val="bg1"/>
                </a:solidFill>
                <a:latin typeface="微软雅黑" panose="020B0503020204020204" pitchFamily="34" charset="-122"/>
                <a:ea typeface="微软雅黑" panose="020B0503020204020204" pitchFamily="34" charset="-122"/>
              </a:rPr>
              <a:t>字</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4"/>
          <p:cNvSpPr>
            <a:spLocks noChangeArrowheads="1"/>
          </p:cNvSpPr>
          <p:nvPr/>
        </p:nvSpPr>
        <p:spPr bwMode="auto">
          <a:xfrm>
            <a:off x="1835081" y="1837418"/>
            <a:ext cx="1979702" cy="2055845"/>
          </a:xfrm>
          <a:prstGeom prst="rect">
            <a:avLst/>
          </a:prstGeom>
          <a:solidFill>
            <a:srgbClr val="99FFCC"/>
          </a:solidFill>
          <a:ln w="19050">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Text Box 5"/>
          <p:cNvSpPr txBox="1">
            <a:spLocks noChangeArrowheads="1"/>
          </p:cNvSpPr>
          <p:nvPr/>
        </p:nvSpPr>
        <p:spPr bwMode="auto">
          <a:xfrm>
            <a:off x="1792263" y="1385976"/>
            <a:ext cx="2031325"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套接字描述符表</a:t>
            </a:r>
            <a:endParaRPr lang="zh-CN" altLang="en-US" sz="12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（每一个进程一个描述符）</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1835081" y="2123222"/>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 name="Line 7"/>
          <p:cNvSpPr>
            <a:spLocks noChangeShapeType="1"/>
          </p:cNvSpPr>
          <p:nvPr/>
        </p:nvSpPr>
        <p:spPr bwMode="auto">
          <a:xfrm>
            <a:off x="1835081" y="240902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 name="Line 8"/>
          <p:cNvSpPr>
            <a:spLocks noChangeShapeType="1"/>
          </p:cNvSpPr>
          <p:nvPr/>
        </p:nvSpPr>
        <p:spPr bwMode="auto">
          <a:xfrm>
            <a:off x="1835081" y="2694831"/>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 name="Line 9"/>
          <p:cNvSpPr>
            <a:spLocks noChangeShapeType="1"/>
          </p:cNvSpPr>
          <p:nvPr/>
        </p:nvSpPr>
        <p:spPr bwMode="auto">
          <a:xfrm>
            <a:off x="1835081" y="298063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 name="Line 10"/>
          <p:cNvSpPr>
            <a:spLocks noChangeShapeType="1"/>
          </p:cNvSpPr>
          <p:nvPr/>
        </p:nvSpPr>
        <p:spPr bwMode="auto">
          <a:xfrm>
            <a:off x="1835081" y="3266440"/>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1433840" y="1813330"/>
            <a:ext cx="474810" cy="146540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30000"/>
              </a:lnSpc>
            </a:pPr>
            <a:r>
              <a:rPr lang="en-US" altLang="zh-CN" sz="1400" b="1" dirty="0">
                <a:latin typeface="微软雅黑" panose="020B0503020204020204" pitchFamily="34" charset="-122"/>
                <a:ea typeface="微软雅黑" panose="020B0503020204020204" pitchFamily="34" charset="-122"/>
              </a:rPr>
              <a:t>0</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1</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2</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3</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4</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5" name="Rectangle 15"/>
          <p:cNvSpPr>
            <a:spLocks noChangeArrowheads="1"/>
          </p:cNvSpPr>
          <p:nvPr/>
        </p:nvSpPr>
        <p:spPr bwMode="auto">
          <a:xfrm>
            <a:off x="5454370" y="1837417"/>
            <a:ext cx="1979702" cy="2399027"/>
          </a:xfrm>
          <a:prstGeom prst="rect">
            <a:avLst/>
          </a:prstGeom>
          <a:solidFill>
            <a:srgbClr val="00CCFF"/>
          </a:solidFill>
          <a:ln w="19050">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 name="Rectangle 16"/>
          <p:cNvSpPr>
            <a:spLocks noChangeArrowheads="1"/>
          </p:cNvSpPr>
          <p:nvPr/>
        </p:nvSpPr>
        <p:spPr bwMode="auto">
          <a:xfrm>
            <a:off x="5461407" y="2409027"/>
            <a:ext cx="1970320" cy="1136723"/>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Line 17"/>
          <p:cNvSpPr>
            <a:spLocks noChangeShapeType="1"/>
          </p:cNvSpPr>
          <p:nvPr/>
        </p:nvSpPr>
        <p:spPr bwMode="auto">
          <a:xfrm>
            <a:off x="5454370" y="2123222"/>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18"/>
          <p:cNvSpPr>
            <a:spLocks noChangeShapeType="1"/>
          </p:cNvSpPr>
          <p:nvPr/>
        </p:nvSpPr>
        <p:spPr bwMode="auto">
          <a:xfrm>
            <a:off x="5454370" y="240902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9"/>
          <p:cNvSpPr>
            <a:spLocks noChangeShapeType="1"/>
          </p:cNvSpPr>
          <p:nvPr/>
        </p:nvSpPr>
        <p:spPr bwMode="auto">
          <a:xfrm>
            <a:off x="5454370" y="2694831"/>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20"/>
          <p:cNvSpPr>
            <a:spLocks noChangeShapeType="1"/>
          </p:cNvSpPr>
          <p:nvPr/>
        </p:nvSpPr>
        <p:spPr bwMode="auto">
          <a:xfrm>
            <a:off x="5454370" y="298063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5454370" y="3266440"/>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2"/>
          <p:cNvSpPr>
            <a:spLocks noChangeShapeType="1"/>
          </p:cNvSpPr>
          <p:nvPr/>
        </p:nvSpPr>
        <p:spPr bwMode="auto">
          <a:xfrm>
            <a:off x="5454370" y="3551163"/>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 name="组合 40"/>
          <p:cNvGrpSpPr/>
          <p:nvPr/>
        </p:nvGrpSpPr>
        <p:grpSpPr>
          <a:xfrm>
            <a:off x="2797956" y="1985733"/>
            <a:ext cx="1406182" cy="863909"/>
            <a:chOff x="2797956" y="2003489"/>
            <a:chExt cx="1243178" cy="863909"/>
          </a:xfrm>
        </p:grpSpPr>
        <p:sp>
          <p:nvSpPr>
            <p:cNvPr id="13" name="Line 13"/>
            <p:cNvSpPr>
              <a:spLocks noChangeShapeType="1"/>
            </p:cNvSpPr>
            <p:nvPr/>
          </p:nvSpPr>
          <p:spPr bwMode="auto">
            <a:xfrm>
              <a:off x="2797956" y="2003489"/>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4"/>
            <p:cNvSpPr>
              <a:spLocks noChangeShapeType="1"/>
            </p:cNvSpPr>
            <p:nvPr/>
          </p:nvSpPr>
          <p:spPr bwMode="auto">
            <a:xfrm>
              <a:off x="2797956" y="2290376"/>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7"/>
            <p:cNvSpPr>
              <a:spLocks noChangeShapeType="1"/>
            </p:cNvSpPr>
            <p:nvPr/>
          </p:nvSpPr>
          <p:spPr bwMode="auto">
            <a:xfrm>
              <a:off x="2797956" y="2579428"/>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2797956" y="2867398"/>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 name="Text Box 33"/>
          <p:cNvSpPr txBox="1">
            <a:spLocks noChangeArrowheads="1"/>
          </p:cNvSpPr>
          <p:nvPr/>
        </p:nvSpPr>
        <p:spPr bwMode="auto">
          <a:xfrm>
            <a:off x="4027352" y="1150664"/>
            <a:ext cx="1107997"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800" b="1" dirty="0">
                <a:latin typeface="微软雅黑" panose="020B0503020204020204" pitchFamily="34" charset="-122"/>
                <a:ea typeface="微软雅黑" panose="020B0503020204020204" pitchFamily="34" charset="-122"/>
              </a:rPr>
              <a:t>操作系统</a:t>
            </a:r>
            <a:endParaRPr lang="zh-CN" altLang="en-US" sz="1800" b="1" dirty="0">
              <a:latin typeface="微软雅黑" panose="020B0503020204020204" pitchFamily="34" charset="-122"/>
              <a:ea typeface="微软雅黑" panose="020B0503020204020204" pitchFamily="34" charset="-122"/>
            </a:endParaRPr>
          </a:p>
        </p:txBody>
      </p:sp>
      <p:sp>
        <p:nvSpPr>
          <p:cNvPr id="30" name="Text Box 34"/>
          <p:cNvSpPr txBox="1">
            <a:spLocks noChangeArrowheads="1"/>
          </p:cNvSpPr>
          <p:nvPr/>
        </p:nvSpPr>
        <p:spPr bwMode="auto">
          <a:xfrm>
            <a:off x="5710405" y="1533209"/>
            <a:ext cx="1415772"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套接字的数据结构</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1" name="Text Box 35"/>
          <p:cNvSpPr txBox="1">
            <a:spLocks noChangeArrowheads="1"/>
          </p:cNvSpPr>
          <p:nvPr/>
        </p:nvSpPr>
        <p:spPr bwMode="auto">
          <a:xfrm>
            <a:off x="5507340" y="1849327"/>
            <a:ext cx="1423403"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协议族：</a:t>
            </a:r>
            <a:r>
              <a:rPr lang="en-US" altLang="zh-CN" sz="1200" b="1">
                <a:latin typeface="微软雅黑" panose="020B0503020204020204" pitchFamily="34" charset="-122"/>
                <a:ea typeface="微软雅黑" panose="020B0503020204020204" pitchFamily="34" charset="-122"/>
              </a:rPr>
              <a:t>PF_INET</a:t>
            </a:r>
            <a:endParaRPr lang="en-US" altLang="zh-CN" sz="1200" b="1">
              <a:latin typeface="微软雅黑" panose="020B0503020204020204" pitchFamily="34" charset="-122"/>
              <a:ea typeface="微软雅黑" panose="020B0503020204020204" pitchFamily="34" charset="-122"/>
            </a:endParaRPr>
          </a:p>
        </p:txBody>
      </p:sp>
      <p:sp>
        <p:nvSpPr>
          <p:cNvPr id="32" name="Text Box 36"/>
          <p:cNvSpPr txBox="1">
            <a:spLocks noChangeArrowheads="1"/>
          </p:cNvSpPr>
          <p:nvPr/>
        </p:nvSpPr>
        <p:spPr bwMode="auto">
          <a:xfrm>
            <a:off x="5534616" y="2128635"/>
            <a:ext cx="1807481"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服务：</a:t>
            </a:r>
            <a:r>
              <a:rPr lang="en-US" altLang="zh-CN" sz="1200" b="1">
                <a:latin typeface="微软雅黑" panose="020B0503020204020204" pitchFamily="34" charset="-122"/>
                <a:ea typeface="微软雅黑" panose="020B0503020204020204" pitchFamily="34" charset="-122"/>
              </a:rPr>
              <a:t>SOCK_STREAM</a:t>
            </a:r>
            <a:endParaRPr lang="en-US" altLang="zh-CN" sz="1200" b="1">
              <a:latin typeface="微软雅黑" panose="020B0503020204020204" pitchFamily="34" charset="-122"/>
              <a:ea typeface="微软雅黑" panose="020B0503020204020204" pitchFamily="34" charset="-122"/>
            </a:endParaRPr>
          </a:p>
        </p:txBody>
      </p:sp>
      <p:sp>
        <p:nvSpPr>
          <p:cNvPr id="33" name="Text Box 37"/>
          <p:cNvSpPr txBox="1">
            <a:spLocks noChangeArrowheads="1"/>
          </p:cNvSpPr>
          <p:nvPr/>
        </p:nvSpPr>
        <p:spPr bwMode="auto">
          <a:xfrm>
            <a:off x="5539205" y="240794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本地 </a:t>
            </a:r>
            <a:r>
              <a:rPr lang="en-US" altLang="zh-CN" sz="1200" b="1" dirty="0">
                <a:latin typeface="微软雅黑" panose="020B0503020204020204" pitchFamily="34" charset="-122"/>
                <a:ea typeface="微软雅黑" panose="020B0503020204020204" pitchFamily="34" charset="-122"/>
              </a:rPr>
              <a:t>IP </a:t>
            </a:r>
            <a:r>
              <a:rPr lang="zh-CN" altLang="en-US" sz="1200" b="1" dirty="0">
                <a:latin typeface="微软雅黑" panose="020B0503020204020204" pitchFamily="34" charset="-122"/>
                <a:ea typeface="微软雅黑" panose="020B0503020204020204" pitchFamily="34" charset="-122"/>
              </a:rPr>
              <a:t>地址：</a:t>
            </a:r>
            <a:endParaRPr lang="zh-CN" altLang="en-US" sz="1200" b="1" dirty="0">
              <a:latin typeface="微软雅黑" panose="020B0503020204020204" pitchFamily="34" charset="-122"/>
              <a:ea typeface="微软雅黑" panose="020B0503020204020204" pitchFamily="34" charset="-122"/>
            </a:endParaRPr>
          </a:p>
        </p:txBody>
      </p:sp>
      <p:sp>
        <p:nvSpPr>
          <p:cNvPr id="34" name="Text Box 38"/>
          <p:cNvSpPr txBox="1">
            <a:spLocks noChangeArrowheads="1"/>
          </p:cNvSpPr>
          <p:nvPr/>
        </p:nvSpPr>
        <p:spPr bwMode="auto">
          <a:xfrm>
            <a:off x="5539205" y="268725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远地 </a:t>
            </a:r>
            <a:r>
              <a:rPr lang="en-US" altLang="zh-CN" sz="1200" b="1">
                <a:latin typeface="微软雅黑" panose="020B0503020204020204" pitchFamily="34" charset="-122"/>
                <a:ea typeface="微软雅黑" panose="020B0503020204020204" pitchFamily="34" charset="-122"/>
              </a:rPr>
              <a:t>IP </a:t>
            </a:r>
            <a:r>
              <a:rPr lang="zh-CN" altLang="en-US" sz="1200" b="1">
                <a:latin typeface="微软雅黑" panose="020B0503020204020204" pitchFamily="34" charset="-122"/>
                <a:ea typeface="微软雅黑" panose="020B0503020204020204" pitchFamily="34" charset="-122"/>
              </a:rPr>
              <a:t>地址：</a:t>
            </a:r>
            <a:endParaRPr lang="zh-CN" altLang="en-US" sz="1200" b="1">
              <a:latin typeface="微软雅黑" panose="020B0503020204020204" pitchFamily="34" charset="-122"/>
              <a:ea typeface="微软雅黑" panose="020B0503020204020204" pitchFamily="34" charset="-122"/>
            </a:endParaRPr>
          </a:p>
        </p:txBody>
      </p:sp>
      <p:sp>
        <p:nvSpPr>
          <p:cNvPr id="35" name="Text Box 39"/>
          <p:cNvSpPr txBox="1">
            <a:spLocks noChangeArrowheads="1"/>
          </p:cNvSpPr>
          <p:nvPr/>
        </p:nvSpPr>
        <p:spPr bwMode="auto">
          <a:xfrm>
            <a:off x="5539205" y="2965480"/>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本地端口：</a:t>
            </a:r>
            <a:endParaRPr lang="zh-CN" altLang="en-US" sz="1200" b="1">
              <a:latin typeface="微软雅黑" panose="020B0503020204020204" pitchFamily="34" charset="-122"/>
              <a:ea typeface="微软雅黑" panose="020B0503020204020204" pitchFamily="34" charset="-122"/>
            </a:endParaRPr>
          </a:p>
        </p:txBody>
      </p:sp>
      <p:sp>
        <p:nvSpPr>
          <p:cNvPr id="36" name="Text Box 40"/>
          <p:cNvSpPr txBox="1">
            <a:spLocks noChangeArrowheads="1"/>
          </p:cNvSpPr>
          <p:nvPr/>
        </p:nvSpPr>
        <p:spPr bwMode="auto">
          <a:xfrm>
            <a:off x="5539205" y="3246954"/>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远地端口：</a:t>
            </a:r>
            <a:endParaRPr lang="zh-CN" altLang="en-US" sz="1200" b="1">
              <a:latin typeface="微软雅黑" panose="020B0503020204020204" pitchFamily="34" charset="-122"/>
              <a:ea typeface="微软雅黑" panose="020B0503020204020204" pitchFamily="34" charset="-122"/>
            </a:endParaRPr>
          </a:p>
        </p:txBody>
      </p:sp>
      <p:sp>
        <p:nvSpPr>
          <p:cNvPr id="37" name="Text Box 41"/>
          <p:cNvSpPr txBox="1">
            <a:spLocks noChangeArrowheads="1"/>
          </p:cNvSpPr>
          <p:nvPr/>
        </p:nvSpPr>
        <p:spPr bwMode="auto">
          <a:xfrm rot="5400000">
            <a:off x="2645580" y="33179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2400" b="1" dirty="0">
                <a:latin typeface="微软雅黑" panose="020B0503020204020204" pitchFamily="34" charset="-122"/>
                <a:ea typeface="微软雅黑" panose="020B0503020204020204" pitchFamily="34" charset="-122"/>
                <a:sym typeface="Symbol" panose="05050102010706020507" pitchFamily="18" charset="2"/>
              </a:rPr>
              <a:t></a:t>
            </a:r>
            <a:endParaRPr lang="en-US" altLang="zh-CN" sz="2400" b="1" dirty="0">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42"/>
          <p:cNvSpPr txBox="1">
            <a:spLocks noChangeArrowheads="1"/>
          </p:cNvSpPr>
          <p:nvPr/>
        </p:nvSpPr>
        <p:spPr bwMode="auto">
          <a:xfrm rot="5400000">
            <a:off x="6319991" y="36600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2400" b="1">
                <a:latin typeface="微软雅黑" panose="020B0503020204020204" pitchFamily="34" charset="-122"/>
                <a:ea typeface="微软雅黑" panose="020B0503020204020204" pitchFamily="34" charset="-122"/>
                <a:sym typeface="Symbol" panose="05050102010706020507" pitchFamily="18" charset="2"/>
              </a:rPr>
              <a:t></a:t>
            </a:r>
            <a:endParaRPr lang="en-US" altLang="zh-CN" sz="2400" b="1">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Freeform 43"/>
          <p:cNvSpPr/>
          <p:nvPr/>
        </p:nvSpPr>
        <p:spPr bwMode="auto">
          <a:xfrm>
            <a:off x="2797957" y="1984650"/>
            <a:ext cx="2658759" cy="1151879"/>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Oval 14"/>
          <p:cNvSpPr>
            <a:spLocks noChangeArrowheads="1"/>
          </p:cNvSpPr>
          <p:nvPr/>
        </p:nvSpPr>
        <p:spPr bwMode="auto">
          <a:xfrm>
            <a:off x="2747526" y="1925108"/>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Oval 25"/>
          <p:cNvSpPr>
            <a:spLocks noChangeArrowheads="1"/>
          </p:cNvSpPr>
          <p:nvPr/>
        </p:nvSpPr>
        <p:spPr bwMode="auto">
          <a:xfrm>
            <a:off x="2747526" y="2213077"/>
            <a:ext cx="112590" cy="112590"/>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Oval 28"/>
          <p:cNvSpPr>
            <a:spLocks noChangeArrowheads="1"/>
          </p:cNvSpPr>
          <p:nvPr/>
        </p:nvSpPr>
        <p:spPr bwMode="auto">
          <a:xfrm>
            <a:off x="2747526" y="2501047"/>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 name="Oval 31"/>
          <p:cNvSpPr>
            <a:spLocks noChangeArrowheads="1"/>
          </p:cNvSpPr>
          <p:nvPr/>
        </p:nvSpPr>
        <p:spPr bwMode="auto">
          <a:xfrm>
            <a:off x="2747526" y="2789018"/>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Oval 44"/>
          <p:cNvSpPr>
            <a:spLocks noChangeArrowheads="1"/>
          </p:cNvSpPr>
          <p:nvPr/>
        </p:nvSpPr>
        <p:spPr bwMode="auto">
          <a:xfrm>
            <a:off x="2747526" y="3056417"/>
            <a:ext cx="112590" cy="113673"/>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11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70840"/>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6.8.2  </a:t>
            </a:r>
            <a:r>
              <a:rPr lang="zh-CN" altLang="en-US" sz="2400" b="1" dirty="0">
                <a:solidFill>
                  <a:schemeClr val="bg1"/>
                </a:solidFill>
                <a:latin typeface="微软雅黑" panose="020B0503020204020204" pitchFamily="34" charset="-122"/>
                <a:ea typeface="微软雅黑" panose="020B0503020204020204" pitchFamily="34" charset="-122"/>
              </a:rPr>
              <a:t>几种常用的系统</a:t>
            </a:r>
            <a:r>
              <a:rPr lang="zh-CN" altLang="en-US" sz="2400" b="1" dirty="0" smtClean="0">
                <a:solidFill>
                  <a:schemeClr val="bg1"/>
                </a:solidFill>
                <a:latin typeface="微软雅黑" panose="020B0503020204020204" pitchFamily="34" charset="-122"/>
                <a:ea typeface="微软雅黑" panose="020B0503020204020204" pitchFamily="34" charset="-122"/>
              </a:rPr>
              <a:t>调用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7380" y="1009867"/>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当应用进程需要使用网络进行通信</a:t>
            </a:r>
            <a:r>
              <a:rPr lang="zh-CN" altLang="en-US" sz="2000" b="1" dirty="0" smtClean="0">
                <a:latin typeface="微软雅黑" panose="020B0503020204020204" pitchFamily="34" charset="-122"/>
                <a:ea typeface="微软雅黑" panose="020B0503020204020204" pitchFamily="34" charset="-122"/>
              </a:rPr>
              <a:t>时，就</a:t>
            </a:r>
            <a:r>
              <a:rPr lang="zh-CN" altLang="en-US" sz="2000" b="1" dirty="0">
                <a:latin typeface="微软雅黑" panose="020B0503020204020204" pitchFamily="34" charset="-122"/>
                <a:ea typeface="微软雅黑" panose="020B0503020204020204" pitchFamily="34" charset="-122"/>
              </a:rPr>
              <a:t>发出系统</a:t>
            </a:r>
            <a:r>
              <a:rPr lang="zh-CN" altLang="en-US" sz="2000" b="1" dirty="0" smtClean="0">
                <a:latin typeface="微软雅黑" panose="020B0503020204020204" pitchFamily="34" charset="-122"/>
                <a:ea typeface="微软雅黑" panose="020B0503020204020204" pitchFamily="34" charset="-122"/>
              </a:rPr>
              <a:t>调用。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TCP/IP</a:t>
            </a:r>
            <a:r>
              <a:rPr lang="zh-CN" altLang="en-US" sz="2000" b="1" dirty="0" smtClean="0">
                <a:latin typeface="微软雅黑" panose="020B0503020204020204" pitchFamily="34" charset="-122"/>
                <a:ea typeface="微软雅黑" panose="020B0503020204020204" pitchFamily="34" charset="-122"/>
              </a:rPr>
              <a:t> 应用</a:t>
            </a:r>
            <a:r>
              <a:rPr lang="zh-CN" altLang="en-US" sz="2000" b="1" dirty="0">
                <a:latin typeface="微软雅黑" panose="020B0503020204020204" pitchFamily="34" charset="-122"/>
                <a:ea typeface="微软雅黑" panose="020B0503020204020204" pitchFamily="34" charset="-122"/>
              </a:rPr>
              <a:t>编程</a:t>
            </a:r>
            <a:r>
              <a:rPr lang="zh-CN" altLang="en-US" sz="2000" b="1" dirty="0" smtClean="0">
                <a:latin typeface="微软雅黑" panose="020B0503020204020204" pitchFamily="34" charset="-122"/>
                <a:ea typeface="微软雅黑" panose="020B0503020204020204" pitchFamily="34" charset="-122"/>
              </a:rPr>
              <a:t>接口 </a:t>
            </a:r>
            <a:r>
              <a:rPr lang="en-US" altLang="zh-CN" sz="2000" b="1" dirty="0" smtClean="0">
                <a:latin typeface="微软雅黑" panose="020B0503020204020204" pitchFamily="34" charset="-122"/>
                <a:ea typeface="微软雅黑" panose="020B0503020204020204" pitchFamily="34" charset="-122"/>
              </a:rPr>
              <a:t>API</a:t>
            </a:r>
            <a:r>
              <a:rPr lang="zh-CN" altLang="en-US" sz="2000" b="1" dirty="0" smtClean="0">
                <a:latin typeface="微软雅黑" panose="020B0503020204020204" pitchFamily="34" charset="-122"/>
                <a:ea typeface="微软雅黑" panose="020B0503020204020204" pitchFamily="34" charset="-122"/>
              </a:rPr>
              <a:t>，就</a:t>
            </a:r>
            <a:r>
              <a:rPr lang="zh-CN" altLang="en-US" sz="2000" b="1" dirty="0">
                <a:latin typeface="微软雅黑" panose="020B0503020204020204" pitchFamily="34" charset="-122"/>
                <a:ea typeface="微软雅黑" panose="020B0503020204020204" pitchFamily="34" charset="-122"/>
              </a:rPr>
              <a:t>可以</a:t>
            </a:r>
            <a:r>
              <a:rPr lang="zh-CN" altLang="en-US" sz="2000" b="1" dirty="0" smtClean="0">
                <a:latin typeface="微软雅黑" panose="020B0503020204020204" pitchFamily="34" charset="-122"/>
                <a:ea typeface="微软雅黑" panose="020B0503020204020204" pitchFamily="34" charset="-122"/>
              </a:rPr>
              <a:t>编写基于互联网的网络</a:t>
            </a:r>
            <a:r>
              <a:rPr lang="zh-CN" altLang="en-US" sz="2000" b="1" dirty="0">
                <a:latin typeface="微软雅黑" panose="020B0503020204020204" pitchFamily="34" charset="-122"/>
                <a:ea typeface="微软雅黑" panose="020B0503020204020204" pitchFamily="34" charset="-122"/>
              </a:rPr>
              <a:t>应用程序了</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调用 </a:t>
            </a:r>
            <a:r>
              <a:rPr lang="en-US" altLang="zh-CN" sz="2000" b="1" dirty="0" smtClean="0">
                <a:latin typeface="微软雅黑" panose="020B0503020204020204" pitchFamily="34" charset="-122"/>
                <a:ea typeface="微软雅黑" panose="020B0503020204020204" pitchFamily="34" charset="-122"/>
              </a:rPr>
              <a:t>API </a:t>
            </a:r>
            <a:r>
              <a:rPr lang="zh-CN" altLang="en-US" sz="2000" b="1" dirty="0" smtClean="0">
                <a:latin typeface="微软雅黑" panose="020B0503020204020204" pitchFamily="34" charset="-122"/>
                <a:ea typeface="微软雅黑" panose="020B0503020204020204" pitchFamily="34" charset="-122"/>
              </a:rPr>
              <a:t>时</a:t>
            </a:r>
            <a:r>
              <a:rPr lang="zh-CN" altLang="en-US" sz="2000" b="1" dirty="0">
                <a:latin typeface="微软雅黑" panose="020B0503020204020204" pitchFamily="34" charset="-122"/>
                <a:ea typeface="微软雅黑" panose="020B0503020204020204" pitchFamily="34" charset="-122"/>
              </a:rPr>
              <a:t>，用户可以</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，也可以</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等</a:t>
            </a:r>
            <a:r>
              <a:rPr lang="zh-CN" altLang="en-US" sz="2000" b="1" dirty="0">
                <a:latin typeface="微软雅黑" panose="020B0503020204020204" pitchFamily="34" charset="-122"/>
                <a:ea typeface="微软雅黑" panose="020B0503020204020204" pitchFamily="34" charset="-122"/>
              </a:rPr>
              <a:t>其他服务</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86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62719"/>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6.8.2  </a:t>
            </a:r>
            <a:r>
              <a:rPr lang="zh-CN" altLang="en-US" sz="2400" b="1" dirty="0">
                <a:solidFill>
                  <a:schemeClr val="bg1"/>
                </a:solidFill>
                <a:latin typeface="微软雅黑" panose="020B0503020204020204" pitchFamily="34" charset="-122"/>
                <a:ea typeface="微软雅黑" panose="020B0503020204020204" pitchFamily="34" charset="-122"/>
              </a:rPr>
              <a:t>几种常用的系统</a:t>
            </a:r>
            <a:r>
              <a:rPr lang="zh-CN" altLang="en-US" sz="2400" b="1" dirty="0" smtClean="0">
                <a:solidFill>
                  <a:schemeClr val="bg1"/>
                </a:solidFill>
                <a:latin typeface="微软雅黑" panose="020B0503020204020204" pitchFamily="34" charset="-122"/>
                <a:ea typeface="微软雅黑" panose="020B0503020204020204" pitchFamily="34" charset="-122"/>
              </a:rPr>
              <a:t>调用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7380" y="1010624"/>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solidFill>
                  <a:srgbClr val="C00000"/>
                </a:solidFill>
                <a:latin typeface="微软雅黑" panose="020B0503020204020204" pitchFamily="34" charset="-122"/>
                <a:ea typeface="微软雅黑" panose="020B0503020204020204" pitchFamily="34" charset="-122"/>
              </a:rPr>
              <a:t>面向连接</a:t>
            </a:r>
            <a:r>
              <a:rPr lang="zh-CN" altLang="en-US" sz="2000" b="1" dirty="0">
                <a:latin typeface="微软雅黑" panose="020B0503020204020204" pitchFamily="34" charset="-122"/>
                <a:ea typeface="微软雅黑" panose="020B0503020204020204" pitchFamily="34" charset="-122"/>
              </a:rPr>
              <a:t>的服务。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需要</a:t>
            </a:r>
            <a:r>
              <a:rPr lang="zh-CN" altLang="en-US" sz="2000" b="1" dirty="0" smtClean="0">
                <a:latin typeface="微软雅黑" panose="020B0503020204020204" pitchFamily="34" charset="-122"/>
                <a:ea typeface="微软雅黑" panose="020B0503020204020204" pitchFamily="34" charset="-122"/>
              </a:rPr>
              <a:t>经历 </a:t>
            </a:r>
            <a:r>
              <a:rPr lang="en-US" altLang="zh-CN" sz="2000" b="1" dirty="0" smtClean="0">
                <a:solidFill>
                  <a:srgbClr val="C00000"/>
                </a:solidFill>
                <a:latin typeface="微软雅黑" panose="020B0503020204020204" pitchFamily="34" charset="-122"/>
                <a:ea typeface="微软雅黑" panose="020B0503020204020204" pitchFamily="34" charset="-122"/>
              </a:rPr>
              <a:t>3 </a:t>
            </a:r>
            <a:r>
              <a:rPr lang="zh-CN" altLang="en-US" sz="2000" b="1" dirty="0" smtClean="0">
                <a:solidFill>
                  <a:srgbClr val="C00000"/>
                </a:solidFill>
                <a:latin typeface="微软雅黑" panose="020B0503020204020204" pitchFamily="34" charset="-122"/>
                <a:ea typeface="微软雅黑" panose="020B0503020204020204" pitchFamily="34" charset="-122"/>
              </a:rPr>
              <a:t>个</a:t>
            </a:r>
            <a:r>
              <a:rPr lang="zh-CN" altLang="en-US" sz="2000" b="1" dirty="0">
                <a:solidFill>
                  <a:srgbClr val="C00000"/>
                </a:solidFill>
                <a:latin typeface="微软雅黑" panose="020B0503020204020204" pitchFamily="34" charset="-122"/>
                <a:ea typeface="微软雅黑" panose="020B0503020204020204" pitchFamily="34" charset="-122"/>
              </a:rPr>
              <a:t>阶段：</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连接建立</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数据传送</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和 连接释放</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socket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listen</a:t>
            </a:r>
            <a:endParaRPr lang="en-US" altLang="zh-CN" sz="1400" b="1">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socket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52" name="组合 51"/>
          <p:cNvGrpSpPr/>
          <p:nvPr/>
        </p:nvGrpSpPr>
        <p:grpSpPr>
          <a:xfrm>
            <a:off x="2441293" y="1366814"/>
            <a:ext cx="2903178" cy="905585"/>
            <a:chOff x="2492362" y="1366814"/>
            <a:chExt cx="2903178" cy="905585"/>
          </a:xfrm>
        </p:grpSpPr>
        <p:cxnSp>
          <p:nvCxnSpPr>
            <p:cNvPr id="37" name="直接箭头连接符 36"/>
            <p:cNvCxnSpPr/>
            <p:nvPr/>
          </p:nvCxnSpPr>
          <p:spPr>
            <a:xfrm flipH="1">
              <a:off x="3102390" y="1936773"/>
              <a:ext cx="270776" cy="3356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3" idx="3"/>
            </p:cNvCxnSpPr>
            <p:nvPr/>
          </p:nvCxnSpPr>
          <p:spPr>
            <a:xfrm flipV="1">
              <a:off x="4702003" y="1473451"/>
              <a:ext cx="693537" cy="1857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 name="矩形 2"/>
            <p:cNvSpPr/>
            <p:nvPr/>
          </p:nvSpPr>
          <p:spPr>
            <a:xfrm>
              <a:off x="2492362" y="1366814"/>
              <a:ext cx="2209641" cy="584775"/>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1600" b="1" dirty="0" smtClean="0">
                  <a:latin typeface="微软雅黑" panose="020B0503020204020204" pitchFamily="34" charset="-122"/>
                  <a:ea typeface="微软雅黑" panose="020B0503020204020204" pitchFamily="34" charset="-122"/>
                </a:rPr>
                <a:t>通信之前，</a:t>
              </a:r>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smtClean="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先创建套</a:t>
              </a:r>
              <a:r>
                <a:rPr lang="zh-CN" altLang="en-US" sz="1600" b="1" dirty="0">
                  <a:latin typeface="微软雅黑" panose="020B0503020204020204" pitchFamily="34" charset="-122"/>
                  <a:ea typeface="微软雅黑" panose="020B0503020204020204" pitchFamily="34" charset="-122"/>
                </a:rPr>
                <a:t>接</a:t>
              </a:r>
              <a:r>
                <a:rPr lang="zh-CN" altLang="en-US" sz="1600" b="1" dirty="0" smtClean="0">
                  <a:latin typeface="微软雅黑" panose="020B0503020204020204" pitchFamily="34" charset="-122"/>
                  <a:ea typeface="微软雅黑" panose="020B0503020204020204" pitchFamily="34" charset="-122"/>
                </a:rPr>
                <a:t>字</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0"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bind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listen</a:t>
            </a:r>
            <a:endParaRPr lang="en-US" altLang="zh-CN" sz="1400" b="1">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8" name="组合 47"/>
          <p:cNvGrpSpPr/>
          <p:nvPr/>
        </p:nvGrpSpPr>
        <p:grpSpPr>
          <a:xfrm>
            <a:off x="1648624" y="1371358"/>
            <a:ext cx="3741746" cy="830997"/>
            <a:chOff x="1648624" y="1371358"/>
            <a:chExt cx="3741746" cy="830997"/>
          </a:xfrm>
        </p:grpSpPr>
        <p:cxnSp>
          <p:nvCxnSpPr>
            <p:cNvPr id="46" name="直接箭头连接符 45"/>
            <p:cNvCxnSpPr/>
            <p:nvPr/>
          </p:nvCxnSpPr>
          <p:spPr>
            <a:xfrm>
              <a:off x="4773046" y="1858323"/>
              <a:ext cx="61732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矩形 44"/>
            <p:cNvSpPr/>
            <p:nvPr/>
          </p:nvSpPr>
          <p:spPr>
            <a:xfrm>
              <a:off x="1648624" y="1371358"/>
              <a:ext cx="3139984" cy="830997"/>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a:solidFill>
                    <a:srgbClr val="C00000"/>
                  </a:solidFill>
                  <a:latin typeface="微软雅黑" panose="020B0503020204020204" pitchFamily="34" charset="-122"/>
                  <a:ea typeface="微软雅黑" panose="020B0503020204020204" pitchFamily="34" charset="-122"/>
                </a:rPr>
                <a:t>端</a:t>
              </a:r>
              <a:r>
                <a:rPr lang="zh-CN" altLang="en-US" sz="1600" b="1" dirty="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bind</a:t>
              </a:r>
              <a:r>
                <a:rPr lang="zh-CN" altLang="en-US" sz="1600" b="1" dirty="0" smtClean="0">
                  <a:latin typeface="微软雅黑" panose="020B0503020204020204" pitchFamily="34" charset="-122"/>
                  <a:ea typeface="微软雅黑" panose="020B0503020204020204" pitchFamily="34" charset="-122"/>
                </a:rPr>
                <a:t>，把</a:t>
              </a:r>
              <a:r>
                <a:rPr lang="zh-CN" altLang="en-US" sz="1600" b="1" dirty="0">
                  <a:latin typeface="微软雅黑" panose="020B0503020204020204" pitchFamily="34" charset="-122"/>
                  <a:ea typeface="微软雅黑" panose="020B0503020204020204" pitchFamily="34" charset="-122"/>
                </a:rPr>
                <a:t>熟知端口号和本地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地址填写到已创建的套接字中</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listen</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1074198" y="1371358"/>
            <a:ext cx="4314903" cy="1077218"/>
            <a:chOff x="1074198" y="1371358"/>
            <a:chExt cx="4314903" cy="1077218"/>
          </a:xfrm>
        </p:grpSpPr>
        <p:cxnSp>
          <p:nvCxnSpPr>
            <p:cNvPr id="47" name="直接箭头连接符 46"/>
            <p:cNvCxnSpPr/>
            <p:nvPr/>
          </p:nvCxnSpPr>
          <p:spPr>
            <a:xfrm>
              <a:off x="4773046" y="1858323"/>
              <a:ext cx="616055" cy="4064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074198" y="1371358"/>
              <a:ext cx="3714410"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listen</a:t>
              </a:r>
              <a:r>
                <a:rPr lang="zh-CN" altLang="en-US" sz="1600" b="1" dirty="0">
                  <a:latin typeface="微软雅黑" panose="020B0503020204020204" pitchFamily="34" charset="-122"/>
                  <a:ea typeface="微软雅黑" panose="020B0503020204020204" pitchFamily="34" charset="-122"/>
                </a:rPr>
                <a:t>（收听</a:t>
              </a:r>
              <a:r>
                <a:rPr lang="zh-CN" altLang="en-US" sz="1600" b="1" dirty="0" smtClean="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把</a:t>
              </a:r>
              <a:r>
                <a:rPr lang="zh-CN" altLang="en-US" sz="1600" b="1" dirty="0">
                  <a:latin typeface="微软雅黑" panose="020B0503020204020204" pitchFamily="34" charset="-122"/>
                  <a:ea typeface="微软雅黑" panose="020B0503020204020204" pitchFamily="34" charset="-122"/>
                </a:rPr>
                <a:t>套接字设置为被动方式，以便随时接受客户的服务请求。</a:t>
              </a:r>
              <a:r>
                <a:rPr lang="en-US" altLang="zh-CN" sz="1600" b="1" dirty="0">
                  <a:latin typeface="微软雅黑" panose="020B0503020204020204" pitchFamily="34" charset="-122"/>
                  <a:ea typeface="微软雅黑" panose="020B0503020204020204" pitchFamily="34" charset="-122"/>
                </a:rPr>
                <a:t>UDP </a:t>
              </a:r>
              <a:r>
                <a:rPr lang="zh-CN" altLang="en-US" sz="1600" b="1" dirty="0" smtClean="0">
                  <a:latin typeface="微软雅黑" panose="020B0503020204020204" pitchFamily="34" charset="-122"/>
                  <a:ea typeface="微软雅黑" panose="020B0503020204020204" pitchFamily="34" charset="-122"/>
                </a:rPr>
                <a:t>服务器不</a:t>
              </a:r>
              <a:r>
                <a:rPr lang="zh-CN" altLang="en-US" sz="1600" b="1" dirty="0">
                  <a:latin typeface="微软雅黑" panose="020B0503020204020204" pitchFamily="34" charset="-122"/>
                  <a:ea typeface="微软雅黑" panose="020B0503020204020204" pitchFamily="34" charset="-122"/>
                </a:rPr>
                <a:t>使用 </a:t>
              </a:r>
              <a:r>
                <a:rPr lang="en-US" altLang="zh-CN" sz="1600" b="1" dirty="0">
                  <a:latin typeface="微软雅黑" panose="020B0503020204020204" pitchFamily="34" charset="-122"/>
                  <a:ea typeface="微软雅黑" panose="020B0503020204020204" pitchFamily="34" charset="-122"/>
                </a:rPr>
                <a:t>listen </a:t>
              </a:r>
              <a:r>
                <a:rPr lang="zh-CN" altLang="en-US" sz="1600" b="1" dirty="0">
                  <a:latin typeface="微软雅黑" panose="020B0503020204020204" pitchFamily="34" charset="-122"/>
                  <a:ea typeface="微软雅黑" panose="020B0503020204020204" pitchFamily="34" charset="-122"/>
                </a:rPr>
                <a:t>系统调用</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accept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1597982" y="1365082"/>
            <a:ext cx="3810246" cy="1347363"/>
            <a:chOff x="1597982" y="1425503"/>
            <a:chExt cx="3810246" cy="1347363"/>
          </a:xfrm>
        </p:grpSpPr>
        <p:cxnSp>
          <p:nvCxnSpPr>
            <p:cNvPr id="47" name="直接箭头连接符 46"/>
            <p:cNvCxnSpPr/>
            <p:nvPr/>
          </p:nvCxnSpPr>
          <p:spPr>
            <a:xfrm>
              <a:off x="4773046" y="2201507"/>
              <a:ext cx="635182" cy="5713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597982" y="1425503"/>
              <a:ext cx="3196442"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accept</a:t>
              </a:r>
              <a:r>
                <a:rPr lang="zh-CN" altLang="en-US" sz="1600" b="1" dirty="0">
                  <a:latin typeface="微软雅黑" panose="020B0503020204020204" pitchFamily="34" charset="-122"/>
                  <a:ea typeface="微软雅黑" panose="020B0503020204020204" pitchFamily="34" charset="-122"/>
                </a:rPr>
                <a:t>（接受），以便把远地客户进程发来的连接请求提取出来</a:t>
              </a:r>
              <a:r>
                <a:rPr lang="zh-CN" altLang="en-US"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服务器不使用 </a:t>
              </a:r>
              <a:r>
                <a:rPr lang="en-US" altLang="zh-CN" sz="1600" b="1" dirty="0" smtClean="0">
                  <a:latin typeface="微软雅黑" panose="020B0503020204020204" pitchFamily="34" charset="-122"/>
                  <a:ea typeface="微软雅黑" panose="020B0503020204020204" pitchFamily="34" charset="-122"/>
                </a:rPr>
                <a:t>accept </a:t>
              </a:r>
              <a:r>
                <a:rPr lang="zh-CN" altLang="en-US" sz="1600" b="1" dirty="0">
                  <a:latin typeface="微软雅黑" panose="020B0503020204020204" pitchFamily="34" charset="-122"/>
                  <a:ea typeface="微软雅黑" panose="020B0503020204020204" pitchFamily="34" charset="-122"/>
                </a:rPr>
                <a:t>系统调用</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1454"/>
            <a:ext cx="8041893"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0070"/>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并发方式工作的</a:t>
            </a:r>
            <a:r>
              <a:rPr lang="zh-CN" altLang="en-US" sz="2000" b="1" dirty="0" smtClean="0">
                <a:latin typeface="微软雅黑" panose="020B0503020204020204" pitchFamily="34" charset="-122"/>
                <a:ea typeface="微软雅黑" panose="020B0503020204020204" pitchFamily="34" charset="-122"/>
              </a:rPr>
              <a:t>服务器</a:t>
            </a:r>
            <a:endParaRPr lang="zh-CN" altLang="en-US" sz="2000" b="1" dirty="0">
              <a:latin typeface="微软雅黑" panose="020B0503020204020204" pitchFamily="34" charset="-122"/>
              <a:ea typeface="微软雅黑" panose="020B0503020204020204" pitchFamily="34" charset="-122"/>
            </a:endParaRPr>
          </a:p>
        </p:txBody>
      </p:sp>
      <p:grpSp>
        <p:nvGrpSpPr>
          <p:cNvPr id="38" name="组合 37"/>
          <p:cNvGrpSpPr/>
          <p:nvPr/>
        </p:nvGrpSpPr>
        <p:grpSpPr>
          <a:xfrm>
            <a:off x="2225985" y="1756712"/>
            <a:ext cx="5132411" cy="2493859"/>
            <a:chOff x="896012" y="2273448"/>
            <a:chExt cx="8602292" cy="4179888"/>
          </a:xfrm>
        </p:grpSpPr>
        <p:sp>
          <p:nvSpPr>
            <p:cNvPr id="5" name="Text Box 4"/>
            <p:cNvSpPr txBox="1">
              <a:spLocks noChangeArrowheads="1"/>
            </p:cNvSpPr>
            <p:nvPr/>
          </p:nvSpPr>
          <p:spPr bwMode="auto">
            <a:xfrm>
              <a:off x="1193681" y="5170635"/>
              <a:ext cx="1857081"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接受连接请求</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的套接字</a:t>
              </a:r>
              <a:endParaRPr lang="zh-CN" altLang="en-US" sz="1200" b="1">
                <a:latin typeface="微软雅黑" panose="020B0503020204020204" pitchFamily="34" charset="-122"/>
                <a:ea typeface="微软雅黑" panose="020B0503020204020204" pitchFamily="34" charset="-122"/>
              </a:endParaRPr>
            </a:p>
          </p:txBody>
        </p:sp>
        <p:sp>
          <p:nvSpPr>
            <p:cNvPr id="6" name="Rectangle 5"/>
            <p:cNvSpPr>
              <a:spLocks noChangeArrowheads="1"/>
            </p:cNvSpPr>
            <p:nvPr/>
          </p:nvSpPr>
          <p:spPr bwMode="auto">
            <a:xfrm>
              <a:off x="1081750" y="2273448"/>
              <a:ext cx="6462977" cy="41798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6"/>
            <p:cNvSpPr>
              <a:spLocks noChangeArrowheads="1"/>
            </p:cNvSpPr>
            <p:nvPr/>
          </p:nvSpPr>
          <p:spPr bwMode="auto">
            <a:xfrm>
              <a:off x="1085189" y="4940448"/>
              <a:ext cx="2013876" cy="150495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Oval 6"/>
            <p:cNvSpPr>
              <a:spLocks noChangeArrowheads="1"/>
            </p:cNvSpPr>
            <p:nvPr/>
          </p:nvSpPr>
          <p:spPr bwMode="auto">
            <a:xfrm>
              <a:off x="1635523" y="2735387"/>
              <a:ext cx="923528" cy="836612"/>
            </a:xfrm>
            <a:prstGeom prst="ellipse">
              <a:avLst/>
            </a:prstGeom>
            <a:solidFill>
              <a:srgbClr val="FF66FF"/>
            </a:solidFill>
            <a:ln w="38100" cmpd="dbl">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M</a:t>
              </a:r>
              <a:endParaRPr lang="en-US" altLang="zh-CN" sz="1200" b="1">
                <a:latin typeface="微软雅黑" panose="020B0503020204020204" pitchFamily="34" charset="-122"/>
                <a:ea typeface="微软雅黑" panose="020B0503020204020204" pitchFamily="34" charset="-122"/>
              </a:endParaRPr>
            </a:p>
          </p:txBody>
        </p:sp>
        <p:sp>
          <p:nvSpPr>
            <p:cNvPr id="9" name="Oval 7"/>
            <p:cNvSpPr>
              <a:spLocks noChangeArrowheads="1"/>
            </p:cNvSpPr>
            <p:nvPr/>
          </p:nvSpPr>
          <p:spPr bwMode="auto">
            <a:xfrm>
              <a:off x="3389710" y="3694260"/>
              <a:ext cx="646642" cy="585788"/>
            </a:xfrm>
            <a:prstGeom prst="ellipse">
              <a:avLst/>
            </a:prstGeom>
            <a:solidFill>
              <a:srgbClr val="66FF66"/>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panose="020B0503020204020204" pitchFamily="34" charset="-122"/>
                  <a:ea typeface="微软雅黑" panose="020B0503020204020204" pitchFamily="34" charset="-122"/>
                </a:rPr>
                <a:t>S</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10" name="Rectangle 37"/>
            <p:cNvSpPr>
              <a:spLocks noChangeArrowheads="1"/>
            </p:cNvSpPr>
            <p:nvPr/>
          </p:nvSpPr>
          <p:spPr bwMode="auto">
            <a:xfrm>
              <a:off x="3086702" y="4938861"/>
              <a:ext cx="4447381"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8"/>
            <p:cNvSpPr>
              <a:spLocks noChangeArrowheads="1"/>
            </p:cNvSpPr>
            <p:nvPr/>
          </p:nvSpPr>
          <p:spPr bwMode="auto">
            <a:xfrm>
              <a:off x="3480858" y="4946799"/>
              <a:ext cx="462625"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9"/>
            <p:cNvSpPr>
              <a:spLocks noChangeArrowheads="1"/>
            </p:cNvSpPr>
            <p:nvPr/>
          </p:nvSpPr>
          <p:spPr bwMode="auto">
            <a:xfrm>
              <a:off x="4820577" y="4946799"/>
              <a:ext cx="462623"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Rectangle 10"/>
            <p:cNvSpPr>
              <a:spLocks noChangeArrowheads="1"/>
            </p:cNvSpPr>
            <p:nvPr/>
          </p:nvSpPr>
          <p:spPr bwMode="auto">
            <a:xfrm>
              <a:off x="6160294" y="4946799"/>
              <a:ext cx="460904"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 name="Text Box 11"/>
            <p:cNvSpPr txBox="1">
              <a:spLocks noChangeArrowheads="1"/>
            </p:cNvSpPr>
            <p:nvPr/>
          </p:nvSpPr>
          <p:spPr bwMode="auto">
            <a:xfrm>
              <a:off x="3169659"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a:off x="4555811"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6" name="Text Box 13"/>
            <p:cNvSpPr txBox="1">
              <a:spLocks noChangeArrowheads="1"/>
            </p:cNvSpPr>
            <p:nvPr/>
          </p:nvSpPr>
          <p:spPr bwMode="auto">
            <a:xfrm>
              <a:off x="5936806"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7" name="Line 14"/>
            <p:cNvSpPr>
              <a:spLocks noChangeShapeType="1"/>
            </p:cNvSpPr>
            <p:nvPr/>
          </p:nvSpPr>
          <p:spPr bwMode="auto">
            <a:xfrm>
              <a:off x="1081750" y="4946798"/>
              <a:ext cx="6462977" cy="0"/>
            </a:xfrm>
            <a:prstGeom prst="line">
              <a:avLst/>
            </a:prstGeom>
            <a:noFill/>
            <a:ln w="9525">
              <a:solidFill>
                <a:schemeClr val="folHlink"/>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Rectangle 18"/>
            <p:cNvSpPr>
              <a:spLocks noChangeArrowheads="1"/>
            </p:cNvSpPr>
            <p:nvPr/>
          </p:nvSpPr>
          <p:spPr bwMode="auto">
            <a:xfrm>
              <a:off x="1864254" y="4946799"/>
              <a:ext cx="462625" cy="250825"/>
            </a:xfrm>
            <a:prstGeom prst="rect">
              <a:avLst/>
            </a:prstGeom>
            <a:solidFill>
              <a:srgbClr val="00CCFF"/>
            </a:solidFill>
            <a:ln w="9525">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Line 19"/>
            <p:cNvSpPr>
              <a:spLocks noChangeShapeType="1"/>
            </p:cNvSpPr>
            <p:nvPr/>
          </p:nvSpPr>
          <p:spPr bwMode="auto">
            <a:xfrm flipV="1">
              <a:off x="2096427" y="3571998"/>
              <a:ext cx="0" cy="1374800"/>
            </a:xfrm>
            <a:prstGeom prst="line">
              <a:avLst/>
            </a:prstGeom>
            <a:noFill/>
            <a:ln w="9525">
              <a:solidFill>
                <a:schemeClr val="folHlink"/>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Oval 20"/>
            <p:cNvSpPr>
              <a:spLocks noChangeArrowheads="1"/>
            </p:cNvSpPr>
            <p:nvPr/>
          </p:nvSpPr>
          <p:spPr bwMode="auto">
            <a:xfrm>
              <a:off x="4719108" y="3694260"/>
              <a:ext cx="646642" cy="585788"/>
            </a:xfrm>
            <a:prstGeom prst="ellipse">
              <a:avLst/>
            </a:prstGeom>
            <a:solidFill>
              <a:srgbClr val="66FF66"/>
            </a:solidFill>
            <a:ln w="12700"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S</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24" name="Oval 21"/>
            <p:cNvSpPr>
              <a:spLocks noChangeArrowheads="1"/>
            </p:cNvSpPr>
            <p:nvPr/>
          </p:nvSpPr>
          <p:spPr bwMode="auto">
            <a:xfrm>
              <a:off x="6048508" y="3694260"/>
              <a:ext cx="646642" cy="585788"/>
            </a:xfrm>
            <a:prstGeom prst="ellipse">
              <a:avLst/>
            </a:prstGeom>
            <a:solidFill>
              <a:srgbClr val="66FF66"/>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S</a:t>
              </a:r>
              <a:r>
                <a:rPr lang="en-US" altLang="zh-CN" sz="1200" b="1" baseline="-25000">
                  <a:latin typeface="微软雅黑" panose="020B0503020204020204" pitchFamily="34" charset="-122"/>
                  <a:ea typeface="微软雅黑" panose="020B0503020204020204" pitchFamily="34" charset="-122"/>
                </a:rPr>
                <a:t>3</a:t>
              </a:r>
              <a:endParaRPr lang="en-US" altLang="zh-CN" sz="1200" b="1" baseline="-25000">
                <a:latin typeface="微软雅黑" panose="020B0503020204020204" pitchFamily="34" charset="-122"/>
                <a:ea typeface="微软雅黑" panose="020B0503020204020204" pitchFamily="34" charset="-122"/>
              </a:endParaRPr>
            </a:p>
          </p:txBody>
        </p:sp>
        <p:sp>
          <p:nvSpPr>
            <p:cNvPr id="25" name="Line 22"/>
            <p:cNvSpPr>
              <a:spLocks noChangeShapeType="1"/>
            </p:cNvSpPr>
            <p:nvPr/>
          </p:nvSpPr>
          <p:spPr bwMode="auto">
            <a:xfrm>
              <a:off x="2467902" y="3442750"/>
              <a:ext cx="1012957" cy="334061"/>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3"/>
            <p:cNvSpPr>
              <a:spLocks noChangeShapeType="1"/>
            </p:cNvSpPr>
            <p:nvPr/>
          </p:nvSpPr>
          <p:spPr bwMode="auto">
            <a:xfrm>
              <a:off x="2528094" y="3325959"/>
              <a:ext cx="2240889" cy="492125"/>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4"/>
            <p:cNvSpPr>
              <a:spLocks noChangeShapeType="1"/>
            </p:cNvSpPr>
            <p:nvPr/>
          </p:nvSpPr>
          <p:spPr bwMode="auto">
            <a:xfrm>
              <a:off x="2559050" y="3153693"/>
              <a:ext cx="3508375" cy="708842"/>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Text Box 25"/>
            <p:cNvSpPr txBox="1">
              <a:spLocks noChangeArrowheads="1"/>
            </p:cNvSpPr>
            <p:nvPr/>
          </p:nvSpPr>
          <p:spPr bwMode="auto">
            <a:xfrm>
              <a:off x="8157079" y="5450036"/>
              <a:ext cx="1341225" cy="464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操作系统</a:t>
              </a:r>
              <a:endParaRPr lang="zh-CN" altLang="en-US" sz="1200" b="1">
                <a:latin typeface="微软雅黑" panose="020B0503020204020204" pitchFamily="34" charset="-122"/>
                <a:ea typeface="微软雅黑" panose="020B0503020204020204" pitchFamily="34" charset="-122"/>
              </a:endParaRPr>
            </a:p>
          </p:txBody>
        </p:sp>
        <p:sp>
          <p:nvSpPr>
            <p:cNvPr id="29" name="Line 26"/>
            <p:cNvSpPr>
              <a:spLocks noChangeShapeType="1"/>
            </p:cNvSpPr>
            <p:nvPr/>
          </p:nvSpPr>
          <p:spPr bwMode="auto">
            <a:xfrm flipH="1">
              <a:off x="7637596" y="5699273"/>
              <a:ext cx="553773" cy="0"/>
            </a:xfrm>
            <a:prstGeom prst="line">
              <a:avLst/>
            </a:prstGeom>
            <a:noFill/>
            <a:ln w="9525">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7"/>
            <p:cNvSpPr>
              <a:spLocks noChangeShapeType="1"/>
            </p:cNvSpPr>
            <p:nvPr/>
          </p:nvSpPr>
          <p:spPr bwMode="auto">
            <a:xfrm flipH="1">
              <a:off x="7637596" y="3443435"/>
              <a:ext cx="553773" cy="0"/>
            </a:xfrm>
            <a:prstGeom prst="line">
              <a:avLst/>
            </a:prstGeom>
            <a:noFill/>
            <a:ln w="9525">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Text Box 28"/>
            <p:cNvSpPr txBox="1">
              <a:spLocks noChangeArrowheads="1"/>
            </p:cNvSpPr>
            <p:nvPr/>
          </p:nvSpPr>
          <p:spPr bwMode="auto">
            <a:xfrm>
              <a:off x="8112365" y="3119585"/>
              <a:ext cx="1341225"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服务器</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应用进程</a:t>
              </a:r>
              <a:endParaRPr lang="zh-CN" altLang="en-US" sz="1200" b="1">
                <a:latin typeface="微软雅黑" panose="020B0503020204020204" pitchFamily="34" charset="-122"/>
                <a:ea typeface="微软雅黑" panose="020B0503020204020204" pitchFamily="34" charset="-122"/>
              </a:endParaRPr>
            </a:p>
          </p:txBody>
        </p:sp>
        <p:sp>
          <p:nvSpPr>
            <p:cNvPr id="32" name="Text Box 29"/>
            <p:cNvSpPr txBox="1">
              <a:spLocks noChangeArrowheads="1"/>
            </p:cNvSpPr>
            <p:nvPr/>
          </p:nvSpPr>
          <p:spPr bwMode="auto">
            <a:xfrm>
              <a:off x="4607993" y="3142838"/>
              <a:ext cx="2115009"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latin typeface="微软雅黑" panose="020B0503020204020204" pitchFamily="34" charset="-122"/>
                  <a:ea typeface="微软雅黑" panose="020B0503020204020204" pitchFamily="34" charset="-122"/>
                </a:rPr>
                <a:t>从属服务器进程</a:t>
              </a:r>
              <a:endParaRPr lang="zh-CN" altLang="en-US" sz="1200" b="1" dirty="0">
                <a:latin typeface="微软雅黑" panose="020B0503020204020204" pitchFamily="34" charset="-122"/>
                <a:ea typeface="微软雅黑" panose="020B0503020204020204" pitchFamily="34" charset="-122"/>
              </a:endParaRPr>
            </a:p>
          </p:txBody>
        </p:sp>
        <p:sp>
          <p:nvSpPr>
            <p:cNvPr id="33" name="Text Box 30"/>
            <p:cNvSpPr txBox="1">
              <a:spLocks noChangeArrowheads="1"/>
            </p:cNvSpPr>
            <p:nvPr/>
          </p:nvSpPr>
          <p:spPr bwMode="auto">
            <a:xfrm>
              <a:off x="1172500" y="2289448"/>
              <a:ext cx="1857081"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latin typeface="微软雅黑" panose="020B0503020204020204" pitchFamily="34" charset="-122"/>
                  <a:ea typeface="微软雅黑" panose="020B0503020204020204" pitchFamily="34" charset="-122"/>
                </a:rPr>
                <a:t>主服务器进程</a:t>
              </a:r>
              <a:endParaRPr lang="zh-CN" altLang="en-US" sz="1200" b="1" dirty="0">
                <a:latin typeface="微软雅黑" panose="020B0503020204020204" pitchFamily="34" charset="-122"/>
                <a:ea typeface="微软雅黑" panose="020B0503020204020204" pitchFamily="34" charset="-122"/>
              </a:endParaRPr>
            </a:p>
          </p:txBody>
        </p:sp>
        <p:sp>
          <p:nvSpPr>
            <p:cNvPr id="34" name="Text Box 31"/>
            <p:cNvSpPr txBox="1">
              <a:spLocks noChangeArrowheads="1"/>
            </p:cNvSpPr>
            <p:nvPr/>
          </p:nvSpPr>
          <p:spPr bwMode="auto">
            <a:xfrm>
              <a:off x="896012" y="5853260"/>
              <a:ext cx="2372936" cy="459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solidFill>
                    <a:schemeClr val="bg1"/>
                  </a:solidFill>
                  <a:latin typeface="微软雅黑" panose="020B0503020204020204" pitchFamily="34" charset="-122"/>
                  <a:ea typeface="微软雅黑" panose="020B0503020204020204" pitchFamily="34" charset="-122"/>
                </a:rPr>
                <a:t>（原来的套接字）</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Line 32"/>
            <p:cNvSpPr>
              <a:spLocks noChangeShapeType="1"/>
            </p:cNvSpPr>
            <p:nvPr/>
          </p:nvSpPr>
          <p:spPr bwMode="auto">
            <a:xfrm>
              <a:off x="3389709" y="6145953"/>
              <a:ext cx="33243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3"/>
            <p:cNvSpPr txBox="1">
              <a:spLocks noChangeArrowheads="1"/>
            </p:cNvSpPr>
            <p:nvPr/>
          </p:nvSpPr>
          <p:spPr bwMode="auto">
            <a:xfrm>
              <a:off x="3943484" y="5895943"/>
              <a:ext cx="2313828" cy="479746"/>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fontAlgn="ctr" hangingPunct="1">
                <a:lnSpc>
                  <a:spcPct val="105000"/>
                </a:lnSpc>
              </a:pPr>
              <a:r>
                <a:rPr lang="en-US" altLang="zh-CN" sz="1200" b="1" dirty="0">
                  <a:solidFill>
                    <a:srgbClr val="0000CC"/>
                  </a:solidFill>
                  <a:latin typeface="微软雅黑" panose="020B0503020204020204" pitchFamily="34" charset="-122"/>
                  <a:ea typeface="微软雅黑" panose="020B0503020204020204" pitchFamily="34" charset="-122"/>
                </a:rPr>
                <a:t>(</a:t>
              </a:r>
              <a:r>
                <a:rPr lang="zh-CN" altLang="en-US" sz="1200" b="1" dirty="0">
                  <a:solidFill>
                    <a:srgbClr val="0000CC"/>
                  </a:solidFill>
                  <a:latin typeface="微软雅黑" panose="020B0503020204020204" pitchFamily="34" charset="-122"/>
                  <a:ea typeface="微软雅黑" panose="020B0503020204020204" pitchFamily="34" charset="-122"/>
                </a:rPr>
                <a:t>新创建的套接字</a:t>
              </a:r>
              <a:r>
                <a:rPr lang="en-US" altLang="zh-CN" sz="1200" b="1" dirty="0">
                  <a:solidFill>
                    <a:srgbClr val="0000CC"/>
                  </a:solidFill>
                  <a:latin typeface="微软雅黑" panose="020B0503020204020204" pitchFamily="34" charset="-122"/>
                  <a:ea typeface="微软雅黑" panose="020B0503020204020204" pitchFamily="34" charset="-122"/>
                </a:rPr>
                <a:t>)</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7" name="Line 34"/>
            <p:cNvSpPr>
              <a:spLocks noChangeShapeType="1"/>
            </p:cNvSpPr>
            <p:nvPr/>
          </p:nvSpPr>
          <p:spPr bwMode="auto">
            <a:xfrm>
              <a:off x="3097498" y="4946798"/>
              <a:ext cx="0" cy="1506538"/>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9" name="矩形 38"/>
          <p:cNvSpPr/>
          <p:nvPr/>
        </p:nvSpPr>
        <p:spPr>
          <a:xfrm>
            <a:off x="1273621" y="1136438"/>
            <a:ext cx="6805059" cy="584775"/>
          </a:xfrm>
          <a:prstGeom prst="rect">
            <a:avLst/>
          </a:prstGeom>
          <a:solidFill>
            <a:srgbClr val="FFFF99"/>
          </a:solidFill>
          <a:ln>
            <a:solidFill>
              <a:schemeClr val="tx1"/>
            </a:solidFill>
          </a:ln>
        </p:spPr>
        <p:txBody>
          <a:bodyPr wrap="square">
            <a:spAutoFit/>
          </a:bodyPr>
          <a:lstStyle/>
          <a:p>
            <a:r>
              <a:rPr kumimoji="1" lang="zh-CN" altLang="en-US" sz="1600" b="1" dirty="0">
                <a:latin typeface="微软雅黑" panose="020B0503020204020204" pitchFamily="34" charset="-122"/>
                <a:ea typeface="微软雅黑" panose="020B0503020204020204" pitchFamily="34" charset="-122"/>
              </a:rPr>
              <a:t>调用 </a:t>
            </a:r>
            <a:r>
              <a:rPr kumimoji="1" lang="en-US" altLang="zh-CN" sz="1600" b="1" dirty="0">
                <a:latin typeface="微软雅黑" panose="020B0503020204020204" pitchFamily="34" charset="-122"/>
                <a:ea typeface="微软雅黑" panose="020B0503020204020204" pitchFamily="34" charset="-122"/>
              </a:rPr>
              <a:t>accept </a:t>
            </a:r>
            <a:r>
              <a:rPr kumimoji="1" lang="zh-CN" altLang="en-US" sz="1600" b="1" dirty="0">
                <a:latin typeface="微软雅黑" panose="020B0503020204020204" pitchFamily="34" charset="-122"/>
                <a:ea typeface="微软雅黑" panose="020B0503020204020204" pitchFamily="34" charset="-122"/>
              </a:rPr>
              <a:t>要完成的动作较多。这是因为一个服务器必须能够</a:t>
            </a:r>
            <a:r>
              <a:rPr kumimoji="1" lang="zh-CN" altLang="en-US" sz="1600" b="1" dirty="0">
                <a:solidFill>
                  <a:srgbClr val="C00000"/>
                </a:solidFill>
                <a:latin typeface="微软雅黑" panose="020B0503020204020204" pitchFamily="34" charset="-122"/>
                <a:ea typeface="微软雅黑" panose="020B0503020204020204" pitchFamily="34" charset="-122"/>
              </a:rPr>
              <a:t>同时</a:t>
            </a:r>
            <a:r>
              <a:rPr kumimoji="1" lang="zh-CN" altLang="en-US" sz="1600" b="1" dirty="0">
                <a:latin typeface="微软雅黑" panose="020B0503020204020204" pitchFamily="34" charset="-122"/>
                <a:ea typeface="微软雅黑" panose="020B0503020204020204" pitchFamily="34" charset="-122"/>
              </a:rPr>
              <a:t>处理多个连接。这样的服务器常称为</a:t>
            </a:r>
            <a:r>
              <a:rPr kumimoji="1" lang="zh-CN" altLang="en-US" sz="1600" b="1" dirty="0">
                <a:solidFill>
                  <a:srgbClr val="C00000"/>
                </a:solidFill>
                <a:latin typeface="微软雅黑" panose="020B0503020204020204" pitchFamily="34" charset="-122"/>
                <a:ea typeface="微软雅黑" panose="020B0503020204020204" pitchFamily="34" charset="-122"/>
              </a:rPr>
              <a:t>并发方式 </a:t>
            </a:r>
            <a:r>
              <a:rPr kumimoji="1" lang="en-US" altLang="zh-CN" sz="1600" b="1" dirty="0">
                <a:latin typeface="微软雅黑" panose="020B0503020204020204" pitchFamily="34" charset="-122"/>
                <a:ea typeface="微软雅黑" panose="020B0503020204020204" pitchFamily="34" charset="-122"/>
              </a:rPr>
              <a:t>(concurrent) </a:t>
            </a:r>
            <a:r>
              <a:rPr kumimoji="1" lang="zh-CN" altLang="en-US" sz="1600" b="1" dirty="0">
                <a:latin typeface="微软雅黑" panose="020B0503020204020204" pitchFamily="34" charset="-122"/>
                <a:ea typeface="微软雅黑" panose="020B0503020204020204" pitchFamily="34" charset="-122"/>
              </a:rPr>
              <a:t>工作的服务器。</a:t>
            </a:r>
            <a:endParaRPr kumimoji="1"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accept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connect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614866" y="1365082"/>
            <a:ext cx="2679394" cy="1327664"/>
            <a:chOff x="2614866" y="1425503"/>
            <a:chExt cx="2679394" cy="1327664"/>
          </a:xfrm>
        </p:grpSpPr>
        <p:cxnSp>
          <p:nvCxnSpPr>
            <p:cNvPr id="47" name="直接箭头连接符 46"/>
            <p:cNvCxnSpPr/>
            <p:nvPr/>
          </p:nvCxnSpPr>
          <p:spPr>
            <a:xfrm flipH="1">
              <a:off x="3227534" y="2248102"/>
              <a:ext cx="265478" cy="5050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smtClean="0">
                  <a:solidFill>
                    <a:srgbClr val="C00000"/>
                  </a:solidFill>
                  <a:latin typeface="微软雅黑" panose="020B0503020204020204" pitchFamily="34" charset="-122"/>
                  <a:ea typeface="微软雅黑" panose="020B0503020204020204" pitchFamily="34" charset="-122"/>
                </a:rPr>
                <a:t>进程</a:t>
              </a:r>
              <a:r>
                <a:rPr lang="zh-CN" altLang="en-US" sz="1600" b="1" dirty="0" smtClean="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connect</a:t>
              </a:r>
              <a:r>
                <a:rPr lang="zh-CN" altLang="en-US" sz="1600" b="1" dirty="0">
                  <a:latin typeface="微软雅黑" panose="020B0503020204020204" pitchFamily="34" charset="-122"/>
                  <a:ea typeface="微软雅黑" panose="020B0503020204020204" pitchFamily="34" charset="-122"/>
                </a:rPr>
                <a:t>，以便和远地服务器建立连接（这就是主动</a:t>
              </a:r>
              <a:r>
                <a:rPr lang="zh-CN" altLang="en-US" sz="1600" b="1" dirty="0" smtClean="0">
                  <a:latin typeface="微软雅黑" panose="020B0503020204020204" pitchFamily="34" charset="-122"/>
                  <a:ea typeface="微软雅黑" panose="020B0503020204020204" pitchFamily="34" charset="-122"/>
                </a:rPr>
                <a:t>打开</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63330" y="1019340"/>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821372" y="575768"/>
            <a:ext cx="1519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传送阶段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accept</a:t>
            </a:r>
            <a:endParaRPr lang="en-US" altLang="zh-CN" sz="1400" b="1" dirty="0">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recv</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send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recv</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send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614866" y="1365082"/>
            <a:ext cx="2927724" cy="1812832"/>
            <a:chOff x="2614866" y="1425503"/>
            <a:chExt cx="2927724" cy="1812832"/>
          </a:xfrm>
        </p:grpSpPr>
        <p:cxnSp>
          <p:nvCxnSpPr>
            <p:cNvPr id="47" name="直接箭头连接符 46"/>
            <p:cNvCxnSpPr/>
            <p:nvPr/>
          </p:nvCxnSpPr>
          <p:spPr>
            <a:xfrm flipH="1">
              <a:off x="3108983" y="2243423"/>
              <a:ext cx="691938" cy="9475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778029" y="2243423"/>
              <a:ext cx="764561" cy="9949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在 </a:t>
              </a:r>
              <a:r>
                <a:rPr lang="en-US" altLang="zh-CN" sz="1600" b="1" dirty="0" smtClean="0">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上</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smtClean="0">
                  <a:latin typeface="微软雅黑" panose="020B0503020204020204" pitchFamily="34" charset="-122"/>
                  <a:ea typeface="微软雅黑" panose="020B0503020204020204" pitchFamily="34" charset="-122"/>
                </a:rPr>
                <a:t>send </a:t>
              </a:r>
              <a:r>
                <a:rPr lang="zh-CN" altLang="en-US" sz="1600" b="1" dirty="0" smtClean="0">
                  <a:latin typeface="微软雅黑" panose="020B0503020204020204" pitchFamily="34" charset="-122"/>
                  <a:ea typeface="微软雅黑" panose="020B0503020204020204" pitchFamily="34" charset="-122"/>
                </a:rPr>
                <a:t>传送</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err="1" smtClean="0">
                  <a:latin typeface="微软雅黑" panose="020B0503020204020204" pitchFamily="34" charset="-122"/>
                  <a:ea typeface="微软雅黑" panose="020B0503020204020204" pitchFamily="34" charset="-122"/>
                </a:rPr>
                <a:t>recv</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接收</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21" grpId="0"/>
      <p:bldP spid="22"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连接释放阶段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accept</a:t>
            </a:r>
            <a:endParaRPr lang="en-US" altLang="zh-CN" sz="1400" b="1" dirty="0">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latin typeface="微软雅黑" panose="020B0503020204020204" pitchFamily="34" charset="-122"/>
                <a:ea typeface="微软雅黑" panose="020B0503020204020204" pitchFamily="34" charset="-122"/>
              </a:rPr>
              <a:t>recv</a:t>
            </a:r>
            <a:endParaRPr lang="en-US" altLang="zh-CN" sz="1400" b="1" dirty="0">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send</a:t>
            </a:r>
            <a:endParaRPr lang="en-US" altLang="zh-CN" sz="1400" b="1" dirty="0">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solidFill>
                  <a:srgbClr val="C00000"/>
                </a:solidFill>
                <a:latin typeface="微软雅黑" panose="020B0503020204020204" pitchFamily="34" charset="-122"/>
                <a:ea typeface="微软雅黑" panose="020B0503020204020204" pitchFamily="34" charset="-122"/>
              </a:rPr>
              <a:t>close</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latin typeface="微软雅黑" panose="020B0503020204020204" pitchFamily="34" charset="-122"/>
                <a:ea typeface="微软雅黑" panose="020B0503020204020204" pitchFamily="34" charset="-122"/>
              </a:rPr>
              <a:t>recv</a:t>
            </a:r>
            <a:endParaRPr lang="en-US" altLang="zh-CN" sz="1400" b="1" dirty="0">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send</a:t>
            </a:r>
            <a:endParaRPr lang="en-US" altLang="zh-CN" sz="1400" b="1" dirty="0">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close</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228295" y="1365082"/>
            <a:ext cx="3337380" cy="2787731"/>
            <a:chOff x="2228295" y="1425503"/>
            <a:chExt cx="3337380" cy="2787731"/>
          </a:xfrm>
        </p:grpSpPr>
        <p:cxnSp>
          <p:nvCxnSpPr>
            <p:cNvPr id="47" name="直接箭头连接符 46"/>
            <p:cNvCxnSpPr/>
            <p:nvPr/>
          </p:nvCxnSpPr>
          <p:spPr>
            <a:xfrm flipH="1">
              <a:off x="3082773" y="2010278"/>
              <a:ext cx="519829"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666774" y="2010278"/>
              <a:ext cx="898901"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228295" y="1425503"/>
              <a:ext cx="3065965" cy="58477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或</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通信结束，调用 </a:t>
              </a:r>
              <a:r>
                <a:rPr lang="en-US" altLang="zh-CN" sz="1600" b="1" dirty="0" smtClean="0">
                  <a:latin typeface="微软雅黑" panose="020B0503020204020204" pitchFamily="34" charset="-122"/>
                  <a:ea typeface="微软雅黑" panose="020B0503020204020204" pitchFamily="34" charset="-122"/>
                </a:rPr>
                <a:t>close </a:t>
              </a:r>
              <a:r>
                <a:rPr lang="zh-CN" altLang="en-US" sz="1600" b="1" dirty="0" smtClean="0">
                  <a:latin typeface="微软雅黑" panose="020B0503020204020204" pitchFamily="34" charset="-122"/>
                  <a:ea typeface="微软雅黑" panose="020B0503020204020204" pitchFamily="34" charset="-122"/>
                </a:rPr>
                <a:t>释放</a:t>
              </a:r>
              <a:r>
                <a:rPr lang="zh-CN" altLang="en-US" sz="1600" b="1" dirty="0">
                  <a:latin typeface="微软雅黑" panose="020B0503020204020204" pitchFamily="34" charset="-122"/>
                  <a:ea typeface="微软雅黑" panose="020B0503020204020204" pitchFamily="34" charset="-122"/>
                </a:rPr>
                <a:t>连接和撤销套接字</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0"/>
          <p:cNvSpPr>
            <a:spLocks noChangeArrowheads="1"/>
          </p:cNvSpPr>
          <p:nvPr/>
        </p:nvSpPr>
        <p:spPr bwMode="auto">
          <a:xfrm>
            <a:off x="2629135" y="266899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3" name="Rectangle 9"/>
          <p:cNvSpPr>
            <a:spLocks noChangeArrowheads="1"/>
          </p:cNvSpPr>
          <p:nvPr/>
        </p:nvSpPr>
        <p:spPr bwMode="auto">
          <a:xfrm>
            <a:off x="2629135" y="221328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4" name="Rectangle 9"/>
          <p:cNvSpPr>
            <a:spLocks noChangeArrowheads="1"/>
          </p:cNvSpPr>
          <p:nvPr/>
        </p:nvSpPr>
        <p:spPr bwMode="auto">
          <a:xfrm>
            <a:off x="2629135" y="129098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175473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Line 16"/>
          <p:cNvSpPr>
            <a:spLocks noChangeShapeType="1"/>
          </p:cNvSpPr>
          <p:nvPr/>
        </p:nvSpPr>
        <p:spPr bwMode="auto">
          <a:xfrm>
            <a:off x="3637198" y="1219543"/>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098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8" name="Rectangle 29"/>
          <p:cNvSpPr>
            <a:spLocks noChangeArrowheads="1"/>
          </p:cNvSpPr>
          <p:nvPr/>
        </p:nvSpPr>
        <p:spPr bwMode="auto">
          <a:xfrm>
            <a:off x="648619" y="1385913"/>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6.9</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应用</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2700573" y="1166680"/>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具有</a:t>
            </a:r>
            <a:r>
              <a:rPr lang="zh-CN" altLang="en-US" sz="2000" b="1" dirty="0">
                <a:solidFill>
                  <a:schemeClr val="bg1"/>
                </a:solidFill>
                <a:latin typeface="微软雅黑" panose="020B0503020204020204" pitchFamily="34" charset="-122"/>
                <a:ea typeface="微软雅黑" panose="020B0503020204020204" pitchFamily="34" charset="-122"/>
              </a:rPr>
              <a:t>集中目录服务器的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工作方式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具有</a:t>
            </a:r>
            <a:r>
              <a:rPr lang="zh-CN" altLang="en-US" sz="2000" b="1" dirty="0">
                <a:solidFill>
                  <a:schemeClr val="bg1"/>
                </a:solidFill>
                <a:latin typeface="微软雅黑" panose="020B0503020204020204" pitchFamily="34" charset="-122"/>
                <a:ea typeface="微软雅黑" panose="020B0503020204020204" pitchFamily="34" charset="-122"/>
              </a:rPr>
              <a:t>全分布式结构的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文件共享程序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6.9.3  </a:t>
            </a:r>
            <a:r>
              <a:rPr lang="en-US" altLang="zh-CN" sz="2000" b="1" dirty="0" smtClean="0">
                <a:solidFill>
                  <a:schemeClr val="bg1"/>
                </a:solidFill>
                <a:latin typeface="微软雅黑" panose="020B0503020204020204" pitchFamily="34" charset="-122"/>
                <a:ea typeface="微软雅黑" panose="020B0503020204020204" pitchFamily="34" charset="-122"/>
              </a:rPr>
              <a:t>                               P2P </a:t>
            </a:r>
            <a:r>
              <a:rPr lang="zh-CN" altLang="en-US" sz="20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在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214099" y="583069"/>
            <a:ext cx="27158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工作方式</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92329"/>
            <a:ext cx="8048776" cy="3107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2648991" y="1185337"/>
            <a:ext cx="4946636" cy="2904070"/>
            <a:chOff x="2648991" y="1185337"/>
            <a:chExt cx="4946636" cy="2904070"/>
          </a:xfrm>
        </p:grpSpPr>
        <p:pic>
          <p:nvPicPr>
            <p:cNvPr id="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48991" y="2033162"/>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83860" y="118533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880204" y="1257345"/>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51812" y="3157959"/>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84060" y="359000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96228" y="3157959"/>
              <a:ext cx="499399" cy="499400"/>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457"/>
            <p:cNvGrpSpPr/>
            <p:nvPr/>
          </p:nvGrpSpPr>
          <p:grpSpPr bwMode="auto">
            <a:xfrm>
              <a:off x="3955835" y="1672987"/>
              <a:ext cx="2715518" cy="1325336"/>
              <a:chOff x="1776" y="2768"/>
              <a:chExt cx="1824" cy="736"/>
            </a:xfrm>
            <a:solidFill>
              <a:schemeClr val="bg1">
                <a:lumMod val="95000"/>
              </a:schemeClr>
            </a:solidFill>
            <a:effectLst>
              <a:outerShdw blurRad="50800" dist="38100" dir="5400000" algn="t" rotWithShape="0">
                <a:prstClr val="black">
                  <a:alpha val="40000"/>
                </a:prstClr>
              </a:outerShdw>
            </a:effectLst>
          </p:grpSpPr>
          <p:grpSp>
            <p:nvGrpSpPr>
              <p:cNvPr id="14" name="Group 458"/>
              <p:cNvGrpSpPr/>
              <p:nvPr/>
            </p:nvGrpSpPr>
            <p:grpSpPr bwMode="auto">
              <a:xfrm>
                <a:off x="1787" y="2783"/>
                <a:ext cx="1813" cy="721"/>
                <a:chOff x="1787" y="2783"/>
                <a:chExt cx="1813" cy="721"/>
              </a:xfrm>
              <a:grpFill/>
            </p:grpSpPr>
            <p:sp>
              <p:nvSpPr>
                <p:cNvPr id="24"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5"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6"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7"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8"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9"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0"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1"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2"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15"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6"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7"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8"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9"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0"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1"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2"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3"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33" name="Text Box 477"/>
            <p:cNvSpPr txBox="1">
              <a:spLocks noChangeArrowheads="1"/>
            </p:cNvSpPr>
            <p:nvPr/>
          </p:nvSpPr>
          <p:spPr bwMode="auto">
            <a:xfrm>
              <a:off x="5014834" y="2241015"/>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600" b="1" dirty="0">
                  <a:solidFill>
                    <a:sysClr val="windowText" lastClr="000000"/>
                  </a:solidFill>
                  <a:latin typeface="微软雅黑" panose="020B0503020204020204" pitchFamily="34" charset="-122"/>
                  <a:ea typeface="微软雅黑" panose="020B0503020204020204" pitchFamily="34" charset="-122"/>
                </a:rPr>
                <a:t>互联网</a:t>
              </a:r>
              <a:endParaRPr kumimoji="1" lang="zh-CN" altLang="en-US" sz="1600" b="1" dirty="0">
                <a:solidFill>
                  <a:sysClr val="windowText" lastClr="000000"/>
                </a:solidFill>
                <a:latin typeface="微软雅黑" panose="020B0503020204020204" pitchFamily="34" charset="-122"/>
                <a:ea typeface="微软雅黑" panose="020B0503020204020204" pitchFamily="34" charset="-122"/>
              </a:endParaRPr>
            </a:p>
          </p:txBody>
        </p:sp>
        <p:sp>
          <p:nvSpPr>
            <p:cNvPr id="34" name="Line 479"/>
            <p:cNvSpPr>
              <a:spLocks noChangeShapeType="1"/>
            </p:cNvSpPr>
            <p:nvPr/>
          </p:nvSpPr>
          <p:spPr bwMode="auto">
            <a:xfrm>
              <a:off x="3135758" y="2235925"/>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5" name="Line 480"/>
            <p:cNvSpPr>
              <a:spLocks noChangeShapeType="1"/>
            </p:cNvSpPr>
            <p:nvPr/>
          </p:nvSpPr>
          <p:spPr bwMode="auto">
            <a:xfrm rot="10800000">
              <a:off x="3032965" y="2322752"/>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7" name="Text Box 2748"/>
            <p:cNvSpPr txBox="1">
              <a:spLocks noChangeArrowheads="1"/>
            </p:cNvSpPr>
            <p:nvPr/>
          </p:nvSpPr>
          <p:spPr bwMode="auto">
            <a:xfrm>
              <a:off x="6994268" y="216355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2000" b="1" dirty="0">
                  <a:solidFill>
                    <a:srgbClr val="0000FF"/>
                  </a:solidFill>
                  <a:latin typeface="微软雅黑" panose="020B0503020204020204" pitchFamily="34" charset="-122"/>
                  <a:ea typeface="微软雅黑" panose="020B0503020204020204" pitchFamily="34" charset="-122"/>
                  <a:sym typeface="Symbol" panose="05050102010706020507" pitchFamily="18" charset="2"/>
                </a:rPr>
                <a:t></a:t>
              </a:r>
              <a:endParaRPr kumimoji="1" lang="en-US" altLang="zh-CN" sz="2000" b="1" dirty="0">
                <a:solidFill>
                  <a:srgbClr val="0000FF"/>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Line 2750"/>
            <p:cNvSpPr>
              <a:spLocks noChangeShapeType="1"/>
            </p:cNvSpPr>
            <p:nvPr/>
          </p:nvSpPr>
          <p:spPr bwMode="auto">
            <a:xfrm rot="816166">
              <a:off x="4273247" y="1510783"/>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9" name="Line 2751"/>
            <p:cNvSpPr>
              <a:spLocks noChangeShapeType="1"/>
            </p:cNvSpPr>
            <p:nvPr/>
          </p:nvSpPr>
          <p:spPr bwMode="auto">
            <a:xfrm rot="11616166">
              <a:off x="4147864" y="1580436"/>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0" name="Line 2753"/>
            <p:cNvSpPr>
              <a:spLocks noChangeShapeType="1"/>
            </p:cNvSpPr>
            <p:nvPr/>
          </p:nvSpPr>
          <p:spPr bwMode="auto">
            <a:xfrm rot="18950026">
              <a:off x="3700549" y="2924651"/>
              <a:ext cx="82007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1" name="Line 2754"/>
            <p:cNvSpPr>
              <a:spLocks noChangeShapeType="1"/>
            </p:cNvSpPr>
            <p:nvPr/>
          </p:nvSpPr>
          <p:spPr bwMode="auto">
            <a:xfrm rot="8150026">
              <a:off x="3691512" y="3032467"/>
              <a:ext cx="87203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2" name="Line 2756"/>
            <p:cNvSpPr>
              <a:spLocks noChangeShapeType="1"/>
            </p:cNvSpPr>
            <p:nvPr/>
          </p:nvSpPr>
          <p:spPr bwMode="auto">
            <a:xfrm rot="13567995">
              <a:off x="5278444" y="3228884"/>
              <a:ext cx="692701" cy="204455"/>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3" name="Line 2757"/>
            <p:cNvSpPr>
              <a:spLocks noChangeShapeType="1"/>
            </p:cNvSpPr>
            <p:nvPr/>
          </p:nvSpPr>
          <p:spPr bwMode="auto">
            <a:xfrm rot="2767995">
              <a:off x="5384142" y="3215526"/>
              <a:ext cx="736591" cy="204454"/>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4" name="Line 2759"/>
            <p:cNvSpPr>
              <a:spLocks noChangeShapeType="1"/>
            </p:cNvSpPr>
            <p:nvPr/>
          </p:nvSpPr>
          <p:spPr bwMode="auto">
            <a:xfrm rot="18997895">
              <a:off x="6107691" y="1610013"/>
              <a:ext cx="82007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5" name="Line 2760"/>
            <p:cNvSpPr>
              <a:spLocks noChangeShapeType="1"/>
            </p:cNvSpPr>
            <p:nvPr/>
          </p:nvSpPr>
          <p:spPr bwMode="auto">
            <a:xfrm rot="8197895">
              <a:off x="6269221" y="1662491"/>
              <a:ext cx="704860" cy="140257"/>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6" name="Line 2762"/>
            <p:cNvSpPr>
              <a:spLocks noChangeShapeType="1"/>
            </p:cNvSpPr>
            <p:nvPr/>
          </p:nvSpPr>
          <p:spPr bwMode="auto">
            <a:xfrm rot="1048487">
              <a:off x="6466899" y="2913201"/>
              <a:ext cx="82007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7" name="Line 2763"/>
            <p:cNvSpPr>
              <a:spLocks noChangeShapeType="1"/>
            </p:cNvSpPr>
            <p:nvPr/>
          </p:nvSpPr>
          <p:spPr bwMode="auto">
            <a:xfrm rot="11848487">
              <a:off x="6336996" y="2976174"/>
              <a:ext cx="87203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1" name="Text Box 2767"/>
            <p:cNvSpPr txBox="1">
              <a:spLocks noChangeArrowheads="1"/>
            </p:cNvSpPr>
            <p:nvPr/>
          </p:nvSpPr>
          <p:spPr bwMode="auto">
            <a:xfrm>
              <a:off x="6575502" y="1626950"/>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2" name="Text Box 2768"/>
            <p:cNvSpPr txBox="1">
              <a:spLocks noChangeArrowheads="1"/>
            </p:cNvSpPr>
            <p:nvPr/>
          </p:nvSpPr>
          <p:spPr bwMode="auto">
            <a:xfrm>
              <a:off x="6517729" y="2955183"/>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baseline="-2500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53" name="Text Box 2769"/>
            <p:cNvSpPr txBox="1">
              <a:spLocks noChangeArrowheads="1"/>
            </p:cNvSpPr>
            <p:nvPr/>
          </p:nvSpPr>
          <p:spPr bwMode="auto">
            <a:xfrm>
              <a:off x="5326397" y="321470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4" name="Text Box 2770"/>
            <p:cNvSpPr txBox="1">
              <a:spLocks noChangeArrowheads="1"/>
            </p:cNvSpPr>
            <p:nvPr/>
          </p:nvSpPr>
          <p:spPr bwMode="auto">
            <a:xfrm>
              <a:off x="3853043" y="272483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5" name="Text Box 2771"/>
            <p:cNvSpPr txBox="1">
              <a:spLocks noChangeArrowheads="1"/>
            </p:cNvSpPr>
            <p:nvPr/>
          </p:nvSpPr>
          <p:spPr bwMode="auto">
            <a:xfrm>
              <a:off x="3341341" y="2029910"/>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6" name="Text Box 2772"/>
            <p:cNvSpPr txBox="1">
              <a:spLocks noChangeArrowheads="1"/>
            </p:cNvSpPr>
            <p:nvPr/>
          </p:nvSpPr>
          <p:spPr bwMode="auto">
            <a:xfrm>
              <a:off x="4468665" y="1303418"/>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7" name="Text Box 2773"/>
            <p:cNvSpPr txBox="1">
              <a:spLocks noChangeArrowheads="1"/>
            </p:cNvSpPr>
            <p:nvPr/>
          </p:nvSpPr>
          <p:spPr bwMode="auto">
            <a:xfrm>
              <a:off x="6217802" y="1398434"/>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d</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8" name="Text Box 2774"/>
            <p:cNvSpPr txBox="1">
              <a:spLocks noChangeArrowheads="1"/>
            </p:cNvSpPr>
            <p:nvPr/>
          </p:nvSpPr>
          <p:spPr bwMode="auto">
            <a:xfrm>
              <a:off x="4217361" y="1574870"/>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9" name="Text Box 2775"/>
            <p:cNvSpPr txBox="1">
              <a:spLocks noChangeArrowheads="1"/>
            </p:cNvSpPr>
            <p:nvPr/>
          </p:nvSpPr>
          <p:spPr bwMode="auto">
            <a:xfrm>
              <a:off x="6740472" y="273859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0" name="Text Box 2776"/>
            <p:cNvSpPr txBox="1">
              <a:spLocks noChangeArrowheads="1"/>
            </p:cNvSpPr>
            <p:nvPr/>
          </p:nvSpPr>
          <p:spPr bwMode="auto">
            <a:xfrm>
              <a:off x="5697652" y="3128835"/>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d</a:t>
              </a:r>
              <a:r>
                <a:rPr kumimoji="1" lang="en-US" altLang="zh-CN" sz="1400" b="1" baseline="-2500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61" name="Text Box 2777"/>
            <p:cNvSpPr txBox="1">
              <a:spLocks noChangeArrowheads="1"/>
            </p:cNvSpPr>
            <p:nvPr/>
          </p:nvSpPr>
          <p:spPr bwMode="auto">
            <a:xfrm>
              <a:off x="4068849" y="300726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2" name="Text Box 2778"/>
            <p:cNvSpPr txBox="1">
              <a:spLocks noChangeArrowheads="1"/>
            </p:cNvSpPr>
            <p:nvPr/>
          </p:nvSpPr>
          <p:spPr bwMode="auto">
            <a:xfrm>
              <a:off x="3289381" y="238604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grpSp>
      <p:sp>
        <p:nvSpPr>
          <p:cNvPr id="4" name="矩形 3"/>
          <p:cNvSpPr/>
          <p:nvPr/>
        </p:nvSpPr>
        <p:spPr>
          <a:xfrm>
            <a:off x="734437" y="1558776"/>
            <a:ext cx="1773087" cy="2092881"/>
          </a:xfrm>
          <a:prstGeom prst="rect">
            <a:avLst/>
          </a:prstGeom>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P2P </a:t>
            </a:r>
            <a:r>
              <a:rPr lang="zh-CN" altLang="en-US" b="1" dirty="0">
                <a:latin typeface="微软雅黑" panose="020B0503020204020204" pitchFamily="34" charset="-122"/>
                <a:ea typeface="微软雅黑" panose="020B0503020204020204" pitchFamily="34" charset="-122"/>
              </a:rPr>
              <a:t>工作方式下，所有的音频</a:t>
            </a:r>
            <a:r>
              <a:rPr lang="en-US" altLang="zh-CN" b="1" dirty="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视频文件都是在普通的互联网</a:t>
            </a:r>
            <a:r>
              <a:rPr lang="zh-CN" altLang="en-US" b="1" dirty="0">
                <a:solidFill>
                  <a:srgbClr val="C00000"/>
                </a:solidFill>
                <a:latin typeface="微软雅黑" panose="020B0503020204020204" pitchFamily="34" charset="-122"/>
                <a:ea typeface="微软雅黑" panose="020B0503020204020204" pitchFamily="34" charset="-122"/>
              </a:rPr>
              <a:t>用户之间传输。</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519728" y="573924"/>
            <a:ext cx="61045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6.9.1 </a:t>
            </a:r>
            <a:r>
              <a:rPr lang="zh-CN" altLang="en-US" sz="2400" b="1" dirty="0" smtClean="0">
                <a:solidFill>
                  <a:schemeClr val="bg1"/>
                </a:solidFill>
                <a:latin typeface="微软雅黑" panose="020B0503020204020204" pitchFamily="34" charset="-122"/>
                <a:ea typeface="微软雅黑" panose="020B0503020204020204" pitchFamily="34" charset="-122"/>
              </a:rPr>
              <a:t>具有</a:t>
            </a:r>
            <a:r>
              <a:rPr lang="zh-CN" altLang="en-US" sz="2400" b="1" dirty="0">
                <a:solidFill>
                  <a:schemeClr val="bg1"/>
                </a:solidFill>
                <a:latin typeface="微软雅黑" panose="020B0503020204020204" pitchFamily="34" charset="-122"/>
                <a:ea typeface="微软雅黑" panose="020B0503020204020204" pitchFamily="34" charset="-122"/>
              </a:rPr>
              <a:t>集中目录服务器</a:t>
            </a:r>
            <a:r>
              <a:rPr lang="zh-CN" altLang="en-US" sz="2400" b="1" dirty="0" smtClean="0">
                <a:solidFill>
                  <a:schemeClr val="bg1"/>
                </a:solidFill>
                <a:latin typeface="微软雅黑" panose="020B0503020204020204" pitchFamily="34" charset="-122"/>
                <a:ea typeface="微软雅黑" panose="020B0503020204020204" pitchFamily="34" charset="-122"/>
              </a:rPr>
              <a:t>的 </a:t>
            </a:r>
            <a:r>
              <a:rPr lang="en-US" altLang="zh-CN" sz="2400" b="1" dirty="0" smtClean="0">
                <a:solidFill>
                  <a:schemeClr val="bg1"/>
                </a:solidFill>
                <a:latin typeface="微软雅黑" panose="020B0503020204020204" pitchFamily="34" charset="-122"/>
                <a:ea typeface="微软雅黑" panose="020B0503020204020204" pitchFamily="34" charset="-122"/>
              </a:rPr>
              <a:t>P2P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10413"/>
            <a:ext cx="778825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solidFill>
                  <a:srgbClr val="0000FF"/>
                </a:solidFill>
                <a:latin typeface="微软雅黑" panose="020B0503020204020204" pitchFamily="34" charset="-122"/>
                <a:ea typeface="微软雅黑" panose="020B0503020204020204" pitchFamily="34" charset="-122"/>
              </a:rPr>
              <a:t>最早</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技术</a:t>
            </a: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latin typeface="微软雅黑" panose="020B0503020204020204" pitchFamily="34" charset="-122"/>
                <a:ea typeface="微软雅黑" panose="020B0503020204020204" pitchFamily="34" charset="-122"/>
              </a:rPr>
              <a:t>免费下载 </a:t>
            </a:r>
            <a:r>
              <a:rPr lang="en-US" altLang="zh-CN" sz="2000" b="1" dirty="0">
                <a:latin typeface="微软雅黑" panose="020B0503020204020204" pitchFamily="34" charset="-122"/>
                <a:ea typeface="微软雅黑" panose="020B0503020204020204" pitchFamily="34" charset="-122"/>
              </a:rPr>
              <a:t>MP3 </a:t>
            </a:r>
            <a:r>
              <a:rPr lang="zh-CN" altLang="en-US" sz="2000" b="1" dirty="0">
                <a:latin typeface="微软雅黑" panose="020B0503020204020204" pitchFamily="34" charset="-122"/>
                <a:ea typeface="微软雅黑" panose="020B0503020204020204" pitchFamily="34" charset="-122"/>
              </a:rPr>
              <a:t>音乐。</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将所有</a:t>
            </a:r>
            <a:r>
              <a:rPr lang="zh-CN" altLang="en-US" sz="2000" b="1" dirty="0">
                <a:latin typeface="微软雅黑" panose="020B0503020204020204" pitchFamily="34" charset="-122"/>
                <a:ea typeface="微软雅黑" panose="020B0503020204020204" pitchFamily="34" charset="-122"/>
              </a:rPr>
              <a:t>音乐文件的索引信息都集中存放</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目录</a:t>
            </a:r>
            <a:r>
              <a:rPr lang="zh-CN" altLang="en-US" sz="2000" b="1" dirty="0">
                <a:latin typeface="微软雅黑" panose="020B0503020204020204" pitchFamily="34" charset="-122"/>
                <a:ea typeface="微软雅黑" panose="020B0503020204020204" pitchFamily="34" charset="-122"/>
              </a:rPr>
              <a:t>服务器中</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使用者只要查找目录服务器，就可知道应从何处下载所要</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MP3 </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要及时向 </a:t>
            </a:r>
            <a:r>
              <a:rPr lang="en-US" altLang="zh-CN" sz="2000" b="1" dirty="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的目录服务器报告自己存有的音乐文件</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的文件传输是</a:t>
            </a:r>
            <a:r>
              <a:rPr lang="zh-CN" altLang="en-US" sz="2000" b="1" dirty="0">
                <a:solidFill>
                  <a:srgbClr val="C00000"/>
                </a:solidFill>
                <a:latin typeface="微软雅黑" panose="020B0503020204020204" pitchFamily="34" charset="-122"/>
                <a:ea typeface="微软雅黑" panose="020B0503020204020204" pitchFamily="34" charset="-122"/>
              </a:rPr>
              <a:t>分散</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的定位则是</a:t>
            </a:r>
            <a:r>
              <a:rPr lang="zh-CN" altLang="en-US" sz="2000" b="1" dirty="0">
                <a:solidFill>
                  <a:srgbClr val="C00000"/>
                </a:solidFill>
                <a:latin typeface="微软雅黑" panose="020B0503020204020204" pitchFamily="34" charset="-122"/>
                <a:ea typeface="微软雅黑" panose="020B0503020204020204" pitchFamily="34" charset="-122"/>
              </a:rPr>
              <a:t>集中</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6"/>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7"/>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9"/>
          <a:ext cx="575345" cy="1000249"/>
        </p:xfrm>
        <a:graphic>
          <a:graphicData uri="http://schemas.openxmlformats.org/presentationml/2006/ole">
            <mc:AlternateContent xmlns:mc="http://schemas.openxmlformats.org/markup-compatibility/2006">
              <mc:Choice xmlns:v="urn:schemas-microsoft-com:vml" Requires="v">
                <p:oleObj spid="_x0000_s29697" name="Microsoft ClipArt Gallery" r:id="rId1" imgW="16411575" imgH="22955250" progId="">
                  <p:embed/>
                </p:oleObj>
              </mc:Choice>
              <mc:Fallback>
                <p:oleObj name="Microsoft ClipArt Gallery" r:id="rId1" imgW="16411575" imgH="22955250" progId="">
                  <p:embed/>
                  <p:pic>
                    <p:nvPicPr>
                      <p:cNvPr id="0" name="图片 29696"/>
                      <p:cNvPicPr/>
                      <p:nvPr/>
                    </p:nvPicPr>
                    <p:blipFill>
                      <a:blip r:embed="rId2"/>
                      <a:stretch>
                        <a:fillRect/>
                      </a:stretch>
                    </p:blipFill>
                    <p:spPr>
                      <a:xfrm>
                        <a:off x="2812570" y="1986319"/>
                        <a:ext cx="575345" cy="1000249"/>
                      </a:xfrm>
                      <a:prstGeom prst="rect">
                        <a:avLst/>
                      </a:prstGeom>
                      <a:noFill/>
                      <a:ln w="12700">
                        <a:noFill/>
                      </a:ln>
                    </p:spPr>
                  </p:pic>
                </p:oleObj>
              </mc:Fallback>
            </mc:AlternateContent>
          </a:graphicData>
        </a:graphic>
      </p:graphicFrame>
      <p:sp>
        <p:nvSpPr>
          <p:cNvPr id="9"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0" name="Picture 9"/>
          <p:cNvPicPr>
            <a:picLocks noChangeArrowheads="1"/>
          </p:cNvPicPr>
          <p:nvPr/>
        </p:nvPicPr>
        <p:blipFill>
          <a:blip r:embed="rId3" cstate="print"/>
          <a:srcRect/>
          <a:stretch>
            <a:fillRect/>
          </a:stretch>
        </p:blipFill>
        <p:spPr bwMode="auto">
          <a:xfrm>
            <a:off x="4784684" y="1215251"/>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3"/>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5"/>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5"/>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3"/>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1"/>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7"/>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1"/>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5"/>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1"/>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9"/>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1"/>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5"/>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4"/>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5"/>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7"/>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9"/>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9"/>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90"/>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grpSp>
        <p:nvGrpSpPr>
          <p:cNvPr id="34" name="组合 33"/>
          <p:cNvGrpSpPr/>
          <p:nvPr/>
        </p:nvGrpSpPr>
        <p:grpSpPr>
          <a:xfrm>
            <a:off x="3742318" y="1800008"/>
            <a:ext cx="4540548" cy="656590"/>
            <a:chOff x="3703202" y="3664310"/>
            <a:chExt cx="4540548" cy="656590"/>
          </a:xfrm>
        </p:grpSpPr>
        <p:sp>
          <p:nvSpPr>
            <p:cNvPr id="4" name="矩形 3"/>
            <p:cNvSpPr/>
            <p:nvPr/>
          </p:nvSpPr>
          <p:spPr>
            <a:xfrm>
              <a:off x="3703202" y="3664310"/>
              <a:ext cx="4540548" cy="656590"/>
            </a:xfrm>
            <a:prstGeom prst="rect">
              <a:avLst/>
            </a:prstGeom>
            <a:solidFill>
              <a:srgbClr val="0000FF"/>
            </a:solidFill>
          </p:spPr>
          <p:txBody>
            <a:bodyPr wrap="square">
              <a:spAutoFit/>
            </a:bodyPr>
            <a:lstStyle/>
            <a:p>
              <a:pPr marL="452755">
                <a:lnSpc>
                  <a:spcPts val="2200"/>
                </a:lnSpc>
              </a:pPr>
              <a:r>
                <a:rPr lang="zh-CN" altLang="en-US" sz="1600" b="1" dirty="0" smtClean="0">
                  <a:solidFill>
                    <a:schemeClr val="bg1"/>
                  </a:solidFill>
                  <a:latin typeface="微软雅黑" panose="020B0503020204020204" pitchFamily="34" charset="-122"/>
                  <a:ea typeface="微软雅黑" panose="020B0503020204020204" pitchFamily="34" charset="-122"/>
                </a:rPr>
                <a:t>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向 </a:t>
              </a:r>
              <a:r>
                <a:rPr lang="en-US" altLang="zh-CN" sz="1600" b="1" dirty="0" smtClean="0">
                  <a:solidFill>
                    <a:schemeClr val="bg1"/>
                  </a:solidFill>
                  <a:latin typeface="微软雅黑" panose="020B0503020204020204" pitchFamily="34" charset="-122"/>
                  <a:ea typeface="微软雅黑" panose="020B0503020204020204" pitchFamily="34" charset="-122"/>
                </a:rPr>
                <a:t>Napster </a:t>
              </a:r>
              <a:r>
                <a:rPr lang="zh-CN" altLang="en-US" sz="1600" b="1" dirty="0" smtClean="0">
                  <a:solidFill>
                    <a:schemeClr val="bg1"/>
                  </a:solidFill>
                  <a:latin typeface="微软雅黑" panose="020B0503020204020204" pitchFamily="34" charset="-122"/>
                  <a:ea typeface="微软雅黑" panose="020B0503020204020204" pitchFamily="34" charset="-122"/>
                </a:rPr>
                <a:t>目录</a:t>
              </a:r>
              <a:r>
                <a:rPr lang="zh-CN" altLang="en-US" sz="1600" b="1" dirty="0">
                  <a:solidFill>
                    <a:schemeClr val="bg1"/>
                  </a:solidFill>
                  <a:latin typeface="微软雅黑" panose="020B0503020204020204" pitchFamily="34" charset="-122"/>
                  <a:ea typeface="微软雅黑" panose="020B0503020204020204" pitchFamily="34" charset="-122"/>
                </a:rPr>
                <a:t>服务器查询</a:t>
              </a:r>
              <a:r>
                <a:rPr lang="zh-CN" altLang="en-US" sz="1600" b="1" dirty="0" smtClean="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采用</a:t>
              </a:r>
              <a:r>
                <a:rPr lang="zh-CN" altLang="en-US" sz="1600" b="1" dirty="0" smtClean="0">
                  <a:solidFill>
                    <a:schemeClr val="bg1"/>
                  </a:solidFill>
                  <a:latin typeface="微软雅黑" panose="020B0503020204020204" pitchFamily="34" charset="-122"/>
                  <a:ea typeface="微软雅黑" panose="020B0503020204020204" pitchFamily="34" charset="-122"/>
                </a:rPr>
                <a:t>客户服务器</a:t>
              </a:r>
              <a:r>
                <a:rPr lang="zh-CN" altLang="en-US" sz="1600" b="1" dirty="0">
                  <a:solidFill>
                    <a:schemeClr val="bg1"/>
                  </a:solidFill>
                  <a:latin typeface="微软雅黑" panose="020B0503020204020204" pitchFamily="34" charset="-122"/>
                  <a:ea typeface="微软雅黑" panose="020B0503020204020204" pitchFamily="34" charset="-122"/>
                </a:rPr>
                <a:t>方式）谁有音乐</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a:t>
              </a:r>
              <a:r>
                <a:rPr lang="en-US" altLang="zh-CN" sz="1600" b="1" dirty="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3" name="TextBox 32"/>
            <p:cNvSpPr txBox="1"/>
            <p:nvPr/>
          </p:nvSpPr>
          <p:spPr>
            <a:xfrm>
              <a:off x="3790252" y="3760902"/>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0721" name="Microsoft ClipArt Gallery" r:id="rId1" imgW="16411575" imgH="22955250" progId="">
                  <p:embed/>
                </p:oleObj>
              </mc:Choice>
              <mc:Fallback>
                <p:oleObj name="Microsoft ClipArt Gallery" r:id="rId1" imgW="16411575" imgH="22955250" progId="">
                  <p:embed/>
                  <p:pic>
                    <p:nvPicPr>
                      <p:cNvPr id="0" name="图片 30720"/>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grpSp>
        <p:nvGrpSpPr>
          <p:cNvPr id="7" name="组合 6"/>
          <p:cNvGrpSpPr/>
          <p:nvPr/>
        </p:nvGrpSpPr>
        <p:grpSpPr>
          <a:xfrm>
            <a:off x="3737691" y="1211357"/>
            <a:ext cx="4326691" cy="1220847"/>
            <a:chOff x="3737691" y="1255747"/>
            <a:chExt cx="4326691" cy="1220847"/>
          </a:xfrm>
        </p:grpSpPr>
        <p:sp>
          <p:nvSpPr>
            <p:cNvPr id="4" name="矩形 3"/>
            <p:cNvSpPr/>
            <p:nvPr/>
          </p:nvSpPr>
          <p:spPr>
            <a:xfrm>
              <a:off x="3737691" y="1255747"/>
              <a:ext cx="4326691" cy="1220847"/>
            </a:xfrm>
            <a:prstGeom prst="rect">
              <a:avLst/>
            </a:prstGeom>
            <a:solidFill>
              <a:srgbClr val="0000FF"/>
            </a:solidFill>
          </p:spPr>
          <p:txBody>
            <a:bodyPr wrap="square">
              <a:spAutoFit/>
            </a:bodyPr>
            <a:lstStyle/>
            <a:p>
              <a:pPr marL="452755">
                <a:lnSpc>
                  <a:spcPts val="2200"/>
                </a:lnSpc>
              </a:pPr>
              <a:r>
                <a:rPr lang="en-US" altLang="zh-CN" sz="1600" b="1" dirty="0" smtClean="0">
                  <a:solidFill>
                    <a:schemeClr val="bg1"/>
                  </a:solidFill>
                  <a:latin typeface="微软雅黑" panose="020B0503020204020204" pitchFamily="34" charset="-122"/>
                  <a:ea typeface="微软雅黑" panose="020B0503020204020204" pitchFamily="34" charset="-122"/>
                </a:rPr>
                <a:t>Napster </a:t>
              </a:r>
              <a:r>
                <a:rPr lang="zh-CN" altLang="en-US" sz="1600" b="1" dirty="0" smtClean="0">
                  <a:solidFill>
                    <a:schemeClr val="bg1"/>
                  </a:solidFill>
                  <a:latin typeface="微软雅黑" panose="020B0503020204020204" pitchFamily="34" charset="-122"/>
                  <a:ea typeface="微软雅黑" panose="020B0503020204020204" pitchFamily="34" charset="-122"/>
                </a:rPr>
                <a:t>目录</a:t>
              </a:r>
              <a:r>
                <a:rPr lang="zh-CN" altLang="en-US" sz="1600" b="1" dirty="0">
                  <a:solidFill>
                    <a:schemeClr val="bg1"/>
                  </a:solidFill>
                  <a:latin typeface="微软雅黑" panose="020B0503020204020204" pitchFamily="34" charset="-122"/>
                  <a:ea typeface="微软雅黑" panose="020B0503020204020204" pitchFamily="34" charset="-122"/>
                </a:rPr>
                <a:t>服务器</a:t>
              </a:r>
              <a:r>
                <a:rPr lang="zh-CN" altLang="en-US" sz="1600" b="1" dirty="0" smtClean="0">
                  <a:solidFill>
                    <a:schemeClr val="bg1"/>
                  </a:solidFill>
                  <a:latin typeface="微软雅黑" panose="020B0503020204020204" pitchFamily="34" charset="-122"/>
                  <a:ea typeface="微软雅黑" panose="020B0503020204020204" pitchFamily="34" charset="-122"/>
                </a:rPr>
                <a:t>回答 </a:t>
              </a:r>
              <a:r>
                <a:rPr lang="en-US" altLang="zh-CN" sz="1600" b="1" dirty="0" smtClean="0">
                  <a:solidFill>
                    <a:schemeClr val="bg1"/>
                  </a:solidFill>
                  <a:latin typeface="微软雅黑" panose="020B0503020204020204" pitchFamily="34" charset="-122"/>
                  <a:ea typeface="微软雅黑" panose="020B0503020204020204" pitchFamily="34" charset="-122"/>
                </a:rPr>
                <a:t>X</a:t>
              </a:r>
              <a:r>
                <a:rPr lang="zh-CN" altLang="en-US" sz="1600" b="1" dirty="0">
                  <a:solidFill>
                    <a:schemeClr val="bg1"/>
                  </a:solidFill>
                  <a:latin typeface="微软雅黑" panose="020B0503020204020204" pitchFamily="34" charset="-122"/>
                  <a:ea typeface="微软雅黑" panose="020B0503020204020204" pitchFamily="34" charset="-122"/>
                </a:rPr>
                <a:t>：有三个地点有</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a:t>
              </a:r>
              <a:r>
                <a:rPr lang="en-US" altLang="zh-CN" sz="1600" b="1" dirty="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a:t>
              </a:r>
              <a:r>
                <a:rPr lang="zh-CN" altLang="en-US" sz="1600" b="1" dirty="0" smtClean="0">
                  <a:solidFill>
                    <a:schemeClr val="bg1"/>
                  </a:solidFill>
                  <a:latin typeface="微软雅黑" panose="020B0503020204020204" pitchFamily="34" charset="-122"/>
                  <a:ea typeface="微软雅黑" panose="020B0503020204020204" pitchFamily="34" charset="-122"/>
                </a:rPr>
                <a:t>即 </a:t>
              </a:r>
              <a:r>
                <a:rPr lang="en-US" altLang="zh-CN" sz="1600" b="1" dirty="0" smtClean="0">
                  <a:solidFill>
                    <a:schemeClr val="bg1"/>
                  </a:solidFill>
                  <a:latin typeface="微软雅黑" panose="020B0503020204020204" pitchFamily="34" charset="-122"/>
                  <a:ea typeface="微软雅黑" panose="020B0503020204020204" pitchFamily="34" charset="-122"/>
                </a:rPr>
                <a:t>A</a:t>
              </a:r>
              <a:r>
                <a:rPr lang="en-US" altLang="zh-CN" sz="1600" b="1" dirty="0">
                  <a:solidFill>
                    <a:schemeClr val="bg1"/>
                  </a:solidFill>
                  <a:latin typeface="微软雅黑" panose="020B0503020204020204" pitchFamily="34" charset="-122"/>
                  <a:ea typeface="微软雅黑" panose="020B0503020204020204" pitchFamily="34" charset="-122"/>
                </a:rPr>
                <a:t>, </a:t>
              </a:r>
              <a:r>
                <a:rPr lang="en-US" altLang="zh-CN" sz="1600" b="1" dirty="0" smtClean="0">
                  <a:solidFill>
                    <a:schemeClr val="bg1"/>
                  </a:solidFill>
                  <a:latin typeface="微软雅黑" panose="020B0503020204020204" pitchFamily="34" charset="-122"/>
                  <a:ea typeface="微软雅黑" panose="020B0503020204020204" pitchFamily="34" charset="-122"/>
                </a:rPr>
                <a:t>B </a:t>
              </a:r>
              <a:r>
                <a:rPr lang="zh-CN" altLang="en-US" sz="1600" b="1" dirty="0" smtClean="0">
                  <a:solidFill>
                    <a:schemeClr val="bg1"/>
                  </a:solidFill>
                  <a:latin typeface="微软雅黑" panose="020B0503020204020204" pitchFamily="34" charset="-122"/>
                  <a:ea typeface="微软雅黑" panose="020B0503020204020204" pitchFamily="34" charset="-122"/>
                </a:rPr>
                <a:t>和 </a:t>
              </a:r>
              <a:r>
                <a:rPr lang="en-US" altLang="zh-CN" sz="1600" b="1" dirty="0" smtClean="0">
                  <a:solidFill>
                    <a:schemeClr val="bg1"/>
                  </a:solidFill>
                  <a:latin typeface="微软雅黑" panose="020B0503020204020204" pitchFamily="34" charset="-122"/>
                  <a:ea typeface="微软雅黑" panose="020B0503020204020204" pitchFamily="34" charset="-122"/>
                </a:rPr>
                <a:t>C</a:t>
              </a:r>
              <a:r>
                <a:rPr lang="zh-CN" altLang="en-US" sz="1600" b="1" dirty="0">
                  <a:solidFill>
                    <a:schemeClr val="bg1"/>
                  </a:solidFill>
                  <a:latin typeface="微软雅黑" panose="020B0503020204020204" pitchFamily="34" charset="-122"/>
                  <a:ea typeface="微软雅黑" panose="020B0503020204020204" pitchFamily="34" charset="-122"/>
                </a:rPr>
                <a:t>（给出了这三个地点</a:t>
              </a:r>
              <a:r>
                <a:rPr lang="zh-CN" altLang="en-US" sz="1600" b="1" dirty="0" smtClean="0">
                  <a:solidFill>
                    <a:schemeClr val="bg1"/>
                  </a:solidFill>
                  <a:latin typeface="微软雅黑" panose="020B0503020204020204" pitchFamily="34" charset="-122"/>
                  <a:ea typeface="微软雅黑" panose="020B0503020204020204" pitchFamily="34" charset="-122"/>
                </a:rPr>
                <a:t>的 </a:t>
              </a:r>
              <a:r>
                <a:rPr lang="en-US" altLang="zh-CN" sz="1600" b="1" dirty="0" smtClean="0">
                  <a:solidFill>
                    <a:schemeClr val="bg1"/>
                  </a:solidFill>
                  <a:latin typeface="微软雅黑" panose="020B0503020204020204" pitchFamily="34" charset="-122"/>
                  <a:ea typeface="微软雅黑" panose="020B0503020204020204" pitchFamily="34" charset="-122"/>
                </a:rPr>
                <a:t>IP </a:t>
              </a:r>
              <a:r>
                <a:rPr lang="zh-CN" altLang="en-US" sz="1600" b="1" dirty="0" smtClean="0">
                  <a:solidFill>
                    <a:schemeClr val="bg1"/>
                  </a:solidFill>
                  <a:latin typeface="微软雅黑" panose="020B0503020204020204" pitchFamily="34" charset="-122"/>
                  <a:ea typeface="微软雅黑" panose="020B0503020204020204" pitchFamily="34" charset="-122"/>
                </a:rPr>
                <a:t>地址</a:t>
              </a:r>
              <a:r>
                <a:rPr lang="zh-CN" altLang="en-US" sz="1600" b="1" dirty="0">
                  <a:solidFill>
                    <a:schemeClr val="bg1"/>
                  </a:solidFill>
                  <a:latin typeface="微软雅黑" panose="020B0503020204020204" pitchFamily="34" charset="-122"/>
                  <a:ea typeface="微软雅黑" panose="020B0503020204020204" pitchFamily="34" charset="-122"/>
                </a:rPr>
                <a:t>）</a:t>
              </a:r>
              <a:r>
                <a:rPr lang="zh-CN" altLang="en-US" sz="1600" b="1" dirty="0" smtClean="0">
                  <a:solidFill>
                    <a:schemeClr val="bg1"/>
                  </a:solidFill>
                  <a:latin typeface="微软雅黑" panose="020B0503020204020204" pitchFamily="34" charset="-122"/>
                  <a:ea typeface="微软雅黑" panose="020B0503020204020204" pitchFamily="34" charset="-122"/>
                </a:rPr>
                <a:t>。于是用户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得知</a:t>
              </a:r>
              <a:r>
                <a:rPr lang="zh-CN" altLang="en-US" sz="1600" b="1" dirty="0">
                  <a:solidFill>
                    <a:schemeClr val="bg1"/>
                  </a:solidFill>
                  <a:latin typeface="微软雅黑" panose="020B0503020204020204" pitchFamily="34" charset="-122"/>
                  <a:ea typeface="微软雅黑" panose="020B0503020204020204" pitchFamily="34" charset="-122"/>
                </a:rPr>
                <a:t>所需的</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的</a:t>
              </a:r>
              <a:r>
                <a:rPr lang="zh-CN" altLang="en-US" sz="1600" b="1" dirty="0">
                  <a:solidFill>
                    <a:schemeClr val="bg1"/>
                  </a:solidFill>
                  <a:latin typeface="微软雅黑" panose="020B0503020204020204" pitchFamily="34" charset="-122"/>
                  <a:ea typeface="微软雅黑" panose="020B0503020204020204" pitchFamily="34" charset="-122"/>
                </a:rPr>
                <a:t>三个下载</a:t>
              </a:r>
              <a:r>
                <a:rPr lang="zh-CN" altLang="en-US" sz="1600" b="1" dirty="0" smtClean="0">
                  <a:solidFill>
                    <a:schemeClr val="bg1"/>
                  </a:solidFill>
                  <a:latin typeface="微软雅黑" panose="020B0503020204020204" pitchFamily="34" charset="-122"/>
                  <a:ea typeface="微软雅黑" panose="020B0503020204020204" pitchFamily="34" charset="-122"/>
                </a:rPr>
                <a:t>地点。</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5" name="TextBox 34"/>
            <p:cNvSpPr txBox="1"/>
            <p:nvPr/>
          </p:nvSpPr>
          <p:spPr>
            <a:xfrm>
              <a:off x="3798061" y="1626188"/>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1745" name="Microsoft ClipArt Gallery" r:id="rId1" imgW="16411575" imgH="22955250" progId="">
                  <p:embed/>
                </p:oleObj>
              </mc:Choice>
              <mc:Fallback>
                <p:oleObj name="Microsoft ClipArt Gallery" r:id="rId1" imgW="16411575" imgH="22955250" progId="">
                  <p:embed/>
                  <p:pic>
                    <p:nvPicPr>
                      <p:cNvPr id="0" name="图片 31744"/>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7" name="组合 6"/>
          <p:cNvGrpSpPr/>
          <p:nvPr/>
        </p:nvGrpSpPr>
        <p:grpSpPr>
          <a:xfrm>
            <a:off x="1015810" y="1375405"/>
            <a:ext cx="3592532" cy="1220847"/>
            <a:chOff x="1015810" y="1419795"/>
            <a:chExt cx="3592532" cy="1220847"/>
          </a:xfrm>
        </p:grpSpPr>
        <p:sp>
          <p:nvSpPr>
            <p:cNvPr id="4" name="矩形 3"/>
            <p:cNvSpPr/>
            <p:nvPr/>
          </p:nvSpPr>
          <p:spPr>
            <a:xfrm>
              <a:off x="1015810" y="1419795"/>
              <a:ext cx="3592532" cy="1220847"/>
            </a:xfrm>
            <a:prstGeom prst="rect">
              <a:avLst/>
            </a:prstGeom>
            <a:solidFill>
              <a:srgbClr val="0000FF"/>
            </a:solidFill>
          </p:spPr>
          <p:txBody>
            <a:bodyPr wrap="square">
              <a:spAutoFit/>
            </a:bodyPr>
            <a:lstStyle/>
            <a:p>
              <a:pPr marL="452755">
                <a:lnSpc>
                  <a:spcPts val="2200"/>
                </a:lnSpc>
              </a:pPr>
              <a:r>
                <a:rPr lang="zh-CN" altLang="en-US" sz="1600" b="1" dirty="0" smtClean="0">
                  <a:solidFill>
                    <a:schemeClr val="bg1"/>
                  </a:solidFill>
                  <a:latin typeface="微软雅黑" panose="020B0503020204020204" pitchFamily="34" charset="-122"/>
                  <a:ea typeface="微软雅黑" panose="020B0503020204020204" pitchFamily="34" charset="-122"/>
                </a:rPr>
                <a:t>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可以</a:t>
              </a:r>
              <a:r>
                <a:rPr lang="zh-CN" altLang="en-US" sz="1600" b="1" dirty="0">
                  <a:solidFill>
                    <a:srgbClr val="FFFF00"/>
                  </a:solidFill>
                  <a:latin typeface="微软雅黑" panose="020B0503020204020204" pitchFamily="34" charset="-122"/>
                  <a:ea typeface="微软雅黑" panose="020B0503020204020204" pitchFamily="34" charset="-122"/>
                </a:rPr>
                <a:t>随机</a:t>
              </a:r>
              <a:r>
                <a:rPr lang="zh-CN" altLang="en-US" sz="1600" b="1" dirty="0">
                  <a:solidFill>
                    <a:schemeClr val="bg1"/>
                  </a:solidFill>
                  <a:latin typeface="微软雅黑" panose="020B0503020204020204" pitchFamily="34" charset="-122"/>
                  <a:ea typeface="微软雅黑" panose="020B0503020204020204" pitchFamily="34" charset="-122"/>
                </a:rPr>
                <a:t>地选择三个地点中的任一个。</a:t>
              </a:r>
              <a:r>
                <a:rPr lang="zh-CN" altLang="en-US" sz="1600" b="1" dirty="0" smtClean="0">
                  <a:solidFill>
                    <a:schemeClr val="bg1"/>
                  </a:solidFill>
                  <a:latin typeface="微软雅黑" panose="020B0503020204020204" pitchFamily="34" charset="-122"/>
                  <a:ea typeface="微软雅黑" panose="020B0503020204020204" pitchFamily="34" charset="-122"/>
                </a:rPr>
                <a:t>假定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向 </a:t>
              </a:r>
              <a:r>
                <a:rPr lang="en-US" altLang="zh-CN" sz="1600" b="1" dirty="0" smtClean="0">
                  <a:solidFill>
                    <a:schemeClr val="bg1"/>
                  </a:solidFill>
                  <a:latin typeface="微软雅黑" panose="020B0503020204020204" pitchFamily="34" charset="-122"/>
                  <a:ea typeface="微软雅黑" panose="020B0503020204020204" pitchFamily="34" charset="-122"/>
                </a:rPr>
                <a:t>A </a:t>
              </a:r>
              <a:r>
                <a:rPr lang="zh-CN" altLang="en-US" sz="1600" b="1" dirty="0" smtClean="0">
                  <a:solidFill>
                    <a:schemeClr val="bg1"/>
                  </a:solidFill>
                  <a:latin typeface="微软雅黑" panose="020B0503020204020204" pitchFamily="34" charset="-122"/>
                  <a:ea typeface="微软雅黑" panose="020B0503020204020204" pitchFamily="34" charset="-122"/>
                </a:rPr>
                <a:t>发送</a:t>
              </a:r>
              <a:r>
                <a:rPr lang="zh-CN" altLang="en-US" sz="1600" b="1" dirty="0">
                  <a:solidFill>
                    <a:schemeClr val="bg1"/>
                  </a:solidFill>
                  <a:latin typeface="微软雅黑" panose="020B0503020204020204" pitchFamily="34" charset="-122"/>
                  <a:ea typeface="微软雅黑" panose="020B0503020204020204" pitchFamily="34" charset="-122"/>
                </a:rPr>
                <a:t>下载</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的</a:t>
              </a:r>
              <a:r>
                <a:rPr lang="zh-CN" altLang="en-US" sz="1600" b="1" dirty="0">
                  <a:solidFill>
                    <a:schemeClr val="bg1"/>
                  </a:solidFill>
                  <a:latin typeface="微软雅黑" panose="020B0503020204020204" pitchFamily="34" charset="-122"/>
                  <a:ea typeface="微软雅黑" panose="020B0503020204020204" pitchFamily="34" charset="-122"/>
                </a:rPr>
                <a:t>请求报文</a:t>
              </a:r>
              <a:r>
                <a:rPr lang="zh-CN" altLang="en-US" sz="1600" b="1" dirty="0" smtClean="0">
                  <a:solidFill>
                    <a:schemeClr val="bg1"/>
                  </a:solidFill>
                  <a:latin typeface="微软雅黑" panose="020B0503020204020204" pitchFamily="34" charset="-122"/>
                  <a:ea typeface="微软雅黑" panose="020B0503020204020204" pitchFamily="34" charset="-122"/>
                </a:rPr>
                <a:t>。双方都使用 </a:t>
              </a:r>
              <a:r>
                <a:rPr lang="en-US" altLang="zh-CN" sz="1600" b="1" dirty="0" smtClean="0">
                  <a:solidFill>
                    <a:schemeClr val="bg1"/>
                  </a:solidFill>
                  <a:latin typeface="微软雅黑" panose="020B0503020204020204" pitchFamily="34" charset="-122"/>
                  <a:ea typeface="微软雅黑" panose="020B0503020204020204" pitchFamily="34" charset="-122"/>
                </a:rPr>
                <a:t>P2P </a:t>
              </a:r>
              <a:r>
                <a:rPr lang="zh-CN" altLang="en-US" sz="1600" b="1" dirty="0" smtClean="0">
                  <a:solidFill>
                    <a:schemeClr val="bg1"/>
                  </a:solidFill>
                  <a:latin typeface="微软雅黑" panose="020B0503020204020204" pitchFamily="34" charset="-122"/>
                  <a:ea typeface="微软雅黑" panose="020B0503020204020204" pitchFamily="34" charset="-122"/>
                </a:rPr>
                <a:t>方式通信。</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3" name="TextBox 32"/>
            <p:cNvSpPr txBox="1"/>
            <p:nvPr/>
          </p:nvSpPr>
          <p:spPr>
            <a:xfrm>
              <a:off x="1105843" y="1765640"/>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2769" name="Microsoft ClipArt Gallery" r:id="rId1" imgW="16411575" imgH="22955250" progId="">
                  <p:embed/>
                </p:oleObj>
              </mc:Choice>
              <mc:Fallback>
                <p:oleObj name="Microsoft ClipArt Gallery" r:id="rId1" imgW="16411575" imgH="22955250" progId="">
                  <p:embed/>
                  <p:pic>
                    <p:nvPicPr>
                      <p:cNvPr id="0" name="图片 32768"/>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sp>
        <p:nvSpPr>
          <p:cNvPr id="35"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7" name="组合 6"/>
          <p:cNvGrpSpPr/>
          <p:nvPr/>
        </p:nvGrpSpPr>
        <p:grpSpPr>
          <a:xfrm>
            <a:off x="1057850" y="1501525"/>
            <a:ext cx="3592532" cy="656590"/>
            <a:chOff x="1057850" y="1545915"/>
            <a:chExt cx="3592532" cy="656590"/>
          </a:xfrm>
        </p:grpSpPr>
        <p:sp>
          <p:nvSpPr>
            <p:cNvPr id="4" name="矩形 3"/>
            <p:cNvSpPr/>
            <p:nvPr/>
          </p:nvSpPr>
          <p:spPr>
            <a:xfrm>
              <a:off x="1057850" y="1545915"/>
              <a:ext cx="3592532" cy="656590"/>
            </a:xfrm>
            <a:prstGeom prst="rect">
              <a:avLst/>
            </a:prstGeom>
            <a:solidFill>
              <a:srgbClr val="0000FF"/>
            </a:solidFill>
          </p:spPr>
          <p:txBody>
            <a:bodyPr wrap="square">
              <a:spAutoFit/>
            </a:bodyPr>
            <a:lstStyle/>
            <a:p>
              <a:pPr marL="452755">
                <a:lnSpc>
                  <a:spcPts val="2200"/>
                </a:lnSpc>
              </a:pPr>
              <a:r>
                <a:rPr lang="zh-CN" altLang="en-US" sz="1600" b="1" dirty="0">
                  <a:solidFill>
                    <a:schemeClr val="bg1"/>
                  </a:solidFill>
                  <a:latin typeface="微软雅黑" panose="020B0503020204020204" pitchFamily="34" charset="-122"/>
                  <a:ea typeface="微软雅黑" panose="020B0503020204020204" pitchFamily="34" charset="-122"/>
                </a:rPr>
                <a:t>对等</a:t>
              </a:r>
              <a:r>
                <a:rPr lang="zh-CN" altLang="en-US" sz="1600" b="1" dirty="0" smtClean="0">
                  <a:solidFill>
                    <a:schemeClr val="bg1"/>
                  </a:solidFill>
                  <a:latin typeface="微软雅黑" panose="020B0503020204020204" pitchFamily="34" charset="-122"/>
                  <a:ea typeface="微软雅黑" panose="020B0503020204020204" pitchFamily="34" charset="-122"/>
                </a:rPr>
                <a:t>方 </a:t>
              </a:r>
              <a:r>
                <a:rPr lang="en-US" altLang="zh-CN" sz="1600" b="1" dirty="0" smtClean="0">
                  <a:solidFill>
                    <a:schemeClr val="bg1"/>
                  </a:solidFill>
                  <a:latin typeface="微软雅黑" panose="020B0503020204020204" pitchFamily="34" charset="-122"/>
                  <a:ea typeface="微软雅黑" panose="020B0503020204020204" pitchFamily="34" charset="-122"/>
                </a:rPr>
                <a:t>A</a:t>
              </a:r>
              <a:r>
                <a:rPr lang="zh-CN" altLang="en-US" sz="1600" b="1" dirty="0">
                  <a:solidFill>
                    <a:schemeClr val="bg1"/>
                  </a:solidFill>
                  <a:latin typeface="微软雅黑" panose="020B0503020204020204" pitchFamily="34" charset="-122"/>
                  <a:ea typeface="微软雅黑" panose="020B0503020204020204" pitchFamily="34" charset="-122"/>
                </a:rPr>
                <a:t>（现在作为服务器）把</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发送给 </a:t>
              </a:r>
              <a:r>
                <a:rPr lang="en-US" altLang="zh-CN" sz="1600" b="1" dirty="0" smtClean="0">
                  <a:solidFill>
                    <a:schemeClr val="bg1"/>
                  </a:solidFill>
                  <a:latin typeface="微软雅黑" panose="020B0503020204020204" pitchFamily="34" charset="-122"/>
                  <a:ea typeface="微软雅黑" panose="020B0503020204020204" pitchFamily="34" charset="-122"/>
                </a:rPr>
                <a:t>X</a:t>
              </a:r>
              <a:r>
                <a:rPr lang="zh-CN" altLang="en-US" sz="1600" b="1" dirty="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4" name="TextBox 33"/>
            <p:cNvSpPr txBox="1"/>
            <p:nvPr/>
          </p:nvSpPr>
          <p:spPr>
            <a:xfrm>
              <a:off x="1130719" y="1651093"/>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78380" y="576596"/>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集中式目录</a:t>
            </a:r>
            <a:r>
              <a:rPr lang="zh-CN" altLang="en-US" sz="2000" b="1" dirty="0">
                <a:solidFill>
                  <a:schemeClr val="bg1"/>
                </a:solidFill>
                <a:latin typeface="微软雅黑" panose="020B0503020204020204" pitchFamily="34" charset="-122"/>
                <a:ea typeface="微软雅黑" panose="020B0503020204020204" pitchFamily="34" charset="-122"/>
              </a:rPr>
              <a:t>服务器</a:t>
            </a:r>
            <a:r>
              <a:rPr lang="zh-CN" altLang="en-US" sz="2000" b="1" dirty="0" smtClean="0">
                <a:solidFill>
                  <a:schemeClr val="bg1"/>
                </a:solidFill>
                <a:latin typeface="微软雅黑" panose="020B0503020204020204" pitchFamily="34" charset="-122"/>
                <a:ea typeface="微软雅黑" panose="020B0503020204020204" pitchFamily="34" charset="-122"/>
              </a:rPr>
              <a:t>的缺点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0897"/>
            <a:ext cx="8212134"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可靠性差。</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会成为性能</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瓶颈。</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8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365839" y="568509"/>
            <a:ext cx="64123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6.9.2 </a:t>
            </a:r>
            <a:r>
              <a:rPr lang="zh-CN" altLang="en-US" sz="2400" b="1" dirty="0" smtClean="0">
                <a:solidFill>
                  <a:schemeClr val="bg1"/>
                </a:solidFill>
                <a:latin typeface="微软雅黑" panose="020B0503020204020204" pitchFamily="34" charset="-122"/>
                <a:ea typeface="微软雅黑" panose="020B0503020204020204" pitchFamily="34" charset="-122"/>
              </a:rPr>
              <a:t>具有</a:t>
            </a:r>
            <a:r>
              <a:rPr lang="zh-CN" altLang="en-US" sz="2400" b="1" dirty="0">
                <a:solidFill>
                  <a:schemeClr val="bg1"/>
                </a:solidFill>
                <a:latin typeface="微软雅黑" panose="020B0503020204020204" pitchFamily="34" charset="-122"/>
                <a:ea typeface="微软雅黑" panose="020B0503020204020204" pitchFamily="34" charset="-122"/>
              </a:rPr>
              <a:t>全分布式结构的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文件共享</a:t>
            </a:r>
            <a:r>
              <a:rPr lang="zh-CN" altLang="en-US" sz="2400" b="1" dirty="0" smtClean="0">
                <a:solidFill>
                  <a:schemeClr val="bg1"/>
                </a:solidFill>
                <a:latin typeface="微软雅黑" panose="020B0503020204020204" pitchFamily="34" charset="-122"/>
                <a:ea typeface="微软雅黑" panose="020B0503020204020204" pitchFamily="34" charset="-122"/>
              </a:rPr>
              <a:t>程序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11242" y="1004998"/>
            <a:ext cx="8138981"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0000FF"/>
                </a:solidFill>
                <a:latin typeface="微软雅黑" panose="020B0503020204020204" pitchFamily="34" charset="-122"/>
                <a:ea typeface="微软雅黑" panose="020B0503020204020204" pitchFamily="34" charset="-122"/>
              </a:rPr>
              <a:t>第二代</a:t>
            </a:r>
            <a:r>
              <a:rPr lang="zh-CN" altLang="en-US"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文件共享程序，采用</a:t>
            </a:r>
            <a:r>
              <a:rPr lang="zh-CN" altLang="en-US" sz="2000" b="1" dirty="0">
                <a:solidFill>
                  <a:srgbClr val="C00000"/>
                </a:solidFill>
                <a:latin typeface="微软雅黑" panose="020B0503020204020204" pitchFamily="34" charset="-122"/>
                <a:ea typeface="微软雅黑" panose="020B0503020204020204" pitchFamily="34" charset="-122"/>
              </a:rPr>
              <a:t>全分布</a:t>
            </a:r>
            <a:r>
              <a:rPr lang="zh-CN" altLang="en-US" sz="2000" b="1" dirty="0">
                <a:latin typeface="微软雅黑" panose="020B0503020204020204" pitchFamily="34" charset="-122"/>
                <a:ea typeface="微软雅黑" panose="020B0503020204020204" pitchFamily="34" charset="-122"/>
              </a:rPr>
              <a:t>方法定位内容的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文件共享应用程序。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最大的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zh-CN" altLang="en-US" sz="2000" b="1" dirty="0" smtClean="0">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不</a:t>
            </a:r>
            <a:r>
              <a:rPr lang="zh-CN" altLang="en-US" sz="2000" b="1" dirty="0">
                <a:solidFill>
                  <a:srgbClr val="0000FF"/>
                </a:solidFill>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集中式的目录服务器，而是使用</a:t>
            </a:r>
            <a:r>
              <a:rPr lang="zh-CN" altLang="en-US" sz="2000" b="1" dirty="0">
                <a:solidFill>
                  <a:srgbClr val="C00000"/>
                </a:solidFill>
                <a:latin typeface="微软雅黑" panose="020B0503020204020204" pitchFamily="34" charset="-122"/>
                <a:ea typeface="微软雅黑" panose="020B0503020204020204" pitchFamily="34" charset="-122"/>
              </a:rPr>
              <a:t>洪泛法</a:t>
            </a:r>
            <a:r>
              <a:rPr lang="zh-CN" altLang="en-US" sz="2000" b="1" dirty="0">
                <a:latin typeface="微软雅黑" panose="020B0503020204020204" pitchFamily="34" charset="-122"/>
                <a:ea typeface="微软雅黑" panose="020B0503020204020204" pitchFamily="34" charset="-122"/>
              </a:rPr>
              <a:t>在大量 </a:t>
            </a: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用户之间进行查询。</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为了不使查询的通信量过大，</a:t>
            </a: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设计了一种</a:t>
            </a:r>
            <a:r>
              <a:rPr lang="zh-CN" altLang="en-US" sz="2000" b="1" dirty="0">
                <a:solidFill>
                  <a:srgbClr val="C00000"/>
                </a:solidFill>
                <a:latin typeface="微软雅黑" panose="020B0503020204020204" pitchFamily="34" charset="-122"/>
                <a:ea typeface="微软雅黑" panose="020B0503020204020204" pitchFamily="34" charset="-122"/>
              </a:rPr>
              <a:t>有限范围</a:t>
            </a:r>
            <a:r>
              <a:rPr lang="zh-CN" altLang="en-US" sz="2000" b="1" dirty="0">
                <a:latin typeface="微软雅黑" panose="020B0503020204020204" pitchFamily="34" charset="-122"/>
                <a:ea typeface="微软雅黑" panose="020B0503020204020204" pitchFamily="34" charset="-122"/>
              </a:rPr>
              <a:t>的洪泛</a:t>
            </a:r>
            <a:r>
              <a:rPr lang="zh-CN" altLang="en-US" sz="2000" b="1" dirty="0" smtClean="0">
                <a:latin typeface="微软雅黑" panose="020B0503020204020204" pitchFamily="34" charset="-122"/>
                <a:ea typeface="微软雅黑" panose="020B0503020204020204" pitchFamily="34" charset="-122"/>
              </a:rPr>
              <a:t>查询，减少了倾注</a:t>
            </a:r>
            <a:r>
              <a:rPr lang="zh-CN" altLang="en-US" sz="2000" b="1" dirty="0">
                <a:latin typeface="微软雅黑" panose="020B0503020204020204" pitchFamily="34" charset="-122"/>
                <a:ea typeface="微软雅黑" panose="020B0503020204020204" pitchFamily="34" charset="-122"/>
              </a:rPr>
              <a:t>到互联网的查询流量，</a:t>
            </a:r>
            <a:r>
              <a:rPr lang="zh-CN" altLang="en-US" sz="2000" b="1" dirty="0" smtClean="0">
                <a:latin typeface="微软雅黑" panose="020B0503020204020204" pitchFamily="34" charset="-122"/>
                <a:ea typeface="微软雅黑" panose="020B0503020204020204" pitchFamily="34" charset="-122"/>
              </a:rPr>
              <a:t>但也</a:t>
            </a:r>
            <a:r>
              <a:rPr lang="zh-CN" altLang="en-US" sz="2000" b="1" dirty="0">
                <a:latin typeface="微软雅黑" panose="020B0503020204020204" pitchFamily="34" charset="-122"/>
                <a:ea typeface="微软雅黑" panose="020B0503020204020204" pitchFamily="34" charset="-122"/>
              </a:rPr>
              <a:t>影响到查询定位的准确性</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第三代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文件共享程序采用分散定位和分散传输技术</a:t>
            </a:r>
            <a:r>
              <a:rPr lang="zh-CN" altLang="en-US" sz="2000" b="1" dirty="0" smtClean="0">
                <a:latin typeface="微软雅黑" panose="020B0503020204020204" pitchFamily="34" charset="-122"/>
                <a:ea typeface="微软雅黑" panose="020B0503020204020204" pitchFamily="34" charset="-122"/>
              </a:rPr>
              <a:t>。例如 </a:t>
            </a:r>
            <a:r>
              <a:rPr lang="en-US" altLang="zh-CN" sz="2000" b="1" dirty="0" err="1" smtClean="0">
                <a:latin typeface="微软雅黑" panose="020B0503020204020204" pitchFamily="34" charset="-122"/>
                <a:ea typeface="微软雅黑" panose="020B0503020204020204" pitchFamily="34" charset="-122"/>
              </a:rPr>
              <a:t>KaZaA</a:t>
            </a:r>
            <a:r>
              <a:rPr lang="zh-CN" altLang="en-US" sz="2000" b="1" dirty="0">
                <a:latin typeface="微软雅黑" panose="020B0503020204020204" pitchFamily="34" charset="-122"/>
                <a:ea typeface="微软雅黑" panose="020B0503020204020204" pitchFamily="34" charset="-122"/>
              </a:rPr>
              <a:t>，电</a:t>
            </a:r>
            <a:r>
              <a:rPr lang="zh-CN" altLang="en-US" sz="2000" b="1" dirty="0" smtClean="0">
                <a:latin typeface="微软雅黑" panose="020B0503020204020204" pitchFamily="34" charset="-122"/>
                <a:ea typeface="微软雅黑" panose="020B0503020204020204" pitchFamily="34" charset="-122"/>
              </a:rPr>
              <a:t>骡 </a:t>
            </a:r>
            <a:r>
              <a:rPr lang="en-US" altLang="zh-CN" sz="2000" b="1" dirty="0" err="1" smtClean="0">
                <a:latin typeface="微软雅黑" panose="020B0503020204020204" pitchFamily="34" charset="-122"/>
                <a:ea typeface="微软雅黑" panose="020B0503020204020204" pitchFamily="34" charset="-122"/>
              </a:rPr>
              <a:t>eMule</a:t>
            </a:r>
            <a:r>
              <a:rPr lang="zh-CN" altLang="en-US" sz="2000" b="1" dirty="0">
                <a:latin typeface="微软雅黑" panose="020B0503020204020204" pitchFamily="34" charset="-122"/>
                <a:ea typeface="微软雅黑" panose="020B0503020204020204" pitchFamily="34" charset="-122"/>
              </a:rPr>
              <a:t>，比特</a:t>
            </a:r>
            <a:r>
              <a:rPr lang="zh-CN" altLang="en-US" sz="2000" b="1" dirty="0" smtClean="0">
                <a:latin typeface="微软雅黑" panose="020B0503020204020204" pitchFamily="34" charset="-122"/>
                <a:ea typeface="微软雅黑" panose="020B0503020204020204" pitchFamily="34" charset="-122"/>
              </a:rPr>
              <a:t>洪流 </a:t>
            </a:r>
            <a:r>
              <a:rPr lang="en-US" altLang="zh-CN" sz="2000" b="1" dirty="0" smtClean="0">
                <a:latin typeface="微软雅黑" panose="020B0503020204020204" pitchFamily="34" charset="-122"/>
                <a:ea typeface="微软雅黑" panose="020B0503020204020204" pitchFamily="34" charset="-122"/>
              </a:rPr>
              <a:t>BT </a:t>
            </a:r>
            <a:r>
              <a:rPr lang="en-US" altLang="zh-CN" sz="2000" b="1" dirty="0">
                <a:latin typeface="微软雅黑" panose="020B0503020204020204" pitchFamily="34" charset="-122"/>
                <a:ea typeface="微软雅黑" panose="020B0503020204020204" pitchFamily="34" charset="-122"/>
              </a:rPr>
              <a:t>(Bit Torrent</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等。</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110639" y="1080056"/>
            <a:ext cx="5495100"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4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49242" y="2325241"/>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427984"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796136" y="34174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732240" y="305743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956376"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956376" y="16172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6"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028384" y="240936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353912" y="121266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0" name="图片 364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46711" y="1276805"/>
            <a:ext cx="485811" cy="680135"/>
          </a:xfrm>
          <a:prstGeom prst="rect">
            <a:avLst/>
          </a:prstGeom>
        </p:spPr>
      </p:pic>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512939" y="575054"/>
            <a:ext cx="41368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的比特洪流 </a:t>
            </a:r>
            <a:r>
              <a:rPr lang="en-US" altLang="zh-CN" sz="2000" b="1" dirty="0" smtClean="0">
                <a:solidFill>
                  <a:schemeClr val="bg1"/>
                </a:solidFill>
                <a:latin typeface="微软雅黑" panose="020B0503020204020204" pitchFamily="34" charset="-122"/>
                <a:ea typeface="微软雅黑" panose="020B0503020204020204" pitchFamily="34" charset="-122"/>
              </a:rPr>
              <a:t>BT </a:t>
            </a:r>
            <a:r>
              <a:rPr lang="zh-CN" altLang="en-US" sz="2000" b="1" dirty="0" smtClean="0">
                <a:solidFill>
                  <a:schemeClr val="bg1"/>
                </a:solidFill>
                <a:latin typeface="微软雅黑" panose="020B0503020204020204" pitchFamily="34" charset="-122"/>
                <a:ea typeface="微软雅黑" panose="020B0503020204020204" pitchFamily="34" charset="-122"/>
              </a:rPr>
              <a:t>主要特点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21449" y="984615"/>
            <a:ext cx="2564159" cy="37600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705" indent="-179705" eaLnBrk="0" hangingPunct="0">
              <a:lnSpc>
                <a:spcPts val="2200"/>
              </a:lnSpc>
              <a:buClr>
                <a:srgbClr val="0070C0"/>
              </a:buClr>
              <a:buFont typeface="Wingdings" panose="05000000000000000000" pitchFamily="2" charset="2"/>
              <a:buChar char="l"/>
            </a:pPr>
            <a:r>
              <a:rPr lang="en-US" altLang="zh-CN" sz="1600" b="1" dirty="0" err="1">
                <a:latin typeface="微软雅黑" panose="020B0503020204020204" pitchFamily="34" charset="-122"/>
                <a:ea typeface="微软雅黑" panose="020B0503020204020204" pitchFamily="34" charset="-122"/>
              </a:rPr>
              <a:t>BitTorrent</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所有对等方集合称为一个</a:t>
            </a:r>
            <a:r>
              <a:rPr lang="zh-CN" altLang="en-US" sz="1600" b="1" dirty="0">
                <a:solidFill>
                  <a:srgbClr val="0000FF"/>
                </a:solidFill>
                <a:latin typeface="微软雅黑" panose="020B0503020204020204" pitchFamily="34" charset="-122"/>
                <a:ea typeface="微软雅黑" panose="020B0503020204020204" pitchFamily="34" charset="-122"/>
              </a:rPr>
              <a:t>洪流 </a:t>
            </a:r>
            <a:r>
              <a:rPr lang="en-US" altLang="zh-CN" sz="1600" b="1" dirty="0">
                <a:latin typeface="微软雅黑" panose="020B0503020204020204" pitchFamily="34" charset="-122"/>
                <a:ea typeface="微软雅黑" panose="020B0503020204020204" pitchFamily="34" charset="-122"/>
              </a:rPr>
              <a:t>(torrent</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下载</a:t>
            </a:r>
            <a:r>
              <a:rPr lang="zh-CN" altLang="en-US" sz="1600" b="1" dirty="0">
                <a:latin typeface="微软雅黑" panose="020B0503020204020204" pitchFamily="34" charset="-122"/>
                <a:ea typeface="微软雅黑" panose="020B0503020204020204" pitchFamily="34" charset="-122"/>
              </a:rPr>
              <a:t>文件的数据单元为长度固定的</a:t>
            </a:r>
            <a:r>
              <a:rPr lang="zh-CN" altLang="en-US" sz="1600" b="1" dirty="0">
                <a:solidFill>
                  <a:srgbClr val="0000FF"/>
                </a:solidFill>
                <a:latin typeface="微软雅黑" panose="020B0503020204020204" pitchFamily="34" charset="-122"/>
                <a:ea typeface="微软雅黑" panose="020B0503020204020204" pitchFamily="34" charset="-122"/>
              </a:rPr>
              <a:t>文件块</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(chunk)</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基础</a:t>
            </a:r>
            <a:r>
              <a:rPr lang="zh-CN" altLang="en-US" sz="1600" b="1" dirty="0">
                <a:latin typeface="微软雅黑" panose="020B0503020204020204" pitchFamily="34" charset="-122"/>
                <a:ea typeface="微软雅黑" panose="020B0503020204020204" pitchFamily="34" charset="-122"/>
              </a:rPr>
              <a:t>设施结点，叫做</a:t>
            </a:r>
            <a:r>
              <a:rPr lang="zh-CN" altLang="en-US" sz="1600" b="1" dirty="0" smtClean="0">
                <a:solidFill>
                  <a:srgbClr val="0000FF"/>
                </a:solidFill>
                <a:latin typeface="微软雅黑" panose="020B0503020204020204" pitchFamily="34" charset="-122"/>
                <a:ea typeface="微软雅黑" panose="020B0503020204020204" pitchFamily="34" charset="-122"/>
              </a:rPr>
              <a:t>追踪器</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tracker)</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和对等</a:t>
            </a:r>
            <a:r>
              <a:rPr lang="zh-CN" altLang="en-US" sz="1600" b="1" dirty="0">
                <a:latin typeface="微软雅黑" panose="020B0503020204020204" pitchFamily="34" charset="-122"/>
                <a:ea typeface="微软雅黑" panose="020B0503020204020204" pitchFamily="34" charset="-122"/>
              </a:rPr>
              <a:t>方建立了 </a:t>
            </a:r>
            <a:r>
              <a:rPr lang="en-US" altLang="zh-CN" sz="1600" b="1" dirty="0">
                <a:solidFill>
                  <a:srgbClr val="C00000"/>
                </a:solidFill>
                <a:latin typeface="微软雅黑" panose="020B0503020204020204" pitchFamily="34" charset="-122"/>
                <a:ea typeface="微软雅黑" panose="020B0503020204020204" pitchFamily="34" charset="-122"/>
              </a:rPr>
              <a:t>TCP </a:t>
            </a:r>
            <a:r>
              <a:rPr lang="zh-CN" altLang="en-US" sz="1600" b="1" dirty="0">
                <a:solidFill>
                  <a:srgbClr val="C00000"/>
                </a:solidFill>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所有与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建立了 </a:t>
            </a:r>
            <a:r>
              <a:rPr lang="en-US" altLang="zh-CN" sz="1600" b="1" dirty="0">
                <a:latin typeface="微软雅黑" panose="020B0503020204020204" pitchFamily="34" charset="-122"/>
                <a:ea typeface="微软雅黑" panose="020B0503020204020204" pitchFamily="34" charset="-122"/>
              </a:rPr>
              <a:t>TCP </a:t>
            </a:r>
            <a:r>
              <a:rPr lang="zh-CN" altLang="en-US" sz="1600" b="1" dirty="0">
                <a:latin typeface="微软雅黑" panose="020B0503020204020204" pitchFamily="34" charset="-122"/>
                <a:ea typeface="微软雅黑" panose="020B0503020204020204" pitchFamily="34" charset="-122"/>
              </a:rPr>
              <a:t>连接的对等方</a:t>
            </a:r>
            <a:r>
              <a:rPr lang="zh-CN" altLang="en-US" sz="1600" b="1" dirty="0" smtClean="0">
                <a:latin typeface="微软雅黑" panose="020B0503020204020204" pitchFamily="34" charset="-122"/>
                <a:ea typeface="微软雅黑" panose="020B0503020204020204" pitchFamily="34" charset="-122"/>
              </a:rPr>
              <a:t>为</a:t>
            </a:r>
            <a:r>
              <a:rPr lang="zh-CN" altLang="en-US" sz="1600" b="1" dirty="0" smtClean="0">
                <a:solidFill>
                  <a:srgbClr val="0000FF"/>
                </a:solidFill>
                <a:latin typeface="微软雅黑" panose="020B0503020204020204" pitchFamily="34" charset="-122"/>
                <a:ea typeface="微软雅黑" panose="020B0503020204020204" pitchFamily="34" charset="-122"/>
              </a:rPr>
              <a:t>相邻</a:t>
            </a:r>
            <a:r>
              <a:rPr lang="zh-CN" altLang="en-US" sz="1600" b="1" dirty="0">
                <a:solidFill>
                  <a:srgbClr val="0000FF"/>
                </a:solidFill>
                <a:latin typeface="微软雅黑" panose="020B0503020204020204" pitchFamily="34" charset="-122"/>
                <a:ea typeface="微软雅黑" panose="020B0503020204020204" pitchFamily="34" charset="-122"/>
              </a:rPr>
              <a:t>对等</a:t>
            </a:r>
            <a:r>
              <a:rPr lang="zh-CN" altLang="en-US" sz="1600" b="1" dirty="0" smtClean="0">
                <a:solidFill>
                  <a:srgbClr val="0000FF"/>
                </a:solidFill>
                <a:latin typeface="微软雅黑" panose="020B0503020204020204" pitchFamily="34" charset="-122"/>
                <a:ea typeface="微软雅黑" panose="020B0503020204020204" pitchFamily="34" charset="-122"/>
              </a:rPr>
              <a:t>方</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neighboring peers)</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459" name="Text Box 457"/>
          <p:cNvSpPr txBox="1">
            <a:spLocks noChangeArrowheads="1"/>
          </p:cNvSpPr>
          <p:nvPr/>
        </p:nvSpPr>
        <p:spPr bwMode="auto">
          <a:xfrm>
            <a:off x="4876873" y="2325350"/>
            <a:ext cx="10823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交换文件块</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461" name="Text Box 459"/>
          <p:cNvSpPr txBox="1">
            <a:spLocks noChangeArrowheads="1"/>
          </p:cNvSpPr>
          <p:nvPr/>
        </p:nvSpPr>
        <p:spPr bwMode="auto">
          <a:xfrm>
            <a:off x="4596810" y="149141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追踪器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2727" name="Line 2725"/>
          <p:cNvSpPr>
            <a:spLocks noChangeShapeType="1"/>
          </p:cNvSpPr>
          <p:nvPr/>
        </p:nvSpPr>
        <p:spPr bwMode="auto">
          <a:xfrm rot="816166">
            <a:off x="3857631" y="2991881"/>
            <a:ext cx="2015690" cy="24857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28" name="Text Box 2726"/>
          <p:cNvSpPr txBox="1">
            <a:spLocks noChangeArrowheads="1"/>
          </p:cNvSpPr>
          <p:nvPr/>
        </p:nvSpPr>
        <p:spPr bwMode="auto">
          <a:xfrm>
            <a:off x="3110639" y="2325241"/>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en-US" altLang="zh-CN" sz="1400" b="1" dirty="0">
                <a:solidFill>
                  <a:sysClr val="windowText" lastClr="000000"/>
                </a:solidFill>
                <a:latin typeface="微软雅黑" panose="020B0503020204020204" pitchFamily="34" charset="-122"/>
                <a:ea typeface="微软雅黑" panose="020B0503020204020204" pitchFamily="34" charset="-122"/>
              </a:rPr>
              <a:t>A</a:t>
            </a:r>
            <a:endParaRPr kumimoji="1" lang="en-US" altLang="zh-CN" sz="1400" b="1" i="1" dirty="0">
              <a:solidFill>
                <a:sysClr val="windowText" lastClr="000000"/>
              </a:solidFill>
              <a:latin typeface="微软雅黑" panose="020B0503020204020204" pitchFamily="34" charset="-122"/>
              <a:ea typeface="微软雅黑" panose="020B0503020204020204" pitchFamily="34" charset="-122"/>
            </a:endParaRPr>
          </a:p>
        </p:txBody>
      </p:sp>
      <p:sp>
        <p:nvSpPr>
          <p:cNvPr id="2729" name="Line 2727"/>
          <p:cNvSpPr>
            <a:spLocks noChangeShapeType="1"/>
          </p:cNvSpPr>
          <p:nvPr/>
        </p:nvSpPr>
        <p:spPr bwMode="auto">
          <a:xfrm rot="816166" flipV="1">
            <a:off x="4034334" y="2234092"/>
            <a:ext cx="3996187" cy="82108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30" name="Line 2728"/>
          <p:cNvSpPr>
            <a:spLocks noChangeShapeType="1"/>
          </p:cNvSpPr>
          <p:nvPr/>
        </p:nvSpPr>
        <p:spPr bwMode="auto">
          <a:xfrm rot="816166" flipV="1">
            <a:off x="4026584" y="1496943"/>
            <a:ext cx="2258355" cy="1194749"/>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31" name="Line 2729"/>
          <p:cNvSpPr>
            <a:spLocks noChangeShapeType="1"/>
          </p:cNvSpPr>
          <p:nvPr/>
        </p:nvSpPr>
        <p:spPr bwMode="auto">
          <a:xfrm rot="816166" flipV="1">
            <a:off x="3732390" y="1808544"/>
            <a:ext cx="370744" cy="73185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38" name="Line 3637"/>
          <p:cNvSpPr>
            <a:spLocks noChangeShapeType="1"/>
          </p:cNvSpPr>
          <p:nvPr/>
        </p:nvSpPr>
        <p:spPr bwMode="auto">
          <a:xfrm rot="816166">
            <a:off x="6476590" y="2001298"/>
            <a:ext cx="1703238" cy="134908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39" name="Line 3638"/>
          <p:cNvSpPr>
            <a:spLocks noChangeShapeType="1"/>
          </p:cNvSpPr>
          <p:nvPr/>
        </p:nvSpPr>
        <p:spPr bwMode="auto">
          <a:xfrm rot="816166" flipV="1">
            <a:off x="6866178" y="1672115"/>
            <a:ext cx="1090939" cy="107523"/>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0" name="Line 3639"/>
          <p:cNvSpPr>
            <a:spLocks noChangeShapeType="1"/>
          </p:cNvSpPr>
          <p:nvPr/>
        </p:nvSpPr>
        <p:spPr bwMode="auto">
          <a:xfrm rot="816166" flipH="1">
            <a:off x="5177790" y="1687145"/>
            <a:ext cx="1152312" cy="214237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1" name="Line 3640"/>
          <p:cNvSpPr>
            <a:spLocks noChangeShapeType="1"/>
          </p:cNvSpPr>
          <p:nvPr/>
        </p:nvSpPr>
        <p:spPr bwMode="auto">
          <a:xfrm rot="816166">
            <a:off x="6817907" y="1915140"/>
            <a:ext cx="1277756" cy="41972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2" name="Line 3641"/>
          <p:cNvSpPr>
            <a:spLocks noChangeShapeType="1"/>
          </p:cNvSpPr>
          <p:nvPr/>
        </p:nvSpPr>
        <p:spPr bwMode="auto">
          <a:xfrm rot="816166" flipV="1">
            <a:off x="6338869" y="3325434"/>
            <a:ext cx="462178" cy="297134"/>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3" name="Line 3642"/>
          <p:cNvSpPr>
            <a:spLocks noChangeShapeType="1"/>
          </p:cNvSpPr>
          <p:nvPr/>
        </p:nvSpPr>
        <p:spPr bwMode="auto">
          <a:xfrm rot="816166" flipV="1">
            <a:off x="4951085" y="3622568"/>
            <a:ext cx="807871" cy="29829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4" name="Line 3643"/>
          <p:cNvSpPr>
            <a:spLocks noChangeShapeType="1"/>
          </p:cNvSpPr>
          <p:nvPr/>
        </p:nvSpPr>
        <p:spPr bwMode="auto">
          <a:xfrm rot="816166">
            <a:off x="7106660" y="3585570"/>
            <a:ext cx="884274" cy="15955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5" name="Line 3644"/>
          <p:cNvSpPr>
            <a:spLocks noChangeShapeType="1"/>
          </p:cNvSpPr>
          <p:nvPr/>
        </p:nvSpPr>
        <p:spPr bwMode="auto">
          <a:xfrm rot="816166" flipH="1" flipV="1">
            <a:off x="8239901" y="2975188"/>
            <a:ext cx="70846" cy="59895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6" name="Line 3645"/>
          <p:cNvSpPr>
            <a:spLocks noChangeShapeType="1"/>
          </p:cNvSpPr>
          <p:nvPr/>
        </p:nvSpPr>
        <p:spPr bwMode="auto">
          <a:xfrm rot="816166" flipH="1">
            <a:off x="7388475" y="1980811"/>
            <a:ext cx="457168" cy="115269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7" name="Text Box 3646"/>
          <p:cNvSpPr txBox="1">
            <a:spLocks noChangeArrowheads="1"/>
          </p:cNvSpPr>
          <p:nvPr/>
        </p:nvSpPr>
        <p:spPr bwMode="auto">
          <a:xfrm>
            <a:off x="3270551" y="1533376"/>
            <a:ext cx="7232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获得</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对等方</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列表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795984" y="575054"/>
            <a:ext cx="55707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相邻关系是逻辑的，对等</a:t>
            </a:r>
            <a:r>
              <a:rPr lang="zh-CN" altLang="en-US" sz="2000" b="1" dirty="0">
                <a:solidFill>
                  <a:schemeClr val="bg1"/>
                </a:solidFill>
                <a:latin typeface="微软雅黑" panose="020B0503020204020204" pitchFamily="34" charset="-122"/>
                <a:ea typeface="微软雅黑" panose="020B0503020204020204" pitchFamily="34" charset="-122"/>
              </a:rPr>
              <a:t>方的数目是动态变化的</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1012053" y="1189440"/>
            <a:ext cx="7199791" cy="2805511"/>
            <a:chOff x="107950" y="117307"/>
            <a:chExt cx="8928100" cy="4607093"/>
          </a:xfrm>
        </p:grpSpPr>
        <p:sp>
          <p:nvSpPr>
            <p:cNvPr id="32" name="平行四边形 5697"/>
            <p:cNvSpPr>
              <a:spLocks noChangeArrowheads="1"/>
            </p:cNvSpPr>
            <p:nvPr/>
          </p:nvSpPr>
          <p:spPr bwMode="auto">
            <a:xfrm>
              <a:off x="107950" y="2565400"/>
              <a:ext cx="8928100" cy="2159000"/>
            </a:xfrm>
            <a:prstGeom prst="parallelogram">
              <a:avLst>
                <a:gd name="adj" fmla="val 76618"/>
              </a:avLst>
            </a:prstGeom>
            <a:solidFill>
              <a:schemeClr val="bg1">
                <a:lumMod val="95000"/>
              </a:schemeClr>
            </a:solidFill>
            <a:ln w="9525" algn="ctr">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33" name="平行四边形 5697"/>
            <p:cNvSpPr>
              <a:spLocks noChangeArrowheads="1"/>
            </p:cNvSpPr>
            <p:nvPr/>
          </p:nvSpPr>
          <p:spPr bwMode="auto">
            <a:xfrm>
              <a:off x="107950" y="260350"/>
              <a:ext cx="8928100" cy="2160588"/>
            </a:xfrm>
            <a:prstGeom prst="parallelogram">
              <a:avLst>
                <a:gd name="adj" fmla="val 76561"/>
              </a:avLst>
            </a:prstGeom>
            <a:solidFill>
              <a:srgbClr val="66FF66"/>
            </a:solidFill>
            <a:ln w="9525" algn="ctr">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34" name="直接连接符 8002"/>
            <p:cNvCxnSpPr>
              <a:cxnSpLocks noChangeShapeType="1"/>
              <a:stCxn id="518" idx="1"/>
            </p:cNvCxnSpPr>
            <p:nvPr/>
          </p:nvCxnSpPr>
          <p:spPr bwMode="auto">
            <a:xfrm flipH="1" flipV="1">
              <a:off x="2987675" y="3933825"/>
              <a:ext cx="176213" cy="4635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5" name="直接连接符 8006"/>
            <p:cNvCxnSpPr>
              <a:cxnSpLocks noChangeShapeType="1"/>
              <a:stCxn id="521" idx="2"/>
            </p:cNvCxnSpPr>
            <p:nvPr/>
          </p:nvCxnSpPr>
          <p:spPr bwMode="auto">
            <a:xfrm flipH="1">
              <a:off x="5076825" y="3249613"/>
              <a:ext cx="1150938" cy="1079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6" name="直接连接符 8000"/>
            <p:cNvCxnSpPr>
              <a:cxnSpLocks noChangeShapeType="1"/>
              <a:stCxn id="516" idx="6"/>
            </p:cNvCxnSpPr>
            <p:nvPr/>
          </p:nvCxnSpPr>
          <p:spPr bwMode="auto">
            <a:xfrm flipV="1">
              <a:off x="1042988" y="3860800"/>
              <a:ext cx="1368425" cy="5397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7" name="直接连接符 7998"/>
            <p:cNvCxnSpPr>
              <a:cxnSpLocks noChangeShapeType="1"/>
              <a:stCxn id="517" idx="5"/>
            </p:cNvCxnSpPr>
            <p:nvPr/>
          </p:nvCxnSpPr>
          <p:spPr bwMode="auto">
            <a:xfrm>
              <a:off x="2163763" y="3036888"/>
              <a:ext cx="392112" cy="53657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8" name="直接连接符 8004"/>
            <p:cNvCxnSpPr>
              <a:cxnSpLocks noChangeShapeType="1"/>
              <a:stCxn id="518" idx="3"/>
            </p:cNvCxnSpPr>
            <p:nvPr/>
          </p:nvCxnSpPr>
          <p:spPr bwMode="auto">
            <a:xfrm flipV="1">
              <a:off x="3163888" y="3500438"/>
              <a:ext cx="1552575" cy="1049337"/>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9" name="直接连接符 8015"/>
            <p:cNvCxnSpPr>
              <a:cxnSpLocks noChangeShapeType="1"/>
              <a:stCxn id="519" idx="2"/>
            </p:cNvCxnSpPr>
            <p:nvPr/>
          </p:nvCxnSpPr>
          <p:spPr bwMode="auto">
            <a:xfrm flipH="1" flipV="1">
              <a:off x="4932363" y="3429000"/>
              <a:ext cx="792162" cy="9001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0" name="直接连接符 8013"/>
            <p:cNvCxnSpPr>
              <a:cxnSpLocks noChangeShapeType="1"/>
              <a:stCxn id="519" idx="7"/>
            </p:cNvCxnSpPr>
            <p:nvPr/>
          </p:nvCxnSpPr>
          <p:spPr bwMode="auto">
            <a:xfrm flipV="1">
              <a:off x="5908675" y="3933825"/>
              <a:ext cx="750888" cy="3190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1" name="直接连接符 8011"/>
            <p:cNvCxnSpPr>
              <a:cxnSpLocks noChangeShapeType="1"/>
              <a:stCxn id="522" idx="2"/>
            </p:cNvCxnSpPr>
            <p:nvPr/>
          </p:nvCxnSpPr>
          <p:spPr bwMode="auto">
            <a:xfrm flipH="1">
              <a:off x="7308850" y="3536950"/>
              <a:ext cx="503238" cy="2524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2" name="直接连接符 8008"/>
            <p:cNvCxnSpPr>
              <a:cxnSpLocks noChangeShapeType="1"/>
              <a:stCxn id="520" idx="4"/>
            </p:cNvCxnSpPr>
            <p:nvPr/>
          </p:nvCxnSpPr>
          <p:spPr bwMode="auto">
            <a:xfrm flipH="1">
              <a:off x="7019925" y="3070225"/>
              <a:ext cx="180975" cy="6461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43" name="Text Box 510"/>
            <p:cNvSpPr txBox="1">
              <a:spLocks noChangeArrowheads="1"/>
            </p:cNvSpPr>
            <p:nvPr/>
          </p:nvSpPr>
          <p:spPr bwMode="auto">
            <a:xfrm rot="20956220">
              <a:off x="2819913" y="661909"/>
              <a:ext cx="115480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TCP </a:t>
              </a:r>
              <a:r>
                <a:rPr lang="zh-CN" altLang="en-US" sz="1100" b="1" dirty="0">
                  <a:latin typeface="微软雅黑" panose="020B0503020204020204" pitchFamily="34" charset="-122"/>
                  <a:ea typeface="微软雅黑" panose="020B0503020204020204" pitchFamily="34" charset="-122"/>
                </a:rPr>
                <a:t>连接</a:t>
              </a:r>
              <a:endParaRPr lang="zh-CN" altLang="en-US" sz="1100" b="1" dirty="0">
                <a:latin typeface="微软雅黑" panose="020B0503020204020204" pitchFamily="34" charset="-122"/>
                <a:ea typeface="微软雅黑" panose="020B0503020204020204" pitchFamily="34" charset="-122"/>
              </a:endParaRPr>
            </a:p>
          </p:txBody>
        </p:sp>
        <p:graphicFrame>
          <p:nvGraphicFramePr>
            <p:cNvPr id="44" name="Object 1188">
              <a:hlinkClick r:id="" action="ppaction://ole?verb=0"/>
            </p:cNvPr>
            <p:cNvGraphicFramePr/>
            <p:nvPr/>
          </p:nvGraphicFramePr>
          <p:xfrm>
            <a:off x="1979613" y="404813"/>
            <a:ext cx="360362" cy="647700"/>
          </p:xfrm>
          <a:graphic>
            <a:graphicData uri="http://schemas.openxmlformats.org/presentationml/2006/ole">
              <mc:AlternateContent xmlns:mc="http://schemas.openxmlformats.org/markup-compatibility/2006">
                <mc:Choice xmlns:v="urn:schemas-microsoft-com:vml" Requires="v">
                  <p:oleObj spid="_x0000_s33793" name="Microsoft ClipArt Gallery" r:id="rId1" imgW="16411575" imgH="22955250" progId="">
                    <p:embed/>
                  </p:oleObj>
                </mc:Choice>
                <mc:Fallback>
                  <p:oleObj name="Microsoft ClipArt Gallery" r:id="rId1" imgW="16411575" imgH="22955250" progId="">
                    <p:embed/>
                    <p:pic>
                      <p:nvPicPr>
                        <p:cNvPr id="0" name="图片 33792"/>
                        <p:cNvPicPr/>
                        <p:nvPr/>
                      </p:nvPicPr>
                      <p:blipFill>
                        <a:blip r:embed="rId2"/>
                        <a:stretch>
                          <a:fillRect/>
                        </a:stretch>
                      </p:blipFill>
                      <p:spPr>
                        <a:xfrm>
                          <a:off x="1979613" y="404813"/>
                          <a:ext cx="360362" cy="647700"/>
                        </a:xfrm>
                        <a:prstGeom prst="rect">
                          <a:avLst/>
                        </a:prstGeom>
                        <a:noFill/>
                        <a:ln w="12700">
                          <a:noFill/>
                        </a:ln>
                      </p:spPr>
                    </p:pic>
                  </p:oleObj>
                </mc:Fallback>
              </mc:AlternateContent>
            </a:graphicData>
          </a:graphic>
        </p:graphicFrame>
        <p:sp>
          <p:nvSpPr>
            <p:cNvPr id="45" name="Text Box 1189"/>
            <p:cNvSpPr txBox="1">
              <a:spLocks noChangeArrowheads="1"/>
            </p:cNvSpPr>
            <p:nvPr/>
          </p:nvSpPr>
          <p:spPr bwMode="auto">
            <a:xfrm>
              <a:off x="2268539" y="333375"/>
              <a:ext cx="913458"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追踪器</a:t>
              </a:r>
              <a:endParaRPr lang="zh-CN" altLang="en-US" sz="1100" b="1" dirty="0">
                <a:latin typeface="微软雅黑" panose="020B0503020204020204" pitchFamily="34" charset="-122"/>
                <a:ea typeface="微软雅黑" panose="020B0503020204020204" pitchFamily="34" charset="-122"/>
              </a:endParaRPr>
            </a:p>
          </p:txBody>
        </p:sp>
        <p:grpSp>
          <p:nvGrpSpPr>
            <p:cNvPr id="46" name="Group 2096"/>
            <p:cNvGrpSpPr/>
            <p:nvPr/>
          </p:nvGrpSpPr>
          <p:grpSpPr bwMode="auto">
            <a:xfrm>
              <a:off x="6659563" y="549275"/>
              <a:ext cx="433387" cy="328613"/>
              <a:chOff x="624" y="2968"/>
              <a:chExt cx="1331" cy="920"/>
            </a:xfrm>
          </p:grpSpPr>
          <p:sp>
            <p:nvSpPr>
              <p:cNvPr id="47"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9" name="Group 2109"/>
              <p:cNvGrpSpPr/>
              <p:nvPr/>
            </p:nvGrpSpPr>
            <p:grpSpPr bwMode="auto">
              <a:xfrm>
                <a:off x="700" y="3526"/>
                <a:ext cx="515" cy="270"/>
                <a:chOff x="700" y="3526"/>
                <a:chExt cx="515" cy="270"/>
              </a:xfrm>
            </p:grpSpPr>
            <p:grpSp>
              <p:nvGrpSpPr>
                <p:cNvPr id="85" name="Group 2110"/>
                <p:cNvGrpSpPr/>
                <p:nvPr/>
              </p:nvGrpSpPr>
              <p:grpSpPr bwMode="auto">
                <a:xfrm>
                  <a:off x="737" y="3534"/>
                  <a:ext cx="49" cy="23"/>
                  <a:chOff x="737" y="3534"/>
                  <a:chExt cx="49" cy="23"/>
                </a:xfrm>
              </p:grpSpPr>
              <p:sp>
                <p:nvSpPr>
                  <p:cNvPr id="498"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0"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 name="Group 2114"/>
                <p:cNvGrpSpPr/>
                <p:nvPr/>
              </p:nvGrpSpPr>
              <p:grpSpPr bwMode="auto">
                <a:xfrm>
                  <a:off x="748" y="3547"/>
                  <a:ext cx="50" cy="23"/>
                  <a:chOff x="748" y="3547"/>
                  <a:chExt cx="50" cy="23"/>
                </a:xfrm>
              </p:grpSpPr>
              <p:sp>
                <p:nvSpPr>
                  <p:cNvPr id="495"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6"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7"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87"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1" name="Group 2122"/>
                <p:cNvGrpSpPr/>
                <p:nvPr/>
              </p:nvGrpSpPr>
              <p:grpSpPr bwMode="auto">
                <a:xfrm>
                  <a:off x="872" y="3547"/>
                  <a:ext cx="50" cy="23"/>
                  <a:chOff x="872" y="3547"/>
                  <a:chExt cx="50" cy="23"/>
                </a:xfrm>
              </p:grpSpPr>
              <p:sp>
                <p:nvSpPr>
                  <p:cNvPr id="492"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3"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4"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 name="Group 2126"/>
                <p:cNvGrpSpPr/>
                <p:nvPr/>
              </p:nvGrpSpPr>
              <p:grpSpPr bwMode="auto">
                <a:xfrm>
                  <a:off x="885" y="3559"/>
                  <a:ext cx="50" cy="23"/>
                  <a:chOff x="885" y="3559"/>
                  <a:chExt cx="50" cy="23"/>
                </a:xfrm>
              </p:grpSpPr>
              <p:sp>
                <p:nvSpPr>
                  <p:cNvPr id="489"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0"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1"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 name="Group 2130"/>
                <p:cNvGrpSpPr/>
                <p:nvPr/>
              </p:nvGrpSpPr>
              <p:grpSpPr bwMode="auto">
                <a:xfrm>
                  <a:off x="898" y="3571"/>
                  <a:ext cx="49" cy="23"/>
                  <a:chOff x="898" y="3571"/>
                  <a:chExt cx="49" cy="23"/>
                </a:xfrm>
              </p:grpSpPr>
              <p:sp>
                <p:nvSpPr>
                  <p:cNvPr id="486"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7"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8"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 name="Group 2134"/>
                <p:cNvGrpSpPr/>
                <p:nvPr/>
              </p:nvGrpSpPr>
              <p:grpSpPr bwMode="auto">
                <a:xfrm>
                  <a:off x="911" y="3585"/>
                  <a:ext cx="49" cy="23"/>
                  <a:chOff x="911" y="3585"/>
                  <a:chExt cx="49" cy="23"/>
                </a:xfrm>
              </p:grpSpPr>
              <p:sp>
                <p:nvSpPr>
                  <p:cNvPr id="483"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4"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5"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 name="Group 2138"/>
                <p:cNvGrpSpPr/>
                <p:nvPr/>
              </p:nvGrpSpPr>
              <p:grpSpPr bwMode="auto">
                <a:xfrm>
                  <a:off x="923" y="3600"/>
                  <a:ext cx="99" cy="73"/>
                  <a:chOff x="923" y="3600"/>
                  <a:chExt cx="99" cy="73"/>
                </a:xfrm>
              </p:grpSpPr>
              <p:grpSp>
                <p:nvGrpSpPr>
                  <p:cNvPr id="463" name="Group 2139"/>
                  <p:cNvGrpSpPr/>
                  <p:nvPr/>
                </p:nvGrpSpPr>
                <p:grpSpPr bwMode="auto">
                  <a:xfrm>
                    <a:off x="923" y="3600"/>
                    <a:ext cx="49" cy="23"/>
                    <a:chOff x="923" y="3600"/>
                    <a:chExt cx="49" cy="23"/>
                  </a:xfrm>
                </p:grpSpPr>
                <p:sp>
                  <p:nvSpPr>
                    <p:cNvPr id="480"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1"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2"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4" name="Group 2143"/>
                  <p:cNvGrpSpPr/>
                  <p:nvPr/>
                </p:nvGrpSpPr>
                <p:grpSpPr bwMode="auto">
                  <a:xfrm>
                    <a:off x="935" y="3612"/>
                    <a:ext cx="48" cy="23"/>
                    <a:chOff x="935" y="3612"/>
                    <a:chExt cx="48" cy="23"/>
                  </a:xfrm>
                </p:grpSpPr>
                <p:sp>
                  <p:nvSpPr>
                    <p:cNvPr id="477"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8"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9"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5" name="Group 2147"/>
                  <p:cNvGrpSpPr/>
                  <p:nvPr/>
                </p:nvGrpSpPr>
                <p:grpSpPr bwMode="auto">
                  <a:xfrm>
                    <a:off x="947" y="3625"/>
                    <a:ext cx="50" cy="22"/>
                    <a:chOff x="947" y="3625"/>
                    <a:chExt cx="50" cy="22"/>
                  </a:xfrm>
                </p:grpSpPr>
                <p:sp>
                  <p:nvSpPr>
                    <p:cNvPr id="474"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5"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6"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6" name="Group 2151"/>
                  <p:cNvGrpSpPr/>
                  <p:nvPr/>
                </p:nvGrpSpPr>
                <p:grpSpPr bwMode="auto">
                  <a:xfrm>
                    <a:off x="960" y="3637"/>
                    <a:ext cx="50" cy="23"/>
                    <a:chOff x="960" y="3637"/>
                    <a:chExt cx="50" cy="23"/>
                  </a:xfrm>
                </p:grpSpPr>
                <p:sp>
                  <p:nvSpPr>
                    <p:cNvPr id="471"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2"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3"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7" name="Group 2155"/>
                  <p:cNvGrpSpPr/>
                  <p:nvPr/>
                </p:nvGrpSpPr>
                <p:grpSpPr bwMode="auto">
                  <a:xfrm>
                    <a:off x="973" y="3650"/>
                    <a:ext cx="49" cy="23"/>
                    <a:chOff x="973" y="3650"/>
                    <a:chExt cx="49" cy="23"/>
                  </a:xfrm>
                </p:grpSpPr>
                <p:sp>
                  <p:nvSpPr>
                    <p:cNvPr id="468"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9"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0"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6" name="Group 2159"/>
                <p:cNvGrpSpPr/>
                <p:nvPr/>
              </p:nvGrpSpPr>
              <p:grpSpPr bwMode="auto">
                <a:xfrm>
                  <a:off x="985" y="3665"/>
                  <a:ext cx="100" cy="73"/>
                  <a:chOff x="985" y="3665"/>
                  <a:chExt cx="100" cy="73"/>
                </a:xfrm>
              </p:grpSpPr>
              <p:grpSp>
                <p:nvGrpSpPr>
                  <p:cNvPr id="441" name="Group 2160"/>
                  <p:cNvGrpSpPr/>
                  <p:nvPr/>
                </p:nvGrpSpPr>
                <p:grpSpPr bwMode="auto">
                  <a:xfrm>
                    <a:off x="985" y="3665"/>
                    <a:ext cx="50" cy="23"/>
                    <a:chOff x="985" y="3665"/>
                    <a:chExt cx="50" cy="23"/>
                  </a:xfrm>
                </p:grpSpPr>
                <p:sp>
                  <p:nvSpPr>
                    <p:cNvPr id="458"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0"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2"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2" name="Group 2164"/>
                  <p:cNvGrpSpPr/>
                  <p:nvPr/>
                </p:nvGrpSpPr>
                <p:grpSpPr bwMode="auto">
                  <a:xfrm>
                    <a:off x="997" y="3677"/>
                    <a:ext cx="49" cy="23"/>
                    <a:chOff x="997" y="3677"/>
                    <a:chExt cx="49" cy="23"/>
                  </a:xfrm>
                </p:grpSpPr>
                <p:sp>
                  <p:nvSpPr>
                    <p:cNvPr id="455"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6"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7"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3" name="Group 2168"/>
                  <p:cNvGrpSpPr/>
                  <p:nvPr/>
                </p:nvGrpSpPr>
                <p:grpSpPr bwMode="auto">
                  <a:xfrm>
                    <a:off x="1010" y="3690"/>
                    <a:ext cx="48" cy="23"/>
                    <a:chOff x="1010" y="3690"/>
                    <a:chExt cx="48" cy="23"/>
                  </a:xfrm>
                </p:grpSpPr>
                <p:sp>
                  <p:nvSpPr>
                    <p:cNvPr id="452"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3"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4"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4" name="Group 2172"/>
                  <p:cNvGrpSpPr/>
                  <p:nvPr/>
                </p:nvGrpSpPr>
                <p:grpSpPr bwMode="auto">
                  <a:xfrm>
                    <a:off x="1023" y="3703"/>
                    <a:ext cx="49" cy="22"/>
                    <a:chOff x="1023" y="3703"/>
                    <a:chExt cx="49" cy="22"/>
                  </a:xfrm>
                </p:grpSpPr>
                <p:sp>
                  <p:nvSpPr>
                    <p:cNvPr id="449"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0"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1"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5" name="Group 2176"/>
                  <p:cNvGrpSpPr/>
                  <p:nvPr/>
                </p:nvGrpSpPr>
                <p:grpSpPr bwMode="auto">
                  <a:xfrm>
                    <a:off x="1036" y="3716"/>
                    <a:ext cx="49" cy="22"/>
                    <a:chOff x="1036" y="3716"/>
                    <a:chExt cx="49" cy="22"/>
                  </a:xfrm>
                </p:grpSpPr>
                <p:sp>
                  <p:nvSpPr>
                    <p:cNvPr id="446"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7"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8"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7" name="Group 2180"/>
                <p:cNvGrpSpPr/>
                <p:nvPr/>
              </p:nvGrpSpPr>
              <p:grpSpPr bwMode="auto">
                <a:xfrm>
                  <a:off x="1046" y="3727"/>
                  <a:ext cx="49" cy="23"/>
                  <a:chOff x="1046" y="3727"/>
                  <a:chExt cx="49" cy="23"/>
                </a:xfrm>
              </p:grpSpPr>
              <p:sp>
                <p:nvSpPr>
                  <p:cNvPr id="438"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9"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0"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8" name="Group 2184"/>
                <p:cNvGrpSpPr/>
                <p:nvPr/>
              </p:nvGrpSpPr>
              <p:grpSpPr bwMode="auto">
                <a:xfrm>
                  <a:off x="1058" y="3739"/>
                  <a:ext cx="50" cy="23"/>
                  <a:chOff x="1058" y="3739"/>
                  <a:chExt cx="50" cy="23"/>
                </a:xfrm>
              </p:grpSpPr>
              <p:sp>
                <p:nvSpPr>
                  <p:cNvPr id="435"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7"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 name="Group 2188"/>
                <p:cNvGrpSpPr/>
                <p:nvPr/>
              </p:nvGrpSpPr>
              <p:grpSpPr bwMode="auto">
                <a:xfrm>
                  <a:off x="1072" y="3753"/>
                  <a:ext cx="48" cy="22"/>
                  <a:chOff x="1072" y="3753"/>
                  <a:chExt cx="48" cy="22"/>
                </a:xfrm>
              </p:grpSpPr>
              <p:sp>
                <p:nvSpPr>
                  <p:cNvPr id="432"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0"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3" name="Group 2195"/>
                <p:cNvGrpSpPr/>
                <p:nvPr/>
              </p:nvGrpSpPr>
              <p:grpSpPr bwMode="auto">
                <a:xfrm>
                  <a:off x="832" y="3547"/>
                  <a:ext cx="49" cy="23"/>
                  <a:chOff x="832" y="3547"/>
                  <a:chExt cx="49" cy="23"/>
                </a:xfrm>
              </p:grpSpPr>
              <p:sp>
                <p:nvSpPr>
                  <p:cNvPr id="429"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 name="Group 2199"/>
                <p:cNvGrpSpPr/>
                <p:nvPr/>
              </p:nvGrpSpPr>
              <p:grpSpPr bwMode="auto">
                <a:xfrm>
                  <a:off x="844" y="3560"/>
                  <a:ext cx="49" cy="22"/>
                  <a:chOff x="844" y="3560"/>
                  <a:chExt cx="49" cy="22"/>
                </a:xfrm>
              </p:grpSpPr>
              <p:sp>
                <p:nvSpPr>
                  <p:cNvPr id="426"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 name="Group 2203"/>
                <p:cNvGrpSpPr/>
                <p:nvPr/>
              </p:nvGrpSpPr>
              <p:grpSpPr bwMode="auto">
                <a:xfrm>
                  <a:off x="857" y="3572"/>
                  <a:ext cx="50" cy="23"/>
                  <a:chOff x="857" y="3572"/>
                  <a:chExt cx="50" cy="23"/>
                </a:xfrm>
              </p:grpSpPr>
              <p:sp>
                <p:nvSpPr>
                  <p:cNvPr id="423"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 name="Group 2207"/>
                <p:cNvGrpSpPr/>
                <p:nvPr/>
              </p:nvGrpSpPr>
              <p:grpSpPr bwMode="auto">
                <a:xfrm>
                  <a:off x="870" y="3585"/>
                  <a:ext cx="48" cy="23"/>
                  <a:chOff x="870" y="3585"/>
                  <a:chExt cx="48" cy="23"/>
                </a:xfrm>
              </p:grpSpPr>
              <p:sp>
                <p:nvSpPr>
                  <p:cNvPr id="420"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1"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 name="Group 2211"/>
                <p:cNvGrpSpPr/>
                <p:nvPr/>
              </p:nvGrpSpPr>
              <p:grpSpPr bwMode="auto">
                <a:xfrm>
                  <a:off x="882" y="3600"/>
                  <a:ext cx="100" cy="73"/>
                  <a:chOff x="882" y="3600"/>
                  <a:chExt cx="100" cy="73"/>
                </a:xfrm>
              </p:grpSpPr>
              <p:grpSp>
                <p:nvGrpSpPr>
                  <p:cNvPr id="400" name="Group 2212"/>
                  <p:cNvGrpSpPr/>
                  <p:nvPr/>
                </p:nvGrpSpPr>
                <p:grpSpPr bwMode="auto">
                  <a:xfrm>
                    <a:off x="882" y="3600"/>
                    <a:ext cx="49" cy="23"/>
                    <a:chOff x="882" y="3600"/>
                    <a:chExt cx="49" cy="23"/>
                  </a:xfrm>
                </p:grpSpPr>
                <p:sp>
                  <p:nvSpPr>
                    <p:cNvPr id="417"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9"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1" name="Group 2216"/>
                  <p:cNvGrpSpPr/>
                  <p:nvPr/>
                </p:nvGrpSpPr>
                <p:grpSpPr bwMode="auto">
                  <a:xfrm>
                    <a:off x="894" y="3612"/>
                    <a:ext cx="49" cy="23"/>
                    <a:chOff x="894" y="3612"/>
                    <a:chExt cx="49" cy="23"/>
                  </a:xfrm>
                </p:grpSpPr>
                <p:sp>
                  <p:nvSpPr>
                    <p:cNvPr id="414"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5"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6"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2" name="Group 2220"/>
                  <p:cNvGrpSpPr/>
                  <p:nvPr/>
                </p:nvGrpSpPr>
                <p:grpSpPr bwMode="auto">
                  <a:xfrm>
                    <a:off x="907" y="3625"/>
                    <a:ext cx="49" cy="23"/>
                    <a:chOff x="907" y="3625"/>
                    <a:chExt cx="49" cy="23"/>
                  </a:xfrm>
                </p:grpSpPr>
                <p:sp>
                  <p:nvSpPr>
                    <p:cNvPr id="411"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2"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3"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3" name="Group 2224"/>
                  <p:cNvGrpSpPr/>
                  <p:nvPr/>
                </p:nvGrpSpPr>
                <p:grpSpPr bwMode="auto">
                  <a:xfrm>
                    <a:off x="919" y="3638"/>
                    <a:ext cx="49" cy="22"/>
                    <a:chOff x="919" y="3638"/>
                    <a:chExt cx="49" cy="22"/>
                  </a:xfrm>
                </p:grpSpPr>
                <p:sp>
                  <p:nvSpPr>
                    <p:cNvPr id="408"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9"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0"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4" name="Group 2228"/>
                  <p:cNvGrpSpPr/>
                  <p:nvPr/>
                </p:nvGrpSpPr>
                <p:grpSpPr bwMode="auto">
                  <a:xfrm>
                    <a:off x="932" y="3651"/>
                    <a:ext cx="50" cy="22"/>
                    <a:chOff x="932" y="3651"/>
                    <a:chExt cx="50" cy="22"/>
                  </a:xfrm>
                </p:grpSpPr>
                <p:sp>
                  <p:nvSpPr>
                    <p:cNvPr id="405"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6"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7"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8" name="Group 2232"/>
                <p:cNvGrpSpPr/>
                <p:nvPr/>
              </p:nvGrpSpPr>
              <p:grpSpPr bwMode="auto">
                <a:xfrm>
                  <a:off x="944" y="3665"/>
                  <a:ext cx="99" cy="74"/>
                  <a:chOff x="944" y="3665"/>
                  <a:chExt cx="99" cy="74"/>
                </a:xfrm>
              </p:grpSpPr>
              <p:grpSp>
                <p:nvGrpSpPr>
                  <p:cNvPr id="380" name="Group 2233"/>
                  <p:cNvGrpSpPr/>
                  <p:nvPr/>
                </p:nvGrpSpPr>
                <p:grpSpPr bwMode="auto">
                  <a:xfrm>
                    <a:off x="944" y="3665"/>
                    <a:ext cx="49" cy="23"/>
                    <a:chOff x="944" y="3665"/>
                    <a:chExt cx="49" cy="23"/>
                  </a:xfrm>
                </p:grpSpPr>
                <p:sp>
                  <p:nvSpPr>
                    <p:cNvPr id="397"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8"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9"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1" name="Group 2237"/>
                  <p:cNvGrpSpPr/>
                  <p:nvPr/>
                </p:nvGrpSpPr>
                <p:grpSpPr bwMode="auto">
                  <a:xfrm>
                    <a:off x="957" y="3678"/>
                    <a:ext cx="48" cy="23"/>
                    <a:chOff x="957" y="3678"/>
                    <a:chExt cx="48" cy="23"/>
                  </a:xfrm>
                </p:grpSpPr>
                <p:sp>
                  <p:nvSpPr>
                    <p:cNvPr id="394"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2" name="Group 2241"/>
                  <p:cNvGrpSpPr/>
                  <p:nvPr/>
                </p:nvGrpSpPr>
                <p:grpSpPr bwMode="auto">
                  <a:xfrm>
                    <a:off x="969" y="3690"/>
                    <a:ext cx="49" cy="23"/>
                    <a:chOff x="969" y="3690"/>
                    <a:chExt cx="49" cy="23"/>
                  </a:xfrm>
                </p:grpSpPr>
                <p:sp>
                  <p:nvSpPr>
                    <p:cNvPr id="391"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2"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3" name="Group 2245"/>
                  <p:cNvGrpSpPr/>
                  <p:nvPr/>
                </p:nvGrpSpPr>
                <p:grpSpPr bwMode="auto">
                  <a:xfrm>
                    <a:off x="982" y="3703"/>
                    <a:ext cx="49" cy="23"/>
                    <a:chOff x="982" y="3703"/>
                    <a:chExt cx="49" cy="23"/>
                  </a:xfrm>
                </p:grpSpPr>
                <p:sp>
                  <p:nvSpPr>
                    <p:cNvPr id="388"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9"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4" name="Group 2249"/>
                  <p:cNvGrpSpPr/>
                  <p:nvPr/>
                </p:nvGrpSpPr>
                <p:grpSpPr bwMode="auto">
                  <a:xfrm>
                    <a:off x="995" y="3716"/>
                    <a:ext cx="48" cy="23"/>
                    <a:chOff x="995" y="3716"/>
                    <a:chExt cx="48" cy="23"/>
                  </a:xfrm>
                </p:grpSpPr>
                <p:sp>
                  <p:nvSpPr>
                    <p:cNvPr id="385"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6"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7"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9" name="Group 2253"/>
                <p:cNvGrpSpPr/>
                <p:nvPr/>
              </p:nvGrpSpPr>
              <p:grpSpPr bwMode="auto">
                <a:xfrm>
                  <a:off x="1005" y="3727"/>
                  <a:ext cx="49" cy="23"/>
                  <a:chOff x="1005" y="3727"/>
                  <a:chExt cx="49" cy="23"/>
                </a:xfrm>
              </p:grpSpPr>
              <p:sp>
                <p:nvSpPr>
                  <p:cNvPr id="377"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8"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9"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 name="Group 2257"/>
                <p:cNvGrpSpPr/>
                <p:nvPr/>
              </p:nvGrpSpPr>
              <p:grpSpPr bwMode="auto">
                <a:xfrm>
                  <a:off x="1018" y="3740"/>
                  <a:ext cx="49" cy="22"/>
                  <a:chOff x="1018" y="3740"/>
                  <a:chExt cx="49" cy="22"/>
                </a:xfrm>
              </p:grpSpPr>
              <p:sp>
                <p:nvSpPr>
                  <p:cNvPr id="374"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1" name="Group 2261"/>
                <p:cNvGrpSpPr/>
                <p:nvPr/>
              </p:nvGrpSpPr>
              <p:grpSpPr bwMode="auto">
                <a:xfrm>
                  <a:off x="1030" y="3753"/>
                  <a:ext cx="49" cy="23"/>
                  <a:chOff x="1030" y="3753"/>
                  <a:chExt cx="49" cy="23"/>
                </a:xfrm>
              </p:grpSpPr>
              <p:sp>
                <p:nvSpPr>
                  <p:cNvPr id="371"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2"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3"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2"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5" name="Group 2268"/>
                <p:cNvGrpSpPr/>
                <p:nvPr/>
              </p:nvGrpSpPr>
              <p:grpSpPr bwMode="auto">
                <a:xfrm>
                  <a:off x="790" y="3547"/>
                  <a:ext cx="49" cy="23"/>
                  <a:chOff x="790" y="3547"/>
                  <a:chExt cx="49" cy="23"/>
                </a:xfrm>
              </p:grpSpPr>
              <p:sp>
                <p:nvSpPr>
                  <p:cNvPr id="368"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0"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6" name="Group 2272"/>
                <p:cNvGrpSpPr/>
                <p:nvPr/>
              </p:nvGrpSpPr>
              <p:grpSpPr bwMode="auto">
                <a:xfrm>
                  <a:off x="803" y="3560"/>
                  <a:ext cx="49" cy="22"/>
                  <a:chOff x="803" y="3560"/>
                  <a:chExt cx="49" cy="22"/>
                </a:xfrm>
              </p:grpSpPr>
              <p:sp>
                <p:nvSpPr>
                  <p:cNvPr id="365"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 name="Group 2276"/>
                <p:cNvGrpSpPr/>
                <p:nvPr/>
              </p:nvGrpSpPr>
              <p:grpSpPr bwMode="auto">
                <a:xfrm>
                  <a:off x="815" y="3572"/>
                  <a:ext cx="50" cy="23"/>
                  <a:chOff x="815" y="3572"/>
                  <a:chExt cx="50" cy="23"/>
                </a:xfrm>
              </p:grpSpPr>
              <p:sp>
                <p:nvSpPr>
                  <p:cNvPr id="362"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8" name="Group 2280"/>
                <p:cNvGrpSpPr/>
                <p:nvPr/>
              </p:nvGrpSpPr>
              <p:grpSpPr bwMode="auto">
                <a:xfrm>
                  <a:off x="828" y="3585"/>
                  <a:ext cx="49" cy="23"/>
                  <a:chOff x="828" y="3585"/>
                  <a:chExt cx="49" cy="23"/>
                </a:xfrm>
              </p:grpSpPr>
              <p:sp>
                <p:nvSpPr>
                  <p:cNvPr id="359"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0"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1"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9" name="Group 2284"/>
                <p:cNvGrpSpPr/>
                <p:nvPr/>
              </p:nvGrpSpPr>
              <p:grpSpPr bwMode="auto">
                <a:xfrm>
                  <a:off x="840" y="3600"/>
                  <a:ext cx="100" cy="73"/>
                  <a:chOff x="840" y="3600"/>
                  <a:chExt cx="100" cy="73"/>
                </a:xfrm>
              </p:grpSpPr>
              <p:grpSp>
                <p:nvGrpSpPr>
                  <p:cNvPr id="339" name="Group 2285"/>
                  <p:cNvGrpSpPr/>
                  <p:nvPr/>
                </p:nvGrpSpPr>
                <p:grpSpPr bwMode="auto">
                  <a:xfrm>
                    <a:off x="840" y="3600"/>
                    <a:ext cx="49" cy="23"/>
                    <a:chOff x="840" y="3600"/>
                    <a:chExt cx="49" cy="23"/>
                  </a:xfrm>
                </p:grpSpPr>
                <p:sp>
                  <p:nvSpPr>
                    <p:cNvPr id="356"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8"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0" name="Group 2289"/>
                  <p:cNvGrpSpPr/>
                  <p:nvPr/>
                </p:nvGrpSpPr>
                <p:grpSpPr bwMode="auto">
                  <a:xfrm>
                    <a:off x="853" y="3612"/>
                    <a:ext cx="48" cy="23"/>
                    <a:chOff x="853" y="3612"/>
                    <a:chExt cx="48" cy="23"/>
                  </a:xfrm>
                </p:grpSpPr>
                <p:sp>
                  <p:nvSpPr>
                    <p:cNvPr id="353"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1" name="Group 2293"/>
                  <p:cNvGrpSpPr/>
                  <p:nvPr/>
                </p:nvGrpSpPr>
                <p:grpSpPr bwMode="auto">
                  <a:xfrm>
                    <a:off x="865" y="3625"/>
                    <a:ext cx="49" cy="23"/>
                    <a:chOff x="865" y="3625"/>
                    <a:chExt cx="49" cy="23"/>
                  </a:xfrm>
                </p:grpSpPr>
                <p:sp>
                  <p:nvSpPr>
                    <p:cNvPr id="350"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1"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2"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2" name="Group 2297"/>
                  <p:cNvGrpSpPr/>
                  <p:nvPr/>
                </p:nvGrpSpPr>
                <p:grpSpPr bwMode="auto">
                  <a:xfrm>
                    <a:off x="878" y="3638"/>
                    <a:ext cx="49" cy="22"/>
                    <a:chOff x="878" y="3638"/>
                    <a:chExt cx="49" cy="22"/>
                  </a:xfrm>
                </p:grpSpPr>
                <p:sp>
                  <p:nvSpPr>
                    <p:cNvPr id="347"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3" name="Group 2301"/>
                  <p:cNvGrpSpPr/>
                  <p:nvPr/>
                </p:nvGrpSpPr>
                <p:grpSpPr bwMode="auto">
                  <a:xfrm>
                    <a:off x="890" y="3651"/>
                    <a:ext cx="50" cy="22"/>
                    <a:chOff x="890" y="3651"/>
                    <a:chExt cx="50" cy="22"/>
                  </a:xfrm>
                </p:grpSpPr>
                <p:sp>
                  <p:nvSpPr>
                    <p:cNvPr id="344"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5"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6"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0" name="Group 2305"/>
                <p:cNvGrpSpPr/>
                <p:nvPr/>
              </p:nvGrpSpPr>
              <p:grpSpPr bwMode="auto">
                <a:xfrm>
                  <a:off x="903" y="3665"/>
                  <a:ext cx="99" cy="74"/>
                  <a:chOff x="903" y="3665"/>
                  <a:chExt cx="99" cy="74"/>
                </a:xfrm>
              </p:grpSpPr>
              <p:grpSp>
                <p:nvGrpSpPr>
                  <p:cNvPr id="319" name="Group 2306"/>
                  <p:cNvGrpSpPr/>
                  <p:nvPr/>
                </p:nvGrpSpPr>
                <p:grpSpPr bwMode="auto">
                  <a:xfrm>
                    <a:off x="903" y="3665"/>
                    <a:ext cx="49" cy="23"/>
                    <a:chOff x="903" y="3665"/>
                    <a:chExt cx="49" cy="23"/>
                  </a:xfrm>
                </p:grpSpPr>
                <p:sp>
                  <p:nvSpPr>
                    <p:cNvPr id="336"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8"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 name="Group 2310"/>
                  <p:cNvGrpSpPr/>
                  <p:nvPr/>
                </p:nvGrpSpPr>
                <p:grpSpPr bwMode="auto">
                  <a:xfrm>
                    <a:off x="914" y="3678"/>
                    <a:ext cx="49" cy="23"/>
                    <a:chOff x="914" y="3678"/>
                    <a:chExt cx="49" cy="23"/>
                  </a:xfrm>
                </p:grpSpPr>
                <p:sp>
                  <p:nvSpPr>
                    <p:cNvPr id="333"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4"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5"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 name="Group 2314"/>
                  <p:cNvGrpSpPr/>
                  <p:nvPr/>
                </p:nvGrpSpPr>
                <p:grpSpPr bwMode="auto">
                  <a:xfrm>
                    <a:off x="928" y="3690"/>
                    <a:ext cx="48" cy="23"/>
                    <a:chOff x="928" y="3690"/>
                    <a:chExt cx="48" cy="23"/>
                  </a:xfrm>
                </p:grpSpPr>
                <p:sp>
                  <p:nvSpPr>
                    <p:cNvPr id="330"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1"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2"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 name="Group 2318"/>
                  <p:cNvGrpSpPr/>
                  <p:nvPr/>
                </p:nvGrpSpPr>
                <p:grpSpPr bwMode="auto">
                  <a:xfrm>
                    <a:off x="940" y="3703"/>
                    <a:ext cx="49" cy="23"/>
                    <a:chOff x="940" y="3703"/>
                    <a:chExt cx="49" cy="23"/>
                  </a:xfrm>
                </p:grpSpPr>
                <p:sp>
                  <p:nvSpPr>
                    <p:cNvPr id="327"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3" name="Group 2322"/>
                  <p:cNvGrpSpPr/>
                  <p:nvPr/>
                </p:nvGrpSpPr>
                <p:grpSpPr bwMode="auto">
                  <a:xfrm>
                    <a:off x="953" y="3716"/>
                    <a:ext cx="49" cy="23"/>
                    <a:chOff x="953" y="3716"/>
                    <a:chExt cx="49" cy="23"/>
                  </a:xfrm>
                </p:grpSpPr>
                <p:sp>
                  <p:nvSpPr>
                    <p:cNvPr id="324"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6"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1" name="Group 2326"/>
                <p:cNvGrpSpPr/>
                <p:nvPr/>
              </p:nvGrpSpPr>
              <p:grpSpPr bwMode="auto">
                <a:xfrm>
                  <a:off x="963" y="3727"/>
                  <a:ext cx="49" cy="23"/>
                  <a:chOff x="963" y="3727"/>
                  <a:chExt cx="49" cy="23"/>
                </a:xfrm>
              </p:grpSpPr>
              <p:sp>
                <p:nvSpPr>
                  <p:cNvPr id="316"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 name="Group 2330"/>
                <p:cNvGrpSpPr/>
                <p:nvPr/>
              </p:nvGrpSpPr>
              <p:grpSpPr bwMode="auto">
                <a:xfrm>
                  <a:off x="976" y="3740"/>
                  <a:ext cx="50" cy="22"/>
                  <a:chOff x="976" y="3740"/>
                  <a:chExt cx="50" cy="22"/>
                </a:xfrm>
              </p:grpSpPr>
              <p:sp>
                <p:nvSpPr>
                  <p:cNvPr id="313"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3" name="Group 2334"/>
                <p:cNvGrpSpPr/>
                <p:nvPr/>
              </p:nvGrpSpPr>
              <p:grpSpPr bwMode="auto">
                <a:xfrm>
                  <a:off x="761" y="3560"/>
                  <a:ext cx="50" cy="22"/>
                  <a:chOff x="761" y="3560"/>
                  <a:chExt cx="50" cy="22"/>
                </a:xfrm>
              </p:grpSpPr>
              <p:sp>
                <p:nvSpPr>
                  <p:cNvPr id="310"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4" name="Group 2338"/>
                <p:cNvGrpSpPr/>
                <p:nvPr/>
              </p:nvGrpSpPr>
              <p:grpSpPr bwMode="auto">
                <a:xfrm>
                  <a:off x="774" y="3572"/>
                  <a:ext cx="49" cy="23"/>
                  <a:chOff x="774" y="3572"/>
                  <a:chExt cx="49" cy="23"/>
                </a:xfrm>
              </p:grpSpPr>
              <p:sp>
                <p:nvSpPr>
                  <p:cNvPr id="307"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 name="Group 2342"/>
                <p:cNvGrpSpPr/>
                <p:nvPr/>
              </p:nvGrpSpPr>
              <p:grpSpPr bwMode="auto">
                <a:xfrm>
                  <a:off x="787" y="3585"/>
                  <a:ext cx="49" cy="23"/>
                  <a:chOff x="787" y="3585"/>
                  <a:chExt cx="49" cy="23"/>
                </a:xfrm>
              </p:grpSpPr>
              <p:sp>
                <p:nvSpPr>
                  <p:cNvPr id="304"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 name="Group 2346"/>
                <p:cNvGrpSpPr/>
                <p:nvPr/>
              </p:nvGrpSpPr>
              <p:grpSpPr bwMode="auto">
                <a:xfrm>
                  <a:off x="799" y="3600"/>
                  <a:ext cx="99" cy="73"/>
                  <a:chOff x="799" y="3600"/>
                  <a:chExt cx="99" cy="73"/>
                </a:xfrm>
              </p:grpSpPr>
              <p:grpSp>
                <p:nvGrpSpPr>
                  <p:cNvPr id="284" name="Group 2347"/>
                  <p:cNvGrpSpPr/>
                  <p:nvPr/>
                </p:nvGrpSpPr>
                <p:grpSpPr bwMode="auto">
                  <a:xfrm>
                    <a:off x="799" y="3600"/>
                    <a:ext cx="48" cy="23"/>
                    <a:chOff x="799" y="3600"/>
                    <a:chExt cx="48" cy="23"/>
                  </a:xfrm>
                </p:grpSpPr>
                <p:sp>
                  <p:nvSpPr>
                    <p:cNvPr id="301"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 name="Group 2351"/>
                  <p:cNvGrpSpPr/>
                  <p:nvPr/>
                </p:nvGrpSpPr>
                <p:grpSpPr bwMode="auto">
                  <a:xfrm>
                    <a:off x="811" y="3612"/>
                    <a:ext cx="48" cy="23"/>
                    <a:chOff x="811" y="3612"/>
                    <a:chExt cx="48" cy="23"/>
                  </a:xfrm>
                </p:grpSpPr>
                <p:sp>
                  <p:nvSpPr>
                    <p:cNvPr id="298"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 name="Group 2355"/>
                  <p:cNvGrpSpPr/>
                  <p:nvPr/>
                </p:nvGrpSpPr>
                <p:grpSpPr bwMode="auto">
                  <a:xfrm>
                    <a:off x="823" y="3625"/>
                    <a:ext cx="49" cy="23"/>
                    <a:chOff x="823" y="3625"/>
                    <a:chExt cx="49" cy="23"/>
                  </a:xfrm>
                </p:grpSpPr>
                <p:sp>
                  <p:nvSpPr>
                    <p:cNvPr id="295"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 name="Group 2359"/>
                  <p:cNvGrpSpPr/>
                  <p:nvPr/>
                </p:nvGrpSpPr>
                <p:grpSpPr bwMode="auto">
                  <a:xfrm>
                    <a:off x="836" y="3638"/>
                    <a:ext cx="50" cy="22"/>
                    <a:chOff x="836" y="3638"/>
                    <a:chExt cx="50" cy="22"/>
                  </a:xfrm>
                </p:grpSpPr>
                <p:sp>
                  <p:nvSpPr>
                    <p:cNvPr id="292"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 name="Group 2363"/>
                  <p:cNvGrpSpPr/>
                  <p:nvPr/>
                </p:nvGrpSpPr>
                <p:grpSpPr bwMode="auto">
                  <a:xfrm>
                    <a:off x="849" y="3651"/>
                    <a:ext cx="49" cy="22"/>
                    <a:chOff x="849" y="3651"/>
                    <a:chExt cx="49" cy="22"/>
                  </a:xfrm>
                </p:grpSpPr>
                <p:sp>
                  <p:nvSpPr>
                    <p:cNvPr id="289"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7" name="Group 2367"/>
                <p:cNvGrpSpPr/>
                <p:nvPr/>
              </p:nvGrpSpPr>
              <p:grpSpPr bwMode="auto">
                <a:xfrm>
                  <a:off x="861" y="3665"/>
                  <a:ext cx="99" cy="74"/>
                  <a:chOff x="861" y="3665"/>
                  <a:chExt cx="99" cy="74"/>
                </a:xfrm>
              </p:grpSpPr>
              <p:grpSp>
                <p:nvGrpSpPr>
                  <p:cNvPr id="264" name="Group 2368"/>
                  <p:cNvGrpSpPr/>
                  <p:nvPr/>
                </p:nvGrpSpPr>
                <p:grpSpPr bwMode="auto">
                  <a:xfrm>
                    <a:off x="861" y="3665"/>
                    <a:ext cx="50" cy="23"/>
                    <a:chOff x="861" y="3665"/>
                    <a:chExt cx="50" cy="23"/>
                  </a:xfrm>
                </p:grpSpPr>
                <p:sp>
                  <p:nvSpPr>
                    <p:cNvPr id="281"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5" name="Group 2372"/>
                  <p:cNvGrpSpPr/>
                  <p:nvPr/>
                </p:nvGrpSpPr>
                <p:grpSpPr bwMode="auto">
                  <a:xfrm>
                    <a:off x="873" y="3678"/>
                    <a:ext cx="49" cy="23"/>
                    <a:chOff x="873" y="3678"/>
                    <a:chExt cx="49" cy="23"/>
                  </a:xfrm>
                </p:grpSpPr>
                <p:sp>
                  <p:nvSpPr>
                    <p:cNvPr id="278"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6" name="Group 2376"/>
                  <p:cNvGrpSpPr/>
                  <p:nvPr/>
                </p:nvGrpSpPr>
                <p:grpSpPr bwMode="auto">
                  <a:xfrm>
                    <a:off x="886" y="3690"/>
                    <a:ext cx="49" cy="23"/>
                    <a:chOff x="886" y="3690"/>
                    <a:chExt cx="49" cy="23"/>
                  </a:xfrm>
                </p:grpSpPr>
                <p:sp>
                  <p:nvSpPr>
                    <p:cNvPr id="275"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 name="Group 2380"/>
                  <p:cNvGrpSpPr/>
                  <p:nvPr/>
                </p:nvGrpSpPr>
                <p:grpSpPr bwMode="auto">
                  <a:xfrm>
                    <a:off x="899" y="3703"/>
                    <a:ext cx="48" cy="23"/>
                    <a:chOff x="899" y="3703"/>
                    <a:chExt cx="48" cy="23"/>
                  </a:xfrm>
                </p:grpSpPr>
                <p:sp>
                  <p:nvSpPr>
                    <p:cNvPr id="272"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 name="Group 2384"/>
                  <p:cNvGrpSpPr/>
                  <p:nvPr/>
                </p:nvGrpSpPr>
                <p:grpSpPr bwMode="auto">
                  <a:xfrm>
                    <a:off x="912" y="3716"/>
                    <a:ext cx="48" cy="23"/>
                    <a:chOff x="912" y="3716"/>
                    <a:chExt cx="48" cy="23"/>
                  </a:xfrm>
                </p:grpSpPr>
                <p:sp>
                  <p:nvSpPr>
                    <p:cNvPr id="269"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8" name="Group 2388"/>
                <p:cNvGrpSpPr/>
                <p:nvPr/>
              </p:nvGrpSpPr>
              <p:grpSpPr bwMode="auto">
                <a:xfrm>
                  <a:off x="922" y="3727"/>
                  <a:ext cx="49" cy="23"/>
                  <a:chOff x="922" y="3727"/>
                  <a:chExt cx="49" cy="23"/>
                </a:xfrm>
              </p:grpSpPr>
              <p:sp>
                <p:nvSpPr>
                  <p:cNvPr id="261"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9" name="Group 2392"/>
                <p:cNvGrpSpPr/>
                <p:nvPr/>
              </p:nvGrpSpPr>
              <p:grpSpPr bwMode="auto">
                <a:xfrm>
                  <a:off x="895" y="3526"/>
                  <a:ext cx="44" cy="23"/>
                  <a:chOff x="895" y="3526"/>
                  <a:chExt cx="44" cy="23"/>
                </a:xfrm>
              </p:grpSpPr>
              <p:sp>
                <p:nvSpPr>
                  <p:cNvPr id="258"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0" name="Group 2396"/>
                <p:cNvGrpSpPr/>
                <p:nvPr/>
              </p:nvGrpSpPr>
              <p:grpSpPr bwMode="auto">
                <a:xfrm>
                  <a:off x="907" y="3540"/>
                  <a:ext cx="45" cy="22"/>
                  <a:chOff x="907" y="3540"/>
                  <a:chExt cx="45" cy="22"/>
                </a:xfrm>
              </p:grpSpPr>
              <p:sp>
                <p:nvSpPr>
                  <p:cNvPr id="255"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 name="Group 2400"/>
                <p:cNvGrpSpPr/>
                <p:nvPr/>
              </p:nvGrpSpPr>
              <p:grpSpPr bwMode="auto">
                <a:xfrm>
                  <a:off x="920" y="3553"/>
                  <a:ext cx="45" cy="23"/>
                  <a:chOff x="920" y="3553"/>
                  <a:chExt cx="45" cy="23"/>
                </a:xfrm>
              </p:grpSpPr>
              <p:sp>
                <p:nvSpPr>
                  <p:cNvPr id="252"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 name="Group 2404"/>
                <p:cNvGrpSpPr/>
                <p:nvPr/>
              </p:nvGrpSpPr>
              <p:grpSpPr bwMode="auto">
                <a:xfrm>
                  <a:off x="934" y="3566"/>
                  <a:ext cx="44" cy="23"/>
                  <a:chOff x="934" y="3566"/>
                  <a:chExt cx="44" cy="23"/>
                </a:xfrm>
              </p:grpSpPr>
              <p:sp>
                <p:nvSpPr>
                  <p:cNvPr id="249"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 name="Group 2408"/>
                <p:cNvGrpSpPr/>
                <p:nvPr/>
              </p:nvGrpSpPr>
              <p:grpSpPr bwMode="auto">
                <a:xfrm>
                  <a:off x="949" y="3579"/>
                  <a:ext cx="83" cy="63"/>
                  <a:chOff x="949" y="3579"/>
                  <a:chExt cx="83" cy="63"/>
                </a:xfrm>
              </p:grpSpPr>
              <p:grpSp>
                <p:nvGrpSpPr>
                  <p:cNvPr id="233" name="Group 2409"/>
                  <p:cNvGrpSpPr/>
                  <p:nvPr/>
                </p:nvGrpSpPr>
                <p:grpSpPr bwMode="auto">
                  <a:xfrm>
                    <a:off x="949" y="3579"/>
                    <a:ext cx="44" cy="23"/>
                    <a:chOff x="949" y="3579"/>
                    <a:chExt cx="44" cy="23"/>
                  </a:xfrm>
                </p:grpSpPr>
                <p:sp>
                  <p:nvSpPr>
                    <p:cNvPr id="246"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4" name="Group 2413"/>
                  <p:cNvGrpSpPr/>
                  <p:nvPr/>
                </p:nvGrpSpPr>
                <p:grpSpPr bwMode="auto">
                  <a:xfrm>
                    <a:off x="961" y="3592"/>
                    <a:ext cx="45" cy="23"/>
                    <a:chOff x="961" y="3592"/>
                    <a:chExt cx="45" cy="23"/>
                  </a:xfrm>
                </p:grpSpPr>
                <p:sp>
                  <p:nvSpPr>
                    <p:cNvPr id="243"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5"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 name="Group 2417"/>
                  <p:cNvGrpSpPr/>
                  <p:nvPr/>
                </p:nvGrpSpPr>
                <p:grpSpPr bwMode="auto">
                  <a:xfrm>
                    <a:off x="974" y="3606"/>
                    <a:ext cx="44" cy="23"/>
                    <a:chOff x="974" y="3606"/>
                    <a:chExt cx="44" cy="23"/>
                  </a:xfrm>
                </p:grpSpPr>
                <p:sp>
                  <p:nvSpPr>
                    <p:cNvPr id="240"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6" name="Group 2421"/>
                  <p:cNvGrpSpPr/>
                  <p:nvPr/>
                </p:nvGrpSpPr>
                <p:grpSpPr bwMode="auto">
                  <a:xfrm>
                    <a:off x="987" y="3619"/>
                    <a:ext cx="45" cy="23"/>
                    <a:chOff x="987" y="3619"/>
                    <a:chExt cx="45" cy="23"/>
                  </a:xfrm>
                </p:grpSpPr>
                <p:sp>
                  <p:nvSpPr>
                    <p:cNvPr id="237"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4" name="Group 2425"/>
                <p:cNvGrpSpPr/>
                <p:nvPr/>
              </p:nvGrpSpPr>
              <p:grpSpPr bwMode="auto">
                <a:xfrm>
                  <a:off x="1002" y="3632"/>
                  <a:ext cx="83" cy="63"/>
                  <a:chOff x="1002" y="3632"/>
                  <a:chExt cx="83" cy="63"/>
                </a:xfrm>
              </p:grpSpPr>
              <p:grpSp>
                <p:nvGrpSpPr>
                  <p:cNvPr id="217" name="Group 2426"/>
                  <p:cNvGrpSpPr/>
                  <p:nvPr/>
                </p:nvGrpSpPr>
                <p:grpSpPr bwMode="auto">
                  <a:xfrm>
                    <a:off x="1002" y="3632"/>
                    <a:ext cx="44" cy="22"/>
                    <a:chOff x="1002" y="3632"/>
                    <a:chExt cx="44" cy="22"/>
                  </a:xfrm>
                </p:grpSpPr>
                <p:sp>
                  <p:nvSpPr>
                    <p:cNvPr id="230"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 name="Group 2430"/>
                  <p:cNvGrpSpPr/>
                  <p:nvPr/>
                </p:nvGrpSpPr>
                <p:grpSpPr bwMode="auto">
                  <a:xfrm>
                    <a:off x="1014" y="3645"/>
                    <a:ext cx="44" cy="23"/>
                    <a:chOff x="1014" y="3645"/>
                    <a:chExt cx="44" cy="23"/>
                  </a:xfrm>
                </p:grpSpPr>
                <p:sp>
                  <p:nvSpPr>
                    <p:cNvPr id="227"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2434"/>
                  <p:cNvGrpSpPr/>
                  <p:nvPr/>
                </p:nvGrpSpPr>
                <p:grpSpPr bwMode="auto">
                  <a:xfrm>
                    <a:off x="1027" y="3659"/>
                    <a:ext cx="45" cy="23"/>
                    <a:chOff x="1027" y="3659"/>
                    <a:chExt cx="45" cy="23"/>
                  </a:xfrm>
                </p:grpSpPr>
                <p:sp>
                  <p:nvSpPr>
                    <p:cNvPr id="224"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0" name="Group 2438"/>
                  <p:cNvGrpSpPr/>
                  <p:nvPr/>
                </p:nvGrpSpPr>
                <p:grpSpPr bwMode="auto">
                  <a:xfrm>
                    <a:off x="1040" y="3672"/>
                    <a:ext cx="45" cy="23"/>
                    <a:chOff x="1040" y="3672"/>
                    <a:chExt cx="45" cy="23"/>
                  </a:xfrm>
                </p:grpSpPr>
                <p:sp>
                  <p:nvSpPr>
                    <p:cNvPr id="221"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5" name="Group 2442"/>
                <p:cNvGrpSpPr/>
                <p:nvPr/>
              </p:nvGrpSpPr>
              <p:grpSpPr bwMode="auto">
                <a:xfrm>
                  <a:off x="1054" y="3685"/>
                  <a:ext cx="45" cy="23"/>
                  <a:chOff x="1054" y="3685"/>
                  <a:chExt cx="45" cy="23"/>
                </a:xfrm>
              </p:grpSpPr>
              <p:sp>
                <p:nvSpPr>
                  <p:cNvPr id="214"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6" name="Group 2446"/>
                <p:cNvGrpSpPr/>
                <p:nvPr/>
              </p:nvGrpSpPr>
              <p:grpSpPr bwMode="auto">
                <a:xfrm>
                  <a:off x="1067" y="3698"/>
                  <a:ext cx="45" cy="23"/>
                  <a:chOff x="1067" y="3698"/>
                  <a:chExt cx="45" cy="23"/>
                </a:xfrm>
              </p:grpSpPr>
              <p:sp>
                <p:nvSpPr>
                  <p:cNvPr id="211"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7" name="Group 2450"/>
                <p:cNvGrpSpPr/>
                <p:nvPr/>
              </p:nvGrpSpPr>
              <p:grpSpPr bwMode="auto">
                <a:xfrm>
                  <a:off x="1079" y="3712"/>
                  <a:ext cx="44" cy="23"/>
                  <a:chOff x="1079" y="3712"/>
                  <a:chExt cx="44" cy="23"/>
                </a:xfrm>
              </p:grpSpPr>
              <p:sp>
                <p:nvSpPr>
                  <p:cNvPr id="208"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 name="Group 2454"/>
                <p:cNvGrpSpPr/>
                <p:nvPr/>
              </p:nvGrpSpPr>
              <p:grpSpPr bwMode="auto">
                <a:xfrm>
                  <a:off x="1093" y="3725"/>
                  <a:ext cx="45" cy="23"/>
                  <a:chOff x="1093" y="3725"/>
                  <a:chExt cx="45" cy="23"/>
                </a:xfrm>
              </p:grpSpPr>
              <p:sp>
                <p:nvSpPr>
                  <p:cNvPr id="205"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9" name="Group 2458"/>
                <p:cNvGrpSpPr/>
                <p:nvPr/>
              </p:nvGrpSpPr>
              <p:grpSpPr bwMode="auto">
                <a:xfrm>
                  <a:off x="1108" y="3739"/>
                  <a:ext cx="44" cy="23"/>
                  <a:chOff x="1108" y="3739"/>
                  <a:chExt cx="44" cy="23"/>
                </a:xfrm>
              </p:grpSpPr>
              <p:sp>
                <p:nvSpPr>
                  <p:cNvPr id="202"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 name="Group 2462"/>
                <p:cNvGrpSpPr/>
                <p:nvPr/>
              </p:nvGrpSpPr>
              <p:grpSpPr bwMode="auto">
                <a:xfrm>
                  <a:off x="1121" y="3753"/>
                  <a:ext cx="45" cy="23"/>
                  <a:chOff x="1121" y="3753"/>
                  <a:chExt cx="45" cy="23"/>
                </a:xfrm>
              </p:grpSpPr>
              <p:sp>
                <p:nvSpPr>
                  <p:cNvPr id="199"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1" name="Group 2466"/>
                <p:cNvGrpSpPr/>
                <p:nvPr/>
              </p:nvGrpSpPr>
              <p:grpSpPr bwMode="auto">
                <a:xfrm>
                  <a:off x="1133" y="3767"/>
                  <a:ext cx="44" cy="23"/>
                  <a:chOff x="1133" y="3767"/>
                  <a:chExt cx="44" cy="23"/>
                </a:xfrm>
              </p:grpSpPr>
              <p:sp>
                <p:nvSpPr>
                  <p:cNvPr id="196"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7"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2"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1"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2"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3" name="Group 2481"/>
                <p:cNvGrpSpPr/>
                <p:nvPr/>
              </p:nvGrpSpPr>
              <p:grpSpPr bwMode="auto">
                <a:xfrm>
                  <a:off x="700" y="3535"/>
                  <a:ext cx="49" cy="24"/>
                  <a:chOff x="700" y="3535"/>
                  <a:chExt cx="49" cy="24"/>
                </a:xfrm>
              </p:grpSpPr>
              <p:sp>
                <p:nvSpPr>
                  <p:cNvPr id="193"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 name="Group 2485"/>
                <p:cNvGrpSpPr/>
                <p:nvPr/>
              </p:nvGrpSpPr>
              <p:grpSpPr bwMode="auto">
                <a:xfrm>
                  <a:off x="714" y="3551"/>
                  <a:ext cx="49" cy="22"/>
                  <a:chOff x="714" y="3551"/>
                  <a:chExt cx="49" cy="22"/>
                </a:xfrm>
              </p:grpSpPr>
              <p:sp>
                <p:nvSpPr>
                  <p:cNvPr id="190"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 name="Group 2489"/>
                <p:cNvGrpSpPr/>
                <p:nvPr/>
              </p:nvGrpSpPr>
              <p:grpSpPr bwMode="auto">
                <a:xfrm>
                  <a:off x="728" y="3564"/>
                  <a:ext cx="48" cy="23"/>
                  <a:chOff x="728" y="3564"/>
                  <a:chExt cx="48" cy="23"/>
                </a:xfrm>
              </p:grpSpPr>
              <p:sp>
                <p:nvSpPr>
                  <p:cNvPr id="187"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6" name="Group 2493"/>
                <p:cNvGrpSpPr/>
                <p:nvPr/>
              </p:nvGrpSpPr>
              <p:grpSpPr bwMode="auto">
                <a:xfrm>
                  <a:off x="742" y="3582"/>
                  <a:ext cx="49" cy="23"/>
                  <a:chOff x="742" y="3582"/>
                  <a:chExt cx="49" cy="23"/>
                </a:xfrm>
              </p:grpSpPr>
              <p:sp>
                <p:nvSpPr>
                  <p:cNvPr id="184"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7" name="Group 2497"/>
                <p:cNvGrpSpPr/>
                <p:nvPr/>
              </p:nvGrpSpPr>
              <p:grpSpPr bwMode="auto">
                <a:xfrm>
                  <a:off x="752" y="3597"/>
                  <a:ext cx="133" cy="106"/>
                  <a:chOff x="752" y="3597"/>
                  <a:chExt cx="133" cy="106"/>
                </a:xfrm>
              </p:grpSpPr>
              <p:sp>
                <p:nvSpPr>
                  <p:cNvPr id="181"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8" name="Group 2501"/>
                <p:cNvGrpSpPr/>
                <p:nvPr/>
              </p:nvGrpSpPr>
              <p:grpSpPr bwMode="auto">
                <a:xfrm>
                  <a:off x="844" y="3694"/>
                  <a:ext cx="48" cy="23"/>
                  <a:chOff x="844" y="3694"/>
                  <a:chExt cx="48" cy="23"/>
                </a:xfrm>
              </p:grpSpPr>
              <p:sp>
                <p:nvSpPr>
                  <p:cNvPr id="178"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9" name="Group 2505"/>
                <p:cNvGrpSpPr/>
                <p:nvPr/>
              </p:nvGrpSpPr>
              <p:grpSpPr bwMode="auto">
                <a:xfrm>
                  <a:off x="857" y="3710"/>
                  <a:ext cx="49" cy="22"/>
                  <a:chOff x="857" y="3710"/>
                  <a:chExt cx="49" cy="22"/>
                </a:xfrm>
              </p:grpSpPr>
              <p:sp>
                <p:nvSpPr>
                  <p:cNvPr id="175"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 name="Group 2509"/>
                <p:cNvGrpSpPr/>
                <p:nvPr/>
              </p:nvGrpSpPr>
              <p:grpSpPr bwMode="auto">
                <a:xfrm>
                  <a:off x="1086" y="3766"/>
                  <a:ext cx="49" cy="23"/>
                  <a:chOff x="1086" y="3766"/>
                  <a:chExt cx="49" cy="23"/>
                </a:xfrm>
              </p:grpSpPr>
              <p:sp>
                <p:nvSpPr>
                  <p:cNvPr id="172"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 name="Group 2513"/>
                <p:cNvGrpSpPr/>
                <p:nvPr/>
              </p:nvGrpSpPr>
              <p:grpSpPr bwMode="auto">
                <a:xfrm>
                  <a:off x="934" y="3740"/>
                  <a:ext cx="48" cy="23"/>
                  <a:chOff x="934" y="3740"/>
                  <a:chExt cx="48" cy="23"/>
                </a:xfrm>
              </p:grpSpPr>
              <p:sp>
                <p:nvSpPr>
                  <p:cNvPr id="169"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 name="Group 2517"/>
                <p:cNvGrpSpPr/>
                <p:nvPr/>
              </p:nvGrpSpPr>
              <p:grpSpPr bwMode="auto">
                <a:xfrm>
                  <a:off x="943" y="3754"/>
                  <a:ext cx="49" cy="23"/>
                  <a:chOff x="943" y="3754"/>
                  <a:chExt cx="49" cy="23"/>
                </a:xfrm>
              </p:grpSpPr>
              <p:sp>
                <p:nvSpPr>
                  <p:cNvPr id="166"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63"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 name="Group 2524"/>
              <p:cNvGrpSpPr/>
              <p:nvPr/>
            </p:nvGrpSpPr>
            <p:grpSpPr bwMode="auto">
              <a:xfrm>
                <a:off x="920" y="3821"/>
                <a:ext cx="413" cy="50"/>
                <a:chOff x="920" y="3821"/>
                <a:chExt cx="413" cy="50"/>
              </a:xfrm>
            </p:grpSpPr>
            <p:sp>
              <p:nvSpPr>
                <p:cNvPr id="81"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4"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61" name="Group 2529"/>
              <p:cNvGrpSpPr/>
              <p:nvPr/>
            </p:nvGrpSpPr>
            <p:grpSpPr bwMode="auto">
              <a:xfrm>
                <a:off x="1227" y="3477"/>
                <a:ext cx="508" cy="321"/>
                <a:chOff x="1227" y="3477"/>
                <a:chExt cx="508" cy="321"/>
              </a:xfrm>
            </p:grpSpPr>
            <p:sp>
              <p:nvSpPr>
                <p:cNvPr id="62"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7"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8"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0"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sp>
          <p:nvSpPr>
            <p:cNvPr id="501" name="Line 3458"/>
            <p:cNvSpPr>
              <a:spLocks noChangeShapeType="1"/>
            </p:cNvSpPr>
            <p:nvPr/>
          </p:nvSpPr>
          <p:spPr bwMode="auto">
            <a:xfrm rot="816166" flipV="1">
              <a:off x="1373235" y="1425345"/>
              <a:ext cx="3117942" cy="691145"/>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2" name="Text Box 3475"/>
            <p:cNvSpPr txBox="1">
              <a:spLocks noChangeArrowheads="1"/>
            </p:cNvSpPr>
            <p:nvPr/>
          </p:nvSpPr>
          <p:spPr bwMode="auto">
            <a:xfrm>
              <a:off x="900113" y="13414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503" name="Line 3490"/>
            <p:cNvSpPr>
              <a:spLocks noChangeShapeType="1"/>
            </p:cNvSpPr>
            <p:nvPr/>
          </p:nvSpPr>
          <p:spPr bwMode="auto">
            <a:xfrm rot="816166" flipV="1">
              <a:off x="1503461" y="721166"/>
              <a:ext cx="4194552" cy="1476844"/>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4" name="Line 3491"/>
            <p:cNvSpPr>
              <a:spLocks noChangeShapeType="1"/>
            </p:cNvSpPr>
            <p:nvPr/>
          </p:nvSpPr>
          <p:spPr bwMode="auto">
            <a:xfrm rot="816166" flipV="1">
              <a:off x="1607792" y="117307"/>
              <a:ext cx="3250921" cy="1899473"/>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5" name="Line 3492"/>
            <p:cNvSpPr>
              <a:spLocks noChangeShapeType="1"/>
            </p:cNvSpPr>
            <p:nvPr/>
          </p:nvSpPr>
          <p:spPr bwMode="auto">
            <a:xfrm rot="816166" flipV="1">
              <a:off x="1392238" y="838200"/>
              <a:ext cx="506412" cy="744538"/>
            </a:xfrm>
            <a:prstGeom prst="line">
              <a:avLst/>
            </a:prstGeom>
            <a:noFill/>
            <a:ln w="38100">
              <a:solidFill>
                <a:srgbClr val="99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6" name="Line 4401"/>
            <p:cNvSpPr>
              <a:spLocks noChangeShapeType="1"/>
            </p:cNvSpPr>
            <p:nvPr/>
          </p:nvSpPr>
          <p:spPr bwMode="auto">
            <a:xfrm rot="816166" flipV="1">
              <a:off x="5429250" y="528638"/>
              <a:ext cx="1381125" cy="1127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7" name="Line 4402"/>
            <p:cNvSpPr>
              <a:spLocks noChangeShapeType="1"/>
            </p:cNvSpPr>
            <p:nvPr/>
          </p:nvSpPr>
          <p:spPr bwMode="auto">
            <a:xfrm rot="816166" flipH="1">
              <a:off x="3189288" y="438150"/>
              <a:ext cx="1752600" cy="19272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Line 4403"/>
            <p:cNvSpPr>
              <a:spLocks noChangeShapeType="1"/>
            </p:cNvSpPr>
            <p:nvPr/>
          </p:nvSpPr>
          <p:spPr bwMode="auto">
            <a:xfrm rot="816166">
              <a:off x="5305425" y="641350"/>
              <a:ext cx="836613" cy="3905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Line 4404"/>
            <p:cNvSpPr>
              <a:spLocks noChangeShapeType="1"/>
            </p:cNvSpPr>
            <p:nvPr/>
          </p:nvSpPr>
          <p:spPr bwMode="auto">
            <a:xfrm rot="816166" flipV="1">
              <a:off x="4945063" y="2055813"/>
              <a:ext cx="1173162" cy="1587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Line 4408"/>
            <p:cNvSpPr>
              <a:spLocks noChangeShapeType="1"/>
            </p:cNvSpPr>
            <p:nvPr/>
          </p:nvSpPr>
          <p:spPr bwMode="auto">
            <a:xfrm rot="816166" flipH="1">
              <a:off x="6443663" y="860425"/>
              <a:ext cx="228600" cy="1243013"/>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Text Box 3475"/>
            <p:cNvSpPr txBox="1">
              <a:spLocks noChangeArrowheads="1"/>
            </p:cNvSpPr>
            <p:nvPr/>
          </p:nvSpPr>
          <p:spPr bwMode="auto">
            <a:xfrm>
              <a:off x="4467224" y="1603084"/>
              <a:ext cx="386609"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
              </a:r>
              <a:endParaRPr lang="en-US" altLang="zh-CN" sz="1100" b="1" i="1" dirty="0">
                <a:latin typeface="微软雅黑" panose="020B0503020204020204" pitchFamily="34" charset="-122"/>
                <a:ea typeface="微软雅黑" panose="020B0503020204020204" pitchFamily="34" charset="-122"/>
              </a:endParaRPr>
            </a:p>
          </p:txBody>
        </p:sp>
        <p:sp>
          <p:nvSpPr>
            <p:cNvPr id="512" name="Text Box 3475"/>
            <p:cNvSpPr txBox="1">
              <a:spLocks noChangeArrowheads="1"/>
            </p:cNvSpPr>
            <p:nvPr/>
          </p:nvSpPr>
          <p:spPr bwMode="auto">
            <a:xfrm>
              <a:off x="5678712" y="991925"/>
              <a:ext cx="48048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a:t>
              </a:r>
              <a:endParaRPr lang="en-US" altLang="zh-CN" sz="1100" b="1" i="1" dirty="0">
                <a:latin typeface="微软雅黑" panose="020B0503020204020204" pitchFamily="34" charset="-122"/>
                <a:ea typeface="微软雅黑" panose="020B0503020204020204" pitchFamily="34" charset="-122"/>
              </a:endParaRPr>
            </a:p>
          </p:txBody>
        </p:sp>
        <p:sp>
          <p:nvSpPr>
            <p:cNvPr id="513" name="Text Box 3475"/>
            <p:cNvSpPr txBox="1">
              <a:spLocks noChangeArrowheads="1"/>
            </p:cNvSpPr>
            <p:nvPr/>
          </p:nvSpPr>
          <p:spPr bwMode="auto">
            <a:xfrm>
              <a:off x="4932363" y="1889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a:latin typeface="微软雅黑" panose="020B0503020204020204" pitchFamily="34" charset="-122"/>
                <a:ea typeface="微软雅黑" panose="020B0503020204020204" pitchFamily="34" charset="-122"/>
              </a:endParaRPr>
            </a:p>
          </p:txBody>
        </p:sp>
        <p:sp>
          <p:nvSpPr>
            <p:cNvPr id="514" name="Line 4406"/>
            <p:cNvSpPr>
              <a:spLocks noChangeShapeType="1"/>
            </p:cNvSpPr>
            <p:nvPr/>
          </p:nvSpPr>
          <p:spPr bwMode="auto">
            <a:xfrm rot="816166" flipV="1">
              <a:off x="5060950" y="1389063"/>
              <a:ext cx="752475" cy="558800"/>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5" name="Line 4406"/>
            <p:cNvSpPr>
              <a:spLocks noChangeShapeType="1"/>
            </p:cNvSpPr>
            <p:nvPr/>
          </p:nvSpPr>
          <p:spPr bwMode="auto">
            <a:xfrm rot="816166" flipH="1">
              <a:off x="5062538" y="674688"/>
              <a:ext cx="26987" cy="11160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6" name="椭圆 515"/>
            <p:cNvSpPr/>
            <p:nvPr/>
          </p:nvSpPr>
          <p:spPr bwMode="auto">
            <a:xfrm>
              <a:off x="827088" y="42926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7" name="椭圆 516"/>
            <p:cNvSpPr/>
            <p:nvPr/>
          </p:nvSpPr>
          <p:spPr bwMode="auto">
            <a:xfrm>
              <a:off x="1979613" y="2852738"/>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8" name="椭圆 517"/>
            <p:cNvSpPr/>
            <p:nvPr/>
          </p:nvSpPr>
          <p:spPr bwMode="auto">
            <a:xfrm>
              <a:off x="3132138" y="4365625"/>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9" name="椭圆 518"/>
            <p:cNvSpPr/>
            <p:nvPr/>
          </p:nvSpPr>
          <p:spPr bwMode="auto">
            <a:xfrm>
              <a:off x="5724525" y="42211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0" name="椭圆 519"/>
            <p:cNvSpPr/>
            <p:nvPr/>
          </p:nvSpPr>
          <p:spPr bwMode="auto">
            <a:xfrm>
              <a:off x="7092950" y="2852738"/>
              <a:ext cx="215900" cy="217487"/>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1" name="椭圆 520"/>
            <p:cNvSpPr/>
            <p:nvPr/>
          </p:nvSpPr>
          <p:spPr bwMode="auto">
            <a:xfrm>
              <a:off x="6227763" y="31416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2" name="椭圆 521"/>
            <p:cNvSpPr/>
            <p:nvPr/>
          </p:nvSpPr>
          <p:spPr bwMode="auto">
            <a:xfrm>
              <a:off x="7812088" y="34290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523" name="直接连接符 5708"/>
            <p:cNvCxnSpPr>
              <a:cxnSpLocks noChangeShapeType="1"/>
              <a:endCxn id="516" idx="0"/>
            </p:cNvCxnSpPr>
            <p:nvPr/>
          </p:nvCxnSpPr>
          <p:spPr bwMode="auto">
            <a:xfrm flipH="1">
              <a:off x="935038" y="1844675"/>
              <a:ext cx="252412" cy="244792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4" name="直接连接符 5709"/>
            <p:cNvCxnSpPr>
              <a:cxnSpLocks noChangeShapeType="1"/>
              <a:stCxn id="2835" idx="7"/>
              <a:endCxn id="521" idx="0"/>
            </p:cNvCxnSpPr>
            <p:nvPr/>
          </p:nvCxnSpPr>
          <p:spPr bwMode="auto">
            <a:xfrm>
              <a:off x="6223000" y="2347913"/>
              <a:ext cx="112713" cy="79375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5" name="直接连接符 5710"/>
            <p:cNvCxnSpPr>
              <a:cxnSpLocks noChangeShapeType="1"/>
              <a:endCxn id="518" idx="7"/>
            </p:cNvCxnSpPr>
            <p:nvPr/>
          </p:nvCxnSpPr>
          <p:spPr bwMode="auto">
            <a:xfrm flipH="1">
              <a:off x="3316288" y="2060575"/>
              <a:ext cx="1327150" cy="233680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6" name="直接连接符 5711"/>
            <p:cNvCxnSpPr>
              <a:cxnSpLocks noChangeShapeType="1"/>
              <a:stCxn id="1473" idx="7"/>
              <a:endCxn id="517" idx="7"/>
            </p:cNvCxnSpPr>
            <p:nvPr/>
          </p:nvCxnSpPr>
          <p:spPr bwMode="auto">
            <a:xfrm flipH="1">
              <a:off x="2163763" y="2225675"/>
              <a:ext cx="584200" cy="658813"/>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7" name="直接连接符 5712"/>
            <p:cNvCxnSpPr>
              <a:cxnSpLocks noChangeShapeType="1"/>
              <a:endCxn id="522" idx="1"/>
            </p:cNvCxnSpPr>
            <p:nvPr/>
          </p:nvCxnSpPr>
          <p:spPr bwMode="auto">
            <a:xfrm>
              <a:off x="6948488" y="908050"/>
              <a:ext cx="895350" cy="255270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8" name="直接连接符 5713"/>
            <p:cNvCxnSpPr>
              <a:cxnSpLocks noChangeShapeType="1"/>
              <a:endCxn id="519" idx="0"/>
            </p:cNvCxnSpPr>
            <p:nvPr/>
          </p:nvCxnSpPr>
          <p:spPr bwMode="auto">
            <a:xfrm>
              <a:off x="5292725" y="549275"/>
              <a:ext cx="539750" cy="3671888"/>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9" name="直接连接符 5714"/>
            <p:cNvCxnSpPr>
              <a:cxnSpLocks noChangeShapeType="1"/>
              <a:endCxn id="520" idx="1"/>
            </p:cNvCxnSpPr>
            <p:nvPr/>
          </p:nvCxnSpPr>
          <p:spPr bwMode="auto">
            <a:xfrm>
              <a:off x="6084888" y="1484313"/>
              <a:ext cx="1039812" cy="140017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graphicFrame>
          <p:nvGraphicFramePr>
            <p:cNvPr id="530" name="Object 58"/>
            <p:cNvGraphicFramePr>
              <a:graphicFrameLocks noChangeAspect="1"/>
            </p:cNvGraphicFramePr>
            <p:nvPr/>
          </p:nvGraphicFramePr>
          <p:xfrm>
            <a:off x="4284663" y="3068638"/>
            <a:ext cx="957262" cy="693737"/>
          </p:xfrm>
          <a:graphic>
            <a:graphicData uri="http://schemas.openxmlformats.org/presentationml/2006/ole">
              <mc:AlternateContent xmlns:mc="http://schemas.openxmlformats.org/markup-compatibility/2006">
                <mc:Choice xmlns:v="urn:schemas-microsoft-com:vml" Requires="v">
                  <p:oleObj spid="_x0000_s33794" name="VISIO" r:id="rId3" imgW="3514725" imgH="2009775" progId="">
                    <p:embed/>
                  </p:oleObj>
                </mc:Choice>
                <mc:Fallback>
                  <p:oleObj name="VISIO" r:id="rId3" imgW="3514725" imgH="2009775" progId="">
                    <p:embed/>
                    <p:pic>
                      <p:nvPicPr>
                        <p:cNvPr id="0" name="图片 33793"/>
                        <p:cNvPicPr>
                          <a:picLocks noChangeAspect="1"/>
                        </p:cNvPicPr>
                        <p:nvPr/>
                      </p:nvPicPr>
                      <p:blipFill>
                        <a:blip r:embed="rId4"/>
                        <a:stretch>
                          <a:fillRect/>
                        </a:stretch>
                      </p:blipFill>
                      <p:spPr>
                        <a:xfrm>
                          <a:off x="4284663" y="3068638"/>
                          <a:ext cx="957262" cy="693737"/>
                        </a:xfrm>
                        <a:prstGeom prst="rect">
                          <a:avLst/>
                        </a:prstGeom>
                        <a:noFill/>
                        <a:ln w="9525">
                          <a:noFill/>
                        </a:ln>
                        <a:effectLst>
                          <a:outerShdw dist="25400" dir="5400000" algn="ctr" rotWithShape="0">
                            <a:srgbClr val="EEECE1"/>
                          </a:outerShdw>
                        </a:effectLst>
                      </p:spPr>
                    </p:pic>
                  </p:oleObj>
                </mc:Fallback>
              </mc:AlternateContent>
            </a:graphicData>
          </a:graphic>
        </p:graphicFrame>
        <p:grpSp>
          <p:nvGrpSpPr>
            <p:cNvPr id="531" name="Group 2096"/>
            <p:cNvGrpSpPr/>
            <p:nvPr/>
          </p:nvGrpSpPr>
          <p:grpSpPr bwMode="auto">
            <a:xfrm>
              <a:off x="971550" y="1484313"/>
              <a:ext cx="431800" cy="330200"/>
              <a:chOff x="624" y="2968"/>
              <a:chExt cx="1331" cy="920"/>
            </a:xfrm>
          </p:grpSpPr>
          <p:sp>
            <p:nvSpPr>
              <p:cNvPr id="532"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4"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5"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6"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7"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2"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3"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44" name="Group 2109"/>
              <p:cNvGrpSpPr/>
              <p:nvPr/>
            </p:nvGrpSpPr>
            <p:grpSpPr bwMode="auto">
              <a:xfrm>
                <a:off x="700" y="3526"/>
                <a:ext cx="515" cy="270"/>
                <a:chOff x="700" y="3526"/>
                <a:chExt cx="515" cy="270"/>
              </a:xfrm>
            </p:grpSpPr>
            <p:grpSp>
              <p:nvGrpSpPr>
                <p:cNvPr id="570" name="Group 2110"/>
                <p:cNvGrpSpPr/>
                <p:nvPr/>
              </p:nvGrpSpPr>
              <p:grpSpPr bwMode="auto">
                <a:xfrm>
                  <a:off x="737" y="3534"/>
                  <a:ext cx="49" cy="23"/>
                  <a:chOff x="737" y="3534"/>
                  <a:chExt cx="49" cy="23"/>
                </a:xfrm>
              </p:grpSpPr>
              <p:sp>
                <p:nvSpPr>
                  <p:cNvPr id="981"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2"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3"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1" name="Group 2114"/>
                <p:cNvGrpSpPr/>
                <p:nvPr/>
              </p:nvGrpSpPr>
              <p:grpSpPr bwMode="auto">
                <a:xfrm>
                  <a:off x="748" y="3547"/>
                  <a:ext cx="50" cy="23"/>
                  <a:chOff x="748" y="3547"/>
                  <a:chExt cx="50" cy="23"/>
                </a:xfrm>
              </p:grpSpPr>
              <p:sp>
                <p:nvSpPr>
                  <p:cNvPr id="978"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9"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0"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72"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3"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4"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76" name="Group 2122"/>
                <p:cNvGrpSpPr/>
                <p:nvPr/>
              </p:nvGrpSpPr>
              <p:grpSpPr bwMode="auto">
                <a:xfrm>
                  <a:off x="872" y="3547"/>
                  <a:ext cx="50" cy="23"/>
                  <a:chOff x="872" y="3547"/>
                  <a:chExt cx="50" cy="23"/>
                </a:xfrm>
              </p:grpSpPr>
              <p:sp>
                <p:nvSpPr>
                  <p:cNvPr id="975"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6"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7"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7" name="Group 2126"/>
                <p:cNvGrpSpPr/>
                <p:nvPr/>
              </p:nvGrpSpPr>
              <p:grpSpPr bwMode="auto">
                <a:xfrm>
                  <a:off x="885" y="3559"/>
                  <a:ext cx="50" cy="23"/>
                  <a:chOff x="885" y="3559"/>
                  <a:chExt cx="50" cy="23"/>
                </a:xfrm>
              </p:grpSpPr>
              <p:sp>
                <p:nvSpPr>
                  <p:cNvPr id="972"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3"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4"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8" name="Group 2130"/>
                <p:cNvGrpSpPr/>
                <p:nvPr/>
              </p:nvGrpSpPr>
              <p:grpSpPr bwMode="auto">
                <a:xfrm>
                  <a:off x="898" y="3571"/>
                  <a:ext cx="49" cy="23"/>
                  <a:chOff x="898" y="3571"/>
                  <a:chExt cx="49" cy="23"/>
                </a:xfrm>
              </p:grpSpPr>
              <p:sp>
                <p:nvSpPr>
                  <p:cNvPr id="969"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0"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1"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9" name="Group 2134"/>
                <p:cNvGrpSpPr/>
                <p:nvPr/>
              </p:nvGrpSpPr>
              <p:grpSpPr bwMode="auto">
                <a:xfrm>
                  <a:off x="911" y="3585"/>
                  <a:ext cx="49" cy="23"/>
                  <a:chOff x="911" y="3585"/>
                  <a:chExt cx="49" cy="23"/>
                </a:xfrm>
              </p:grpSpPr>
              <p:sp>
                <p:nvSpPr>
                  <p:cNvPr id="966"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7"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8"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0" name="Group 2138"/>
                <p:cNvGrpSpPr/>
                <p:nvPr/>
              </p:nvGrpSpPr>
              <p:grpSpPr bwMode="auto">
                <a:xfrm>
                  <a:off x="923" y="3600"/>
                  <a:ext cx="99" cy="73"/>
                  <a:chOff x="923" y="3600"/>
                  <a:chExt cx="99" cy="73"/>
                </a:xfrm>
              </p:grpSpPr>
              <p:grpSp>
                <p:nvGrpSpPr>
                  <p:cNvPr id="946" name="Group 2139"/>
                  <p:cNvGrpSpPr/>
                  <p:nvPr/>
                </p:nvGrpSpPr>
                <p:grpSpPr bwMode="auto">
                  <a:xfrm>
                    <a:off x="923" y="3600"/>
                    <a:ext cx="49" cy="23"/>
                    <a:chOff x="923" y="3600"/>
                    <a:chExt cx="49" cy="23"/>
                  </a:xfrm>
                </p:grpSpPr>
                <p:sp>
                  <p:nvSpPr>
                    <p:cNvPr id="963"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4"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5"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7" name="Group 2143"/>
                  <p:cNvGrpSpPr/>
                  <p:nvPr/>
                </p:nvGrpSpPr>
                <p:grpSpPr bwMode="auto">
                  <a:xfrm>
                    <a:off x="935" y="3612"/>
                    <a:ext cx="48" cy="23"/>
                    <a:chOff x="935" y="3612"/>
                    <a:chExt cx="48" cy="23"/>
                  </a:xfrm>
                </p:grpSpPr>
                <p:sp>
                  <p:nvSpPr>
                    <p:cNvPr id="960"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1"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2"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8" name="Group 2147"/>
                  <p:cNvGrpSpPr/>
                  <p:nvPr/>
                </p:nvGrpSpPr>
                <p:grpSpPr bwMode="auto">
                  <a:xfrm>
                    <a:off x="947" y="3625"/>
                    <a:ext cx="50" cy="22"/>
                    <a:chOff x="947" y="3625"/>
                    <a:chExt cx="50" cy="22"/>
                  </a:xfrm>
                </p:grpSpPr>
                <p:sp>
                  <p:nvSpPr>
                    <p:cNvPr id="957"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8"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9"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9" name="Group 2151"/>
                  <p:cNvGrpSpPr/>
                  <p:nvPr/>
                </p:nvGrpSpPr>
                <p:grpSpPr bwMode="auto">
                  <a:xfrm>
                    <a:off x="960" y="3637"/>
                    <a:ext cx="50" cy="23"/>
                    <a:chOff x="960" y="3637"/>
                    <a:chExt cx="50" cy="23"/>
                  </a:xfrm>
                </p:grpSpPr>
                <p:sp>
                  <p:nvSpPr>
                    <p:cNvPr id="954"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5"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6"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0" name="Group 2155"/>
                  <p:cNvGrpSpPr/>
                  <p:nvPr/>
                </p:nvGrpSpPr>
                <p:grpSpPr bwMode="auto">
                  <a:xfrm>
                    <a:off x="973" y="3650"/>
                    <a:ext cx="49" cy="23"/>
                    <a:chOff x="973" y="3650"/>
                    <a:chExt cx="49" cy="23"/>
                  </a:xfrm>
                </p:grpSpPr>
                <p:sp>
                  <p:nvSpPr>
                    <p:cNvPr id="951"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2"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3"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1" name="Group 2159"/>
                <p:cNvGrpSpPr/>
                <p:nvPr/>
              </p:nvGrpSpPr>
              <p:grpSpPr bwMode="auto">
                <a:xfrm>
                  <a:off x="985" y="3665"/>
                  <a:ext cx="100" cy="73"/>
                  <a:chOff x="985" y="3665"/>
                  <a:chExt cx="100" cy="73"/>
                </a:xfrm>
              </p:grpSpPr>
              <p:grpSp>
                <p:nvGrpSpPr>
                  <p:cNvPr id="926" name="Group 2160"/>
                  <p:cNvGrpSpPr/>
                  <p:nvPr/>
                </p:nvGrpSpPr>
                <p:grpSpPr bwMode="auto">
                  <a:xfrm>
                    <a:off x="985" y="3665"/>
                    <a:ext cx="50" cy="23"/>
                    <a:chOff x="985" y="3665"/>
                    <a:chExt cx="50" cy="23"/>
                  </a:xfrm>
                </p:grpSpPr>
                <p:sp>
                  <p:nvSpPr>
                    <p:cNvPr id="943"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4"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5"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7" name="Group 2164"/>
                  <p:cNvGrpSpPr/>
                  <p:nvPr/>
                </p:nvGrpSpPr>
                <p:grpSpPr bwMode="auto">
                  <a:xfrm>
                    <a:off x="997" y="3677"/>
                    <a:ext cx="49" cy="23"/>
                    <a:chOff x="997" y="3677"/>
                    <a:chExt cx="49" cy="23"/>
                  </a:xfrm>
                </p:grpSpPr>
                <p:sp>
                  <p:nvSpPr>
                    <p:cNvPr id="940"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1"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2"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8" name="Group 2168"/>
                  <p:cNvGrpSpPr/>
                  <p:nvPr/>
                </p:nvGrpSpPr>
                <p:grpSpPr bwMode="auto">
                  <a:xfrm>
                    <a:off x="1010" y="3690"/>
                    <a:ext cx="48" cy="23"/>
                    <a:chOff x="1010" y="3690"/>
                    <a:chExt cx="48" cy="23"/>
                  </a:xfrm>
                </p:grpSpPr>
                <p:sp>
                  <p:nvSpPr>
                    <p:cNvPr id="937"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8"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9"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9" name="Group 2172"/>
                  <p:cNvGrpSpPr/>
                  <p:nvPr/>
                </p:nvGrpSpPr>
                <p:grpSpPr bwMode="auto">
                  <a:xfrm>
                    <a:off x="1023" y="3703"/>
                    <a:ext cx="49" cy="22"/>
                    <a:chOff x="1023" y="3703"/>
                    <a:chExt cx="49" cy="22"/>
                  </a:xfrm>
                </p:grpSpPr>
                <p:sp>
                  <p:nvSpPr>
                    <p:cNvPr id="934"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5"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6"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0" name="Group 2176"/>
                  <p:cNvGrpSpPr/>
                  <p:nvPr/>
                </p:nvGrpSpPr>
                <p:grpSpPr bwMode="auto">
                  <a:xfrm>
                    <a:off x="1036" y="3716"/>
                    <a:ext cx="49" cy="22"/>
                    <a:chOff x="1036" y="3716"/>
                    <a:chExt cx="49" cy="22"/>
                  </a:xfrm>
                </p:grpSpPr>
                <p:sp>
                  <p:nvSpPr>
                    <p:cNvPr id="931"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2"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3"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2" name="Group 2180"/>
                <p:cNvGrpSpPr/>
                <p:nvPr/>
              </p:nvGrpSpPr>
              <p:grpSpPr bwMode="auto">
                <a:xfrm>
                  <a:off x="1046" y="3727"/>
                  <a:ext cx="49" cy="23"/>
                  <a:chOff x="1046" y="3727"/>
                  <a:chExt cx="49" cy="23"/>
                </a:xfrm>
              </p:grpSpPr>
              <p:sp>
                <p:nvSpPr>
                  <p:cNvPr id="923"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4"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5"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3" name="Group 2184"/>
                <p:cNvGrpSpPr/>
                <p:nvPr/>
              </p:nvGrpSpPr>
              <p:grpSpPr bwMode="auto">
                <a:xfrm>
                  <a:off x="1058" y="3739"/>
                  <a:ext cx="50" cy="23"/>
                  <a:chOff x="1058" y="3739"/>
                  <a:chExt cx="50" cy="23"/>
                </a:xfrm>
              </p:grpSpPr>
              <p:sp>
                <p:nvSpPr>
                  <p:cNvPr id="920"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1"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2"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4" name="Group 2188"/>
                <p:cNvGrpSpPr/>
                <p:nvPr/>
              </p:nvGrpSpPr>
              <p:grpSpPr bwMode="auto">
                <a:xfrm>
                  <a:off x="1072" y="3753"/>
                  <a:ext cx="48" cy="22"/>
                  <a:chOff x="1072" y="3753"/>
                  <a:chExt cx="48" cy="22"/>
                </a:xfrm>
              </p:grpSpPr>
              <p:sp>
                <p:nvSpPr>
                  <p:cNvPr id="917"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8"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9"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85"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6"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88" name="Group 2195"/>
                <p:cNvGrpSpPr/>
                <p:nvPr/>
              </p:nvGrpSpPr>
              <p:grpSpPr bwMode="auto">
                <a:xfrm>
                  <a:off x="832" y="3547"/>
                  <a:ext cx="49" cy="23"/>
                  <a:chOff x="832" y="3547"/>
                  <a:chExt cx="49" cy="23"/>
                </a:xfrm>
              </p:grpSpPr>
              <p:sp>
                <p:nvSpPr>
                  <p:cNvPr id="914"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5"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6"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9" name="Group 2199"/>
                <p:cNvGrpSpPr/>
                <p:nvPr/>
              </p:nvGrpSpPr>
              <p:grpSpPr bwMode="auto">
                <a:xfrm>
                  <a:off x="844" y="3560"/>
                  <a:ext cx="49" cy="22"/>
                  <a:chOff x="844" y="3560"/>
                  <a:chExt cx="49" cy="22"/>
                </a:xfrm>
              </p:grpSpPr>
              <p:sp>
                <p:nvSpPr>
                  <p:cNvPr id="911"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2"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3"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0" name="Group 2203"/>
                <p:cNvGrpSpPr/>
                <p:nvPr/>
              </p:nvGrpSpPr>
              <p:grpSpPr bwMode="auto">
                <a:xfrm>
                  <a:off x="857" y="3572"/>
                  <a:ext cx="50" cy="23"/>
                  <a:chOff x="857" y="3572"/>
                  <a:chExt cx="50" cy="23"/>
                </a:xfrm>
              </p:grpSpPr>
              <p:sp>
                <p:nvSpPr>
                  <p:cNvPr id="908"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9"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0"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1" name="Group 2207"/>
                <p:cNvGrpSpPr/>
                <p:nvPr/>
              </p:nvGrpSpPr>
              <p:grpSpPr bwMode="auto">
                <a:xfrm>
                  <a:off x="870" y="3585"/>
                  <a:ext cx="48" cy="23"/>
                  <a:chOff x="870" y="3585"/>
                  <a:chExt cx="48" cy="23"/>
                </a:xfrm>
              </p:grpSpPr>
              <p:sp>
                <p:nvSpPr>
                  <p:cNvPr id="905"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6"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7"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2" name="Group 2211"/>
                <p:cNvGrpSpPr/>
                <p:nvPr/>
              </p:nvGrpSpPr>
              <p:grpSpPr bwMode="auto">
                <a:xfrm>
                  <a:off x="882" y="3600"/>
                  <a:ext cx="100" cy="73"/>
                  <a:chOff x="882" y="3600"/>
                  <a:chExt cx="100" cy="73"/>
                </a:xfrm>
              </p:grpSpPr>
              <p:grpSp>
                <p:nvGrpSpPr>
                  <p:cNvPr id="885" name="Group 2212"/>
                  <p:cNvGrpSpPr/>
                  <p:nvPr/>
                </p:nvGrpSpPr>
                <p:grpSpPr bwMode="auto">
                  <a:xfrm>
                    <a:off x="882" y="3600"/>
                    <a:ext cx="49" cy="23"/>
                    <a:chOff x="882" y="3600"/>
                    <a:chExt cx="49" cy="23"/>
                  </a:xfrm>
                </p:grpSpPr>
                <p:sp>
                  <p:nvSpPr>
                    <p:cNvPr id="902"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3"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4"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6" name="Group 2216"/>
                  <p:cNvGrpSpPr/>
                  <p:nvPr/>
                </p:nvGrpSpPr>
                <p:grpSpPr bwMode="auto">
                  <a:xfrm>
                    <a:off x="894" y="3612"/>
                    <a:ext cx="49" cy="23"/>
                    <a:chOff x="894" y="3612"/>
                    <a:chExt cx="49" cy="23"/>
                  </a:xfrm>
                </p:grpSpPr>
                <p:sp>
                  <p:nvSpPr>
                    <p:cNvPr id="899"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0"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1"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7" name="Group 2220"/>
                  <p:cNvGrpSpPr/>
                  <p:nvPr/>
                </p:nvGrpSpPr>
                <p:grpSpPr bwMode="auto">
                  <a:xfrm>
                    <a:off x="907" y="3625"/>
                    <a:ext cx="49" cy="23"/>
                    <a:chOff x="907" y="3625"/>
                    <a:chExt cx="49" cy="23"/>
                  </a:xfrm>
                </p:grpSpPr>
                <p:sp>
                  <p:nvSpPr>
                    <p:cNvPr id="896"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7"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8"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8" name="Group 2224"/>
                  <p:cNvGrpSpPr/>
                  <p:nvPr/>
                </p:nvGrpSpPr>
                <p:grpSpPr bwMode="auto">
                  <a:xfrm>
                    <a:off x="919" y="3638"/>
                    <a:ext cx="49" cy="22"/>
                    <a:chOff x="919" y="3638"/>
                    <a:chExt cx="49" cy="22"/>
                  </a:xfrm>
                </p:grpSpPr>
                <p:sp>
                  <p:nvSpPr>
                    <p:cNvPr id="893"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4"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5"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9" name="Group 2228"/>
                  <p:cNvGrpSpPr/>
                  <p:nvPr/>
                </p:nvGrpSpPr>
                <p:grpSpPr bwMode="auto">
                  <a:xfrm>
                    <a:off x="932" y="3651"/>
                    <a:ext cx="50" cy="22"/>
                    <a:chOff x="932" y="3651"/>
                    <a:chExt cx="50" cy="22"/>
                  </a:xfrm>
                </p:grpSpPr>
                <p:sp>
                  <p:nvSpPr>
                    <p:cNvPr id="890"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1"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2"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3" name="Group 2232"/>
                <p:cNvGrpSpPr/>
                <p:nvPr/>
              </p:nvGrpSpPr>
              <p:grpSpPr bwMode="auto">
                <a:xfrm>
                  <a:off x="944" y="3665"/>
                  <a:ext cx="99" cy="74"/>
                  <a:chOff x="944" y="3665"/>
                  <a:chExt cx="99" cy="74"/>
                </a:xfrm>
              </p:grpSpPr>
              <p:grpSp>
                <p:nvGrpSpPr>
                  <p:cNvPr id="865" name="Group 2233"/>
                  <p:cNvGrpSpPr/>
                  <p:nvPr/>
                </p:nvGrpSpPr>
                <p:grpSpPr bwMode="auto">
                  <a:xfrm>
                    <a:off x="944" y="3665"/>
                    <a:ext cx="49" cy="23"/>
                    <a:chOff x="944" y="3665"/>
                    <a:chExt cx="49" cy="23"/>
                  </a:xfrm>
                </p:grpSpPr>
                <p:sp>
                  <p:nvSpPr>
                    <p:cNvPr id="882"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3"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4"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6" name="Group 2237"/>
                  <p:cNvGrpSpPr/>
                  <p:nvPr/>
                </p:nvGrpSpPr>
                <p:grpSpPr bwMode="auto">
                  <a:xfrm>
                    <a:off x="957" y="3678"/>
                    <a:ext cx="48" cy="23"/>
                    <a:chOff x="957" y="3678"/>
                    <a:chExt cx="48" cy="23"/>
                  </a:xfrm>
                </p:grpSpPr>
                <p:sp>
                  <p:nvSpPr>
                    <p:cNvPr id="879"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0"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1"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7" name="Group 2241"/>
                  <p:cNvGrpSpPr/>
                  <p:nvPr/>
                </p:nvGrpSpPr>
                <p:grpSpPr bwMode="auto">
                  <a:xfrm>
                    <a:off x="969" y="3690"/>
                    <a:ext cx="49" cy="23"/>
                    <a:chOff x="969" y="3690"/>
                    <a:chExt cx="49" cy="23"/>
                  </a:xfrm>
                </p:grpSpPr>
                <p:sp>
                  <p:nvSpPr>
                    <p:cNvPr id="876"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7"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8"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8" name="Group 2245"/>
                  <p:cNvGrpSpPr/>
                  <p:nvPr/>
                </p:nvGrpSpPr>
                <p:grpSpPr bwMode="auto">
                  <a:xfrm>
                    <a:off x="982" y="3703"/>
                    <a:ext cx="49" cy="23"/>
                    <a:chOff x="982" y="3703"/>
                    <a:chExt cx="49" cy="23"/>
                  </a:xfrm>
                </p:grpSpPr>
                <p:sp>
                  <p:nvSpPr>
                    <p:cNvPr id="873"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4"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5"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9" name="Group 2249"/>
                  <p:cNvGrpSpPr/>
                  <p:nvPr/>
                </p:nvGrpSpPr>
                <p:grpSpPr bwMode="auto">
                  <a:xfrm>
                    <a:off x="995" y="3716"/>
                    <a:ext cx="48" cy="23"/>
                    <a:chOff x="995" y="3716"/>
                    <a:chExt cx="48" cy="23"/>
                  </a:xfrm>
                </p:grpSpPr>
                <p:sp>
                  <p:nvSpPr>
                    <p:cNvPr id="870"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1"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2"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4" name="Group 2253"/>
                <p:cNvGrpSpPr/>
                <p:nvPr/>
              </p:nvGrpSpPr>
              <p:grpSpPr bwMode="auto">
                <a:xfrm>
                  <a:off x="1005" y="3727"/>
                  <a:ext cx="49" cy="23"/>
                  <a:chOff x="1005" y="3727"/>
                  <a:chExt cx="49" cy="23"/>
                </a:xfrm>
              </p:grpSpPr>
              <p:sp>
                <p:nvSpPr>
                  <p:cNvPr id="862"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3"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4"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5" name="Group 2257"/>
                <p:cNvGrpSpPr/>
                <p:nvPr/>
              </p:nvGrpSpPr>
              <p:grpSpPr bwMode="auto">
                <a:xfrm>
                  <a:off x="1018" y="3740"/>
                  <a:ext cx="49" cy="22"/>
                  <a:chOff x="1018" y="3740"/>
                  <a:chExt cx="49" cy="22"/>
                </a:xfrm>
              </p:grpSpPr>
              <p:sp>
                <p:nvSpPr>
                  <p:cNvPr id="859"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0"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1"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6" name="Group 2261"/>
                <p:cNvGrpSpPr/>
                <p:nvPr/>
              </p:nvGrpSpPr>
              <p:grpSpPr bwMode="auto">
                <a:xfrm>
                  <a:off x="1030" y="3753"/>
                  <a:ext cx="49" cy="23"/>
                  <a:chOff x="1030" y="3753"/>
                  <a:chExt cx="49" cy="23"/>
                </a:xfrm>
              </p:grpSpPr>
              <p:sp>
                <p:nvSpPr>
                  <p:cNvPr id="856"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7"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8"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97"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8"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9"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00" name="Group 2268"/>
                <p:cNvGrpSpPr/>
                <p:nvPr/>
              </p:nvGrpSpPr>
              <p:grpSpPr bwMode="auto">
                <a:xfrm>
                  <a:off x="790" y="3547"/>
                  <a:ext cx="49" cy="23"/>
                  <a:chOff x="790" y="3547"/>
                  <a:chExt cx="49" cy="23"/>
                </a:xfrm>
              </p:grpSpPr>
              <p:sp>
                <p:nvSpPr>
                  <p:cNvPr id="853"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4"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5"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1" name="Group 2272"/>
                <p:cNvGrpSpPr/>
                <p:nvPr/>
              </p:nvGrpSpPr>
              <p:grpSpPr bwMode="auto">
                <a:xfrm>
                  <a:off x="803" y="3560"/>
                  <a:ext cx="49" cy="22"/>
                  <a:chOff x="803" y="3560"/>
                  <a:chExt cx="49" cy="22"/>
                </a:xfrm>
              </p:grpSpPr>
              <p:sp>
                <p:nvSpPr>
                  <p:cNvPr id="850"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1"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2"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2" name="Group 2276"/>
                <p:cNvGrpSpPr/>
                <p:nvPr/>
              </p:nvGrpSpPr>
              <p:grpSpPr bwMode="auto">
                <a:xfrm>
                  <a:off x="815" y="3572"/>
                  <a:ext cx="50" cy="23"/>
                  <a:chOff x="815" y="3572"/>
                  <a:chExt cx="50" cy="23"/>
                </a:xfrm>
              </p:grpSpPr>
              <p:sp>
                <p:nvSpPr>
                  <p:cNvPr id="847"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8"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9"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3" name="Group 2280"/>
                <p:cNvGrpSpPr/>
                <p:nvPr/>
              </p:nvGrpSpPr>
              <p:grpSpPr bwMode="auto">
                <a:xfrm>
                  <a:off x="828" y="3585"/>
                  <a:ext cx="49" cy="23"/>
                  <a:chOff x="828" y="3585"/>
                  <a:chExt cx="49" cy="23"/>
                </a:xfrm>
              </p:grpSpPr>
              <p:sp>
                <p:nvSpPr>
                  <p:cNvPr id="844"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5"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6"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4" name="Group 2284"/>
                <p:cNvGrpSpPr/>
                <p:nvPr/>
              </p:nvGrpSpPr>
              <p:grpSpPr bwMode="auto">
                <a:xfrm>
                  <a:off x="840" y="3600"/>
                  <a:ext cx="100" cy="73"/>
                  <a:chOff x="840" y="3600"/>
                  <a:chExt cx="100" cy="73"/>
                </a:xfrm>
              </p:grpSpPr>
              <p:grpSp>
                <p:nvGrpSpPr>
                  <p:cNvPr id="824" name="Group 2285"/>
                  <p:cNvGrpSpPr/>
                  <p:nvPr/>
                </p:nvGrpSpPr>
                <p:grpSpPr bwMode="auto">
                  <a:xfrm>
                    <a:off x="840" y="3600"/>
                    <a:ext cx="49" cy="23"/>
                    <a:chOff x="840" y="3600"/>
                    <a:chExt cx="49" cy="23"/>
                  </a:xfrm>
                </p:grpSpPr>
                <p:sp>
                  <p:nvSpPr>
                    <p:cNvPr id="841"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2"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3"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5" name="Group 2289"/>
                  <p:cNvGrpSpPr/>
                  <p:nvPr/>
                </p:nvGrpSpPr>
                <p:grpSpPr bwMode="auto">
                  <a:xfrm>
                    <a:off x="853" y="3612"/>
                    <a:ext cx="48" cy="23"/>
                    <a:chOff x="853" y="3612"/>
                    <a:chExt cx="48" cy="23"/>
                  </a:xfrm>
                </p:grpSpPr>
                <p:sp>
                  <p:nvSpPr>
                    <p:cNvPr id="838"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9"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0"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6" name="Group 2293"/>
                  <p:cNvGrpSpPr/>
                  <p:nvPr/>
                </p:nvGrpSpPr>
                <p:grpSpPr bwMode="auto">
                  <a:xfrm>
                    <a:off x="865" y="3625"/>
                    <a:ext cx="49" cy="23"/>
                    <a:chOff x="865" y="3625"/>
                    <a:chExt cx="49" cy="23"/>
                  </a:xfrm>
                </p:grpSpPr>
                <p:sp>
                  <p:nvSpPr>
                    <p:cNvPr id="835"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6"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7"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7" name="Group 2297"/>
                  <p:cNvGrpSpPr/>
                  <p:nvPr/>
                </p:nvGrpSpPr>
                <p:grpSpPr bwMode="auto">
                  <a:xfrm>
                    <a:off x="878" y="3638"/>
                    <a:ext cx="49" cy="22"/>
                    <a:chOff x="878" y="3638"/>
                    <a:chExt cx="49" cy="22"/>
                  </a:xfrm>
                </p:grpSpPr>
                <p:sp>
                  <p:nvSpPr>
                    <p:cNvPr id="832"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3"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4"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8" name="Group 2301"/>
                  <p:cNvGrpSpPr/>
                  <p:nvPr/>
                </p:nvGrpSpPr>
                <p:grpSpPr bwMode="auto">
                  <a:xfrm>
                    <a:off x="890" y="3651"/>
                    <a:ext cx="50" cy="22"/>
                    <a:chOff x="890" y="3651"/>
                    <a:chExt cx="50" cy="22"/>
                  </a:xfrm>
                </p:grpSpPr>
                <p:sp>
                  <p:nvSpPr>
                    <p:cNvPr id="829"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0"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1"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5" name="Group 2305"/>
                <p:cNvGrpSpPr/>
                <p:nvPr/>
              </p:nvGrpSpPr>
              <p:grpSpPr bwMode="auto">
                <a:xfrm>
                  <a:off x="903" y="3665"/>
                  <a:ext cx="99" cy="74"/>
                  <a:chOff x="903" y="3665"/>
                  <a:chExt cx="99" cy="74"/>
                </a:xfrm>
              </p:grpSpPr>
              <p:grpSp>
                <p:nvGrpSpPr>
                  <p:cNvPr id="804" name="Group 2306"/>
                  <p:cNvGrpSpPr/>
                  <p:nvPr/>
                </p:nvGrpSpPr>
                <p:grpSpPr bwMode="auto">
                  <a:xfrm>
                    <a:off x="903" y="3665"/>
                    <a:ext cx="49" cy="23"/>
                    <a:chOff x="903" y="3665"/>
                    <a:chExt cx="49" cy="23"/>
                  </a:xfrm>
                </p:grpSpPr>
                <p:sp>
                  <p:nvSpPr>
                    <p:cNvPr id="821"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2"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3"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5" name="Group 2310"/>
                  <p:cNvGrpSpPr/>
                  <p:nvPr/>
                </p:nvGrpSpPr>
                <p:grpSpPr bwMode="auto">
                  <a:xfrm>
                    <a:off x="914" y="3678"/>
                    <a:ext cx="49" cy="23"/>
                    <a:chOff x="914" y="3678"/>
                    <a:chExt cx="49" cy="23"/>
                  </a:xfrm>
                </p:grpSpPr>
                <p:sp>
                  <p:nvSpPr>
                    <p:cNvPr id="818"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9"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0"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6" name="Group 2314"/>
                  <p:cNvGrpSpPr/>
                  <p:nvPr/>
                </p:nvGrpSpPr>
                <p:grpSpPr bwMode="auto">
                  <a:xfrm>
                    <a:off x="928" y="3690"/>
                    <a:ext cx="48" cy="23"/>
                    <a:chOff x="928" y="3690"/>
                    <a:chExt cx="48" cy="23"/>
                  </a:xfrm>
                </p:grpSpPr>
                <p:sp>
                  <p:nvSpPr>
                    <p:cNvPr id="815"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6"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7"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7" name="Group 2318"/>
                  <p:cNvGrpSpPr/>
                  <p:nvPr/>
                </p:nvGrpSpPr>
                <p:grpSpPr bwMode="auto">
                  <a:xfrm>
                    <a:off x="940" y="3703"/>
                    <a:ext cx="49" cy="23"/>
                    <a:chOff x="940" y="3703"/>
                    <a:chExt cx="49" cy="23"/>
                  </a:xfrm>
                </p:grpSpPr>
                <p:sp>
                  <p:nvSpPr>
                    <p:cNvPr id="812"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3"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4"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8" name="Group 2322"/>
                  <p:cNvGrpSpPr/>
                  <p:nvPr/>
                </p:nvGrpSpPr>
                <p:grpSpPr bwMode="auto">
                  <a:xfrm>
                    <a:off x="953" y="3716"/>
                    <a:ext cx="49" cy="23"/>
                    <a:chOff x="953" y="3716"/>
                    <a:chExt cx="49" cy="23"/>
                  </a:xfrm>
                </p:grpSpPr>
                <p:sp>
                  <p:nvSpPr>
                    <p:cNvPr id="809"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0"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1"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6" name="Group 2326"/>
                <p:cNvGrpSpPr/>
                <p:nvPr/>
              </p:nvGrpSpPr>
              <p:grpSpPr bwMode="auto">
                <a:xfrm>
                  <a:off x="963" y="3727"/>
                  <a:ext cx="49" cy="23"/>
                  <a:chOff x="963" y="3727"/>
                  <a:chExt cx="49" cy="23"/>
                </a:xfrm>
              </p:grpSpPr>
              <p:sp>
                <p:nvSpPr>
                  <p:cNvPr id="801"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2"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3"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7" name="Group 2330"/>
                <p:cNvGrpSpPr/>
                <p:nvPr/>
              </p:nvGrpSpPr>
              <p:grpSpPr bwMode="auto">
                <a:xfrm>
                  <a:off x="976" y="3740"/>
                  <a:ext cx="50" cy="22"/>
                  <a:chOff x="976" y="3740"/>
                  <a:chExt cx="50" cy="22"/>
                </a:xfrm>
              </p:grpSpPr>
              <p:sp>
                <p:nvSpPr>
                  <p:cNvPr id="798"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9"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0"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8" name="Group 2334"/>
                <p:cNvGrpSpPr/>
                <p:nvPr/>
              </p:nvGrpSpPr>
              <p:grpSpPr bwMode="auto">
                <a:xfrm>
                  <a:off x="761" y="3560"/>
                  <a:ext cx="50" cy="22"/>
                  <a:chOff x="761" y="3560"/>
                  <a:chExt cx="50" cy="22"/>
                </a:xfrm>
              </p:grpSpPr>
              <p:sp>
                <p:nvSpPr>
                  <p:cNvPr id="795"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6"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7"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9" name="Group 2338"/>
                <p:cNvGrpSpPr/>
                <p:nvPr/>
              </p:nvGrpSpPr>
              <p:grpSpPr bwMode="auto">
                <a:xfrm>
                  <a:off x="774" y="3572"/>
                  <a:ext cx="49" cy="23"/>
                  <a:chOff x="774" y="3572"/>
                  <a:chExt cx="49" cy="23"/>
                </a:xfrm>
              </p:grpSpPr>
              <p:sp>
                <p:nvSpPr>
                  <p:cNvPr id="792"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3"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4"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0" name="Group 2342"/>
                <p:cNvGrpSpPr/>
                <p:nvPr/>
              </p:nvGrpSpPr>
              <p:grpSpPr bwMode="auto">
                <a:xfrm>
                  <a:off x="787" y="3585"/>
                  <a:ext cx="49" cy="23"/>
                  <a:chOff x="787" y="3585"/>
                  <a:chExt cx="49" cy="23"/>
                </a:xfrm>
              </p:grpSpPr>
              <p:sp>
                <p:nvSpPr>
                  <p:cNvPr id="789"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0"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1"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1" name="Group 2346"/>
                <p:cNvGrpSpPr/>
                <p:nvPr/>
              </p:nvGrpSpPr>
              <p:grpSpPr bwMode="auto">
                <a:xfrm>
                  <a:off x="799" y="3600"/>
                  <a:ext cx="99" cy="73"/>
                  <a:chOff x="799" y="3600"/>
                  <a:chExt cx="99" cy="73"/>
                </a:xfrm>
              </p:grpSpPr>
              <p:grpSp>
                <p:nvGrpSpPr>
                  <p:cNvPr id="769" name="Group 2347"/>
                  <p:cNvGrpSpPr/>
                  <p:nvPr/>
                </p:nvGrpSpPr>
                <p:grpSpPr bwMode="auto">
                  <a:xfrm>
                    <a:off x="799" y="3600"/>
                    <a:ext cx="48" cy="23"/>
                    <a:chOff x="799" y="3600"/>
                    <a:chExt cx="48" cy="23"/>
                  </a:xfrm>
                </p:grpSpPr>
                <p:sp>
                  <p:nvSpPr>
                    <p:cNvPr id="786"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7"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8"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0" name="Group 2351"/>
                  <p:cNvGrpSpPr/>
                  <p:nvPr/>
                </p:nvGrpSpPr>
                <p:grpSpPr bwMode="auto">
                  <a:xfrm>
                    <a:off x="811" y="3612"/>
                    <a:ext cx="48" cy="23"/>
                    <a:chOff x="811" y="3612"/>
                    <a:chExt cx="48" cy="23"/>
                  </a:xfrm>
                </p:grpSpPr>
                <p:sp>
                  <p:nvSpPr>
                    <p:cNvPr id="783"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4"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5"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1" name="Group 2355"/>
                  <p:cNvGrpSpPr/>
                  <p:nvPr/>
                </p:nvGrpSpPr>
                <p:grpSpPr bwMode="auto">
                  <a:xfrm>
                    <a:off x="823" y="3625"/>
                    <a:ext cx="49" cy="23"/>
                    <a:chOff x="823" y="3625"/>
                    <a:chExt cx="49" cy="23"/>
                  </a:xfrm>
                </p:grpSpPr>
                <p:sp>
                  <p:nvSpPr>
                    <p:cNvPr id="780"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1"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2"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2" name="Group 2359"/>
                  <p:cNvGrpSpPr/>
                  <p:nvPr/>
                </p:nvGrpSpPr>
                <p:grpSpPr bwMode="auto">
                  <a:xfrm>
                    <a:off x="836" y="3638"/>
                    <a:ext cx="50" cy="22"/>
                    <a:chOff x="836" y="3638"/>
                    <a:chExt cx="50" cy="22"/>
                  </a:xfrm>
                </p:grpSpPr>
                <p:sp>
                  <p:nvSpPr>
                    <p:cNvPr id="777"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8"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9"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3" name="Group 2363"/>
                  <p:cNvGrpSpPr/>
                  <p:nvPr/>
                </p:nvGrpSpPr>
                <p:grpSpPr bwMode="auto">
                  <a:xfrm>
                    <a:off x="849" y="3651"/>
                    <a:ext cx="49" cy="22"/>
                    <a:chOff x="849" y="3651"/>
                    <a:chExt cx="49" cy="22"/>
                  </a:xfrm>
                </p:grpSpPr>
                <p:sp>
                  <p:nvSpPr>
                    <p:cNvPr id="774"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5"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6"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2" name="Group 2367"/>
                <p:cNvGrpSpPr/>
                <p:nvPr/>
              </p:nvGrpSpPr>
              <p:grpSpPr bwMode="auto">
                <a:xfrm>
                  <a:off x="861" y="3665"/>
                  <a:ext cx="99" cy="74"/>
                  <a:chOff x="861" y="3665"/>
                  <a:chExt cx="99" cy="74"/>
                </a:xfrm>
              </p:grpSpPr>
              <p:grpSp>
                <p:nvGrpSpPr>
                  <p:cNvPr id="749" name="Group 2368"/>
                  <p:cNvGrpSpPr/>
                  <p:nvPr/>
                </p:nvGrpSpPr>
                <p:grpSpPr bwMode="auto">
                  <a:xfrm>
                    <a:off x="861" y="3665"/>
                    <a:ext cx="50" cy="23"/>
                    <a:chOff x="861" y="3665"/>
                    <a:chExt cx="50" cy="23"/>
                  </a:xfrm>
                </p:grpSpPr>
                <p:sp>
                  <p:nvSpPr>
                    <p:cNvPr id="766"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7"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8"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0" name="Group 2372"/>
                  <p:cNvGrpSpPr/>
                  <p:nvPr/>
                </p:nvGrpSpPr>
                <p:grpSpPr bwMode="auto">
                  <a:xfrm>
                    <a:off x="873" y="3678"/>
                    <a:ext cx="49" cy="23"/>
                    <a:chOff x="873" y="3678"/>
                    <a:chExt cx="49" cy="23"/>
                  </a:xfrm>
                </p:grpSpPr>
                <p:sp>
                  <p:nvSpPr>
                    <p:cNvPr id="763"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4"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5"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1" name="Group 2376"/>
                  <p:cNvGrpSpPr/>
                  <p:nvPr/>
                </p:nvGrpSpPr>
                <p:grpSpPr bwMode="auto">
                  <a:xfrm>
                    <a:off x="886" y="3690"/>
                    <a:ext cx="49" cy="23"/>
                    <a:chOff x="886" y="3690"/>
                    <a:chExt cx="49" cy="23"/>
                  </a:xfrm>
                </p:grpSpPr>
                <p:sp>
                  <p:nvSpPr>
                    <p:cNvPr id="760"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1"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2"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2" name="Group 2380"/>
                  <p:cNvGrpSpPr/>
                  <p:nvPr/>
                </p:nvGrpSpPr>
                <p:grpSpPr bwMode="auto">
                  <a:xfrm>
                    <a:off x="899" y="3703"/>
                    <a:ext cx="48" cy="23"/>
                    <a:chOff x="899" y="3703"/>
                    <a:chExt cx="48" cy="23"/>
                  </a:xfrm>
                </p:grpSpPr>
                <p:sp>
                  <p:nvSpPr>
                    <p:cNvPr id="757"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8"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9"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3" name="Group 2384"/>
                  <p:cNvGrpSpPr/>
                  <p:nvPr/>
                </p:nvGrpSpPr>
                <p:grpSpPr bwMode="auto">
                  <a:xfrm>
                    <a:off x="912" y="3716"/>
                    <a:ext cx="48" cy="23"/>
                    <a:chOff x="912" y="3716"/>
                    <a:chExt cx="48" cy="23"/>
                  </a:xfrm>
                </p:grpSpPr>
                <p:sp>
                  <p:nvSpPr>
                    <p:cNvPr id="754"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5"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6"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3" name="Group 2388"/>
                <p:cNvGrpSpPr/>
                <p:nvPr/>
              </p:nvGrpSpPr>
              <p:grpSpPr bwMode="auto">
                <a:xfrm>
                  <a:off x="922" y="3727"/>
                  <a:ext cx="49" cy="23"/>
                  <a:chOff x="922" y="3727"/>
                  <a:chExt cx="49" cy="23"/>
                </a:xfrm>
              </p:grpSpPr>
              <p:sp>
                <p:nvSpPr>
                  <p:cNvPr id="746"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7"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8"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4" name="Group 2392"/>
                <p:cNvGrpSpPr/>
                <p:nvPr/>
              </p:nvGrpSpPr>
              <p:grpSpPr bwMode="auto">
                <a:xfrm>
                  <a:off x="895" y="3526"/>
                  <a:ext cx="44" cy="23"/>
                  <a:chOff x="895" y="3526"/>
                  <a:chExt cx="44" cy="23"/>
                </a:xfrm>
              </p:grpSpPr>
              <p:sp>
                <p:nvSpPr>
                  <p:cNvPr id="743"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4"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5"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5" name="Group 2396"/>
                <p:cNvGrpSpPr/>
                <p:nvPr/>
              </p:nvGrpSpPr>
              <p:grpSpPr bwMode="auto">
                <a:xfrm>
                  <a:off x="907" y="3540"/>
                  <a:ext cx="45" cy="22"/>
                  <a:chOff x="907" y="3540"/>
                  <a:chExt cx="45" cy="22"/>
                </a:xfrm>
              </p:grpSpPr>
              <p:sp>
                <p:nvSpPr>
                  <p:cNvPr id="740"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1"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2"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6" name="Group 2400"/>
                <p:cNvGrpSpPr/>
                <p:nvPr/>
              </p:nvGrpSpPr>
              <p:grpSpPr bwMode="auto">
                <a:xfrm>
                  <a:off x="920" y="3553"/>
                  <a:ext cx="45" cy="23"/>
                  <a:chOff x="920" y="3553"/>
                  <a:chExt cx="45" cy="23"/>
                </a:xfrm>
              </p:grpSpPr>
              <p:sp>
                <p:nvSpPr>
                  <p:cNvPr id="737"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8"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9"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7" name="Group 2404"/>
                <p:cNvGrpSpPr/>
                <p:nvPr/>
              </p:nvGrpSpPr>
              <p:grpSpPr bwMode="auto">
                <a:xfrm>
                  <a:off x="934" y="3566"/>
                  <a:ext cx="44" cy="23"/>
                  <a:chOff x="934" y="3566"/>
                  <a:chExt cx="44" cy="23"/>
                </a:xfrm>
              </p:grpSpPr>
              <p:sp>
                <p:nvSpPr>
                  <p:cNvPr id="734"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5"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6"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8" name="Group 2408"/>
                <p:cNvGrpSpPr/>
                <p:nvPr/>
              </p:nvGrpSpPr>
              <p:grpSpPr bwMode="auto">
                <a:xfrm>
                  <a:off x="949" y="3579"/>
                  <a:ext cx="83" cy="63"/>
                  <a:chOff x="949" y="3579"/>
                  <a:chExt cx="83" cy="63"/>
                </a:xfrm>
              </p:grpSpPr>
              <p:grpSp>
                <p:nvGrpSpPr>
                  <p:cNvPr id="718" name="Group 2409"/>
                  <p:cNvGrpSpPr/>
                  <p:nvPr/>
                </p:nvGrpSpPr>
                <p:grpSpPr bwMode="auto">
                  <a:xfrm>
                    <a:off x="949" y="3579"/>
                    <a:ext cx="44" cy="23"/>
                    <a:chOff x="949" y="3579"/>
                    <a:chExt cx="44" cy="23"/>
                  </a:xfrm>
                </p:grpSpPr>
                <p:sp>
                  <p:nvSpPr>
                    <p:cNvPr id="731"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2"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3"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19" name="Group 2413"/>
                  <p:cNvGrpSpPr/>
                  <p:nvPr/>
                </p:nvGrpSpPr>
                <p:grpSpPr bwMode="auto">
                  <a:xfrm>
                    <a:off x="961" y="3592"/>
                    <a:ext cx="45" cy="23"/>
                    <a:chOff x="961" y="3592"/>
                    <a:chExt cx="45" cy="23"/>
                  </a:xfrm>
                </p:grpSpPr>
                <p:sp>
                  <p:nvSpPr>
                    <p:cNvPr id="728"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9"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0"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0" name="Group 2417"/>
                  <p:cNvGrpSpPr/>
                  <p:nvPr/>
                </p:nvGrpSpPr>
                <p:grpSpPr bwMode="auto">
                  <a:xfrm>
                    <a:off x="974" y="3606"/>
                    <a:ext cx="44" cy="23"/>
                    <a:chOff x="974" y="3606"/>
                    <a:chExt cx="44" cy="23"/>
                  </a:xfrm>
                </p:grpSpPr>
                <p:sp>
                  <p:nvSpPr>
                    <p:cNvPr id="725"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6"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7"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1" name="Group 2421"/>
                  <p:cNvGrpSpPr/>
                  <p:nvPr/>
                </p:nvGrpSpPr>
                <p:grpSpPr bwMode="auto">
                  <a:xfrm>
                    <a:off x="987" y="3619"/>
                    <a:ext cx="45" cy="23"/>
                    <a:chOff x="987" y="3619"/>
                    <a:chExt cx="45" cy="23"/>
                  </a:xfrm>
                </p:grpSpPr>
                <p:sp>
                  <p:nvSpPr>
                    <p:cNvPr id="722"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3"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4"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9" name="Group 2425"/>
                <p:cNvGrpSpPr/>
                <p:nvPr/>
              </p:nvGrpSpPr>
              <p:grpSpPr bwMode="auto">
                <a:xfrm>
                  <a:off x="1002" y="3632"/>
                  <a:ext cx="83" cy="63"/>
                  <a:chOff x="1002" y="3632"/>
                  <a:chExt cx="83" cy="63"/>
                </a:xfrm>
              </p:grpSpPr>
              <p:grpSp>
                <p:nvGrpSpPr>
                  <p:cNvPr id="702" name="Group 2426"/>
                  <p:cNvGrpSpPr/>
                  <p:nvPr/>
                </p:nvGrpSpPr>
                <p:grpSpPr bwMode="auto">
                  <a:xfrm>
                    <a:off x="1002" y="3632"/>
                    <a:ext cx="44" cy="22"/>
                    <a:chOff x="1002" y="3632"/>
                    <a:chExt cx="44" cy="22"/>
                  </a:xfrm>
                </p:grpSpPr>
                <p:sp>
                  <p:nvSpPr>
                    <p:cNvPr id="715"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6"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7"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3" name="Group 2430"/>
                  <p:cNvGrpSpPr/>
                  <p:nvPr/>
                </p:nvGrpSpPr>
                <p:grpSpPr bwMode="auto">
                  <a:xfrm>
                    <a:off x="1014" y="3645"/>
                    <a:ext cx="44" cy="23"/>
                    <a:chOff x="1014" y="3645"/>
                    <a:chExt cx="44" cy="23"/>
                  </a:xfrm>
                </p:grpSpPr>
                <p:sp>
                  <p:nvSpPr>
                    <p:cNvPr id="712"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3"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4"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4" name="Group 2434"/>
                  <p:cNvGrpSpPr/>
                  <p:nvPr/>
                </p:nvGrpSpPr>
                <p:grpSpPr bwMode="auto">
                  <a:xfrm>
                    <a:off x="1027" y="3659"/>
                    <a:ext cx="45" cy="23"/>
                    <a:chOff x="1027" y="3659"/>
                    <a:chExt cx="45" cy="23"/>
                  </a:xfrm>
                </p:grpSpPr>
                <p:sp>
                  <p:nvSpPr>
                    <p:cNvPr id="709"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0"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1"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5" name="Group 2438"/>
                  <p:cNvGrpSpPr/>
                  <p:nvPr/>
                </p:nvGrpSpPr>
                <p:grpSpPr bwMode="auto">
                  <a:xfrm>
                    <a:off x="1040" y="3672"/>
                    <a:ext cx="45" cy="23"/>
                    <a:chOff x="1040" y="3672"/>
                    <a:chExt cx="45" cy="23"/>
                  </a:xfrm>
                </p:grpSpPr>
                <p:sp>
                  <p:nvSpPr>
                    <p:cNvPr id="706"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20" name="Group 2442"/>
                <p:cNvGrpSpPr/>
                <p:nvPr/>
              </p:nvGrpSpPr>
              <p:grpSpPr bwMode="auto">
                <a:xfrm>
                  <a:off x="1054" y="3685"/>
                  <a:ext cx="45" cy="23"/>
                  <a:chOff x="1054" y="3685"/>
                  <a:chExt cx="45" cy="23"/>
                </a:xfrm>
              </p:grpSpPr>
              <p:sp>
                <p:nvSpPr>
                  <p:cNvPr id="699"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1" name="Group 2446"/>
                <p:cNvGrpSpPr/>
                <p:nvPr/>
              </p:nvGrpSpPr>
              <p:grpSpPr bwMode="auto">
                <a:xfrm>
                  <a:off x="1067" y="3698"/>
                  <a:ext cx="45" cy="23"/>
                  <a:chOff x="1067" y="3698"/>
                  <a:chExt cx="45" cy="23"/>
                </a:xfrm>
              </p:grpSpPr>
              <p:sp>
                <p:nvSpPr>
                  <p:cNvPr id="696"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2" name="Group 2450"/>
                <p:cNvGrpSpPr/>
                <p:nvPr/>
              </p:nvGrpSpPr>
              <p:grpSpPr bwMode="auto">
                <a:xfrm>
                  <a:off x="1079" y="3712"/>
                  <a:ext cx="44" cy="23"/>
                  <a:chOff x="1079" y="3712"/>
                  <a:chExt cx="44" cy="23"/>
                </a:xfrm>
              </p:grpSpPr>
              <p:sp>
                <p:nvSpPr>
                  <p:cNvPr id="693"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3" name="Group 2454"/>
                <p:cNvGrpSpPr/>
                <p:nvPr/>
              </p:nvGrpSpPr>
              <p:grpSpPr bwMode="auto">
                <a:xfrm>
                  <a:off x="1093" y="3725"/>
                  <a:ext cx="45" cy="23"/>
                  <a:chOff x="1093" y="3725"/>
                  <a:chExt cx="45" cy="23"/>
                </a:xfrm>
              </p:grpSpPr>
              <p:sp>
                <p:nvSpPr>
                  <p:cNvPr id="690"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2"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4" name="Group 2458"/>
                <p:cNvGrpSpPr/>
                <p:nvPr/>
              </p:nvGrpSpPr>
              <p:grpSpPr bwMode="auto">
                <a:xfrm>
                  <a:off x="1108" y="3739"/>
                  <a:ext cx="44" cy="23"/>
                  <a:chOff x="1108" y="3739"/>
                  <a:chExt cx="44" cy="23"/>
                </a:xfrm>
              </p:grpSpPr>
              <p:sp>
                <p:nvSpPr>
                  <p:cNvPr id="687"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8"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9"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5" name="Group 2462"/>
                <p:cNvGrpSpPr/>
                <p:nvPr/>
              </p:nvGrpSpPr>
              <p:grpSpPr bwMode="auto">
                <a:xfrm>
                  <a:off x="1121" y="3753"/>
                  <a:ext cx="45" cy="23"/>
                  <a:chOff x="1121" y="3753"/>
                  <a:chExt cx="45" cy="23"/>
                </a:xfrm>
              </p:grpSpPr>
              <p:sp>
                <p:nvSpPr>
                  <p:cNvPr id="684"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5"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6"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6" name="Group 2466"/>
                <p:cNvGrpSpPr/>
                <p:nvPr/>
              </p:nvGrpSpPr>
              <p:grpSpPr bwMode="auto">
                <a:xfrm>
                  <a:off x="1133" y="3767"/>
                  <a:ext cx="44" cy="23"/>
                  <a:chOff x="1133" y="3767"/>
                  <a:chExt cx="44" cy="23"/>
                </a:xfrm>
              </p:grpSpPr>
              <p:sp>
                <p:nvSpPr>
                  <p:cNvPr id="681"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2"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3"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27"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4"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38" name="Group 2481"/>
                <p:cNvGrpSpPr/>
                <p:nvPr/>
              </p:nvGrpSpPr>
              <p:grpSpPr bwMode="auto">
                <a:xfrm>
                  <a:off x="700" y="3535"/>
                  <a:ext cx="49" cy="24"/>
                  <a:chOff x="700" y="3535"/>
                  <a:chExt cx="49" cy="24"/>
                </a:xfrm>
              </p:grpSpPr>
              <p:sp>
                <p:nvSpPr>
                  <p:cNvPr id="678"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9"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0"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39" name="Group 2485"/>
                <p:cNvGrpSpPr/>
                <p:nvPr/>
              </p:nvGrpSpPr>
              <p:grpSpPr bwMode="auto">
                <a:xfrm>
                  <a:off x="714" y="3551"/>
                  <a:ext cx="49" cy="22"/>
                  <a:chOff x="714" y="3551"/>
                  <a:chExt cx="49" cy="22"/>
                </a:xfrm>
              </p:grpSpPr>
              <p:sp>
                <p:nvSpPr>
                  <p:cNvPr id="675"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0" name="Group 2489"/>
                <p:cNvGrpSpPr/>
                <p:nvPr/>
              </p:nvGrpSpPr>
              <p:grpSpPr bwMode="auto">
                <a:xfrm>
                  <a:off x="728" y="3564"/>
                  <a:ext cx="48" cy="23"/>
                  <a:chOff x="728" y="3564"/>
                  <a:chExt cx="48" cy="23"/>
                </a:xfrm>
              </p:grpSpPr>
              <p:sp>
                <p:nvSpPr>
                  <p:cNvPr id="672"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1" name="Group 2493"/>
                <p:cNvGrpSpPr/>
                <p:nvPr/>
              </p:nvGrpSpPr>
              <p:grpSpPr bwMode="auto">
                <a:xfrm>
                  <a:off x="742" y="3582"/>
                  <a:ext cx="49" cy="23"/>
                  <a:chOff x="742" y="3582"/>
                  <a:chExt cx="49" cy="23"/>
                </a:xfrm>
              </p:grpSpPr>
              <p:sp>
                <p:nvSpPr>
                  <p:cNvPr id="669"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0"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2" name="Group 2497"/>
                <p:cNvGrpSpPr/>
                <p:nvPr/>
              </p:nvGrpSpPr>
              <p:grpSpPr bwMode="auto">
                <a:xfrm>
                  <a:off x="752" y="3597"/>
                  <a:ext cx="133" cy="106"/>
                  <a:chOff x="752" y="3597"/>
                  <a:chExt cx="133" cy="106"/>
                </a:xfrm>
              </p:grpSpPr>
              <p:sp>
                <p:nvSpPr>
                  <p:cNvPr id="666"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3" name="Group 2501"/>
                <p:cNvGrpSpPr/>
                <p:nvPr/>
              </p:nvGrpSpPr>
              <p:grpSpPr bwMode="auto">
                <a:xfrm>
                  <a:off x="844" y="3694"/>
                  <a:ext cx="48" cy="23"/>
                  <a:chOff x="844" y="3694"/>
                  <a:chExt cx="48" cy="23"/>
                </a:xfrm>
              </p:grpSpPr>
              <p:sp>
                <p:nvSpPr>
                  <p:cNvPr id="663"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4" name="Group 2505"/>
                <p:cNvGrpSpPr/>
                <p:nvPr/>
              </p:nvGrpSpPr>
              <p:grpSpPr bwMode="auto">
                <a:xfrm>
                  <a:off x="857" y="3710"/>
                  <a:ext cx="49" cy="22"/>
                  <a:chOff x="857" y="3710"/>
                  <a:chExt cx="49" cy="22"/>
                </a:xfrm>
              </p:grpSpPr>
              <p:sp>
                <p:nvSpPr>
                  <p:cNvPr id="660"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1"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2"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5" name="Group 2509"/>
                <p:cNvGrpSpPr/>
                <p:nvPr/>
              </p:nvGrpSpPr>
              <p:grpSpPr bwMode="auto">
                <a:xfrm>
                  <a:off x="1086" y="3766"/>
                  <a:ext cx="49" cy="23"/>
                  <a:chOff x="1086" y="3766"/>
                  <a:chExt cx="49" cy="23"/>
                </a:xfrm>
              </p:grpSpPr>
              <p:sp>
                <p:nvSpPr>
                  <p:cNvPr id="657"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8"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6" name="Group 2513"/>
                <p:cNvGrpSpPr/>
                <p:nvPr/>
              </p:nvGrpSpPr>
              <p:grpSpPr bwMode="auto">
                <a:xfrm>
                  <a:off x="934" y="3740"/>
                  <a:ext cx="48" cy="23"/>
                  <a:chOff x="934" y="3740"/>
                  <a:chExt cx="48" cy="23"/>
                </a:xfrm>
              </p:grpSpPr>
              <p:sp>
                <p:nvSpPr>
                  <p:cNvPr id="654"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5"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6"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7" name="Group 2517"/>
                <p:cNvGrpSpPr/>
                <p:nvPr/>
              </p:nvGrpSpPr>
              <p:grpSpPr bwMode="auto">
                <a:xfrm>
                  <a:off x="943" y="3754"/>
                  <a:ext cx="49" cy="23"/>
                  <a:chOff x="943" y="3754"/>
                  <a:chExt cx="49" cy="23"/>
                </a:xfrm>
              </p:grpSpPr>
              <p:sp>
                <p:nvSpPr>
                  <p:cNvPr id="651"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2"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3"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8"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9"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45" name="Group 2524"/>
              <p:cNvGrpSpPr/>
              <p:nvPr/>
            </p:nvGrpSpPr>
            <p:grpSpPr bwMode="auto">
              <a:xfrm>
                <a:off x="920" y="3821"/>
                <a:ext cx="413" cy="50"/>
                <a:chOff x="920" y="3821"/>
                <a:chExt cx="413" cy="50"/>
              </a:xfrm>
            </p:grpSpPr>
            <p:sp>
              <p:nvSpPr>
                <p:cNvPr id="566"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546" name="Group 2529"/>
              <p:cNvGrpSpPr/>
              <p:nvPr/>
            </p:nvGrpSpPr>
            <p:grpSpPr bwMode="auto">
              <a:xfrm>
                <a:off x="1227" y="3477"/>
                <a:ext cx="508" cy="321"/>
                <a:chOff x="1227" y="3477"/>
                <a:chExt cx="508" cy="321"/>
              </a:xfrm>
            </p:grpSpPr>
            <p:sp>
              <p:nvSpPr>
                <p:cNvPr id="547"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9"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4"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5"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6"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7"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8"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3"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984" name="Group 2096"/>
            <p:cNvGrpSpPr/>
            <p:nvPr/>
          </p:nvGrpSpPr>
          <p:grpSpPr bwMode="auto">
            <a:xfrm>
              <a:off x="5795963" y="1125538"/>
              <a:ext cx="431800" cy="330200"/>
              <a:chOff x="624" y="2968"/>
              <a:chExt cx="1331" cy="920"/>
            </a:xfrm>
          </p:grpSpPr>
          <p:sp>
            <p:nvSpPr>
              <p:cNvPr id="985"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6"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7"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8"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9"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0"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1"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2"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3"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4"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5"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6"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97" name="Group 2109"/>
              <p:cNvGrpSpPr/>
              <p:nvPr/>
            </p:nvGrpSpPr>
            <p:grpSpPr bwMode="auto">
              <a:xfrm>
                <a:off x="700" y="3526"/>
                <a:ext cx="515" cy="270"/>
                <a:chOff x="700" y="3526"/>
                <a:chExt cx="515" cy="270"/>
              </a:xfrm>
            </p:grpSpPr>
            <p:grpSp>
              <p:nvGrpSpPr>
                <p:cNvPr id="1023" name="Group 2110"/>
                <p:cNvGrpSpPr/>
                <p:nvPr/>
              </p:nvGrpSpPr>
              <p:grpSpPr bwMode="auto">
                <a:xfrm>
                  <a:off x="737" y="3534"/>
                  <a:ext cx="49" cy="23"/>
                  <a:chOff x="737" y="3534"/>
                  <a:chExt cx="49" cy="23"/>
                </a:xfrm>
              </p:grpSpPr>
              <p:sp>
                <p:nvSpPr>
                  <p:cNvPr id="1434"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5"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6"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24" name="Group 2114"/>
                <p:cNvGrpSpPr/>
                <p:nvPr/>
              </p:nvGrpSpPr>
              <p:grpSpPr bwMode="auto">
                <a:xfrm>
                  <a:off x="748" y="3547"/>
                  <a:ext cx="50" cy="23"/>
                  <a:chOff x="748" y="3547"/>
                  <a:chExt cx="50" cy="23"/>
                </a:xfrm>
              </p:grpSpPr>
              <p:sp>
                <p:nvSpPr>
                  <p:cNvPr id="1431"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2"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3"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25"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6"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7"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8"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29" name="Group 2122"/>
                <p:cNvGrpSpPr/>
                <p:nvPr/>
              </p:nvGrpSpPr>
              <p:grpSpPr bwMode="auto">
                <a:xfrm>
                  <a:off x="872" y="3547"/>
                  <a:ext cx="50" cy="23"/>
                  <a:chOff x="872" y="3547"/>
                  <a:chExt cx="50" cy="23"/>
                </a:xfrm>
              </p:grpSpPr>
              <p:sp>
                <p:nvSpPr>
                  <p:cNvPr id="1428"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9"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0"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0" name="Group 2126"/>
                <p:cNvGrpSpPr/>
                <p:nvPr/>
              </p:nvGrpSpPr>
              <p:grpSpPr bwMode="auto">
                <a:xfrm>
                  <a:off x="885" y="3559"/>
                  <a:ext cx="50" cy="23"/>
                  <a:chOff x="885" y="3559"/>
                  <a:chExt cx="50" cy="23"/>
                </a:xfrm>
              </p:grpSpPr>
              <p:sp>
                <p:nvSpPr>
                  <p:cNvPr id="1425"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6"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7"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1" name="Group 2130"/>
                <p:cNvGrpSpPr/>
                <p:nvPr/>
              </p:nvGrpSpPr>
              <p:grpSpPr bwMode="auto">
                <a:xfrm>
                  <a:off x="898" y="3571"/>
                  <a:ext cx="49" cy="23"/>
                  <a:chOff x="898" y="3571"/>
                  <a:chExt cx="49" cy="23"/>
                </a:xfrm>
              </p:grpSpPr>
              <p:sp>
                <p:nvSpPr>
                  <p:cNvPr id="1422"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3"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4"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2" name="Group 2134"/>
                <p:cNvGrpSpPr/>
                <p:nvPr/>
              </p:nvGrpSpPr>
              <p:grpSpPr bwMode="auto">
                <a:xfrm>
                  <a:off x="911" y="3585"/>
                  <a:ext cx="49" cy="23"/>
                  <a:chOff x="911" y="3585"/>
                  <a:chExt cx="49" cy="23"/>
                </a:xfrm>
              </p:grpSpPr>
              <p:sp>
                <p:nvSpPr>
                  <p:cNvPr id="1419"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0"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1"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3" name="Group 2138"/>
                <p:cNvGrpSpPr/>
                <p:nvPr/>
              </p:nvGrpSpPr>
              <p:grpSpPr bwMode="auto">
                <a:xfrm>
                  <a:off x="923" y="3600"/>
                  <a:ext cx="99" cy="73"/>
                  <a:chOff x="923" y="3600"/>
                  <a:chExt cx="99" cy="73"/>
                </a:xfrm>
              </p:grpSpPr>
              <p:grpSp>
                <p:nvGrpSpPr>
                  <p:cNvPr id="1399" name="Group 2139"/>
                  <p:cNvGrpSpPr/>
                  <p:nvPr/>
                </p:nvGrpSpPr>
                <p:grpSpPr bwMode="auto">
                  <a:xfrm>
                    <a:off x="923" y="3600"/>
                    <a:ext cx="49" cy="23"/>
                    <a:chOff x="923" y="3600"/>
                    <a:chExt cx="49" cy="23"/>
                  </a:xfrm>
                </p:grpSpPr>
                <p:sp>
                  <p:nvSpPr>
                    <p:cNvPr id="1416"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7"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8"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0" name="Group 2143"/>
                  <p:cNvGrpSpPr/>
                  <p:nvPr/>
                </p:nvGrpSpPr>
                <p:grpSpPr bwMode="auto">
                  <a:xfrm>
                    <a:off x="935" y="3612"/>
                    <a:ext cx="48" cy="23"/>
                    <a:chOff x="935" y="3612"/>
                    <a:chExt cx="48" cy="23"/>
                  </a:xfrm>
                </p:grpSpPr>
                <p:sp>
                  <p:nvSpPr>
                    <p:cNvPr id="1413"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4"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5"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1" name="Group 2147"/>
                  <p:cNvGrpSpPr/>
                  <p:nvPr/>
                </p:nvGrpSpPr>
                <p:grpSpPr bwMode="auto">
                  <a:xfrm>
                    <a:off x="947" y="3625"/>
                    <a:ext cx="50" cy="22"/>
                    <a:chOff x="947" y="3625"/>
                    <a:chExt cx="50" cy="22"/>
                  </a:xfrm>
                </p:grpSpPr>
                <p:sp>
                  <p:nvSpPr>
                    <p:cNvPr id="1410"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1"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2"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2" name="Group 2151"/>
                  <p:cNvGrpSpPr/>
                  <p:nvPr/>
                </p:nvGrpSpPr>
                <p:grpSpPr bwMode="auto">
                  <a:xfrm>
                    <a:off x="960" y="3637"/>
                    <a:ext cx="50" cy="23"/>
                    <a:chOff x="960" y="3637"/>
                    <a:chExt cx="50" cy="23"/>
                  </a:xfrm>
                </p:grpSpPr>
                <p:sp>
                  <p:nvSpPr>
                    <p:cNvPr id="1407"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8"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9"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3" name="Group 2155"/>
                  <p:cNvGrpSpPr/>
                  <p:nvPr/>
                </p:nvGrpSpPr>
                <p:grpSpPr bwMode="auto">
                  <a:xfrm>
                    <a:off x="973" y="3650"/>
                    <a:ext cx="49" cy="23"/>
                    <a:chOff x="973" y="3650"/>
                    <a:chExt cx="49" cy="23"/>
                  </a:xfrm>
                </p:grpSpPr>
                <p:sp>
                  <p:nvSpPr>
                    <p:cNvPr id="1404"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5"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6"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4" name="Group 2159"/>
                <p:cNvGrpSpPr/>
                <p:nvPr/>
              </p:nvGrpSpPr>
              <p:grpSpPr bwMode="auto">
                <a:xfrm>
                  <a:off x="985" y="3665"/>
                  <a:ext cx="100" cy="73"/>
                  <a:chOff x="985" y="3665"/>
                  <a:chExt cx="100" cy="73"/>
                </a:xfrm>
              </p:grpSpPr>
              <p:grpSp>
                <p:nvGrpSpPr>
                  <p:cNvPr id="1379" name="Group 2160"/>
                  <p:cNvGrpSpPr/>
                  <p:nvPr/>
                </p:nvGrpSpPr>
                <p:grpSpPr bwMode="auto">
                  <a:xfrm>
                    <a:off x="985" y="3665"/>
                    <a:ext cx="50" cy="23"/>
                    <a:chOff x="985" y="3665"/>
                    <a:chExt cx="50" cy="23"/>
                  </a:xfrm>
                </p:grpSpPr>
                <p:sp>
                  <p:nvSpPr>
                    <p:cNvPr id="1396"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7"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8"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0" name="Group 2164"/>
                  <p:cNvGrpSpPr/>
                  <p:nvPr/>
                </p:nvGrpSpPr>
                <p:grpSpPr bwMode="auto">
                  <a:xfrm>
                    <a:off x="997" y="3677"/>
                    <a:ext cx="49" cy="23"/>
                    <a:chOff x="997" y="3677"/>
                    <a:chExt cx="49" cy="23"/>
                  </a:xfrm>
                </p:grpSpPr>
                <p:sp>
                  <p:nvSpPr>
                    <p:cNvPr id="1393"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4"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5"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1" name="Group 2168"/>
                  <p:cNvGrpSpPr/>
                  <p:nvPr/>
                </p:nvGrpSpPr>
                <p:grpSpPr bwMode="auto">
                  <a:xfrm>
                    <a:off x="1010" y="3690"/>
                    <a:ext cx="48" cy="23"/>
                    <a:chOff x="1010" y="3690"/>
                    <a:chExt cx="48" cy="23"/>
                  </a:xfrm>
                </p:grpSpPr>
                <p:sp>
                  <p:nvSpPr>
                    <p:cNvPr id="1390"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1"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2"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2" name="Group 2172"/>
                  <p:cNvGrpSpPr/>
                  <p:nvPr/>
                </p:nvGrpSpPr>
                <p:grpSpPr bwMode="auto">
                  <a:xfrm>
                    <a:off x="1023" y="3703"/>
                    <a:ext cx="49" cy="22"/>
                    <a:chOff x="1023" y="3703"/>
                    <a:chExt cx="49" cy="22"/>
                  </a:xfrm>
                </p:grpSpPr>
                <p:sp>
                  <p:nvSpPr>
                    <p:cNvPr id="1387"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8"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9"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3" name="Group 2176"/>
                  <p:cNvGrpSpPr/>
                  <p:nvPr/>
                </p:nvGrpSpPr>
                <p:grpSpPr bwMode="auto">
                  <a:xfrm>
                    <a:off x="1036" y="3716"/>
                    <a:ext cx="49" cy="22"/>
                    <a:chOff x="1036" y="3716"/>
                    <a:chExt cx="49" cy="22"/>
                  </a:xfrm>
                </p:grpSpPr>
                <p:sp>
                  <p:nvSpPr>
                    <p:cNvPr id="1384"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5"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6"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5" name="Group 2180"/>
                <p:cNvGrpSpPr/>
                <p:nvPr/>
              </p:nvGrpSpPr>
              <p:grpSpPr bwMode="auto">
                <a:xfrm>
                  <a:off x="1046" y="3727"/>
                  <a:ext cx="49" cy="23"/>
                  <a:chOff x="1046" y="3727"/>
                  <a:chExt cx="49" cy="23"/>
                </a:xfrm>
              </p:grpSpPr>
              <p:sp>
                <p:nvSpPr>
                  <p:cNvPr id="1376"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7"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8"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6" name="Group 2184"/>
                <p:cNvGrpSpPr/>
                <p:nvPr/>
              </p:nvGrpSpPr>
              <p:grpSpPr bwMode="auto">
                <a:xfrm>
                  <a:off x="1058" y="3739"/>
                  <a:ext cx="50" cy="23"/>
                  <a:chOff x="1058" y="3739"/>
                  <a:chExt cx="50" cy="23"/>
                </a:xfrm>
              </p:grpSpPr>
              <p:sp>
                <p:nvSpPr>
                  <p:cNvPr id="1373"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4"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5"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7" name="Group 2188"/>
                <p:cNvGrpSpPr/>
                <p:nvPr/>
              </p:nvGrpSpPr>
              <p:grpSpPr bwMode="auto">
                <a:xfrm>
                  <a:off x="1072" y="3753"/>
                  <a:ext cx="48" cy="22"/>
                  <a:chOff x="1072" y="3753"/>
                  <a:chExt cx="48" cy="22"/>
                </a:xfrm>
              </p:grpSpPr>
              <p:sp>
                <p:nvSpPr>
                  <p:cNvPr id="1370"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1"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2"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38"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39"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40"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41" name="Group 2195"/>
                <p:cNvGrpSpPr/>
                <p:nvPr/>
              </p:nvGrpSpPr>
              <p:grpSpPr bwMode="auto">
                <a:xfrm>
                  <a:off x="832" y="3547"/>
                  <a:ext cx="49" cy="23"/>
                  <a:chOff x="832" y="3547"/>
                  <a:chExt cx="49" cy="23"/>
                </a:xfrm>
              </p:grpSpPr>
              <p:sp>
                <p:nvSpPr>
                  <p:cNvPr id="1367"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8"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9"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2" name="Group 2199"/>
                <p:cNvGrpSpPr/>
                <p:nvPr/>
              </p:nvGrpSpPr>
              <p:grpSpPr bwMode="auto">
                <a:xfrm>
                  <a:off x="844" y="3560"/>
                  <a:ext cx="49" cy="22"/>
                  <a:chOff x="844" y="3560"/>
                  <a:chExt cx="49" cy="22"/>
                </a:xfrm>
              </p:grpSpPr>
              <p:sp>
                <p:nvSpPr>
                  <p:cNvPr id="1364"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5"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6"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3" name="Group 2203"/>
                <p:cNvGrpSpPr/>
                <p:nvPr/>
              </p:nvGrpSpPr>
              <p:grpSpPr bwMode="auto">
                <a:xfrm>
                  <a:off x="857" y="3572"/>
                  <a:ext cx="50" cy="23"/>
                  <a:chOff x="857" y="3572"/>
                  <a:chExt cx="50" cy="23"/>
                </a:xfrm>
              </p:grpSpPr>
              <p:sp>
                <p:nvSpPr>
                  <p:cNvPr id="1361"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2"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3"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4" name="Group 2207"/>
                <p:cNvGrpSpPr/>
                <p:nvPr/>
              </p:nvGrpSpPr>
              <p:grpSpPr bwMode="auto">
                <a:xfrm>
                  <a:off x="870" y="3585"/>
                  <a:ext cx="48" cy="23"/>
                  <a:chOff x="870" y="3585"/>
                  <a:chExt cx="48" cy="23"/>
                </a:xfrm>
              </p:grpSpPr>
              <p:sp>
                <p:nvSpPr>
                  <p:cNvPr id="1358"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9"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0"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5" name="Group 2211"/>
                <p:cNvGrpSpPr/>
                <p:nvPr/>
              </p:nvGrpSpPr>
              <p:grpSpPr bwMode="auto">
                <a:xfrm>
                  <a:off x="882" y="3600"/>
                  <a:ext cx="100" cy="73"/>
                  <a:chOff x="882" y="3600"/>
                  <a:chExt cx="100" cy="73"/>
                </a:xfrm>
              </p:grpSpPr>
              <p:grpSp>
                <p:nvGrpSpPr>
                  <p:cNvPr id="1338" name="Group 2212"/>
                  <p:cNvGrpSpPr/>
                  <p:nvPr/>
                </p:nvGrpSpPr>
                <p:grpSpPr bwMode="auto">
                  <a:xfrm>
                    <a:off x="882" y="3600"/>
                    <a:ext cx="49" cy="23"/>
                    <a:chOff x="882" y="3600"/>
                    <a:chExt cx="49" cy="23"/>
                  </a:xfrm>
                </p:grpSpPr>
                <p:sp>
                  <p:nvSpPr>
                    <p:cNvPr id="1355"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6"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7"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9" name="Group 2216"/>
                  <p:cNvGrpSpPr/>
                  <p:nvPr/>
                </p:nvGrpSpPr>
                <p:grpSpPr bwMode="auto">
                  <a:xfrm>
                    <a:off x="894" y="3612"/>
                    <a:ext cx="49" cy="23"/>
                    <a:chOff x="894" y="3612"/>
                    <a:chExt cx="49" cy="23"/>
                  </a:xfrm>
                </p:grpSpPr>
                <p:sp>
                  <p:nvSpPr>
                    <p:cNvPr id="1352"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3"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4"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0" name="Group 2220"/>
                  <p:cNvGrpSpPr/>
                  <p:nvPr/>
                </p:nvGrpSpPr>
                <p:grpSpPr bwMode="auto">
                  <a:xfrm>
                    <a:off x="907" y="3625"/>
                    <a:ext cx="49" cy="23"/>
                    <a:chOff x="907" y="3625"/>
                    <a:chExt cx="49" cy="23"/>
                  </a:xfrm>
                </p:grpSpPr>
                <p:sp>
                  <p:nvSpPr>
                    <p:cNvPr id="1349"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0"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1"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1" name="Group 2224"/>
                  <p:cNvGrpSpPr/>
                  <p:nvPr/>
                </p:nvGrpSpPr>
                <p:grpSpPr bwMode="auto">
                  <a:xfrm>
                    <a:off x="919" y="3638"/>
                    <a:ext cx="49" cy="22"/>
                    <a:chOff x="919" y="3638"/>
                    <a:chExt cx="49" cy="22"/>
                  </a:xfrm>
                </p:grpSpPr>
                <p:sp>
                  <p:nvSpPr>
                    <p:cNvPr id="1346"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7"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8"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2" name="Group 2228"/>
                  <p:cNvGrpSpPr/>
                  <p:nvPr/>
                </p:nvGrpSpPr>
                <p:grpSpPr bwMode="auto">
                  <a:xfrm>
                    <a:off x="932" y="3651"/>
                    <a:ext cx="50" cy="22"/>
                    <a:chOff x="932" y="3651"/>
                    <a:chExt cx="50" cy="22"/>
                  </a:xfrm>
                </p:grpSpPr>
                <p:sp>
                  <p:nvSpPr>
                    <p:cNvPr id="1343"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4"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5"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6" name="Group 2232"/>
                <p:cNvGrpSpPr/>
                <p:nvPr/>
              </p:nvGrpSpPr>
              <p:grpSpPr bwMode="auto">
                <a:xfrm>
                  <a:off x="944" y="3665"/>
                  <a:ext cx="99" cy="74"/>
                  <a:chOff x="944" y="3665"/>
                  <a:chExt cx="99" cy="74"/>
                </a:xfrm>
              </p:grpSpPr>
              <p:grpSp>
                <p:nvGrpSpPr>
                  <p:cNvPr id="1318" name="Group 2233"/>
                  <p:cNvGrpSpPr/>
                  <p:nvPr/>
                </p:nvGrpSpPr>
                <p:grpSpPr bwMode="auto">
                  <a:xfrm>
                    <a:off x="944" y="3665"/>
                    <a:ext cx="49" cy="23"/>
                    <a:chOff x="944" y="3665"/>
                    <a:chExt cx="49" cy="23"/>
                  </a:xfrm>
                </p:grpSpPr>
                <p:sp>
                  <p:nvSpPr>
                    <p:cNvPr id="1335"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6"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7"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9" name="Group 2237"/>
                  <p:cNvGrpSpPr/>
                  <p:nvPr/>
                </p:nvGrpSpPr>
                <p:grpSpPr bwMode="auto">
                  <a:xfrm>
                    <a:off x="957" y="3678"/>
                    <a:ext cx="48" cy="23"/>
                    <a:chOff x="957" y="3678"/>
                    <a:chExt cx="48" cy="23"/>
                  </a:xfrm>
                </p:grpSpPr>
                <p:sp>
                  <p:nvSpPr>
                    <p:cNvPr id="1332"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3"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4"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0" name="Group 2241"/>
                  <p:cNvGrpSpPr/>
                  <p:nvPr/>
                </p:nvGrpSpPr>
                <p:grpSpPr bwMode="auto">
                  <a:xfrm>
                    <a:off x="969" y="3690"/>
                    <a:ext cx="49" cy="23"/>
                    <a:chOff x="969" y="3690"/>
                    <a:chExt cx="49" cy="23"/>
                  </a:xfrm>
                </p:grpSpPr>
                <p:sp>
                  <p:nvSpPr>
                    <p:cNvPr id="1329"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0"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1"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1" name="Group 2245"/>
                  <p:cNvGrpSpPr/>
                  <p:nvPr/>
                </p:nvGrpSpPr>
                <p:grpSpPr bwMode="auto">
                  <a:xfrm>
                    <a:off x="982" y="3703"/>
                    <a:ext cx="49" cy="23"/>
                    <a:chOff x="982" y="3703"/>
                    <a:chExt cx="49" cy="23"/>
                  </a:xfrm>
                </p:grpSpPr>
                <p:sp>
                  <p:nvSpPr>
                    <p:cNvPr id="1326"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7"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8"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2" name="Group 2249"/>
                  <p:cNvGrpSpPr/>
                  <p:nvPr/>
                </p:nvGrpSpPr>
                <p:grpSpPr bwMode="auto">
                  <a:xfrm>
                    <a:off x="995" y="3716"/>
                    <a:ext cx="48" cy="23"/>
                    <a:chOff x="995" y="3716"/>
                    <a:chExt cx="48" cy="23"/>
                  </a:xfrm>
                </p:grpSpPr>
                <p:sp>
                  <p:nvSpPr>
                    <p:cNvPr id="1323"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4"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5"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7" name="Group 2253"/>
                <p:cNvGrpSpPr/>
                <p:nvPr/>
              </p:nvGrpSpPr>
              <p:grpSpPr bwMode="auto">
                <a:xfrm>
                  <a:off x="1005" y="3727"/>
                  <a:ext cx="49" cy="23"/>
                  <a:chOff x="1005" y="3727"/>
                  <a:chExt cx="49" cy="23"/>
                </a:xfrm>
              </p:grpSpPr>
              <p:sp>
                <p:nvSpPr>
                  <p:cNvPr id="1315"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6"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7"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8" name="Group 2257"/>
                <p:cNvGrpSpPr/>
                <p:nvPr/>
              </p:nvGrpSpPr>
              <p:grpSpPr bwMode="auto">
                <a:xfrm>
                  <a:off x="1018" y="3740"/>
                  <a:ext cx="49" cy="22"/>
                  <a:chOff x="1018" y="3740"/>
                  <a:chExt cx="49" cy="22"/>
                </a:xfrm>
              </p:grpSpPr>
              <p:sp>
                <p:nvSpPr>
                  <p:cNvPr id="1312"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3"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4"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9" name="Group 2261"/>
                <p:cNvGrpSpPr/>
                <p:nvPr/>
              </p:nvGrpSpPr>
              <p:grpSpPr bwMode="auto">
                <a:xfrm>
                  <a:off x="1030" y="3753"/>
                  <a:ext cx="49" cy="23"/>
                  <a:chOff x="1030" y="3753"/>
                  <a:chExt cx="49" cy="23"/>
                </a:xfrm>
              </p:grpSpPr>
              <p:sp>
                <p:nvSpPr>
                  <p:cNvPr id="1309"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0"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1"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50"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1"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2"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53" name="Group 2268"/>
                <p:cNvGrpSpPr/>
                <p:nvPr/>
              </p:nvGrpSpPr>
              <p:grpSpPr bwMode="auto">
                <a:xfrm>
                  <a:off x="790" y="3547"/>
                  <a:ext cx="49" cy="23"/>
                  <a:chOff x="790" y="3547"/>
                  <a:chExt cx="49" cy="23"/>
                </a:xfrm>
              </p:grpSpPr>
              <p:sp>
                <p:nvSpPr>
                  <p:cNvPr id="1306"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7"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8"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4" name="Group 2272"/>
                <p:cNvGrpSpPr/>
                <p:nvPr/>
              </p:nvGrpSpPr>
              <p:grpSpPr bwMode="auto">
                <a:xfrm>
                  <a:off x="803" y="3560"/>
                  <a:ext cx="49" cy="22"/>
                  <a:chOff x="803" y="3560"/>
                  <a:chExt cx="49" cy="22"/>
                </a:xfrm>
              </p:grpSpPr>
              <p:sp>
                <p:nvSpPr>
                  <p:cNvPr id="1303"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4"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5"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5" name="Group 2276"/>
                <p:cNvGrpSpPr/>
                <p:nvPr/>
              </p:nvGrpSpPr>
              <p:grpSpPr bwMode="auto">
                <a:xfrm>
                  <a:off x="815" y="3572"/>
                  <a:ext cx="50" cy="23"/>
                  <a:chOff x="815" y="3572"/>
                  <a:chExt cx="50" cy="23"/>
                </a:xfrm>
              </p:grpSpPr>
              <p:sp>
                <p:nvSpPr>
                  <p:cNvPr id="1300"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1"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2"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6" name="Group 2280"/>
                <p:cNvGrpSpPr/>
                <p:nvPr/>
              </p:nvGrpSpPr>
              <p:grpSpPr bwMode="auto">
                <a:xfrm>
                  <a:off x="828" y="3585"/>
                  <a:ext cx="49" cy="23"/>
                  <a:chOff x="828" y="3585"/>
                  <a:chExt cx="49" cy="23"/>
                </a:xfrm>
              </p:grpSpPr>
              <p:sp>
                <p:nvSpPr>
                  <p:cNvPr id="1297"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8"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9"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7" name="Group 2284"/>
                <p:cNvGrpSpPr/>
                <p:nvPr/>
              </p:nvGrpSpPr>
              <p:grpSpPr bwMode="auto">
                <a:xfrm>
                  <a:off x="840" y="3600"/>
                  <a:ext cx="100" cy="73"/>
                  <a:chOff x="840" y="3600"/>
                  <a:chExt cx="100" cy="73"/>
                </a:xfrm>
              </p:grpSpPr>
              <p:grpSp>
                <p:nvGrpSpPr>
                  <p:cNvPr id="1277" name="Group 2285"/>
                  <p:cNvGrpSpPr/>
                  <p:nvPr/>
                </p:nvGrpSpPr>
                <p:grpSpPr bwMode="auto">
                  <a:xfrm>
                    <a:off x="840" y="3600"/>
                    <a:ext cx="49" cy="23"/>
                    <a:chOff x="840" y="3600"/>
                    <a:chExt cx="49" cy="23"/>
                  </a:xfrm>
                </p:grpSpPr>
                <p:sp>
                  <p:nvSpPr>
                    <p:cNvPr id="1294"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5"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6"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8" name="Group 2289"/>
                  <p:cNvGrpSpPr/>
                  <p:nvPr/>
                </p:nvGrpSpPr>
                <p:grpSpPr bwMode="auto">
                  <a:xfrm>
                    <a:off x="853" y="3612"/>
                    <a:ext cx="48" cy="23"/>
                    <a:chOff x="853" y="3612"/>
                    <a:chExt cx="48" cy="23"/>
                  </a:xfrm>
                </p:grpSpPr>
                <p:sp>
                  <p:nvSpPr>
                    <p:cNvPr id="1291"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2"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3"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9" name="Group 2293"/>
                  <p:cNvGrpSpPr/>
                  <p:nvPr/>
                </p:nvGrpSpPr>
                <p:grpSpPr bwMode="auto">
                  <a:xfrm>
                    <a:off x="865" y="3625"/>
                    <a:ext cx="49" cy="23"/>
                    <a:chOff x="865" y="3625"/>
                    <a:chExt cx="49" cy="23"/>
                  </a:xfrm>
                </p:grpSpPr>
                <p:sp>
                  <p:nvSpPr>
                    <p:cNvPr id="1288"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9"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0"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0" name="Group 2297"/>
                  <p:cNvGrpSpPr/>
                  <p:nvPr/>
                </p:nvGrpSpPr>
                <p:grpSpPr bwMode="auto">
                  <a:xfrm>
                    <a:off x="878" y="3638"/>
                    <a:ext cx="49" cy="22"/>
                    <a:chOff x="878" y="3638"/>
                    <a:chExt cx="49" cy="22"/>
                  </a:xfrm>
                </p:grpSpPr>
                <p:sp>
                  <p:nvSpPr>
                    <p:cNvPr id="1285"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6"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7"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1" name="Group 2301"/>
                  <p:cNvGrpSpPr/>
                  <p:nvPr/>
                </p:nvGrpSpPr>
                <p:grpSpPr bwMode="auto">
                  <a:xfrm>
                    <a:off x="890" y="3651"/>
                    <a:ext cx="50" cy="22"/>
                    <a:chOff x="890" y="3651"/>
                    <a:chExt cx="50" cy="22"/>
                  </a:xfrm>
                </p:grpSpPr>
                <p:sp>
                  <p:nvSpPr>
                    <p:cNvPr id="1282"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3"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4"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8" name="Group 2305"/>
                <p:cNvGrpSpPr/>
                <p:nvPr/>
              </p:nvGrpSpPr>
              <p:grpSpPr bwMode="auto">
                <a:xfrm>
                  <a:off x="903" y="3665"/>
                  <a:ext cx="99" cy="74"/>
                  <a:chOff x="903" y="3665"/>
                  <a:chExt cx="99" cy="74"/>
                </a:xfrm>
              </p:grpSpPr>
              <p:grpSp>
                <p:nvGrpSpPr>
                  <p:cNvPr id="1257" name="Group 2306"/>
                  <p:cNvGrpSpPr/>
                  <p:nvPr/>
                </p:nvGrpSpPr>
                <p:grpSpPr bwMode="auto">
                  <a:xfrm>
                    <a:off x="903" y="3665"/>
                    <a:ext cx="49" cy="23"/>
                    <a:chOff x="903" y="3665"/>
                    <a:chExt cx="49" cy="23"/>
                  </a:xfrm>
                </p:grpSpPr>
                <p:sp>
                  <p:nvSpPr>
                    <p:cNvPr id="1274"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5"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6"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8" name="Group 2310"/>
                  <p:cNvGrpSpPr/>
                  <p:nvPr/>
                </p:nvGrpSpPr>
                <p:grpSpPr bwMode="auto">
                  <a:xfrm>
                    <a:off x="914" y="3678"/>
                    <a:ext cx="49" cy="23"/>
                    <a:chOff x="914" y="3678"/>
                    <a:chExt cx="49" cy="23"/>
                  </a:xfrm>
                </p:grpSpPr>
                <p:sp>
                  <p:nvSpPr>
                    <p:cNvPr id="1271"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2"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3"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9" name="Group 2314"/>
                  <p:cNvGrpSpPr/>
                  <p:nvPr/>
                </p:nvGrpSpPr>
                <p:grpSpPr bwMode="auto">
                  <a:xfrm>
                    <a:off x="928" y="3690"/>
                    <a:ext cx="48" cy="23"/>
                    <a:chOff x="928" y="3690"/>
                    <a:chExt cx="48" cy="23"/>
                  </a:xfrm>
                </p:grpSpPr>
                <p:sp>
                  <p:nvSpPr>
                    <p:cNvPr id="1268"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9"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0"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0" name="Group 2318"/>
                  <p:cNvGrpSpPr/>
                  <p:nvPr/>
                </p:nvGrpSpPr>
                <p:grpSpPr bwMode="auto">
                  <a:xfrm>
                    <a:off x="940" y="3703"/>
                    <a:ext cx="49" cy="23"/>
                    <a:chOff x="940" y="3703"/>
                    <a:chExt cx="49" cy="23"/>
                  </a:xfrm>
                </p:grpSpPr>
                <p:sp>
                  <p:nvSpPr>
                    <p:cNvPr id="1265"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6"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7"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1" name="Group 2322"/>
                  <p:cNvGrpSpPr/>
                  <p:nvPr/>
                </p:nvGrpSpPr>
                <p:grpSpPr bwMode="auto">
                  <a:xfrm>
                    <a:off x="953" y="3716"/>
                    <a:ext cx="49" cy="23"/>
                    <a:chOff x="953" y="3716"/>
                    <a:chExt cx="49" cy="23"/>
                  </a:xfrm>
                </p:grpSpPr>
                <p:sp>
                  <p:nvSpPr>
                    <p:cNvPr id="1262"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3"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4"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9" name="Group 2326"/>
                <p:cNvGrpSpPr/>
                <p:nvPr/>
              </p:nvGrpSpPr>
              <p:grpSpPr bwMode="auto">
                <a:xfrm>
                  <a:off x="963" y="3727"/>
                  <a:ext cx="49" cy="23"/>
                  <a:chOff x="963" y="3727"/>
                  <a:chExt cx="49" cy="23"/>
                </a:xfrm>
              </p:grpSpPr>
              <p:sp>
                <p:nvSpPr>
                  <p:cNvPr id="1254"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5"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6"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0" name="Group 2330"/>
                <p:cNvGrpSpPr/>
                <p:nvPr/>
              </p:nvGrpSpPr>
              <p:grpSpPr bwMode="auto">
                <a:xfrm>
                  <a:off x="976" y="3740"/>
                  <a:ext cx="50" cy="22"/>
                  <a:chOff x="976" y="3740"/>
                  <a:chExt cx="50" cy="22"/>
                </a:xfrm>
              </p:grpSpPr>
              <p:sp>
                <p:nvSpPr>
                  <p:cNvPr id="1251"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2"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3"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1" name="Group 2334"/>
                <p:cNvGrpSpPr/>
                <p:nvPr/>
              </p:nvGrpSpPr>
              <p:grpSpPr bwMode="auto">
                <a:xfrm>
                  <a:off x="761" y="3560"/>
                  <a:ext cx="50" cy="22"/>
                  <a:chOff x="761" y="3560"/>
                  <a:chExt cx="50" cy="22"/>
                </a:xfrm>
              </p:grpSpPr>
              <p:sp>
                <p:nvSpPr>
                  <p:cNvPr id="1248"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9"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0"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2" name="Group 2338"/>
                <p:cNvGrpSpPr/>
                <p:nvPr/>
              </p:nvGrpSpPr>
              <p:grpSpPr bwMode="auto">
                <a:xfrm>
                  <a:off x="774" y="3572"/>
                  <a:ext cx="49" cy="23"/>
                  <a:chOff x="774" y="3572"/>
                  <a:chExt cx="49" cy="23"/>
                </a:xfrm>
              </p:grpSpPr>
              <p:sp>
                <p:nvSpPr>
                  <p:cNvPr id="1245"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6"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7"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3" name="Group 2342"/>
                <p:cNvGrpSpPr/>
                <p:nvPr/>
              </p:nvGrpSpPr>
              <p:grpSpPr bwMode="auto">
                <a:xfrm>
                  <a:off x="787" y="3585"/>
                  <a:ext cx="49" cy="23"/>
                  <a:chOff x="787" y="3585"/>
                  <a:chExt cx="49" cy="23"/>
                </a:xfrm>
              </p:grpSpPr>
              <p:sp>
                <p:nvSpPr>
                  <p:cNvPr id="1242"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3"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4"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4" name="Group 2346"/>
                <p:cNvGrpSpPr/>
                <p:nvPr/>
              </p:nvGrpSpPr>
              <p:grpSpPr bwMode="auto">
                <a:xfrm>
                  <a:off x="799" y="3600"/>
                  <a:ext cx="99" cy="73"/>
                  <a:chOff x="799" y="3600"/>
                  <a:chExt cx="99" cy="73"/>
                </a:xfrm>
              </p:grpSpPr>
              <p:grpSp>
                <p:nvGrpSpPr>
                  <p:cNvPr id="1222" name="Group 2347"/>
                  <p:cNvGrpSpPr/>
                  <p:nvPr/>
                </p:nvGrpSpPr>
                <p:grpSpPr bwMode="auto">
                  <a:xfrm>
                    <a:off x="799" y="3600"/>
                    <a:ext cx="48" cy="23"/>
                    <a:chOff x="799" y="3600"/>
                    <a:chExt cx="48" cy="23"/>
                  </a:xfrm>
                </p:grpSpPr>
                <p:sp>
                  <p:nvSpPr>
                    <p:cNvPr id="1239"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0"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1"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3" name="Group 2351"/>
                  <p:cNvGrpSpPr/>
                  <p:nvPr/>
                </p:nvGrpSpPr>
                <p:grpSpPr bwMode="auto">
                  <a:xfrm>
                    <a:off x="811" y="3612"/>
                    <a:ext cx="48" cy="23"/>
                    <a:chOff x="811" y="3612"/>
                    <a:chExt cx="48" cy="23"/>
                  </a:xfrm>
                </p:grpSpPr>
                <p:sp>
                  <p:nvSpPr>
                    <p:cNvPr id="1236"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7"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8"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4" name="Group 2355"/>
                  <p:cNvGrpSpPr/>
                  <p:nvPr/>
                </p:nvGrpSpPr>
                <p:grpSpPr bwMode="auto">
                  <a:xfrm>
                    <a:off x="823" y="3625"/>
                    <a:ext cx="49" cy="23"/>
                    <a:chOff x="823" y="3625"/>
                    <a:chExt cx="49" cy="23"/>
                  </a:xfrm>
                </p:grpSpPr>
                <p:sp>
                  <p:nvSpPr>
                    <p:cNvPr id="1233"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4"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5"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5" name="Group 2359"/>
                  <p:cNvGrpSpPr/>
                  <p:nvPr/>
                </p:nvGrpSpPr>
                <p:grpSpPr bwMode="auto">
                  <a:xfrm>
                    <a:off x="836" y="3638"/>
                    <a:ext cx="50" cy="22"/>
                    <a:chOff x="836" y="3638"/>
                    <a:chExt cx="50" cy="22"/>
                  </a:xfrm>
                </p:grpSpPr>
                <p:sp>
                  <p:nvSpPr>
                    <p:cNvPr id="1230"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1"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2"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6" name="Group 2363"/>
                  <p:cNvGrpSpPr/>
                  <p:nvPr/>
                </p:nvGrpSpPr>
                <p:grpSpPr bwMode="auto">
                  <a:xfrm>
                    <a:off x="849" y="3651"/>
                    <a:ext cx="49" cy="22"/>
                    <a:chOff x="849" y="3651"/>
                    <a:chExt cx="49" cy="22"/>
                  </a:xfrm>
                </p:grpSpPr>
                <p:sp>
                  <p:nvSpPr>
                    <p:cNvPr id="1227"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8"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9"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5" name="Group 2367"/>
                <p:cNvGrpSpPr/>
                <p:nvPr/>
              </p:nvGrpSpPr>
              <p:grpSpPr bwMode="auto">
                <a:xfrm>
                  <a:off x="861" y="3665"/>
                  <a:ext cx="99" cy="74"/>
                  <a:chOff x="861" y="3665"/>
                  <a:chExt cx="99" cy="74"/>
                </a:xfrm>
              </p:grpSpPr>
              <p:grpSp>
                <p:nvGrpSpPr>
                  <p:cNvPr id="1202" name="Group 2368"/>
                  <p:cNvGrpSpPr/>
                  <p:nvPr/>
                </p:nvGrpSpPr>
                <p:grpSpPr bwMode="auto">
                  <a:xfrm>
                    <a:off x="861" y="3665"/>
                    <a:ext cx="50" cy="23"/>
                    <a:chOff x="861" y="3665"/>
                    <a:chExt cx="50" cy="23"/>
                  </a:xfrm>
                </p:grpSpPr>
                <p:sp>
                  <p:nvSpPr>
                    <p:cNvPr id="1219"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0"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1"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3" name="Group 2372"/>
                  <p:cNvGrpSpPr/>
                  <p:nvPr/>
                </p:nvGrpSpPr>
                <p:grpSpPr bwMode="auto">
                  <a:xfrm>
                    <a:off x="873" y="3678"/>
                    <a:ext cx="49" cy="23"/>
                    <a:chOff x="873" y="3678"/>
                    <a:chExt cx="49" cy="23"/>
                  </a:xfrm>
                </p:grpSpPr>
                <p:sp>
                  <p:nvSpPr>
                    <p:cNvPr id="1216"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7"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8"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4" name="Group 2376"/>
                  <p:cNvGrpSpPr/>
                  <p:nvPr/>
                </p:nvGrpSpPr>
                <p:grpSpPr bwMode="auto">
                  <a:xfrm>
                    <a:off x="886" y="3690"/>
                    <a:ext cx="49" cy="23"/>
                    <a:chOff x="886" y="3690"/>
                    <a:chExt cx="49" cy="23"/>
                  </a:xfrm>
                </p:grpSpPr>
                <p:sp>
                  <p:nvSpPr>
                    <p:cNvPr id="1213"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4"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5"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5" name="Group 2380"/>
                  <p:cNvGrpSpPr/>
                  <p:nvPr/>
                </p:nvGrpSpPr>
                <p:grpSpPr bwMode="auto">
                  <a:xfrm>
                    <a:off x="899" y="3703"/>
                    <a:ext cx="48" cy="23"/>
                    <a:chOff x="899" y="3703"/>
                    <a:chExt cx="48" cy="23"/>
                  </a:xfrm>
                </p:grpSpPr>
                <p:sp>
                  <p:nvSpPr>
                    <p:cNvPr id="1210"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1"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2"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6" name="Group 2384"/>
                  <p:cNvGrpSpPr/>
                  <p:nvPr/>
                </p:nvGrpSpPr>
                <p:grpSpPr bwMode="auto">
                  <a:xfrm>
                    <a:off x="912" y="3716"/>
                    <a:ext cx="48" cy="23"/>
                    <a:chOff x="912" y="3716"/>
                    <a:chExt cx="48" cy="23"/>
                  </a:xfrm>
                </p:grpSpPr>
                <p:sp>
                  <p:nvSpPr>
                    <p:cNvPr id="1207"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8"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9"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6" name="Group 2388"/>
                <p:cNvGrpSpPr/>
                <p:nvPr/>
              </p:nvGrpSpPr>
              <p:grpSpPr bwMode="auto">
                <a:xfrm>
                  <a:off x="922" y="3727"/>
                  <a:ext cx="49" cy="23"/>
                  <a:chOff x="922" y="3727"/>
                  <a:chExt cx="49" cy="23"/>
                </a:xfrm>
              </p:grpSpPr>
              <p:sp>
                <p:nvSpPr>
                  <p:cNvPr id="1199"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0"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1"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7" name="Group 2392"/>
                <p:cNvGrpSpPr/>
                <p:nvPr/>
              </p:nvGrpSpPr>
              <p:grpSpPr bwMode="auto">
                <a:xfrm>
                  <a:off x="895" y="3526"/>
                  <a:ext cx="44" cy="23"/>
                  <a:chOff x="895" y="3526"/>
                  <a:chExt cx="44" cy="23"/>
                </a:xfrm>
              </p:grpSpPr>
              <p:sp>
                <p:nvSpPr>
                  <p:cNvPr id="1196"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7"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8"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8" name="Group 2396"/>
                <p:cNvGrpSpPr/>
                <p:nvPr/>
              </p:nvGrpSpPr>
              <p:grpSpPr bwMode="auto">
                <a:xfrm>
                  <a:off x="907" y="3540"/>
                  <a:ext cx="45" cy="22"/>
                  <a:chOff x="907" y="3540"/>
                  <a:chExt cx="45" cy="22"/>
                </a:xfrm>
              </p:grpSpPr>
              <p:sp>
                <p:nvSpPr>
                  <p:cNvPr id="1193"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4"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5"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9" name="Group 2400"/>
                <p:cNvGrpSpPr/>
                <p:nvPr/>
              </p:nvGrpSpPr>
              <p:grpSpPr bwMode="auto">
                <a:xfrm>
                  <a:off x="920" y="3553"/>
                  <a:ext cx="45" cy="23"/>
                  <a:chOff x="920" y="3553"/>
                  <a:chExt cx="45" cy="23"/>
                </a:xfrm>
              </p:grpSpPr>
              <p:sp>
                <p:nvSpPr>
                  <p:cNvPr id="1190"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1"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2"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0" name="Group 2404"/>
                <p:cNvGrpSpPr/>
                <p:nvPr/>
              </p:nvGrpSpPr>
              <p:grpSpPr bwMode="auto">
                <a:xfrm>
                  <a:off x="934" y="3566"/>
                  <a:ext cx="44" cy="23"/>
                  <a:chOff x="934" y="3566"/>
                  <a:chExt cx="44" cy="23"/>
                </a:xfrm>
              </p:grpSpPr>
              <p:sp>
                <p:nvSpPr>
                  <p:cNvPr id="1187"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8"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9"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1" name="Group 2408"/>
                <p:cNvGrpSpPr/>
                <p:nvPr/>
              </p:nvGrpSpPr>
              <p:grpSpPr bwMode="auto">
                <a:xfrm>
                  <a:off x="949" y="3579"/>
                  <a:ext cx="83" cy="63"/>
                  <a:chOff x="949" y="3579"/>
                  <a:chExt cx="83" cy="63"/>
                </a:xfrm>
              </p:grpSpPr>
              <p:grpSp>
                <p:nvGrpSpPr>
                  <p:cNvPr id="1171" name="Group 2409"/>
                  <p:cNvGrpSpPr/>
                  <p:nvPr/>
                </p:nvGrpSpPr>
                <p:grpSpPr bwMode="auto">
                  <a:xfrm>
                    <a:off x="949" y="3579"/>
                    <a:ext cx="44" cy="23"/>
                    <a:chOff x="949" y="3579"/>
                    <a:chExt cx="44" cy="23"/>
                  </a:xfrm>
                </p:grpSpPr>
                <p:sp>
                  <p:nvSpPr>
                    <p:cNvPr id="1184"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5"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6"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2" name="Group 2413"/>
                  <p:cNvGrpSpPr/>
                  <p:nvPr/>
                </p:nvGrpSpPr>
                <p:grpSpPr bwMode="auto">
                  <a:xfrm>
                    <a:off x="961" y="3592"/>
                    <a:ext cx="45" cy="23"/>
                    <a:chOff x="961" y="3592"/>
                    <a:chExt cx="45" cy="23"/>
                  </a:xfrm>
                </p:grpSpPr>
                <p:sp>
                  <p:nvSpPr>
                    <p:cNvPr id="1181"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2"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3"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3" name="Group 2417"/>
                  <p:cNvGrpSpPr/>
                  <p:nvPr/>
                </p:nvGrpSpPr>
                <p:grpSpPr bwMode="auto">
                  <a:xfrm>
                    <a:off x="974" y="3606"/>
                    <a:ext cx="44" cy="23"/>
                    <a:chOff x="974" y="3606"/>
                    <a:chExt cx="44" cy="23"/>
                  </a:xfrm>
                </p:grpSpPr>
                <p:sp>
                  <p:nvSpPr>
                    <p:cNvPr id="1178"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9"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0"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4" name="Group 2421"/>
                  <p:cNvGrpSpPr/>
                  <p:nvPr/>
                </p:nvGrpSpPr>
                <p:grpSpPr bwMode="auto">
                  <a:xfrm>
                    <a:off x="987" y="3619"/>
                    <a:ext cx="45" cy="23"/>
                    <a:chOff x="987" y="3619"/>
                    <a:chExt cx="45" cy="23"/>
                  </a:xfrm>
                </p:grpSpPr>
                <p:sp>
                  <p:nvSpPr>
                    <p:cNvPr id="1175"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6"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7"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2" name="Group 2425"/>
                <p:cNvGrpSpPr/>
                <p:nvPr/>
              </p:nvGrpSpPr>
              <p:grpSpPr bwMode="auto">
                <a:xfrm>
                  <a:off x="1002" y="3632"/>
                  <a:ext cx="83" cy="63"/>
                  <a:chOff x="1002" y="3632"/>
                  <a:chExt cx="83" cy="63"/>
                </a:xfrm>
              </p:grpSpPr>
              <p:grpSp>
                <p:nvGrpSpPr>
                  <p:cNvPr id="1155" name="Group 2426"/>
                  <p:cNvGrpSpPr/>
                  <p:nvPr/>
                </p:nvGrpSpPr>
                <p:grpSpPr bwMode="auto">
                  <a:xfrm>
                    <a:off x="1002" y="3632"/>
                    <a:ext cx="44" cy="22"/>
                    <a:chOff x="1002" y="3632"/>
                    <a:chExt cx="44" cy="22"/>
                  </a:xfrm>
                </p:grpSpPr>
                <p:sp>
                  <p:nvSpPr>
                    <p:cNvPr id="1168"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9"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0"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6" name="Group 2430"/>
                  <p:cNvGrpSpPr/>
                  <p:nvPr/>
                </p:nvGrpSpPr>
                <p:grpSpPr bwMode="auto">
                  <a:xfrm>
                    <a:off x="1014" y="3645"/>
                    <a:ext cx="44" cy="23"/>
                    <a:chOff x="1014" y="3645"/>
                    <a:chExt cx="44" cy="23"/>
                  </a:xfrm>
                </p:grpSpPr>
                <p:sp>
                  <p:nvSpPr>
                    <p:cNvPr id="1165"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6"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7"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7" name="Group 2434"/>
                  <p:cNvGrpSpPr/>
                  <p:nvPr/>
                </p:nvGrpSpPr>
                <p:grpSpPr bwMode="auto">
                  <a:xfrm>
                    <a:off x="1027" y="3659"/>
                    <a:ext cx="45" cy="23"/>
                    <a:chOff x="1027" y="3659"/>
                    <a:chExt cx="45" cy="23"/>
                  </a:xfrm>
                </p:grpSpPr>
                <p:sp>
                  <p:nvSpPr>
                    <p:cNvPr id="1162"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3"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4"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8" name="Group 2438"/>
                  <p:cNvGrpSpPr/>
                  <p:nvPr/>
                </p:nvGrpSpPr>
                <p:grpSpPr bwMode="auto">
                  <a:xfrm>
                    <a:off x="1040" y="3672"/>
                    <a:ext cx="45" cy="23"/>
                    <a:chOff x="1040" y="3672"/>
                    <a:chExt cx="45" cy="23"/>
                  </a:xfrm>
                </p:grpSpPr>
                <p:sp>
                  <p:nvSpPr>
                    <p:cNvPr id="1159"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0"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1"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3" name="Group 2442"/>
                <p:cNvGrpSpPr/>
                <p:nvPr/>
              </p:nvGrpSpPr>
              <p:grpSpPr bwMode="auto">
                <a:xfrm>
                  <a:off x="1054" y="3685"/>
                  <a:ext cx="45" cy="23"/>
                  <a:chOff x="1054" y="3685"/>
                  <a:chExt cx="45" cy="23"/>
                </a:xfrm>
              </p:grpSpPr>
              <p:sp>
                <p:nvSpPr>
                  <p:cNvPr id="1152"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3"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4"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4" name="Group 2446"/>
                <p:cNvGrpSpPr/>
                <p:nvPr/>
              </p:nvGrpSpPr>
              <p:grpSpPr bwMode="auto">
                <a:xfrm>
                  <a:off x="1067" y="3698"/>
                  <a:ext cx="45" cy="23"/>
                  <a:chOff x="1067" y="3698"/>
                  <a:chExt cx="45" cy="23"/>
                </a:xfrm>
              </p:grpSpPr>
              <p:sp>
                <p:nvSpPr>
                  <p:cNvPr id="1149"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0"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1"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5" name="Group 2450"/>
                <p:cNvGrpSpPr/>
                <p:nvPr/>
              </p:nvGrpSpPr>
              <p:grpSpPr bwMode="auto">
                <a:xfrm>
                  <a:off x="1079" y="3712"/>
                  <a:ext cx="44" cy="23"/>
                  <a:chOff x="1079" y="3712"/>
                  <a:chExt cx="44" cy="23"/>
                </a:xfrm>
              </p:grpSpPr>
              <p:sp>
                <p:nvSpPr>
                  <p:cNvPr id="1146"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7"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8"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6" name="Group 2454"/>
                <p:cNvGrpSpPr/>
                <p:nvPr/>
              </p:nvGrpSpPr>
              <p:grpSpPr bwMode="auto">
                <a:xfrm>
                  <a:off x="1093" y="3725"/>
                  <a:ext cx="45" cy="23"/>
                  <a:chOff x="1093" y="3725"/>
                  <a:chExt cx="45" cy="23"/>
                </a:xfrm>
              </p:grpSpPr>
              <p:sp>
                <p:nvSpPr>
                  <p:cNvPr id="1143"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4"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5"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7" name="Group 2458"/>
                <p:cNvGrpSpPr/>
                <p:nvPr/>
              </p:nvGrpSpPr>
              <p:grpSpPr bwMode="auto">
                <a:xfrm>
                  <a:off x="1108" y="3739"/>
                  <a:ext cx="44" cy="23"/>
                  <a:chOff x="1108" y="3739"/>
                  <a:chExt cx="44" cy="23"/>
                </a:xfrm>
              </p:grpSpPr>
              <p:sp>
                <p:nvSpPr>
                  <p:cNvPr id="1140"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1"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2"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8" name="Group 2462"/>
                <p:cNvGrpSpPr/>
                <p:nvPr/>
              </p:nvGrpSpPr>
              <p:grpSpPr bwMode="auto">
                <a:xfrm>
                  <a:off x="1121" y="3753"/>
                  <a:ext cx="45" cy="23"/>
                  <a:chOff x="1121" y="3753"/>
                  <a:chExt cx="45" cy="23"/>
                </a:xfrm>
              </p:grpSpPr>
              <p:sp>
                <p:nvSpPr>
                  <p:cNvPr id="1137"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8"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9"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9" name="Group 2466"/>
                <p:cNvGrpSpPr/>
                <p:nvPr/>
              </p:nvGrpSpPr>
              <p:grpSpPr bwMode="auto">
                <a:xfrm>
                  <a:off x="1133" y="3767"/>
                  <a:ext cx="44" cy="23"/>
                  <a:chOff x="1133" y="3767"/>
                  <a:chExt cx="44" cy="23"/>
                </a:xfrm>
              </p:grpSpPr>
              <p:sp>
                <p:nvSpPr>
                  <p:cNvPr id="1134"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5"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6"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80"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1"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2"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3"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4"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5"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6"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7"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8"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9"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90"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91" name="Group 2481"/>
                <p:cNvGrpSpPr/>
                <p:nvPr/>
              </p:nvGrpSpPr>
              <p:grpSpPr bwMode="auto">
                <a:xfrm>
                  <a:off x="700" y="3535"/>
                  <a:ext cx="49" cy="24"/>
                  <a:chOff x="700" y="3535"/>
                  <a:chExt cx="49" cy="24"/>
                </a:xfrm>
              </p:grpSpPr>
              <p:sp>
                <p:nvSpPr>
                  <p:cNvPr id="1131"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2"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3"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2" name="Group 2485"/>
                <p:cNvGrpSpPr/>
                <p:nvPr/>
              </p:nvGrpSpPr>
              <p:grpSpPr bwMode="auto">
                <a:xfrm>
                  <a:off x="714" y="3551"/>
                  <a:ext cx="49" cy="22"/>
                  <a:chOff x="714" y="3551"/>
                  <a:chExt cx="49" cy="22"/>
                </a:xfrm>
              </p:grpSpPr>
              <p:sp>
                <p:nvSpPr>
                  <p:cNvPr id="1128"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9"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0"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3" name="Group 2489"/>
                <p:cNvGrpSpPr/>
                <p:nvPr/>
              </p:nvGrpSpPr>
              <p:grpSpPr bwMode="auto">
                <a:xfrm>
                  <a:off x="728" y="3564"/>
                  <a:ext cx="48" cy="23"/>
                  <a:chOff x="728" y="3564"/>
                  <a:chExt cx="48" cy="23"/>
                </a:xfrm>
              </p:grpSpPr>
              <p:sp>
                <p:nvSpPr>
                  <p:cNvPr id="1125"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6"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7"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4" name="Group 2493"/>
                <p:cNvGrpSpPr/>
                <p:nvPr/>
              </p:nvGrpSpPr>
              <p:grpSpPr bwMode="auto">
                <a:xfrm>
                  <a:off x="742" y="3582"/>
                  <a:ext cx="49" cy="23"/>
                  <a:chOff x="742" y="3582"/>
                  <a:chExt cx="49" cy="23"/>
                </a:xfrm>
              </p:grpSpPr>
              <p:sp>
                <p:nvSpPr>
                  <p:cNvPr id="1122"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3"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4"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5" name="Group 2497"/>
                <p:cNvGrpSpPr/>
                <p:nvPr/>
              </p:nvGrpSpPr>
              <p:grpSpPr bwMode="auto">
                <a:xfrm>
                  <a:off x="752" y="3597"/>
                  <a:ext cx="133" cy="106"/>
                  <a:chOff x="752" y="3597"/>
                  <a:chExt cx="133" cy="106"/>
                </a:xfrm>
              </p:grpSpPr>
              <p:sp>
                <p:nvSpPr>
                  <p:cNvPr id="1119"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0"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1"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6" name="Group 2501"/>
                <p:cNvGrpSpPr/>
                <p:nvPr/>
              </p:nvGrpSpPr>
              <p:grpSpPr bwMode="auto">
                <a:xfrm>
                  <a:off x="844" y="3694"/>
                  <a:ext cx="48" cy="23"/>
                  <a:chOff x="844" y="3694"/>
                  <a:chExt cx="48" cy="23"/>
                </a:xfrm>
              </p:grpSpPr>
              <p:sp>
                <p:nvSpPr>
                  <p:cNvPr id="1116"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7"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8"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7" name="Group 2505"/>
                <p:cNvGrpSpPr/>
                <p:nvPr/>
              </p:nvGrpSpPr>
              <p:grpSpPr bwMode="auto">
                <a:xfrm>
                  <a:off x="857" y="3710"/>
                  <a:ext cx="49" cy="22"/>
                  <a:chOff x="857" y="3710"/>
                  <a:chExt cx="49" cy="22"/>
                </a:xfrm>
              </p:grpSpPr>
              <p:sp>
                <p:nvSpPr>
                  <p:cNvPr id="1113"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4"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5"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8" name="Group 2509"/>
                <p:cNvGrpSpPr/>
                <p:nvPr/>
              </p:nvGrpSpPr>
              <p:grpSpPr bwMode="auto">
                <a:xfrm>
                  <a:off x="1086" y="3766"/>
                  <a:ext cx="49" cy="23"/>
                  <a:chOff x="1086" y="3766"/>
                  <a:chExt cx="49" cy="23"/>
                </a:xfrm>
              </p:grpSpPr>
              <p:sp>
                <p:nvSpPr>
                  <p:cNvPr id="1110"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1"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2"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9" name="Group 2513"/>
                <p:cNvGrpSpPr/>
                <p:nvPr/>
              </p:nvGrpSpPr>
              <p:grpSpPr bwMode="auto">
                <a:xfrm>
                  <a:off x="934" y="3740"/>
                  <a:ext cx="48" cy="23"/>
                  <a:chOff x="934" y="3740"/>
                  <a:chExt cx="48" cy="23"/>
                </a:xfrm>
              </p:grpSpPr>
              <p:sp>
                <p:nvSpPr>
                  <p:cNvPr id="1107"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8"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9"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0" name="Group 2517"/>
                <p:cNvGrpSpPr/>
                <p:nvPr/>
              </p:nvGrpSpPr>
              <p:grpSpPr bwMode="auto">
                <a:xfrm>
                  <a:off x="943" y="3754"/>
                  <a:ext cx="49" cy="23"/>
                  <a:chOff x="943" y="3754"/>
                  <a:chExt cx="49" cy="23"/>
                </a:xfrm>
              </p:grpSpPr>
              <p:sp>
                <p:nvSpPr>
                  <p:cNvPr id="1104"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5"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6"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01"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2"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3"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8" name="Group 2524"/>
              <p:cNvGrpSpPr/>
              <p:nvPr/>
            </p:nvGrpSpPr>
            <p:grpSpPr bwMode="auto">
              <a:xfrm>
                <a:off x="920" y="3821"/>
                <a:ext cx="413" cy="50"/>
                <a:chOff x="920" y="3821"/>
                <a:chExt cx="413" cy="50"/>
              </a:xfrm>
            </p:grpSpPr>
            <p:sp>
              <p:nvSpPr>
                <p:cNvPr id="1019"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0"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1"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22"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999" name="Group 2529"/>
              <p:cNvGrpSpPr/>
              <p:nvPr/>
            </p:nvGrpSpPr>
            <p:grpSpPr bwMode="auto">
              <a:xfrm>
                <a:off x="1227" y="3477"/>
                <a:ext cx="508" cy="321"/>
                <a:chOff x="1227" y="3477"/>
                <a:chExt cx="508" cy="321"/>
              </a:xfrm>
            </p:grpSpPr>
            <p:sp>
              <p:nvSpPr>
                <p:cNvPr id="1000"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1"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2"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3"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4"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5"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6"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7"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8"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9"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0"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1"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2"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3"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4"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5"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6"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7"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8"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437" name="Group 2096"/>
            <p:cNvGrpSpPr/>
            <p:nvPr/>
          </p:nvGrpSpPr>
          <p:grpSpPr bwMode="auto">
            <a:xfrm>
              <a:off x="2627313" y="1916113"/>
              <a:ext cx="431800" cy="330200"/>
              <a:chOff x="624" y="2968"/>
              <a:chExt cx="1331" cy="920"/>
            </a:xfrm>
          </p:grpSpPr>
          <p:sp>
            <p:nvSpPr>
              <p:cNvPr id="1438"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9"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0"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1"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2"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3"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4"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5"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6"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7"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8"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9"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50" name="Group 2109"/>
              <p:cNvGrpSpPr/>
              <p:nvPr/>
            </p:nvGrpSpPr>
            <p:grpSpPr bwMode="auto">
              <a:xfrm>
                <a:off x="700" y="3526"/>
                <a:ext cx="515" cy="270"/>
                <a:chOff x="700" y="3526"/>
                <a:chExt cx="515" cy="270"/>
              </a:xfrm>
            </p:grpSpPr>
            <p:grpSp>
              <p:nvGrpSpPr>
                <p:cNvPr id="1476" name="Group 2110"/>
                <p:cNvGrpSpPr/>
                <p:nvPr/>
              </p:nvGrpSpPr>
              <p:grpSpPr bwMode="auto">
                <a:xfrm>
                  <a:off x="737" y="3534"/>
                  <a:ext cx="49" cy="23"/>
                  <a:chOff x="737" y="3534"/>
                  <a:chExt cx="49" cy="23"/>
                </a:xfrm>
              </p:grpSpPr>
              <p:sp>
                <p:nvSpPr>
                  <p:cNvPr id="1887"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8"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9"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77" name="Group 2114"/>
                <p:cNvGrpSpPr/>
                <p:nvPr/>
              </p:nvGrpSpPr>
              <p:grpSpPr bwMode="auto">
                <a:xfrm>
                  <a:off x="748" y="3547"/>
                  <a:ext cx="50" cy="23"/>
                  <a:chOff x="748" y="3547"/>
                  <a:chExt cx="50" cy="23"/>
                </a:xfrm>
              </p:grpSpPr>
              <p:sp>
                <p:nvSpPr>
                  <p:cNvPr id="1884"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5"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6"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78"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9"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0"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1"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82" name="Group 2122"/>
                <p:cNvGrpSpPr/>
                <p:nvPr/>
              </p:nvGrpSpPr>
              <p:grpSpPr bwMode="auto">
                <a:xfrm>
                  <a:off x="872" y="3547"/>
                  <a:ext cx="50" cy="23"/>
                  <a:chOff x="872" y="3547"/>
                  <a:chExt cx="50" cy="23"/>
                </a:xfrm>
              </p:grpSpPr>
              <p:sp>
                <p:nvSpPr>
                  <p:cNvPr id="1881"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2"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3"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3" name="Group 2126"/>
                <p:cNvGrpSpPr/>
                <p:nvPr/>
              </p:nvGrpSpPr>
              <p:grpSpPr bwMode="auto">
                <a:xfrm>
                  <a:off x="885" y="3559"/>
                  <a:ext cx="50" cy="23"/>
                  <a:chOff x="885" y="3559"/>
                  <a:chExt cx="50" cy="23"/>
                </a:xfrm>
              </p:grpSpPr>
              <p:sp>
                <p:nvSpPr>
                  <p:cNvPr id="1878"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9"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0"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4" name="Group 2130"/>
                <p:cNvGrpSpPr/>
                <p:nvPr/>
              </p:nvGrpSpPr>
              <p:grpSpPr bwMode="auto">
                <a:xfrm>
                  <a:off x="898" y="3571"/>
                  <a:ext cx="49" cy="23"/>
                  <a:chOff x="898" y="3571"/>
                  <a:chExt cx="49" cy="23"/>
                </a:xfrm>
              </p:grpSpPr>
              <p:sp>
                <p:nvSpPr>
                  <p:cNvPr id="1875"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6"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7"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5" name="Group 2134"/>
                <p:cNvGrpSpPr/>
                <p:nvPr/>
              </p:nvGrpSpPr>
              <p:grpSpPr bwMode="auto">
                <a:xfrm>
                  <a:off x="911" y="3585"/>
                  <a:ext cx="49" cy="23"/>
                  <a:chOff x="911" y="3585"/>
                  <a:chExt cx="49" cy="23"/>
                </a:xfrm>
              </p:grpSpPr>
              <p:sp>
                <p:nvSpPr>
                  <p:cNvPr id="1872"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3"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4"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6" name="Group 2138"/>
                <p:cNvGrpSpPr/>
                <p:nvPr/>
              </p:nvGrpSpPr>
              <p:grpSpPr bwMode="auto">
                <a:xfrm>
                  <a:off x="923" y="3600"/>
                  <a:ext cx="99" cy="73"/>
                  <a:chOff x="923" y="3600"/>
                  <a:chExt cx="99" cy="73"/>
                </a:xfrm>
              </p:grpSpPr>
              <p:grpSp>
                <p:nvGrpSpPr>
                  <p:cNvPr id="1852" name="Group 2139"/>
                  <p:cNvGrpSpPr/>
                  <p:nvPr/>
                </p:nvGrpSpPr>
                <p:grpSpPr bwMode="auto">
                  <a:xfrm>
                    <a:off x="923" y="3600"/>
                    <a:ext cx="49" cy="23"/>
                    <a:chOff x="923" y="3600"/>
                    <a:chExt cx="49" cy="23"/>
                  </a:xfrm>
                </p:grpSpPr>
                <p:sp>
                  <p:nvSpPr>
                    <p:cNvPr id="1869"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0"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1"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3" name="Group 2143"/>
                  <p:cNvGrpSpPr/>
                  <p:nvPr/>
                </p:nvGrpSpPr>
                <p:grpSpPr bwMode="auto">
                  <a:xfrm>
                    <a:off x="935" y="3612"/>
                    <a:ext cx="48" cy="23"/>
                    <a:chOff x="935" y="3612"/>
                    <a:chExt cx="48" cy="23"/>
                  </a:xfrm>
                </p:grpSpPr>
                <p:sp>
                  <p:nvSpPr>
                    <p:cNvPr id="1866"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7"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8"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4" name="Group 2147"/>
                  <p:cNvGrpSpPr/>
                  <p:nvPr/>
                </p:nvGrpSpPr>
                <p:grpSpPr bwMode="auto">
                  <a:xfrm>
                    <a:off x="947" y="3625"/>
                    <a:ext cx="50" cy="22"/>
                    <a:chOff x="947" y="3625"/>
                    <a:chExt cx="50" cy="22"/>
                  </a:xfrm>
                </p:grpSpPr>
                <p:sp>
                  <p:nvSpPr>
                    <p:cNvPr id="1863"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4"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5"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5" name="Group 2151"/>
                  <p:cNvGrpSpPr/>
                  <p:nvPr/>
                </p:nvGrpSpPr>
                <p:grpSpPr bwMode="auto">
                  <a:xfrm>
                    <a:off x="960" y="3637"/>
                    <a:ext cx="50" cy="23"/>
                    <a:chOff x="960" y="3637"/>
                    <a:chExt cx="50" cy="23"/>
                  </a:xfrm>
                </p:grpSpPr>
                <p:sp>
                  <p:nvSpPr>
                    <p:cNvPr id="1860"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1"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2"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6" name="Group 2155"/>
                  <p:cNvGrpSpPr/>
                  <p:nvPr/>
                </p:nvGrpSpPr>
                <p:grpSpPr bwMode="auto">
                  <a:xfrm>
                    <a:off x="973" y="3650"/>
                    <a:ext cx="49" cy="23"/>
                    <a:chOff x="973" y="3650"/>
                    <a:chExt cx="49" cy="23"/>
                  </a:xfrm>
                </p:grpSpPr>
                <p:sp>
                  <p:nvSpPr>
                    <p:cNvPr id="1857"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8"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9"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7" name="Group 2159"/>
                <p:cNvGrpSpPr/>
                <p:nvPr/>
              </p:nvGrpSpPr>
              <p:grpSpPr bwMode="auto">
                <a:xfrm>
                  <a:off x="985" y="3665"/>
                  <a:ext cx="100" cy="73"/>
                  <a:chOff x="985" y="3665"/>
                  <a:chExt cx="100" cy="73"/>
                </a:xfrm>
              </p:grpSpPr>
              <p:grpSp>
                <p:nvGrpSpPr>
                  <p:cNvPr id="1832" name="Group 2160"/>
                  <p:cNvGrpSpPr/>
                  <p:nvPr/>
                </p:nvGrpSpPr>
                <p:grpSpPr bwMode="auto">
                  <a:xfrm>
                    <a:off x="985" y="3665"/>
                    <a:ext cx="50" cy="23"/>
                    <a:chOff x="985" y="3665"/>
                    <a:chExt cx="50" cy="23"/>
                  </a:xfrm>
                </p:grpSpPr>
                <p:sp>
                  <p:nvSpPr>
                    <p:cNvPr id="1849"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0"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1"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3" name="Group 2164"/>
                  <p:cNvGrpSpPr/>
                  <p:nvPr/>
                </p:nvGrpSpPr>
                <p:grpSpPr bwMode="auto">
                  <a:xfrm>
                    <a:off x="997" y="3677"/>
                    <a:ext cx="49" cy="23"/>
                    <a:chOff x="997" y="3677"/>
                    <a:chExt cx="49" cy="23"/>
                  </a:xfrm>
                </p:grpSpPr>
                <p:sp>
                  <p:nvSpPr>
                    <p:cNvPr id="1846"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7"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8"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4" name="Group 2168"/>
                  <p:cNvGrpSpPr/>
                  <p:nvPr/>
                </p:nvGrpSpPr>
                <p:grpSpPr bwMode="auto">
                  <a:xfrm>
                    <a:off x="1010" y="3690"/>
                    <a:ext cx="48" cy="23"/>
                    <a:chOff x="1010" y="3690"/>
                    <a:chExt cx="48" cy="23"/>
                  </a:xfrm>
                </p:grpSpPr>
                <p:sp>
                  <p:nvSpPr>
                    <p:cNvPr id="1843"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4"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5"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5" name="Group 2172"/>
                  <p:cNvGrpSpPr/>
                  <p:nvPr/>
                </p:nvGrpSpPr>
                <p:grpSpPr bwMode="auto">
                  <a:xfrm>
                    <a:off x="1023" y="3703"/>
                    <a:ext cx="49" cy="22"/>
                    <a:chOff x="1023" y="3703"/>
                    <a:chExt cx="49" cy="22"/>
                  </a:xfrm>
                </p:grpSpPr>
                <p:sp>
                  <p:nvSpPr>
                    <p:cNvPr id="1840"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1"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2"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6" name="Group 2176"/>
                  <p:cNvGrpSpPr/>
                  <p:nvPr/>
                </p:nvGrpSpPr>
                <p:grpSpPr bwMode="auto">
                  <a:xfrm>
                    <a:off x="1036" y="3716"/>
                    <a:ext cx="49" cy="22"/>
                    <a:chOff x="1036" y="3716"/>
                    <a:chExt cx="49" cy="22"/>
                  </a:xfrm>
                </p:grpSpPr>
                <p:sp>
                  <p:nvSpPr>
                    <p:cNvPr id="1837"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8"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9"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8" name="Group 2180"/>
                <p:cNvGrpSpPr/>
                <p:nvPr/>
              </p:nvGrpSpPr>
              <p:grpSpPr bwMode="auto">
                <a:xfrm>
                  <a:off x="1046" y="3727"/>
                  <a:ext cx="49" cy="23"/>
                  <a:chOff x="1046" y="3727"/>
                  <a:chExt cx="49" cy="23"/>
                </a:xfrm>
              </p:grpSpPr>
              <p:sp>
                <p:nvSpPr>
                  <p:cNvPr id="1829"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0"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1"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9" name="Group 2184"/>
                <p:cNvGrpSpPr/>
                <p:nvPr/>
              </p:nvGrpSpPr>
              <p:grpSpPr bwMode="auto">
                <a:xfrm>
                  <a:off x="1058" y="3739"/>
                  <a:ext cx="50" cy="23"/>
                  <a:chOff x="1058" y="3739"/>
                  <a:chExt cx="50" cy="23"/>
                </a:xfrm>
              </p:grpSpPr>
              <p:sp>
                <p:nvSpPr>
                  <p:cNvPr id="1826"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7"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8"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0" name="Group 2188"/>
                <p:cNvGrpSpPr/>
                <p:nvPr/>
              </p:nvGrpSpPr>
              <p:grpSpPr bwMode="auto">
                <a:xfrm>
                  <a:off x="1072" y="3753"/>
                  <a:ext cx="48" cy="22"/>
                  <a:chOff x="1072" y="3753"/>
                  <a:chExt cx="48" cy="22"/>
                </a:xfrm>
              </p:grpSpPr>
              <p:sp>
                <p:nvSpPr>
                  <p:cNvPr id="1823"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4"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5"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91"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2"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3"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94" name="Group 2195"/>
                <p:cNvGrpSpPr/>
                <p:nvPr/>
              </p:nvGrpSpPr>
              <p:grpSpPr bwMode="auto">
                <a:xfrm>
                  <a:off x="832" y="3547"/>
                  <a:ext cx="49" cy="23"/>
                  <a:chOff x="832" y="3547"/>
                  <a:chExt cx="49" cy="23"/>
                </a:xfrm>
              </p:grpSpPr>
              <p:sp>
                <p:nvSpPr>
                  <p:cNvPr id="1820"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1"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2"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5" name="Group 2199"/>
                <p:cNvGrpSpPr/>
                <p:nvPr/>
              </p:nvGrpSpPr>
              <p:grpSpPr bwMode="auto">
                <a:xfrm>
                  <a:off x="844" y="3560"/>
                  <a:ext cx="49" cy="22"/>
                  <a:chOff x="844" y="3560"/>
                  <a:chExt cx="49" cy="22"/>
                </a:xfrm>
              </p:grpSpPr>
              <p:sp>
                <p:nvSpPr>
                  <p:cNvPr id="1817"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8"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9"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6" name="Group 2203"/>
                <p:cNvGrpSpPr/>
                <p:nvPr/>
              </p:nvGrpSpPr>
              <p:grpSpPr bwMode="auto">
                <a:xfrm>
                  <a:off x="857" y="3572"/>
                  <a:ext cx="50" cy="23"/>
                  <a:chOff x="857" y="3572"/>
                  <a:chExt cx="50" cy="23"/>
                </a:xfrm>
              </p:grpSpPr>
              <p:sp>
                <p:nvSpPr>
                  <p:cNvPr id="1814"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5"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6"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7" name="Group 2207"/>
                <p:cNvGrpSpPr/>
                <p:nvPr/>
              </p:nvGrpSpPr>
              <p:grpSpPr bwMode="auto">
                <a:xfrm>
                  <a:off x="870" y="3585"/>
                  <a:ext cx="48" cy="23"/>
                  <a:chOff x="870" y="3585"/>
                  <a:chExt cx="48" cy="23"/>
                </a:xfrm>
              </p:grpSpPr>
              <p:sp>
                <p:nvSpPr>
                  <p:cNvPr id="1811"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2"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3"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8" name="Group 2211"/>
                <p:cNvGrpSpPr/>
                <p:nvPr/>
              </p:nvGrpSpPr>
              <p:grpSpPr bwMode="auto">
                <a:xfrm>
                  <a:off x="882" y="3600"/>
                  <a:ext cx="100" cy="73"/>
                  <a:chOff x="882" y="3600"/>
                  <a:chExt cx="100" cy="73"/>
                </a:xfrm>
              </p:grpSpPr>
              <p:grpSp>
                <p:nvGrpSpPr>
                  <p:cNvPr id="1791" name="Group 2212"/>
                  <p:cNvGrpSpPr/>
                  <p:nvPr/>
                </p:nvGrpSpPr>
                <p:grpSpPr bwMode="auto">
                  <a:xfrm>
                    <a:off x="882" y="3600"/>
                    <a:ext cx="49" cy="23"/>
                    <a:chOff x="882" y="3600"/>
                    <a:chExt cx="49" cy="23"/>
                  </a:xfrm>
                </p:grpSpPr>
                <p:sp>
                  <p:nvSpPr>
                    <p:cNvPr id="1808"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9"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0"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2" name="Group 2216"/>
                  <p:cNvGrpSpPr/>
                  <p:nvPr/>
                </p:nvGrpSpPr>
                <p:grpSpPr bwMode="auto">
                  <a:xfrm>
                    <a:off x="894" y="3612"/>
                    <a:ext cx="49" cy="23"/>
                    <a:chOff x="894" y="3612"/>
                    <a:chExt cx="49" cy="23"/>
                  </a:xfrm>
                </p:grpSpPr>
                <p:sp>
                  <p:nvSpPr>
                    <p:cNvPr id="1805"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6"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7"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3" name="Group 2220"/>
                  <p:cNvGrpSpPr/>
                  <p:nvPr/>
                </p:nvGrpSpPr>
                <p:grpSpPr bwMode="auto">
                  <a:xfrm>
                    <a:off x="907" y="3625"/>
                    <a:ext cx="49" cy="23"/>
                    <a:chOff x="907" y="3625"/>
                    <a:chExt cx="49" cy="23"/>
                  </a:xfrm>
                </p:grpSpPr>
                <p:sp>
                  <p:nvSpPr>
                    <p:cNvPr id="1802"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3"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4"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4" name="Group 2224"/>
                  <p:cNvGrpSpPr/>
                  <p:nvPr/>
                </p:nvGrpSpPr>
                <p:grpSpPr bwMode="auto">
                  <a:xfrm>
                    <a:off x="919" y="3638"/>
                    <a:ext cx="49" cy="22"/>
                    <a:chOff x="919" y="3638"/>
                    <a:chExt cx="49" cy="22"/>
                  </a:xfrm>
                </p:grpSpPr>
                <p:sp>
                  <p:nvSpPr>
                    <p:cNvPr id="1799"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0"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1"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5" name="Group 2228"/>
                  <p:cNvGrpSpPr/>
                  <p:nvPr/>
                </p:nvGrpSpPr>
                <p:grpSpPr bwMode="auto">
                  <a:xfrm>
                    <a:off x="932" y="3651"/>
                    <a:ext cx="50" cy="22"/>
                    <a:chOff x="932" y="3651"/>
                    <a:chExt cx="50" cy="22"/>
                  </a:xfrm>
                </p:grpSpPr>
                <p:sp>
                  <p:nvSpPr>
                    <p:cNvPr id="1796"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7"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8"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99" name="Group 2232"/>
                <p:cNvGrpSpPr/>
                <p:nvPr/>
              </p:nvGrpSpPr>
              <p:grpSpPr bwMode="auto">
                <a:xfrm>
                  <a:off x="944" y="3665"/>
                  <a:ext cx="99" cy="74"/>
                  <a:chOff x="944" y="3665"/>
                  <a:chExt cx="99" cy="74"/>
                </a:xfrm>
              </p:grpSpPr>
              <p:grpSp>
                <p:nvGrpSpPr>
                  <p:cNvPr id="1771" name="Group 2233"/>
                  <p:cNvGrpSpPr/>
                  <p:nvPr/>
                </p:nvGrpSpPr>
                <p:grpSpPr bwMode="auto">
                  <a:xfrm>
                    <a:off x="944" y="3665"/>
                    <a:ext cx="49" cy="23"/>
                    <a:chOff x="944" y="3665"/>
                    <a:chExt cx="49" cy="23"/>
                  </a:xfrm>
                </p:grpSpPr>
                <p:sp>
                  <p:nvSpPr>
                    <p:cNvPr id="1788"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9"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0"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2" name="Group 2237"/>
                  <p:cNvGrpSpPr/>
                  <p:nvPr/>
                </p:nvGrpSpPr>
                <p:grpSpPr bwMode="auto">
                  <a:xfrm>
                    <a:off x="957" y="3678"/>
                    <a:ext cx="48" cy="23"/>
                    <a:chOff x="957" y="3678"/>
                    <a:chExt cx="48" cy="23"/>
                  </a:xfrm>
                </p:grpSpPr>
                <p:sp>
                  <p:nvSpPr>
                    <p:cNvPr id="1785"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6"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7"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3" name="Group 2241"/>
                  <p:cNvGrpSpPr/>
                  <p:nvPr/>
                </p:nvGrpSpPr>
                <p:grpSpPr bwMode="auto">
                  <a:xfrm>
                    <a:off x="969" y="3690"/>
                    <a:ext cx="49" cy="23"/>
                    <a:chOff x="969" y="3690"/>
                    <a:chExt cx="49" cy="23"/>
                  </a:xfrm>
                </p:grpSpPr>
                <p:sp>
                  <p:nvSpPr>
                    <p:cNvPr id="1782"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3"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4"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4" name="Group 2245"/>
                  <p:cNvGrpSpPr/>
                  <p:nvPr/>
                </p:nvGrpSpPr>
                <p:grpSpPr bwMode="auto">
                  <a:xfrm>
                    <a:off x="982" y="3703"/>
                    <a:ext cx="49" cy="23"/>
                    <a:chOff x="982" y="3703"/>
                    <a:chExt cx="49" cy="23"/>
                  </a:xfrm>
                </p:grpSpPr>
                <p:sp>
                  <p:nvSpPr>
                    <p:cNvPr id="1779"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0"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1"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5" name="Group 2249"/>
                  <p:cNvGrpSpPr/>
                  <p:nvPr/>
                </p:nvGrpSpPr>
                <p:grpSpPr bwMode="auto">
                  <a:xfrm>
                    <a:off x="995" y="3716"/>
                    <a:ext cx="48" cy="23"/>
                    <a:chOff x="995" y="3716"/>
                    <a:chExt cx="48" cy="23"/>
                  </a:xfrm>
                </p:grpSpPr>
                <p:sp>
                  <p:nvSpPr>
                    <p:cNvPr id="1776"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7"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8"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00" name="Group 2253"/>
                <p:cNvGrpSpPr/>
                <p:nvPr/>
              </p:nvGrpSpPr>
              <p:grpSpPr bwMode="auto">
                <a:xfrm>
                  <a:off x="1005" y="3727"/>
                  <a:ext cx="49" cy="23"/>
                  <a:chOff x="1005" y="3727"/>
                  <a:chExt cx="49" cy="23"/>
                </a:xfrm>
              </p:grpSpPr>
              <p:sp>
                <p:nvSpPr>
                  <p:cNvPr id="1768"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9"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0"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1" name="Group 2257"/>
                <p:cNvGrpSpPr/>
                <p:nvPr/>
              </p:nvGrpSpPr>
              <p:grpSpPr bwMode="auto">
                <a:xfrm>
                  <a:off x="1018" y="3740"/>
                  <a:ext cx="49" cy="22"/>
                  <a:chOff x="1018" y="3740"/>
                  <a:chExt cx="49" cy="22"/>
                </a:xfrm>
              </p:grpSpPr>
              <p:sp>
                <p:nvSpPr>
                  <p:cNvPr id="1765"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6"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7"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2" name="Group 2261"/>
                <p:cNvGrpSpPr/>
                <p:nvPr/>
              </p:nvGrpSpPr>
              <p:grpSpPr bwMode="auto">
                <a:xfrm>
                  <a:off x="1030" y="3753"/>
                  <a:ext cx="49" cy="23"/>
                  <a:chOff x="1030" y="3753"/>
                  <a:chExt cx="49" cy="23"/>
                </a:xfrm>
              </p:grpSpPr>
              <p:sp>
                <p:nvSpPr>
                  <p:cNvPr id="1762"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3"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4"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03"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4"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5"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06" name="Group 2268"/>
                <p:cNvGrpSpPr/>
                <p:nvPr/>
              </p:nvGrpSpPr>
              <p:grpSpPr bwMode="auto">
                <a:xfrm>
                  <a:off x="790" y="3547"/>
                  <a:ext cx="49" cy="23"/>
                  <a:chOff x="790" y="3547"/>
                  <a:chExt cx="49" cy="23"/>
                </a:xfrm>
              </p:grpSpPr>
              <p:sp>
                <p:nvSpPr>
                  <p:cNvPr id="1759"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0"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1"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7" name="Group 2272"/>
                <p:cNvGrpSpPr/>
                <p:nvPr/>
              </p:nvGrpSpPr>
              <p:grpSpPr bwMode="auto">
                <a:xfrm>
                  <a:off x="803" y="3560"/>
                  <a:ext cx="49" cy="22"/>
                  <a:chOff x="803" y="3560"/>
                  <a:chExt cx="49" cy="22"/>
                </a:xfrm>
              </p:grpSpPr>
              <p:sp>
                <p:nvSpPr>
                  <p:cNvPr id="1756"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7"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8"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8" name="Group 2276"/>
                <p:cNvGrpSpPr/>
                <p:nvPr/>
              </p:nvGrpSpPr>
              <p:grpSpPr bwMode="auto">
                <a:xfrm>
                  <a:off x="815" y="3572"/>
                  <a:ext cx="50" cy="23"/>
                  <a:chOff x="815" y="3572"/>
                  <a:chExt cx="50" cy="23"/>
                </a:xfrm>
              </p:grpSpPr>
              <p:sp>
                <p:nvSpPr>
                  <p:cNvPr id="1753"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4"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5"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9" name="Group 2280"/>
                <p:cNvGrpSpPr/>
                <p:nvPr/>
              </p:nvGrpSpPr>
              <p:grpSpPr bwMode="auto">
                <a:xfrm>
                  <a:off x="828" y="3585"/>
                  <a:ext cx="49" cy="23"/>
                  <a:chOff x="828" y="3585"/>
                  <a:chExt cx="49" cy="23"/>
                </a:xfrm>
              </p:grpSpPr>
              <p:sp>
                <p:nvSpPr>
                  <p:cNvPr id="1750"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1"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2"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0" name="Group 2284"/>
                <p:cNvGrpSpPr/>
                <p:nvPr/>
              </p:nvGrpSpPr>
              <p:grpSpPr bwMode="auto">
                <a:xfrm>
                  <a:off x="840" y="3600"/>
                  <a:ext cx="100" cy="73"/>
                  <a:chOff x="840" y="3600"/>
                  <a:chExt cx="100" cy="73"/>
                </a:xfrm>
              </p:grpSpPr>
              <p:grpSp>
                <p:nvGrpSpPr>
                  <p:cNvPr id="1730" name="Group 2285"/>
                  <p:cNvGrpSpPr/>
                  <p:nvPr/>
                </p:nvGrpSpPr>
                <p:grpSpPr bwMode="auto">
                  <a:xfrm>
                    <a:off x="840" y="3600"/>
                    <a:ext cx="49" cy="23"/>
                    <a:chOff x="840" y="3600"/>
                    <a:chExt cx="49" cy="23"/>
                  </a:xfrm>
                </p:grpSpPr>
                <p:sp>
                  <p:nvSpPr>
                    <p:cNvPr id="1747"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8"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9"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1" name="Group 2289"/>
                  <p:cNvGrpSpPr/>
                  <p:nvPr/>
                </p:nvGrpSpPr>
                <p:grpSpPr bwMode="auto">
                  <a:xfrm>
                    <a:off x="853" y="3612"/>
                    <a:ext cx="48" cy="23"/>
                    <a:chOff x="853" y="3612"/>
                    <a:chExt cx="48" cy="23"/>
                  </a:xfrm>
                </p:grpSpPr>
                <p:sp>
                  <p:nvSpPr>
                    <p:cNvPr id="1744"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5"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6"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2" name="Group 2293"/>
                  <p:cNvGrpSpPr/>
                  <p:nvPr/>
                </p:nvGrpSpPr>
                <p:grpSpPr bwMode="auto">
                  <a:xfrm>
                    <a:off x="865" y="3625"/>
                    <a:ext cx="49" cy="23"/>
                    <a:chOff x="865" y="3625"/>
                    <a:chExt cx="49" cy="23"/>
                  </a:xfrm>
                </p:grpSpPr>
                <p:sp>
                  <p:nvSpPr>
                    <p:cNvPr id="1741"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2"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3"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3" name="Group 2297"/>
                  <p:cNvGrpSpPr/>
                  <p:nvPr/>
                </p:nvGrpSpPr>
                <p:grpSpPr bwMode="auto">
                  <a:xfrm>
                    <a:off x="878" y="3638"/>
                    <a:ext cx="49" cy="22"/>
                    <a:chOff x="878" y="3638"/>
                    <a:chExt cx="49" cy="22"/>
                  </a:xfrm>
                </p:grpSpPr>
                <p:sp>
                  <p:nvSpPr>
                    <p:cNvPr id="1738"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9"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0"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4" name="Group 2301"/>
                  <p:cNvGrpSpPr/>
                  <p:nvPr/>
                </p:nvGrpSpPr>
                <p:grpSpPr bwMode="auto">
                  <a:xfrm>
                    <a:off x="890" y="3651"/>
                    <a:ext cx="50" cy="22"/>
                    <a:chOff x="890" y="3651"/>
                    <a:chExt cx="50" cy="22"/>
                  </a:xfrm>
                </p:grpSpPr>
                <p:sp>
                  <p:nvSpPr>
                    <p:cNvPr id="1735"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6"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7"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1" name="Group 2305"/>
                <p:cNvGrpSpPr/>
                <p:nvPr/>
              </p:nvGrpSpPr>
              <p:grpSpPr bwMode="auto">
                <a:xfrm>
                  <a:off x="903" y="3665"/>
                  <a:ext cx="99" cy="74"/>
                  <a:chOff x="903" y="3665"/>
                  <a:chExt cx="99" cy="74"/>
                </a:xfrm>
              </p:grpSpPr>
              <p:grpSp>
                <p:nvGrpSpPr>
                  <p:cNvPr id="1710" name="Group 2306"/>
                  <p:cNvGrpSpPr/>
                  <p:nvPr/>
                </p:nvGrpSpPr>
                <p:grpSpPr bwMode="auto">
                  <a:xfrm>
                    <a:off x="903" y="3665"/>
                    <a:ext cx="49" cy="23"/>
                    <a:chOff x="903" y="3665"/>
                    <a:chExt cx="49" cy="23"/>
                  </a:xfrm>
                </p:grpSpPr>
                <p:sp>
                  <p:nvSpPr>
                    <p:cNvPr id="1727"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8"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9"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1" name="Group 2310"/>
                  <p:cNvGrpSpPr/>
                  <p:nvPr/>
                </p:nvGrpSpPr>
                <p:grpSpPr bwMode="auto">
                  <a:xfrm>
                    <a:off x="914" y="3678"/>
                    <a:ext cx="49" cy="23"/>
                    <a:chOff x="914" y="3678"/>
                    <a:chExt cx="49" cy="23"/>
                  </a:xfrm>
                </p:grpSpPr>
                <p:sp>
                  <p:nvSpPr>
                    <p:cNvPr id="1724"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5"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6"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2" name="Group 2314"/>
                  <p:cNvGrpSpPr/>
                  <p:nvPr/>
                </p:nvGrpSpPr>
                <p:grpSpPr bwMode="auto">
                  <a:xfrm>
                    <a:off x="928" y="3690"/>
                    <a:ext cx="48" cy="23"/>
                    <a:chOff x="928" y="3690"/>
                    <a:chExt cx="48" cy="23"/>
                  </a:xfrm>
                </p:grpSpPr>
                <p:sp>
                  <p:nvSpPr>
                    <p:cNvPr id="1721"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2"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3"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3" name="Group 2318"/>
                  <p:cNvGrpSpPr/>
                  <p:nvPr/>
                </p:nvGrpSpPr>
                <p:grpSpPr bwMode="auto">
                  <a:xfrm>
                    <a:off x="940" y="3703"/>
                    <a:ext cx="49" cy="23"/>
                    <a:chOff x="940" y="3703"/>
                    <a:chExt cx="49" cy="23"/>
                  </a:xfrm>
                </p:grpSpPr>
                <p:sp>
                  <p:nvSpPr>
                    <p:cNvPr id="1718"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9"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0"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4" name="Group 2322"/>
                  <p:cNvGrpSpPr/>
                  <p:nvPr/>
                </p:nvGrpSpPr>
                <p:grpSpPr bwMode="auto">
                  <a:xfrm>
                    <a:off x="953" y="3716"/>
                    <a:ext cx="49" cy="23"/>
                    <a:chOff x="953" y="3716"/>
                    <a:chExt cx="49" cy="23"/>
                  </a:xfrm>
                </p:grpSpPr>
                <p:sp>
                  <p:nvSpPr>
                    <p:cNvPr id="1715"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6"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7"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2" name="Group 2326"/>
                <p:cNvGrpSpPr/>
                <p:nvPr/>
              </p:nvGrpSpPr>
              <p:grpSpPr bwMode="auto">
                <a:xfrm>
                  <a:off x="963" y="3727"/>
                  <a:ext cx="49" cy="23"/>
                  <a:chOff x="963" y="3727"/>
                  <a:chExt cx="49" cy="23"/>
                </a:xfrm>
              </p:grpSpPr>
              <p:sp>
                <p:nvSpPr>
                  <p:cNvPr id="1707"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8"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9"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3" name="Group 2330"/>
                <p:cNvGrpSpPr/>
                <p:nvPr/>
              </p:nvGrpSpPr>
              <p:grpSpPr bwMode="auto">
                <a:xfrm>
                  <a:off x="976" y="3740"/>
                  <a:ext cx="50" cy="22"/>
                  <a:chOff x="976" y="3740"/>
                  <a:chExt cx="50" cy="22"/>
                </a:xfrm>
              </p:grpSpPr>
              <p:sp>
                <p:nvSpPr>
                  <p:cNvPr id="1704"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5"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6"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4" name="Group 2334"/>
                <p:cNvGrpSpPr/>
                <p:nvPr/>
              </p:nvGrpSpPr>
              <p:grpSpPr bwMode="auto">
                <a:xfrm>
                  <a:off x="761" y="3560"/>
                  <a:ext cx="50" cy="22"/>
                  <a:chOff x="761" y="3560"/>
                  <a:chExt cx="50" cy="22"/>
                </a:xfrm>
              </p:grpSpPr>
              <p:sp>
                <p:nvSpPr>
                  <p:cNvPr id="1701"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2"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3"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5" name="Group 2338"/>
                <p:cNvGrpSpPr/>
                <p:nvPr/>
              </p:nvGrpSpPr>
              <p:grpSpPr bwMode="auto">
                <a:xfrm>
                  <a:off x="774" y="3572"/>
                  <a:ext cx="49" cy="23"/>
                  <a:chOff x="774" y="3572"/>
                  <a:chExt cx="49" cy="23"/>
                </a:xfrm>
              </p:grpSpPr>
              <p:sp>
                <p:nvSpPr>
                  <p:cNvPr id="1698"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9"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0"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6" name="Group 2342"/>
                <p:cNvGrpSpPr/>
                <p:nvPr/>
              </p:nvGrpSpPr>
              <p:grpSpPr bwMode="auto">
                <a:xfrm>
                  <a:off x="787" y="3585"/>
                  <a:ext cx="49" cy="23"/>
                  <a:chOff x="787" y="3585"/>
                  <a:chExt cx="49" cy="23"/>
                </a:xfrm>
              </p:grpSpPr>
              <p:sp>
                <p:nvSpPr>
                  <p:cNvPr id="1695"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6"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7"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7" name="Group 2346"/>
                <p:cNvGrpSpPr/>
                <p:nvPr/>
              </p:nvGrpSpPr>
              <p:grpSpPr bwMode="auto">
                <a:xfrm>
                  <a:off x="799" y="3600"/>
                  <a:ext cx="99" cy="73"/>
                  <a:chOff x="799" y="3600"/>
                  <a:chExt cx="99" cy="73"/>
                </a:xfrm>
              </p:grpSpPr>
              <p:grpSp>
                <p:nvGrpSpPr>
                  <p:cNvPr id="1675" name="Group 2347"/>
                  <p:cNvGrpSpPr/>
                  <p:nvPr/>
                </p:nvGrpSpPr>
                <p:grpSpPr bwMode="auto">
                  <a:xfrm>
                    <a:off x="799" y="3600"/>
                    <a:ext cx="48" cy="23"/>
                    <a:chOff x="799" y="3600"/>
                    <a:chExt cx="48" cy="23"/>
                  </a:xfrm>
                </p:grpSpPr>
                <p:sp>
                  <p:nvSpPr>
                    <p:cNvPr id="1692"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3"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4"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6" name="Group 2351"/>
                  <p:cNvGrpSpPr/>
                  <p:nvPr/>
                </p:nvGrpSpPr>
                <p:grpSpPr bwMode="auto">
                  <a:xfrm>
                    <a:off x="811" y="3612"/>
                    <a:ext cx="48" cy="23"/>
                    <a:chOff x="811" y="3612"/>
                    <a:chExt cx="48" cy="23"/>
                  </a:xfrm>
                </p:grpSpPr>
                <p:sp>
                  <p:nvSpPr>
                    <p:cNvPr id="1689"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0"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1"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7" name="Group 2355"/>
                  <p:cNvGrpSpPr/>
                  <p:nvPr/>
                </p:nvGrpSpPr>
                <p:grpSpPr bwMode="auto">
                  <a:xfrm>
                    <a:off x="823" y="3625"/>
                    <a:ext cx="49" cy="23"/>
                    <a:chOff x="823" y="3625"/>
                    <a:chExt cx="49" cy="23"/>
                  </a:xfrm>
                </p:grpSpPr>
                <p:sp>
                  <p:nvSpPr>
                    <p:cNvPr id="1686"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7"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8"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8" name="Group 2359"/>
                  <p:cNvGrpSpPr/>
                  <p:nvPr/>
                </p:nvGrpSpPr>
                <p:grpSpPr bwMode="auto">
                  <a:xfrm>
                    <a:off x="836" y="3638"/>
                    <a:ext cx="50" cy="22"/>
                    <a:chOff x="836" y="3638"/>
                    <a:chExt cx="50" cy="22"/>
                  </a:xfrm>
                </p:grpSpPr>
                <p:sp>
                  <p:nvSpPr>
                    <p:cNvPr id="1683"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4"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5"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9" name="Group 2363"/>
                  <p:cNvGrpSpPr/>
                  <p:nvPr/>
                </p:nvGrpSpPr>
                <p:grpSpPr bwMode="auto">
                  <a:xfrm>
                    <a:off x="849" y="3651"/>
                    <a:ext cx="49" cy="22"/>
                    <a:chOff x="849" y="3651"/>
                    <a:chExt cx="49" cy="22"/>
                  </a:xfrm>
                </p:grpSpPr>
                <p:sp>
                  <p:nvSpPr>
                    <p:cNvPr id="1680"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1"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2"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8" name="Group 2367"/>
                <p:cNvGrpSpPr/>
                <p:nvPr/>
              </p:nvGrpSpPr>
              <p:grpSpPr bwMode="auto">
                <a:xfrm>
                  <a:off x="861" y="3665"/>
                  <a:ext cx="99" cy="74"/>
                  <a:chOff x="861" y="3665"/>
                  <a:chExt cx="99" cy="74"/>
                </a:xfrm>
              </p:grpSpPr>
              <p:grpSp>
                <p:nvGrpSpPr>
                  <p:cNvPr id="1655" name="Group 2368"/>
                  <p:cNvGrpSpPr/>
                  <p:nvPr/>
                </p:nvGrpSpPr>
                <p:grpSpPr bwMode="auto">
                  <a:xfrm>
                    <a:off x="861" y="3665"/>
                    <a:ext cx="50" cy="23"/>
                    <a:chOff x="861" y="3665"/>
                    <a:chExt cx="50" cy="23"/>
                  </a:xfrm>
                </p:grpSpPr>
                <p:sp>
                  <p:nvSpPr>
                    <p:cNvPr id="1672"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3"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4"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6" name="Group 2372"/>
                  <p:cNvGrpSpPr/>
                  <p:nvPr/>
                </p:nvGrpSpPr>
                <p:grpSpPr bwMode="auto">
                  <a:xfrm>
                    <a:off x="873" y="3678"/>
                    <a:ext cx="49" cy="23"/>
                    <a:chOff x="873" y="3678"/>
                    <a:chExt cx="49" cy="23"/>
                  </a:xfrm>
                </p:grpSpPr>
                <p:sp>
                  <p:nvSpPr>
                    <p:cNvPr id="1669"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0"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1"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7" name="Group 2376"/>
                  <p:cNvGrpSpPr/>
                  <p:nvPr/>
                </p:nvGrpSpPr>
                <p:grpSpPr bwMode="auto">
                  <a:xfrm>
                    <a:off x="886" y="3690"/>
                    <a:ext cx="49" cy="23"/>
                    <a:chOff x="886" y="3690"/>
                    <a:chExt cx="49" cy="23"/>
                  </a:xfrm>
                </p:grpSpPr>
                <p:sp>
                  <p:nvSpPr>
                    <p:cNvPr id="1666"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7"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8"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8" name="Group 2380"/>
                  <p:cNvGrpSpPr/>
                  <p:nvPr/>
                </p:nvGrpSpPr>
                <p:grpSpPr bwMode="auto">
                  <a:xfrm>
                    <a:off x="899" y="3703"/>
                    <a:ext cx="48" cy="23"/>
                    <a:chOff x="899" y="3703"/>
                    <a:chExt cx="48" cy="23"/>
                  </a:xfrm>
                </p:grpSpPr>
                <p:sp>
                  <p:nvSpPr>
                    <p:cNvPr id="1663"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4"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5"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9" name="Group 2384"/>
                  <p:cNvGrpSpPr/>
                  <p:nvPr/>
                </p:nvGrpSpPr>
                <p:grpSpPr bwMode="auto">
                  <a:xfrm>
                    <a:off x="912" y="3716"/>
                    <a:ext cx="48" cy="23"/>
                    <a:chOff x="912" y="3716"/>
                    <a:chExt cx="48" cy="23"/>
                  </a:xfrm>
                </p:grpSpPr>
                <p:sp>
                  <p:nvSpPr>
                    <p:cNvPr id="1660"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1"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2"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9" name="Group 2388"/>
                <p:cNvGrpSpPr/>
                <p:nvPr/>
              </p:nvGrpSpPr>
              <p:grpSpPr bwMode="auto">
                <a:xfrm>
                  <a:off x="922" y="3727"/>
                  <a:ext cx="49" cy="23"/>
                  <a:chOff x="922" y="3727"/>
                  <a:chExt cx="49" cy="23"/>
                </a:xfrm>
              </p:grpSpPr>
              <p:sp>
                <p:nvSpPr>
                  <p:cNvPr id="1652"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3"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4"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0" name="Group 2392"/>
                <p:cNvGrpSpPr/>
                <p:nvPr/>
              </p:nvGrpSpPr>
              <p:grpSpPr bwMode="auto">
                <a:xfrm>
                  <a:off x="895" y="3526"/>
                  <a:ext cx="44" cy="23"/>
                  <a:chOff x="895" y="3526"/>
                  <a:chExt cx="44" cy="23"/>
                </a:xfrm>
              </p:grpSpPr>
              <p:sp>
                <p:nvSpPr>
                  <p:cNvPr id="1649"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0"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1"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1" name="Group 2396"/>
                <p:cNvGrpSpPr/>
                <p:nvPr/>
              </p:nvGrpSpPr>
              <p:grpSpPr bwMode="auto">
                <a:xfrm>
                  <a:off x="907" y="3540"/>
                  <a:ext cx="45" cy="22"/>
                  <a:chOff x="907" y="3540"/>
                  <a:chExt cx="45" cy="22"/>
                </a:xfrm>
              </p:grpSpPr>
              <p:sp>
                <p:nvSpPr>
                  <p:cNvPr id="1646"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7"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8"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2" name="Group 2400"/>
                <p:cNvGrpSpPr/>
                <p:nvPr/>
              </p:nvGrpSpPr>
              <p:grpSpPr bwMode="auto">
                <a:xfrm>
                  <a:off x="920" y="3553"/>
                  <a:ext cx="45" cy="23"/>
                  <a:chOff x="920" y="3553"/>
                  <a:chExt cx="45" cy="23"/>
                </a:xfrm>
              </p:grpSpPr>
              <p:sp>
                <p:nvSpPr>
                  <p:cNvPr id="1643"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4"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5"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3" name="Group 2404"/>
                <p:cNvGrpSpPr/>
                <p:nvPr/>
              </p:nvGrpSpPr>
              <p:grpSpPr bwMode="auto">
                <a:xfrm>
                  <a:off x="934" y="3566"/>
                  <a:ext cx="44" cy="23"/>
                  <a:chOff x="934" y="3566"/>
                  <a:chExt cx="44" cy="23"/>
                </a:xfrm>
              </p:grpSpPr>
              <p:sp>
                <p:nvSpPr>
                  <p:cNvPr id="1640"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1"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2"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4" name="Group 2408"/>
                <p:cNvGrpSpPr/>
                <p:nvPr/>
              </p:nvGrpSpPr>
              <p:grpSpPr bwMode="auto">
                <a:xfrm>
                  <a:off x="949" y="3579"/>
                  <a:ext cx="83" cy="63"/>
                  <a:chOff x="949" y="3579"/>
                  <a:chExt cx="83" cy="63"/>
                </a:xfrm>
              </p:grpSpPr>
              <p:grpSp>
                <p:nvGrpSpPr>
                  <p:cNvPr id="1624" name="Group 2409"/>
                  <p:cNvGrpSpPr/>
                  <p:nvPr/>
                </p:nvGrpSpPr>
                <p:grpSpPr bwMode="auto">
                  <a:xfrm>
                    <a:off x="949" y="3579"/>
                    <a:ext cx="44" cy="23"/>
                    <a:chOff x="949" y="3579"/>
                    <a:chExt cx="44" cy="23"/>
                  </a:xfrm>
                </p:grpSpPr>
                <p:sp>
                  <p:nvSpPr>
                    <p:cNvPr id="1637"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8"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9"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5" name="Group 2413"/>
                  <p:cNvGrpSpPr/>
                  <p:nvPr/>
                </p:nvGrpSpPr>
                <p:grpSpPr bwMode="auto">
                  <a:xfrm>
                    <a:off x="961" y="3592"/>
                    <a:ext cx="45" cy="23"/>
                    <a:chOff x="961" y="3592"/>
                    <a:chExt cx="45" cy="23"/>
                  </a:xfrm>
                </p:grpSpPr>
                <p:sp>
                  <p:nvSpPr>
                    <p:cNvPr id="1634"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5"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6"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6" name="Group 2417"/>
                  <p:cNvGrpSpPr/>
                  <p:nvPr/>
                </p:nvGrpSpPr>
                <p:grpSpPr bwMode="auto">
                  <a:xfrm>
                    <a:off x="974" y="3606"/>
                    <a:ext cx="44" cy="23"/>
                    <a:chOff x="974" y="3606"/>
                    <a:chExt cx="44" cy="23"/>
                  </a:xfrm>
                </p:grpSpPr>
                <p:sp>
                  <p:nvSpPr>
                    <p:cNvPr id="1631"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2"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3"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7" name="Group 2421"/>
                  <p:cNvGrpSpPr/>
                  <p:nvPr/>
                </p:nvGrpSpPr>
                <p:grpSpPr bwMode="auto">
                  <a:xfrm>
                    <a:off x="987" y="3619"/>
                    <a:ext cx="45" cy="23"/>
                    <a:chOff x="987" y="3619"/>
                    <a:chExt cx="45" cy="23"/>
                  </a:xfrm>
                </p:grpSpPr>
                <p:sp>
                  <p:nvSpPr>
                    <p:cNvPr id="1628"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9"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0"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5" name="Group 2425"/>
                <p:cNvGrpSpPr/>
                <p:nvPr/>
              </p:nvGrpSpPr>
              <p:grpSpPr bwMode="auto">
                <a:xfrm>
                  <a:off x="1002" y="3632"/>
                  <a:ext cx="83" cy="63"/>
                  <a:chOff x="1002" y="3632"/>
                  <a:chExt cx="83" cy="63"/>
                </a:xfrm>
              </p:grpSpPr>
              <p:grpSp>
                <p:nvGrpSpPr>
                  <p:cNvPr id="1608" name="Group 2426"/>
                  <p:cNvGrpSpPr/>
                  <p:nvPr/>
                </p:nvGrpSpPr>
                <p:grpSpPr bwMode="auto">
                  <a:xfrm>
                    <a:off x="1002" y="3632"/>
                    <a:ext cx="44" cy="22"/>
                    <a:chOff x="1002" y="3632"/>
                    <a:chExt cx="44" cy="22"/>
                  </a:xfrm>
                </p:grpSpPr>
                <p:sp>
                  <p:nvSpPr>
                    <p:cNvPr id="1621"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2"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3"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9" name="Group 2430"/>
                  <p:cNvGrpSpPr/>
                  <p:nvPr/>
                </p:nvGrpSpPr>
                <p:grpSpPr bwMode="auto">
                  <a:xfrm>
                    <a:off x="1014" y="3645"/>
                    <a:ext cx="44" cy="23"/>
                    <a:chOff x="1014" y="3645"/>
                    <a:chExt cx="44" cy="23"/>
                  </a:xfrm>
                </p:grpSpPr>
                <p:sp>
                  <p:nvSpPr>
                    <p:cNvPr id="1618"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9"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0"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0" name="Group 2434"/>
                  <p:cNvGrpSpPr/>
                  <p:nvPr/>
                </p:nvGrpSpPr>
                <p:grpSpPr bwMode="auto">
                  <a:xfrm>
                    <a:off x="1027" y="3659"/>
                    <a:ext cx="45" cy="23"/>
                    <a:chOff x="1027" y="3659"/>
                    <a:chExt cx="45" cy="23"/>
                  </a:xfrm>
                </p:grpSpPr>
                <p:sp>
                  <p:nvSpPr>
                    <p:cNvPr id="1615"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6"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7"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1" name="Group 2438"/>
                  <p:cNvGrpSpPr/>
                  <p:nvPr/>
                </p:nvGrpSpPr>
                <p:grpSpPr bwMode="auto">
                  <a:xfrm>
                    <a:off x="1040" y="3672"/>
                    <a:ext cx="45" cy="23"/>
                    <a:chOff x="1040" y="3672"/>
                    <a:chExt cx="45" cy="23"/>
                  </a:xfrm>
                </p:grpSpPr>
                <p:sp>
                  <p:nvSpPr>
                    <p:cNvPr id="1612"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3"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4"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6" name="Group 2442"/>
                <p:cNvGrpSpPr/>
                <p:nvPr/>
              </p:nvGrpSpPr>
              <p:grpSpPr bwMode="auto">
                <a:xfrm>
                  <a:off x="1054" y="3685"/>
                  <a:ext cx="45" cy="23"/>
                  <a:chOff x="1054" y="3685"/>
                  <a:chExt cx="45" cy="23"/>
                </a:xfrm>
              </p:grpSpPr>
              <p:sp>
                <p:nvSpPr>
                  <p:cNvPr id="1605"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6"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7"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7" name="Group 2446"/>
                <p:cNvGrpSpPr/>
                <p:nvPr/>
              </p:nvGrpSpPr>
              <p:grpSpPr bwMode="auto">
                <a:xfrm>
                  <a:off x="1067" y="3698"/>
                  <a:ext cx="45" cy="23"/>
                  <a:chOff x="1067" y="3698"/>
                  <a:chExt cx="45" cy="23"/>
                </a:xfrm>
              </p:grpSpPr>
              <p:sp>
                <p:nvSpPr>
                  <p:cNvPr id="1602"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3"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4"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8" name="Group 2450"/>
                <p:cNvGrpSpPr/>
                <p:nvPr/>
              </p:nvGrpSpPr>
              <p:grpSpPr bwMode="auto">
                <a:xfrm>
                  <a:off x="1079" y="3712"/>
                  <a:ext cx="44" cy="23"/>
                  <a:chOff x="1079" y="3712"/>
                  <a:chExt cx="44" cy="23"/>
                </a:xfrm>
              </p:grpSpPr>
              <p:sp>
                <p:nvSpPr>
                  <p:cNvPr id="1599"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0"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1"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9" name="Group 2454"/>
                <p:cNvGrpSpPr/>
                <p:nvPr/>
              </p:nvGrpSpPr>
              <p:grpSpPr bwMode="auto">
                <a:xfrm>
                  <a:off x="1093" y="3725"/>
                  <a:ext cx="45" cy="23"/>
                  <a:chOff x="1093" y="3725"/>
                  <a:chExt cx="45" cy="23"/>
                </a:xfrm>
              </p:grpSpPr>
              <p:sp>
                <p:nvSpPr>
                  <p:cNvPr id="1596"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7"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8"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0" name="Group 2458"/>
                <p:cNvGrpSpPr/>
                <p:nvPr/>
              </p:nvGrpSpPr>
              <p:grpSpPr bwMode="auto">
                <a:xfrm>
                  <a:off x="1108" y="3739"/>
                  <a:ext cx="44" cy="23"/>
                  <a:chOff x="1108" y="3739"/>
                  <a:chExt cx="44" cy="23"/>
                </a:xfrm>
              </p:grpSpPr>
              <p:sp>
                <p:nvSpPr>
                  <p:cNvPr id="1593"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4"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5"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1" name="Group 2462"/>
                <p:cNvGrpSpPr/>
                <p:nvPr/>
              </p:nvGrpSpPr>
              <p:grpSpPr bwMode="auto">
                <a:xfrm>
                  <a:off x="1121" y="3753"/>
                  <a:ext cx="45" cy="23"/>
                  <a:chOff x="1121" y="3753"/>
                  <a:chExt cx="45" cy="23"/>
                </a:xfrm>
              </p:grpSpPr>
              <p:sp>
                <p:nvSpPr>
                  <p:cNvPr id="1590"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1"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2"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2" name="Group 2466"/>
                <p:cNvGrpSpPr/>
                <p:nvPr/>
              </p:nvGrpSpPr>
              <p:grpSpPr bwMode="auto">
                <a:xfrm>
                  <a:off x="1133" y="3767"/>
                  <a:ext cx="44" cy="23"/>
                  <a:chOff x="1133" y="3767"/>
                  <a:chExt cx="44" cy="23"/>
                </a:xfrm>
              </p:grpSpPr>
              <p:sp>
                <p:nvSpPr>
                  <p:cNvPr id="1587"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8"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9"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33"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4"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5"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6"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7"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8"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9"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0"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1"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2"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3"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44" name="Group 2481"/>
                <p:cNvGrpSpPr/>
                <p:nvPr/>
              </p:nvGrpSpPr>
              <p:grpSpPr bwMode="auto">
                <a:xfrm>
                  <a:off x="700" y="3535"/>
                  <a:ext cx="49" cy="24"/>
                  <a:chOff x="700" y="3535"/>
                  <a:chExt cx="49" cy="24"/>
                </a:xfrm>
              </p:grpSpPr>
              <p:sp>
                <p:nvSpPr>
                  <p:cNvPr id="1584"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5"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6"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5" name="Group 2485"/>
                <p:cNvGrpSpPr/>
                <p:nvPr/>
              </p:nvGrpSpPr>
              <p:grpSpPr bwMode="auto">
                <a:xfrm>
                  <a:off x="714" y="3551"/>
                  <a:ext cx="49" cy="22"/>
                  <a:chOff x="714" y="3551"/>
                  <a:chExt cx="49" cy="22"/>
                </a:xfrm>
              </p:grpSpPr>
              <p:sp>
                <p:nvSpPr>
                  <p:cNvPr id="1581"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2"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3"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6" name="Group 2489"/>
                <p:cNvGrpSpPr/>
                <p:nvPr/>
              </p:nvGrpSpPr>
              <p:grpSpPr bwMode="auto">
                <a:xfrm>
                  <a:off x="728" y="3564"/>
                  <a:ext cx="48" cy="23"/>
                  <a:chOff x="728" y="3564"/>
                  <a:chExt cx="48" cy="23"/>
                </a:xfrm>
              </p:grpSpPr>
              <p:sp>
                <p:nvSpPr>
                  <p:cNvPr id="1578"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9"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0"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7" name="Group 2493"/>
                <p:cNvGrpSpPr/>
                <p:nvPr/>
              </p:nvGrpSpPr>
              <p:grpSpPr bwMode="auto">
                <a:xfrm>
                  <a:off x="742" y="3582"/>
                  <a:ext cx="49" cy="23"/>
                  <a:chOff x="742" y="3582"/>
                  <a:chExt cx="49" cy="23"/>
                </a:xfrm>
              </p:grpSpPr>
              <p:sp>
                <p:nvSpPr>
                  <p:cNvPr id="1575"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6"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7"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8" name="Group 2497"/>
                <p:cNvGrpSpPr/>
                <p:nvPr/>
              </p:nvGrpSpPr>
              <p:grpSpPr bwMode="auto">
                <a:xfrm>
                  <a:off x="752" y="3597"/>
                  <a:ext cx="133" cy="106"/>
                  <a:chOff x="752" y="3597"/>
                  <a:chExt cx="133" cy="106"/>
                </a:xfrm>
              </p:grpSpPr>
              <p:sp>
                <p:nvSpPr>
                  <p:cNvPr id="1572"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3"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4"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9" name="Group 2501"/>
                <p:cNvGrpSpPr/>
                <p:nvPr/>
              </p:nvGrpSpPr>
              <p:grpSpPr bwMode="auto">
                <a:xfrm>
                  <a:off x="844" y="3694"/>
                  <a:ext cx="48" cy="23"/>
                  <a:chOff x="844" y="3694"/>
                  <a:chExt cx="48" cy="23"/>
                </a:xfrm>
              </p:grpSpPr>
              <p:sp>
                <p:nvSpPr>
                  <p:cNvPr id="1569"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0"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1"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0" name="Group 2505"/>
                <p:cNvGrpSpPr/>
                <p:nvPr/>
              </p:nvGrpSpPr>
              <p:grpSpPr bwMode="auto">
                <a:xfrm>
                  <a:off x="857" y="3710"/>
                  <a:ext cx="49" cy="22"/>
                  <a:chOff x="857" y="3710"/>
                  <a:chExt cx="49" cy="22"/>
                </a:xfrm>
              </p:grpSpPr>
              <p:sp>
                <p:nvSpPr>
                  <p:cNvPr id="1566"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7"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8"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1" name="Group 2509"/>
                <p:cNvGrpSpPr/>
                <p:nvPr/>
              </p:nvGrpSpPr>
              <p:grpSpPr bwMode="auto">
                <a:xfrm>
                  <a:off x="1086" y="3766"/>
                  <a:ext cx="49" cy="23"/>
                  <a:chOff x="1086" y="3766"/>
                  <a:chExt cx="49" cy="23"/>
                </a:xfrm>
              </p:grpSpPr>
              <p:sp>
                <p:nvSpPr>
                  <p:cNvPr id="1563"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4"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5"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2" name="Group 2513"/>
                <p:cNvGrpSpPr/>
                <p:nvPr/>
              </p:nvGrpSpPr>
              <p:grpSpPr bwMode="auto">
                <a:xfrm>
                  <a:off x="934" y="3740"/>
                  <a:ext cx="48" cy="23"/>
                  <a:chOff x="934" y="3740"/>
                  <a:chExt cx="48" cy="23"/>
                </a:xfrm>
              </p:grpSpPr>
              <p:sp>
                <p:nvSpPr>
                  <p:cNvPr id="1560"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1"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2"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3" name="Group 2517"/>
                <p:cNvGrpSpPr/>
                <p:nvPr/>
              </p:nvGrpSpPr>
              <p:grpSpPr bwMode="auto">
                <a:xfrm>
                  <a:off x="943" y="3754"/>
                  <a:ext cx="49" cy="23"/>
                  <a:chOff x="943" y="3754"/>
                  <a:chExt cx="49" cy="23"/>
                </a:xfrm>
              </p:grpSpPr>
              <p:sp>
                <p:nvSpPr>
                  <p:cNvPr id="1557"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8"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9"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54"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5"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6"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51" name="Group 2524"/>
              <p:cNvGrpSpPr/>
              <p:nvPr/>
            </p:nvGrpSpPr>
            <p:grpSpPr bwMode="auto">
              <a:xfrm>
                <a:off x="920" y="3821"/>
                <a:ext cx="413" cy="50"/>
                <a:chOff x="920" y="3821"/>
                <a:chExt cx="413" cy="50"/>
              </a:xfrm>
            </p:grpSpPr>
            <p:sp>
              <p:nvSpPr>
                <p:cNvPr id="1472"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3"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4"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5"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452" name="Group 2529"/>
              <p:cNvGrpSpPr/>
              <p:nvPr/>
            </p:nvGrpSpPr>
            <p:grpSpPr bwMode="auto">
              <a:xfrm>
                <a:off x="1227" y="3477"/>
                <a:ext cx="508" cy="321"/>
                <a:chOff x="1227" y="3477"/>
                <a:chExt cx="508" cy="321"/>
              </a:xfrm>
            </p:grpSpPr>
            <p:sp>
              <p:nvSpPr>
                <p:cNvPr id="1453"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4"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5"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6"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7"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8"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9"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0"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1"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2"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3"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4"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5"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6"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7"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8"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9"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0"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1"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890" name="Group 2096"/>
            <p:cNvGrpSpPr/>
            <p:nvPr/>
          </p:nvGrpSpPr>
          <p:grpSpPr bwMode="auto">
            <a:xfrm>
              <a:off x="4572000" y="1700213"/>
              <a:ext cx="431800" cy="330200"/>
              <a:chOff x="624" y="2968"/>
              <a:chExt cx="1331" cy="920"/>
            </a:xfrm>
          </p:grpSpPr>
          <p:sp>
            <p:nvSpPr>
              <p:cNvPr id="1891"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2"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3"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4"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5"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6"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7"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8"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9"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0"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1"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2"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03" name="Group 2109"/>
              <p:cNvGrpSpPr/>
              <p:nvPr/>
            </p:nvGrpSpPr>
            <p:grpSpPr bwMode="auto">
              <a:xfrm>
                <a:off x="700" y="3526"/>
                <a:ext cx="515" cy="270"/>
                <a:chOff x="700" y="3526"/>
                <a:chExt cx="515" cy="270"/>
              </a:xfrm>
            </p:grpSpPr>
            <p:grpSp>
              <p:nvGrpSpPr>
                <p:cNvPr id="1929" name="Group 2110"/>
                <p:cNvGrpSpPr/>
                <p:nvPr/>
              </p:nvGrpSpPr>
              <p:grpSpPr bwMode="auto">
                <a:xfrm>
                  <a:off x="737" y="3534"/>
                  <a:ext cx="49" cy="23"/>
                  <a:chOff x="737" y="3534"/>
                  <a:chExt cx="49" cy="23"/>
                </a:xfrm>
              </p:grpSpPr>
              <p:sp>
                <p:nvSpPr>
                  <p:cNvPr id="2340"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1"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2"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0" name="Group 2114"/>
                <p:cNvGrpSpPr/>
                <p:nvPr/>
              </p:nvGrpSpPr>
              <p:grpSpPr bwMode="auto">
                <a:xfrm>
                  <a:off x="748" y="3547"/>
                  <a:ext cx="50" cy="23"/>
                  <a:chOff x="748" y="3547"/>
                  <a:chExt cx="50" cy="23"/>
                </a:xfrm>
              </p:grpSpPr>
              <p:sp>
                <p:nvSpPr>
                  <p:cNvPr id="2337"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8"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9"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31"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2"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3"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4"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5" name="Group 2122"/>
                <p:cNvGrpSpPr/>
                <p:nvPr/>
              </p:nvGrpSpPr>
              <p:grpSpPr bwMode="auto">
                <a:xfrm>
                  <a:off x="872" y="3547"/>
                  <a:ext cx="50" cy="23"/>
                  <a:chOff x="872" y="3547"/>
                  <a:chExt cx="50" cy="23"/>
                </a:xfrm>
              </p:grpSpPr>
              <p:sp>
                <p:nvSpPr>
                  <p:cNvPr id="2334"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5"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6"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6" name="Group 2126"/>
                <p:cNvGrpSpPr/>
                <p:nvPr/>
              </p:nvGrpSpPr>
              <p:grpSpPr bwMode="auto">
                <a:xfrm>
                  <a:off x="885" y="3559"/>
                  <a:ext cx="50" cy="23"/>
                  <a:chOff x="885" y="3559"/>
                  <a:chExt cx="50" cy="23"/>
                </a:xfrm>
              </p:grpSpPr>
              <p:sp>
                <p:nvSpPr>
                  <p:cNvPr id="2331"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2"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3"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7" name="Group 2130"/>
                <p:cNvGrpSpPr/>
                <p:nvPr/>
              </p:nvGrpSpPr>
              <p:grpSpPr bwMode="auto">
                <a:xfrm>
                  <a:off x="898" y="3571"/>
                  <a:ext cx="49" cy="23"/>
                  <a:chOff x="898" y="3571"/>
                  <a:chExt cx="49" cy="23"/>
                </a:xfrm>
              </p:grpSpPr>
              <p:sp>
                <p:nvSpPr>
                  <p:cNvPr id="2328"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9"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0"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8" name="Group 2134"/>
                <p:cNvGrpSpPr/>
                <p:nvPr/>
              </p:nvGrpSpPr>
              <p:grpSpPr bwMode="auto">
                <a:xfrm>
                  <a:off x="911" y="3585"/>
                  <a:ext cx="49" cy="23"/>
                  <a:chOff x="911" y="3585"/>
                  <a:chExt cx="49" cy="23"/>
                </a:xfrm>
              </p:grpSpPr>
              <p:sp>
                <p:nvSpPr>
                  <p:cNvPr id="2325"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6"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7"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9" name="Group 2138"/>
                <p:cNvGrpSpPr/>
                <p:nvPr/>
              </p:nvGrpSpPr>
              <p:grpSpPr bwMode="auto">
                <a:xfrm>
                  <a:off x="923" y="3600"/>
                  <a:ext cx="99" cy="73"/>
                  <a:chOff x="923" y="3600"/>
                  <a:chExt cx="99" cy="73"/>
                </a:xfrm>
              </p:grpSpPr>
              <p:grpSp>
                <p:nvGrpSpPr>
                  <p:cNvPr id="2305" name="Group 2139"/>
                  <p:cNvGrpSpPr/>
                  <p:nvPr/>
                </p:nvGrpSpPr>
                <p:grpSpPr bwMode="auto">
                  <a:xfrm>
                    <a:off x="923" y="3600"/>
                    <a:ext cx="49" cy="23"/>
                    <a:chOff x="923" y="3600"/>
                    <a:chExt cx="49" cy="23"/>
                  </a:xfrm>
                </p:grpSpPr>
                <p:sp>
                  <p:nvSpPr>
                    <p:cNvPr id="2322"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3"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4"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6" name="Group 2143"/>
                  <p:cNvGrpSpPr/>
                  <p:nvPr/>
                </p:nvGrpSpPr>
                <p:grpSpPr bwMode="auto">
                  <a:xfrm>
                    <a:off x="935" y="3612"/>
                    <a:ext cx="48" cy="23"/>
                    <a:chOff x="935" y="3612"/>
                    <a:chExt cx="48" cy="23"/>
                  </a:xfrm>
                </p:grpSpPr>
                <p:sp>
                  <p:nvSpPr>
                    <p:cNvPr id="2319"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0"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1"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7" name="Group 2147"/>
                  <p:cNvGrpSpPr/>
                  <p:nvPr/>
                </p:nvGrpSpPr>
                <p:grpSpPr bwMode="auto">
                  <a:xfrm>
                    <a:off x="947" y="3625"/>
                    <a:ext cx="50" cy="22"/>
                    <a:chOff x="947" y="3625"/>
                    <a:chExt cx="50" cy="22"/>
                  </a:xfrm>
                </p:grpSpPr>
                <p:sp>
                  <p:nvSpPr>
                    <p:cNvPr id="2316"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7"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8"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8" name="Group 2151"/>
                  <p:cNvGrpSpPr/>
                  <p:nvPr/>
                </p:nvGrpSpPr>
                <p:grpSpPr bwMode="auto">
                  <a:xfrm>
                    <a:off x="960" y="3637"/>
                    <a:ext cx="50" cy="23"/>
                    <a:chOff x="960" y="3637"/>
                    <a:chExt cx="50" cy="23"/>
                  </a:xfrm>
                </p:grpSpPr>
                <p:sp>
                  <p:nvSpPr>
                    <p:cNvPr id="2313"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4"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5"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9" name="Group 2155"/>
                  <p:cNvGrpSpPr/>
                  <p:nvPr/>
                </p:nvGrpSpPr>
                <p:grpSpPr bwMode="auto">
                  <a:xfrm>
                    <a:off x="973" y="3650"/>
                    <a:ext cx="49" cy="23"/>
                    <a:chOff x="973" y="3650"/>
                    <a:chExt cx="49" cy="23"/>
                  </a:xfrm>
                </p:grpSpPr>
                <p:sp>
                  <p:nvSpPr>
                    <p:cNvPr id="2310"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1"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2"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0" name="Group 2159"/>
                <p:cNvGrpSpPr/>
                <p:nvPr/>
              </p:nvGrpSpPr>
              <p:grpSpPr bwMode="auto">
                <a:xfrm>
                  <a:off x="985" y="3665"/>
                  <a:ext cx="100" cy="73"/>
                  <a:chOff x="985" y="3665"/>
                  <a:chExt cx="100" cy="73"/>
                </a:xfrm>
              </p:grpSpPr>
              <p:grpSp>
                <p:nvGrpSpPr>
                  <p:cNvPr id="2285" name="Group 2160"/>
                  <p:cNvGrpSpPr/>
                  <p:nvPr/>
                </p:nvGrpSpPr>
                <p:grpSpPr bwMode="auto">
                  <a:xfrm>
                    <a:off x="985" y="3665"/>
                    <a:ext cx="50" cy="23"/>
                    <a:chOff x="985" y="3665"/>
                    <a:chExt cx="50" cy="23"/>
                  </a:xfrm>
                </p:grpSpPr>
                <p:sp>
                  <p:nvSpPr>
                    <p:cNvPr id="2302"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3"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4"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6" name="Group 2164"/>
                  <p:cNvGrpSpPr/>
                  <p:nvPr/>
                </p:nvGrpSpPr>
                <p:grpSpPr bwMode="auto">
                  <a:xfrm>
                    <a:off x="997" y="3677"/>
                    <a:ext cx="49" cy="23"/>
                    <a:chOff x="997" y="3677"/>
                    <a:chExt cx="49" cy="23"/>
                  </a:xfrm>
                </p:grpSpPr>
                <p:sp>
                  <p:nvSpPr>
                    <p:cNvPr id="2299"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0"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1"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7" name="Group 2168"/>
                  <p:cNvGrpSpPr/>
                  <p:nvPr/>
                </p:nvGrpSpPr>
                <p:grpSpPr bwMode="auto">
                  <a:xfrm>
                    <a:off x="1010" y="3690"/>
                    <a:ext cx="48" cy="23"/>
                    <a:chOff x="1010" y="3690"/>
                    <a:chExt cx="48" cy="23"/>
                  </a:xfrm>
                </p:grpSpPr>
                <p:sp>
                  <p:nvSpPr>
                    <p:cNvPr id="2296"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7"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8"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8" name="Group 2172"/>
                  <p:cNvGrpSpPr/>
                  <p:nvPr/>
                </p:nvGrpSpPr>
                <p:grpSpPr bwMode="auto">
                  <a:xfrm>
                    <a:off x="1023" y="3703"/>
                    <a:ext cx="49" cy="22"/>
                    <a:chOff x="1023" y="3703"/>
                    <a:chExt cx="49" cy="22"/>
                  </a:xfrm>
                </p:grpSpPr>
                <p:sp>
                  <p:nvSpPr>
                    <p:cNvPr id="2293"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4"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5"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9" name="Group 2176"/>
                  <p:cNvGrpSpPr/>
                  <p:nvPr/>
                </p:nvGrpSpPr>
                <p:grpSpPr bwMode="auto">
                  <a:xfrm>
                    <a:off x="1036" y="3716"/>
                    <a:ext cx="49" cy="22"/>
                    <a:chOff x="1036" y="3716"/>
                    <a:chExt cx="49" cy="22"/>
                  </a:xfrm>
                </p:grpSpPr>
                <p:sp>
                  <p:nvSpPr>
                    <p:cNvPr id="2290"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1"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2"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1" name="Group 2180"/>
                <p:cNvGrpSpPr/>
                <p:nvPr/>
              </p:nvGrpSpPr>
              <p:grpSpPr bwMode="auto">
                <a:xfrm>
                  <a:off x="1046" y="3727"/>
                  <a:ext cx="49" cy="23"/>
                  <a:chOff x="1046" y="3727"/>
                  <a:chExt cx="49" cy="23"/>
                </a:xfrm>
              </p:grpSpPr>
              <p:sp>
                <p:nvSpPr>
                  <p:cNvPr id="2282"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3"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4"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2" name="Group 2184"/>
                <p:cNvGrpSpPr/>
                <p:nvPr/>
              </p:nvGrpSpPr>
              <p:grpSpPr bwMode="auto">
                <a:xfrm>
                  <a:off x="1058" y="3739"/>
                  <a:ext cx="50" cy="23"/>
                  <a:chOff x="1058" y="3739"/>
                  <a:chExt cx="50" cy="23"/>
                </a:xfrm>
              </p:grpSpPr>
              <p:sp>
                <p:nvSpPr>
                  <p:cNvPr id="2279"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0"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1"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3" name="Group 2188"/>
                <p:cNvGrpSpPr/>
                <p:nvPr/>
              </p:nvGrpSpPr>
              <p:grpSpPr bwMode="auto">
                <a:xfrm>
                  <a:off x="1072" y="3753"/>
                  <a:ext cx="48" cy="22"/>
                  <a:chOff x="1072" y="3753"/>
                  <a:chExt cx="48" cy="22"/>
                </a:xfrm>
              </p:grpSpPr>
              <p:sp>
                <p:nvSpPr>
                  <p:cNvPr id="2276"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7"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8"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44"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5"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6"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47" name="Group 2195"/>
                <p:cNvGrpSpPr/>
                <p:nvPr/>
              </p:nvGrpSpPr>
              <p:grpSpPr bwMode="auto">
                <a:xfrm>
                  <a:off x="832" y="3547"/>
                  <a:ext cx="49" cy="23"/>
                  <a:chOff x="832" y="3547"/>
                  <a:chExt cx="49" cy="23"/>
                </a:xfrm>
              </p:grpSpPr>
              <p:sp>
                <p:nvSpPr>
                  <p:cNvPr id="2273"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4"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5"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8" name="Group 2199"/>
                <p:cNvGrpSpPr/>
                <p:nvPr/>
              </p:nvGrpSpPr>
              <p:grpSpPr bwMode="auto">
                <a:xfrm>
                  <a:off x="844" y="3560"/>
                  <a:ext cx="49" cy="22"/>
                  <a:chOff x="844" y="3560"/>
                  <a:chExt cx="49" cy="22"/>
                </a:xfrm>
              </p:grpSpPr>
              <p:sp>
                <p:nvSpPr>
                  <p:cNvPr id="2270"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1"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2"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9" name="Group 2203"/>
                <p:cNvGrpSpPr/>
                <p:nvPr/>
              </p:nvGrpSpPr>
              <p:grpSpPr bwMode="auto">
                <a:xfrm>
                  <a:off x="857" y="3572"/>
                  <a:ext cx="50" cy="23"/>
                  <a:chOff x="857" y="3572"/>
                  <a:chExt cx="50" cy="23"/>
                </a:xfrm>
              </p:grpSpPr>
              <p:sp>
                <p:nvSpPr>
                  <p:cNvPr id="2267"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8"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9"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0" name="Group 2207"/>
                <p:cNvGrpSpPr/>
                <p:nvPr/>
              </p:nvGrpSpPr>
              <p:grpSpPr bwMode="auto">
                <a:xfrm>
                  <a:off x="870" y="3585"/>
                  <a:ext cx="48" cy="23"/>
                  <a:chOff x="870" y="3585"/>
                  <a:chExt cx="48" cy="23"/>
                </a:xfrm>
              </p:grpSpPr>
              <p:sp>
                <p:nvSpPr>
                  <p:cNvPr id="2264"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5"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6"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1" name="Group 2211"/>
                <p:cNvGrpSpPr/>
                <p:nvPr/>
              </p:nvGrpSpPr>
              <p:grpSpPr bwMode="auto">
                <a:xfrm>
                  <a:off x="882" y="3600"/>
                  <a:ext cx="100" cy="73"/>
                  <a:chOff x="882" y="3600"/>
                  <a:chExt cx="100" cy="73"/>
                </a:xfrm>
              </p:grpSpPr>
              <p:grpSp>
                <p:nvGrpSpPr>
                  <p:cNvPr id="2244" name="Group 2212"/>
                  <p:cNvGrpSpPr/>
                  <p:nvPr/>
                </p:nvGrpSpPr>
                <p:grpSpPr bwMode="auto">
                  <a:xfrm>
                    <a:off x="882" y="3600"/>
                    <a:ext cx="49" cy="23"/>
                    <a:chOff x="882" y="3600"/>
                    <a:chExt cx="49" cy="23"/>
                  </a:xfrm>
                </p:grpSpPr>
                <p:sp>
                  <p:nvSpPr>
                    <p:cNvPr id="2261"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2"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3"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5" name="Group 2216"/>
                  <p:cNvGrpSpPr/>
                  <p:nvPr/>
                </p:nvGrpSpPr>
                <p:grpSpPr bwMode="auto">
                  <a:xfrm>
                    <a:off x="894" y="3612"/>
                    <a:ext cx="49" cy="23"/>
                    <a:chOff x="894" y="3612"/>
                    <a:chExt cx="49" cy="23"/>
                  </a:xfrm>
                </p:grpSpPr>
                <p:sp>
                  <p:nvSpPr>
                    <p:cNvPr id="2258"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9"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0"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6" name="Group 2220"/>
                  <p:cNvGrpSpPr/>
                  <p:nvPr/>
                </p:nvGrpSpPr>
                <p:grpSpPr bwMode="auto">
                  <a:xfrm>
                    <a:off x="907" y="3625"/>
                    <a:ext cx="49" cy="23"/>
                    <a:chOff x="907" y="3625"/>
                    <a:chExt cx="49" cy="23"/>
                  </a:xfrm>
                </p:grpSpPr>
                <p:sp>
                  <p:nvSpPr>
                    <p:cNvPr id="2255"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6"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7"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7" name="Group 2224"/>
                  <p:cNvGrpSpPr/>
                  <p:nvPr/>
                </p:nvGrpSpPr>
                <p:grpSpPr bwMode="auto">
                  <a:xfrm>
                    <a:off x="919" y="3638"/>
                    <a:ext cx="49" cy="22"/>
                    <a:chOff x="919" y="3638"/>
                    <a:chExt cx="49" cy="22"/>
                  </a:xfrm>
                </p:grpSpPr>
                <p:sp>
                  <p:nvSpPr>
                    <p:cNvPr id="2252"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3"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4"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8" name="Group 2228"/>
                  <p:cNvGrpSpPr/>
                  <p:nvPr/>
                </p:nvGrpSpPr>
                <p:grpSpPr bwMode="auto">
                  <a:xfrm>
                    <a:off x="932" y="3651"/>
                    <a:ext cx="50" cy="22"/>
                    <a:chOff x="932" y="3651"/>
                    <a:chExt cx="50" cy="22"/>
                  </a:xfrm>
                </p:grpSpPr>
                <p:sp>
                  <p:nvSpPr>
                    <p:cNvPr id="2249"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0"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1"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2" name="Group 2232"/>
                <p:cNvGrpSpPr/>
                <p:nvPr/>
              </p:nvGrpSpPr>
              <p:grpSpPr bwMode="auto">
                <a:xfrm>
                  <a:off x="944" y="3665"/>
                  <a:ext cx="99" cy="74"/>
                  <a:chOff x="944" y="3665"/>
                  <a:chExt cx="99" cy="74"/>
                </a:xfrm>
              </p:grpSpPr>
              <p:grpSp>
                <p:nvGrpSpPr>
                  <p:cNvPr id="2224" name="Group 2233"/>
                  <p:cNvGrpSpPr/>
                  <p:nvPr/>
                </p:nvGrpSpPr>
                <p:grpSpPr bwMode="auto">
                  <a:xfrm>
                    <a:off x="944" y="3665"/>
                    <a:ext cx="49" cy="23"/>
                    <a:chOff x="944" y="3665"/>
                    <a:chExt cx="49" cy="23"/>
                  </a:xfrm>
                </p:grpSpPr>
                <p:sp>
                  <p:nvSpPr>
                    <p:cNvPr id="2241"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2"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3"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5" name="Group 2237"/>
                  <p:cNvGrpSpPr/>
                  <p:nvPr/>
                </p:nvGrpSpPr>
                <p:grpSpPr bwMode="auto">
                  <a:xfrm>
                    <a:off x="957" y="3678"/>
                    <a:ext cx="48" cy="23"/>
                    <a:chOff x="957" y="3678"/>
                    <a:chExt cx="48" cy="23"/>
                  </a:xfrm>
                </p:grpSpPr>
                <p:sp>
                  <p:nvSpPr>
                    <p:cNvPr id="2238"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9"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0"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6" name="Group 2241"/>
                  <p:cNvGrpSpPr/>
                  <p:nvPr/>
                </p:nvGrpSpPr>
                <p:grpSpPr bwMode="auto">
                  <a:xfrm>
                    <a:off x="969" y="3690"/>
                    <a:ext cx="49" cy="23"/>
                    <a:chOff x="969" y="3690"/>
                    <a:chExt cx="49" cy="23"/>
                  </a:xfrm>
                </p:grpSpPr>
                <p:sp>
                  <p:nvSpPr>
                    <p:cNvPr id="2235"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6"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7"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7" name="Group 2245"/>
                  <p:cNvGrpSpPr/>
                  <p:nvPr/>
                </p:nvGrpSpPr>
                <p:grpSpPr bwMode="auto">
                  <a:xfrm>
                    <a:off x="982" y="3703"/>
                    <a:ext cx="49" cy="23"/>
                    <a:chOff x="982" y="3703"/>
                    <a:chExt cx="49" cy="23"/>
                  </a:xfrm>
                </p:grpSpPr>
                <p:sp>
                  <p:nvSpPr>
                    <p:cNvPr id="2232"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3"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4"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8" name="Group 2249"/>
                  <p:cNvGrpSpPr/>
                  <p:nvPr/>
                </p:nvGrpSpPr>
                <p:grpSpPr bwMode="auto">
                  <a:xfrm>
                    <a:off x="995" y="3716"/>
                    <a:ext cx="48" cy="23"/>
                    <a:chOff x="995" y="3716"/>
                    <a:chExt cx="48" cy="23"/>
                  </a:xfrm>
                </p:grpSpPr>
                <p:sp>
                  <p:nvSpPr>
                    <p:cNvPr id="2229"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0"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1"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3" name="Group 2253"/>
                <p:cNvGrpSpPr/>
                <p:nvPr/>
              </p:nvGrpSpPr>
              <p:grpSpPr bwMode="auto">
                <a:xfrm>
                  <a:off x="1005" y="3727"/>
                  <a:ext cx="49" cy="23"/>
                  <a:chOff x="1005" y="3727"/>
                  <a:chExt cx="49" cy="23"/>
                </a:xfrm>
              </p:grpSpPr>
              <p:sp>
                <p:nvSpPr>
                  <p:cNvPr id="2221"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2"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3"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4" name="Group 2257"/>
                <p:cNvGrpSpPr/>
                <p:nvPr/>
              </p:nvGrpSpPr>
              <p:grpSpPr bwMode="auto">
                <a:xfrm>
                  <a:off x="1018" y="3740"/>
                  <a:ext cx="49" cy="22"/>
                  <a:chOff x="1018" y="3740"/>
                  <a:chExt cx="49" cy="22"/>
                </a:xfrm>
              </p:grpSpPr>
              <p:sp>
                <p:nvSpPr>
                  <p:cNvPr id="2218"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9"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0"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5" name="Group 2261"/>
                <p:cNvGrpSpPr/>
                <p:nvPr/>
              </p:nvGrpSpPr>
              <p:grpSpPr bwMode="auto">
                <a:xfrm>
                  <a:off x="1030" y="3753"/>
                  <a:ext cx="49" cy="23"/>
                  <a:chOff x="1030" y="3753"/>
                  <a:chExt cx="49" cy="23"/>
                </a:xfrm>
              </p:grpSpPr>
              <p:sp>
                <p:nvSpPr>
                  <p:cNvPr id="2215"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6"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7"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56"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7"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8"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9" name="Group 2268"/>
                <p:cNvGrpSpPr/>
                <p:nvPr/>
              </p:nvGrpSpPr>
              <p:grpSpPr bwMode="auto">
                <a:xfrm>
                  <a:off x="790" y="3547"/>
                  <a:ext cx="49" cy="23"/>
                  <a:chOff x="790" y="3547"/>
                  <a:chExt cx="49" cy="23"/>
                </a:xfrm>
              </p:grpSpPr>
              <p:sp>
                <p:nvSpPr>
                  <p:cNvPr id="2212"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3"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4"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0" name="Group 2272"/>
                <p:cNvGrpSpPr/>
                <p:nvPr/>
              </p:nvGrpSpPr>
              <p:grpSpPr bwMode="auto">
                <a:xfrm>
                  <a:off x="803" y="3560"/>
                  <a:ext cx="49" cy="22"/>
                  <a:chOff x="803" y="3560"/>
                  <a:chExt cx="49" cy="22"/>
                </a:xfrm>
              </p:grpSpPr>
              <p:sp>
                <p:nvSpPr>
                  <p:cNvPr id="2209"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0"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1"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1" name="Group 2276"/>
                <p:cNvGrpSpPr/>
                <p:nvPr/>
              </p:nvGrpSpPr>
              <p:grpSpPr bwMode="auto">
                <a:xfrm>
                  <a:off x="815" y="3572"/>
                  <a:ext cx="50" cy="23"/>
                  <a:chOff x="815" y="3572"/>
                  <a:chExt cx="50" cy="23"/>
                </a:xfrm>
              </p:grpSpPr>
              <p:sp>
                <p:nvSpPr>
                  <p:cNvPr id="2206"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7"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8"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2" name="Group 2280"/>
                <p:cNvGrpSpPr/>
                <p:nvPr/>
              </p:nvGrpSpPr>
              <p:grpSpPr bwMode="auto">
                <a:xfrm>
                  <a:off x="828" y="3585"/>
                  <a:ext cx="49" cy="23"/>
                  <a:chOff x="828" y="3585"/>
                  <a:chExt cx="49" cy="23"/>
                </a:xfrm>
              </p:grpSpPr>
              <p:sp>
                <p:nvSpPr>
                  <p:cNvPr id="2203"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4"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5"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3" name="Group 2284"/>
                <p:cNvGrpSpPr/>
                <p:nvPr/>
              </p:nvGrpSpPr>
              <p:grpSpPr bwMode="auto">
                <a:xfrm>
                  <a:off x="840" y="3600"/>
                  <a:ext cx="100" cy="73"/>
                  <a:chOff x="840" y="3600"/>
                  <a:chExt cx="100" cy="73"/>
                </a:xfrm>
              </p:grpSpPr>
              <p:grpSp>
                <p:nvGrpSpPr>
                  <p:cNvPr id="2183" name="Group 2285"/>
                  <p:cNvGrpSpPr/>
                  <p:nvPr/>
                </p:nvGrpSpPr>
                <p:grpSpPr bwMode="auto">
                  <a:xfrm>
                    <a:off x="840" y="3600"/>
                    <a:ext cx="49" cy="23"/>
                    <a:chOff x="840" y="3600"/>
                    <a:chExt cx="49" cy="23"/>
                  </a:xfrm>
                </p:grpSpPr>
                <p:sp>
                  <p:nvSpPr>
                    <p:cNvPr id="2200"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1"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2"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4" name="Group 2289"/>
                  <p:cNvGrpSpPr/>
                  <p:nvPr/>
                </p:nvGrpSpPr>
                <p:grpSpPr bwMode="auto">
                  <a:xfrm>
                    <a:off x="853" y="3612"/>
                    <a:ext cx="48" cy="23"/>
                    <a:chOff x="853" y="3612"/>
                    <a:chExt cx="48" cy="23"/>
                  </a:xfrm>
                </p:grpSpPr>
                <p:sp>
                  <p:nvSpPr>
                    <p:cNvPr id="2197"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8"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9"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5" name="Group 2293"/>
                  <p:cNvGrpSpPr/>
                  <p:nvPr/>
                </p:nvGrpSpPr>
                <p:grpSpPr bwMode="auto">
                  <a:xfrm>
                    <a:off x="865" y="3625"/>
                    <a:ext cx="49" cy="23"/>
                    <a:chOff x="865" y="3625"/>
                    <a:chExt cx="49" cy="23"/>
                  </a:xfrm>
                </p:grpSpPr>
                <p:sp>
                  <p:nvSpPr>
                    <p:cNvPr id="2194"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5"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6"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6" name="Group 2297"/>
                  <p:cNvGrpSpPr/>
                  <p:nvPr/>
                </p:nvGrpSpPr>
                <p:grpSpPr bwMode="auto">
                  <a:xfrm>
                    <a:off x="878" y="3638"/>
                    <a:ext cx="49" cy="22"/>
                    <a:chOff x="878" y="3638"/>
                    <a:chExt cx="49" cy="22"/>
                  </a:xfrm>
                </p:grpSpPr>
                <p:sp>
                  <p:nvSpPr>
                    <p:cNvPr id="2191"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2"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3"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7" name="Group 2301"/>
                  <p:cNvGrpSpPr/>
                  <p:nvPr/>
                </p:nvGrpSpPr>
                <p:grpSpPr bwMode="auto">
                  <a:xfrm>
                    <a:off x="890" y="3651"/>
                    <a:ext cx="50" cy="22"/>
                    <a:chOff x="890" y="3651"/>
                    <a:chExt cx="50" cy="22"/>
                  </a:xfrm>
                </p:grpSpPr>
                <p:sp>
                  <p:nvSpPr>
                    <p:cNvPr id="2188"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9"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0"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4" name="Group 2305"/>
                <p:cNvGrpSpPr/>
                <p:nvPr/>
              </p:nvGrpSpPr>
              <p:grpSpPr bwMode="auto">
                <a:xfrm>
                  <a:off x="903" y="3665"/>
                  <a:ext cx="99" cy="74"/>
                  <a:chOff x="903" y="3665"/>
                  <a:chExt cx="99" cy="74"/>
                </a:xfrm>
              </p:grpSpPr>
              <p:grpSp>
                <p:nvGrpSpPr>
                  <p:cNvPr id="2163" name="Group 2306"/>
                  <p:cNvGrpSpPr/>
                  <p:nvPr/>
                </p:nvGrpSpPr>
                <p:grpSpPr bwMode="auto">
                  <a:xfrm>
                    <a:off x="903" y="3665"/>
                    <a:ext cx="49" cy="23"/>
                    <a:chOff x="903" y="3665"/>
                    <a:chExt cx="49" cy="23"/>
                  </a:xfrm>
                </p:grpSpPr>
                <p:sp>
                  <p:nvSpPr>
                    <p:cNvPr id="2180"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1"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2"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4" name="Group 2310"/>
                  <p:cNvGrpSpPr/>
                  <p:nvPr/>
                </p:nvGrpSpPr>
                <p:grpSpPr bwMode="auto">
                  <a:xfrm>
                    <a:off x="914" y="3678"/>
                    <a:ext cx="49" cy="23"/>
                    <a:chOff x="914" y="3678"/>
                    <a:chExt cx="49" cy="23"/>
                  </a:xfrm>
                </p:grpSpPr>
                <p:sp>
                  <p:nvSpPr>
                    <p:cNvPr id="2177"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8"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9"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5" name="Group 2314"/>
                  <p:cNvGrpSpPr/>
                  <p:nvPr/>
                </p:nvGrpSpPr>
                <p:grpSpPr bwMode="auto">
                  <a:xfrm>
                    <a:off x="928" y="3690"/>
                    <a:ext cx="48" cy="23"/>
                    <a:chOff x="928" y="3690"/>
                    <a:chExt cx="48" cy="23"/>
                  </a:xfrm>
                </p:grpSpPr>
                <p:sp>
                  <p:nvSpPr>
                    <p:cNvPr id="2174"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5"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6"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6" name="Group 2318"/>
                  <p:cNvGrpSpPr/>
                  <p:nvPr/>
                </p:nvGrpSpPr>
                <p:grpSpPr bwMode="auto">
                  <a:xfrm>
                    <a:off x="940" y="3703"/>
                    <a:ext cx="49" cy="23"/>
                    <a:chOff x="940" y="3703"/>
                    <a:chExt cx="49" cy="23"/>
                  </a:xfrm>
                </p:grpSpPr>
                <p:sp>
                  <p:nvSpPr>
                    <p:cNvPr id="2171"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2"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3"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7" name="Group 2322"/>
                  <p:cNvGrpSpPr/>
                  <p:nvPr/>
                </p:nvGrpSpPr>
                <p:grpSpPr bwMode="auto">
                  <a:xfrm>
                    <a:off x="953" y="3716"/>
                    <a:ext cx="49" cy="23"/>
                    <a:chOff x="953" y="3716"/>
                    <a:chExt cx="49" cy="23"/>
                  </a:xfrm>
                </p:grpSpPr>
                <p:sp>
                  <p:nvSpPr>
                    <p:cNvPr id="2168"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9"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0"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5" name="Group 2326"/>
                <p:cNvGrpSpPr/>
                <p:nvPr/>
              </p:nvGrpSpPr>
              <p:grpSpPr bwMode="auto">
                <a:xfrm>
                  <a:off x="963" y="3727"/>
                  <a:ext cx="49" cy="23"/>
                  <a:chOff x="963" y="3727"/>
                  <a:chExt cx="49" cy="23"/>
                </a:xfrm>
              </p:grpSpPr>
              <p:sp>
                <p:nvSpPr>
                  <p:cNvPr id="2160"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1"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2"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6" name="Group 2330"/>
                <p:cNvGrpSpPr/>
                <p:nvPr/>
              </p:nvGrpSpPr>
              <p:grpSpPr bwMode="auto">
                <a:xfrm>
                  <a:off x="976" y="3740"/>
                  <a:ext cx="50" cy="22"/>
                  <a:chOff x="976" y="3740"/>
                  <a:chExt cx="50" cy="22"/>
                </a:xfrm>
              </p:grpSpPr>
              <p:sp>
                <p:nvSpPr>
                  <p:cNvPr id="2157"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8"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9"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7" name="Group 2334"/>
                <p:cNvGrpSpPr/>
                <p:nvPr/>
              </p:nvGrpSpPr>
              <p:grpSpPr bwMode="auto">
                <a:xfrm>
                  <a:off x="761" y="3560"/>
                  <a:ext cx="50" cy="22"/>
                  <a:chOff x="761" y="3560"/>
                  <a:chExt cx="50" cy="22"/>
                </a:xfrm>
              </p:grpSpPr>
              <p:sp>
                <p:nvSpPr>
                  <p:cNvPr id="2154"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5"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6"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8" name="Group 2338"/>
                <p:cNvGrpSpPr/>
                <p:nvPr/>
              </p:nvGrpSpPr>
              <p:grpSpPr bwMode="auto">
                <a:xfrm>
                  <a:off x="774" y="3572"/>
                  <a:ext cx="49" cy="23"/>
                  <a:chOff x="774" y="3572"/>
                  <a:chExt cx="49" cy="23"/>
                </a:xfrm>
              </p:grpSpPr>
              <p:sp>
                <p:nvSpPr>
                  <p:cNvPr id="2151"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2"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3"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9" name="Group 2342"/>
                <p:cNvGrpSpPr/>
                <p:nvPr/>
              </p:nvGrpSpPr>
              <p:grpSpPr bwMode="auto">
                <a:xfrm>
                  <a:off x="787" y="3585"/>
                  <a:ext cx="49" cy="23"/>
                  <a:chOff x="787" y="3585"/>
                  <a:chExt cx="49" cy="23"/>
                </a:xfrm>
              </p:grpSpPr>
              <p:sp>
                <p:nvSpPr>
                  <p:cNvPr id="2148"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9"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0"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0" name="Group 2346"/>
                <p:cNvGrpSpPr/>
                <p:nvPr/>
              </p:nvGrpSpPr>
              <p:grpSpPr bwMode="auto">
                <a:xfrm>
                  <a:off x="799" y="3600"/>
                  <a:ext cx="99" cy="73"/>
                  <a:chOff x="799" y="3600"/>
                  <a:chExt cx="99" cy="73"/>
                </a:xfrm>
              </p:grpSpPr>
              <p:grpSp>
                <p:nvGrpSpPr>
                  <p:cNvPr id="2128" name="Group 2347"/>
                  <p:cNvGrpSpPr/>
                  <p:nvPr/>
                </p:nvGrpSpPr>
                <p:grpSpPr bwMode="auto">
                  <a:xfrm>
                    <a:off x="799" y="3600"/>
                    <a:ext cx="48" cy="23"/>
                    <a:chOff x="799" y="3600"/>
                    <a:chExt cx="48" cy="23"/>
                  </a:xfrm>
                </p:grpSpPr>
                <p:sp>
                  <p:nvSpPr>
                    <p:cNvPr id="2145"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6"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7"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29" name="Group 2351"/>
                  <p:cNvGrpSpPr/>
                  <p:nvPr/>
                </p:nvGrpSpPr>
                <p:grpSpPr bwMode="auto">
                  <a:xfrm>
                    <a:off x="811" y="3612"/>
                    <a:ext cx="48" cy="23"/>
                    <a:chOff x="811" y="3612"/>
                    <a:chExt cx="48" cy="23"/>
                  </a:xfrm>
                </p:grpSpPr>
                <p:sp>
                  <p:nvSpPr>
                    <p:cNvPr id="2142"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3"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4"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0" name="Group 2355"/>
                  <p:cNvGrpSpPr/>
                  <p:nvPr/>
                </p:nvGrpSpPr>
                <p:grpSpPr bwMode="auto">
                  <a:xfrm>
                    <a:off x="823" y="3625"/>
                    <a:ext cx="49" cy="23"/>
                    <a:chOff x="823" y="3625"/>
                    <a:chExt cx="49" cy="23"/>
                  </a:xfrm>
                </p:grpSpPr>
                <p:sp>
                  <p:nvSpPr>
                    <p:cNvPr id="2139"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0"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1"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1" name="Group 2359"/>
                  <p:cNvGrpSpPr/>
                  <p:nvPr/>
                </p:nvGrpSpPr>
                <p:grpSpPr bwMode="auto">
                  <a:xfrm>
                    <a:off x="836" y="3638"/>
                    <a:ext cx="50" cy="22"/>
                    <a:chOff x="836" y="3638"/>
                    <a:chExt cx="50" cy="22"/>
                  </a:xfrm>
                </p:grpSpPr>
                <p:sp>
                  <p:nvSpPr>
                    <p:cNvPr id="2136"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7"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8"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2" name="Group 2363"/>
                  <p:cNvGrpSpPr/>
                  <p:nvPr/>
                </p:nvGrpSpPr>
                <p:grpSpPr bwMode="auto">
                  <a:xfrm>
                    <a:off x="849" y="3651"/>
                    <a:ext cx="49" cy="22"/>
                    <a:chOff x="849" y="3651"/>
                    <a:chExt cx="49" cy="22"/>
                  </a:xfrm>
                </p:grpSpPr>
                <p:sp>
                  <p:nvSpPr>
                    <p:cNvPr id="2133"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4"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5"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1" name="Group 2367"/>
                <p:cNvGrpSpPr/>
                <p:nvPr/>
              </p:nvGrpSpPr>
              <p:grpSpPr bwMode="auto">
                <a:xfrm>
                  <a:off x="861" y="3665"/>
                  <a:ext cx="99" cy="74"/>
                  <a:chOff x="861" y="3665"/>
                  <a:chExt cx="99" cy="74"/>
                </a:xfrm>
              </p:grpSpPr>
              <p:grpSp>
                <p:nvGrpSpPr>
                  <p:cNvPr id="2108" name="Group 2368"/>
                  <p:cNvGrpSpPr/>
                  <p:nvPr/>
                </p:nvGrpSpPr>
                <p:grpSpPr bwMode="auto">
                  <a:xfrm>
                    <a:off x="861" y="3665"/>
                    <a:ext cx="50" cy="23"/>
                    <a:chOff x="861" y="3665"/>
                    <a:chExt cx="50" cy="23"/>
                  </a:xfrm>
                </p:grpSpPr>
                <p:sp>
                  <p:nvSpPr>
                    <p:cNvPr id="2125"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6"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7"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09" name="Group 2372"/>
                  <p:cNvGrpSpPr/>
                  <p:nvPr/>
                </p:nvGrpSpPr>
                <p:grpSpPr bwMode="auto">
                  <a:xfrm>
                    <a:off x="873" y="3678"/>
                    <a:ext cx="49" cy="23"/>
                    <a:chOff x="873" y="3678"/>
                    <a:chExt cx="49" cy="23"/>
                  </a:xfrm>
                </p:grpSpPr>
                <p:sp>
                  <p:nvSpPr>
                    <p:cNvPr id="2122"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3"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4"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0" name="Group 2376"/>
                  <p:cNvGrpSpPr/>
                  <p:nvPr/>
                </p:nvGrpSpPr>
                <p:grpSpPr bwMode="auto">
                  <a:xfrm>
                    <a:off x="886" y="3690"/>
                    <a:ext cx="49" cy="23"/>
                    <a:chOff x="886" y="3690"/>
                    <a:chExt cx="49" cy="23"/>
                  </a:xfrm>
                </p:grpSpPr>
                <p:sp>
                  <p:nvSpPr>
                    <p:cNvPr id="2119"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0"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1"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1" name="Group 2380"/>
                  <p:cNvGrpSpPr/>
                  <p:nvPr/>
                </p:nvGrpSpPr>
                <p:grpSpPr bwMode="auto">
                  <a:xfrm>
                    <a:off x="899" y="3703"/>
                    <a:ext cx="48" cy="23"/>
                    <a:chOff x="899" y="3703"/>
                    <a:chExt cx="48" cy="23"/>
                  </a:xfrm>
                </p:grpSpPr>
                <p:sp>
                  <p:nvSpPr>
                    <p:cNvPr id="2116"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7"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8"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2" name="Group 2384"/>
                  <p:cNvGrpSpPr/>
                  <p:nvPr/>
                </p:nvGrpSpPr>
                <p:grpSpPr bwMode="auto">
                  <a:xfrm>
                    <a:off x="912" y="3716"/>
                    <a:ext cx="48" cy="23"/>
                    <a:chOff x="912" y="3716"/>
                    <a:chExt cx="48" cy="23"/>
                  </a:xfrm>
                </p:grpSpPr>
                <p:sp>
                  <p:nvSpPr>
                    <p:cNvPr id="2113"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4"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5"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2" name="Group 2388"/>
                <p:cNvGrpSpPr/>
                <p:nvPr/>
              </p:nvGrpSpPr>
              <p:grpSpPr bwMode="auto">
                <a:xfrm>
                  <a:off x="922" y="3727"/>
                  <a:ext cx="49" cy="23"/>
                  <a:chOff x="922" y="3727"/>
                  <a:chExt cx="49" cy="23"/>
                </a:xfrm>
              </p:grpSpPr>
              <p:sp>
                <p:nvSpPr>
                  <p:cNvPr id="2105"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6"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7"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3" name="Group 2392"/>
                <p:cNvGrpSpPr/>
                <p:nvPr/>
              </p:nvGrpSpPr>
              <p:grpSpPr bwMode="auto">
                <a:xfrm>
                  <a:off x="895" y="3526"/>
                  <a:ext cx="44" cy="23"/>
                  <a:chOff x="895" y="3526"/>
                  <a:chExt cx="44" cy="23"/>
                </a:xfrm>
              </p:grpSpPr>
              <p:sp>
                <p:nvSpPr>
                  <p:cNvPr id="2102"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3"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4"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4" name="Group 2396"/>
                <p:cNvGrpSpPr/>
                <p:nvPr/>
              </p:nvGrpSpPr>
              <p:grpSpPr bwMode="auto">
                <a:xfrm>
                  <a:off x="907" y="3540"/>
                  <a:ext cx="45" cy="22"/>
                  <a:chOff x="907" y="3540"/>
                  <a:chExt cx="45" cy="22"/>
                </a:xfrm>
              </p:grpSpPr>
              <p:sp>
                <p:nvSpPr>
                  <p:cNvPr id="2099"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0"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1"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5" name="Group 2400"/>
                <p:cNvGrpSpPr/>
                <p:nvPr/>
              </p:nvGrpSpPr>
              <p:grpSpPr bwMode="auto">
                <a:xfrm>
                  <a:off x="920" y="3553"/>
                  <a:ext cx="45" cy="23"/>
                  <a:chOff x="920" y="3553"/>
                  <a:chExt cx="45" cy="23"/>
                </a:xfrm>
              </p:grpSpPr>
              <p:sp>
                <p:nvSpPr>
                  <p:cNvPr id="2096"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7"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8"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6" name="Group 2404"/>
                <p:cNvGrpSpPr/>
                <p:nvPr/>
              </p:nvGrpSpPr>
              <p:grpSpPr bwMode="auto">
                <a:xfrm>
                  <a:off x="934" y="3566"/>
                  <a:ext cx="44" cy="23"/>
                  <a:chOff x="934" y="3566"/>
                  <a:chExt cx="44" cy="23"/>
                </a:xfrm>
              </p:grpSpPr>
              <p:sp>
                <p:nvSpPr>
                  <p:cNvPr id="2093"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4"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5"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7" name="Group 2408"/>
                <p:cNvGrpSpPr/>
                <p:nvPr/>
              </p:nvGrpSpPr>
              <p:grpSpPr bwMode="auto">
                <a:xfrm>
                  <a:off x="949" y="3579"/>
                  <a:ext cx="83" cy="63"/>
                  <a:chOff x="949" y="3579"/>
                  <a:chExt cx="83" cy="63"/>
                </a:xfrm>
              </p:grpSpPr>
              <p:grpSp>
                <p:nvGrpSpPr>
                  <p:cNvPr id="2077" name="Group 2409"/>
                  <p:cNvGrpSpPr/>
                  <p:nvPr/>
                </p:nvGrpSpPr>
                <p:grpSpPr bwMode="auto">
                  <a:xfrm>
                    <a:off x="949" y="3579"/>
                    <a:ext cx="44" cy="23"/>
                    <a:chOff x="949" y="3579"/>
                    <a:chExt cx="44" cy="23"/>
                  </a:xfrm>
                </p:grpSpPr>
                <p:sp>
                  <p:nvSpPr>
                    <p:cNvPr id="2090"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1"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2"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8" name="Group 2413"/>
                  <p:cNvGrpSpPr/>
                  <p:nvPr/>
                </p:nvGrpSpPr>
                <p:grpSpPr bwMode="auto">
                  <a:xfrm>
                    <a:off x="961" y="3592"/>
                    <a:ext cx="45" cy="23"/>
                    <a:chOff x="961" y="3592"/>
                    <a:chExt cx="45" cy="23"/>
                  </a:xfrm>
                </p:grpSpPr>
                <p:sp>
                  <p:nvSpPr>
                    <p:cNvPr id="2087"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8"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9"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9" name="Group 2417"/>
                  <p:cNvGrpSpPr/>
                  <p:nvPr/>
                </p:nvGrpSpPr>
                <p:grpSpPr bwMode="auto">
                  <a:xfrm>
                    <a:off x="974" y="3606"/>
                    <a:ext cx="44" cy="23"/>
                    <a:chOff x="974" y="3606"/>
                    <a:chExt cx="44" cy="23"/>
                  </a:xfrm>
                </p:grpSpPr>
                <p:sp>
                  <p:nvSpPr>
                    <p:cNvPr id="2084"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5"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6"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80" name="Group 2421"/>
                  <p:cNvGrpSpPr/>
                  <p:nvPr/>
                </p:nvGrpSpPr>
                <p:grpSpPr bwMode="auto">
                  <a:xfrm>
                    <a:off x="987" y="3619"/>
                    <a:ext cx="45" cy="23"/>
                    <a:chOff x="987" y="3619"/>
                    <a:chExt cx="45" cy="23"/>
                  </a:xfrm>
                </p:grpSpPr>
                <p:sp>
                  <p:nvSpPr>
                    <p:cNvPr id="2081"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2"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3"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8" name="Group 2425"/>
                <p:cNvGrpSpPr/>
                <p:nvPr/>
              </p:nvGrpSpPr>
              <p:grpSpPr bwMode="auto">
                <a:xfrm>
                  <a:off x="1002" y="3632"/>
                  <a:ext cx="83" cy="63"/>
                  <a:chOff x="1002" y="3632"/>
                  <a:chExt cx="83" cy="63"/>
                </a:xfrm>
              </p:grpSpPr>
              <p:grpSp>
                <p:nvGrpSpPr>
                  <p:cNvPr id="2061" name="Group 2426"/>
                  <p:cNvGrpSpPr/>
                  <p:nvPr/>
                </p:nvGrpSpPr>
                <p:grpSpPr bwMode="auto">
                  <a:xfrm>
                    <a:off x="1002" y="3632"/>
                    <a:ext cx="44" cy="22"/>
                    <a:chOff x="1002" y="3632"/>
                    <a:chExt cx="44" cy="22"/>
                  </a:xfrm>
                </p:grpSpPr>
                <p:sp>
                  <p:nvSpPr>
                    <p:cNvPr id="2074"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5"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6"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2" name="Group 2430"/>
                  <p:cNvGrpSpPr/>
                  <p:nvPr/>
                </p:nvGrpSpPr>
                <p:grpSpPr bwMode="auto">
                  <a:xfrm>
                    <a:off x="1014" y="3645"/>
                    <a:ext cx="44" cy="23"/>
                    <a:chOff x="1014" y="3645"/>
                    <a:chExt cx="44" cy="23"/>
                  </a:xfrm>
                </p:grpSpPr>
                <p:sp>
                  <p:nvSpPr>
                    <p:cNvPr id="2071"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2"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3"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3" name="Group 2434"/>
                  <p:cNvGrpSpPr/>
                  <p:nvPr/>
                </p:nvGrpSpPr>
                <p:grpSpPr bwMode="auto">
                  <a:xfrm>
                    <a:off x="1027" y="3659"/>
                    <a:ext cx="45" cy="23"/>
                    <a:chOff x="1027" y="3659"/>
                    <a:chExt cx="45" cy="23"/>
                  </a:xfrm>
                </p:grpSpPr>
                <p:sp>
                  <p:nvSpPr>
                    <p:cNvPr id="2068"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9"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0"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4" name="Group 2438"/>
                  <p:cNvGrpSpPr/>
                  <p:nvPr/>
                </p:nvGrpSpPr>
                <p:grpSpPr bwMode="auto">
                  <a:xfrm>
                    <a:off x="1040" y="3672"/>
                    <a:ext cx="45" cy="23"/>
                    <a:chOff x="1040" y="3672"/>
                    <a:chExt cx="45" cy="23"/>
                  </a:xfrm>
                </p:grpSpPr>
                <p:sp>
                  <p:nvSpPr>
                    <p:cNvPr id="2065"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6"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7"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9" name="Group 2442"/>
                <p:cNvGrpSpPr/>
                <p:nvPr/>
              </p:nvGrpSpPr>
              <p:grpSpPr bwMode="auto">
                <a:xfrm>
                  <a:off x="1054" y="3685"/>
                  <a:ext cx="45" cy="23"/>
                  <a:chOff x="1054" y="3685"/>
                  <a:chExt cx="45" cy="23"/>
                </a:xfrm>
              </p:grpSpPr>
              <p:sp>
                <p:nvSpPr>
                  <p:cNvPr id="2058"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9"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0"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0" name="Group 2446"/>
                <p:cNvGrpSpPr/>
                <p:nvPr/>
              </p:nvGrpSpPr>
              <p:grpSpPr bwMode="auto">
                <a:xfrm>
                  <a:off x="1067" y="3698"/>
                  <a:ext cx="45" cy="23"/>
                  <a:chOff x="1067" y="3698"/>
                  <a:chExt cx="45" cy="23"/>
                </a:xfrm>
              </p:grpSpPr>
              <p:sp>
                <p:nvSpPr>
                  <p:cNvPr id="2055"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6"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7"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1" name="Group 2450"/>
                <p:cNvGrpSpPr/>
                <p:nvPr/>
              </p:nvGrpSpPr>
              <p:grpSpPr bwMode="auto">
                <a:xfrm>
                  <a:off x="1079" y="3712"/>
                  <a:ext cx="44" cy="23"/>
                  <a:chOff x="1079" y="3712"/>
                  <a:chExt cx="44" cy="23"/>
                </a:xfrm>
              </p:grpSpPr>
              <p:sp>
                <p:nvSpPr>
                  <p:cNvPr id="2052"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3"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4"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2" name="Group 2454"/>
                <p:cNvGrpSpPr/>
                <p:nvPr/>
              </p:nvGrpSpPr>
              <p:grpSpPr bwMode="auto">
                <a:xfrm>
                  <a:off x="1093" y="3725"/>
                  <a:ext cx="45" cy="23"/>
                  <a:chOff x="1093" y="3725"/>
                  <a:chExt cx="45" cy="23"/>
                </a:xfrm>
              </p:grpSpPr>
              <p:sp>
                <p:nvSpPr>
                  <p:cNvPr id="2049"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0"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1"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3" name="Group 2458"/>
                <p:cNvGrpSpPr/>
                <p:nvPr/>
              </p:nvGrpSpPr>
              <p:grpSpPr bwMode="auto">
                <a:xfrm>
                  <a:off x="1108" y="3739"/>
                  <a:ext cx="44" cy="23"/>
                  <a:chOff x="1108" y="3739"/>
                  <a:chExt cx="44" cy="23"/>
                </a:xfrm>
              </p:grpSpPr>
              <p:sp>
                <p:nvSpPr>
                  <p:cNvPr id="2046"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7"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8"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4" name="Group 2462"/>
                <p:cNvGrpSpPr/>
                <p:nvPr/>
              </p:nvGrpSpPr>
              <p:grpSpPr bwMode="auto">
                <a:xfrm>
                  <a:off x="1121" y="3753"/>
                  <a:ext cx="45" cy="23"/>
                  <a:chOff x="1121" y="3753"/>
                  <a:chExt cx="45" cy="23"/>
                </a:xfrm>
              </p:grpSpPr>
              <p:sp>
                <p:nvSpPr>
                  <p:cNvPr id="2043"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4"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5"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5" name="Group 2466"/>
                <p:cNvGrpSpPr/>
                <p:nvPr/>
              </p:nvGrpSpPr>
              <p:grpSpPr bwMode="auto">
                <a:xfrm>
                  <a:off x="1133" y="3767"/>
                  <a:ext cx="44" cy="23"/>
                  <a:chOff x="1133" y="3767"/>
                  <a:chExt cx="44" cy="23"/>
                </a:xfrm>
              </p:grpSpPr>
              <p:sp>
                <p:nvSpPr>
                  <p:cNvPr id="2040"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1"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2"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86"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7"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8"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9"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0"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1"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2"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3"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4"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5"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6"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97" name="Group 2481"/>
                <p:cNvGrpSpPr/>
                <p:nvPr/>
              </p:nvGrpSpPr>
              <p:grpSpPr bwMode="auto">
                <a:xfrm>
                  <a:off x="700" y="3535"/>
                  <a:ext cx="49" cy="24"/>
                  <a:chOff x="700" y="3535"/>
                  <a:chExt cx="49" cy="24"/>
                </a:xfrm>
              </p:grpSpPr>
              <p:sp>
                <p:nvSpPr>
                  <p:cNvPr id="2037"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8"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9"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8" name="Group 2485"/>
                <p:cNvGrpSpPr/>
                <p:nvPr/>
              </p:nvGrpSpPr>
              <p:grpSpPr bwMode="auto">
                <a:xfrm>
                  <a:off x="714" y="3551"/>
                  <a:ext cx="49" cy="22"/>
                  <a:chOff x="714" y="3551"/>
                  <a:chExt cx="49" cy="22"/>
                </a:xfrm>
              </p:grpSpPr>
              <p:sp>
                <p:nvSpPr>
                  <p:cNvPr id="2034"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5"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6"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9" name="Group 2489"/>
                <p:cNvGrpSpPr/>
                <p:nvPr/>
              </p:nvGrpSpPr>
              <p:grpSpPr bwMode="auto">
                <a:xfrm>
                  <a:off x="728" y="3564"/>
                  <a:ext cx="48" cy="23"/>
                  <a:chOff x="728" y="3564"/>
                  <a:chExt cx="48" cy="23"/>
                </a:xfrm>
              </p:grpSpPr>
              <p:sp>
                <p:nvSpPr>
                  <p:cNvPr id="2031"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2"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3"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0" name="Group 2493"/>
                <p:cNvGrpSpPr/>
                <p:nvPr/>
              </p:nvGrpSpPr>
              <p:grpSpPr bwMode="auto">
                <a:xfrm>
                  <a:off x="742" y="3582"/>
                  <a:ext cx="49" cy="23"/>
                  <a:chOff x="742" y="3582"/>
                  <a:chExt cx="49" cy="23"/>
                </a:xfrm>
              </p:grpSpPr>
              <p:sp>
                <p:nvSpPr>
                  <p:cNvPr id="2028"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9"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0"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1" name="Group 2497"/>
                <p:cNvGrpSpPr/>
                <p:nvPr/>
              </p:nvGrpSpPr>
              <p:grpSpPr bwMode="auto">
                <a:xfrm>
                  <a:off x="752" y="3597"/>
                  <a:ext cx="133" cy="106"/>
                  <a:chOff x="752" y="3597"/>
                  <a:chExt cx="133" cy="106"/>
                </a:xfrm>
              </p:grpSpPr>
              <p:sp>
                <p:nvSpPr>
                  <p:cNvPr id="2025"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6"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7"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2" name="Group 2501"/>
                <p:cNvGrpSpPr/>
                <p:nvPr/>
              </p:nvGrpSpPr>
              <p:grpSpPr bwMode="auto">
                <a:xfrm>
                  <a:off x="844" y="3694"/>
                  <a:ext cx="48" cy="23"/>
                  <a:chOff x="844" y="3694"/>
                  <a:chExt cx="48" cy="23"/>
                </a:xfrm>
              </p:grpSpPr>
              <p:sp>
                <p:nvSpPr>
                  <p:cNvPr id="2022"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3"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4"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3" name="Group 2505"/>
                <p:cNvGrpSpPr/>
                <p:nvPr/>
              </p:nvGrpSpPr>
              <p:grpSpPr bwMode="auto">
                <a:xfrm>
                  <a:off x="857" y="3710"/>
                  <a:ext cx="49" cy="22"/>
                  <a:chOff x="857" y="3710"/>
                  <a:chExt cx="49" cy="22"/>
                </a:xfrm>
              </p:grpSpPr>
              <p:sp>
                <p:nvSpPr>
                  <p:cNvPr id="2019"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0"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1"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4" name="Group 2509"/>
                <p:cNvGrpSpPr/>
                <p:nvPr/>
              </p:nvGrpSpPr>
              <p:grpSpPr bwMode="auto">
                <a:xfrm>
                  <a:off x="1086" y="3766"/>
                  <a:ext cx="49" cy="23"/>
                  <a:chOff x="1086" y="3766"/>
                  <a:chExt cx="49" cy="23"/>
                </a:xfrm>
              </p:grpSpPr>
              <p:sp>
                <p:nvSpPr>
                  <p:cNvPr id="2016"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7"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8"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5" name="Group 2513"/>
                <p:cNvGrpSpPr/>
                <p:nvPr/>
              </p:nvGrpSpPr>
              <p:grpSpPr bwMode="auto">
                <a:xfrm>
                  <a:off x="934" y="3740"/>
                  <a:ext cx="48" cy="23"/>
                  <a:chOff x="934" y="3740"/>
                  <a:chExt cx="48" cy="23"/>
                </a:xfrm>
              </p:grpSpPr>
              <p:sp>
                <p:nvSpPr>
                  <p:cNvPr id="2013"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4"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5"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6" name="Group 2517"/>
                <p:cNvGrpSpPr/>
                <p:nvPr/>
              </p:nvGrpSpPr>
              <p:grpSpPr bwMode="auto">
                <a:xfrm>
                  <a:off x="943" y="3754"/>
                  <a:ext cx="49" cy="23"/>
                  <a:chOff x="943" y="3754"/>
                  <a:chExt cx="49" cy="23"/>
                </a:xfrm>
              </p:grpSpPr>
              <p:sp>
                <p:nvSpPr>
                  <p:cNvPr id="2010"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1"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2"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007"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8"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9"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04" name="Group 2524"/>
              <p:cNvGrpSpPr/>
              <p:nvPr/>
            </p:nvGrpSpPr>
            <p:grpSpPr bwMode="auto">
              <a:xfrm>
                <a:off x="920" y="3821"/>
                <a:ext cx="413" cy="50"/>
                <a:chOff x="920" y="3821"/>
                <a:chExt cx="413" cy="50"/>
              </a:xfrm>
            </p:grpSpPr>
            <p:sp>
              <p:nvSpPr>
                <p:cNvPr id="1925"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6"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7"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8"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905" name="Group 2529"/>
              <p:cNvGrpSpPr/>
              <p:nvPr/>
            </p:nvGrpSpPr>
            <p:grpSpPr bwMode="auto">
              <a:xfrm>
                <a:off x="1227" y="3477"/>
                <a:ext cx="508" cy="321"/>
                <a:chOff x="1227" y="3477"/>
                <a:chExt cx="508" cy="321"/>
              </a:xfrm>
            </p:grpSpPr>
            <p:sp>
              <p:nvSpPr>
                <p:cNvPr id="1906"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7"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8"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9"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0"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1"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2"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3"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4"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5"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6"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7"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8"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9"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0"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1"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2"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3"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4"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343" name="Group 2096"/>
            <p:cNvGrpSpPr/>
            <p:nvPr/>
          </p:nvGrpSpPr>
          <p:grpSpPr bwMode="auto">
            <a:xfrm>
              <a:off x="5003800" y="333375"/>
              <a:ext cx="431800" cy="328613"/>
              <a:chOff x="624" y="2968"/>
              <a:chExt cx="1331" cy="920"/>
            </a:xfrm>
          </p:grpSpPr>
          <p:sp>
            <p:nvSpPr>
              <p:cNvPr id="2344"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5"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6"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7"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8"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9"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0"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1"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2"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3"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4"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5"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56" name="Group 2109"/>
              <p:cNvGrpSpPr/>
              <p:nvPr/>
            </p:nvGrpSpPr>
            <p:grpSpPr bwMode="auto">
              <a:xfrm>
                <a:off x="700" y="3526"/>
                <a:ext cx="515" cy="270"/>
                <a:chOff x="700" y="3526"/>
                <a:chExt cx="515" cy="270"/>
              </a:xfrm>
            </p:grpSpPr>
            <p:grpSp>
              <p:nvGrpSpPr>
                <p:cNvPr id="2382" name="Group 2110"/>
                <p:cNvGrpSpPr/>
                <p:nvPr/>
              </p:nvGrpSpPr>
              <p:grpSpPr bwMode="auto">
                <a:xfrm>
                  <a:off x="737" y="3534"/>
                  <a:ext cx="49" cy="23"/>
                  <a:chOff x="737" y="3534"/>
                  <a:chExt cx="49" cy="23"/>
                </a:xfrm>
              </p:grpSpPr>
              <p:sp>
                <p:nvSpPr>
                  <p:cNvPr id="2798"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9"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0"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3" name="Group 2114"/>
                <p:cNvGrpSpPr/>
                <p:nvPr/>
              </p:nvGrpSpPr>
              <p:grpSpPr bwMode="auto">
                <a:xfrm>
                  <a:off x="748" y="3547"/>
                  <a:ext cx="50" cy="23"/>
                  <a:chOff x="748" y="3547"/>
                  <a:chExt cx="50" cy="23"/>
                </a:xfrm>
              </p:grpSpPr>
              <p:sp>
                <p:nvSpPr>
                  <p:cNvPr id="2795"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6"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7"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84"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5"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6"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7"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88" name="Group 2122"/>
                <p:cNvGrpSpPr/>
                <p:nvPr/>
              </p:nvGrpSpPr>
              <p:grpSpPr bwMode="auto">
                <a:xfrm>
                  <a:off x="872" y="3547"/>
                  <a:ext cx="50" cy="23"/>
                  <a:chOff x="872" y="3547"/>
                  <a:chExt cx="50" cy="23"/>
                </a:xfrm>
              </p:grpSpPr>
              <p:sp>
                <p:nvSpPr>
                  <p:cNvPr id="2792"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3"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4"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9" name="Group 2126"/>
                <p:cNvGrpSpPr/>
                <p:nvPr/>
              </p:nvGrpSpPr>
              <p:grpSpPr bwMode="auto">
                <a:xfrm>
                  <a:off x="885" y="3559"/>
                  <a:ext cx="50" cy="23"/>
                  <a:chOff x="885" y="3559"/>
                  <a:chExt cx="50" cy="23"/>
                </a:xfrm>
              </p:grpSpPr>
              <p:sp>
                <p:nvSpPr>
                  <p:cNvPr id="2789"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0"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1"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0" name="Group 2130"/>
                <p:cNvGrpSpPr/>
                <p:nvPr/>
              </p:nvGrpSpPr>
              <p:grpSpPr bwMode="auto">
                <a:xfrm>
                  <a:off x="898" y="3571"/>
                  <a:ext cx="49" cy="23"/>
                  <a:chOff x="898" y="3571"/>
                  <a:chExt cx="49" cy="23"/>
                </a:xfrm>
              </p:grpSpPr>
              <p:sp>
                <p:nvSpPr>
                  <p:cNvPr id="2786"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7"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8"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1" name="Group 2134"/>
                <p:cNvGrpSpPr/>
                <p:nvPr/>
              </p:nvGrpSpPr>
              <p:grpSpPr bwMode="auto">
                <a:xfrm>
                  <a:off x="911" y="3585"/>
                  <a:ext cx="49" cy="23"/>
                  <a:chOff x="911" y="3585"/>
                  <a:chExt cx="49" cy="23"/>
                </a:xfrm>
              </p:grpSpPr>
              <p:sp>
                <p:nvSpPr>
                  <p:cNvPr id="2783"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4"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5"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2" name="Group 2138"/>
                <p:cNvGrpSpPr/>
                <p:nvPr/>
              </p:nvGrpSpPr>
              <p:grpSpPr bwMode="auto">
                <a:xfrm>
                  <a:off x="923" y="3600"/>
                  <a:ext cx="99" cy="73"/>
                  <a:chOff x="923" y="3600"/>
                  <a:chExt cx="99" cy="73"/>
                </a:xfrm>
              </p:grpSpPr>
              <p:grpSp>
                <p:nvGrpSpPr>
                  <p:cNvPr id="2763" name="Group 2139"/>
                  <p:cNvGrpSpPr/>
                  <p:nvPr/>
                </p:nvGrpSpPr>
                <p:grpSpPr bwMode="auto">
                  <a:xfrm>
                    <a:off x="923" y="3600"/>
                    <a:ext cx="49" cy="23"/>
                    <a:chOff x="923" y="3600"/>
                    <a:chExt cx="49" cy="23"/>
                  </a:xfrm>
                </p:grpSpPr>
                <p:sp>
                  <p:nvSpPr>
                    <p:cNvPr id="2780"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1"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2"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4" name="Group 2143"/>
                  <p:cNvGrpSpPr/>
                  <p:nvPr/>
                </p:nvGrpSpPr>
                <p:grpSpPr bwMode="auto">
                  <a:xfrm>
                    <a:off x="935" y="3612"/>
                    <a:ext cx="48" cy="23"/>
                    <a:chOff x="935" y="3612"/>
                    <a:chExt cx="48" cy="23"/>
                  </a:xfrm>
                </p:grpSpPr>
                <p:sp>
                  <p:nvSpPr>
                    <p:cNvPr id="2777"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8"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9"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5" name="Group 2147"/>
                  <p:cNvGrpSpPr/>
                  <p:nvPr/>
                </p:nvGrpSpPr>
                <p:grpSpPr bwMode="auto">
                  <a:xfrm>
                    <a:off x="947" y="3625"/>
                    <a:ext cx="50" cy="22"/>
                    <a:chOff x="947" y="3625"/>
                    <a:chExt cx="50" cy="22"/>
                  </a:xfrm>
                </p:grpSpPr>
                <p:sp>
                  <p:nvSpPr>
                    <p:cNvPr id="2774"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5"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6"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6" name="Group 2151"/>
                  <p:cNvGrpSpPr/>
                  <p:nvPr/>
                </p:nvGrpSpPr>
                <p:grpSpPr bwMode="auto">
                  <a:xfrm>
                    <a:off x="960" y="3637"/>
                    <a:ext cx="50" cy="23"/>
                    <a:chOff x="960" y="3637"/>
                    <a:chExt cx="50" cy="23"/>
                  </a:xfrm>
                </p:grpSpPr>
                <p:sp>
                  <p:nvSpPr>
                    <p:cNvPr id="2771"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2"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3"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7" name="Group 2155"/>
                  <p:cNvGrpSpPr/>
                  <p:nvPr/>
                </p:nvGrpSpPr>
                <p:grpSpPr bwMode="auto">
                  <a:xfrm>
                    <a:off x="973" y="3650"/>
                    <a:ext cx="49" cy="23"/>
                    <a:chOff x="973" y="3650"/>
                    <a:chExt cx="49" cy="23"/>
                  </a:xfrm>
                </p:grpSpPr>
                <p:sp>
                  <p:nvSpPr>
                    <p:cNvPr id="2768"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9"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0"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3" name="Group 2159"/>
                <p:cNvGrpSpPr/>
                <p:nvPr/>
              </p:nvGrpSpPr>
              <p:grpSpPr bwMode="auto">
                <a:xfrm>
                  <a:off x="985" y="3665"/>
                  <a:ext cx="100" cy="73"/>
                  <a:chOff x="985" y="3665"/>
                  <a:chExt cx="100" cy="73"/>
                </a:xfrm>
              </p:grpSpPr>
              <p:grpSp>
                <p:nvGrpSpPr>
                  <p:cNvPr id="2743" name="Group 2160"/>
                  <p:cNvGrpSpPr/>
                  <p:nvPr/>
                </p:nvGrpSpPr>
                <p:grpSpPr bwMode="auto">
                  <a:xfrm>
                    <a:off x="985" y="3665"/>
                    <a:ext cx="50" cy="23"/>
                    <a:chOff x="985" y="3665"/>
                    <a:chExt cx="50" cy="23"/>
                  </a:xfrm>
                </p:grpSpPr>
                <p:sp>
                  <p:nvSpPr>
                    <p:cNvPr id="2760"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1"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2"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4" name="Group 2164"/>
                  <p:cNvGrpSpPr/>
                  <p:nvPr/>
                </p:nvGrpSpPr>
                <p:grpSpPr bwMode="auto">
                  <a:xfrm>
                    <a:off x="997" y="3677"/>
                    <a:ext cx="49" cy="23"/>
                    <a:chOff x="997" y="3677"/>
                    <a:chExt cx="49" cy="23"/>
                  </a:xfrm>
                </p:grpSpPr>
                <p:sp>
                  <p:nvSpPr>
                    <p:cNvPr id="2757"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8"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9"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5" name="Group 2168"/>
                  <p:cNvGrpSpPr/>
                  <p:nvPr/>
                </p:nvGrpSpPr>
                <p:grpSpPr bwMode="auto">
                  <a:xfrm>
                    <a:off x="1010" y="3690"/>
                    <a:ext cx="48" cy="23"/>
                    <a:chOff x="1010" y="3690"/>
                    <a:chExt cx="48" cy="23"/>
                  </a:xfrm>
                </p:grpSpPr>
                <p:sp>
                  <p:nvSpPr>
                    <p:cNvPr id="2754"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5"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6"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6" name="Group 2172"/>
                  <p:cNvGrpSpPr/>
                  <p:nvPr/>
                </p:nvGrpSpPr>
                <p:grpSpPr bwMode="auto">
                  <a:xfrm>
                    <a:off x="1023" y="3703"/>
                    <a:ext cx="49" cy="22"/>
                    <a:chOff x="1023" y="3703"/>
                    <a:chExt cx="49" cy="22"/>
                  </a:xfrm>
                </p:grpSpPr>
                <p:sp>
                  <p:nvSpPr>
                    <p:cNvPr id="2751"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2"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3"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7" name="Group 2176"/>
                  <p:cNvGrpSpPr/>
                  <p:nvPr/>
                </p:nvGrpSpPr>
                <p:grpSpPr bwMode="auto">
                  <a:xfrm>
                    <a:off x="1036" y="3716"/>
                    <a:ext cx="49" cy="22"/>
                    <a:chOff x="1036" y="3716"/>
                    <a:chExt cx="49" cy="22"/>
                  </a:xfrm>
                </p:grpSpPr>
                <p:sp>
                  <p:nvSpPr>
                    <p:cNvPr id="2748"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9"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0"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4" name="Group 2180"/>
                <p:cNvGrpSpPr/>
                <p:nvPr/>
              </p:nvGrpSpPr>
              <p:grpSpPr bwMode="auto">
                <a:xfrm>
                  <a:off x="1046" y="3727"/>
                  <a:ext cx="49" cy="23"/>
                  <a:chOff x="1046" y="3727"/>
                  <a:chExt cx="49" cy="23"/>
                </a:xfrm>
              </p:grpSpPr>
              <p:sp>
                <p:nvSpPr>
                  <p:cNvPr id="2740"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1"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2"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5" name="Group 2184"/>
                <p:cNvGrpSpPr/>
                <p:nvPr/>
              </p:nvGrpSpPr>
              <p:grpSpPr bwMode="auto">
                <a:xfrm>
                  <a:off x="1058" y="3739"/>
                  <a:ext cx="50" cy="23"/>
                  <a:chOff x="1058" y="3739"/>
                  <a:chExt cx="50" cy="23"/>
                </a:xfrm>
              </p:grpSpPr>
              <p:sp>
                <p:nvSpPr>
                  <p:cNvPr id="2737"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8"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9"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6" name="Group 2188"/>
                <p:cNvGrpSpPr/>
                <p:nvPr/>
              </p:nvGrpSpPr>
              <p:grpSpPr bwMode="auto">
                <a:xfrm>
                  <a:off x="1072" y="3753"/>
                  <a:ext cx="48" cy="22"/>
                  <a:chOff x="1072" y="3753"/>
                  <a:chExt cx="48" cy="22"/>
                </a:xfrm>
              </p:grpSpPr>
              <p:sp>
                <p:nvSpPr>
                  <p:cNvPr id="2734"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5"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6"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97"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8"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9"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00" name="Group 2195"/>
                <p:cNvGrpSpPr/>
                <p:nvPr/>
              </p:nvGrpSpPr>
              <p:grpSpPr bwMode="auto">
                <a:xfrm>
                  <a:off x="832" y="3547"/>
                  <a:ext cx="49" cy="23"/>
                  <a:chOff x="832" y="3547"/>
                  <a:chExt cx="49" cy="23"/>
                </a:xfrm>
              </p:grpSpPr>
              <p:sp>
                <p:nvSpPr>
                  <p:cNvPr id="2726"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2"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3"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1" name="Group 2199"/>
                <p:cNvGrpSpPr/>
                <p:nvPr/>
              </p:nvGrpSpPr>
              <p:grpSpPr bwMode="auto">
                <a:xfrm>
                  <a:off x="844" y="3560"/>
                  <a:ext cx="49" cy="22"/>
                  <a:chOff x="844" y="3560"/>
                  <a:chExt cx="49" cy="22"/>
                </a:xfrm>
              </p:grpSpPr>
              <p:sp>
                <p:nvSpPr>
                  <p:cNvPr id="2723"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4"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5"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2" name="Group 2203"/>
                <p:cNvGrpSpPr/>
                <p:nvPr/>
              </p:nvGrpSpPr>
              <p:grpSpPr bwMode="auto">
                <a:xfrm>
                  <a:off x="857" y="3572"/>
                  <a:ext cx="50" cy="23"/>
                  <a:chOff x="857" y="3572"/>
                  <a:chExt cx="50" cy="23"/>
                </a:xfrm>
              </p:grpSpPr>
              <p:sp>
                <p:nvSpPr>
                  <p:cNvPr id="2720"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1"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2"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3" name="Group 2207"/>
                <p:cNvGrpSpPr/>
                <p:nvPr/>
              </p:nvGrpSpPr>
              <p:grpSpPr bwMode="auto">
                <a:xfrm>
                  <a:off x="870" y="3585"/>
                  <a:ext cx="48" cy="23"/>
                  <a:chOff x="870" y="3585"/>
                  <a:chExt cx="48" cy="23"/>
                </a:xfrm>
              </p:grpSpPr>
              <p:sp>
                <p:nvSpPr>
                  <p:cNvPr id="2717"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8"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9"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4" name="Group 2211"/>
                <p:cNvGrpSpPr/>
                <p:nvPr/>
              </p:nvGrpSpPr>
              <p:grpSpPr bwMode="auto">
                <a:xfrm>
                  <a:off x="882" y="3600"/>
                  <a:ext cx="100" cy="73"/>
                  <a:chOff x="882" y="3600"/>
                  <a:chExt cx="100" cy="73"/>
                </a:xfrm>
              </p:grpSpPr>
              <p:grpSp>
                <p:nvGrpSpPr>
                  <p:cNvPr id="2697" name="Group 2212"/>
                  <p:cNvGrpSpPr/>
                  <p:nvPr/>
                </p:nvGrpSpPr>
                <p:grpSpPr bwMode="auto">
                  <a:xfrm>
                    <a:off x="882" y="3600"/>
                    <a:ext cx="49" cy="23"/>
                    <a:chOff x="882" y="3600"/>
                    <a:chExt cx="49" cy="23"/>
                  </a:xfrm>
                </p:grpSpPr>
                <p:sp>
                  <p:nvSpPr>
                    <p:cNvPr id="2714"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5"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6"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8" name="Group 2216"/>
                  <p:cNvGrpSpPr/>
                  <p:nvPr/>
                </p:nvGrpSpPr>
                <p:grpSpPr bwMode="auto">
                  <a:xfrm>
                    <a:off x="894" y="3612"/>
                    <a:ext cx="49" cy="23"/>
                    <a:chOff x="894" y="3612"/>
                    <a:chExt cx="49" cy="23"/>
                  </a:xfrm>
                </p:grpSpPr>
                <p:sp>
                  <p:nvSpPr>
                    <p:cNvPr id="2711"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2"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3"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9" name="Group 2220"/>
                  <p:cNvGrpSpPr/>
                  <p:nvPr/>
                </p:nvGrpSpPr>
                <p:grpSpPr bwMode="auto">
                  <a:xfrm>
                    <a:off x="907" y="3625"/>
                    <a:ext cx="49" cy="23"/>
                    <a:chOff x="907" y="3625"/>
                    <a:chExt cx="49" cy="23"/>
                  </a:xfrm>
                </p:grpSpPr>
                <p:sp>
                  <p:nvSpPr>
                    <p:cNvPr id="2708"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9"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0"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0" name="Group 2224"/>
                  <p:cNvGrpSpPr/>
                  <p:nvPr/>
                </p:nvGrpSpPr>
                <p:grpSpPr bwMode="auto">
                  <a:xfrm>
                    <a:off x="919" y="3638"/>
                    <a:ext cx="49" cy="22"/>
                    <a:chOff x="919" y="3638"/>
                    <a:chExt cx="49" cy="22"/>
                  </a:xfrm>
                </p:grpSpPr>
                <p:sp>
                  <p:nvSpPr>
                    <p:cNvPr id="2705"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6"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7"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1" name="Group 2228"/>
                  <p:cNvGrpSpPr/>
                  <p:nvPr/>
                </p:nvGrpSpPr>
                <p:grpSpPr bwMode="auto">
                  <a:xfrm>
                    <a:off x="932" y="3651"/>
                    <a:ext cx="50" cy="22"/>
                    <a:chOff x="932" y="3651"/>
                    <a:chExt cx="50" cy="22"/>
                  </a:xfrm>
                </p:grpSpPr>
                <p:sp>
                  <p:nvSpPr>
                    <p:cNvPr id="2702"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3"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4"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5" name="Group 2232"/>
                <p:cNvGrpSpPr/>
                <p:nvPr/>
              </p:nvGrpSpPr>
              <p:grpSpPr bwMode="auto">
                <a:xfrm>
                  <a:off x="944" y="3665"/>
                  <a:ext cx="99" cy="74"/>
                  <a:chOff x="944" y="3665"/>
                  <a:chExt cx="99" cy="74"/>
                </a:xfrm>
              </p:grpSpPr>
              <p:grpSp>
                <p:nvGrpSpPr>
                  <p:cNvPr id="2677" name="Group 2233"/>
                  <p:cNvGrpSpPr/>
                  <p:nvPr/>
                </p:nvGrpSpPr>
                <p:grpSpPr bwMode="auto">
                  <a:xfrm>
                    <a:off x="944" y="3665"/>
                    <a:ext cx="49" cy="23"/>
                    <a:chOff x="944" y="3665"/>
                    <a:chExt cx="49" cy="23"/>
                  </a:xfrm>
                </p:grpSpPr>
                <p:sp>
                  <p:nvSpPr>
                    <p:cNvPr id="2694"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5"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6"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8" name="Group 2237"/>
                  <p:cNvGrpSpPr/>
                  <p:nvPr/>
                </p:nvGrpSpPr>
                <p:grpSpPr bwMode="auto">
                  <a:xfrm>
                    <a:off x="957" y="3678"/>
                    <a:ext cx="48" cy="23"/>
                    <a:chOff x="957" y="3678"/>
                    <a:chExt cx="48" cy="23"/>
                  </a:xfrm>
                </p:grpSpPr>
                <p:sp>
                  <p:nvSpPr>
                    <p:cNvPr id="2691"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2"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3"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9" name="Group 2241"/>
                  <p:cNvGrpSpPr/>
                  <p:nvPr/>
                </p:nvGrpSpPr>
                <p:grpSpPr bwMode="auto">
                  <a:xfrm>
                    <a:off x="969" y="3690"/>
                    <a:ext cx="49" cy="23"/>
                    <a:chOff x="969" y="3690"/>
                    <a:chExt cx="49" cy="23"/>
                  </a:xfrm>
                </p:grpSpPr>
                <p:sp>
                  <p:nvSpPr>
                    <p:cNvPr id="2688"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9"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0"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0" name="Group 2245"/>
                  <p:cNvGrpSpPr/>
                  <p:nvPr/>
                </p:nvGrpSpPr>
                <p:grpSpPr bwMode="auto">
                  <a:xfrm>
                    <a:off x="982" y="3703"/>
                    <a:ext cx="49" cy="23"/>
                    <a:chOff x="982" y="3703"/>
                    <a:chExt cx="49" cy="23"/>
                  </a:xfrm>
                </p:grpSpPr>
                <p:sp>
                  <p:nvSpPr>
                    <p:cNvPr id="2685"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6"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7"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1" name="Group 2249"/>
                  <p:cNvGrpSpPr/>
                  <p:nvPr/>
                </p:nvGrpSpPr>
                <p:grpSpPr bwMode="auto">
                  <a:xfrm>
                    <a:off x="995" y="3716"/>
                    <a:ext cx="48" cy="23"/>
                    <a:chOff x="995" y="3716"/>
                    <a:chExt cx="48" cy="23"/>
                  </a:xfrm>
                </p:grpSpPr>
                <p:sp>
                  <p:nvSpPr>
                    <p:cNvPr id="2682"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3"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4"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6" name="Group 2253"/>
                <p:cNvGrpSpPr/>
                <p:nvPr/>
              </p:nvGrpSpPr>
              <p:grpSpPr bwMode="auto">
                <a:xfrm>
                  <a:off x="1005" y="3727"/>
                  <a:ext cx="49" cy="23"/>
                  <a:chOff x="1005" y="3727"/>
                  <a:chExt cx="49" cy="23"/>
                </a:xfrm>
              </p:grpSpPr>
              <p:sp>
                <p:nvSpPr>
                  <p:cNvPr id="2674"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5"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6"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7" name="Group 2257"/>
                <p:cNvGrpSpPr/>
                <p:nvPr/>
              </p:nvGrpSpPr>
              <p:grpSpPr bwMode="auto">
                <a:xfrm>
                  <a:off x="1018" y="3740"/>
                  <a:ext cx="49" cy="22"/>
                  <a:chOff x="1018" y="3740"/>
                  <a:chExt cx="49" cy="22"/>
                </a:xfrm>
              </p:grpSpPr>
              <p:sp>
                <p:nvSpPr>
                  <p:cNvPr id="2671"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2"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3"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8" name="Group 2261"/>
                <p:cNvGrpSpPr/>
                <p:nvPr/>
              </p:nvGrpSpPr>
              <p:grpSpPr bwMode="auto">
                <a:xfrm>
                  <a:off x="1030" y="3753"/>
                  <a:ext cx="49" cy="23"/>
                  <a:chOff x="1030" y="3753"/>
                  <a:chExt cx="49" cy="23"/>
                </a:xfrm>
              </p:grpSpPr>
              <p:sp>
                <p:nvSpPr>
                  <p:cNvPr id="2668"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9"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0"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09"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0"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1"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12" name="Group 2268"/>
                <p:cNvGrpSpPr/>
                <p:nvPr/>
              </p:nvGrpSpPr>
              <p:grpSpPr bwMode="auto">
                <a:xfrm>
                  <a:off x="790" y="3547"/>
                  <a:ext cx="49" cy="23"/>
                  <a:chOff x="790" y="3547"/>
                  <a:chExt cx="49" cy="23"/>
                </a:xfrm>
              </p:grpSpPr>
              <p:sp>
                <p:nvSpPr>
                  <p:cNvPr id="2665"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6"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7"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3" name="Group 2272"/>
                <p:cNvGrpSpPr/>
                <p:nvPr/>
              </p:nvGrpSpPr>
              <p:grpSpPr bwMode="auto">
                <a:xfrm>
                  <a:off x="803" y="3560"/>
                  <a:ext cx="49" cy="22"/>
                  <a:chOff x="803" y="3560"/>
                  <a:chExt cx="49" cy="22"/>
                </a:xfrm>
              </p:grpSpPr>
              <p:sp>
                <p:nvSpPr>
                  <p:cNvPr id="2662"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3"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4"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4" name="Group 2276"/>
                <p:cNvGrpSpPr/>
                <p:nvPr/>
              </p:nvGrpSpPr>
              <p:grpSpPr bwMode="auto">
                <a:xfrm>
                  <a:off x="815" y="3572"/>
                  <a:ext cx="50" cy="23"/>
                  <a:chOff x="815" y="3572"/>
                  <a:chExt cx="50" cy="23"/>
                </a:xfrm>
              </p:grpSpPr>
              <p:sp>
                <p:nvSpPr>
                  <p:cNvPr id="2659"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0"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1"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5" name="Group 2280"/>
                <p:cNvGrpSpPr/>
                <p:nvPr/>
              </p:nvGrpSpPr>
              <p:grpSpPr bwMode="auto">
                <a:xfrm>
                  <a:off x="828" y="3585"/>
                  <a:ext cx="49" cy="23"/>
                  <a:chOff x="828" y="3585"/>
                  <a:chExt cx="49" cy="23"/>
                </a:xfrm>
              </p:grpSpPr>
              <p:sp>
                <p:nvSpPr>
                  <p:cNvPr id="2656"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7"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8"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6" name="Group 2284"/>
                <p:cNvGrpSpPr/>
                <p:nvPr/>
              </p:nvGrpSpPr>
              <p:grpSpPr bwMode="auto">
                <a:xfrm>
                  <a:off x="840" y="3600"/>
                  <a:ext cx="100" cy="73"/>
                  <a:chOff x="840" y="3600"/>
                  <a:chExt cx="100" cy="73"/>
                </a:xfrm>
              </p:grpSpPr>
              <p:grpSp>
                <p:nvGrpSpPr>
                  <p:cNvPr id="2636" name="Group 2285"/>
                  <p:cNvGrpSpPr/>
                  <p:nvPr/>
                </p:nvGrpSpPr>
                <p:grpSpPr bwMode="auto">
                  <a:xfrm>
                    <a:off x="840" y="3600"/>
                    <a:ext cx="49" cy="23"/>
                    <a:chOff x="840" y="3600"/>
                    <a:chExt cx="49" cy="23"/>
                  </a:xfrm>
                </p:grpSpPr>
                <p:sp>
                  <p:nvSpPr>
                    <p:cNvPr id="2653"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4"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5"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7" name="Group 2289"/>
                  <p:cNvGrpSpPr/>
                  <p:nvPr/>
                </p:nvGrpSpPr>
                <p:grpSpPr bwMode="auto">
                  <a:xfrm>
                    <a:off x="853" y="3612"/>
                    <a:ext cx="48" cy="23"/>
                    <a:chOff x="853" y="3612"/>
                    <a:chExt cx="48" cy="23"/>
                  </a:xfrm>
                </p:grpSpPr>
                <p:sp>
                  <p:nvSpPr>
                    <p:cNvPr id="2650"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1"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2"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8" name="Group 2293"/>
                  <p:cNvGrpSpPr/>
                  <p:nvPr/>
                </p:nvGrpSpPr>
                <p:grpSpPr bwMode="auto">
                  <a:xfrm>
                    <a:off x="865" y="3625"/>
                    <a:ext cx="49" cy="23"/>
                    <a:chOff x="865" y="3625"/>
                    <a:chExt cx="49" cy="23"/>
                  </a:xfrm>
                </p:grpSpPr>
                <p:sp>
                  <p:nvSpPr>
                    <p:cNvPr id="2647"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8"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9"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9" name="Group 2297"/>
                  <p:cNvGrpSpPr/>
                  <p:nvPr/>
                </p:nvGrpSpPr>
                <p:grpSpPr bwMode="auto">
                  <a:xfrm>
                    <a:off x="878" y="3638"/>
                    <a:ext cx="49" cy="22"/>
                    <a:chOff x="878" y="3638"/>
                    <a:chExt cx="49" cy="22"/>
                  </a:xfrm>
                </p:grpSpPr>
                <p:sp>
                  <p:nvSpPr>
                    <p:cNvPr id="2644"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5"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6"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40" name="Group 2301"/>
                  <p:cNvGrpSpPr/>
                  <p:nvPr/>
                </p:nvGrpSpPr>
                <p:grpSpPr bwMode="auto">
                  <a:xfrm>
                    <a:off x="890" y="3651"/>
                    <a:ext cx="50" cy="22"/>
                    <a:chOff x="890" y="3651"/>
                    <a:chExt cx="50" cy="22"/>
                  </a:xfrm>
                </p:grpSpPr>
                <p:sp>
                  <p:nvSpPr>
                    <p:cNvPr id="2641"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2"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3"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7" name="Group 2305"/>
                <p:cNvGrpSpPr/>
                <p:nvPr/>
              </p:nvGrpSpPr>
              <p:grpSpPr bwMode="auto">
                <a:xfrm>
                  <a:off x="903" y="3665"/>
                  <a:ext cx="99" cy="74"/>
                  <a:chOff x="903" y="3665"/>
                  <a:chExt cx="99" cy="74"/>
                </a:xfrm>
              </p:grpSpPr>
              <p:grpSp>
                <p:nvGrpSpPr>
                  <p:cNvPr id="2616" name="Group 2306"/>
                  <p:cNvGrpSpPr/>
                  <p:nvPr/>
                </p:nvGrpSpPr>
                <p:grpSpPr bwMode="auto">
                  <a:xfrm>
                    <a:off x="903" y="3665"/>
                    <a:ext cx="49" cy="23"/>
                    <a:chOff x="903" y="3665"/>
                    <a:chExt cx="49" cy="23"/>
                  </a:xfrm>
                </p:grpSpPr>
                <p:sp>
                  <p:nvSpPr>
                    <p:cNvPr id="2633"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4"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5"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7" name="Group 2310"/>
                  <p:cNvGrpSpPr/>
                  <p:nvPr/>
                </p:nvGrpSpPr>
                <p:grpSpPr bwMode="auto">
                  <a:xfrm>
                    <a:off x="914" y="3678"/>
                    <a:ext cx="49" cy="23"/>
                    <a:chOff x="914" y="3678"/>
                    <a:chExt cx="49" cy="23"/>
                  </a:xfrm>
                </p:grpSpPr>
                <p:sp>
                  <p:nvSpPr>
                    <p:cNvPr id="2630"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1"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2"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8" name="Group 2314"/>
                  <p:cNvGrpSpPr/>
                  <p:nvPr/>
                </p:nvGrpSpPr>
                <p:grpSpPr bwMode="auto">
                  <a:xfrm>
                    <a:off x="928" y="3690"/>
                    <a:ext cx="48" cy="23"/>
                    <a:chOff x="928" y="3690"/>
                    <a:chExt cx="48" cy="23"/>
                  </a:xfrm>
                </p:grpSpPr>
                <p:sp>
                  <p:nvSpPr>
                    <p:cNvPr id="2627"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8"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9"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9" name="Group 2318"/>
                  <p:cNvGrpSpPr/>
                  <p:nvPr/>
                </p:nvGrpSpPr>
                <p:grpSpPr bwMode="auto">
                  <a:xfrm>
                    <a:off x="940" y="3703"/>
                    <a:ext cx="49" cy="23"/>
                    <a:chOff x="940" y="3703"/>
                    <a:chExt cx="49" cy="23"/>
                  </a:xfrm>
                </p:grpSpPr>
                <p:sp>
                  <p:nvSpPr>
                    <p:cNvPr id="2624"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5"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6"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20" name="Group 2322"/>
                  <p:cNvGrpSpPr/>
                  <p:nvPr/>
                </p:nvGrpSpPr>
                <p:grpSpPr bwMode="auto">
                  <a:xfrm>
                    <a:off x="953" y="3716"/>
                    <a:ext cx="49" cy="23"/>
                    <a:chOff x="953" y="3716"/>
                    <a:chExt cx="49" cy="23"/>
                  </a:xfrm>
                </p:grpSpPr>
                <p:sp>
                  <p:nvSpPr>
                    <p:cNvPr id="2621"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2"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3"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8" name="Group 2326"/>
                <p:cNvGrpSpPr/>
                <p:nvPr/>
              </p:nvGrpSpPr>
              <p:grpSpPr bwMode="auto">
                <a:xfrm>
                  <a:off x="963" y="3727"/>
                  <a:ext cx="49" cy="23"/>
                  <a:chOff x="963" y="3727"/>
                  <a:chExt cx="49" cy="23"/>
                </a:xfrm>
              </p:grpSpPr>
              <p:sp>
                <p:nvSpPr>
                  <p:cNvPr id="2613"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4"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5"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9" name="Group 2330"/>
                <p:cNvGrpSpPr/>
                <p:nvPr/>
              </p:nvGrpSpPr>
              <p:grpSpPr bwMode="auto">
                <a:xfrm>
                  <a:off x="976" y="3740"/>
                  <a:ext cx="50" cy="22"/>
                  <a:chOff x="976" y="3740"/>
                  <a:chExt cx="50" cy="22"/>
                </a:xfrm>
              </p:grpSpPr>
              <p:sp>
                <p:nvSpPr>
                  <p:cNvPr id="2610"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1"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2"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0" name="Group 2334"/>
                <p:cNvGrpSpPr/>
                <p:nvPr/>
              </p:nvGrpSpPr>
              <p:grpSpPr bwMode="auto">
                <a:xfrm>
                  <a:off x="761" y="3560"/>
                  <a:ext cx="50" cy="22"/>
                  <a:chOff x="761" y="3560"/>
                  <a:chExt cx="50" cy="22"/>
                </a:xfrm>
              </p:grpSpPr>
              <p:sp>
                <p:nvSpPr>
                  <p:cNvPr id="2607"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8"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9"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1" name="Group 2338"/>
                <p:cNvGrpSpPr/>
                <p:nvPr/>
              </p:nvGrpSpPr>
              <p:grpSpPr bwMode="auto">
                <a:xfrm>
                  <a:off x="774" y="3572"/>
                  <a:ext cx="49" cy="23"/>
                  <a:chOff x="774" y="3572"/>
                  <a:chExt cx="49" cy="23"/>
                </a:xfrm>
              </p:grpSpPr>
              <p:sp>
                <p:nvSpPr>
                  <p:cNvPr id="2604"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5"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6"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2" name="Group 2342"/>
                <p:cNvGrpSpPr/>
                <p:nvPr/>
              </p:nvGrpSpPr>
              <p:grpSpPr bwMode="auto">
                <a:xfrm>
                  <a:off x="787" y="3585"/>
                  <a:ext cx="49" cy="23"/>
                  <a:chOff x="787" y="3585"/>
                  <a:chExt cx="49" cy="23"/>
                </a:xfrm>
              </p:grpSpPr>
              <p:sp>
                <p:nvSpPr>
                  <p:cNvPr id="2601"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2"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3"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3" name="Group 2346"/>
                <p:cNvGrpSpPr/>
                <p:nvPr/>
              </p:nvGrpSpPr>
              <p:grpSpPr bwMode="auto">
                <a:xfrm>
                  <a:off x="799" y="3600"/>
                  <a:ext cx="99" cy="73"/>
                  <a:chOff x="799" y="3600"/>
                  <a:chExt cx="99" cy="73"/>
                </a:xfrm>
              </p:grpSpPr>
              <p:grpSp>
                <p:nvGrpSpPr>
                  <p:cNvPr id="2581" name="Group 2347"/>
                  <p:cNvGrpSpPr/>
                  <p:nvPr/>
                </p:nvGrpSpPr>
                <p:grpSpPr bwMode="auto">
                  <a:xfrm>
                    <a:off x="799" y="3600"/>
                    <a:ext cx="48" cy="23"/>
                    <a:chOff x="799" y="3600"/>
                    <a:chExt cx="48" cy="23"/>
                  </a:xfrm>
                </p:grpSpPr>
                <p:sp>
                  <p:nvSpPr>
                    <p:cNvPr id="2598"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9"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0"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2" name="Group 2351"/>
                  <p:cNvGrpSpPr/>
                  <p:nvPr/>
                </p:nvGrpSpPr>
                <p:grpSpPr bwMode="auto">
                  <a:xfrm>
                    <a:off x="811" y="3612"/>
                    <a:ext cx="48" cy="23"/>
                    <a:chOff x="811" y="3612"/>
                    <a:chExt cx="48" cy="23"/>
                  </a:xfrm>
                </p:grpSpPr>
                <p:sp>
                  <p:nvSpPr>
                    <p:cNvPr id="2595"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6"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7"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3" name="Group 2355"/>
                  <p:cNvGrpSpPr/>
                  <p:nvPr/>
                </p:nvGrpSpPr>
                <p:grpSpPr bwMode="auto">
                  <a:xfrm>
                    <a:off x="823" y="3625"/>
                    <a:ext cx="49" cy="23"/>
                    <a:chOff x="823" y="3625"/>
                    <a:chExt cx="49" cy="23"/>
                  </a:xfrm>
                </p:grpSpPr>
                <p:sp>
                  <p:nvSpPr>
                    <p:cNvPr id="2592"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3"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4"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4" name="Group 2359"/>
                  <p:cNvGrpSpPr/>
                  <p:nvPr/>
                </p:nvGrpSpPr>
                <p:grpSpPr bwMode="auto">
                  <a:xfrm>
                    <a:off x="836" y="3638"/>
                    <a:ext cx="50" cy="22"/>
                    <a:chOff x="836" y="3638"/>
                    <a:chExt cx="50" cy="22"/>
                  </a:xfrm>
                </p:grpSpPr>
                <p:sp>
                  <p:nvSpPr>
                    <p:cNvPr id="2589"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0"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1"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5" name="Group 2363"/>
                  <p:cNvGrpSpPr/>
                  <p:nvPr/>
                </p:nvGrpSpPr>
                <p:grpSpPr bwMode="auto">
                  <a:xfrm>
                    <a:off x="849" y="3651"/>
                    <a:ext cx="49" cy="22"/>
                    <a:chOff x="849" y="3651"/>
                    <a:chExt cx="49" cy="22"/>
                  </a:xfrm>
                </p:grpSpPr>
                <p:sp>
                  <p:nvSpPr>
                    <p:cNvPr id="2586"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7"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8"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4" name="Group 2367"/>
                <p:cNvGrpSpPr/>
                <p:nvPr/>
              </p:nvGrpSpPr>
              <p:grpSpPr bwMode="auto">
                <a:xfrm>
                  <a:off x="861" y="3665"/>
                  <a:ext cx="99" cy="74"/>
                  <a:chOff x="861" y="3665"/>
                  <a:chExt cx="99" cy="74"/>
                </a:xfrm>
              </p:grpSpPr>
              <p:grpSp>
                <p:nvGrpSpPr>
                  <p:cNvPr id="2561" name="Group 2368"/>
                  <p:cNvGrpSpPr/>
                  <p:nvPr/>
                </p:nvGrpSpPr>
                <p:grpSpPr bwMode="auto">
                  <a:xfrm>
                    <a:off x="861" y="3665"/>
                    <a:ext cx="50" cy="23"/>
                    <a:chOff x="861" y="3665"/>
                    <a:chExt cx="50" cy="23"/>
                  </a:xfrm>
                </p:grpSpPr>
                <p:sp>
                  <p:nvSpPr>
                    <p:cNvPr id="2578"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9"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0"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2" name="Group 2372"/>
                  <p:cNvGrpSpPr/>
                  <p:nvPr/>
                </p:nvGrpSpPr>
                <p:grpSpPr bwMode="auto">
                  <a:xfrm>
                    <a:off x="873" y="3678"/>
                    <a:ext cx="49" cy="23"/>
                    <a:chOff x="873" y="3678"/>
                    <a:chExt cx="49" cy="23"/>
                  </a:xfrm>
                </p:grpSpPr>
                <p:sp>
                  <p:nvSpPr>
                    <p:cNvPr id="2575"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6"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7"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3" name="Group 2376"/>
                  <p:cNvGrpSpPr/>
                  <p:nvPr/>
                </p:nvGrpSpPr>
                <p:grpSpPr bwMode="auto">
                  <a:xfrm>
                    <a:off x="886" y="3690"/>
                    <a:ext cx="49" cy="23"/>
                    <a:chOff x="886" y="3690"/>
                    <a:chExt cx="49" cy="23"/>
                  </a:xfrm>
                </p:grpSpPr>
                <p:sp>
                  <p:nvSpPr>
                    <p:cNvPr id="2572"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3"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4"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4" name="Group 2380"/>
                  <p:cNvGrpSpPr/>
                  <p:nvPr/>
                </p:nvGrpSpPr>
                <p:grpSpPr bwMode="auto">
                  <a:xfrm>
                    <a:off x="899" y="3703"/>
                    <a:ext cx="48" cy="23"/>
                    <a:chOff x="899" y="3703"/>
                    <a:chExt cx="48" cy="23"/>
                  </a:xfrm>
                </p:grpSpPr>
                <p:sp>
                  <p:nvSpPr>
                    <p:cNvPr id="2569"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0"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1"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5" name="Group 2384"/>
                  <p:cNvGrpSpPr/>
                  <p:nvPr/>
                </p:nvGrpSpPr>
                <p:grpSpPr bwMode="auto">
                  <a:xfrm>
                    <a:off x="912" y="3716"/>
                    <a:ext cx="48" cy="23"/>
                    <a:chOff x="912" y="3716"/>
                    <a:chExt cx="48" cy="23"/>
                  </a:xfrm>
                </p:grpSpPr>
                <p:sp>
                  <p:nvSpPr>
                    <p:cNvPr id="2566"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7"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8"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5" name="Group 2388"/>
                <p:cNvGrpSpPr/>
                <p:nvPr/>
              </p:nvGrpSpPr>
              <p:grpSpPr bwMode="auto">
                <a:xfrm>
                  <a:off x="922" y="3727"/>
                  <a:ext cx="49" cy="23"/>
                  <a:chOff x="922" y="3727"/>
                  <a:chExt cx="49" cy="23"/>
                </a:xfrm>
              </p:grpSpPr>
              <p:sp>
                <p:nvSpPr>
                  <p:cNvPr id="2558"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9"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0"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6" name="Group 2392"/>
                <p:cNvGrpSpPr/>
                <p:nvPr/>
              </p:nvGrpSpPr>
              <p:grpSpPr bwMode="auto">
                <a:xfrm>
                  <a:off x="895" y="3526"/>
                  <a:ext cx="44" cy="23"/>
                  <a:chOff x="895" y="3526"/>
                  <a:chExt cx="44" cy="23"/>
                </a:xfrm>
              </p:grpSpPr>
              <p:sp>
                <p:nvSpPr>
                  <p:cNvPr id="2555"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6"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7"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7" name="Group 2396"/>
                <p:cNvGrpSpPr/>
                <p:nvPr/>
              </p:nvGrpSpPr>
              <p:grpSpPr bwMode="auto">
                <a:xfrm>
                  <a:off x="907" y="3540"/>
                  <a:ext cx="45" cy="22"/>
                  <a:chOff x="907" y="3540"/>
                  <a:chExt cx="45" cy="22"/>
                </a:xfrm>
              </p:grpSpPr>
              <p:sp>
                <p:nvSpPr>
                  <p:cNvPr id="2552"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3"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4"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8" name="Group 2400"/>
                <p:cNvGrpSpPr/>
                <p:nvPr/>
              </p:nvGrpSpPr>
              <p:grpSpPr bwMode="auto">
                <a:xfrm>
                  <a:off x="920" y="3553"/>
                  <a:ext cx="45" cy="23"/>
                  <a:chOff x="920" y="3553"/>
                  <a:chExt cx="45" cy="23"/>
                </a:xfrm>
              </p:grpSpPr>
              <p:sp>
                <p:nvSpPr>
                  <p:cNvPr id="2549"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0"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1"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9" name="Group 2404"/>
                <p:cNvGrpSpPr/>
                <p:nvPr/>
              </p:nvGrpSpPr>
              <p:grpSpPr bwMode="auto">
                <a:xfrm>
                  <a:off x="934" y="3566"/>
                  <a:ext cx="44" cy="23"/>
                  <a:chOff x="934" y="3566"/>
                  <a:chExt cx="44" cy="23"/>
                </a:xfrm>
              </p:grpSpPr>
              <p:sp>
                <p:nvSpPr>
                  <p:cNvPr id="2546"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7"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8"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0" name="Group 2408"/>
                <p:cNvGrpSpPr/>
                <p:nvPr/>
              </p:nvGrpSpPr>
              <p:grpSpPr bwMode="auto">
                <a:xfrm>
                  <a:off x="949" y="3579"/>
                  <a:ext cx="83" cy="63"/>
                  <a:chOff x="949" y="3579"/>
                  <a:chExt cx="83" cy="63"/>
                </a:xfrm>
              </p:grpSpPr>
              <p:grpSp>
                <p:nvGrpSpPr>
                  <p:cNvPr id="2530" name="Group 2409"/>
                  <p:cNvGrpSpPr/>
                  <p:nvPr/>
                </p:nvGrpSpPr>
                <p:grpSpPr bwMode="auto">
                  <a:xfrm>
                    <a:off x="949" y="3579"/>
                    <a:ext cx="44" cy="23"/>
                    <a:chOff x="949" y="3579"/>
                    <a:chExt cx="44" cy="23"/>
                  </a:xfrm>
                </p:grpSpPr>
                <p:sp>
                  <p:nvSpPr>
                    <p:cNvPr id="2543"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4"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5"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1" name="Group 2413"/>
                  <p:cNvGrpSpPr/>
                  <p:nvPr/>
                </p:nvGrpSpPr>
                <p:grpSpPr bwMode="auto">
                  <a:xfrm>
                    <a:off x="961" y="3592"/>
                    <a:ext cx="45" cy="23"/>
                    <a:chOff x="961" y="3592"/>
                    <a:chExt cx="45" cy="23"/>
                  </a:xfrm>
                </p:grpSpPr>
                <p:sp>
                  <p:nvSpPr>
                    <p:cNvPr id="2540"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1"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2"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2" name="Group 2417"/>
                  <p:cNvGrpSpPr/>
                  <p:nvPr/>
                </p:nvGrpSpPr>
                <p:grpSpPr bwMode="auto">
                  <a:xfrm>
                    <a:off x="974" y="3606"/>
                    <a:ext cx="44" cy="23"/>
                    <a:chOff x="974" y="3606"/>
                    <a:chExt cx="44" cy="23"/>
                  </a:xfrm>
                </p:grpSpPr>
                <p:sp>
                  <p:nvSpPr>
                    <p:cNvPr id="2537"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8"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9"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3" name="Group 2421"/>
                  <p:cNvGrpSpPr/>
                  <p:nvPr/>
                </p:nvGrpSpPr>
                <p:grpSpPr bwMode="auto">
                  <a:xfrm>
                    <a:off x="987" y="3619"/>
                    <a:ext cx="45" cy="23"/>
                    <a:chOff x="987" y="3619"/>
                    <a:chExt cx="45" cy="23"/>
                  </a:xfrm>
                </p:grpSpPr>
                <p:sp>
                  <p:nvSpPr>
                    <p:cNvPr id="2534"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5"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6"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1" name="Group 2425"/>
                <p:cNvGrpSpPr/>
                <p:nvPr/>
              </p:nvGrpSpPr>
              <p:grpSpPr bwMode="auto">
                <a:xfrm>
                  <a:off x="1002" y="3632"/>
                  <a:ext cx="83" cy="63"/>
                  <a:chOff x="1002" y="3632"/>
                  <a:chExt cx="83" cy="63"/>
                </a:xfrm>
              </p:grpSpPr>
              <p:grpSp>
                <p:nvGrpSpPr>
                  <p:cNvPr id="2514" name="Group 2426"/>
                  <p:cNvGrpSpPr/>
                  <p:nvPr/>
                </p:nvGrpSpPr>
                <p:grpSpPr bwMode="auto">
                  <a:xfrm>
                    <a:off x="1002" y="3632"/>
                    <a:ext cx="44" cy="22"/>
                    <a:chOff x="1002" y="3632"/>
                    <a:chExt cx="44" cy="22"/>
                  </a:xfrm>
                </p:grpSpPr>
                <p:sp>
                  <p:nvSpPr>
                    <p:cNvPr id="2527"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8"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9"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5" name="Group 2430"/>
                  <p:cNvGrpSpPr/>
                  <p:nvPr/>
                </p:nvGrpSpPr>
                <p:grpSpPr bwMode="auto">
                  <a:xfrm>
                    <a:off x="1014" y="3645"/>
                    <a:ext cx="44" cy="23"/>
                    <a:chOff x="1014" y="3645"/>
                    <a:chExt cx="44" cy="23"/>
                  </a:xfrm>
                </p:grpSpPr>
                <p:sp>
                  <p:nvSpPr>
                    <p:cNvPr id="2524"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5"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6"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6" name="Group 2434"/>
                  <p:cNvGrpSpPr/>
                  <p:nvPr/>
                </p:nvGrpSpPr>
                <p:grpSpPr bwMode="auto">
                  <a:xfrm>
                    <a:off x="1027" y="3659"/>
                    <a:ext cx="45" cy="23"/>
                    <a:chOff x="1027" y="3659"/>
                    <a:chExt cx="45" cy="23"/>
                  </a:xfrm>
                </p:grpSpPr>
                <p:sp>
                  <p:nvSpPr>
                    <p:cNvPr id="2521"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2"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3"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7" name="Group 2438"/>
                  <p:cNvGrpSpPr/>
                  <p:nvPr/>
                </p:nvGrpSpPr>
                <p:grpSpPr bwMode="auto">
                  <a:xfrm>
                    <a:off x="1040" y="3672"/>
                    <a:ext cx="45" cy="23"/>
                    <a:chOff x="1040" y="3672"/>
                    <a:chExt cx="45" cy="23"/>
                  </a:xfrm>
                </p:grpSpPr>
                <p:sp>
                  <p:nvSpPr>
                    <p:cNvPr id="2518"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9"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0"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2" name="Group 2442"/>
                <p:cNvGrpSpPr/>
                <p:nvPr/>
              </p:nvGrpSpPr>
              <p:grpSpPr bwMode="auto">
                <a:xfrm>
                  <a:off x="1054" y="3685"/>
                  <a:ext cx="45" cy="23"/>
                  <a:chOff x="1054" y="3685"/>
                  <a:chExt cx="45" cy="23"/>
                </a:xfrm>
              </p:grpSpPr>
              <p:sp>
                <p:nvSpPr>
                  <p:cNvPr id="2511"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2"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3"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3" name="Group 2446"/>
                <p:cNvGrpSpPr/>
                <p:nvPr/>
              </p:nvGrpSpPr>
              <p:grpSpPr bwMode="auto">
                <a:xfrm>
                  <a:off x="1067" y="3698"/>
                  <a:ext cx="45" cy="23"/>
                  <a:chOff x="1067" y="3698"/>
                  <a:chExt cx="45" cy="23"/>
                </a:xfrm>
              </p:grpSpPr>
              <p:sp>
                <p:nvSpPr>
                  <p:cNvPr id="2508"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9"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0"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4" name="Group 2450"/>
                <p:cNvGrpSpPr/>
                <p:nvPr/>
              </p:nvGrpSpPr>
              <p:grpSpPr bwMode="auto">
                <a:xfrm>
                  <a:off x="1079" y="3712"/>
                  <a:ext cx="44" cy="23"/>
                  <a:chOff x="1079" y="3712"/>
                  <a:chExt cx="44" cy="23"/>
                </a:xfrm>
              </p:grpSpPr>
              <p:sp>
                <p:nvSpPr>
                  <p:cNvPr id="2505"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6"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7"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5" name="Group 2454"/>
                <p:cNvGrpSpPr/>
                <p:nvPr/>
              </p:nvGrpSpPr>
              <p:grpSpPr bwMode="auto">
                <a:xfrm>
                  <a:off x="1093" y="3725"/>
                  <a:ext cx="45" cy="23"/>
                  <a:chOff x="1093" y="3725"/>
                  <a:chExt cx="45" cy="23"/>
                </a:xfrm>
              </p:grpSpPr>
              <p:sp>
                <p:nvSpPr>
                  <p:cNvPr id="2502"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3"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4"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6" name="Group 2458"/>
                <p:cNvGrpSpPr/>
                <p:nvPr/>
              </p:nvGrpSpPr>
              <p:grpSpPr bwMode="auto">
                <a:xfrm>
                  <a:off x="1108" y="3739"/>
                  <a:ext cx="44" cy="23"/>
                  <a:chOff x="1108" y="3739"/>
                  <a:chExt cx="44" cy="23"/>
                </a:xfrm>
              </p:grpSpPr>
              <p:sp>
                <p:nvSpPr>
                  <p:cNvPr id="2499"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0"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1"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7" name="Group 2462"/>
                <p:cNvGrpSpPr/>
                <p:nvPr/>
              </p:nvGrpSpPr>
              <p:grpSpPr bwMode="auto">
                <a:xfrm>
                  <a:off x="1121" y="3753"/>
                  <a:ext cx="45" cy="23"/>
                  <a:chOff x="1121" y="3753"/>
                  <a:chExt cx="45" cy="23"/>
                </a:xfrm>
              </p:grpSpPr>
              <p:sp>
                <p:nvSpPr>
                  <p:cNvPr id="2496"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7"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8"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8" name="Group 2466"/>
                <p:cNvGrpSpPr/>
                <p:nvPr/>
              </p:nvGrpSpPr>
              <p:grpSpPr bwMode="auto">
                <a:xfrm>
                  <a:off x="1133" y="3767"/>
                  <a:ext cx="44" cy="23"/>
                  <a:chOff x="1133" y="3767"/>
                  <a:chExt cx="44" cy="23"/>
                </a:xfrm>
              </p:grpSpPr>
              <p:sp>
                <p:nvSpPr>
                  <p:cNvPr id="2493"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4"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5"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39"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0"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1"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2"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3"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4"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5"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6"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7"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8"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9"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50" name="Group 2481"/>
                <p:cNvGrpSpPr/>
                <p:nvPr/>
              </p:nvGrpSpPr>
              <p:grpSpPr bwMode="auto">
                <a:xfrm>
                  <a:off x="700" y="3535"/>
                  <a:ext cx="49" cy="24"/>
                  <a:chOff x="700" y="3535"/>
                  <a:chExt cx="49" cy="24"/>
                </a:xfrm>
              </p:grpSpPr>
              <p:sp>
                <p:nvSpPr>
                  <p:cNvPr id="2490"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1"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2"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1" name="Group 2485"/>
                <p:cNvGrpSpPr/>
                <p:nvPr/>
              </p:nvGrpSpPr>
              <p:grpSpPr bwMode="auto">
                <a:xfrm>
                  <a:off x="714" y="3551"/>
                  <a:ext cx="49" cy="22"/>
                  <a:chOff x="714" y="3551"/>
                  <a:chExt cx="49" cy="22"/>
                </a:xfrm>
              </p:grpSpPr>
              <p:sp>
                <p:nvSpPr>
                  <p:cNvPr id="2487"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8"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9"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2" name="Group 2489"/>
                <p:cNvGrpSpPr/>
                <p:nvPr/>
              </p:nvGrpSpPr>
              <p:grpSpPr bwMode="auto">
                <a:xfrm>
                  <a:off x="728" y="3564"/>
                  <a:ext cx="48" cy="23"/>
                  <a:chOff x="728" y="3564"/>
                  <a:chExt cx="48" cy="23"/>
                </a:xfrm>
              </p:grpSpPr>
              <p:sp>
                <p:nvSpPr>
                  <p:cNvPr id="2484"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5"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6"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3" name="Group 2493"/>
                <p:cNvGrpSpPr/>
                <p:nvPr/>
              </p:nvGrpSpPr>
              <p:grpSpPr bwMode="auto">
                <a:xfrm>
                  <a:off x="742" y="3582"/>
                  <a:ext cx="49" cy="23"/>
                  <a:chOff x="742" y="3582"/>
                  <a:chExt cx="49" cy="23"/>
                </a:xfrm>
              </p:grpSpPr>
              <p:sp>
                <p:nvSpPr>
                  <p:cNvPr id="2481"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2"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3"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4" name="Group 2497"/>
                <p:cNvGrpSpPr/>
                <p:nvPr/>
              </p:nvGrpSpPr>
              <p:grpSpPr bwMode="auto">
                <a:xfrm>
                  <a:off x="752" y="3597"/>
                  <a:ext cx="133" cy="106"/>
                  <a:chOff x="752" y="3597"/>
                  <a:chExt cx="133" cy="106"/>
                </a:xfrm>
              </p:grpSpPr>
              <p:sp>
                <p:nvSpPr>
                  <p:cNvPr id="2478"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9"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0"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5" name="Group 2501"/>
                <p:cNvGrpSpPr/>
                <p:nvPr/>
              </p:nvGrpSpPr>
              <p:grpSpPr bwMode="auto">
                <a:xfrm>
                  <a:off x="844" y="3694"/>
                  <a:ext cx="48" cy="23"/>
                  <a:chOff x="844" y="3694"/>
                  <a:chExt cx="48" cy="23"/>
                </a:xfrm>
              </p:grpSpPr>
              <p:sp>
                <p:nvSpPr>
                  <p:cNvPr id="2475"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6"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7"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6" name="Group 2505"/>
                <p:cNvGrpSpPr/>
                <p:nvPr/>
              </p:nvGrpSpPr>
              <p:grpSpPr bwMode="auto">
                <a:xfrm>
                  <a:off x="857" y="3710"/>
                  <a:ext cx="49" cy="22"/>
                  <a:chOff x="857" y="3710"/>
                  <a:chExt cx="49" cy="22"/>
                </a:xfrm>
              </p:grpSpPr>
              <p:sp>
                <p:nvSpPr>
                  <p:cNvPr id="2472"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3"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4"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7" name="Group 2509"/>
                <p:cNvGrpSpPr/>
                <p:nvPr/>
              </p:nvGrpSpPr>
              <p:grpSpPr bwMode="auto">
                <a:xfrm>
                  <a:off x="1086" y="3766"/>
                  <a:ext cx="49" cy="23"/>
                  <a:chOff x="1086" y="3766"/>
                  <a:chExt cx="49" cy="23"/>
                </a:xfrm>
              </p:grpSpPr>
              <p:sp>
                <p:nvSpPr>
                  <p:cNvPr id="2469"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0"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1"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8" name="Group 2513"/>
                <p:cNvGrpSpPr/>
                <p:nvPr/>
              </p:nvGrpSpPr>
              <p:grpSpPr bwMode="auto">
                <a:xfrm>
                  <a:off x="934" y="3740"/>
                  <a:ext cx="48" cy="23"/>
                  <a:chOff x="934" y="3740"/>
                  <a:chExt cx="48" cy="23"/>
                </a:xfrm>
              </p:grpSpPr>
              <p:sp>
                <p:nvSpPr>
                  <p:cNvPr id="2466"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7"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8"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9" name="Group 2517"/>
                <p:cNvGrpSpPr/>
                <p:nvPr/>
              </p:nvGrpSpPr>
              <p:grpSpPr bwMode="auto">
                <a:xfrm>
                  <a:off x="943" y="3754"/>
                  <a:ext cx="49" cy="23"/>
                  <a:chOff x="943" y="3754"/>
                  <a:chExt cx="49" cy="23"/>
                </a:xfrm>
              </p:grpSpPr>
              <p:sp>
                <p:nvSpPr>
                  <p:cNvPr id="2463"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4"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5"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60"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1"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2"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7" name="Group 2524"/>
              <p:cNvGrpSpPr/>
              <p:nvPr/>
            </p:nvGrpSpPr>
            <p:grpSpPr bwMode="auto">
              <a:xfrm>
                <a:off x="920" y="3821"/>
                <a:ext cx="413" cy="50"/>
                <a:chOff x="920" y="3821"/>
                <a:chExt cx="413" cy="50"/>
              </a:xfrm>
            </p:grpSpPr>
            <p:sp>
              <p:nvSpPr>
                <p:cNvPr id="2378"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9"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0"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81"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358" name="Group 2529"/>
              <p:cNvGrpSpPr/>
              <p:nvPr/>
            </p:nvGrpSpPr>
            <p:grpSpPr bwMode="auto">
              <a:xfrm>
                <a:off x="1227" y="3477"/>
                <a:ext cx="508" cy="321"/>
                <a:chOff x="1227" y="3477"/>
                <a:chExt cx="508" cy="321"/>
              </a:xfrm>
            </p:grpSpPr>
            <p:sp>
              <p:nvSpPr>
                <p:cNvPr id="2359"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0"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1"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2"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3"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4"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5"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6"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7"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8"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9"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0"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1"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2"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3"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4"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5"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6"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7"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801" name="Group 2096"/>
            <p:cNvGrpSpPr/>
            <p:nvPr/>
          </p:nvGrpSpPr>
          <p:grpSpPr bwMode="auto">
            <a:xfrm>
              <a:off x="5940425" y="2060575"/>
              <a:ext cx="431800" cy="330200"/>
              <a:chOff x="624" y="2968"/>
              <a:chExt cx="1331" cy="920"/>
            </a:xfrm>
          </p:grpSpPr>
          <p:sp>
            <p:nvSpPr>
              <p:cNvPr id="2802"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3"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4"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5"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6"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7"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8"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9"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0"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1"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2"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3"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14" name="Group 2109"/>
              <p:cNvGrpSpPr/>
              <p:nvPr/>
            </p:nvGrpSpPr>
            <p:grpSpPr bwMode="auto">
              <a:xfrm>
                <a:off x="700" y="3526"/>
                <a:ext cx="515" cy="270"/>
                <a:chOff x="700" y="3526"/>
                <a:chExt cx="515" cy="270"/>
              </a:xfrm>
            </p:grpSpPr>
            <p:grpSp>
              <p:nvGrpSpPr>
                <p:cNvPr id="2840" name="Group 2110"/>
                <p:cNvGrpSpPr/>
                <p:nvPr/>
              </p:nvGrpSpPr>
              <p:grpSpPr bwMode="auto">
                <a:xfrm>
                  <a:off x="737" y="3534"/>
                  <a:ext cx="49" cy="23"/>
                  <a:chOff x="737" y="3534"/>
                  <a:chExt cx="49" cy="23"/>
                </a:xfrm>
              </p:grpSpPr>
              <p:sp>
                <p:nvSpPr>
                  <p:cNvPr id="3251"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2"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3"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1" name="Group 2114"/>
                <p:cNvGrpSpPr/>
                <p:nvPr/>
              </p:nvGrpSpPr>
              <p:grpSpPr bwMode="auto">
                <a:xfrm>
                  <a:off x="748" y="3547"/>
                  <a:ext cx="50" cy="23"/>
                  <a:chOff x="748" y="3547"/>
                  <a:chExt cx="50" cy="23"/>
                </a:xfrm>
              </p:grpSpPr>
              <p:sp>
                <p:nvSpPr>
                  <p:cNvPr id="3248"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9"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0"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42"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3"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4"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5"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46" name="Group 2122"/>
                <p:cNvGrpSpPr/>
                <p:nvPr/>
              </p:nvGrpSpPr>
              <p:grpSpPr bwMode="auto">
                <a:xfrm>
                  <a:off x="872" y="3547"/>
                  <a:ext cx="50" cy="23"/>
                  <a:chOff x="872" y="3547"/>
                  <a:chExt cx="50" cy="23"/>
                </a:xfrm>
              </p:grpSpPr>
              <p:sp>
                <p:nvSpPr>
                  <p:cNvPr id="3245"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6"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7"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7" name="Group 2126"/>
                <p:cNvGrpSpPr/>
                <p:nvPr/>
              </p:nvGrpSpPr>
              <p:grpSpPr bwMode="auto">
                <a:xfrm>
                  <a:off x="885" y="3559"/>
                  <a:ext cx="50" cy="23"/>
                  <a:chOff x="885" y="3559"/>
                  <a:chExt cx="50" cy="23"/>
                </a:xfrm>
              </p:grpSpPr>
              <p:sp>
                <p:nvSpPr>
                  <p:cNvPr id="3242"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3"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4"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8" name="Group 2130"/>
                <p:cNvGrpSpPr/>
                <p:nvPr/>
              </p:nvGrpSpPr>
              <p:grpSpPr bwMode="auto">
                <a:xfrm>
                  <a:off x="898" y="3571"/>
                  <a:ext cx="49" cy="23"/>
                  <a:chOff x="898" y="3571"/>
                  <a:chExt cx="49" cy="23"/>
                </a:xfrm>
              </p:grpSpPr>
              <p:sp>
                <p:nvSpPr>
                  <p:cNvPr id="3239"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0"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1"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9" name="Group 2134"/>
                <p:cNvGrpSpPr/>
                <p:nvPr/>
              </p:nvGrpSpPr>
              <p:grpSpPr bwMode="auto">
                <a:xfrm>
                  <a:off x="911" y="3585"/>
                  <a:ext cx="49" cy="23"/>
                  <a:chOff x="911" y="3585"/>
                  <a:chExt cx="49" cy="23"/>
                </a:xfrm>
              </p:grpSpPr>
              <p:sp>
                <p:nvSpPr>
                  <p:cNvPr id="3236"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7"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8"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0" name="Group 2138"/>
                <p:cNvGrpSpPr/>
                <p:nvPr/>
              </p:nvGrpSpPr>
              <p:grpSpPr bwMode="auto">
                <a:xfrm>
                  <a:off x="923" y="3600"/>
                  <a:ext cx="99" cy="73"/>
                  <a:chOff x="923" y="3600"/>
                  <a:chExt cx="99" cy="73"/>
                </a:xfrm>
              </p:grpSpPr>
              <p:grpSp>
                <p:nvGrpSpPr>
                  <p:cNvPr id="3216" name="Group 2139"/>
                  <p:cNvGrpSpPr/>
                  <p:nvPr/>
                </p:nvGrpSpPr>
                <p:grpSpPr bwMode="auto">
                  <a:xfrm>
                    <a:off x="923" y="3600"/>
                    <a:ext cx="49" cy="23"/>
                    <a:chOff x="923" y="3600"/>
                    <a:chExt cx="49" cy="23"/>
                  </a:xfrm>
                </p:grpSpPr>
                <p:sp>
                  <p:nvSpPr>
                    <p:cNvPr id="3233"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4"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5"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7" name="Group 2143"/>
                  <p:cNvGrpSpPr/>
                  <p:nvPr/>
                </p:nvGrpSpPr>
                <p:grpSpPr bwMode="auto">
                  <a:xfrm>
                    <a:off x="935" y="3612"/>
                    <a:ext cx="48" cy="23"/>
                    <a:chOff x="935" y="3612"/>
                    <a:chExt cx="48" cy="23"/>
                  </a:xfrm>
                </p:grpSpPr>
                <p:sp>
                  <p:nvSpPr>
                    <p:cNvPr id="3230"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1"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2"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8" name="Group 2147"/>
                  <p:cNvGrpSpPr/>
                  <p:nvPr/>
                </p:nvGrpSpPr>
                <p:grpSpPr bwMode="auto">
                  <a:xfrm>
                    <a:off x="947" y="3625"/>
                    <a:ext cx="50" cy="22"/>
                    <a:chOff x="947" y="3625"/>
                    <a:chExt cx="50" cy="22"/>
                  </a:xfrm>
                </p:grpSpPr>
                <p:sp>
                  <p:nvSpPr>
                    <p:cNvPr id="3227"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8"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9"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9" name="Group 2151"/>
                  <p:cNvGrpSpPr/>
                  <p:nvPr/>
                </p:nvGrpSpPr>
                <p:grpSpPr bwMode="auto">
                  <a:xfrm>
                    <a:off x="960" y="3637"/>
                    <a:ext cx="50" cy="23"/>
                    <a:chOff x="960" y="3637"/>
                    <a:chExt cx="50" cy="23"/>
                  </a:xfrm>
                </p:grpSpPr>
                <p:sp>
                  <p:nvSpPr>
                    <p:cNvPr id="3224"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5"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6"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0" name="Group 2155"/>
                  <p:cNvGrpSpPr/>
                  <p:nvPr/>
                </p:nvGrpSpPr>
                <p:grpSpPr bwMode="auto">
                  <a:xfrm>
                    <a:off x="973" y="3650"/>
                    <a:ext cx="49" cy="23"/>
                    <a:chOff x="973" y="3650"/>
                    <a:chExt cx="49" cy="23"/>
                  </a:xfrm>
                </p:grpSpPr>
                <p:sp>
                  <p:nvSpPr>
                    <p:cNvPr id="3221"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2"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3"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1" name="Group 2159"/>
                <p:cNvGrpSpPr/>
                <p:nvPr/>
              </p:nvGrpSpPr>
              <p:grpSpPr bwMode="auto">
                <a:xfrm>
                  <a:off x="985" y="3665"/>
                  <a:ext cx="100" cy="73"/>
                  <a:chOff x="985" y="3665"/>
                  <a:chExt cx="100" cy="73"/>
                </a:xfrm>
              </p:grpSpPr>
              <p:grpSp>
                <p:nvGrpSpPr>
                  <p:cNvPr id="3196" name="Group 2160"/>
                  <p:cNvGrpSpPr/>
                  <p:nvPr/>
                </p:nvGrpSpPr>
                <p:grpSpPr bwMode="auto">
                  <a:xfrm>
                    <a:off x="985" y="3665"/>
                    <a:ext cx="50" cy="23"/>
                    <a:chOff x="985" y="3665"/>
                    <a:chExt cx="50" cy="23"/>
                  </a:xfrm>
                </p:grpSpPr>
                <p:sp>
                  <p:nvSpPr>
                    <p:cNvPr id="3213"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4"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5"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7" name="Group 2164"/>
                  <p:cNvGrpSpPr/>
                  <p:nvPr/>
                </p:nvGrpSpPr>
                <p:grpSpPr bwMode="auto">
                  <a:xfrm>
                    <a:off x="997" y="3677"/>
                    <a:ext cx="49" cy="23"/>
                    <a:chOff x="997" y="3677"/>
                    <a:chExt cx="49" cy="23"/>
                  </a:xfrm>
                </p:grpSpPr>
                <p:sp>
                  <p:nvSpPr>
                    <p:cNvPr id="3210"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1"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2"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8" name="Group 2168"/>
                  <p:cNvGrpSpPr/>
                  <p:nvPr/>
                </p:nvGrpSpPr>
                <p:grpSpPr bwMode="auto">
                  <a:xfrm>
                    <a:off x="1010" y="3690"/>
                    <a:ext cx="48" cy="23"/>
                    <a:chOff x="1010" y="3690"/>
                    <a:chExt cx="48" cy="23"/>
                  </a:xfrm>
                </p:grpSpPr>
                <p:sp>
                  <p:nvSpPr>
                    <p:cNvPr id="3207"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8"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9"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9" name="Group 2172"/>
                  <p:cNvGrpSpPr/>
                  <p:nvPr/>
                </p:nvGrpSpPr>
                <p:grpSpPr bwMode="auto">
                  <a:xfrm>
                    <a:off x="1023" y="3703"/>
                    <a:ext cx="49" cy="22"/>
                    <a:chOff x="1023" y="3703"/>
                    <a:chExt cx="49" cy="22"/>
                  </a:xfrm>
                </p:grpSpPr>
                <p:sp>
                  <p:nvSpPr>
                    <p:cNvPr id="3204"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5"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6"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0" name="Group 2176"/>
                  <p:cNvGrpSpPr/>
                  <p:nvPr/>
                </p:nvGrpSpPr>
                <p:grpSpPr bwMode="auto">
                  <a:xfrm>
                    <a:off x="1036" y="3716"/>
                    <a:ext cx="49" cy="22"/>
                    <a:chOff x="1036" y="3716"/>
                    <a:chExt cx="49" cy="22"/>
                  </a:xfrm>
                </p:grpSpPr>
                <p:sp>
                  <p:nvSpPr>
                    <p:cNvPr id="3201"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2"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3"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2" name="Group 2180"/>
                <p:cNvGrpSpPr/>
                <p:nvPr/>
              </p:nvGrpSpPr>
              <p:grpSpPr bwMode="auto">
                <a:xfrm>
                  <a:off x="1046" y="3727"/>
                  <a:ext cx="49" cy="23"/>
                  <a:chOff x="1046" y="3727"/>
                  <a:chExt cx="49" cy="23"/>
                </a:xfrm>
              </p:grpSpPr>
              <p:sp>
                <p:nvSpPr>
                  <p:cNvPr id="3193"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4"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5"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3" name="Group 2184"/>
                <p:cNvGrpSpPr/>
                <p:nvPr/>
              </p:nvGrpSpPr>
              <p:grpSpPr bwMode="auto">
                <a:xfrm>
                  <a:off x="1058" y="3739"/>
                  <a:ext cx="50" cy="23"/>
                  <a:chOff x="1058" y="3739"/>
                  <a:chExt cx="50" cy="23"/>
                </a:xfrm>
              </p:grpSpPr>
              <p:sp>
                <p:nvSpPr>
                  <p:cNvPr id="3190"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1"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2"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4" name="Group 2188"/>
                <p:cNvGrpSpPr/>
                <p:nvPr/>
              </p:nvGrpSpPr>
              <p:grpSpPr bwMode="auto">
                <a:xfrm>
                  <a:off x="1072" y="3753"/>
                  <a:ext cx="48" cy="22"/>
                  <a:chOff x="1072" y="3753"/>
                  <a:chExt cx="48" cy="22"/>
                </a:xfrm>
              </p:grpSpPr>
              <p:sp>
                <p:nvSpPr>
                  <p:cNvPr id="3187"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8"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9"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55"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6"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7"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58" name="Group 2195"/>
                <p:cNvGrpSpPr/>
                <p:nvPr/>
              </p:nvGrpSpPr>
              <p:grpSpPr bwMode="auto">
                <a:xfrm>
                  <a:off x="832" y="3547"/>
                  <a:ext cx="49" cy="23"/>
                  <a:chOff x="832" y="3547"/>
                  <a:chExt cx="49" cy="23"/>
                </a:xfrm>
              </p:grpSpPr>
              <p:sp>
                <p:nvSpPr>
                  <p:cNvPr id="3184"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5"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6"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9" name="Group 2199"/>
                <p:cNvGrpSpPr/>
                <p:nvPr/>
              </p:nvGrpSpPr>
              <p:grpSpPr bwMode="auto">
                <a:xfrm>
                  <a:off x="844" y="3560"/>
                  <a:ext cx="49" cy="22"/>
                  <a:chOff x="844" y="3560"/>
                  <a:chExt cx="49" cy="22"/>
                </a:xfrm>
              </p:grpSpPr>
              <p:sp>
                <p:nvSpPr>
                  <p:cNvPr id="3181"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2"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3"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0" name="Group 2203"/>
                <p:cNvGrpSpPr/>
                <p:nvPr/>
              </p:nvGrpSpPr>
              <p:grpSpPr bwMode="auto">
                <a:xfrm>
                  <a:off x="857" y="3572"/>
                  <a:ext cx="50" cy="23"/>
                  <a:chOff x="857" y="3572"/>
                  <a:chExt cx="50" cy="23"/>
                </a:xfrm>
              </p:grpSpPr>
              <p:sp>
                <p:nvSpPr>
                  <p:cNvPr id="3178"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9"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0"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1" name="Group 2207"/>
                <p:cNvGrpSpPr/>
                <p:nvPr/>
              </p:nvGrpSpPr>
              <p:grpSpPr bwMode="auto">
                <a:xfrm>
                  <a:off x="870" y="3585"/>
                  <a:ext cx="48" cy="23"/>
                  <a:chOff x="870" y="3585"/>
                  <a:chExt cx="48" cy="23"/>
                </a:xfrm>
              </p:grpSpPr>
              <p:sp>
                <p:nvSpPr>
                  <p:cNvPr id="3175"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6"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7"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2" name="Group 2211"/>
                <p:cNvGrpSpPr/>
                <p:nvPr/>
              </p:nvGrpSpPr>
              <p:grpSpPr bwMode="auto">
                <a:xfrm>
                  <a:off x="882" y="3600"/>
                  <a:ext cx="100" cy="73"/>
                  <a:chOff x="882" y="3600"/>
                  <a:chExt cx="100" cy="73"/>
                </a:xfrm>
              </p:grpSpPr>
              <p:grpSp>
                <p:nvGrpSpPr>
                  <p:cNvPr id="3155" name="Group 2212"/>
                  <p:cNvGrpSpPr/>
                  <p:nvPr/>
                </p:nvGrpSpPr>
                <p:grpSpPr bwMode="auto">
                  <a:xfrm>
                    <a:off x="882" y="3600"/>
                    <a:ext cx="49" cy="23"/>
                    <a:chOff x="882" y="3600"/>
                    <a:chExt cx="49" cy="23"/>
                  </a:xfrm>
                </p:grpSpPr>
                <p:sp>
                  <p:nvSpPr>
                    <p:cNvPr id="3172"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3"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4"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6" name="Group 2216"/>
                  <p:cNvGrpSpPr/>
                  <p:nvPr/>
                </p:nvGrpSpPr>
                <p:grpSpPr bwMode="auto">
                  <a:xfrm>
                    <a:off x="894" y="3612"/>
                    <a:ext cx="49" cy="23"/>
                    <a:chOff x="894" y="3612"/>
                    <a:chExt cx="49" cy="23"/>
                  </a:xfrm>
                </p:grpSpPr>
                <p:sp>
                  <p:nvSpPr>
                    <p:cNvPr id="3169"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0"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1"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7" name="Group 2220"/>
                  <p:cNvGrpSpPr/>
                  <p:nvPr/>
                </p:nvGrpSpPr>
                <p:grpSpPr bwMode="auto">
                  <a:xfrm>
                    <a:off x="907" y="3625"/>
                    <a:ext cx="49" cy="23"/>
                    <a:chOff x="907" y="3625"/>
                    <a:chExt cx="49" cy="23"/>
                  </a:xfrm>
                </p:grpSpPr>
                <p:sp>
                  <p:nvSpPr>
                    <p:cNvPr id="3166"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7"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8"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8" name="Group 2224"/>
                  <p:cNvGrpSpPr/>
                  <p:nvPr/>
                </p:nvGrpSpPr>
                <p:grpSpPr bwMode="auto">
                  <a:xfrm>
                    <a:off x="919" y="3638"/>
                    <a:ext cx="49" cy="22"/>
                    <a:chOff x="919" y="3638"/>
                    <a:chExt cx="49" cy="22"/>
                  </a:xfrm>
                </p:grpSpPr>
                <p:sp>
                  <p:nvSpPr>
                    <p:cNvPr id="3163"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4"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5"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9" name="Group 2228"/>
                  <p:cNvGrpSpPr/>
                  <p:nvPr/>
                </p:nvGrpSpPr>
                <p:grpSpPr bwMode="auto">
                  <a:xfrm>
                    <a:off x="932" y="3651"/>
                    <a:ext cx="50" cy="22"/>
                    <a:chOff x="932" y="3651"/>
                    <a:chExt cx="50" cy="22"/>
                  </a:xfrm>
                </p:grpSpPr>
                <p:sp>
                  <p:nvSpPr>
                    <p:cNvPr id="3160"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1"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2"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3" name="Group 2232"/>
                <p:cNvGrpSpPr/>
                <p:nvPr/>
              </p:nvGrpSpPr>
              <p:grpSpPr bwMode="auto">
                <a:xfrm>
                  <a:off x="944" y="3665"/>
                  <a:ext cx="99" cy="74"/>
                  <a:chOff x="944" y="3665"/>
                  <a:chExt cx="99" cy="74"/>
                </a:xfrm>
              </p:grpSpPr>
              <p:grpSp>
                <p:nvGrpSpPr>
                  <p:cNvPr id="3135" name="Group 2233"/>
                  <p:cNvGrpSpPr/>
                  <p:nvPr/>
                </p:nvGrpSpPr>
                <p:grpSpPr bwMode="auto">
                  <a:xfrm>
                    <a:off x="944" y="3665"/>
                    <a:ext cx="49" cy="23"/>
                    <a:chOff x="944" y="3665"/>
                    <a:chExt cx="49" cy="23"/>
                  </a:xfrm>
                </p:grpSpPr>
                <p:sp>
                  <p:nvSpPr>
                    <p:cNvPr id="3152"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3"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4"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6" name="Group 2237"/>
                  <p:cNvGrpSpPr/>
                  <p:nvPr/>
                </p:nvGrpSpPr>
                <p:grpSpPr bwMode="auto">
                  <a:xfrm>
                    <a:off x="957" y="3678"/>
                    <a:ext cx="48" cy="23"/>
                    <a:chOff x="957" y="3678"/>
                    <a:chExt cx="48" cy="23"/>
                  </a:xfrm>
                </p:grpSpPr>
                <p:sp>
                  <p:nvSpPr>
                    <p:cNvPr id="3149"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0"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1"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7" name="Group 2241"/>
                  <p:cNvGrpSpPr/>
                  <p:nvPr/>
                </p:nvGrpSpPr>
                <p:grpSpPr bwMode="auto">
                  <a:xfrm>
                    <a:off x="969" y="3690"/>
                    <a:ext cx="49" cy="23"/>
                    <a:chOff x="969" y="3690"/>
                    <a:chExt cx="49" cy="23"/>
                  </a:xfrm>
                </p:grpSpPr>
                <p:sp>
                  <p:nvSpPr>
                    <p:cNvPr id="3146"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7"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8"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8" name="Group 2245"/>
                  <p:cNvGrpSpPr/>
                  <p:nvPr/>
                </p:nvGrpSpPr>
                <p:grpSpPr bwMode="auto">
                  <a:xfrm>
                    <a:off x="982" y="3703"/>
                    <a:ext cx="49" cy="23"/>
                    <a:chOff x="982" y="3703"/>
                    <a:chExt cx="49" cy="23"/>
                  </a:xfrm>
                </p:grpSpPr>
                <p:sp>
                  <p:nvSpPr>
                    <p:cNvPr id="3143"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4"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5"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9" name="Group 2249"/>
                  <p:cNvGrpSpPr/>
                  <p:nvPr/>
                </p:nvGrpSpPr>
                <p:grpSpPr bwMode="auto">
                  <a:xfrm>
                    <a:off x="995" y="3716"/>
                    <a:ext cx="48" cy="23"/>
                    <a:chOff x="995" y="3716"/>
                    <a:chExt cx="48" cy="23"/>
                  </a:xfrm>
                </p:grpSpPr>
                <p:sp>
                  <p:nvSpPr>
                    <p:cNvPr id="3140"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1"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2"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4" name="Group 2253"/>
                <p:cNvGrpSpPr/>
                <p:nvPr/>
              </p:nvGrpSpPr>
              <p:grpSpPr bwMode="auto">
                <a:xfrm>
                  <a:off x="1005" y="3727"/>
                  <a:ext cx="49" cy="23"/>
                  <a:chOff x="1005" y="3727"/>
                  <a:chExt cx="49" cy="23"/>
                </a:xfrm>
              </p:grpSpPr>
              <p:sp>
                <p:nvSpPr>
                  <p:cNvPr id="3132"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3"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4"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5" name="Group 2257"/>
                <p:cNvGrpSpPr/>
                <p:nvPr/>
              </p:nvGrpSpPr>
              <p:grpSpPr bwMode="auto">
                <a:xfrm>
                  <a:off x="1018" y="3740"/>
                  <a:ext cx="49" cy="22"/>
                  <a:chOff x="1018" y="3740"/>
                  <a:chExt cx="49" cy="22"/>
                </a:xfrm>
              </p:grpSpPr>
              <p:sp>
                <p:nvSpPr>
                  <p:cNvPr id="3129"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0"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1"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6" name="Group 2261"/>
                <p:cNvGrpSpPr/>
                <p:nvPr/>
              </p:nvGrpSpPr>
              <p:grpSpPr bwMode="auto">
                <a:xfrm>
                  <a:off x="1030" y="3753"/>
                  <a:ext cx="49" cy="23"/>
                  <a:chOff x="1030" y="3753"/>
                  <a:chExt cx="49" cy="23"/>
                </a:xfrm>
              </p:grpSpPr>
              <p:sp>
                <p:nvSpPr>
                  <p:cNvPr id="3126"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7"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8"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67"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8"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9"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70" name="Group 2268"/>
                <p:cNvGrpSpPr/>
                <p:nvPr/>
              </p:nvGrpSpPr>
              <p:grpSpPr bwMode="auto">
                <a:xfrm>
                  <a:off x="790" y="3547"/>
                  <a:ext cx="49" cy="23"/>
                  <a:chOff x="790" y="3547"/>
                  <a:chExt cx="49" cy="23"/>
                </a:xfrm>
              </p:grpSpPr>
              <p:sp>
                <p:nvSpPr>
                  <p:cNvPr id="3123"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4"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5"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1" name="Group 2272"/>
                <p:cNvGrpSpPr/>
                <p:nvPr/>
              </p:nvGrpSpPr>
              <p:grpSpPr bwMode="auto">
                <a:xfrm>
                  <a:off x="803" y="3560"/>
                  <a:ext cx="49" cy="22"/>
                  <a:chOff x="803" y="3560"/>
                  <a:chExt cx="49" cy="22"/>
                </a:xfrm>
              </p:grpSpPr>
              <p:sp>
                <p:nvSpPr>
                  <p:cNvPr id="3120"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1"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2"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2" name="Group 2276"/>
                <p:cNvGrpSpPr/>
                <p:nvPr/>
              </p:nvGrpSpPr>
              <p:grpSpPr bwMode="auto">
                <a:xfrm>
                  <a:off x="815" y="3572"/>
                  <a:ext cx="50" cy="23"/>
                  <a:chOff x="815" y="3572"/>
                  <a:chExt cx="50" cy="23"/>
                </a:xfrm>
              </p:grpSpPr>
              <p:sp>
                <p:nvSpPr>
                  <p:cNvPr id="3117"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8"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9"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3" name="Group 2280"/>
                <p:cNvGrpSpPr/>
                <p:nvPr/>
              </p:nvGrpSpPr>
              <p:grpSpPr bwMode="auto">
                <a:xfrm>
                  <a:off x="828" y="3585"/>
                  <a:ext cx="49" cy="23"/>
                  <a:chOff x="828" y="3585"/>
                  <a:chExt cx="49" cy="23"/>
                </a:xfrm>
              </p:grpSpPr>
              <p:sp>
                <p:nvSpPr>
                  <p:cNvPr id="3114"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5"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6"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4" name="Group 2284"/>
                <p:cNvGrpSpPr/>
                <p:nvPr/>
              </p:nvGrpSpPr>
              <p:grpSpPr bwMode="auto">
                <a:xfrm>
                  <a:off x="840" y="3600"/>
                  <a:ext cx="100" cy="73"/>
                  <a:chOff x="840" y="3600"/>
                  <a:chExt cx="100" cy="73"/>
                </a:xfrm>
              </p:grpSpPr>
              <p:grpSp>
                <p:nvGrpSpPr>
                  <p:cNvPr id="3094" name="Group 2285"/>
                  <p:cNvGrpSpPr/>
                  <p:nvPr/>
                </p:nvGrpSpPr>
                <p:grpSpPr bwMode="auto">
                  <a:xfrm>
                    <a:off x="840" y="3600"/>
                    <a:ext cx="49" cy="23"/>
                    <a:chOff x="840" y="3600"/>
                    <a:chExt cx="49" cy="23"/>
                  </a:xfrm>
                </p:grpSpPr>
                <p:sp>
                  <p:nvSpPr>
                    <p:cNvPr id="3111"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2"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3"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5" name="Group 2289"/>
                  <p:cNvGrpSpPr/>
                  <p:nvPr/>
                </p:nvGrpSpPr>
                <p:grpSpPr bwMode="auto">
                  <a:xfrm>
                    <a:off x="853" y="3612"/>
                    <a:ext cx="48" cy="23"/>
                    <a:chOff x="853" y="3612"/>
                    <a:chExt cx="48" cy="23"/>
                  </a:xfrm>
                </p:grpSpPr>
                <p:sp>
                  <p:nvSpPr>
                    <p:cNvPr id="3108"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9"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0"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6" name="Group 2293"/>
                  <p:cNvGrpSpPr/>
                  <p:nvPr/>
                </p:nvGrpSpPr>
                <p:grpSpPr bwMode="auto">
                  <a:xfrm>
                    <a:off x="865" y="3625"/>
                    <a:ext cx="49" cy="23"/>
                    <a:chOff x="865" y="3625"/>
                    <a:chExt cx="49" cy="23"/>
                  </a:xfrm>
                </p:grpSpPr>
                <p:sp>
                  <p:nvSpPr>
                    <p:cNvPr id="3105"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6"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7"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7" name="Group 2297"/>
                  <p:cNvGrpSpPr/>
                  <p:nvPr/>
                </p:nvGrpSpPr>
                <p:grpSpPr bwMode="auto">
                  <a:xfrm>
                    <a:off x="878" y="3638"/>
                    <a:ext cx="49" cy="22"/>
                    <a:chOff x="878" y="3638"/>
                    <a:chExt cx="49" cy="22"/>
                  </a:xfrm>
                </p:grpSpPr>
                <p:sp>
                  <p:nvSpPr>
                    <p:cNvPr id="3102"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3"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4"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8" name="Group 2301"/>
                  <p:cNvGrpSpPr/>
                  <p:nvPr/>
                </p:nvGrpSpPr>
                <p:grpSpPr bwMode="auto">
                  <a:xfrm>
                    <a:off x="890" y="3651"/>
                    <a:ext cx="50" cy="22"/>
                    <a:chOff x="890" y="3651"/>
                    <a:chExt cx="50" cy="22"/>
                  </a:xfrm>
                </p:grpSpPr>
                <p:sp>
                  <p:nvSpPr>
                    <p:cNvPr id="3099"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0"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1"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5" name="Group 2305"/>
                <p:cNvGrpSpPr/>
                <p:nvPr/>
              </p:nvGrpSpPr>
              <p:grpSpPr bwMode="auto">
                <a:xfrm>
                  <a:off x="903" y="3665"/>
                  <a:ext cx="99" cy="74"/>
                  <a:chOff x="903" y="3665"/>
                  <a:chExt cx="99" cy="74"/>
                </a:xfrm>
              </p:grpSpPr>
              <p:grpSp>
                <p:nvGrpSpPr>
                  <p:cNvPr id="3074" name="Group 2306"/>
                  <p:cNvGrpSpPr/>
                  <p:nvPr/>
                </p:nvGrpSpPr>
                <p:grpSpPr bwMode="auto">
                  <a:xfrm>
                    <a:off x="903" y="3665"/>
                    <a:ext cx="49" cy="23"/>
                    <a:chOff x="903" y="3665"/>
                    <a:chExt cx="49" cy="23"/>
                  </a:xfrm>
                </p:grpSpPr>
                <p:sp>
                  <p:nvSpPr>
                    <p:cNvPr id="3091"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2"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3"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5" name="Group 2310"/>
                  <p:cNvGrpSpPr/>
                  <p:nvPr/>
                </p:nvGrpSpPr>
                <p:grpSpPr bwMode="auto">
                  <a:xfrm>
                    <a:off x="914" y="3678"/>
                    <a:ext cx="49" cy="23"/>
                    <a:chOff x="914" y="3678"/>
                    <a:chExt cx="49" cy="23"/>
                  </a:xfrm>
                </p:grpSpPr>
                <p:sp>
                  <p:nvSpPr>
                    <p:cNvPr id="3088"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9"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0"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6" name="Group 2314"/>
                  <p:cNvGrpSpPr/>
                  <p:nvPr/>
                </p:nvGrpSpPr>
                <p:grpSpPr bwMode="auto">
                  <a:xfrm>
                    <a:off x="928" y="3690"/>
                    <a:ext cx="48" cy="23"/>
                    <a:chOff x="928" y="3690"/>
                    <a:chExt cx="48" cy="23"/>
                  </a:xfrm>
                </p:grpSpPr>
                <p:sp>
                  <p:nvSpPr>
                    <p:cNvPr id="3085"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6"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7"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7" name="Group 2318"/>
                  <p:cNvGrpSpPr/>
                  <p:nvPr/>
                </p:nvGrpSpPr>
                <p:grpSpPr bwMode="auto">
                  <a:xfrm>
                    <a:off x="940" y="3703"/>
                    <a:ext cx="49" cy="23"/>
                    <a:chOff x="940" y="3703"/>
                    <a:chExt cx="49" cy="23"/>
                  </a:xfrm>
                </p:grpSpPr>
                <p:sp>
                  <p:nvSpPr>
                    <p:cNvPr id="3082"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3"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4"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8" name="Group 2322"/>
                  <p:cNvGrpSpPr/>
                  <p:nvPr/>
                </p:nvGrpSpPr>
                <p:grpSpPr bwMode="auto">
                  <a:xfrm>
                    <a:off x="953" y="3716"/>
                    <a:ext cx="49" cy="23"/>
                    <a:chOff x="953" y="3716"/>
                    <a:chExt cx="49" cy="23"/>
                  </a:xfrm>
                </p:grpSpPr>
                <p:sp>
                  <p:nvSpPr>
                    <p:cNvPr id="3079"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0"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1"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6" name="Group 2326"/>
                <p:cNvGrpSpPr/>
                <p:nvPr/>
              </p:nvGrpSpPr>
              <p:grpSpPr bwMode="auto">
                <a:xfrm>
                  <a:off x="963" y="3727"/>
                  <a:ext cx="49" cy="23"/>
                  <a:chOff x="963" y="3727"/>
                  <a:chExt cx="49" cy="23"/>
                </a:xfrm>
              </p:grpSpPr>
              <p:sp>
                <p:nvSpPr>
                  <p:cNvPr id="3071"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2"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3"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7" name="Group 2330"/>
                <p:cNvGrpSpPr/>
                <p:nvPr/>
              </p:nvGrpSpPr>
              <p:grpSpPr bwMode="auto">
                <a:xfrm>
                  <a:off x="976" y="3740"/>
                  <a:ext cx="50" cy="22"/>
                  <a:chOff x="976" y="3740"/>
                  <a:chExt cx="50" cy="22"/>
                </a:xfrm>
              </p:grpSpPr>
              <p:sp>
                <p:nvSpPr>
                  <p:cNvPr id="3068"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9"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0"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8" name="Group 2334"/>
                <p:cNvGrpSpPr/>
                <p:nvPr/>
              </p:nvGrpSpPr>
              <p:grpSpPr bwMode="auto">
                <a:xfrm>
                  <a:off x="761" y="3560"/>
                  <a:ext cx="50" cy="22"/>
                  <a:chOff x="761" y="3560"/>
                  <a:chExt cx="50" cy="22"/>
                </a:xfrm>
              </p:grpSpPr>
              <p:sp>
                <p:nvSpPr>
                  <p:cNvPr id="3065"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6"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7"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9" name="Group 2338"/>
                <p:cNvGrpSpPr/>
                <p:nvPr/>
              </p:nvGrpSpPr>
              <p:grpSpPr bwMode="auto">
                <a:xfrm>
                  <a:off x="774" y="3572"/>
                  <a:ext cx="49" cy="23"/>
                  <a:chOff x="774" y="3572"/>
                  <a:chExt cx="49" cy="23"/>
                </a:xfrm>
              </p:grpSpPr>
              <p:sp>
                <p:nvSpPr>
                  <p:cNvPr id="3062"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3"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4"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0" name="Group 2342"/>
                <p:cNvGrpSpPr/>
                <p:nvPr/>
              </p:nvGrpSpPr>
              <p:grpSpPr bwMode="auto">
                <a:xfrm>
                  <a:off x="787" y="3585"/>
                  <a:ext cx="49" cy="23"/>
                  <a:chOff x="787" y="3585"/>
                  <a:chExt cx="49" cy="23"/>
                </a:xfrm>
              </p:grpSpPr>
              <p:sp>
                <p:nvSpPr>
                  <p:cNvPr id="3059"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0"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1"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1" name="Group 2346"/>
                <p:cNvGrpSpPr/>
                <p:nvPr/>
              </p:nvGrpSpPr>
              <p:grpSpPr bwMode="auto">
                <a:xfrm>
                  <a:off x="799" y="3600"/>
                  <a:ext cx="99" cy="73"/>
                  <a:chOff x="799" y="3600"/>
                  <a:chExt cx="99" cy="73"/>
                </a:xfrm>
              </p:grpSpPr>
              <p:grpSp>
                <p:nvGrpSpPr>
                  <p:cNvPr id="3039" name="Group 2347"/>
                  <p:cNvGrpSpPr/>
                  <p:nvPr/>
                </p:nvGrpSpPr>
                <p:grpSpPr bwMode="auto">
                  <a:xfrm>
                    <a:off x="799" y="3600"/>
                    <a:ext cx="48" cy="23"/>
                    <a:chOff x="799" y="3600"/>
                    <a:chExt cx="48" cy="23"/>
                  </a:xfrm>
                </p:grpSpPr>
                <p:sp>
                  <p:nvSpPr>
                    <p:cNvPr id="3056"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7"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8"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0" name="Group 2351"/>
                  <p:cNvGrpSpPr/>
                  <p:nvPr/>
                </p:nvGrpSpPr>
                <p:grpSpPr bwMode="auto">
                  <a:xfrm>
                    <a:off x="811" y="3612"/>
                    <a:ext cx="48" cy="23"/>
                    <a:chOff x="811" y="3612"/>
                    <a:chExt cx="48" cy="23"/>
                  </a:xfrm>
                </p:grpSpPr>
                <p:sp>
                  <p:nvSpPr>
                    <p:cNvPr id="3053"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4"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5"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1" name="Group 2355"/>
                  <p:cNvGrpSpPr/>
                  <p:nvPr/>
                </p:nvGrpSpPr>
                <p:grpSpPr bwMode="auto">
                  <a:xfrm>
                    <a:off x="823" y="3625"/>
                    <a:ext cx="49" cy="23"/>
                    <a:chOff x="823" y="3625"/>
                    <a:chExt cx="49" cy="23"/>
                  </a:xfrm>
                </p:grpSpPr>
                <p:sp>
                  <p:nvSpPr>
                    <p:cNvPr id="3050"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1"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2"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2" name="Group 2359"/>
                  <p:cNvGrpSpPr/>
                  <p:nvPr/>
                </p:nvGrpSpPr>
                <p:grpSpPr bwMode="auto">
                  <a:xfrm>
                    <a:off x="836" y="3638"/>
                    <a:ext cx="50" cy="22"/>
                    <a:chOff x="836" y="3638"/>
                    <a:chExt cx="50" cy="22"/>
                  </a:xfrm>
                </p:grpSpPr>
                <p:sp>
                  <p:nvSpPr>
                    <p:cNvPr id="3047"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8"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9"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3" name="Group 2363"/>
                  <p:cNvGrpSpPr/>
                  <p:nvPr/>
                </p:nvGrpSpPr>
                <p:grpSpPr bwMode="auto">
                  <a:xfrm>
                    <a:off x="849" y="3651"/>
                    <a:ext cx="49" cy="22"/>
                    <a:chOff x="849" y="3651"/>
                    <a:chExt cx="49" cy="22"/>
                  </a:xfrm>
                </p:grpSpPr>
                <p:sp>
                  <p:nvSpPr>
                    <p:cNvPr id="3044"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5"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6"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2" name="Group 2367"/>
                <p:cNvGrpSpPr/>
                <p:nvPr/>
              </p:nvGrpSpPr>
              <p:grpSpPr bwMode="auto">
                <a:xfrm>
                  <a:off x="861" y="3665"/>
                  <a:ext cx="99" cy="74"/>
                  <a:chOff x="861" y="3665"/>
                  <a:chExt cx="99" cy="74"/>
                </a:xfrm>
              </p:grpSpPr>
              <p:grpSp>
                <p:nvGrpSpPr>
                  <p:cNvPr id="3019" name="Group 2368"/>
                  <p:cNvGrpSpPr/>
                  <p:nvPr/>
                </p:nvGrpSpPr>
                <p:grpSpPr bwMode="auto">
                  <a:xfrm>
                    <a:off x="861" y="3665"/>
                    <a:ext cx="50" cy="23"/>
                    <a:chOff x="861" y="3665"/>
                    <a:chExt cx="50" cy="23"/>
                  </a:xfrm>
                </p:grpSpPr>
                <p:sp>
                  <p:nvSpPr>
                    <p:cNvPr id="3036"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7"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8"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0" name="Group 2372"/>
                  <p:cNvGrpSpPr/>
                  <p:nvPr/>
                </p:nvGrpSpPr>
                <p:grpSpPr bwMode="auto">
                  <a:xfrm>
                    <a:off x="873" y="3678"/>
                    <a:ext cx="49" cy="23"/>
                    <a:chOff x="873" y="3678"/>
                    <a:chExt cx="49" cy="23"/>
                  </a:xfrm>
                </p:grpSpPr>
                <p:sp>
                  <p:nvSpPr>
                    <p:cNvPr id="3033"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4"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5"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1" name="Group 2376"/>
                  <p:cNvGrpSpPr/>
                  <p:nvPr/>
                </p:nvGrpSpPr>
                <p:grpSpPr bwMode="auto">
                  <a:xfrm>
                    <a:off x="886" y="3690"/>
                    <a:ext cx="49" cy="23"/>
                    <a:chOff x="886" y="3690"/>
                    <a:chExt cx="49" cy="23"/>
                  </a:xfrm>
                </p:grpSpPr>
                <p:sp>
                  <p:nvSpPr>
                    <p:cNvPr id="3030"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1"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2"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2" name="Group 2380"/>
                  <p:cNvGrpSpPr/>
                  <p:nvPr/>
                </p:nvGrpSpPr>
                <p:grpSpPr bwMode="auto">
                  <a:xfrm>
                    <a:off x="899" y="3703"/>
                    <a:ext cx="48" cy="23"/>
                    <a:chOff x="899" y="3703"/>
                    <a:chExt cx="48" cy="23"/>
                  </a:xfrm>
                </p:grpSpPr>
                <p:sp>
                  <p:nvSpPr>
                    <p:cNvPr id="3027"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8"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9"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3" name="Group 2384"/>
                  <p:cNvGrpSpPr/>
                  <p:nvPr/>
                </p:nvGrpSpPr>
                <p:grpSpPr bwMode="auto">
                  <a:xfrm>
                    <a:off x="912" y="3716"/>
                    <a:ext cx="48" cy="23"/>
                    <a:chOff x="912" y="3716"/>
                    <a:chExt cx="48" cy="23"/>
                  </a:xfrm>
                </p:grpSpPr>
                <p:sp>
                  <p:nvSpPr>
                    <p:cNvPr id="3024"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5"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6"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3" name="Group 2388"/>
                <p:cNvGrpSpPr/>
                <p:nvPr/>
              </p:nvGrpSpPr>
              <p:grpSpPr bwMode="auto">
                <a:xfrm>
                  <a:off x="922" y="3727"/>
                  <a:ext cx="49" cy="23"/>
                  <a:chOff x="922" y="3727"/>
                  <a:chExt cx="49" cy="23"/>
                </a:xfrm>
              </p:grpSpPr>
              <p:sp>
                <p:nvSpPr>
                  <p:cNvPr id="3016"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7"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8"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4" name="Group 2392"/>
                <p:cNvGrpSpPr/>
                <p:nvPr/>
              </p:nvGrpSpPr>
              <p:grpSpPr bwMode="auto">
                <a:xfrm>
                  <a:off x="895" y="3526"/>
                  <a:ext cx="44" cy="23"/>
                  <a:chOff x="895" y="3526"/>
                  <a:chExt cx="44" cy="23"/>
                </a:xfrm>
              </p:grpSpPr>
              <p:sp>
                <p:nvSpPr>
                  <p:cNvPr id="3013"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4"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5"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5" name="Group 2396"/>
                <p:cNvGrpSpPr/>
                <p:nvPr/>
              </p:nvGrpSpPr>
              <p:grpSpPr bwMode="auto">
                <a:xfrm>
                  <a:off x="907" y="3540"/>
                  <a:ext cx="45" cy="22"/>
                  <a:chOff x="907" y="3540"/>
                  <a:chExt cx="45" cy="22"/>
                </a:xfrm>
              </p:grpSpPr>
              <p:sp>
                <p:nvSpPr>
                  <p:cNvPr id="3010"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1"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2"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6" name="Group 2400"/>
                <p:cNvGrpSpPr/>
                <p:nvPr/>
              </p:nvGrpSpPr>
              <p:grpSpPr bwMode="auto">
                <a:xfrm>
                  <a:off x="920" y="3553"/>
                  <a:ext cx="45" cy="23"/>
                  <a:chOff x="920" y="3553"/>
                  <a:chExt cx="45" cy="23"/>
                </a:xfrm>
              </p:grpSpPr>
              <p:sp>
                <p:nvSpPr>
                  <p:cNvPr id="3007"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8"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9"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7" name="Group 2404"/>
                <p:cNvGrpSpPr/>
                <p:nvPr/>
              </p:nvGrpSpPr>
              <p:grpSpPr bwMode="auto">
                <a:xfrm>
                  <a:off x="934" y="3566"/>
                  <a:ext cx="44" cy="23"/>
                  <a:chOff x="934" y="3566"/>
                  <a:chExt cx="44" cy="23"/>
                </a:xfrm>
              </p:grpSpPr>
              <p:sp>
                <p:nvSpPr>
                  <p:cNvPr id="3004"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5"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6"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8" name="Group 2408"/>
                <p:cNvGrpSpPr/>
                <p:nvPr/>
              </p:nvGrpSpPr>
              <p:grpSpPr bwMode="auto">
                <a:xfrm>
                  <a:off x="949" y="3579"/>
                  <a:ext cx="83" cy="63"/>
                  <a:chOff x="949" y="3579"/>
                  <a:chExt cx="83" cy="63"/>
                </a:xfrm>
              </p:grpSpPr>
              <p:grpSp>
                <p:nvGrpSpPr>
                  <p:cNvPr id="2988" name="Group 2409"/>
                  <p:cNvGrpSpPr/>
                  <p:nvPr/>
                </p:nvGrpSpPr>
                <p:grpSpPr bwMode="auto">
                  <a:xfrm>
                    <a:off x="949" y="3579"/>
                    <a:ext cx="44" cy="23"/>
                    <a:chOff x="949" y="3579"/>
                    <a:chExt cx="44" cy="23"/>
                  </a:xfrm>
                </p:grpSpPr>
                <p:sp>
                  <p:nvSpPr>
                    <p:cNvPr id="3001"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2"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3"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89" name="Group 2413"/>
                  <p:cNvGrpSpPr/>
                  <p:nvPr/>
                </p:nvGrpSpPr>
                <p:grpSpPr bwMode="auto">
                  <a:xfrm>
                    <a:off x="961" y="3592"/>
                    <a:ext cx="45" cy="23"/>
                    <a:chOff x="961" y="3592"/>
                    <a:chExt cx="45" cy="23"/>
                  </a:xfrm>
                </p:grpSpPr>
                <p:sp>
                  <p:nvSpPr>
                    <p:cNvPr id="2998"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9"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0"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0" name="Group 2417"/>
                  <p:cNvGrpSpPr/>
                  <p:nvPr/>
                </p:nvGrpSpPr>
                <p:grpSpPr bwMode="auto">
                  <a:xfrm>
                    <a:off x="974" y="3606"/>
                    <a:ext cx="44" cy="23"/>
                    <a:chOff x="974" y="3606"/>
                    <a:chExt cx="44" cy="23"/>
                  </a:xfrm>
                </p:grpSpPr>
                <p:sp>
                  <p:nvSpPr>
                    <p:cNvPr id="2995"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6"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7"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1" name="Group 2421"/>
                  <p:cNvGrpSpPr/>
                  <p:nvPr/>
                </p:nvGrpSpPr>
                <p:grpSpPr bwMode="auto">
                  <a:xfrm>
                    <a:off x="987" y="3619"/>
                    <a:ext cx="45" cy="23"/>
                    <a:chOff x="987" y="3619"/>
                    <a:chExt cx="45" cy="23"/>
                  </a:xfrm>
                </p:grpSpPr>
                <p:sp>
                  <p:nvSpPr>
                    <p:cNvPr id="2992"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3"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4"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9" name="Group 2425"/>
                <p:cNvGrpSpPr/>
                <p:nvPr/>
              </p:nvGrpSpPr>
              <p:grpSpPr bwMode="auto">
                <a:xfrm>
                  <a:off x="1002" y="3632"/>
                  <a:ext cx="83" cy="63"/>
                  <a:chOff x="1002" y="3632"/>
                  <a:chExt cx="83" cy="63"/>
                </a:xfrm>
              </p:grpSpPr>
              <p:grpSp>
                <p:nvGrpSpPr>
                  <p:cNvPr id="2972" name="Group 2426"/>
                  <p:cNvGrpSpPr/>
                  <p:nvPr/>
                </p:nvGrpSpPr>
                <p:grpSpPr bwMode="auto">
                  <a:xfrm>
                    <a:off x="1002" y="3632"/>
                    <a:ext cx="44" cy="22"/>
                    <a:chOff x="1002" y="3632"/>
                    <a:chExt cx="44" cy="22"/>
                  </a:xfrm>
                </p:grpSpPr>
                <p:sp>
                  <p:nvSpPr>
                    <p:cNvPr id="2985"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6"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7"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3" name="Group 2430"/>
                  <p:cNvGrpSpPr/>
                  <p:nvPr/>
                </p:nvGrpSpPr>
                <p:grpSpPr bwMode="auto">
                  <a:xfrm>
                    <a:off x="1014" y="3645"/>
                    <a:ext cx="44" cy="23"/>
                    <a:chOff x="1014" y="3645"/>
                    <a:chExt cx="44" cy="23"/>
                  </a:xfrm>
                </p:grpSpPr>
                <p:sp>
                  <p:nvSpPr>
                    <p:cNvPr id="2982"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3"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4"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4" name="Group 2434"/>
                  <p:cNvGrpSpPr/>
                  <p:nvPr/>
                </p:nvGrpSpPr>
                <p:grpSpPr bwMode="auto">
                  <a:xfrm>
                    <a:off x="1027" y="3659"/>
                    <a:ext cx="45" cy="23"/>
                    <a:chOff x="1027" y="3659"/>
                    <a:chExt cx="45" cy="23"/>
                  </a:xfrm>
                </p:grpSpPr>
                <p:sp>
                  <p:nvSpPr>
                    <p:cNvPr id="2979"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0"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1"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5" name="Group 2438"/>
                  <p:cNvGrpSpPr/>
                  <p:nvPr/>
                </p:nvGrpSpPr>
                <p:grpSpPr bwMode="auto">
                  <a:xfrm>
                    <a:off x="1040" y="3672"/>
                    <a:ext cx="45" cy="23"/>
                    <a:chOff x="1040" y="3672"/>
                    <a:chExt cx="45" cy="23"/>
                  </a:xfrm>
                </p:grpSpPr>
                <p:sp>
                  <p:nvSpPr>
                    <p:cNvPr id="2976"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7"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8"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90" name="Group 2442"/>
                <p:cNvGrpSpPr/>
                <p:nvPr/>
              </p:nvGrpSpPr>
              <p:grpSpPr bwMode="auto">
                <a:xfrm>
                  <a:off x="1054" y="3685"/>
                  <a:ext cx="45" cy="23"/>
                  <a:chOff x="1054" y="3685"/>
                  <a:chExt cx="45" cy="23"/>
                </a:xfrm>
              </p:grpSpPr>
              <p:sp>
                <p:nvSpPr>
                  <p:cNvPr id="2969"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0"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1"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1" name="Group 2446"/>
                <p:cNvGrpSpPr/>
                <p:nvPr/>
              </p:nvGrpSpPr>
              <p:grpSpPr bwMode="auto">
                <a:xfrm>
                  <a:off x="1067" y="3698"/>
                  <a:ext cx="45" cy="23"/>
                  <a:chOff x="1067" y="3698"/>
                  <a:chExt cx="45" cy="23"/>
                </a:xfrm>
              </p:grpSpPr>
              <p:sp>
                <p:nvSpPr>
                  <p:cNvPr id="2966"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7"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8"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2" name="Group 2450"/>
                <p:cNvGrpSpPr/>
                <p:nvPr/>
              </p:nvGrpSpPr>
              <p:grpSpPr bwMode="auto">
                <a:xfrm>
                  <a:off x="1079" y="3712"/>
                  <a:ext cx="44" cy="23"/>
                  <a:chOff x="1079" y="3712"/>
                  <a:chExt cx="44" cy="23"/>
                </a:xfrm>
              </p:grpSpPr>
              <p:sp>
                <p:nvSpPr>
                  <p:cNvPr id="2963"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4"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5"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3" name="Group 2454"/>
                <p:cNvGrpSpPr/>
                <p:nvPr/>
              </p:nvGrpSpPr>
              <p:grpSpPr bwMode="auto">
                <a:xfrm>
                  <a:off x="1093" y="3725"/>
                  <a:ext cx="45" cy="23"/>
                  <a:chOff x="1093" y="3725"/>
                  <a:chExt cx="45" cy="23"/>
                </a:xfrm>
              </p:grpSpPr>
              <p:sp>
                <p:nvSpPr>
                  <p:cNvPr id="2960"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1"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2"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4" name="Group 2458"/>
                <p:cNvGrpSpPr/>
                <p:nvPr/>
              </p:nvGrpSpPr>
              <p:grpSpPr bwMode="auto">
                <a:xfrm>
                  <a:off x="1108" y="3739"/>
                  <a:ext cx="44" cy="23"/>
                  <a:chOff x="1108" y="3739"/>
                  <a:chExt cx="44" cy="23"/>
                </a:xfrm>
              </p:grpSpPr>
              <p:sp>
                <p:nvSpPr>
                  <p:cNvPr id="2957"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8"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9"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5" name="Group 2462"/>
                <p:cNvGrpSpPr/>
                <p:nvPr/>
              </p:nvGrpSpPr>
              <p:grpSpPr bwMode="auto">
                <a:xfrm>
                  <a:off x="1121" y="3753"/>
                  <a:ext cx="45" cy="23"/>
                  <a:chOff x="1121" y="3753"/>
                  <a:chExt cx="45" cy="23"/>
                </a:xfrm>
              </p:grpSpPr>
              <p:sp>
                <p:nvSpPr>
                  <p:cNvPr id="2954"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5"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6"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6" name="Group 2466"/>
                <p:cNvGrpSpPr/>
                <p:nvPr/>
              </p:nvGrpSpPr>
              <p:grpSpPr bwMode="auto">
                <a:xfrm>
                  <a:off x="1133" y="3767"/>
                  <a:ext cx="44" cy="23"/>
                  <a:chOff x="1133" y="3767"/>
                  <a:chExt cx="44" cy="23"/>
                </a:xfrm>
              </p:grpSpPr>
              <p:sp>
                <p:nvSpPr>
                  <p:cNvPr id="2951"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2"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3"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97"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8"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9"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0"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1"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2"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3"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4"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5"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6"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7"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908" name="Group 2481"/>
                <p:cNvGrpSpPr/>
                <p:nvPr/>
              </p:nvGrpSpPr>
              <p:grpSpPr bwMode="auto">
                <a:xfrm>
                  <a:off x="700" y="3535"/>
                  <a:ext cx="49" cy="24"/>
                  <a:chOff x="700" y="3535"/>
                  <a:chExt cx="49" cy="24"/>
                </a:xfrm>
              </p:grpSpPr>
              <p:sp>
                <p:nvSpPr>
                  <p:cNvPr id="2948"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9"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0"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09" name="Group 2485"/>
                <p:cNvGrpSpPr/>
                <p:nvPr/>
              </p:nvGrpSpPr>
              <p:grpSpPr bwMode="auto">
                <a:xfrm>
                  <a:off x="714" y="3551"/>
                  <a:ext cx="49" cy="22"/>
                  <a:chOff x="714" y="3551"/>
                  <a:chExt cx="49" cy="22"/>
                </a:xfrm>
              </p:grpSpPr>
              <p:sp>
                <p:nvSpPr>
                  <p:cNvPr id="2945"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6"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7"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0" name="Group 2489"/>
                <p:cNvGrpSpPr/>
                <p:nvPr/>
              </p:nvGrpSpPr>
              <p:grpSpPr bwMode="auto">
                <a:xfrm>
                  <a:off x="728" y="3564"/>
                  <a:ext cx="48" cy="23"/>
                  <a:chOff x="728" y="3564"/>
                  <a:chExt cx="48" cy="23"/>
                </a:xfrm>
              </p:grpSpPr>
              <p:sp>
                <p:nvSpPr>
                  <p:cNvPr id="2942"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3"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4"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1" name="Group 2493"/>
                <p:cNvGrpSpPr/>
                <p:nvPr/>
              </p:nvGrpSpPr>
              <p:grpSpPr bwMode="auto">
                <a:xfrm>
                  <a:off x="742" y="3582"/>
                  <a:ext cx="49" cy="23"/>
                  <a:chOff x="742" y="3582"/>
                  <a:chExt cx="49" cy="23"/>
                </a:xfrm>
              </p:grpSpPr>
              <p:sp>
                <p:nvSpPr>
                  <p:cNvPr id="2939"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0"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1"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2" name="Group 2497"/>
                <p:cNvGrpSpPr/>
                <p:nvPr/>
              </p:nvGrpSpPr>
              <p:grpSpPr bwMode="auto">
                <a:xfrm>
                  <a:off x="752" y="3597"/>
                  <a:ext cx="133" cy="106"/>
                  <a:chOff x="752" y="3597"/>
                  <a:chExt cx="133" cy="106"/>
                </a:xfrm>
              </p:grpSpPr>
              <p:sp>
                <p:nvSpPr>
                  <p:cNvPr id="2936"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7"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8"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3" name="Group 2501"/>
                <p:cNvGrpSpPr/>
                <p:nvPr/>
              </p:nvGrpSpPr>
              <p:grpSpPr bwMode="auto">
                <a:xfrm>
                  <a:off x="844" y="3694"/>
                  <a:ext cx="48" cy="23"/>
                  <a:chOff x="844" y="3694"/>
                  <a:chExt cx="48" cy="23"/>
                </a:xfrm>
              </p:grpSpPr>
              <p:sp>
                <p:nvSpPr>
                  <p:cNvPr id="2933"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4"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5"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4" name="Group 2505"/>
                <p:cNvGrpSpPr/>
                <p:nvPr/>
              </p:nvGrpSpPr>
              <p:grpSpPr bwMode="auto">
                <a:xfrm>
                  <a:off x="857" y="3710"/>
                  <a:ext cx="49" cy="22"/>
                  <a:chOff x="857" y="3710"/>
                  <a:chExt cx="49" cy="22"/>
                </a:xfrm>
              </p:grpSpPr>
              <p:sp>
                <p:nvSpPr>
                  <p:cNvPr id="2930"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1"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2"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5" name="Group 2509"/>
                <p:cNvGrpSpPr/>
                <p:nvPr/>
              </p:nvGrpSpPr>
              <p:grpSpPr bwMode="auto">
                <a:xfrm>
                  <a:off x="1086" y="3766"/>
                  <a:ext cx="49" cy="23"/>
                  <a:chOff x="1086" y="3766"/>
                  <a:chExt cx="49" cy="23"/>
                </a:xfrm>
              </p:grpSpPr>
              <p:sp>
                <p:nvSpPr>
                  <p:cNvPr id="2927"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8"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9"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6" name="Group 2513"/>
                <p:cNvGrpSpPr/>
                <p:nvPr/>
              </p:nvGrpSpPr>
              <p:grpSpPr bwMode="auto">
                <a:xfrm>
                  <a:off x="934" y="3740"/>
                  <a:ext cx="48" cy="23"/>
                  <a:chOff x="934" y="3740"/>
                  <a:chExt cx="48" cy="23"/>
                </a:xfrm>
              </p:grpSpPr>
              <p:sp>
                <p:nvSpPr>
                  <p:cNvPr id="2924"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5"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6"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7" name="Group 2517"/>
                <p:cNvGrpSpPr/>
                <p:nvPr/>
              </p:nvGrpSpPr>
              <p:grpSpPr bwMode="auto">
                <a:xfrm>
                  <a:off x="943" y="3754"/>
                  <a:ext cx="49" cy="23"/>
                  <a:chOff x="943" y="3754"/>
                  <a:chExt cx="49" cy="23"/>
                </a:xfrm>
              </p:grpSpPr>
              <p:sp>
                <p:nvSpPr>
                  <p:cNvPr id="2921"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2"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3"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918"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9"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0"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15" name="Group 2524"/>
              <p:cNvGrpSpPr/>
              <p:nvPr/>
            </p:nvGrpSpPr>
            <p:grpSpPr bwMode="auto">
              <a:xfrm>
                <a:off x="920" y="3821"/>
                <a:ext cx="413" cy="50"/>
                <a:chOff x="920" y="3821"/>
                <a:chExt cx="413" cy="50"/>
              </a:xfrm>
            </p:grpSpPr>
            <p:sp>
              <p:nvSpPr>
                <p:cNvPr id="2836"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7"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816" name="Group 2529"/>
              <p:cNvGrpSpPr/>
              <p:nvPr/>
            </p:nvGrpSpPr>
            <p:grpSpPr bwMode="auto">
              <a:xfrm>
                <a:off x="1227" y="3477"/>
                <a:ext cx="508" cy="321"/>
                <a:chOff x="1227" y="3477"/>
                <a:chExt cx="508" cy="321"/>
              </a:xfrm>
            </p:grpSpPr>
            <p:sp>
              <p:nvSpPr>
                <p:cNvPr id="2817"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8"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9"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0"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1"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2"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3"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4"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5"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6"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7"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8"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9"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0"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3"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aphicFrame>
          <p:nvGraphicFramePr>
            <p:cNvPr id="3254" name="Object 58"/>
            <p:cNvGraphicFramePr>
              <a:graphicFrameLocks noChangeAspect="1"/>
            </p:cNvGraphicFramePr>
            <p:nvPr/>
          </p:nvGraphicFramePr>
          <p:xfrm>
            <a:off x="1979613" y="3213100"/>
            <a:ext cx="1390650" cy="1008063"/>
          </p:xfrm>
          <a:graphic>
            <a:graphicData uri="http://schemas.openxmlformats.org/presentationml/2006/ole">
              <mc:AlternateContent xmlns:mc="http://schemas.openxmlformats.org/markup-compatibility/2006">
                <mc:Choice xmlns:v="urn:schemas-microsoft-com:vml" Requires="v">
                  <p:oleObj spid="_x0000_s33795" name="VISIO" r:id="rId5" imgW="3514725" imgH="2009775" progId="">
                    <p:embed/>
                  </p:oleObj>
                </mc:Choice>
                <mc:Fallback>
                  <p:oleObj name="VISIO" r:id="rId5" imgW="3514725" imgH="2009775" progId="">
                    <p:embed/>
                    <p:pic>
                      <p:nvPicPr>
                        <p:cNvPr id="0" name="图片 33794"/>
                        <p:cNvPicPr>
                          <a:picLocks noChangeAspect="1"/>
                        </p:cNvPicPr>
                        <p:nvPr/>
                      </p:nvPicPr>
                      <p:blipFill>
                        <a:blip r:embed="rId4"/>
                        <a:stretch>
                          <a:fillRect/>
                        </a:stretch>
                      </p:blipFill>
                      <p:spPr>
                        <a:xfrm>
                          <a:off x="1979613" y="3213100"/>
                          <a:ext cx="1390650" cy="1008063"/>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3255" name="Object 58"/>
            <p:cNvGraphicFramePr>
              <a:graphicFrameLocks noChangeAspect="1"/>
            </p:cNvGraphicFramePr>
            <p:nvPr/>
          </p:nvGraphicFramePr>
          <p:xfrm>
            <a:off x="6227763" y="3500438"/>
            <a:ext cx="1292225" cy="936625"/>
          </p:xfrm>
          <a:graphic>
            <a:graphicData uri="http://schemas.openxmlformats.org/presentationml/2006/ole">
              <mc:AlternateContent xmlns:mc="http://schemas.openxmlformats.org/markup-compatibility/2006">
                <mc:Choice xmlns:v="urn:schemas-microsoft-com:vml" Requires="v">
                  <p:oleObj spid="_x0000_s33796" name="VISIO" r:id="rId6" imgW="3514725" imgH="2009775" progId="">
                    <p:embed/>
                  </p:oleObj>
                </mc:Choice>
                <mc:Fallback>
                  <p:oleObj name="VISIO" r:id="rId6" imgW="3514725" imgH="2009775" progId="">
                    <p:embed/>
                    <p:pic>
                      <p:nvPicPr>
                        <p:cNvPr id="0" name="图片 33795"/>
                        <p:cNvPicPr>
                          <a:picLocks noChangeAspect="1"/>
                        </p:cNvPicPr>
                        <p:nvPr/>
                      </p:nvPicPr>
                      <p:blipFill>
                        <a:blip r:embed="rId4"/>
                        <a:stretch>
                          <a:fillRect/>
                        </a:stretch>
                      </p:blipFill>
                      <p:spPr>
                        <a:xfrm>
                          <a:off x="6227763" y="3500438"/>
                          <a:ext cx="1292225" cy="936625"/>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3256" name="Object 58"/>
            <p:cNvGraphicFramePr>
              <a:graphicFrameLocks noChangeAspect="1"/>
            </p:cNvGraphicFramePr>
            <p:nvPr/>
          </p:nvGraphicFramePr>
          <p:xfrm>
            <a:off x="3132138" y="2636838"/>
            <a:ext cx="658812" cy="477837"/>
          </p:xfrm>
          <a:graphic>
            <a:graphicData uri="http://schemas.openxmlformats.org/presentationml/2006/ole">
              <mc:AlternateContent xmlns:mc="http://schemas.openxmlformats.org/markup-compatibility/2006">
                <mc:Choice xmlns:v="urn:schemas-microsoft-com:vml" Requires="v">
                  <p:oleObj spid="_x0000_s33797" name="VISIO" r:id="rId7" imgW="3514725" imgH="2009775" progId="">
                    <p:embed/>
                  </p:oleObj>
                </mc:Choice>
                <mc:Fallback>
                  <p:oleObj name="VISIO" r:id="rId7" imgW="3514725" imgH="2009775" progId="">
                    <p:embed/>
                    <p:pic>
                      <p:nvPicPr>
                        <p:cNvPr id="0" name="图片 33796"/>
                        <p:cNvPicPr>
                          <a:picLocks noChangeAspect="1"/>
                        </p:cNvPicPr>
                        <p:nvPr/>
                      </p:nvPicPr>
                      <p:blipFill>
                        <a:blip r:embed="rId4"/>
                        <a:stretch>
                          <a:fillRect/>
                        </a:stretch>
                      </p:blipFill>
                      <p:spPr>
                        <a:xfrm>
                          <a:off x="3132138" y="2636838"/>
                          <a:ext cx="658812" cy="477837"/>
                        </a:xfrm>
                        <a:prstGeom prst="rect">
                          <a:avLst/>
                        </a:prstGeom>
                        <a:noFill/>
                        <a:ln w="9525">
                          <a:noFill/>
                        </a:ln>
                        <a:effectLst>
                          <a:outerShdw dist="25400" dir="5400000" algn="ctr" rotWithShape="0">
                            <a:srgbClr val="EEECE1"/>
                          </a:outerShdw>
                        </a:effectLst>
                      </p:spPr>
                    </p:pic>
                  </p:oleObj>
                </mc:Fallback>
              </mc:AlternateContent>
            </a:graphicData>
          </a:graphic>
        </p:graphicFrame>
        <p:cxnSp>
          <p:nvCxnSpPr>
            <p:cNvPr id="3257" name="直接连接符 8018"/>
            <p:cNvCxnSpPr>
              <a:cxnSpLocks noChangeShapeType="1"/>
              <a:stCxn id="517" idx="6"/>
            </p:cNvCxnSpPr>
            <p:nvPr/>
          </p:nvCxnSpPr>
          <p:spPr bwMode="auto">
            <a:xfrm flipV="1">
              <a:off x="2195513" y="2852738"/>
              <a:ext cx="1008062" cy="1079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258" name="直接连接符 8020"/>
            <p:cNvCxnSpPr>
              <a:cxnSpLocks noChangeShapeType="1"/>
            </p:cNvCxnSpPr>
            <p:nvPr/>
          </p:nvCxnSpPr>
          <p:spPr bwMode="auto">
            <a:xfrm>
              <a:off x="3708400" y="2924175"/>
              <a:ext cx="647700" cy="28892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3259" name="Text Box 1189"/>
            <p:cNvSpPr txBox="1">
              <a:spLocks noChangeArrowheads="1"/>
            </p:cNvSpPr>
            <p:nvPr/>
          </p:nvSpPr>
          <p:spPr bwMode="auto">
            <a:xfrm>
              <a:off x="7729538" y="295276"/>
              <a:ext cx="1009277" cy="454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CC"/>
                  </a:solidFill>
                  <a:latin typeface="微软雅黑" panose="020B0503020204020204" pitchFamily="34" charset="-122"/>
                  <a:ea typeface="微软雅黑" panose="020B0503020204020204" pitchFamily="34" charset="-122"/>
                </a:rPr>
                <a:t>覆盖网络</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3260" name="Text Box 1189"/>
            <p:cNvSpPr txBox="1">
              <a:spLocks noChangeArrowheads="1"/>
            </p:cNvSpPr>
            <p:nvPr/>
          </p:nvSpPr>
          <p:spPr bwMode="auto">
            <a:xfrm>
              <a:off x="7775574" y="2597150"/>
              <a:ext cx="963240" cy="75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实际网络</a:t>
              </a:r>
              <a:endParaRPr lang="zh-CN" altLang="en-US" sz="1200" b="1" dirty="0">
                <a:latin typeface="微软雅黑" panose="020B0503020204020204" pitchFamily="34" charset="-122"/>
                <a:ea typeface="微软雅黑" panose="020B0503020204020204" pitchFamily="34" charset="-122"/>
              </a:endParaRPr>
            </a:p>
          </p:txBody>
        </p:sp>
        <p:sp>
          <p:nvSpPr>
            <p:cNvPr id="3261" name="Text Box 3475"/>
            <p:cNvSpPr txBox="1">
              <a:spLocks noChangeArrowheads="1"/>
            </p:cNvSpPr>
            <p:nvPr/>
          </p:nvSpPr>
          <p:spPr bwMode="auto">
            <a:xfrm>
              <a:off x="533400" y="42116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3262" name="Text Box 3475"/>
            <p:cNvSpPr txBox="1">
              <a:spLocks noChangeArrowheads="1"/>
            </p:cNvSpPr>
            <p:nvPr/>
          </p:nvSpPr>
          <p:spPr bwMode="auto">
            <a:xfrm>
              <a:off x="6804025" y="2781300"/>
              <a:ext cx="2792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C</a:t>
              </a:r>
              <a:endParaRPr lang="en-US" altLang="zh-CN" sz="1100" b="1" i="1">
                <a:latin typeface="微软雅黑" panose="020B0503020204020204" pitchFamily="34" charset="-122"/>
                <a:ea typeface="微软雅黑" panose="020B0503020204020204" pitchFamily="34" charset="-122"/>
              </a:endParaRPr>
            </a:p>
          </p:txBody>
        </p:sp>
        <p:sp>
          <p:nvSpPr>
            <p:cNvPr id="3263" name="Text Box 3475"/>
            <p:cNvSpPr txBox="1">
              <a:spLocks noChangeArrowheads="1"/>
            </p:cNvSpPr>
            <p:nvPr/>
          </p:nvSpPr>
          <p:spPr bwMode="auto">
            <a:xfrm>
              <a:off x="5413375" y="41894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i="1">
                <a:latin typeface="微软雅黑" panose="020B0503020204020204" pitchFamily="34" charset="-122"/>
                <a:ea typeface="微软雅黑" panose="020B0503020204020204" pitchFamily="34" charset="-122"/>
              </a:endParaRPr>
            </a:p>
          </p:txBody>
        </p:sp>
        <p:sp>
          <p:nvSpPr>
            <p:cNvPr id="3264" name="Text Box 3475"/>
            <p:cNvSpPr txBox="1">
              <a:spLocks noChangeArrowheads="1"/>
            </p:cNvSpPr>
            <p:nvPr/>
          </p:nvSpPr>
          <p:spPr bwMode="auto">
            <a:xfrm>
              <a:off x="2843213" y="4292600"/>
              <a:ext cx="2968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
              </a:r>
              <a:endParaRPr lang="en-US" altLang="zh-CN" sz="11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Rectangle 303"/>
          <p:cNvSpPr>
            <a:spLocks noChangeArrowheads="1"/>
          </p:cNvSpPr>
          <p:nvPr/>
        </p:nvSpPr>
        <p:spPr bwMode="auto">
          <a:xfrm>
            <a:off x="2187660" y="2517488"/>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5" name="Rectangle 304"/>
          <p:cNvSpPr>
            <a:spLocks noChangeArrowheads="1"/>
          </p:cNvSpPr>
          <p:nvPr/>
        </p:nvSpPr>
        <p:spPr bwMode="auto">
          <a:xfrm>
            <a:off x="5003878" y="2517488"/>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6" name="Rectangle 305"/>
          <p:cNvSpPr>
            <a:spLocks noChangeArrowheads="1"/>
          </p:cNvSpPr>
          <p:nvPr/>
        </p:nvSpPr>
        <p:spPr bwMode="auto">
          <a:xfrm>
            <a:off x="3597275" y="3548100"/>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0" name="Rectangle 305"/>
          <p:cNvSpPr>
            <a:spLocks noChangeArrowheads="1"/>
          </p:cNvSpPr>
          <p:nvPr/>
        </p:nvSpPr>
        <p:spPr bwMode="auto">
          <a:xfrm>
            <a:off x="3651250" y="1640470"/>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93660" y="575054"/>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对等方之间互相传送文件数据块</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2" name="Rectangle 260"/>
          <p:cNvSpPr>
            <a:spLocks noChangeArrowheads="1"/>
          </p:cNvSpPr>
          <p:nvPr/>
        </p:nvSpPr>
        <p:spPr bwMode="auto">
          <a:xfrm>
            <a:off x="23400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3" name="Rectangle 261"/>
          <p:cNvSpPr>
            <a:spLocks noChangeArrowheads="1"/>
          </p:cNvSpPr>
          <p:nvPr/>
        </p:nvSpPr>
        <p:spPr bwMode="auto">
          <a:xfrm>
            <a:off x="2644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4" name="Rectangle 262"/>
          <p:cNvSpPr>
            <a:spLocks noChangeArrowheads="1"/>
          </p:cNvSpPr>
          <p:nvPr/>
        </p:nvSpPr>
        <p:spPr bwMode="auto">
          <a:xfrm>
            <a:off x="274328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5" name="Rectangle 263"/>
          <p:cNvSpPr>
            <a:spLocks noChangeArrowheads="1"/>
          </p:cNvSpPr>
          <p:nvPr/>
        </p:nvSpPr>
        <p:spPr bwMode="auto">
          <a:xfrm>
            <a:off x="29496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6" name="Rectangle 265"/>
          <p:cNvSpPr>
            <a:spLocks noChangeArrowheads="1"/>
          </p:cNvSpPr>
          <p:nvPr/>
        </p:nvSpPr>
        <p:spPr bwMode="auto">
          <a:xfrm>
            <a:off x="321001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7" name="Rectangle 266"/>
          <p:cNvSpPr>
            <a:spLocks noChangeArrowheads="1"/>
          </p:cNvSpPr>
          <p:nvPr/>
        </p:nvSpPr>
        <p:spPr bwMode="auto">
          <a:xfrm>
            <a:off x="3406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8" name="Rectangle 267"/>
          <p:cNvSpPr>
            <a:spLocks noChangeArrowheads="1"/>
          </p:cNvSpPr>
          <p:nvPr/>
        </p:nvSpPr>
        <p:spPr bwMode="auto">
          <a:xfrm>
            <a:off x="380373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9" name="Rectangle 268"/>
          <p:cNvSpPr>
            <a:spLocks noChangeArrowheads="1"/>
          </p:cNvSpPr>
          <p:nvPr/>
        </p:nvSpPr>
        <p:spPr bwMode="auto">
          <a:xfrm>
            <a:off x="504832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0" name="Rectangle 269"/>
          <p:cNvSpPr>
            <a:spLocks noChangeArrowheads="1"/>
          </p:cNvSpPr>
          <p:nvPr/>
        </p:nvSpPr>
        <p:spPr bwMode="auto">
          <a:xfrm>
            <a:off x="52277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1" name="Rectangle 270"/>
          <p:cNvSpPr>
            <a:spLocks noChangeArrowheads="1"/>
          </p:cNvSpPr>
          <p:nvPr/>
        </p:nvSpPr>
        <p:spPr bwMode="auto">
          <a:xfrm>
            <a:off x="57658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2" name="Rectangle 271"/>
          <p:cNvSpPr>
            <a:spLocks noChangeArrowheads="1"/>
          </p:cNvSpPr>
          <p:nvPr/>
        </p:nvSpPr>
        <p:spPr bwMode="auto">
          <a:xfrm>
            <a:off x="62087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3" name="Rectangle 272"/>
          <p:cNvSpPr>
            <a:spLocks noChangeArrowheads="1"/>
          </p:cNvSpPr>
          <p:nvPr/>
        </p:nvSpPr>
        <p:spPr bwMode="auto">
          <a:xfrm>
            <a:off x="64754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4" name="Rectangle 273"/>
          <p:cNvSpPr>
            <a:spLocks noChangeArrowheads="1"/>
          </p:cNvSpPr>
          <p:nvPr/>
        </p:nvSpPr>
        <p:spPr bwMode="auto">
          <a:xfrm>
            <a:off x="66374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5" name="Rectangle 274"/>
          <p:cNvSpPr>
            <a:spLocks noChangeArrowheads="1"/>
          </p:cNvSpPr>
          <p:nvPr/>
        </p:nvSpPr>
        <p:spPr bwMode="auto">
          <a:xfrm>
            <a:off x="67310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6" name="Rectangle 275"/>
          <p:cNvSpPr>
            <a:spLocks noChangeArrowheads="1"/>
          </p:cNvSpPr>
          <p:nvPr/>
        </p:nvSpPr>
        <p:spPr bwMode="auto">
          <a:xfrm>
            <a:off x="37496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7" name="Rectangle 276"/>
          <p:cNvSpPr>
            <a:spLocks noChangeArrowheads="1"/>
          </p:cNvSpPr>
          <p:nvPr/>
        </p:nvSpPr>
        <p:spPr bwMode="auto">
          <a:xfrm>
            <a:off x="406400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8" name="Rectangle 277"/>
          <p:cNvSpPr>
            <a:spLocks noChangeArrowheads="1"/>
          </p:cNvSpPr>
          <p:nvPr/>
        </p:nvSpPr>
        <p:spPr bwMode="auto">
          <a:xfrm>
            <a:off x="43592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9" name="Rectangle 278"/>
          <p:cNvSpPr>
            <a:spLocks noChangeArrowheads="1"/>
          </p:cNvSpPr>
          <p:nvPr/>
        </p:nvSpPr>
        <p:spPr bwMode="auto">
          <a:xfrm>
            <a:off x="36417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0" name="Rectangle 279"/>
          <p:cNvSpPr>
            <a:spLocks noChangeArrowheads="1"/>
          </p:cNvSpPr>
          <p:nvPr/>
        </p:nvSpPr>
        <p:spPr bwMode="auto">
          <a:xfrm>
            <a:off x="4764088"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1" name="Rectangle 280"/>
          <p:cNvSpPr>
            <a:spLocks noChangeArrowheads="1"/>
          </p:cNvSpPr>
          <p:nvPr/>
        </p:nvSpPr>
        <p:spPr bwMode="auto">
          <a:xfrm>
            <a:off x="49371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2" name="Rectangle 281"/>
          <p:cNvSpPr>
            <a:spLocks noChangeArrowheads="1"/>
          </p:cNvSpPr>
          <p:nvPr/>
        </p:nvSpPr>
        <p:spPr bwMode="auto">
          <a:xfrm>
            <a:off x="52133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3" name="Text Box 284"/>
          <p:cNvSpPr txBox="1">
            <a:spLocks noChangeArrowheads="1"/>
          </p:cNvSpPr>
          <p:nvPr/>
        </p:nvSpPr>
        <p:spPr bwMode="auto">
          <a:xfrm>
            <a:off x="1197060" y="2547070"/>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54" name="Text Box 287"/>
          <p:cNvSpPr txBox="1">
            <a:spLocks noChangeArrowheads="1"/>
          </p:cNvSpPr>
          <p:nvPr/>
        </p:nvSpPr>
        <p:spPr bwMode="auto">
          <a:xfrm>
            <a:off x="6919990" y="2515320"/>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C</a:t>
            </a:r>
            <a:endParaRPr lang="en-US" altLang="zh-CN" sz="1200" b="1">
              <a:latin typeface="微软雅黑" panose="020B0503020204020204" pitchFamily="34" charset="-122"/>
              <a:ea typeface="微软雅黑" panose="020B0503020204020204" pitchFamily="34" charset="-122"/>
            </a:endParaRPr>
          </a:p>
        </p:txBody>
      </p:sp>
      <p:sp>
        <p:nvSpPr>
          <p:cNvPr id="55" name="Text Box 290"/>
          <p:cNvSpPr txBox="1">
            <a:spLocks noChangeArrowheads="1"/>
          </p:cNvSpPr>
          <p:nvPr/>
        </p:nvSpPr>
        <p:spPr bwMode="auto">
          <a:xfrm>
            <a:off x="2584450" y="3640140"/>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D</a:t>
            </a:r>
            <a:endParaRPr lang="en-US" altLang="zh-CN" sz="1200" b="1">
              <a:latin typeface="微软雅黑" panose="020B0503020204020204" pitchFamily="34" charset="-122"/>
              <a:ea typeface="微软雅黑" panose="020B0503020204020204" pitchFamily="34" charset="-122"/>
            </a:endParaRPr>
          </a:p>
        </p:txBody>
      </p:sp>
      <p:sp>
        <p:nvSpPr>
          <p:cNvPr id="56" name="Text Box 293"/>
          <p:cNvSpPr txBox="1">
            <a:spLocks noChangeArrowheads="1"/>
          </p:cNvSpPr>
          <p:nvPr/>
        </p:nvSpPr>
        <p:spPr bwMode="auto">
          <a:xfrm>
            <a:off x="4065588" y="1322390"/>
            <a:ext cx="7986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57" name="Line 294"/>
          <p:cNvSpPr>
            <a:spLocks noChangeShapeType="1"/>
          </p:cNvSpPr>
          <p:nvPr/>
        </p:nvSpPr>
        <p:spPr bwMode="auto">
          <a:xfrm>
            <a:off x="4565650" y="1988950"/>
            <a:ext cx="0" cy="157499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8" name="Line 295"/>
          <p:cNvSpPr>
            <a:spLocks noChangeShapeType="1"/>
          </p:cNvSpPr>
          <p:nvPr/>
        </p:nvSpPr>
        <p:spPr bwMode="auto">
          <a:xfrm flipH="1">
            <a:off x="3263984" y="2005928"/>
            <a:ext cx="647615" cy="50939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9" name="Line 296"/>
          <p:cNvSpPr>
            <a:spLocks noChangeShapeType="1"/>
          </p:cNvSpPr>
          <p:nvPr/>
        </p:nvSpPr>
        <p:spPr bwMode="auto">
          <a:xfrm>
            <a:off x="5327650" y="2005928"/>
            <a:ext cx="685800" cy="50939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0" name="Line 298"/>
          <p:cNvSpPr>
            <a:spLocks noChangeShapeType="1"/>
          </p:cNvSpPr>
          <p:nvPr/>
        </p:nvSpPr>
        <p:spPr bwMode="auto">
          <a:xfrm flipH="1">
            <a:off x="4087869" y="2704525"/>
            <a:ext cx="930353" cy="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1" name="Line 300"/>
          <p:cNvSpPr>
            <a:spLocks noChangeShapeType="1"/>
          </p:cNvSpPr>
          <p:nvPr/>
        </p:nvSpPr>
        <p:spPr bwMode="auto">
          <a:xfrm flipH="1" flipV="1">
            <a:off x="3263983" y="2865968"/>
            <a:ext cx="592741" cy="70060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2" name="Line 301"/>
          <p:cNvSpPr>
            <a:spLocks noChangeShapeType="1"/>
          </p:cNvSpPr>
          <p:nvPr/>
        </p:nvSpPr>
        <p:spPr bwMode="auto">
          <a:xfrm flipV="1">
            <a:off x="5099050" y="2865968"/>
            <a:ext cx="571500" cy="69797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3" name="Line 302"/>
          <p:cNvSpPr>
            <a:spLocks noChangeShapeType="1"/>
          </p:cNvSpPr>
          <p:nvPr/>
        </p:nvSpPr>
        <p:spPr bwMode="auto">
          <a:xfrm flipH="1">
            <a:off x="5335665" y="2865968"/>
            <a:ext cx="582613" cy="68213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7" name="Rectangle 306"/>
          <p:cNvSpPr>
            <a:spLocks noChangeArrowheads="1"/>
          </p:cNvSpPr>
          <p:nvPr/>
        </p:nvSpPr>
        <p:spPr bwMode="auto">
          <a:xfrm>
            <a:off x="7002463" y="172726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8" name="Text Box 307"/>
          <p:cNvSpPr txBox="1">
            <a:spLocks noChangeArrowheads="1"/>
          </p:cNvSpPr>
          <p:nvPr/>
        </p:nvSpPr>
        <p:spPr bwMode="auto">
          <a:xfrm>
            <a:off x="7232650" y="1727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数据块</a:t>
            </a:r>
            <a:endParaRPr lang="zh-CN" altLang="en-US" sz="1200" b="1">
              <a:latin typeface="微软雅黑" panose="020B0503020204020204" pitchFamily="34" charset="-122"/>
              <a:ea typeface="微软雅黑" panose="020B0503020204020204" pitchFamily="34" charset="-122"/>
            </a:endParaRPr>
          </a:p>
        </p:txBody>
      </p:sp>
      <p:sp>
        <p:nvSpPr>
          <p:cNvPr id="69" name="Text Box 308"/>
          <p:cNvSpPr txBox="1">
            <a:spLocks noChangeArrowheads="1"/>
          </p:cNvSpPr>
          <p:nvPr/>
        </p:nvSpPr>
        <p:spPr bwMode="auto">
          <a:xfrm>
            <a:off x="7232650" y="1346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图例：</a:t>
            </a:r>
            <a:endParaRPr lang="zh-CN" altLang="en-US" sz="1200" b="1">
              <a:latin typeface="微软雅黑" panose="020B0503020204020204" pitchFamily="34" charset="-122"/>
              <a:ea typeface="微软雅黑" panose="020B0503020204020204" pitchFamily="34" charset="-122"/>
            </a:endParaRPr>
          </a:p>
        </p:txBody>
      </p:sp>
      <p:sp>
        <p:nvSpPr>
          <p:cNvPr id="70" name="Line 310"/>
          <p:cNvSpPr>
            <a:spLocks noChangeShapeType="1"/>
          </p:cNvSpPr>
          <p:nvPr/>
        </p:nvSpPr>
        <p:spPr bwMode="auto">
          <a:xfrm>
            <a:off x="6875463" y="2216210"/>
            <a:ext cx="304800" cy="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1" name="Text Box 311"/>
          <p:cNvSpPr txBox="1">
            <a:spLocks noChangeArrowheads="1"/>
          </p:cNvSpPr>
          <p:nvPr/>
        </p:nvSpPr>
        <p:spPr bwMode="auto">
          <a:xfrm>
            <a:off x="7156451" y="2063590"/>
            <a:ext cx="1125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数据块传送</a:t>
            </a:r>
            <a:endParaRPr lang="zh-CN" altLang="en-US" sz="1200" b="1" dirty="0">
              <a:latin typeface="微软雅黑" panose="020B0503020204020204" pitchFamily="34" charset="-122"/>
              <a:ea typeface="微软雅黑" panose="020B0503020204020204" pitchFamily="34" charset="-122"/>
            </a:endParaRPr>
          </a:p>
        </p:txBody>
      </p:sp>
      <p:sp>
        <p:nvSpPr>
          <p:cNvPr id="72" name="矩形 71"/>
          <p:cNvSpPr/>
          <p:nvPr/>
        </p:nvSpPr>
        <p:spPr>
          <a:xfrm>
            <a:off x="6775450" y="1651060"/>
            <a:ext cx="1600200" cy="685800"/>
          </a:xfrm>
          <a:prstGeom prst="rect">
            <a:avLst/>
          </a:prstGeom>
          <a:noFill/>
          <a:ln w="12700" cap="flat" cmpd="sng" algn="ctr">
            <a:solidFill>
              <a:schemeClr val="tx1"/>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73" name="Rectangle 275"/>
          <p:cNvSpPr>
            <a:spLocks noChangeArrowheads="1"/>
          </p:cNvSpPr>
          <p:nvPr/>
        </p:nvSpPr>
        <p:spPr bwMode="auto">
          <a:xfrm>
            <a:off x="40005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4" name="Rectangle 276"/>
          <p:cNvSpPr>
            <a:spLocks noChangeArrowheads="1"/>
          </p:cNvSpPr>
          <p:nvPr/>
        </p:nvSpPr>
        <p:spPr bwMode="auto">
          <a:xfrm>
            <a:off x="411797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5" name="Rectangle 277"/>
          <p:cNvSpPr>
            <a:spLocks noChangeArrowheads="1"/>
          </p:cNvSpPr>
          <p:nvPr/>
        </p:nvSpPr>
        <p:spPr bwMode="auto">
          <a:xfrm>
            <a:off x="46418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6" name="Rectangle 278"/>
          <p:cNvSpPr>
            <a:spLocks noChangeArrowheads="1"/>
          </p:cNvSpPr>
          <p:nvPr/>
        </p:nvSpPr>
        <p:spPr bwMode="auto">
          <a:xfrm>
            <a:off x="36957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7" name="Rectangle 279"/>
          <p:cNvSpPr>
            <a:spLocks noChangeArrowheads="1"/>
          </p:cNvSpPr>
          <p:nvPr/>
        </p:nvSpPr>
        <p:spPr bwMode="auto">
          <a:xfrm>
            <a:off x="4818063"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8" name="Rectangle 280"/>
          <p:cNvSpPr>
            <a:spLocks noChangeArrowheads="1"/>
          </p:cNvSpPr>
          <p:nvPr/>
        </p:nvSpPr>
        <p:spPr bwMode="auto">
          <a:xfrm>
            <a:off x="49149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9" name="Rectangle 281"/>
          <p:cNvSpPr>
            <a:spLocks noChangeArrowheads="1"/>
          </p:cNvSpPr>
          <p:nvPr/>
        </p:nvSpPr>
        <p:spPr bwMode="auto">
          <a:xfrm>
            <a:off x="52673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1" name="Rectangle 278"/>
          <p:cNvSpPr>
            <a:spLocks noChangeArrowheads="1"/>
          </p:cNvSpPr>
          <p:nvPr/>
        </p:nvSpPr>
        <p:spPr bwMode="auto">
          <a:xfrm>
            <a:off x="38036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2" name="Rectangle 278"/>
          <p:cNvSpPr>
            <a:spLocks noChangeArrowheads="1"/>
          </p:cNvSpPr>
          <p:nvPr/>
        </p:nvSpPr>
        <p:spPr bwMode="auto">
          <a:xfrm>
            <a:off x="42291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3" name="Rectangle 278"/>
          <p:cNvSpPr>
            <a:spLocks noChangeArrowheads="1"/>
          </p:cNvSpPr>
          <p:nvPr/>
        </p:nvSpPr>
        <p:spPr bwMode="auto">
          <a:xfrm>
            <a:off x="4337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4" name="Rectangle 269"/>
          <p:cNvSpPr>
            <a:spLocks noChangeArrowheads="1"/>
          </p:cNvSpPr>
          <p:nvPr/>
        </p:nvSpPr>
        <p:spPr bwMode="auto">
          <a:xfrm>
            <a:off x="53801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5" name="Rectangle 281"/>
          <p:cNvSpPr>
            <a:spLocks noChangeArrowheads="1"/>
          </p:cNvSpPr>
          <p:nvPr/>
        </p:nvSpPr>
        <p:spPr bwMode="auto">
          <a:xfrm>
            <a:off x="5099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6" name="Rectangle 281"/>
          <p:cNvSpPr>
            <a:spLocks noChangeArrowheads="1"/>
          </p:cNvSpPr>
          <p:nvPr/>
        </p:nvSpPr>
        <p:spPr bwMode="auto">
          <a:xfrm>
            <a:off x="54197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7" name="Rectangle 270"/>
          <p:cNvSpPr>
            <a:spLocks noChangeArrowheads="1"/>
          </p:cNvSpPr>
          <p:nvPr/>
        </p:nvSpPr>
        <p:spPr bwMode="auto">
          <a:xfrm>
            <a:off x="59182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8" name="Rectangle 277"/>
          <p:cNvSpPr>
            <a:spLocks noChangeArrowheads="1"/>
          </p:cNvSpPr>
          <p:nvPr/>
        </p:nvSpPr>
        <p:spPr bwMode="auto">
          <a:xfrm>
            <a:off x="44894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9" name="Rectangle 281"/>
          <p:cNvSpPr>
            <a:spLocks noChangeArrowheads="1"/>
          </p:cNvSpPr>
          <p:nvPr/>
        </p:nvSpPr>
        <p:spPr bwMode="auto">
          <a:xfrm>
            <a:off x="53276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 name="AutoShape 5"/>
          <p:cNvSpPr>
            <a:spLocks noChangeArrowheads="1"/>
          </p:cNvSpPr>
          <p:nvPr/>
        </p:nvSpPr>
        <p:spPr bwMode="auto">
          <a:xfrm>
            <a:off x="556963" y="6121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784" name="Rectangle 6"/>
          <p:cNvSpPr>
            <a:spLocks noChangeArrowheads="1"/>
          </p:cNvSpPr>
          <p:nvPr/>
        </p:nvSpPr>
        <p:spPr bwMode="auto">
          <a:xfrm>
            <a:off x="4030179" y="578951"/>
            <a:ext cx="1102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BT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785" name="Rectangle 68"/>
          <p:cNvSpPr>
            <a:spLocks noChangeArrowheads="1"/>
          </p:cNvSpPr>
          <p:nvPr/>
        </p:nvSpPr>
        <p:spPr bwMode="auto">
          <a:xfrm>
            <a:off x="556963" y="963310"/>
            <a:ext cx="804877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问题：</a:t>
            </a:r>
            <a:r>
              <a:rPr lang="zh-CN" altLang="en-US" sz="2000" b="1" dirty="0">
                <a:latin typeface="微软雅黑" panose="020B0503020204020204" pitchFamily="34" charset="-122"/>
                <a:ea typeface="微软雅黑" panose="020B0503020204020204" pitchFamily="34" charset="-122"/>
              </a:rPr>
              <a:t>哪些文件块是</a:t>
            </a:r>
            <a:r>
              <a:rPr lang="zh-CN" altLang="en-US" sz="2000" b="1" dirty="0">
                <a:solidFill>
                  <a:srgbClr val="0000FF"/>
                </a:solidFill>
                <a:latin typeface="微软雅黑" panose="020B0503020204020204" pitchFamily="34" charset="-122"/>
                <a:ea typeface="微软雅黑" panose="020B0503020204020204" pitchFamily="34" charset="-122"/>
              </a:rPr>
              <a:t>首先</a:t>
            </a:r>
            <a:r>
              <a:rPr lang="zh-CN" altLang="en-US" sz="2000" b="1" dirty="0">
                <a:latin typeface="微软雅黑" panose="020B0503020204020204" pitchFamily="34" charset="-122"/>
                <a:ea typeface="微软雅黑" panose="020B0503020204020204" pitchFamily="34" charset="-122"/>
              </a:rPr>
              <a:t>需要</a:t>
            </a:r>
            <a:r>
              <a:rPr lang="zh-CN" altLang="en-US" sz="2000" b="1" dirty="0">
                <a:solidFill>
                  <a:srgbClr val="0000FF"/>
                </a:solidFill>
                <a:latin typeface="微软雅黑" panose="020B0503020204020204" pitchFamily="34" charset="-122"/>
                <a:ea typeface="微软雅黑" panose="020B0503020204020204" pitchFamily="34" charset="-122"/>
              </a:rPr>
              <a:t>向其相邻</a:t>
            </a:r>
            <a:r>
              <a:rPr lang="zh-CN" altLang="en-US" sz="2000" b="1" dirty="0">
                <a:latin typeface="微软雅黑" panose="020B0503020204020204" pitchFamily="34" charset="-122"/>
                <a:ea typeface="微软雅黑" panose="020B0503020204020204" pitchFamily="34" charset="-122"/>
              </a:rPr>
              <a:t>对等方请求的？</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方法：</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最稀有的优先 </a:t>
            </a:r>
            <a:r>
              <a:rPr lang="en-US" altLang="zh-CN" sz="2000" b="1" dirty="0">
                <a:latin typeface="微软雅黑" panose="020B0503020204020204" pitchFamily="34" charset="-122"/>
                <a:ea typeface="微软雅黑" panose="020B0503020204020204" pitchFamily="34" charset="-122"/>
              </a:rPr>
              <a:t>(rarest first) </a:t>
            </a:r>
            <a:r>
              <a:rPr lang="zh-CN" altLang="en-US" sz="2000" b="1" dirty="0">
                <a:latin typeface="微软雅黑" panose="020B0503020204020204" pitchFamily="34" charset="-122"/>
                <a:ea typeface="微软雅黑" panose="020B0503020204020204" pitchFamily="34" charset="-122"/>
              </a:rPr>
              <a:t>的技术，首先向其相邻对等方请求对应的文件块</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C00CC"/>
                </a:solidFill>
                <a:latin typeface="微软雅黑" panose="020B0503020204020204" pitchFamily="34" charset="-122"/>
                <a:ea typeface="微软雅黑" panose="020B0503020204020204" pitchFamily="34" charset="-122"/>
              </a:rPr>
              <a:t>稀有：</a:t>
            </a:r>
            <a:r>
              <a:rPr lang="zh-CN" altLang="en-US" sz="2000" b="1" dirty="0" smtClean="0">
                <a:latin typeface="微软雅黑" panose="020B0503020204020204" pitchFamily="34" charset="-122"/>
                <a:ea typeface="微软雅黑" panose="020B0503020204020204" pitchFamily="34" charset="-122"/>
              </a:rPr>
              <a:t>如果 </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所</a:t>
            </a:r>
            <a:r>
              <a:rPr lang="zh-CN" altLang="en-US" sz="2000" b="1" dirty="0">
                <a:latin typeface="微软雅黑" panose="020B0503020204020204" pitchFamily="34" charset="-122"/>
                <a:ea typeface="微软雅黑" panose="020B0503020204020204" pitchFamily="34" charset="-122"/>
              </a:rPr>
              <a:t>缺少的文件块在相邻对等方中的副本很少，那就是“很稀有的”</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问题：</a:t>
            </a:r>
            <a:r>
              <a:rPr lang="zh-CN" altLang="en-US" sz="2000" b="1" dirty="0">
                <a:latin typeface="微软雅黑" panose="020B0503020204020204" pitchFamily="34" charset="-122"/>
                <a:ea typeface="微软雅黑" panose="020B0503020204020204" pitchFamily="34" charset="-122"/>
              </a:rPr>
              <a:t>在很</a:t>
            </a:r>
            <a:r>
              <a:rPr lang="zh-CN" altLang="en-US" sz="2000" b="1" dirty="0" smtClean="0">
                <a:latin typeface="微软雅黑" panose="020B0503020204020204" pitchFamily="34" charset="-122"/>
                <a:ea typeface="微软雅黑" panose="020B0503020204020204" pitchFamily="34" charset="-122"/>
              </a:rPr>
              <a:t>多向 </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文件块的相邻对等方中，</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应当</a:t>
            </a:r>
            <a:r>
              <a:rPr lang="zh-CN" altLang="en-US" sz="2000" b="1" dirty="0">
                <a:latin typeface="微软雅黑" panose="020B0503020204020204" pitchFamily="34" charset="-122"/>
                <a:ea typeface="微软雅黑" panose="020B0503020204020204" pitchFamily="34" charset="-122"/>
              </a:rPr>
              <a:t>向哪些相邻对等方发送所请求的文件块？</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方法：</a:t>
            </a:r>
            <a:r>
              <a:rPr lang="zh-CN" altLang="en-US" sz="2000" b="1" dirty="0" smtClean="0">
                <a:latin typeface="微软雅黑" panose="020B0503020204020204" pitchFamily="34" charset="-122"/>
                <a:ea typeface="微软雅黑" panose="020B0503020204020204" pitchFamily="34" charset="-122"/>
              </a:rPr>
              <a:t>凡</a:t>
            </a:r>
            <a:r>
              <a:rPr lang="zh-CN" altLang="en-US" sz="2000" b="1" dirty="0">
                <a:latin typeface="微软雅黑" panose="020B0503020204020204" pitchFamily="34" charset="-122"/>
                <a:ea typeface="微软雅黑" panose="020B0503020204020204" pitchFamily="34" charset="-122"/>
              </a:rPr>
              <a:t>当前以</a:t>
            </a:r>
            <a:r>
              <a:rPr lang="zh-CN" altLang="en-US" sz="2000" b="1" dirty="0">
                <a:solidFill>
                  <a:srgbClr val="C00000"/>
                </a:solidFill>
                <a:latin typeface="微软雅黑" panose="020B0503020204020204" pitchFamily="34" charset="-122"/>
                <a:ea typeface="微软雅黑" panose="020B0503020204020204" pitchFamily="34" charset="-122"/>
              </a:rPr>
              <a:t>最高数据率</a:t>
            </a:r>
            <a:r>
              <a:rPr lang="zh-CN" altLang="en-US" sz="2000" b="1" dirty="0">
                <a:latin typeface="微软雅黑" panose="020B0503020204020204" pitchFamily="34" charset="-122"/>
                <a:ea typeface="微软雅黑" panose="020B0503020204020204" pitchFamily="34" charset="-122"/>
              </a:rPr>
              <a:t>向 </a:t>
            </a:r>
            <a:r>
              <a:rPr lang="en-US" altLang="zh-CN" sz="2000" b="1" dirty="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传送文件块的某相邻对等方，</a:t>
            </a:r>
            <a:r>
              <a:rPr lang="en-US" altLang="zh-CN" sz="2000" b="1" dirty="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就</a:t>
            </a:r>
            <a:r>
              <a:rPr lang="zh-CN" altLang="en-US" sz="2000" b="1" dirty="0">
                <a:solidFill>
                  <a:srgbClr val="C00000"/>
                </a:solidFill>
                <a:latin typeface="微软雅黑" panose="020B0503020204020204" pitchFamily="34" charset="-122"/>
                <a:ea typeface="微软雅黑" panose="020B0503020204020204" pitchFamily="34" charset="-122"/>
              </a:rPr>
              <a:t>优先</a:t>
            </a:r>
            <a:r>
              <a:rPr lang="zh-CN" altLang="en-US" sz="2000" b="1" dirty="0">
                <a:latin typeface="微软雅黑" panose="020B0503020204020204" pitchFamily="34" charset="-122"/>
                <a:ea typeface="微软雅黑" panose="020B0503020204020204" pitchFamily="34" charset="-122"/>
              </a:rPr>
              <a:t>把所请求的文件块传送给该相邻对等方</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8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2785">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785">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8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 grpId="0" uiExpand="1" build="p"/>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0857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6304"/>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6.9.3  P2P </a:t>
            </a:r>
            <a:r>
              <a:rPr lang="zh-CN" altLang="en-US" sz="24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556963" y="1021080"/>
            <a:ext cx="8048776"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buClr>
                <a:srgbClr val="0070C0"/>
              </a:buClr>
            </a:pPr>
            <a:r>
              <a:rPr lang="zh-CN" altLang="en-US" sz="2000" b="1" dirty="0" smtClean="0">
                <a:latin typeface="微软雅黑" panose="020B0503020204020204" pitchFamily="34" charset="-122"/>
                <a:ea typeface="微软雅黑" panose="020B0503020204020204" pitchFamily="34" charset="-122"/>
              </a:rPr>
              <a:t>一些概念</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从互联网传送数据到主机，叫做</a:t>
            </a:r>
            <a:r>
              <a:rPr lang="zh-CN" altLang="en-US" sz="2000" b="1" dirty="0" smtClean="0">
                <a:solidFill>
                  <a:srgbClr val="C00000"/>
                </a:solidFill>
                <a:latin typeface="微软雅黑" panose="020B0503020204020204" pitchFamily="34" charset="-122"/>
                <a:ea typeface="微软雅黑" panose="020B0503020204020204" pitchFamily="34" charset="-122"/>
              </a:rPr>
              <a:t>下载</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download)</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从</a:t>
            </a:r>
            <a:r>
              <a:rPr lang="zh-CN" altLang="en-US" sz="2000" b="1" dirty="0">
                <a:latin typeface="微软雅黑" panose="020B0503020204020204" pitchFamily="34" charset="-122"/>
                <a:ea typeface="微软雅黑" panose="020B0503020204020204" pitchFamily="34" charset="-122"/>
              </a:rPr>
              <a:t>主机向互联网传送，则称为</a:t>
            </a:r>
            <a:r>
              <a:rPr lang="zh-CN" altLang="en-US" sz="2000" b="1" dirty="0">
                <a:solidFill>
                  <a:srgbClr val="C00000"/>
                </a:solidFill>
                <a:latin typeface="微软雅黑" panose="020B0503020204020204" pitchFamily="34" charset="-122"/>
                <a:ea typeface="微软雅黑" panose="020B0503020204020204" pitchFamily="34" charset="-122"/>
              </a:rPr>
              <a:t>上</a:t>
            </a:r>
            <a:r>
              <a:rPr lang="zh-CN" altLang="en-US" sz="2000" b="1" dirty="0" smtClean="0">
                <a:solidFill>
                  <a:srgbClr val="C00000"/>
                </a:solidFill>
                <a:latin typeface="微软雅黑" panose="020B0503020204020204" pitchFamily="34" charset="-122"/>
                <a:ea typeface="微软雅黑" panose="020B0503020204020204" pitchFamily="34" charset="-122"/>
              </a:rPr>
              <a:t>传</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upload</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solidFill>
                  <a:srgbClr val="C00000"/>
                </a:solidFill>
                <a:latin typeface="微软雅黑" panose="020B0503020204020204" pitchFamily="34" charset="-122"/>
                <a:ea typeface="微软雅黑" panose="020B0503020204020204" pitchFamily="34" charset="-122"/>
              </a:rPr>
              <a:t>上载</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025899" y="1078992"/>
            <a:ext cx="5579840"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7991929" y="2252778"/>
            <a:ext cx="485811" cy="680135"/>
          </a:xfrm>
          <a:prstGeom prst="rect">
            <a:avLst/>
          </a:prstGeom>
        </p:spPr>
      </p:pic>
      <p:pic>
        <p:nvPicPr>
          <p:cNvPr id="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49099" y="2123431"/>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3968" y="127560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80312" y="1347614"/>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51920" y="3363838"/>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84168" y="379588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96336" y="3363838"/>
            <a:ext cx="499399" cy="499400"/>
          </a:xfrm>
          <a:prstGeom prst="rect">
            <a:avLst/>
          </a:prstGeom>
          <a:noFill/>
          <a:extLst>
            <a:ext uri="{909E8E84-426E-40DD-AFC4-6F175D3DCCD1}">
              <a14:hiddenFill xmlns:a14="http://schemas.microsoft.com/office/drawing/2010/main">
                <a:solidFill>
                  <a:srgbClr val="FFFFFF"/>
                </a:solidFill>
              </a14:hiddenFill>
            </a:ext>
          </a:extLst>
        </p:spPr>
      </p:pic>
      <p:sp>
        <p:nvSpPr>
          <p:cNvPr id="13" name="AutoShape 5"/>
          <p:cNvSpPr>
            <a:spLocks noChangeArrowheads="1"/>
          </p:cNvSpPr>
          <p:nvPr/>
        </p:nvSpPr>
        <p:spPr bwMode="auto">
          <a:xfrm>
            <a:off x="556963" y="61166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9398"/>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6.9.3  P2P </a:t>
            </a:r>
            <a:r>
              <a:rPr lang="zh-CN" altLang="en-US" sz="24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483810" y="997540"/>
            <a:ext cx="2579430"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9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有 </a:t>
            </a:r>
            <a:r>
              <a:rPr lang="en-US" altLang="zh-CN" sz="2000" b="1" i="1" dirty="0">
                <a:latin typeface="微软雅黑" panose="020B0503020204020204" pitchFamily="34" charset="-122"/>
                <a:ea typeface="微软雅黑" panose="020B0503020204020204" pitchFamily="34" charset="-122"/>
              </a:rPr>
              <a:t>N</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台主机从服务器</a:t>
            </a:r>
            <a:r>
              <a:rPr lang="zh-CN" altLang="en-US" sz="2000" b="1" dirty="0">
                <a:solidFill>
                  <a:srgbClr val="C00000"/>
                </a:solidFill>
                <a:latin typeface="微软雅黑" panose="020B0503020204020204" pitchFamily="34" charset="-122"/>
                <a:ea typeface="微软雅黑" panose="020B0503020204020204" pitchFamily="34" charset="-122"/>
              </a:rPr>
              <a:t>下载</a:t>
            </a:r>
            <a:r>
              <a:rPr lang="zh-CN" altLang="en-US" sz="2000" b="1" dirty="0">
                <a:latin typeface="微软雅黑" panose="020B0503020204020204" pitchFamily="34" charset="-122"/>
                <a:ea typeface="微软雅黑" panose="020B0503020204020204" pitchFamily="34" charset="-122"/>
              </a:rPr>
              <a:t>一个大文件，其长度为 </a:t>
            </a:r>
            <a:r>
              <a:rPr lang="en-US" altLang="zh-CN" sz="2000" b="1" i="1" dirty="0">
                <a:latin typeface="微软雅黑" panose="020B0503020204020204" pitchFamily="34" charset="-122"/>
                <a:ea typeface="微软雅黑" panose="020B0503020204020204" pitchFamily="34" charset="-122"/>
              </a:rPr>
              <a:t>F</a:t>
            </a:r>
            <a:r>
              <a:rPr lang="en-US" altLang="zh-CN" sz="2000" b="1" dirty="0">
                <a:latin typeface="微软雅黑" panose="020B0503020204020204" pitchFamily="34" charset="-122"/>
                <a:ea typeface="微软雅黑" panose="020B0503020204020204" pitchFamily="34" charset="-122"/>
              </a:rPr>
              <a:t> bit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9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假定</a:t>
            </a:r>
            <a:r>
              <a:rPr lang="zh-CN" altLang="en-US" sz="2000" b="1" dirty="0">
                <a:latin typeface="微软雅黑" panose="020B0503020204020204" pitchFamily="34" charset="-122"/>
                <a:ea typeface="微软雅黑" panose="020B0503020204020204" pitchFamily="34" charset="-122"/>
              </a:rPr>
              <a:t>主机与互联网连接的链路的上传速率和下载速率分别为 </a:t>
            </a:r>
            <a:r>
              <a:rPr lang="en-US" altLang="zh-CN" sz="2000" b="1" i="1" dirty="0" err="1">
                <a:latin typeface="微软雅黑" panose="020B0503020204020204" pitchFamily="34" charset="-122"/>
                <a:ea typeface="微软雅黑" panose="020B0503020204020204" pitchFamily="34" charset="-122"/>
              </a:rPr>
              <a:t>u</a:t>
            </a:r>
            <a:r>
              <a:rPr lang="en-US" altLang="zh-CN" sz="2000" b="1" i="1" baseline="-25000" dirty="0" err="1">
                <a:latin typeface="微软雅黑" panose="020B0503020204020204" pitchFamily="34" charset="-122"/>
                <a:ea typeface="微软雅黑" panose="020B0503020204020204" pitchFamily="34" charset="-122"/>
              </a:rPr>
              <a:t>i</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和 </a:t>
            </a:r>
            <a:r>
              <a:rPr lang="en-US" altLang="zh-CN" sz="2000" b="1" i="1" dirty="0">
                <a:latin typeface="微软雅黑" panose="020B0503020204020204" pitchFamily="34" charset="-122"/>
                <a:ea typeface="微软雅黑" panose="020B0503020204020204" pitchFamily="34" charset="-122"/>
              </a:rPr>
              <a:t>d</a:t>
            </a:r>
            <a:r>
              <a:rPr lang="en-US" altLang="zh-CN" sz="2000" b="1" i="1" baseline="-25000" dirty="0">
                <a:latin typeface="微软雅黑" panose="020B0503020204020204" pitchFamily="34" charset="-122"/>
                <a:ea typeface="微软雅黑" panose="020B0503020204020204" pitchFamily="34" charset="-122"/>
              </a:rPr>
              <a:t>i</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，单位都是 </a:t>
            </a:r>
            <a:r>
              <a:rPr lang="en-US" altLang="zh-CN" sz="2000" b="1" dirty="0">
                <a:latin typeface="微软雅黑" panose="020B0503020204020204" pitchFamily="34" charset="-122"/>
                <a:ea typeface="微软雅黑" panose="020B0503020204020204" pitchFamily="34" charset="-122"/>
              </a:rPr>
              <a:t>bit/s</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pSp>
        <p:nvGrpSpPr>
          <p:cNvPr id="16" name="Group 457"/>
          <p:cNvGrpSpPr/>
          <p:nvPr/>
        </p:nvGrpSpPr>
        <p:grpSpPr bwMode="auto">
          <a:xfrm>
            <a:off x="4455943" y="1763255"/>
            <a:ext cx="2715518" cy="1471274"/>
            <a:chOff x="1776" y="2768"/>
            <a:chExt cx="1824" cy="736"/>
          </a:xfrm>
          <a:solidFill>
            <a:schemeClr val="bg1">
              <a:lumMod val="95000"/>
            </a:schemeClr>
          </a:solidFill>
          <a:effectLst>
            <a:outerShdw blurRad="50800" dist="38100" dir="2700000" algn="tl" rotWithShape="0">
              <a:prstClr val="black">
                <a:alpha val="40000"/>
              </a:prstClr>
            </a:outerShdw>
          </a:effectLst>
        </p:grpSpPr>
        <p:grpSp>
          <p:nvGrpSpPr>
            <p:cNvPr id="17" name="Group 458"/>
            <p:cNvGrpSpPr/>
            <p:nvPr/>
          </p:nvGrpSpPr>
          <p:grpSpPr bwMode="auto">
            <a:xfrm>
              <a:off x="1787" y="2783"/>
              <a:ext cx="1813" cy="721"/>
              <a:chOff x="1787" y="2783"/>
              <a:chExt cx="1813" cy="721"/>
            </a:xfrm>
            <a:grpFill/>
          </p:grpSpPr>
          <p:sp>
            <p:nvSpPr>
              <p:cNvPr id="27"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8"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9"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0"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1"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2"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3"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4"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5"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18"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9"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0"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1"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2"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3"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4"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5"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6"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36" name="Text Box 477"/>
          <p:cNvSpPr txBox="1">
            <a:spLocks noChangeArrowheads="1"/>
          </p:cNvSpPr>
          <p:nvPr/>
        </p:nvSpPr>
        <p:spPr bwMode="auto">
          <a:xfrm>
            <a:off x="5514942" y="2331284"/>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600" b="1" dirty="0">
                <a:solidFill>
                  <a:sysClr val="windowText" lastClr="000000"/>
                </a:solidFill>
                <a:latin typeface="微软雅黑" panose="020B0503020204020204" pitchFamily="34" charset="-122"/>
                <a:ea typeface="微软雅黑" panose="020B0503020204020204" pitchFamily="34" charset="-122"/>
              </a:rPr>
              <a:t>互联网</a:t>
            </a:r>
            <a:endParaRPr kumimoji="1" lang="zh-CN" altLang="en-US" sz="1600" b="1" dirty="0">
              <a:solidFill>
                <a:sysClr val="windowText" lastClr="000000"/>
              </a:solidFill>
              <a:latin typeface="微软雅黑" panose="020B0503020204020204" pitchFamily="34" charset="-122"/>
              <a:ea typeface="微软雅黑" panose="020B0503020204020204" pitchFamily="34" charset="-122"/>
            </a:endParaRPr>
          </a:p>
        </p:txBody>
      </p:sp>
      <p:sp>
        <p:nvSpPr>
          <p:cNvPr id="37" name="Line 479"/>
          <p:cNvSpPr>
            <a:spLocks noChangeShapeType="1"/>
          </p:cNvSpPr>
          <p:nvPr/>
        </p:nvSpPr>
        <p:spPr bwMode="auto">
          <a:xfrm>
            <a:off x="3635866" y="2326194"/>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 name="Line 480"/>
          <p:cNvSpPr>
            <a:spLocks noChangeShapeType="1"/>
          </p:cNvSpPr>
          <p:nvPr/>
        </p:nvSpPr>
        <p:spPr bwMode="auto">
          <a:xfrm rot="10800000">
            <a:off x="3533073" y="2413021"/>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 name="Text Box 482"/>
          <p:cNvSpPr txBox="1">
            <a:spLocks noChangeArrowheads="1"/>
          </p:cNvSpPr>
          <p:nvPr/>
        </p:nvSpPr>
        <p:spPr bwMode="auto">
          <a:xfrm>
            <a:off x="7887628" y="290702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400" b="1" dirty="0">
                <a:solidFill>
                  <a:sysClr val="windowText" lastClr="000000"/>
                </a:solidFill>
                <a:latin typeface="微软雅黑" panose="020B0503020204020204" pitchFamily="34" charset="-122"/>
                <a:ea typeface="微软雅黑" panose="020B0503020204020204" pitchFamily="34" charset="-122"/>
              </a:rPr>
              <a:t>服务器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40" name="Text Box 2748"/>
          <p:cNvSpPr txBox="1">
            <a:spLocks noChangeArrowheads="1"/>
          </p:cNvSpPr>
          <p:nvPr/>
        </p:nvSpPr>
        <p:spPr bwMode="auto">
          <a:xfrm>
            <a:off x="5787721" y="1393051"/>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a:solidFill>
                  <a:srgbClr val="0000FF"/>
                </a:solidFill>
                <a:latin typeface="微软雅黑" panose="020B0503020204020204" pitchFamily="34" charset="-122"/>
                <a:ea typeface="微软雅黑" panose="020B0503020204020204" pitchFamily="34" charset="-122"/>
                <a:sym typeface="Symbol" panose="05050102010706020507" pitchFamily="18" charset="2"/>
              </a:rPr>
              <a:t></a:t>
            </a:r>
            <a:endParaRPr kumimoji="1" lang="en-US" altLang="zh-CN" sz="1400" b="1">
              <a:solidFill>
                <a:srgbClr val="0000FF"/>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41" name="Line 2750"/>
          <p:cNvSpPr>
            <a:spLocks noChangeShapeType="1"/>
          </p:cNvSpPr>
          <p:nvPr/>
        </p:nvSpPr>
        <p:spPr bwMode="auto">
          <a:xfrm rot="816166">
            <a:off x="4773355" y="1601052"/>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2" name="Line 2751"/>
          <p:cNvSpPr>
            <a:spLocks noChangeShapeType="1"/>
          </p:cNvSpPr>
          <p:nvPr/>
        </p:nvSpPr>
        <p:spPr bwMode="auto">
          <a:xfrm rot="11616166">
            <a:off x="4647972" y="1670705"/>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3" name="Line 2753"/>
          <p:cNvSpPr>
            <a:spLocks noChangeShapeType="1"/>
          </p:cNvSpPr>
          <p:nvPr/>
        </p:nvSpPr>
        <p:spPr bwMode="auto">
          <a:xfrm rot="18950026">
            <a:off x="4200657" y="3130530"/>
            <a:ext cx="82007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4" name="Line 2754"/>
          <p:cNvSpPr>
            <a:spLocks noChangeShapeType="1"/>
          </p:cNvSpPr>
          <p:nvPr/>
        </p:nvSpPr>
        <p:spPr bwMode="auto">
          <a:xfrm rot="8150026">
            <a:off x="4191620" y="3238346"/>
            <a:ext cx="87203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5" name="Line 2756"/>
          <p:cNvSpPr>
            <a:spLocks noChangeShapeType="1"/>
          </p:cNvSpPr>
          <p:nvPr/>
        </p:nvSpPr>
        <p:spPr bwMode="auto">
          <a:xfrm rot="13567995">
            <a:off x="5778552" y="3434763"/>
            <a:ext cx="692701" cy="204455"/>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6" name="Line 2757"/>
          <p:cNvSpPr>
            <a:spLocks noChangeShapeType="1"/>
          </p:cNvSpPr>
          <p:nvPr/>
        </p:nvSpPr>
        <p:spPr bwMode="auto">
          <a:xfrm rot="2767995">
            <a:off x="5884250" y="3421405"/>
            <a:ext cx="736591" cy="204454"/>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7" name="Line 2759"/>
          <p:cNvSpPr>
            <a:spLocks noChangeShapeType="1"/>
          </p:cNvSpPr>
          <p:nvPr/>
        </p:nvSpPr>
        <p:spPr bwMode="auto">
          <a:xfrm rot="18997895">
            <a:off x="6607799" y="1700282"/>
            <a:ext cx="82007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8" name="Line 2760"/>
          <p:cNvSpPr>
            <a:spLocks noChangeShapeType="1"/>
          </p:cNvSpPr>
          <p:nvPr/>
        </p:nvSpPr>
        <p:spPr bwMode="auto">
          <a:xfrm rot="8197895">
            <a:off x="6769329" y="1752760"/>
            <a:ext cx="704860" cy="140257"/>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9" name="Line 2762"/>
          <p:cNvSpPr>
            <a:spLocks noChangeShapeType="1"/>
          </p:cNvSpPr>
          <p:nvPr/>
        </p:nvSpPr>
        <p:spPr bwMode="auto">
          <a:xfrm rot="1048487">
            <a:off x="6967007" y="3119080"/>
            <a:ext cx="82007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0" name="Line 2763"/>
          <p:cNvSpPr>
            <a:spLocks noChangeShapeType="1"/>
          </p:cNvSpPr>
          <p:nvPr/>
        </p:nvSpPr>
        <p:spPr bwMode="auto">
          <a:xfrm rot="11848487">
            <a:off x="6837104" y="3182053"/>
            <a:ext cx="87203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1" name="Line 2764"/>
          <p:cNvSpPr>
            <a:spLocks noChangeShapeType="1"/>
          </p:cNvSpPr>
          <p:nvPr/>
        </p:nvSpPr>
        <p:spPr bwMode="auto">
          <a:xfrm rot="10046881">
            <a:off x="7217774" y="2523146"/>
            <a:ext cx="769247" cy="129762"/>
          </a:xfrm>
          <a:prstGeom prst="line">
            <a:avLst/>
          </a:prstGeom>
          <a:noFill/>
          <a:ln w="5715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2" name="Text Box 2765"/>
          <p:cNvSpPr txBox="1">
            <a:spLocks noChangeArrowheads="1"/>
          </p:cNvSpPr>
          <p:nvPr/>
        </p:nvSpPr>
        <p:spPr bwMode="auto">
          <a:xfrm>
            <a:off x="7874492" y="1972449"/>
            <a:ext cx="6447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400" b="1" dirty="0" smtClean="0">
                <a:solidFill>
                  <a:sysClr val="windowText" lastClr="000000"/>
                </a:solidFill>
                <a:latin typeface="微软雅黑" panose="020B0503020204020204" pitchFamily="34" charset="-122"/>
                <a:ea typeface="微软雅黑" panose="020B0503020204020204" pitchFamily="34" charset="-122"/>
              </a:rPr>
              <a:t>文件</a:t>
            </a:r>
            <a:r>
              <a:rPr kumimoji="1" lang="en-US" altLang="zh-CN" sz="1400" b="1" i="1" dirty="0" smtClean="0">
                <a:solidFill>
                  <a:sysClr val="windowText" lastClr="000000"/>
                </a:solidFill>
                <a:latin typeface="微软雅黑" panose="020B0503020204020204" pitchFamily="34" charset="-122"/>
                <a:ea typeface="微软雅黑" panose="020B0503020204020204" pitchFamily="34" charset="-122"/>
              </a:rPr>
              <a:t>F</a:t>
            </a:r>
            <a:endParaRPr kumimoji="1" lang="en-US" altLang="zh-CN" sz="1400" b="1" i="1" dirty="0">
              <a:solidFill>
                <a:sysClr val="windowText" lastClr="000000"/>
              </a:solidFill>
              <a:latin typeface="微软雅黑" panose="020B0503020204020204" pitchFamily="34" charset="-122"/>
              <a:ea typeface="微软雅黑" panose="020B0503020204020204" pitchFamily="34" charset="-122"/>
            </a:endParaRPr>
          </a:p>
        </p:txBody>
      </p:sp>
      <p:sp>
        <p:nvSpPr>
          <p:cNvPr id="53" name="Text Box 2766"/>
          <p:cNvSpPr txBox="1">
            <a:spLocks noChangeArrowheads="1"/>
          </p:cNvSpPr>
          <p:nvPr/>
        </p:nvSpPr>
        <p:spPr bwMode="auto">
          <a:xfrm>
            <a:off x="7493392" y="2252726"/>
            <a:ext cx="36099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a:solidFill>
                  <a:srgbClr val="0000FF"/>
                </a:solidFill>
                <a:latin typeface="微软雅黑" panose="020B0503020204020204" pitchFamily="34" charset="-122"/>
                <a:ea typeface="微软雅黑" panose="020B0503020204020204" pitchFamily="34" charset="-122"/>
              </a:rPr>
              <a:t>s</a:t>
            </a:r>
            <a:endParaRPr kumimoji="1" lang="en-US" altLang="zh-CN" sz="1400" b="1" i="1" baseline="-25000">
              <a:solidFill>
                <a:srgbClr val="0000FF"/>
              </a:solidFill>
              <a:latin typeface="微软雅黑" panose="020B0503020204020204" pitchFamily="34" charset="-122"/>
              <a:ea typeface="微软雅黑" panose="020B0503020204020204" pitchFamily="34" charset="-122"/>
            </a:endParaRPr>
          </a:p>
        </p:txBody>
      </p:sp>
      <p:sp>
        <p:nvSpPr>
          <p:cNvPr id="54" name="Text Box 2767"/>
          <p:cNvSpPr txBox="1">
            <a:spLocks noChangeArrowheads="1"/>
          </p:cNvSpPr>
          <p:nvPr/>
        </p:nvSpPr>
        <p:spPr bwMode="auto">
          <a:xfrm>
            <a:off x="7075610" y="1717219"/>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5" name="Text Box 2768"/>
          <p:cNvSpPr txBox="1">
            <a:spLocks noChangeArrowheads="1"/>
          </p:cNvSpPr>
          <p:nvPr/>
        </p:nvSpPr>
        <p:spPr bwMode="auto">
          <a:xfrm>
            <a:off x="7017837" y="3161062"/>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baseline="-2500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56" name="Text Box 2769"/>
          <p:cNvSpPr txBox="1">
            <a:spLocks noChangeArrowheads="1"/>
          </p:cNvSpPr>
          <p:nvPr/>
        </p:nvSpPr>
        <p:spPr bwMode="auto">
          <a:xfrm>
            <a:off x="5826505" y="342058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7" name="Text Box 2770"/>
          <p:cNvSpPr txBox="1">
            <a:spLocks noChangeArrowheads="1"/>
          </p:cNvSpPr>
          <p:nvPr/>
        </p:nvSpPr>
        <p:spPr bwMode="auto">
          <a:xfrm>
            <a:off x="4353151" y="293071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8" name="Text Box 2771"/>
          <p:cNvSpPr txBox="1">
            <a:spLocks noChangeArrowheads="1"/>
          </p:cNvSpPr>
          <p:nvPr/>
        </p:nvSpPr>
        <p:spPr bwMode="auto">
          <a:xfrm>
            <a:off x="3841449" y="2120179"/>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9" name="Text Box 2772"/>
          <p:cNvSpPr txBox="1">
            <a:spLocks noChangeArrowheads="1"/>
          </p:cNvSpPr>
          <p:nvPr/>
        </p:nvSpPr>
        <p:spPr bwMode="auto">
          <a:xfrm>
            <a:off x="4968773" y="139368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0" name="Text Box 2773"/>
          <p:cNvSpPr txBox="1">
            <a:spLocks noChangeArrowheads="1"/>
          </p:cNvSpPr>
          <p:nvPr/>
        </p:nvSpPr>
        <p:spPr bwMode="auto">
          <a:xfrm>
            <a:off x="6717910" y="1488703"/>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d</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61" name="Text Box 2774"/>
          <p:cNvSpPr txBox="1">
            <a:spLocks noChangeArrowheads="1"/>
          </p:cNvSpPr>
          <p:nvPr/>
        </p:nvSpPr>
        <p:spPr bwMode="auto">
          <a:xfrm>
            <a:off x="4717469" y="1665139"/>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2" name="Text Box 2775"/>
          <p:cNvSpPr txBox="1">
            <a:spLocks noChangeArrowheads="1"/>
          </p:cNvSpPr>
          <p:nvPr/>
        </p:nvSpPr>
        <p:spPr bwMode="auto">
          <a:xfrm>
            <a:off x="7240580" y="294447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3" name="Text Box 2776"/>
          <p:cNvSpPr txBox="1">
            <a:spLocks noChangeArrowheads="1"/>
          </p:cNvSpPr>
          <p:nvPr/>
        </p:nvSpPr>
        <p:spPr bwMode="auto">
          <a:xfrm>
            <a:off x="6197760" y="333471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d</a:t>
            </a:r>
            <a:r>
              <a:rPr kumimoji="1" lang="en-US" altLang="zh-CN" sz="1400" b="1" baseline="-2500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64" name="Text Box 2777"/>
          <p:cNvSpPr txBox="1">
            <a:spLocks noChangeArrowheads="1"/>
          </p:cNvSpPr>
          <p:nvPr/>
        </p:nvSpPr>
        <p:spPr bwMode="auto">
          <a:xfrm>
            <a:off x="4568957" y="3213142"/>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5" name="Text Box 2778"/>
          <p:cNvSpPr txBox="1">
            <a:spLocks noChangeArrowheads="1"/>
          </p:cNvSpPr>
          <p:nvPr/>
        </p:nvSpPr>
        <p:spPr bwMode="auto">
          <a:xfrm>
            <a:off x="3789489" y="247631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9" y="61252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252835" y="589437"/>
            <a:ext cx="46570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rgbClr val="FFC000"/>
                </a:solidFill>
                <a:latin typeface="微软雅黑" panose="020B0503020204020204" pitchFamily="34" charset="-122"/>
                <a:ea typeface="微软雅黑" panose="020B0503020204020204" pitchFamily="34" charset="-122"/>
              </a:rPr>
              <a:t>客户</a:t>
            </a:r>
            <a:r>
              <a:rPr lang="en-US" altLang="zh-CN" sz="2000" b="1" dirty="0" smtClean="0">
                <a:solidFill>
                  <a:srgbClr val="FFC000"/>
                </a:solidFill>
                <a:latin typeface="微软雅黑" panose="020B0503020204020204" pitchFamily="34" charset="-122"/>
                <a:ea typeface="微软雅黑" panose="020B0503020204020204" pitchFamily="34" charset="-122"/>
              </a:rPr>
              <a:t>-</a:t>
            </a:r>
            <a:r>
              <a:rPr lang="zh-CN" altLang="en-US" sz="2000" b="1" dirty="0" smtClean="0">
                <a:solidFill>
                  <a:srgbClr val="FFC000"/>
                </a:solidFill>
                <a:latin typeface="微软雅黑" panose="020B0503020204020204" pitchFamily="34" charset="-122"/>
                <a:ea typeface="微软雅黑" panose="020B0503020204020204" pitchFamily="34" charset="-122"/>
              </a:rPr>
              <a:t>服务器</a:t>
            </a:r>
            <a:r>
              <a:rPr lang="zh-CN" altLang="en-US" sz="2000" b="1" dirty="0">
                <a:solidFill>
                  <a:schemeClr val="bg1"/>
                </a:solidFill>
                <a:latin typeface="微软雅黑" panose="020B0503020204020204" pitchFamily="34" charset="-122"/>
                <a:ea typeface="微软雅黑" panose="020B0503020204020204" pitchFamily="34" charset="-122"/>
              </a:rPr>
              <a:t>方式下分发的最短</a:t>
            </a:r>
            <a:r>
              <a:rPr lang="zh-CN" altLang="en-US" sz="2000" b="1" dirty="0" smtClean="0">
                <a:solidFill>
                  <a:schemeClr val="bg1"/>
                </a:solidFill>
                <a:latin typeface="微软雅黑" panose="020B0503020204020204" pitchFamily="34" charset="-122"/>
                <a:ea typeface="微软雅黑" panose="020B0503020204020204" pitchFamily="34" charset="-122"/>
              </a:rPr>
              <a:t>时间</a:t>
            </a:r>
            <a:r>
              <a:rPr lang="zh-CN" altLang="en-US" sz="2000" b="1" dirty="0">
                <a:solidFill>
                  <a:schemeClr val="bg1"/>
                </a:solidFill>
                <a:latin typeface="微软雅黑" panose="020B0503020204020204" pitchFamily="34" charset="-122"/>
                <a:ea typeface="微软雅黑" panose="020B0503020204020204" pitchFamily="34" charset="-122"/>
              </a:rPr>
              <a:t>分析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8" y="974860"/>
            <a:ext cx="834733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从服务器端考虑，</a:t>
            </a:r>
            <a:r>
              <a:rPr lang="zh-CN" altLang="en-US" sz="2000" b="1" dirty="0">
                <a:solidFill>
                  <a:srgbClr val="C00000"/>
                </a:solidFill>
                <a:latin typeface="微软雅黑" panose="020B0503020204020204" pitchFamily="34" charset="-122"/>
                <a:ea typeface="微软雅黑" panose="020B0503020204020204" pitchFamily="34" charset="-122"/>
              </a:rPr>
              <a:t>所有主机</a:t>
            </a:r>
            <a:r>
              <a:rPr lang="zh-CN" altLang="en-US" sz="2000" b="1" dirty="0">
                <a:latin typeface="微软雅黑" panose="020B0503020204020204" pitchFamily="34" charset="-122"/>
                <a:ea typeface="微软雅黑" panose="020B0503020204020204" pitchFamily="34" charset="-122"/>
              </a:rPr>
              <a:t>分发完毕的最短时间 </a:t>
            </a:r>
            <a:r>
              <a:rPr lang="en-US" altLang="zh-CN" sz="2000" b="1" i="1" dirty="0" err="1">
                <a:latin typeface="微软雅黑" panose="020B0503020204020204" pitchFamily="34" charset="-122"/>
                <a:ea typeface="微软雅黑" panose="020B0503020204020204" pitchFamily="34" charset="-122"/>
              </a:rPr>
              <a:t>T</a:t>
            </a:r>
            <a:r>
              <a:rPr lang="en-US" altLang="zh-CN" sz="2000" b="1" i="1" baseline="-25000" dirty="0" err="1">
                <a:latin typeface="微软雅黑" panose="020B0503020204020204" pitchFamily="34" charset="-122"/>
                <a:ea typeface="微软雅黑" panose="020B0503020204020204" pitchFamily="34" charset="-122"/>
              </a:rPr>
              <a:t>cs</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不可能小于 </a:t>
            </a:r>
            <a:r>
              <a:rPr lang="en-US" altLang="zh-CN" sz="2000" b="1" i="1" dirty="0" smtClean="0">
                <a:latin typeface="微软雅黑" panose="020B0503020204020204" pitchFamily="34" charset="-122"/>
                <a:ea typeface="微软雅黑" panose="020B0503020204020204" pitchFamily="34" charset="-122"/>
              </a:rPr>
              <a:t>NF/u</a:t>
            </a:r>
            <a:r>
              <a:rPr lang="en-US" altLang="zh-CN" sz="2000" b="1" i="1" baseline="-25000" dirty="0" smtClean="0">
                <a:latin typeface="微软雅黑" panose="020B0503020204020204" pitchFamily="34" charset="-122"/>
                <a:ea typeface="微软雅黑" panose="020B0503020204020204" pitchFamily="34" charset="-122"/>
              </a:rPr>
              <a:t>s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下载速率</a:t>
            </a:r>
            <a:r>
              <a:rPr lang="zh-CN" altLang="en-US" sz="2000" b="1" dirty="0">
                <a:solidFill>
                  <a:srgbClr val="C00000"/>
                </a:solidFill>
                <a:latin typeface="微软雅黑" panose="020B0503020204020204" pitchFamily="34" charset="-122"/>
                <a:ea typeface="微软雅黑" panose="020B0503020204020204" pitchFamily="34" charset="-122"/>
              </a:rPr>
              <a:t>最慢</a:t>
            </a:r>
            <a:r>
              <a:rPr lang="zh-CN" altLang="en-US" sz="2000" b="1" dirty="0">
                <a:latin typeface="微软雅黑" panose="020B0503020204020204" pitchFamily="34" charset="-122"/>
                <a:ea typeface="微软雅黑" panose="020B0503020204020204" pitchFamily="34" charset="-122"/>
              </a:rPr>
              <a:t>的主机的下载速率为 </a:t>
            </a:r>
            <a:r>
              <a:rPr lang="en-US" altLang="zh-CN" sz="2000" b="1" i="1" dirty="0" err="1">
                <a:latin typeface="微软雅黑" panose="020B0503020204020204" pitchFamily="34" charset="-122"/>
                <a:ea typeface="微软雅黑" panose="020B0503020204020204" pitchFamily="34" charset="-122"/>
              </a:rPr>
              <a:t>d</a:t>
            </a:r>
            <a:r>
              <a:rPr lang="en-US" altLang="zh-CN" sz="2000" b="1" baseline="-25000" dirty="0" err="1">
                <a:latin typeface="微软雅黑" panose="020B0503020204020204" pitchFamily="34" charset="-122"/>
                <a:ea typeface="微软雅黑" panose="020B0503020204020204" pitchFamily="34" charset="-122"/>
              </a:rPr>
              <a:t>min</a:t>
            </a:r>
            <a:r>
              <a:rPr lang="zh-CN" altLang="en-US" sz="2000" b="1" dirty="0">
                <a:latin typeface="微软雅黑" panose="020B0503020204020204" pitchFamily="34" charset="-122"/>
                <a:ea typeface="微软雅黑" panose="020B0503020204020204" pitchFamily="34" charset="-122"/>
              </a:rPr>
              <a:t>，则 </a:t>
            </a:r>
            <a:r>
              <a:rPr lang="en-US" altLang="zh-CN" sz="2000" b="1" i="1" dirty="0" err="1">
                <a:latin typeface="微软雅黑" panose="020B0503020204020204" pitchFamily="34" charset="-122"/>
                <a:ea typeface="微软雅黑" panose="020B0503020204020204" pitchFamily="34" charset="-122"/>
              </a:rPr>
              <a:t>T</a:t>
            </a:r>
            <a:r>
              <a:rPr lang="en-US" altLang="zh-CN" sz="2000" b="1" i="1" baseline="-25000" dirty="0" err="1">
                <a:latin typeface="微软雅黑" panose="020B0503020204020204" pitchFamily="34" charset="-122"/>
                <a:ea typeface="微软雅黑" panose="020B0503020204020204" pitchFamily="34" charset="-122"/>
              </a:rPr>
              <a:t>cs</a:t>
            </a:r>
            <a:r>
              <a:rPr lang="en-US" altLang="zh-CN" sz="2000" b="1" i="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不可能小于 </a:t>
            </a:r>
            <a:r>
              <a:rPr lang="en-US" altLang="zh-CN" sz="2000" b="1" i="1" dirty="0" smtClean="0">
                <a:latin typeface="微软雅黑" panose="020B0503020204020204" pitchFamily="34" charset="-122"/>
                <a:ea typeface="微软雅黑" panose="020B0503020204020204" pitchFamily="34" charset="-122"/>
              </a:rPr>
              <a:t>F/</a:t>
            </a:r>
            <a:r>
              <a:rPr lang="en-US" altLang="zh-CN" sz="2000" b="1" i="1" dirty="0" err="1" smtClean="0">
                <a:latin typeface="微软雅黑" panose="020B0503020204020204" pitchFamily="34" charset="-122"/>
                <a:ea typeface="微软雅黑" panose="020B0503020204020204" pitchFamily="34" charset="-122"/>
              </a:rPr>
              <a:t>d</a:t>
            </a:r>
            <a:r>
              <a:rPr lang="en-US" altLang="zh-CN" sz="2000" b="1" baseline="-25000" dirty="0" err="1" smtClean="0">
                <a:latin typeface="微软雅黑" panose="020B0503020204020204" pitchFamily="34" charset="-122"/>
                <a:ea typeface="微软雅黑" panose="020B0503020204020204" pitchFamily="34" charset="-122"/>
              </a:rPr>
              <a:t>min</a:t>
            </a:r>
            <a:r>
              <a:rPr lang="en-US" altLang="zh-CN" sz="2000" b="1" i="1" baseline="-25000"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由此可得出</a:t>
            </a:r>
            <a:r>
              <a:rPr lang="zh-CN" altLang="en-US" sz="2000" b="1" dirty="0">
                <a:solidFill>
                  <a:srgbClr val="C00000"/>
                </a:solidFill>
                <a:latin typeface="微软雅黑" panose="020B0503020204020204" pitchFamily="34" charset="-122"/>
                <a:ea typeface="微软雅黑" panose="020B0503020204020204" pitchFamily="34" charset="-122"/>
              </a:rPr>
              <a:t>所有主机</a:t>
            </a:r>
            <a:r>
              <a:rPr lang="zh-CN" altLang="en-US" sz="2000" b="1" dirty="0">
                <a:latin typeface="微软雅黑" panose="020B0503020204020204" pitchFamily="34" charset="-122"/>
                <a:ea typeface="微软雅黑" panose="020B0503020204020204" pitchFamily="34" charset="-122"/>
              </a:rPr>
              <a:t>都下载完文件 </a:t>
            </a:r>
            <a:r>
              <a:rPr lang="en-US" altLang="zh-CN" sz="2000" b="1" dirty="0">
                <a:latin typeface="微软雅黑" panose="020B0503020204020204" pitchFamily="34" charset="-122"/>
                <a:ea typeface="微软雅黑" panose="020B0503020204020204" pitchFamily="34" charset="-122"/>
              </a:rPr>
              <a:t>F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最少时间</a:t>
            </a:r>
            <a:r>
              <a:rPr lang="zh-CN" altLang="en-US" sz="2000" b="1" dirty="0">
                <a:latin typeface="微软雅黑" panose="020B0503020204020204" pitchFamily="34" charset="-122"/>
                <a:ea typeface="微软雅黑" panose="020B0503020204020204" pitchFamily="34" charset="-122"/>
              </a:rPr>
              <a:t>是</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algn="ctr" eaLnBrk="0" hangingPunct="0">
              <a:lnSpc>
                <a:spcPts val="3600"/>
              </a:lnSpc>
              <a:buClr>
                <a:srgbClr val="0070C0"/>
              </a:buClr>
            </a:pPr>
            <a:r>
              <a:rPr lang="en-US" altLang="zh-CN" sz="2000" b="1" i="1" dirty="0" err="1" smtClean="0">
                <a:solidFill>
                  <a:srgbClr val="0000FF"/>
                </a:solidFill>
                <a:latin typeface="微软雅黑" panose="020B0503020204020204" pitchFamily="34" charset="-122"/>
                <a:ea typeface="微软雅黑" panose="020B0503020204020204" pitchFamily="34" charset="-122"/>
              </a:rPr>
              <a:t>T</a:t>
            </a:r>
            <a:r>
              <a:rPr lang="en-US" altLang="zh-CN" sz="2000" b="1" baseline="-25000" dirty="0" err="1" smtClean="0">
                <a:solidFill>
                  <a:srgbClr val="0000FF"/>
                </a:solidFill>
                <a:latin typeface="微软雅黑" panose="020B0503020204020204" pitchFamily="34" charset="-122"/>
                <a:ea typeface="微软雅黑" panose="020B0503020204020204" pitchFamily="34" charset="-122"/>
              </a:rPr>
              <a:t>cs</a:t>
            </a:r>
            <a:r>
              <a:rPr lang="en-US" altLang="zh-CN" sz="2000" b="1" dirty="0" smtClean="0">
                <a:solidFill>
                  <a:srgbClr val="0000FF"/>
                </a:solidFill>
                <a:latin typeface="微软雅黑" panose="020B0503020204020204" pitchFamily="34" charset="-122"/>
                <a:ea typeface="微软雅黑" panose="020B0503020204020204" pitchFamily="34" charset="-122"/>
              </a:rPr>
              <a:t>=max</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NF/u</a:t>
            </a:r>
            <a:r>
              <a:rPr lang="en-US" altLang="zh-CN" sz="2000" b="1" i="1" baseline="-25000" dirty="0">
                <a:solidFill>
                  <a:srgbClr val="0000FF"/>
                </a:solidFill>
                <a:latin typeface="微软雅黑" panose="020B0503020204020204" pitchFamily="34" charset="-122"/>
                <a:ea typeface="微软雅黑" panose="020B0503020204020204" pitchFamily="34" charset="-122"/>
              </a:rPr>
              <a:t>s</a:t>
            </a:r>
            <a:r>
              <a:rPr lang="zh-CN" altLang="en-US" sz="2000" b="1" i="1" dirty="0">
                <a:solidFill>
                  <a:srgbClr val="0000FF"/>
                </a:solidFill>
                <a:latin typeface="微软雅黑" panose="020B0503020204020204" pitchFamily="34" charset="-122"/>
                <a:ea typeface="微软雅黑" panose="020B0503020204020204" pitchFamily="34" charset="-122"/>
              </a:rPr>
              <a:t>，</a:t>
            </a:r>
            <a:r>
              <a:rPr lang="en-US" altLang="zh-CN" sz="2000" b="1" i="1" dirty="0">
                <a:solidFill>
                  <a:srgbClr val="0000FF"/>
                </a:solidFill>
                <a:latin typeface="微软雅黑" panose="020B0503020204020204" pitchFamily="34" charset="-122"/>
                <a:ea typeface="微软雅黑" panose="020B0503020204020204" pitchFamily="34" charset="-122"/>
              </a:rPr>
              <a:t>F/</a:t>
            </a:r>
            <a:r>
              <a:rPr lang="en-US" altLang="zh-CN" sz="2000" b="1" i="1" dirty="0" err="1">
                <a:solidFill>
                  <a:srgbClr val="0000FF"/>
                </a:solidFill>
                <a:latin typeface="微软雅黑" panose="020B0503020204020204" pitchFamily="34" charset="-122"/>
                <a:ea typeface="微软雅黑" panose="020B0503020204020204" pitchFamily="34" charset="-122"/>
              </a:rPr>
              <a:t>d</a:t>
            </a:r>
            <a:r>
              <a:rPr lang="en-US" altLang="zh-CN" sz="2000" b="1" baseline="-25000" dirty="0" err="1">
                <a:solidFill>
                  <a:srgbClr val="0000FF"/>
                </a:solidFill>
                <a:latin typeface="微软雅黑" panose="020B0503020204020204" pitchFamily="34" charset="-122"/>
                <a:ea typeface="微软雅黑" panose="020B0503020204020204" pitchFamily="34" charset="-122"/>
              </a:rPr>
              <a:t>min</a:t>
            </a:r>
            <a:r>
              <a:rPr lang="en-US" altLang="zh-CN" sz="2000" b="1" i="1" baseline="-25000" dirty="0">
                <a:solidFill>
                  <a:srgbClr val="0000FF"/>
                </a:solidFill>
                <a:latin typeface="微软雅黑" panose="020B0503020204020204" pitchFamily="34" charset="-122"/>
                <a:ea typeface="微软雅黑" panose="020B0503020204020204" pitchFamily="34" charset="-122"/>
              </a:rPr>
              <a:t> </a:t>
            </a:r>
            <a:r>
              <a:rPr lang="zh-CN" altLang="en-US" sz="2000" b="1" dirty="0">
                <a:solidFill>
                  <a:srgbClr val="0000FF"/>
                </a:solidFill>
                <a:latin typeface="微软雅黑" panose="020B0503020204020204" pitchFamily="34" charset="-122"/>
                <a:ea typeface="微软雅黑" panose="020B0503020204020204" pitchFamily="34" charset="-122"/>
              </a:rPr>
              <a:t>）</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8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64005" y="577630"/>
            <a:ext cx="38347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方式下分发的最短</a:t>
            </a:r>
            <a:r>
              <a:rPr lang="zh-CN" altLang="en-US" sz="2000" b="1" dirty="0" smtClean="0">
                <a:solidFill>
                  <a:schemeClr val="bg1"/>
                </a:solidFill>
                <a:latin typeface="微软雅黑" panose="020B0503020204020204" pitchFamily="34" charset="-122"/>
                <a:ea typeface="微软雅黑" panose="020B0503020204020204" pitchFamily="34" charset="-122"/>
              </a:rPr>
              <a:t>时间分析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931"/>
            <a:ext cx="8048777" cy="2669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初始</a:t>
            </a:r>
            <a:r>
              <a:rPr lang="zh-CN" altLang="en-US" sz="2000" b="1" dirty="0">
                <a:latin typeface="微软雅黑" panose="020B0503020204020204" pitchFamily="34" charset="-122"/>
                <a:ea typeface="微软雅黑" panose="020B0503020204020204" pitchFamily="34" charset="-122"/>
              </a:rPr>
              <a:t>服务器文件分发的最少时间不可能小于 </a:t>
            </a:r>
            <a:r>
              <a:rPr lang="en-US" altLang="zh-CN" sz="2000" b="1" i="1" dirty="0" smtClean="0">
                <a:latin typeface="微软雅黑" panose="020B0503020204020204" pitchFamily="34" charset="-122"/>
                <a:ea typeface="微软雅黑" panose="020B0503020204020204" pitchFamily="34" charset="-122"/>
              </a:rPr>
              <a:t>F/u</a:t>
            </a:r>
            <a:r>
              <a:rPr lang="en-US" altLang="zh-CN" sz="2000" b="1" i="1" baseline="-25000" dirty="0" smtClean="0">
                <a:latin typeface="微软雅黑" panose="020B0503020204020204" pitchFamily="34" charset="-122"/>
                <a:ea typeface="微软雅黑" panose="020B0503020204020204" pitchFamily="34" charset="-122"/>
              </a:rPr>
              <a:t>s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下载</a:t>
            </a:r>
            <a:r>
              <a:rPr lang="zh-CN" altLang="en-US" sz="2000" b="1" dirty="0">
                <a:latin typeface="微软雅黑" panose="020B0503020204020204" pitchFamily="34" charset="-122"/>
                <a:ea typeface="微软雅黑" panose="020B0503020204020204" pitchFamily="34" charset="-122"/>
              </a:rPr>
              <a:t>文件分发的最少时间不可能小于 </a:t>
            </a:r>
            <a:r>
              <a:rPr lang="en-US" altLang="zh-CN" sz="2000" b="1" i="1" dirty="0">
                <a:latin typeface="微软雅黑" panose="020B0503020204020204" pitchFamily="34" charset="-122"/>
                <a:ea typeface="微软雅黑" panose="020B0503020204020204" pitchFamily="34" charset="-122"/>
              </a:rPr>
              <a:t>F/</a:t>
            </a:r>
            <a:r>
              <a:rPr lang="en-US" altLang="zh-CN" sz="2000" b="1" i="1" dirty="0" err="1">
                <a:latin typeface="微软雅黑" panose="020B0503020204020204" pitchFamily="34" charset="-122"/>
                <a:ea typeface="微软雅黑" panose="020B0503020204020204" pitchFamily="34" charset="-122"/>
              </a:rPr>
              <a:t>d</a:t>
            </a:r>
            <a:r>
              <a:rPr lang="en-US" altLang="zh-CN" sz="2000" b="1" baseline="-25000" dirty="0" err="1">
                <a:latin typeface="微软雅黑" panose="020B0503020204020204" pitchFamily="34" charset="-122"/>
                <a:ea typeface="微软雅黑" panose="020B0503020204020204" pitchFamily="34" charset="-122"/>
              </a:rPr>
              <a:t>min</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上载</a:t>
            </a:r>
            <a:r>
              <a:rPr lang="zh-CN" altLang="en-US" sz="2000" b="1" dirty="0">
                <a:latin typeface="微软雅黑" panose="020B0503020204020204" pitchFamily="34" charset="-122"/>
                <a:ea typeface="微软雅黑" panose="020B0503020204020204" pitchFamily="34" charset="-122"/>
              </a:rPr>
              <a:t>文件分发的最少时间不可能小于 </a:t>
            </a:r>
            <a:r>
              <a:rPr lang="en-US" altLang="zh-CN" sz="2000" b="1" i="1" dirty="0">
                <a:latin typeface="微软雅黑" panose="020B0503020204020204" pitchFamily="34" charset="-122"/>
                <a:ea typeface="微软雅黑" panose="020B0503020204020204" pitchFamily="34" charset="-122"/>
              </a:rPr>
              <a:t>NF/</a:t>
            </a:r>
            <a:r>
              <a:rPr lang="en-US" altLang="zh-CN" sz="2000" b="1" i="1" dirty="0" err="1">
                <a:latin typeface="微软雅黑" panose="020B0503020204020204" pitchFamily="34" charset="-122"/>
                <a:ea typeface="微软雅黑" panose="020B0503020204020204" pitchFamily="34" charset="-122"/>
              </a:rPr>
              <a:t>u</a:t>
            </a:r>
            <a:r>
              <a:rPr lang="en-US" altLang="zh-CN" sz="2000" b="1" baseline="-25000" dirty="0" err="1">
                <a:latin typeface="微软雅黑" panose="020B0503020204020204" pitchFamily="34" charset="-122"/>
                <a:ea typeface="微软雅黑" panose="020B0503020204020204" pitchFamily="34" charset="-122"/>
              </a:rPr>
              <a:t>T</a:t>
            </a:r>
            <a:r>
              <a:rPr lang="en-US" altLang="zh-CN" sz="2000" b="1" baseline="-25000"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，其中是 </a:t>
            </a:r>
            <a:r>
              <a:rPr lang="en-US" altLang="zh-CN" sz="2000" b="1" i="1" dirty="0" err="1">
                <a:latin typeface="微软雅黑" panose="020B0503020204020204" pitchFamily="34" charset="-122"/>
                <a:ea typeface="微软雅黑" panose="020B0503020204020204" pitchFamily="34" charset="-122"/>
              </a:rPr>
              <a:t>u</a:t>
            </a:r>
            <a:r>
              <a:rPr lang="en-US" altLang="zh-CN" sz="2000" b="1" baseline="-25000" dirty="0" err="1">
                <a:latin typeface="微软雅黑" panose="020B0503020204020204" pitchFamily="34" charset="-122"/>
                <a:ea typeface="微软雅黑" panose="020B0503020204020204" pitchFamily="34" charset="-122"/>
              </a:rPr>
              <a:t>T</a:t>
            </a:r>
            <a:r>
              <a:rPr lang="en-US" altLang="zh-CN" sz="2000" b="1" baseline="-25000"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是上传速率之和。</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所有</a:t>
            </a:r>
            <a:r>
              <a:rPr lang="zh-CN" altLang="en-US" sz="2000" b="1" dirty="0">
                <a:latin typeface="微软雅黑" panose="020B0503020204020204" pitchFamily="34" charset="-122"/>
                <a:ea typeface="微软雅黑" panose="020B0503020204020204" pitchFamily="34" charset="-122"/>
              </a:rPr>
              <a:t>主机都下载完文件 </a:t>
            </a:r>
            <a:r>
              <a:rPr lang="en-US" altLang="zh-CN" sz="2000" b="1" i="1" dirty="0">
                <a:latin typeface="微软雅黑" panose="020B0503020204020204" pitchFamily="34" charset="-122"/>
                <a:ea typeface="微软雅黑" panose="020B0503020204020204" pitchFamily="34" charset="-122"/>
              </a:rPr>
              <a:t>F</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最少时间的下限</a:t>
            </a:r>
            <a:r>
              <a:rPr lang="zh-CN" altLang="en-US" sz="2000" b="1" dirty="0">
                <a:latin typeface="微软雅黑" panose="020B0503020204020204" pitchFamily="34" charset="-122"/>
                <a:ea typeface="微软雅黑" panose="020B0503020204020204" pitchFamily="34" charset="-122"/>
              </a:rPr>
              <a:t>是：</a:t>
            </a:r>
            <a:endParaRPr lang="zh-CN" altLang="en-US" sz="2000" b="1" dirty="0">
              <a:latin typeface="微软雅黑" panose="020B0503020204020204" pitchFamily="34" charset="-122"/>
              <a:ea typeface="微软雅黑" panose="020B0503020204020204" pitchFamily="34" charset="-122"/>
            </a:endParaRPr>
          </a:p>
          <a:p>
            <a:pPr algn="ctr" eaLnBrk="0" hangingPunct="0">
              <a:lnSpc>
                <a:spcPts val="3300"/>
              </a:lnSpc>
              <a:buClr>
                <a:srgbClr val="0070C0"/>
              </a:buClr>
            </a:pPr>
            <a:r>
              <a:rPr lang="en-US" altLang="zh-CN" sz="2000" b="1" i="1" dirty="0" smtClean="0">
                <a:solidFill>
                  <a:srgbClr val="0000FF"/>
                </a:solidFill>
                <a:latin typeface="微软雅黑" panose="020B0503020204020204" pitchFamily="34" charset="-122"/>
                <a:ea typeface="微软雅黑" panose="020B0503020204020204" pitchFamily="34" charset="-122"/>
              </a:rPr>
              <a:t>T</a:t>
            </a:r>
            <a:r>
              <a:rPr lang="en-US" altLang="zh-CN" sz="2000" b="1" baseline="-25000" dirty="0" smtClean="0">
                <a:solidFill>
                  <a:srgbClr val="0000FF"/>
                </a:solidFill>
                <a:latin typeface="微软雅黑" panose="020B0503020204020204" pitchFamily="34" charset="-122"/>
                <a:ea typeface="微软雅黑" panose="020B0503020204020204" pitchFamily="34" charset="-122"/>
              </a:rPr>
              <a:t>p2p</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a:solidFill>
                  <a:srgbClr val="0000FF"/>
                </a:solidFill>
                <a:latin typeface="微软雅黑" panose="020B0503020204020204" pitchFamily="34" charset="-122"/>
                <a:ea typeface="微软雅黑" panose="020B0503020204020204" pitchFamily="34" charset="-122"/>
              </a:rPr>
              <a:t>&gt;= max</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F/u</a:t>
            </a:r>
            <a:r>
              <a:rPr lang="en-US" altLang="zh-CN" sz="2000" b="1" i="1" baseline="-25000" dirty="0">
                <a:solidFill>
                  <a:srgbClr val="0000FF"/>
                </a:solidFill>
                <a:latin typeface="微软雅黑" panose="020B0503020204020204" pitchFamily="34" charset="-122"/>
                <a:ea typeface="微软雅黑" panose="020B0503020204020204" pitchFamily="34" charset="-122"/>
              </a:rPr>
              <a:t>s</a:t>
            </a:r>
            <a:r>
              <a:rPr lang="en-US" altLang="zh-CN" sz="2000" b="1" i="1" dirty="0">
                <a:solidFill>
                  <a:srgbClr val="0000FF"/>
                </a:solidFill>
                <a:latin typeface="微软雅黑" panose="020B0503020204020204" pitchFamily="34" charset="-122"/>
                <a:ea typeface="微软雅黑" panose="020B0503020204020204" pitchFamily="34" charset="-122"/>
              </a:rPr>
              <a:t> </a:t>
            </a:r>
            <a:r>
              <a:rPr lang="zh-CN" altLang="en-US" sz="2000" b="1" i="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F/</a:t>
            </a:r>
            <a:r>
              <a:rPr lang="en-US" altLang="zh-CN" sz="2000" b="1" i="1" dirty="0" err="1">
                <a:solidFill>
                  <a:srgbClr val="0000FF"/>
                </a:solidFill>
                <a:latin typeface="微软雅黑" panose="020B0503020204020204" pitchFamily="34" charset="-122"/>
                <a:ea typeface="微软雅黑" panose="020B0503020204020204" pitchFamily="34" charset="-122"/>
              </a:rPr>
              <a:t>d</a:t>
            </a:r>
            <a:r>
              <a:rPr lang="en-US" altLang="zh-CN" sz="2000" b="1" baseline="-25000" dirty="0" err="1">
                <a:solidFill>
                  <a:srgbClr val="0000FF"/>
                </a:solidFill>
                <a:latin typeface="微软雅黑" panose="020B0503020204020204" pitchFamily="34" charset="-122"/>
                <a:ea typeface="微软雅黑" panose="020B0503020204020204" pitchFamily="34" charset="-122"/>
              </a:rPr>
              <a:t>min</a:t>
            </a:r>
            <a:r>
              <a:rPr lang="zh-CN" altLang="en-US" sz="2000" b="1" i="1" dirty="0">
                <a:solidFill>
                  <a:srgbClr val="0000FF"/>
                </a:solidFill>
                <a:latin typeface="微软雅黑" panose="020B0503020204020204" pitchFamily="34" charset="-122"/>
                <a:ea typeface="微软雅黑" panose="020B0503020204020204" pitchFamily="34" charset="-122"/>
              </a:rPr>
              <a:t>， </a:t>
            </a:r>
            <a:r>
              <a:rPr lang="en-US" altLang="zh-CN" sz="2000" b="1" i="1" dirty="0" smtClean="0">
                <a:solidFill>
                  <a:srgbClr val="0000FF"/>
                </a:solidFill>
                <a:latin typeface="微软雅黑" panose="020B0503020204020204" pitchFamily="34" charset="-122"/>
                <a:ea typeface="微软雅黑" panose="020B0503020204020204" pitchFamily="34" charset="-122"/>
              </a:rPr>
              <a:t>NF/</a:t>
            </a:r>
            <a:r>
              <a:rPr lang="en-US" altLang="zh-CN" sz="2000" b="1" i="1" dirty="0" err="1">
                <a:solidFill>
                  <a:srgbClr val="0000FF"/>
                </a:solidFill>
                <a:latin typeface="微软雅黑" panose="020B0503020204020204" pitchFamily="34" charset="-122"/>
                <a:ea typeface="微软雅黑" panose="020B0503020204020204" pitchFamily="34" charset="-122"/>
              </a:rPr>
              <a:t>u</a:t>
            </a:r>
            <a:r>
              <a:rPr lang="en-US" altLang="zh-CN" sz="2000" b="1" baseline="-25000" dirty="0" err="1">
                <a:solidFill>
                  <a:srgbClr val="0000FF"/>
                </a:solidFill>
                <a:latin typeface="微软雅黑" panose="020B0503020204020204" pitchFamily="34" charset="-122"/>
                <a:ea typeface="微软雅黑" panose="020B0503020204020204" pitchFamily="34" charset="-122"/>
              </a:rPr>
              <a:t>T</a:t>
            </a:r>
            <a:r>
              <a:rPr lang="en-US" altLang="zh-CN" sz="2000" b="1" i="1" baseline="-25000" dirty="0">
                <a:solidFill>
                  <a:srgbClr val="0000FF"/>
                </a:solidFill>
                <a:latin typeface="微软雅黑" panose="020B0503020204020204" pitchFamily="34" charset="-122"/>
                <a:ea typeface="微软雅黑" panose="020B0503020204020204" pitchFamily="34" charset="-122"/>
              </a:rPr>
              <a:t> </a:t>
            </a:r>
            <a:r>
              <a:rPr lang="en-US" altLang="zh-CN" sz="2000" b="1" i="1" dirty="0" smtClean="0">
                <a:solidFill>
                  <a:srgbClr val="0000FF"/>
                </a:solidFill>
                <a:latin typeface="微软雅黑" panose="020B0503020204020204" pitchFamily="34" charset="-122"/>
                <a:ea typeface="微软雅黑" panose="020B0503020204020204" pitchFamily="34" charset="-122"/>
              </a:rPr>
              <a:t> </a:t>
            </a:r>
            <a:r>
              <a:rPr lang="zh-CN" altLang="en-US" sz="2000" b="1" dirty="0">
                <a:solidFill>
                  <a:srgbClr val="0000FF"/>
                </a:solidFill>
                <a:latin typeface="微软雅黑" panose="020B0503020204020204" pitchFamily="34" charset="-122"/>
                <a:ea typeface="微软雅黑" panose="020B0503020204020204" pitchFamily="34" charset="-122"/>
              </a:rPr>
              <a:t>）</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5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3" y="57964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时间比较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5552"/>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设所有的对等方的上传速率</a:t>
            </a:r>
            <a:r>
              <a:rPr lang="zh-CN" altLang="en-US" sz="2000" b="1" dirty="0" smtClean="0">
                <a:latin typeface="微软雅黑" panose="020B0503020204020204" pitchFamily="34" charset="-122"/>
                <a:ea typeface="微软雅黑" panose="020B0503020204020204" pitchFamily="34" charset="-122"/>
              </a:rPr>
              <a:t>都是 </a:t>
            </a:r>
            <a:r>
              <a:rPr lang="en-US" altLang="zh-CN" sz="2000" b="1" i="1" dirty="0" smtClean="0">
                <a:latin typeface="微软雅黑" panose="020B0503020204020204" pitchFamily="34" charset="-122"/>
                <a:ea typeface="微软雅黑" panose="020B0503020204020204" pitchFamily="34" charset="-122"/>
              </a:rPr>
              <a:t>u</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并且 </a:t>
            </a:r>
            <a:r>
              <a:rPr lang="en-US" altLang="zh-CN" sz="2000" b="1" i="1" dirty="0" smtClean="0">
                <a:latin typeface="微软雅黑" panose="020B0503020204020204" pitchFamily="34" charset="-122"/>
                <a:ea typeface="微软雅黑" panose="020B0503020204020204" pitchFamily="34" charset="-122"/>
              </a:rPr>
              <a:t>F</a:t>
            </a:r>
            <a:r>
              <a:rPr lang="en-US" altLang="zh-CN" sz="2000" b="1" dirty="0" smtClean="0">
                <a:latin typeface="微软雅黑" panose="020B0503020204020204" pitchFamily="34" charset="-122"/>
                <a:ea typeface="微软雅黑" panose="020B0503020204020204" pitchFamily="34" charset="-122"/>
              </a:rPr>
              <a:t>/</a:t>
            </a:r>
            <a:r>
              <a:rPr lang="en-US" altLang="zh-CN" sz="2000" b="1" i="1" dirty="0" smtClean="0">
                <a:latin typeface="微软雅黑" panose="020B0503020204020204" pitchFamily="34" charset="-122"/>
                <a:ea typeface="微软雅黑" panose="020B0503020204020204" pitchFamily="34" charset="-122"/>
              </a:rPr>
              <a:t>u</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小时。</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设服务器的上传</a:t>
            </a:r>
            <a:r>
              <a:rPr lang="zh-CN" altLang="en-US" sz="2000" b="1" dirty="0" smtClean="0">
                <a:latin typeface="微软雅黑" panose="020B0503020204020204" pitchFamily="34" charset="-122"/>
                <a:ea typeface="微软雅黑" panose="020B0503020204020204" pitchFamily="34" charset="-122"/>
              </a:rPr>
              <a:t>速率 </a:t>
            </a:r>
            <a:r>
              <a:rPr lang="en-US" altLang="zh-CN" sz="2000" b="1" i="1" dirty="0" smtClean="0">
                <a:latin typeface="微软雅黑" panose="020B0503020204020204" pitchFamily="34" charset="-122"/>
                <a:ea typeface="微软雅黑" panose="020B0503020204020204" pitchFamily="34" charset="-122"/>
              </a:rPr>
              <a:t>u</a:t>
            </a:r>
            <a:r>
              <a:rPr lang="en-US" altLang="zh-CN" sz="2000" b="1" baseline="-25000" dirty="0" smtClean="0">
                <a:latin typeface="微软雅黑" panose="020B0503020204020204" pitchFamily="34" charset="-122"/>
                <a:ea typeface="微软雅黑" panose="020B0503020204020204" pitchFamily="34" charset="-122"/>
              </a:rPr>
              <a:t>s</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10</a:t>
            </a:r>
            <a:r>
              <a:rPr lang="en-US" altLang="zh-CN" sz="2000" b="1" i="1" dirty="0">
                <a:latin typeface="微软雅黑" panose="020B0503020204020204" pitchFamily="34" charset="-122"/>
                <a:ea typeface="微软雅黑" panose="020B0503020204020204" pitchFamily="34" charset="-122"/>
              </a:rPr>
              <a:t>u</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 </a:t>
            </a:r>
            <a:r>
              <a:rPr lang="en-US" altLang="zh-CN" sz="2000" b="1" i="1" dirty="0" smtClean="0">
                <a:latin typeface="微软雅黑" panose="020B0503020204020204" pitchFamily="34" charset="-122"/>
                <a:ea typeface="微软雅黑" panose="020B0503020204020204" pitchFamily="34" charset="-122"/>
              </a:rPr>
              <a:t>N</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30 </a:t>
            </a:r>
            <a:r>
              <a:rPr lang="zh-CN" altLang="en-US" sz="2000" b="1" dirty="0" smtClean="0">
                <a:latin typeface="微软雅黑" panose="020B0503020204020204" pitchFamily="34" charset="-122"/>
                <a:ea typeface="微软雅黑" panose="020B0503020204020204" pitchFamily="34" charset="-122"/>
              </a:rPr>
              <a:t>时，</a:t>
            </a:r>
            <a:endParaRPr lang="en-US" altLang="zh-CN" sz="2000" b="1" dirty="0">
              <a:latin typeface="微软雅黑" panose="020B0503020204020204" pitchFamily="34" charset="-122"/>
              <a:ea typeface="微软雅黑" panose="020B0503020204020204" pitchFamily="34" charset="-122"/>
            </a:endParaRPr>
          </a:p>
          <a:p>
            <a:pPr marL="800100" lvl="1" indent="-342900" eaLnBrk="0" hangingPunct="0">
              <a:lnSpc>
                <a:spcPts val="3300"/>
              </a:lnSpc>
              <a:buClr>
                <a:srgbClr val="9900CC"/>
              </a:buClr>
              <a:buFont typeface="+mj-lt"/>
              <a:buAutoNum type="arabicPeriod"/>
            </a:pPr>
            <a:r>
              <a:rPr lang="en-US" altLang="zh-CN" b="1" dirty="0" smtClean="0">
                <a:solidFill>
                  <a:srgbClr val="C00000"/>
                </a:solidFill>
                <a:latin typeface="微软雅黑" panose="020B0503020204020204" pitchFamily="34" charset="-122"/>
                <a:ea typeface="微软雅黑" panose="020B0503020204020204" pitchFamily="34" charset="-122"/>
              </a:rPr>
              <a:t>P2P </a:t>
            </a:r>
            <a:r>
              <a:rPr lang="zh-CN" altLang="en-US" b="1" dirty="0" smtClean="0">
                <a:solidFill>
                  <a:srgbClr val="C00000"/>
                </a:solidFill>
                <a:latin typeface="微软雅黑" panose="020B0503020204020204" pitchFamily="34" charset="-122"/>
                <a:ea typeface="微软雅黑" panose="020B0503020204020204" pitchFamily="34" charset="-122"/>
              </a:rPr>
              <a:t>方式：</a:t>
            </a:r>
            <a:r>
              <a:rPr lang="zh-CN" altLang="en-US" b="1" dirty="0" smtClean="0">
                <a:latin typeface="微软雅黑" panose="020B0503020204020204" pitchFamily="34" charset="-122"/>
                <a:ea typeface="微软雅黑" panose="020B0503020204020204" pitchFamily="34" charset="-122"/>
              </a:rPr>
              <a:t>最少</a:t>
            </a:r>
            <a:r>
              <a:rPr lang="zh-CN" altLang="en-US" b="1" dirty="0">
                <a:latin typeface="微软雅黑" panose="020B0503020204020204" pitchFamily="34" charset="-122"/>
                <a:ea typeface="微软雅黑" panose="020B0503020204020204" pitchFamily="34" charset="-122"/>
              </a:rPr>
              <a:t>时间的下限是 </a:t>
            </a:r>
            <a:r>
              <a:rPr lang="en-US" altLang="zh-CN" b="1" dirty="0" smtClean="0">
                <a:latin typeface="微软雅黑" panose="020B0503020204020204" pitchFamily="34" charset="-122"/>
                <a:ea typeface="微软雅黑" panose="020B0503020204020204" pitchFamily="34" charset="-122"/>
              </a:rPr>
              <a:t>0.75 </a:t>
            </a:r>
            <a:r>
              <a:rPr lang="zh-CN" altLang="en-US" b="1" dirty="0" smtClean="0">
                <a:latin typeface="微软雅黑" panose="020B0503020204020204" pitchFamily="34" charset="-122"/>
                <a:ea typeface="微软雅黑" panose="020B0503020204020204" pitchFamily="34" charset="-122"/>
              </a:rPr>
              <a:t>小时 </a:t>
            </a:r>
            <a:r>
              <a:rPr lang="en-US" altLang="zh-CN" b="1" dirty="0">
                <a:latin typeface="微软雅黑" panose="020B0503020204020204" pitchFamily="34" charset="-122"/>
                <a:ea typeface="微软雅黑" panose="020B0503020204020204" pitchFamily="34" charset="-122"/>
              </a:rPr>
              <a:t>&lt; </a:t>
            </a:r>
            <a:r>
              <a:rPr lang="en-US" altLang="zh-CN" b="1" dirty="0" smtClean="0">
                <a:latin typeface="微软雅黑" panose="020B0503020204020204" pitchFamily="34" charset="-122"/>
                <a:ea typeface="微软雅黑" panose="020B0503020204020204" pitchFamily="34" charset="-122"/>
              </a:rPr>
              <a:t>1 </a:t>
            </a:r>
            <a:r>
              <a:rPr lang="zh-CN" altLang="en-US" b="1" dirty="0" smtClean="0">
                <a:latin typeface="微软雅黑" panose="020B0503020204020204" pitchFamily="34" charset="-122"/>
                <a:ea typeface="微软雅黑" panose="020B0503020204020204" pitchFamily="34" charset="-122"/>
              </a:rPr>
              <a:t>小时</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不管 </a:t>
            </a:r>
            <a:r>
              <a:rPr lang="en-US" altLang="zh-CN" b="1" i="1" dirty="0" smtClean="0">
                <a:latin typeface="微软雅黑" panose="020B0503020204020204" pitchFamily="34" charset="-122"/>
                <a:ea typeface="微软雅黑" panose="020B0503020204020204" pitchFamily="34" charset="-122"/>
              </a:rPr>
              <a:t>N</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多大）。</a:t>
            </a:r>
            <a:endParaRPr lang="en-US" altLang="zh-CN" b="1" dirty="0" smtClean="0">
              <a:latin typeface="微软雅黑" panose="020B0503020204020204" pitchFamily="34" charset="-122"/>
              <a:ea typeface="微软雅黑" panose="020B0503020204020204" pitchFamily="34" charset="-122"/>
            </a:endParaRPr>
          </a:p>
          <a:p>
            <a:pPr marL="800100" lvl="1" indent="-342900" eaLnBrk="0" hangingPunct="0">
              <a:lnSpc>
                <a:spcPts val="3300"/>
              </a:lnSpc>
              <a:buClr>
                <a:srgbClr val="9900CC"/>
              </a:buClr>
              <a:buFont typeface="+mj-lt"/>
              <a:buAutoNum type="arabicPeriod"/>
            </a:pPr>
            <a:r>
              <a:rPr lang="zh-CN" altLang="en-US" b="1" dirty="0" smtClean="0">
                <a:solidFill>
                  <a:srgbClr val="C00000"/>
                </a:solidFill>
                <a:latin typeface="微软雅黑" panose="020B0503020204020204" pitchFamily="34" charset="-122"/>
                <a:ea typeface="微软雅黑" panose="020B0503020204020204" pitchFamily="34" charset="-122"/>
              </a:rPr>
              <a:t>客户服务器方式：</a:t>
            </a:r>
            <a:r>
              <a:rPr lang="zh-CN" altLang="en-US" b="1" dirty="0" smtClean="0">
                <a:latin typeface="微软雅黑" panose="020B0503020204020204" pitchFamily="34" charset="-122"/>
                <a:ea typeface="微软雅黑" panose="020B0503020204020204" pitchFamily="34" charset="-122"/>
              </a:rPr>
              <a:t>最少</a:t>
            </a:r>
            <a:r>
              <a:rPr lang="zh-CN" altLang="en-US" b="1" dirty="0">
                <a:latin typeface="微软雅黑" panose="020B0503020204020204" pitchFamily="34" charset="-122"/>
                <a:ea typeface="微软雅黑" panose="020B0503020204020204" pitchFamily="34" charset="-122"/>
              </a:rPr>
              <a:t>时间</a:t>
            </a:r>
            <a:r>
              <a:rPr lang="zh-CN" altLang="en-US" b="1" dirty="0" smtClean="0">
                <a:latin typeface="微软雅黑" panose="020B0503020204020204" pitchFamily="34" charset="-122"/>
                <a:ea typeface="微软雅黑" panose="020B0503020204020204" pitchFamily="34" charset="-122"/>
              </a:rPr>
              <a:t>是 </a:t>
            </a:r>
            <a:r>
              <a:rPr lang="en-US" altLang="zh-CN" b="1" dirty="0" smtClean="0">
                <a:latin typeface="微软雅黑" panose="020B0503020204020204" pitchFamily="34" charset="-122"/>
                <a:ea typeface="微软雅黑" panose="020B0503020204020204" pitchFamily="34" charset="-122"/>
              </a:rPr>
              <a:t>3 </a:t>
            </a:r>
            <a:r>
              <a:rPr lang="zh-CN" altLang="en-US" b="1" dirty="0" smtClean="0">
                <a:latin typeface="微软雅黑" panose="020B0503020204020204" pitchFamily="34" charset="-122"/>
                <a:ea typeface="微软雅黑" panose="020B0503020204020204" pitchFamily="34" charset="-122"/>
              </a:rPr>
              <a:t>小时</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15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8028"/>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6.9.4  </a:t>
            </a:r>
            <a:r>
              <a:rPr lang="zh-CN" altLang="en-US" sz="2400" b="1" dirty="0">
                <a:solidFill>
                  <a:schemeClr val="bg1"/>
                </a:solidFill>
                <a:latin typeface="微软雅黑" panose="020B0503020204020204" pitchFamily="34" charset="-122"/>
                <a:ea typeface="微软雅黑" panose="020B0503020204020204" pitchFamily="34" charset="-122"/>
              </a:rPr>
              <a:t>在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537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一个集中式目录服务器中</a:t>
            </a:r>
            <a:r>
              <a:rPr lang="zh-CN" altLang="en-US" sz="2000" b="1" dirty="0" smtClean="0">
                <a:latin typeface="微软雅黑" panose="020B0503020204020204" pitchFamily="34" charset="-122"/>
                <a:ea typeface="微软雅黑" panose="020B0503020204020204" pitchFamily="34" charset="-122"/>
              </a:rPr>
              <a:t>构建查找数据库，简单</a:t>
            </a:r>
            <a:r>
              <a:rPr lang="zh-CN" altLang="en-US" sz="2000" b="1" dirty="0">
                <a:latin typeface="微软雅黑" panose="020B0503020204020204" pitchFamily="34" charset="-122"/>
                <a:ea typeface="微软雅黑" panose="020B0503020204020204" pitchFamily="34" charset="-122"/>
              </a:rPr>
              <a:t>，但性能</a:t>
            </a:r>
            <a:r>
              <a:rPr lang="zh-CN" altLang="en-US" sz="2000" b="1" dirty="0" smtClean="0">
                <a:latin typeface="微软雅黑" panose="020B0503020204020204" pitchFamily="34" charset="-122"/>
                <a:ea typeface="微软雅黑" panose="020B0503020204020204" pitchFamily="34" charset="-122"/>
              </a:rPr>
              <a:t>上有</a:t>
            </a:r>
            <a:r>
              <a:rPr lang="zh-CN" altLang="en-US" sz="2000" b="1" dirty="0">
                <a:solidFill>
                  <a:srgbClr val="C00000"/>
                </a:solidFill>
                <a:latin typeface="微软雅黑" panose="020B0503020204020204" pitchFamily="34" charset="-122"/>
                <a:ea typeface="微软雅黑" panose="020B0503020204020204" pitchFamily="34" charset="-122"/>
              </a:rPr>
              <a:t>瓶颈。</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一种采用全分布方法定位内容</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P2P </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共享应用程序，它解决了集中式目录服务器所造成的瓶颈问题</a:t>
            </a:r>
            <a:r>
              <a:rPr lang="zh-CN" altLang="en-US" sz="2000" b="1" dirty="0" smtClean="0">
                <a:latin typeface="微软雅黑" panose="020B0503020204020204" pitchFamily="34" charset="-122"/>
                <a:ea typeface="微软雅黑" panose="020B0503020204020204" pitchFamily="34" charset="-122"/>
              </a:rPr>
              <a:t>。但 </a:t>
            </a:r>
            <a:r>
              <a:rPr lang="en-US" altLang="zh-CN" sz="2000" b="1" dirty="0" smtClean="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在非结构化的覆盖网络中采用查询洪泛的</a:t>
            </a:r>
            <a:r>
              <a:rPr lang="zh-CN" altLang="en-US" sz="2000" b="1" dirty="0" smtClean="0">
                <a:latin typeface="微软雅黑" panose="020B0503020204020204" pitchFamily="34" charset="-122"/>
                <a:ea typeface="微软雅黑" panose="020B0503020204020204" pitchFamily="34" charset="-122"/>
              </a:rPr>
              <a:t>方法进行查找，</a:t>
            </a:r>
            <a:r>
              <a:rPr lang="zh-CN" altLang="en-US" sz="2000" b="1" dirty="0">
                <a:latin typeface="微软雅黑" panose="020B0503020204020204" pitchFamily="34" charset="-122"/>
                <a:ea typeface="微软雅黑" panose="020B0503020204020204" pitchFamily="34" charset="-122"/>
              </a:rPr>
              <a:t>因此查找的</a:t>
            </a:r>
            <a:r>
              <a:rPr lang="zh-CN" altLang="en-US" sz="2000" b="1" dirty="0">
                <a:solidFill>
                  <a:srgbClr val="C00000"/>
                </a:solidFill>
                <a:latin typeface="微软雅黑" panose="020B0503020204020204" pitchFamily="34" charset="-122"/>
                <a:ea typeface="微软雅黑" panose="020B0503020204020204" pitchFamily="34" charset="-122"/>
              </a:rPr>
              <a:t>效率较低。</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75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3747"/>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6.9.4  </a:t>
            </a:r>
            <a:r>
              <a:rPr lang="zh-CN" altLang="en-US" sz="2400" b="1" dirty="0">
                <a:solidFill>
                  <a:schemeClr val="bg1"/>
                </a:solidFill>
                <a:latin typeface="微软雅黑" panose="020B0503020204020204" pitchFamily="34" charset="-122"/>
                <a:ea typeface="微软雅黑" panose="020B0503020204020204" pitchFamily="34" charset="-122"/>
              </a:rPr>
              <a:t>在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9970"/>
            <a:ext cx="8048776" cy="17338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现在广泛使用的索引和查找技术叫做</a:t>
            </a:r>
            <a:r>
              <a:rPr lang="zh-CN" altLang="en-US" sz="2000" b="1" dirty="0">
                <a:solidFill>
                  <a:srgbClr val="C00000"/>
                </a:solidFill>
                <a:latin typeface="微软雅黑" panose="020B0503020204020204" pitchFamily="34" charset="-122"/>
                <a:ea typeface="微软雅黑" panose="020B0503020204020204" pitchFamily="34" charset="-122"/>
              </a:rPr>
              <a:t>分布式散列表 </a:t>
            </a:r>
            <a:r>
              <a:rPr lang="en-US" altLang="zh-CN" sz="2000" b="1" dirty="0">
                <a:latin typeface="微软雅黑" panose="020B0503020204020204" pitchFamily="34" charset="-122"/>
                <a:ea typeface="微软雅黑" panose="020B0503020204020204" pitchFamily="34" charset="-122"/>
              </a:rPr>
              <a:t>DHT (Distributed Hash Table)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DHT </a:t>
            </a:r>
            <a:r>
              <a:rPr lang="zh-CN" altLang="en-US" sz="2000" b="1" dirty="0">
                <a:latin typeface="微软雅黑" panose="020B0503020204020204" pitchFamily="34" charset="-122"/>
                <a:ea typeface="微软雅黑" panose="020B0503020204020204" pitchFamily="34" charset="-122"/>
              </a:rPr>
              <a:t>也可译为</a:t>
            </a:r>
            <a:r>
              <a:rPr lang="zh-CN" altLang="en-US" sz="2000" b="1" dirty="0">
                <a:solidFill>
                  <a:srgbClr val="C00000"/>
                </a:solidFill>
                <a:latin typeface="微软雅黑" panose="020B0503020204020204" pitchFamily="34" charset="-122"/>
                <a:ea typeface="微软雅黑" panose="020B0503020204020204" pitchFamily="34" charset="-122"/>
              </a:rPr>
              <a:t>分布式哈希表</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由</a:t>
            </a:r>
            <a:r>
              <a:rPr lang="zh-CN" altLang="en-US" sz="2000" b="1" dirty="0">
                <a:latin typeface="微软雅黑" panose="020B0503020204020204" pitchFamily="34" charset="-122"/>
                <a:ea typeface="微软雅黑" panose="020B0503020204020204" pitchFamily="34" charset="-122"/>
              </a:rPr>
              <a:t>大量对等方共同</a:t>
            </a:r>
            <a:r>
              <a:rPr lang="zh-CN" altLang="en-US" sz="2000" b="1" dirty="0" smtClean="0">
                <a:latin typeface="微软雅黑" panose="020B0503020204020204" pitchFamily="34" charset="-122"/>
                <a:ea typeface="微软雅黑" panose="020B0503020204020204" pitchFamily="34" charset="-122"/>
              </a:rPr>
              <a:t>维护。</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广泛使用的 </a:t>
            </a:r>
            <a:r>
              <a:rPr lang="en-US" altLang="zh-CN" sz="2000" b="1" dirty="0">
                <a:solidFill>
                  <a:srgbClr val="C00000"/>
                </a:solidFill>
                <a:latin typeface="微软雅黑" panose="020B0503020204020204" pitchFamily="34" charset="-122"/>
                <a:ea typeface="微软雅黑" panose="020B0503020204020204" pitchFamily="34" charset="-122"/>
              </a:rPr>
              <a:t>Chord </a:t>
            </a:r>
            <a:r>
              <a:rPr lang="zh-CN" altLang="en-US" sz="2000" b="1" dirty="0">
                <a:solidFill>
                  <a:srgbClr val="C00000"/>
                </a:solidFill>
                <a:latin typeface="微软雅黑" panose="020B0503020204020204" pitchFamily="34" charset="-122"/>
                <a:ea typeface="微软雅黑" panose="020B0503020204020204" pitchFamily="34" charset="-122"/>
              </a:rPr>
              <a:t>算法</a:t>
            </a:r>
            <a:r>
              <a:rPr lang="zh-CN" altLang="en-US" sz="2000" b="1" dirty="0">
                <a:latin typeface="微软雅黑" panose="020B0503020204020204" pitchFamily="34" charset="-122"/>
                <a:ea typeface="微软雅黑" panose="020B0503020204020204" pitchFamily="34" charset="-122"/>
              </a:rPr>
              <a:t>是美国麻省理工大学</a:t>
            </a:r>
            <a:r>
              <a:rPr lang="zh-CN" altLang="en-US" sz="2000" b="1" dirty="0" smtClean="0">
                <a:latin typeface="微软雅黑" panose="020B0503020204020204" pitchFamily="34" charset="-122"/>
                <a:ea typeface="微软雅黑" panose="020B0503020204020204" pitchFamily="34" charset="-122"/>
              </a:rPr>
              <a:t>于 </a:t>
            </a:r>
            <a:r>
              <a:rPr lang="en-US" altLang="zh-CN" sz="2000" b="1" dirty="0" smtClean="0">
                <a:latin typeface="微软雅黑" panose="020B0503020204020204" pitchFamily="34" charset="-122"/>
                <a:ea typeface="微软雅黑" panose="020B0503020204020204" pitchFamily="34" charset="-122"/>
              </a:rPr>
              <a:t>2001 </a:t>
            </a:r>
            <a:r>
              <a:rPr lang="zh-CN" altLang="en-US" sz="2000" b="1" dirty="0">
                <a:latin typeface="微软雅黑" panose="020B0503020204020204" pitchFamily="34" charset="-122"/>
                <a:ea typeface="微软雅黑" panose="020B0503020204020204" pitchFamily="34" charset="-122"/>
              </a:rPr>
              <a:t>年提出的。</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3" y="955373"/>
            <a:ext cx="78235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分布式散列表 </a:t>
            </a:r>
            <a:r>
              <a:rPr lang="en-US" altLang="zh-CN" sz="2000" b="1" dirty="0">
                <a:latin typeface="微软雅黑" panose="020B0503020204020204" pitchFamily="34" charset="-122"/>
                <a:ea typeface="微软雅黑" panose="020B0503020204020204" pitchFamily="34" charset="-122"/>
              </a:rPr>
              <a:t>DHT </a:t>
            </a:r>
            <a:r>
              <a:rPr lang="zh-CN" altLang="en-US" sz="2000" b="1" dirty="0">
                <a:latin typeface="微软雅黑" panose="020B0503020204020204" pitchFamily="34" charset="-122"/>
                <a:ea typeface="微软雅黑" panose="020B0503020204020204" pitchFamily="34" charset="-122"/>
              </a:rPr>
              <a:t>利用散列函数，把资源名 </a:t>
            </a:r>
            <a:r>
              <a:rPr lang="en-US" altLang="zh-CN" sz="2000" b="1" dirty="0">
                <a:latin typeface="微软雅黑" panose="020B0503020204020204" pitchFamily="34" charset="-122"/>
                <a:ea typeface="微软雅黑" panose="020B0503020204020204" pitchFamily="34" charset="-122"/>
              </a:rPr>
              <a:t>K </a:t>
            </a:r>
            <a:r>
              <a:rPr lang="zh-CN" altLang="en-US" sz="2000" b="1" dirty="0">
                <a:latin typeface="微软雅黑" panose="020B0503020204020204" pitchFamily="34" charset="-122"/>
                <a:ea typeface="微软雅黑" panose="020B0503020204020204" pitchFamily="34" charset="-122"/>
              </a:rPr>
              <a:t>及其存放的结点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 </a:t>
            </a:r>
            <a:r>
              <a:rPr lang="en-US" altLang="zh-CN" sz="2000" b="1" dirty="0">
                <a:latin typeface="微软雅黑" panose="020B0503020204020204" pitchFamily="34" charset="-122"/>
                <a:ea typeface="微软雅黑" panose="020B0503020204020204" pitchFamily="34" charset="-122"/>
              </a:rPr>
              <a:t>N </a:t>
            </a:r>
            <a:r>
              <a:rPr lang="zh-CN" altLang="en-US" sz="2000" b="1" dirty="0">
                <a:latin typeface="微软雅黑" panose="020B0503020204020204" pitchFamily="34" charset="-122"/>
                <a:ea typeface="微软雅黑" panose="020B0503020204020204" pitchFamily="34" charset="-122"/>
              </a:rPr>
              <a:t>都分别</a:t>
            </a:r>
            <a:r>
              <a:rPr lang="zh-CN" altLang="en-US" sz="2000" b="1" dirty="0">
                <a:solidFill>
                  <a:srgbClr val="C00000"/>
                </a:solidFill>
                <a:latin typeface="微软雅黑" panose="020B0503020204020204" pitchFamily="34" charset="-122"/>
                <a:ea typeface="微软雅黑" panose="020B0503020204020204" pitchFamily="34" charset="-122"/>
              </a:rPr>
              <a:t>映射</a:t>
            </a:r>
            <a:r>
              <a:rPr lang="zh-CN" altLang="en-US" sz="2000" b="1" dirty="0">
                <a:latin typeface="微软雅黑" panose="020B0503020204020204" pitchFamily="34" charset="-122"/>
                <a:ea typeface="微软雅黑" panose="020B0503020204020204" pitchFamily="34" charset="-122"/>
              </a:rPr>
              <a:t>为</a:t>
            </a:r>
            <a:r>
              <a:rPr lang="zh-CN" altLang="en-US" sz="2000" b="1" dirty="0">
                <a:solidFill>
                  <a:srgbClr val="0000FF"/>
                </a:solidFill>
                <a:latin typeface="微软雅黑" panose="020B0503020204020204" pitchFamily="34" charset="-122"/>
                <a:ea typeface="微软雅黑" panose="020B0503020204020204" pitchFamily="34" charset="-122"/>
              </a:rPr>
              <a:t>资源名标识符 </a:t>
            </a:r>
            <a:r>
              <a:rPr lang="en-US" altLang="zh-CN" sz="2000" b="1" dirty="0">
                <a:solidFill>
                  <a:srgbClr val="0000FF"/>
                </a:solidFill>
                <a:latin typeface="微软雅黑" panose="020B0503020204020204" pitchFamily="34" charset="-122"/>
                <a:ea typeface="微软雅黑" panose="020B0503020204020204" pitchFamily="34" charset="-122"/>
              </a:rPr>
              <a:t>KID </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结点标识符 </a:t>
            </a:r>
            <a:r>
              <a:rPr lang="en-US" altLang="zh-CN" sz="2000" b="1" dirty="0">
                <a:solidFill>
                  <a:srgbClr val="0000FF"/>
                </a:solidFill>
                <a:latin typeface="微软雅黑" panose="020B0503020204020204" pitchFamily="34" charset="-122"/>
                <a:ea typeface="微软雅黑" panose="020B0503020204020204" pitchFamily="34" charset="-122"/>
              </a:rPr>
              <a:t>NID</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Chord </a:t>
            </a:r>
            <a:r>
              <a:rPr lang="zh-CN" altLang="en-US" sz="2000" b="1" dirty="0">
                <a:latin typeface="微软雅黑" panose="020B0503020204020204" pitchFamily="34" charset="-122"/>
                <a:ea typeface="微软雅黑" panose="020B0503020204020204" pitchFamily="34" charset="-122"/>
              </a:rPr>
              <a:t>把结点按标识符数值</a:t>
            </a:r>
            <a:r>
              <a:rPr lang="zh-CN" altLang="en-US" sz="2000" b="1" dirty="0">
                <a:solidFill>
                  <a:srgbClr val="C00000"/>
                </a:solidFill>
                <a:latin typeface="微软雅黑" panose="020B0503020204020204" pitchFamily="34" charset="-122"/>
                <a:ea typeface="微软雅黑" panose="020B0503020204020204" pitchFamily="34" charset="-122"/>
              </a:rPr>
              <a:t>从小到大</a:t>
            </a:r>
            <a:r>
              <a:rPr lang="zh-CN" altLang="en-US" sz="2000" b="1" dirty="0">
                <a:latin typeface="微软雅黑" panose="020B0503020204020204" pitchFamily="34" charset="-122"/>
                <a:ea typeface="微软雅黑" panose="020B0503020204020204" pitchFamily="34" charset="-122"/>
              </a:rPr>
              <a:t>沿顺时针排列成一个</a:t>
            </a:r>
            <a:r>
              <a:rPr lang="zh-CN" altLang="en-US" sz="2000" b="1" dirty="0">
                <a:solidFill>
                  <a:srgbClr val="C00000"/>
                </a:solidFill>
                <a:latin typeface="微软雅黑" panose="020B0503020204020204" pitchFamily="34" charset="-122"/>
                <a:ea typeface="微软雅黑" panose="020B0503020204020204" pitchFamily="34" charset="-122"/>
              </a:rPr>
              <a:t>环形覆盖网络</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每个资源由 </a:t>
            </a:r>
            <a:r>
              <a:rPr lang="en-US" altLang="zh-CN" sz="2000" b="1" dirty="0">
                <a:latin typeface="微软雅黑" panose="020B0503020204020204" pitchFamily="34" charset="-122"/>
                <a:ea typeface="微软雅黑" panose="020B0503020204020204" pitchFamily="34" charset="-122"/>
              </a:rPr>
              <a:t>Chord </a:t>
            </a:r>
            <a:r>
              <a:rPr lang="zh-CN" altLang="en-US" sz="2000" b="1" dirty="0">
                <a:latin typeface="微软雅黑" panose="020B0503020204020204" pitchFamily="34" charset="-122"/>
                <a:ea typeface="微软雅黑" panose="020B0503020204020204" pitchFamily="34" charset="-122"/>
              </a:rPr>
              <a:t>环上与其标识符值</a:t>
            </a:r>
            <a:r>
              <a:rPr lang="zh-CN" altLang="en-US" sz="2000" b="1" dirty="0">
                <a:solidFill>
                  <a:srgbClr val="C00000"/>
                </a:solidFill>
                <a:latin typeface="微软雅黑" panose="020B0503020204020204" pitchFamily="34" charset="-122"/>
                <a:ea typeface="微软雅黑" panose="020B0503020204020204" pitchFamily="34" charset="-122"/>
              </a:rPr>
              <a:t>最接近</a:t>
            </a:r>
            <a:r>
              <a:rPr lang="zh-CN" altLang="en-US" sz="2000" b="1" dirty="0">
                <a:latin typeface="微软雅黑" panose="020B0503020204020204" pitchFamily="34" charset="-122"/>
                <a:ea typeface="微软雅黑" panose="020B0503020204020204" pitchFamily="34" charset="-122"/>
              </a:rPr>
              <a:t>的下一个结点提供服务</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基于 </a:t>
            </a:r>
            <a:r>
              <a:rPr lang="en-US" altLang="zh-CN" sz="2000" b="1" dirty="0">
                <a:solidFill>
                  <a:schemeClr val="bg1"/>
                </a:solidFill>
                <a:latin typeface="微软雅黑" panose="020B0503020204020204" pitchFamily="34" charset="-122"/>
                <a:ea typeface="微软雅黑" panose="020B0503020204020204" pitchFamily="34" charset="-122"/>
              </a:rPr>
              <a:t>DHT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08641"/>
            <a:ext cx="8048776" cy="29510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基于 </a:t>
            </a:r>
            <a:r>
              <a:rPr lang="en-US" altLang="zh-CN" sz="2000" b="1" dirty="0">
                <a:solidFill>
                  <a:schemeClr val="bg1"/>
                </a:solidFill>
                <a:latin typeface="微软雅黑" panose="020B0503020204020204" pitchFamily="34" charset="-122"/>
                <a:ea typeface="微软雅黑" panose="020B0503020204020204" pitchFamily="34" charset="-122"/>
              </a:rPr>
              <a:t>DHT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1109307" y="1075764"/>
            <a:ext cx="6889473" cy="2859560"/>
            <a:chOff x="168275" y="411163"/>
            <a:chExt cx="8839200" cy="3637998"/>
          </a:xfrm>
        </p:grpSpPr>
        <p:sp>
          <p:nvSpPr>
            <p:cNvPr id="8" name="Text Box 47"/>
            <p:cNvSpPr txBox="1">
              <a:spLocks noChangeArrowheads="1"/>
            </p:cNvSpPr>
            <p:nvPr/>
          </p:nvSpPr>
          <p:spPr bwMode="auto">
            <a:xfrm>
              <a:off x="7902575" y="31623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N13</a:t>
              </a:r>
              <a:endParaRPr kumimoji="1" lang="en-US" altLang="zh-CN" sz="110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3810001" y="533399"/>
              <a:ext cx="715963"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图例：</a:t>
              </a:r>
              <a:endParaRPr kumimoji="1" lang="zh-CN" altLang="en-US" sz="1100" b="1">
                <a:latin typeface="微软雅黑" panose="020B0503020204020204" pitchFamily="34" charset="-122"/>
                <a:ea typeface="微软雅黑" panose="020B0503020204020204" pitchFamily="34" charset="-122"/>
              </a:endParaRPr>
            </a:p>
          </p:txBody>
        </p:sp>
        <p:sp>
          <p:nvSpPr>
            <p:cNvPr id="10" name="Text Box 47"/>
            <p:cNvSpPr txBox="1">
              <a:spLocks noChangeArrowheads="1"/>
            </p:cNvSpPr>
            <p:nvPr/>
          </p:nvSpPr>
          <p:spPr bwMode="auto">
            <a:xfrm>
              <a:off x="737454" y="3657600"/>
              <a:ext cx="3156851"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KID </a:t>
              </a:r>
              <a:r>
                <a:rPr kumimoji="1" lang="zh-CN" altLang="en-US" sz="1400" b="1" dirty="0">
                  <a:latin typeface="微软雅黑" panose="020B0503020204020204" pitchFamily="34" charset="-122"/>
                  <a:ea typeface="微软雅黑" panose="020B0503020204020204" pitchFamily="34" charset="-122"/>
                </a:rPr>
                <a:t>和 </a:t>
              </a:r>
              <a:r>
                <a:rPr kumimoji="1" lang="en-US" altLang="zh-CN" sz="1400" b="1" dirty="0">
                  <a:latin typeface="微软雅黑" panose="020B0503020204020204" pitchFamily="34" charset="-122"/>
                  <a:ea typeface="微软雅黑" panose="020B0503020204020204" pitchFamily="34" charset="-122"/>
                </a:rPr>
                <a:t>NID </a:t>
              </a:r>
              <a:r>
                <a:rPr kumimoji="1" lang="zh-CN" altLang="en-US" sz="1400" b="1" dirty="0">
                  <a:latin typeface="微软雅黑" panose="020B0503020204020204" pitchFamily="34" charset="-122"/>
                  <a:ea typeface="微软雅黑" panose="020B0503020204020204" pitchFamily="34" charset="-122"/>
                </a:rPr>
                <a:t>映射在环上</a:t>
              </a:r>
              <a:r>
                <a:rPr kumimoji="1" lang="en-US" altLang="zh-CN" sz="1400" b="1" dirty="0">
                  <a:latin typeface="微软雅黑" panose="020B0503020204020204" pitchFamily="34" charset="-122"/>
                  <a:ea typeface="微软雅黑" panose="020B0503020204020204" pitchFamily="34" charset="-122"/>
                </a:rPr>
                <a:t> </a:t>
              </a:r>
              <a:endParaRPr kumimoji="1" lang="en-US" altLang="zh-CN" sz="1400" b="1" dirty="0">
                <a:latin typeface="微软雅黑" panose="020B0503020204020204" pitchFamily="34" charset="-122"/>
                <a:ea typeface="微软雅黑" panose="020B0503020204020204" pitchFamily="34" charset="-122"/>
              </a:endParaRPr>
            </a:p>
          </p:txBody>
        </p:sp>
        <p:sp>
          <p:nvSpPr>
            <p:cNvPr id="11" name="Text Box 47"/>
            <p:cNvSpPr txBox="1">
              <a:spLocks noChangeArrowheads="1"/>
            </p:cNvSpPr>
            <p:nvPr/>
          </p:nvSpPr>
          <p:spPr bwMode="auto">
            <a:xfrm>
              <a:off x="4708524" y="533399"/>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NID</a:t>
              </a:r>
              <a:endParaRPr kumimoji="1" lang="en-US" altLang="zh-CN" sz="1100" b="1">
                <a:latin typeface="微软雅黑" panose="020B0503020204020204" pitchFamily="34" charset="-122"/>
                <a:ea typeface="微软雅黑" panose="020B0503020204020204" pitchFamily="34" charset="-122"/>
              </a:endParaRPr>
            </a:p>
          </p:txBody>
        </p:sp>
        <p:sp>
          <p:nvSpPr>
            <p:cNvPr id="12" name="Oval 53"/>
            <p:cNvSpPr>
              <a:spLocks noChangeArrowheads="1"/>
            </p:cNvSpPr>
            <p:nvPr/>
          </p:nvSpPr>
          <p:spPr bwMode="auto">
            <a:xfrm>
              <a:off x="4457700" y="6254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 name="Text Box 71"/>
            <p:cNvSpPr txBox="1">
              <a:spLocks noChangeArrowheads="1"/>
            </p:cNvSpPr>
            <p:nvPr/>
          </p:nvSpPr>
          <p:spPr bwMode="auto">
            <a:xfrm>
              <a:off x="4435475" y="860424"/>
              <a:ext cx="190500" cy="20557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panose="020B0503020204020204" pitchFamily="34" charset="-122"/>
                <a:ea typeface="微软雅黑" panose="020B0503020204020204" pitchFamily="34" charset="-122"/>
              </a:endParaRPr>
            </a:p>
          </p:txBody>
        </p:sp>
        <p:sp>
          <p:nvSpPr>
            <p:cNvPr id="14" name="Text Box 47"/>
            <p:cNvSpPr txBox="1">
              <a:spLocks noChangeArrowheads="1"/>
            </p:cNvSpPr>
            <p:nvPr/>
          </p:nvSpPr>
          <p:spPr bwMode="auto">
            <a:xfrm>
              <a:off x="4724398" y="80681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KID</a:t>
              </a:r>
              <a:endParaRPr kumimoji="1" lang="en-US" altLang="zh-CN" sz="1100" b="1" dirty="0">
                <a:latin typeface="微软雅黑" panose="020B0503020204020204" pitchFamily="34" charset="-122"/>
                <a:ea typeface="微软雅黑" panose="020B0503020204020204" pitchFamily="34" charset="-122"/>
              </a:endParaRPr>
            </a:p>
          </p:txBody>
        </p:sp>
        <p:sp>
          <p:nvSpPr>
            <p:cNvPr id="15" name="矩形 14"/>
            <p:cNvSpPr/>
            <p:nvPr/>
          </p:nvSpPr>
          <p:spPr>
            <a:xfrm>
              <a:off x="3886200" y="517525"/>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Oval 20"/>
            <p:cNvSpPr>
              <a:spLocks noChangeArrowheads="1"/>
            </p:cNvSpPr>
            <p:nvPr/>
          </p:nvSpPr>
          <p:spPr bwMode="auto">
            <a:xfrm>
              <a:off x="685800" y="654050"/>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7" name="Text Box 31"/>
            <p:cNvSpPr txBox="1">
              <a:spLocks noChangeArrowheads="1"/>
            </p:cNvSpPr>
            <p:nvPr/>
          </p:nvSpPr>
          <p:spPr bwMode="auto">
            <a:xfrm>
              <a:off x="1962150" y="6540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endParaRPr kumimoji="1" lang="en-US" altLang="zh-CN" sz="1050" b="1">
                <a:latin typeface="微软雅黑" panose="020B0503020204020204" pitchFamily="34" charset="-122"/>
                <a:ea typeface="微软雅黑" panose="020B0503020204020204" pitchFamily="34" charset="-122"/>
              </a:endParaRPr>
            </a:p>
          </p:txBody>
        </p:sp>
        <p:sp>
          <p:nvSpPr>
            <p:cNvPr id="18" name="Text Box 33"/>
            <p:cNvSpPr txBox="1">
              <a:spLocks noChangeArrowheads="1"/>
            </p:cNvSpPr>
            <p:nvPr/>
          </p:nvSpPr>
          <p:spPr bwMode="auto">
            <a:xfrm>
              <a:off x="2217738" y="6762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endParaRPr kumimoji="1" lang="en-US" altLang="zh-CN" sz="1050" b="1">
                <a:latin typeface="微软雅黑" panose="020B0503020204020204" pitchFamily="34" charset="-122"/>
                <a:ea typeface="微软雅黑" panose="020B0503020204020204" pitchFamily="34" charset="-122"/>
              </a:endParaRPr>
            </a:p>
          </p:txBody>
        </p:sp>
        <p:sp>
          <p:nvSpPr>
            <p:cNvPr id="19" name="Text Box 34"/>
            <p:cNvSpPr txBox="1">
              <a:spLocks noChangeArrowheads="1"/>
            </p:cNvSpPr>
            <p:nvPr/>
          </p:nvSpPr>
          <p:spPr bwMode="auto">
            <a:xfrm>
              <a:off x="2452688" y="7286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endParaRPr kumimoji="1" lang="en-US" altLang="zh-CN" sz="1050" b="1">
                <a:latin typeface="微软雅黑" panose="020B0503020204020204" pitchFamily="34" charset="-122"/>
                <a:ea typeface="微软雅黑" panose="020B0503020204020204" pitchFamily="34" charset="-122"/>
              </a:endParaRPr>
            </a:p>
          </p:txBody>
        </p:sp>
        <p:sp>
          <p:nvSpPr>
            <p:cNvPr id="20" name="Text Box 35"/>
            <p:cNvSpPr txBox="1">
              <a:spLocks noChangeArrowheads="1"/>
            </p:cNvSpPr>
            <p:nvPr/>
          </p:nvSpPr>
          <p:spPr bwMode="auto">
            <a:xfrm>
              <a:off x="2695574" y="852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endParaRPr kumimoji="1" lang="en-US" altLang="zh-CN" sz="1050" b="1">
                <a:latin typeface="微软雅黑" panose="020B0503020204020204" pitchFamily="34" charset="-122"/>
                <a:ea typeface="微软雅黑" panose="020B0503020204020204" pitchFamily="34" charset="-122"/>
              </a:endParaRPr>
            </a:p>
          </p:txBody>
        </p:sp>
        <p:sp>
          <p:nvSpPr>
            <p:cNvPr id="21" name="Text Box 36"/>
            <p:cNvSpPr txBox="1">
              <a:spLocks noChangeArrowheads="1"/>
            </p:cNvSpPr>
            <p:nvPr/>
          </p:nvSpPr>
          <p:spPr bwMode="auto">
            <a:xfrm>
              <a:off x="2851150" y="1028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endParaRPr kumimoji="1" lang="en-US" altLang="zh-CN" sz="1050" b="1">
                <a:latin typeface="微软雅黑" panose="020B0503020204020204" pitchFamily="34" charset="-122"/>
                <a:ea typeface="微软雅黑" panose="020B0503020204020204" pitchFamily="34" charset="-122"/>
              </a:endParaRPr>
            </a:p>
          </p:txBody>
        </p:sp>
        <p:sp>
          <p:nvSpPr>
            <p:cNvPr id="22" name="Text Box 37"/>
            <p:cNvSpPr txBox="1">
              <a:spLocks noChangeArrowheads="1"/>
            </p:cNvSpPr>
            <p:nvPr/>
          </p:nvSpPr>
          <p:spPr bwMode="auto">
            <a:xfrm>
              <a:off x="3001963" y="1176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endParaRPr kumimoji="1" lang="en-US" altLang="zh-CN" sz="1050" b="1">
                <a:latin typeface="微软雅黑" panose="020B0503020204020204" pitchFamily="34" charset="-122"/>
                <a:ea typeface="微软雅黑" panose="020B0503020204020204" pitchFamily="34" charset="-122"/>
              </a:endParaRPr>
            </a:p>
          </p:txBody>
        </p:sp>
        <p:sp>
          <p:nvSpPr>
            <p:cNvPr id="23" name="Text Box 38"/>
            <p:cNvSpPr txBox="1">
              <a:spLocks noChangeArrowheads="1"/>
            </p:cNvSpPr>
            <p:nvPr/>
          </p:nvSpPr>
          <p:spPr bwMode="auto">
            <a:xfrm>
              <a:off x="3133725" y="1360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endParaRPr kumimoji="1" lang="en-US" altLang="zh-CN" sz="1050" b="1">
                <a:latin typeface="微软雅黑" panose="020B0503020204020204" pitchFamily="34" charset="-122"/>
                <a:ea typeface="微软雅黑" panose="020B0503020204020204" pitchFamily="34" charset="-122"/>
              </a:endParaRPr>
            </a:p>
          </p:txBody>
        </p:sp>
        <p:sp>
          <p:nvSpPr>
            <p:cNvPr id="24" name="Text Box 39"/>
            <p:cNvSpPr txBox="1">
              <a:spLocks noChangeArrowheads="1"/>
            </p:cNvSpPr>
            <p:nvPr/>
          </p:nvSpPr>
          <p:spPr bwMode="auto">
            <a:xfrm>
              <a:off x="3200400" y="163512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endParaRPr kumimoji="1" lang="en-US" altLang="zh-CN" sz="1050" b="1">
                <a:latin typeface="微软雅黑" panose="020B0503020204020204" pitchFamily="34" charset="-122"/>
                <a:ea typeface="微软雅黑" panose="020B0503020204020204" pitchFamily="34" charset="-122"/>
              </a:endParaRPr>
            </a:p>
          </p:txBody>
        </p:sp>
        <p:sp>
          <p:nvSpPr>
            <p:cNvPr id="25" name="Text Box 40"/>
            <p:cNvSpPr txBox="1">
              <a:spLocks noChangeArrowheads="1"/>
            </p:cNvSpPr>
            <p:nvPr/>
          </p:nvSpPr>
          <p:spPr bwMode="auto">
            <a:xfrm>
              <a:off x="3241675" y="18494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endParaRPr kumimoji="1" lang="en-US" altLang="zh-CN" sz="1050" b="1">
                <a:latin typeface="微软雅黑" panose="020B0503020204020204" pitchFamily="34" charset="-122"/>
                <a:ea typeface="微软雅黑" panose="020B0503020204020204" pitchFamily="34" charset="-122"/>
              </a:endParaRPr>
            </a:p>
          </p:txBody>
        </p:sp>
        <p:sp>
          <p:nvSpPr>
            <p:cNvPr id="26" name="Text Box 41"/>
            <p:cNvSpPr txBox="1">
              <a:spLocks noChangeArrowheads="1"/>
            </p:cNvSpPr>
            <p:nvPr/>
          </p:nvSpPr>
          <p:spPr bwMode="auto">
            <a:xfrm>
              <a:off x="3236913" y="20970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endParaRPr kumimoji="1" lang="en-US" altLang="zh-CN" sz="1050" b="1">
                <a:latin typeface="微软雅黑" panose="020B0503020204020204" pitchFamily="34" charset="-122"/>
                <a:ea typeface="微软雅黑" panose="020B0503020204020204" pitchFamily="34" charset="-122"/>
              </a:endParaRPr>
            </a:p>
          </p:txBody>
        </p:sp>
        <p:sp>
          <p:nvSpPr>
            <p:cNvPr id="27" name="Text Box 42"/>
            <p:cNvSpPr txBox="1">
              <a:spLocks noChangeArrowheads="1"/>
            </p:cNvSpPr>
            <p:nvPr/>
          </p:nvSpPr>
          <p:spPr bwMode="auto">
            <a:xfrm>
              <a:off x="3178175" y="23447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endParaRPr kumimoji="1" lang="en-US" altLang="zh-CN" sz="1050" b="1">
                <a:latin typeface="微软雅黑" panose="020B0503020204020204" pitchFamily="34" charset="-122"/>
                <a:ea typeface="微软雅黑" panose="020B0503020204020204" pitchFamily="34" charset="-122"/>
              </a:endParaRPr>
            </a:p>
          </p:txBody>
        </p:sp>
        <p:sp>
          <p:nvSpPr>
            <p:cNvPr id="28" name="Text Box 43"/>
            <p:cNvSpPr txBox="1">
              <a:spLocks noChangeArrowheads="1"/>
            </p:cNvSpPr>
            <p:nvPr/>
          </p:nvSpPr>
          <p:spPr bwMode="auto">
            <a:xfrm>
              <a:off x="3055938" y="25701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endParaRPr kumimoji="1" lang="en-US" altLang="zh-CN" sz="1050" b="1">
                <a:latin typeface="微软雅黑" panose="020B0503020204020204" pitchFamily="34" charset="-122"/>
                <a:ea typeface="微软雅黑" panose="020B0503020204020204" pitchFamily="34" charset="-122"/>
              </a:endParaRPr>
            </a:p>
          </p:txBody>
        </p:sp>
        <p:sp>
          <p:nvSpPr>
            <p:cNvPr id="29" name="Text Box 44"/>
            <p:cNvSpPr txBox="1">
              <a:spLocks noChangeArrowheads="1"/>
            </p:cNvSpPr>
            <p:nvPr/>
          </p:nvSpPr>
          <p:spPr bwMode="auto">
            <a:xfrm>
              <a:off x="2878138" y="27955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endParaRPr kumimoji="1" lang="en-US" altLang="zh-CN" sz="1050" b="1">
                <a:latin typeface="微软雅黑" panose="020B0503020204020204" pitchFamily="34" charset="-122"/>
                <a:ea typeface="微软雅黑" panose="020B0503020204020204" pitchFamily="34" charset="-122"/>
              </a:endParaRPr>
            </a:p>
          </p:txBody>
        </p:sp>
        <p:sp>
          <p:nvSpPr>
            <p:cNvPr id="30" name="Text Box 45"/>
            <p:cNvSpPr txBox="1">
              <a:spLocks noChangeArrowheads="1"/>
            </p:cNvSpPr>
            <p:nvPr/>
          </p:nvSpPr>
          <p:spPr bwMode="auto">
            <a:xfrm>
              <a:off x="2709863" y="2932113"/>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endParaRPr kumimoji="1" lang="en-US" altLang="zh-CN" sz="1050" b="1">
                <a:latin typeface="微软雅黑" panose="020B0503020204020204" pitchFamily="34" charset="-122"/>
                <a:ea typeface="微软雅黑" panose="020B0503020204020204" pitchFamily="34" charset="-122"/>
              </a:endParaRPr>
            </a:p>
          </p:txBody>
        </p:sp>
        <p:sp>
          <p:nvSpPr>
            <p:cNvPr id="31" name="Text Box 46"/>
            <p:cNvSpPr txBox="1">
              <a:spLocks noChangeArrowheads="1"/>
            </p:cNvSpPr>
            <p:nvPr/>
          </p:nvSpPr>
          <p:spPr bwMode="auto">
            <a:xfrm>
              <a:off x="2500314" y="3060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endParaRPr kumimoji="1" lang="en-US" altLang="zh-CN" sz="1050" b="1">
                <a:latin typeface="微软雅黑" panose="020B0503020204020204" pitchFamily="34" charset="-122"/>
                <a:ea typeface="微软雅黑" panose="020B0503020204020204" pitchFamily="34" charset="-122"/>
              </a:endParaRPr>
            </a:p>
          </p:txBody>
        </p:sp>
        <p:sp>
          <p:nvSpPr>
            <p:cNvPr id="32" name="Text Box 47"/>
            <p:cNvSpPr txBox="1">
              <a:spLocks noChangeArrowheads="1"/>
            </p:cNvSpPr>
            <p:nvPr/>
          </p:nvSpPr>
          <p:spPr bwMode="auto">
            <a:xfrm>
              <a:off x="2233613" y="31337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endParaRPr kumimoji="1" lang="en-US" altLang="zh-CN" sz="1050" b="1">
                <a:latin typeface="微软雅黑" panose="020B0503020204020204" pitchFamily="34" charset="-122"/>
                <a:ea typeface="微软雅黑" panose="020B0503020204020204" pitchFamily="34" charset="-122"/>
              </a:endParaRPr>
            </a:p>
          </p:txBody>
        </p:sp>
        <p:sp>
          <p:nvSpPr>
            <p:cNvPr id="33" name="Oval 48"/>
            <p:cNvSpPr>
              <a:spLocks noChangeArrowheads="1"/>
            </p:cNvSpPr>
            <p:nvPr/>
          </p:nvSpPr>
          <p:spPr bwMode="auto">
            <a:xfrm>
              <a:off x="3009900" y="9969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4" name="Oval 49"/>
            <p:cNvSpPr>
              <a:spLocks noChangeArrowheads="1"/>
            </p:cNvSpPr>
            <p:nvPr/>
          </p:nvSpPr>
          <p:spPr bwMode="auto">
            <a:xfrm>
              <a:off x="1028700" y="29876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5" name="Oval 50"/>
            <p:cNvSpPr>
              <a:spLocks noChangeArrowheads="1"/>
            </p:cNvSpPr>
            <p:nvPr/>
          </p:nvSpPr>
          <p:spPr bwMode="auto">
            <a:xfrm>
              <a:off x="714375" y="14541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6" name="Oval 51"/>
            <p:cNvSpPr>
              <a:spLocks noChangeArrowheads="1"/>
            </p:cNvSpPr>
            <p:nvPr/>
          </p:nvSpPr>
          <p:spPr bwMode="auto">
            <a:xfrm>
              <a:off x="2609850" y="730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7" name="Oval 52"/>
            <p:cNvSpPr>
              <a:spLocks noChangeArrowheads="1"/>
            </p:cNvSpPr>
            <p:nvPr/>
          </p:nvSpPr>
          <p:spPr bwMode="auto">
            <a:xfrm>
              <a:off x="3332163" y="25415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8" name="Oval 53"/>
            <p:cNvSpPr>
              <a:spLocks noChangeArrowheads="1"/>
            </p:cNvSpPr>
            <p:nvPr/>
          </p:nvSpPr>
          <p:spPr bwMode="auto">
            <a:xfrm>
              <a:off x="1495425" y="682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9" name="Oval 54"/>
            <p:cNvSpPr>
              <a:spLocks noChangeArrowheads="1"/>
            </p:cNvSpPr>
            <p:nvPr/>
          </p:nvSpPr>
          <p:spPr bwMode="auto">
            <a:xfrm>
              <a:off x="3352800" y="1492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0" name="Oval 55"/>
            <p:cNvSpPr>
              <a:spLocks noChangeArrowheads="1"/>
            </p:cNvSpPr>
            <p:nvPr/>
          </p:nvSpPr>
          <p:spPr bwMode="auto">
            <a:xfrm>
              <a:off x="346710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1" name="Oval 56"/>
            <p:cNvSpPr>
              <a:spLocks noChangeArrowheads="1"/>
            </p:cNvSpPr>
            <p:nvPr/>
          </p:nvSpPr>
          <p:spPr bwMode="auto">
            <a:xfrm>
              <a:off x="3057525" y="3016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2" name="Oval 57"/>
            <p:cNvSpPr>
              <a:spLocks noChangeArrowheads="1"/>
            </p:cNvSpPr>
            <p:nvPr/>
          </p:nvSpPr>
          <p:spPr bwMode="auto">
            <a:xfrm>
              <a:off x="2590800" y="3321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3" name="Oval 58"/>
            <p:cNvSpPr>
              <a:spLocks noChangeArrowheads="1"/>
            </p:cNvSpPr>
            <p:nvPr/>
          </p:nvSpPr>
          <p:spPr bwMode="auto">
            <a:xfrm>
              <a:off x="2066925" y="3435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4" name="Oval 59"/>
            <p:cNvSpPr>
              <a:spLocks noChangeArrowheads="1"/>
            </p:cNvSpPr>
            <p:nvPr/>
          </p:nvSpPr>
          <p:spPr bwMode="auto">
            <a:xfrm>
              <a:off x="1524000" y="33305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5" name="Oval 60"/>
            <p:cNvSpPr>
              <a:spLocks noChangeArrowheads="1"/>
            </p:cNvSpPr>
            <p:nvPr/>
          </p:nvSpPr>
          <p:spPr bwMode="auto">
            <a:xfrm>
              <a:off x="762000" y="2559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6" name="Oval 61"/>
            <p:cNvSpPr>
              <a:spLocks noChangeArrowheads="1"/>
            </p:cNvSpPr>
            <p:nvPr/>
          </p:nvSpPr>
          <p:spPr bwMode="auto">
            <a:xfrm>
              <a:off x="64770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7" name="Oval 62"/>
            <p:cNvSpPr>
              <a:spLocks noChangeArrowheads="1"/>
            </p:cNvSpPr>
            <p:nvPr/>
          </p:nvSpPr>
          <p:spPr bwMode="auto">
            <a:xfrm>
              <a:off x="1066800" y="1035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2335213" y="654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846388"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1276350"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1779588"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235325" y="12636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1801813"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252538" y="31988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666750" y="17430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879475" y="12477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2319338"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284638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3440113" y="2284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3219450" y="2809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673100" y="23002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871538" y="28035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3" name="Oval 51"/>
            <p:cNvSpPr>
              <a:spLocks noChangeArrowheads="1"/>
            </p:cNvSpPr>
            <p:nvPr/>
          </p:nvSpPr>
          <p:spPr bwMode="auto">
            <a:xfrm>
              <a:off x="2060575" y="6238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2005013" y="31686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endParaRPr kumimoji="1" lang="en-US" altLang="zh-CN" sz="1050" b="1">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1762125" y="31480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endParaRPr kumimoji="1" lang="en-US" altLang="zh-CN" sz="1050" b="1">
                <a:latin typeface="微软雅黑" panose="020B0503020204020204" pitchFamily="34" charset="-122"/>
                <a:ea typeface="微软雅黑" panose="020B0503020204020204" pitchFamily="34" charset="-122"/>
              </a:endParaRPr>
            </a:p>
          </p:txBody>
        </p:sp>
        <p:sp>
          <p:nvSpPr>
            <p:cNvPr id="66" name="Text Box 47"/>
            <p:cNvSpPr txBox="1">
              <a:spLocks noChangeArrowheads="1"/>
            </p:cNvSpPr>
            <p:nvPr/>
          </p:nvSpPr>
          <p:spPr bwMode="auto">
            <a:xfrm>
              <a:off x="1517650" y="30876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endParaRPr kumimoji="1" lang="en-US" altLang="zh-CN" sz="1050" b="1">
                <a:latin typeface="微软雅黑" panose="020B0503020204020204" pitchFamily="34" charset="-122"/>
                <a:ea typeface="微软雅黑" panose="020B0503020204020204" pitchFamily="34" charset="-122"/>
              </a:endParaRPr>
            </a:p>
          </p:txBody>
        </p:sp>
        <p:sp>
          <p:nvSpPr>
            <p:cNvPr id="67" name="Text Box 47"/>
            <p:cNvSpPr txBox="1">
              <a:spLocks noChangeArrowheads="1"/>
            </p:cNvSpPr>
            <p:nvPr/>
          </p:nvSpPr>
          <p:spPr bwMode="auto">
            <a:xfrm>
              <a:off x="1296988" y="298767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endParaRPr kumimoji="1" lang="en-US" altLang="zh-CN" sz="1050" b="1">
                <a:latin typeface="微软雅黑" panose="020B0503020204020204" pitchFamily="34" charset="-122"/>
                <a:ea typeface="微软雅黑" panose="020B0503020204020204" pitchFamily="34" charset="-122"/>
              </a:endParaRPr>
            </a:p>
          </p:txBody>
        </p:sp>
        <p:sp>
          <p:nvSpPr>
            <p:cNvPr id="68" name="Text Box 47"/>
            <p:cNvSpPr txBox="1">
              <a:spLocks noChangeArrowheads="1"/>
            </p:cNvSpPr>
            <p:nvPr/>
          </p:nvSpPr>
          <p:spPr bwMode="auto">
            <a:xfrm>
              <a:off x="1181100" y="27511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endParaRPr kumimoji="1" lang="en-US" altLang="zh-CN" sz="1050" b="1">
                <a:latin typeface="微软雅黑" panose="020B0503020204020204" pitchFamily="34" charset="-122"/>
                <a:ea typeface="微软雅黑" panose="020B0503020204020204" pitchFamily="34" charset="-122"/>
              </a:endParaRPr>
            </a:p>
          </p:txBody>
        </p:sp>
        <p:sp>
          <p:nvSpPr>
            <p:cNvPr id="69" name="Text Box 47"/>
            <p:cNvSpPr txBox="1">
              <a:spLocks noChangeArrowheads="1"/>
            </p:cNvSpPr>
            <p:nvPr/>
          </p:nvSpPr>
          <p:spPr bwMode="auto">
            <a:xfrm>
              <a:off x="990600" y="26368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endParaRPr kumimoji="1" lang="en-US" altLang="zh-CN" sz="1050" b="1">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876300" y="243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endParaRPr kumimoji="1" lang="en-US" altLang="zh-CN" sz="1050" b="1">
                <a:latin typeface="微软雅黑" panose="020B0503020204020204" pitchFamily="34" charset="-122"/>
                <a:ea typeface="微软雅黑" panose="020B0503020204020204" pitchFamily="34" charset="-122"/>
              </a:endParaRPr>
            </a:p>
          </p:txBody>
        </p:sp>
        <p:sp>
          <p:nvSpPr>
            <p:cNvPr id="71" name="Text Box 47"/>
            <p:cNvSpPr txBox="1">
              <a:spLocks noChangeArrowheads="1"/>
            </p:cNvSpPr>
            <p:nvPr/>
          </p:nvSpPr>
          <p:spPr bwMode="auto">
            <a:xfrm>
              <a:off x="762000" y="2187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endParaRPr kumimoji="1" lang="en-US" altLang="zh-CN" sz="1050" b="1">
                <a:latin typeface="微软雅黑" panose="020B0503020204020204" pitchFamily="34" charset="-122"/>
                <a:ea typeface="微软雅黑" panose="020B0503020204020204" pitchFamily="34" charset="-122"/>
              </a:endParaRPr>
            </a:p>
          </p:txBody>
        </p:sp>
        <p:sp>
          <p:nvSpPr>
            <p:cNvPr id="72" name="Text Box 47"/>
            <p:cNvSpPr txBox="1">
              <a:spLocks noChangeArrowheads="1"/>
            </p:cNvSpPr>
            <p:nvPr/>
          </p:nvSpPr>
          <p:spPr bwMode="auto">
            <a:xfrm>
              <a:off x="762000" y="19050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endParaRPr kumimoji="1" lang="en-US" altLang="zh-CN" sz="1050" b="1">
                <a:latin typeface="微软雅黑" panose="020B0503020204020204" pitchFamily="34" charset="-122"/>
                <a:ea typeface="微软雅黑" panose="020B0503020204020204" pitchFamily="34" charset="-122"/>
              </a:endParaRPr>
            </a:p>
          </p:txBody>
        </p:sp>
        <p:sp>
          <p:nvSpPr>
            <p:cNvPr id="73" name="Text Box 47"/>
            <p:cNvSpPr txBox="1">
              <a:spLocks noChangeArrowheads="1"/>
            </p:cNvSpPr>
            <p:nvPr/>
          </p:nvSpPr>
          <p:spPr bwMode="auto">
            <a:xfrm>
              <a:off x="762000" y="16462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endParaRPr kumimoji="1" lang="en-US" altLang="zh-CN" sz="1050" b="1">
                <a:latin typeface="微软雅黑" panose="020B0503020204020204" pitchFamily="34" charset="-122"/>
                <a:ea typeface="微软雅黑" panose="020B0503020204020204" pitchFamily="34" charset="-122"/>
              </a:endParaRPr>
            </a:p>
          </p:txBody>
        </p:sp>
        <p:sp>
          <p:nvSpPr>
            <p:cNvPr id="74" name="Text Box 47"/>
            <p:cNvSpPr txBox="1">
              <a:spLocks noChangeArrowheads="1"/>
            </p:cNvSpPr>
            <p:nvPr/>
          </p:nvSpPr>
          <p:spPr bwMode="auto">
            <a:xfrm>
              <a:off x="860425" y="1425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endParaRPr kumimoji="1" lang="en-US" altLang="zh-CN" sz="1050" b="1">
                <a:latin typeface="微软雅黑" panose="020B0503020204020204" pitchFamily="34" charset="-122"/>
                <a:ea typeface="微软雅黑" panose="020B0503020204020204" pitchFamily="34" charset="-122"/>
              </a:endParaRPr>
            </a:p>
          </p:txBody>
        </p:sp>
        <p:sp>
          <p:nvSpPr>
            <p:cNvPr id="75" name="Text Box 47"/>
            <p:cNvSpPr txBox="1">
              <a:spLocks noChangeArrowheads="1"/>
            </p:cNvSpPr>
            <p:nvPr/>
          </p:nvSpPr>
          <p:spPr bwMode="auto">
            <a:xfrm>
              <a:off x="966787" y="12493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endParaRPr kumimoji="1" lang="en-US" altLang="zh-CN" sz="1050" b="1">
                <a:latin typeface="微软雅黑" panose="020B0503020204020204" pitchFamily="34" charset="-122"/>
                <a:ea typeface="微软雅黑" panose="020B0503020204020204" pitchFamily="34" charset="-122"/>
              </a:endParaRPr>
            </a:p>
          </p:txBody>
        </p:sp>
        <p:sp>
          <p:nvSpPr>
            <p:cNvPr id="76" name="Text Box 47"/>
            <p:cNvSpPr txBox="1">
              <a:spLocks noChangeArrowheads="1"/>
            </p:cNvSpPr>
            <p:nvPr/>
          </p:nvSpPr>
          <p:spPr bwMode="auto">
            <a:xfrm>
              <a:off x="1058863" y="1044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endParaRPr kumimoji="1" lang="en-US" altLang="zh-CN" sz="1050" b="1">
                <a:latin typeface="微软雅黑" panose="020B0503020204020204" pitchFamily="34" charset="-122"/>
                <a:ea typeface="微软雅黑" panose="020B0503020204020204" pitchFamily="34" charset="-122"/>
              </a:endParaRPr>
            </a:p>
          </p:txBody>
        </p:sp>
        <p:sp>
          <p:nvSpPr>
            <p:cNvPr id="77" name="Text Box 47"/>
            <p:cNvSpPr txBox="1">
              <a:spLocks noChangeArrowheads="1"/>
            </p:cNvSpPr>
            <p:nvPr/>
          </p:nvSpPr>
          <p:spPr bwMode="auto">
            <a:xfrm>
              <a:off x="1271588" y="8921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endParaRPr kumimoji="1" lang="en-US" altLang="zh-CN" sz="1050" b="1">
                <a:latin typeface="微软雅黑" panose="020B0503020204020204" pitchFamily="34" charset="-122"/>
                <a:ea typeface="微软雅黑" panose="020B0503020204020204" pitchFamily="34" charset="-122"/>
              </a:endParaRPr>
            </a:p>
          </p:txBody>
        </p:sp>
        <p:sp>
          <p:nvSpPr>
            <p:cNvPr id="78" name="Text Box 47"/>
            <p:cNvSpPr txBox="1">
              <a:spLocks noChangeArrowheads="1"/>
            </p:cNvSpPr>
            <p:nvPr/>
          </p:nvSpPr>
          <p:spPr bwMode="auto">
            <a:xfrm>
              <a:off x="1485900" y="784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endParaRPr kumimoji="1" lang="en-US" altLang="zh-CN" sz="1050" b="1">
                <a:latin typeface="微软雅黑" panose="020B0503020204020204" pitchFamily="34" charset="-122"/>
                <a:ea typeface="微软雅黑" panose="020B0503020204020204" pitchFamily="34" charset="-122"/>
              </a:endParaRPr>
            </a:p>
          </p:txBody>
        </p:sp>
        <p:sp>
          <p:nvSpPr>
            <p:cNvPr id="79" name="Text Box 47"/>
            <p:cNvSpPr txBox="1">
              <a:spLocks noChangeArrowheads="1"/>
            </p:cNvSpPr>
            <p:nvPr/>
          </p:nvSpPr>
          <p:spPr bwMode="auto">
            <a:xfrm>
              <a:off x="1760538" y="6699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endParaRPr kumimoji="1" lang="en-US" altLang="zh-CN" sz="1050" b="1">
                <a:latin typeface="微软雅黑" panose="020B0503020204020204" pitchFamily="34" charset="-122"/>
                <a:ea typeface="微软雅黑" panose="020B0503020204020204" pitchFamily="34" charset="-122"/>
              </a:endParaRPr>
            </a:p>
          </p:txBody>
        </p:sp>
        <p:sp>
          <p:nvSpPr>
            <p:cNvPr id="80" name="Text Box 71"/>
            <p:cNvSpPr txBox="1">
              <a:spLocks noChangeArrowheads="1"/>
            </p:cNvSpPr>
            <p:nvPr/>
          </p:nvSpPr>
          <p:spPr bwMode="auto">
            <a:xfrm>
              <a:off x="3733801" y="2286000"/>
              <a:ext cx="381001"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endParaRPr kumimoji="1" lang="en-US" altLang="zh-CN" sz="1100" b="1" dirty="0">
                <a:latin typeface="微软雅黑" panose="020B0503020204020204" pitchFamily="34" charset="-122"/>
                <a:ea typeface="微软雅黑" panose="020B0503020204020204" pitchFamily="34" charset="-122"/>
              </a:endParaRPr>
            </a:p>
          </p:txBody>
        </p:sp>
        <p:sp>
          <p:nvSpPr>
            <p:cNvPr id="81" name="Oval 53"/>
            <p:cNvSpPr>
              <a:spLocks noChangeArrowheads="1"/>
            </p:cNvSpPr>
            <p:nvPr/>
          </p:nvSpPr>
          <p:spPr bwMode="auto">
            <a:xfrm>
              <a:off x="3390900" y="170656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3581399" y="16002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endParaRPr kumimoji="1" lang="en-US" altLang="zh-CN" sz="1100" b="1">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3521075" y="2498725"/>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N10</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3200400" y="8842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endParaRPr kumimoji="1" lang="en-US" altLang="zh-CN" sz="1100" b="1">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265237" y="4191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N30</a:t>
              </a:r>
              <a:endParaRPr kumimoji="1" lang="en-US" altLang="zh-CN" sz="1100" b="1">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647701" y="298767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endParaRPr kumimoji="1" lang="en-US" altLang="zh-CN" sz="1100" b="1">
                <a:latin typeface="微软雅黑" panose="020B0503020204020204" pitchFamily="34" charset="-122"/>
                <a:ea typeface="微软雅黑" panose="020B0503020204020204" pitchFamily="34" charset="-122"/>
              </a:endParaRPr>
            </a:p>
          </p:txBody>
        </p:sp>
        <p:sp>
          <p:nvSpPr>
            <p:cNvPr id="87" name="Text Box 47"/>
            <p:cNvSpPr txBox="1">
              <a:spLocks noChangeArrowheads="1"/>
            </p:cNvSpPr>
            <p:nvPr/>
          </p:nvSpPr>
          <p:spPr bwMode="auto">
            <a:xfrm>
              <a:off x="304799" y="12954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N26</a:t>
              </a:r>
              <a:endParaRPr kumimoji="1" lang="en-US" altLang="zh-CN" sz="1100" b="1">
                <a:latin typeface="微软雅黑" panose="020B0503020204020204" pitchFamily="34" charset="-122"/>
                <a:ea typeface="微软雅黑" panose="020B0503020204020204" pitchFamily="34" charset="-122"/>
              </a:endParaRPr>
            </a:p>
          </p:txBody>
        </p:sp>
        <p:sp>
          <p:nvSpPr>
            <p:cNvPr id="88" name="Text Box 71"/>
            <p:cNvSpPr txBox="1">
              <a:spLocks noChangeArrowheads="1"/>
            </p:cNvSpPr>
            <p:nvPr/>
          </p:nvSpPr>
          <p:spPr bwMode="auto">
            <a:xfrm>
              <a:off x="2735264" y="419100"/>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endParaRPr kumimoji="1" lang="en-US" altLang="zh-CN" sz="1100" b="1" dirty="0">
                <a:latin typeface="微软雅黑" panose="020B0503020204020204" pitchFamily="34" charset="-122"/>
                <a:ea typeface="微软雅黑" panose="020B0503020204020204" pitchFamily="34" charset="-122"/>
              </a:endParaRPr>
            </a:p>
          </p:txBody>
        </p:sp>
        <p:sp>
          <p:nvSpPr>
            <p:cNvPr id="89" name="Text Box 71"/>
            <p:cNvSpPr txBox="1">
              <a:spLocks noChangeArrowheads="1"/>
            </p:cNvSpPr>
            <p:nvPr/>
          </p:nvSpPr>
          <p:spPr bwMode="auto">
            <a:xfrm>
              <a:off x="708024" y="701675"/>
              <a:ext cx="3968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71"/>
            <p:cNvSpPr txBox="1">
              <a:spLocks noChangeArrowheads="1"/>
            </p:cNvSpPr>
            <p:nvPr/>
          </p:nvSpPr>
          <p:spPr bwMode="auto">
            <a:xfrm>
              <a:off x="3124200" y="457200"/>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endParaRPr kumimoji="1" lang="en-US" altLang="zh-CN" sz="11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715963" y="3336925"/>
              <a:ext cx="357187"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92" name="Text Box 71"/>
            <p:cNvSpPr txBox="1">
              <a:spLocks noChangeArrowheads="1"/>
            </p:cNvSpPr>
            <p:nvPr/>
          </p:nvSpPr>
          <p:spPr bwMode="auto">
            <a:xfrm>
              <a:off x="168275" y="1684338"/>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endParaRPr kumimoji="1" lang="en-US" altLang="zh-CN" sz="1100" b="1" dirty="0">
                <a:latin typeface="微软雅黑" panose="020B0503020204020204" pitchFamily="34" charset="-122"/>
                <a:ea typeface="微软雅黑" panose="020B0503020204020204" pitchFamily="34" charset="-122"/>
              </a:endParaRPr>
            </a:p>
          </p:txBody>
        </p:sp>
        <p:cxnSp>
          <p:nvCxnSpPr>
            <p:cNvPr id="93" name="直接箭头连接符 92"/>
            <p:cNvCxnSpPr>
              <a:stCxn id="80" idx="1"/>
            </p:cNvCxnSpPr>
            <p:nvPr/>
          </p:nvCxnSpPr>
          <p:spPr bwMode="auto">
            <a:xfrm flipH="1">
              <a:off x="3459165" y="2393680"/>
              <a:ext cx="274636" cy="17489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a:off x="293370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H="1">
              <a:off x="313213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V="1">
              <a:off x="525463" y="1577975"/>
              <a:ext cx="190500" cy="1079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998538" y="3132138"/>
              <a:ext cx="68262" cy="2127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bwMode="auto">
            <a:xfrm flipV="1">
              <a:off x="115093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Oval 20"/>
            <p:cNvSpPr>
              <a:spLocks noChangeArrowheads="1"/>
            </p:cNvSpPr>
            <p:nvPr/>
          </p:nvSpPr>
          <p:spPr bwMode="auto">
            <a:xfrm>
              <a:off x="5638800" y="646113"/>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00" name="Text Box 31"/>
            <p:cNvSpPr txBox="1">
              <a:spLocks noChangeArrowheads="1"/>
            </p:cNvSpPr>
            <p:nvPr/>
          </p:nvSpPr>
          <p:spPr bwMode="auto">
            <a:xfrm>
              <a:off x="6915150" y="6461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endParaRPr kumimoji="1" lang="en-US" altLang="zh-CN" sz="1050" b="1">
                <a:latin typeface="微软雅黑" panose="020B0503020204020204" pitchFamily="34" charset="-122"/>
                <a:ea typeface="微软雅黑" panose="020B0503020204020204" pitchFamily="34" charset="-122"/>
              </a:endParaRPr>
            </a:p>
          </p:txBody>
        </p:sp>
        <p:sp>
          <p:nvSpPr>
            <p:cNvPr id="101" name="Text Box 33"/>
            <p:cNvSpPr txBox="1">
              <a:spLocks noChangeArrowheads="1"/>
            </p:cNvSpPr>
            <p:nvPr/>
          </p:nvSpPr>
          <p:spPr bwMode="auto">
            <a:xfrm>
              <a:off x="7170738" y="668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endParaRPr kumimoji="1" lang="en-US" altLang="zh-CN" sz="1050" b="1">
                <a:latin typeface="微软雅黑" panose="020B0503020204020204" pitchFamily="34" charset="-122"/>
                <a:ea typeface="微软雅黑" panose="020B0503020204020204" pitchFamily="34" charset="-122"/>
              </a:endParaRPr>
            </a:p>
          </p:txBody>
        </p:sp>
        <p:sp>
          <p:nvSpPr>
            <p:cNvPr id="102" name="Text Box 34"/>
            <p:cNvSpPr txBox="1">
              <a:spLocks noChangeArrowheads="1"/>
            </p:cNvSpPr>
            <p:nvPr/>
          </p:nvSpPr>
          <p:spPr bwMode="auto">
            <a:xfrm>
              <a:off x="7405688" y="7207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endParaRPr kumimoji="1" lang="en-US" altLang="zh-CN" sz="1050" b="1">
                <a:latin typeface="微软雅黑" panose="020B0503020204020204" pitchFamily="34" charset="-122"/>
                <a:ea typeface="微软雅黑" panose="020B0503020204020204" pitchFamily="34" charset="-122"/>
              </a:endParaRPr>
            </a:p>
          </p:txBody>
        </p:sp>
        <p:sp>
          <p:nvSpPr>
            <p:cNvPr id="103" name="Text Box 35"/>
            <p:cNvSpPr txBox="1">
              <a:spLocks noChangeArrowheads="1"/>
            </p:cNvSpPr>
            <p:nvPr/>
          </p:nvSpPr>
          <p:spPr bwMode="auto">
            <a:xfrm>
              <a:off x="7648575" y="844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endParaRPr kumimoji="1" lang="en-US" altLang="zh-CN" sz="1050" b="1">
                <a:latin typeface="微软雅黑" panose="020B0503020204020204" pitchFamily="34" charset="-122"/>
                <a:ea typeface="微软雅黑" panose="020B0503020204020204" pitchFamily="34" charset="-122"/>
              </a:endParaRPr>
            </a:p>
          </p:txBody>
        </p:sp>
        <p:sp>
          <p:nvSpPr>
            <p:cNvPr id="104" name="Text Box 36"/>
            <p:cNvSpPr txBox="1">
              <a:spLocks noChangeArrowheads="1"/>
            </p:cNvSpPr>
            <p:nvPr/>
          </p:nvSpPr>
          <p:spPr bwMode="auto">
            <a:xfrm>
              <a:off x="7804150" y="1020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endParaRPr kumimoji="1" lang="en-US" altLang="zh-CN" sz="1050" b="1">
                <a:latin typeface="微软雅黑" panose="020B0503020204020204" pitchFamily="34" charset="-122"/>
                <a:ea typeface="微软雅黑" panose="020B0503020204020204" pitchFamily="34" charset="-122"/>
              </a:endParaRPr>
            </a:p>
          </p:txBody>
        </p:sp>
        <p:sp>
          <p:nvSpPr>
            <p:cNvPr id="105" name="Text Box 37"/>
            <p:cNvSpPr txBox="1">
              <a:spLocks noChangeArrowheads="1"/>
            </p:cNvSpPr>
            <p:nvPr/>
          </p:nvSpPr>
          <p:spPr bwMode="auto">
            <a:xfrm>
              <a:off x="7954964" y="116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endParaRPr kumimoji="1" lang="en-US" altLang="zh-CN" sz="1050" b="1">
                <a:latin typeface="微软雅黑" panose="020B0503020204020204" pitchFamily="34" charset="-122"/>
                <a:ea typeface="微软雅黑" panose="020B0503020204020204" pitchFamily="34" charset="-122"/>
              </a:endParaRPr>
            </a:p>
          </p:txBody>
        </p:sp>
        <p:sp>
          <p:nvSpPr>
            <p:cNvPr id="106" name="Text Box 38"/>
            <p:cNvSpPr txBox="1">
              <a:spLocks noChangeArrowheads="1"/>
            </p:cNvSpPr>
            <p:nvPr/>
          </p:nvSpPr>
          <p:spPr bwMode="auto">
            <a:xfrm>
              <a:off x="8086726" y="1352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endParaRPr kumimoji="1" lang="en-US" altLang="zh-CN" sz="1050" b="1">
                <a:latin typeface="微软雅黑" panose="020B0503020204020204" pitchFamily="34" charset="-122"/>
                <a:ea typeface="微软雅黑" panose="020B0503020204020204" pitchFamily="34" charset="-122"/>
              </a:endParaRPr>
            </a:p>
          </p:txBody>
        </p:sp>
        <p:sp>
          <p:nvSpPr>
            <p:cNvPr id="107" name="Text Box 39"/>
            <p:cNvSpPr txBox="1">
              <a:spLocks noChangeArrowheads="1"/>
            </p:cNvSpPr>
            <p:nvPr/>
          </p:nvSpPr>
          <p:spPr bwMode="auto">
            <a:xfrm>
              <a:off x="8153399" y="16271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endParaRPr kumimoji="1" lang="en-US" altLang="zh-CN" sz="1050" b="1">
                <a:latin typeface="微软雅黑" panose="020B0503020204020204" pitchFamily="34" charset="-122"/>
                <a:ea typeface="微软雅黑" panose="020B0503020204020204" pitchFamily="34" charset="-122"/>
              </a:endParaRPr>
            </a:p>
          </p:txBody>
        </p:sp>
        <p:sp>
          <p:nvSpPr>
            <p:cNvPr id="108" name="Text Box 40"/>
            <p:cNvSpPr txBox="1">
              <a:spLocks noChangeArrowheads="1"/>
            </p:cNvSpPr>
            <p:nvPr/>
          </p:nvSpPr>
          <p:spPr bwMode="auto">
            <a:xfrm>
              <a:off x="8194675" y="1841501"/>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endParaRPr kumimoji="1" lang="en-US" altLang="zh-CN" sz="1050" b="1">
                <a:latin typeface="微软雅黑" panose="020B0503020204020204" pitchFamily="34" charset="-122"/>
                <a:ea typeface="微软雅黑" panose="020B0503020204020204" pitchFamily="34" charset="-122"/>
              </a:endParaRPr>
            </a:p>
          </p:txBody>
        </p:sp>
        <p:sp>
          <p:nvSpPr>
            <p:cNvPr id="109" name="Text Box 41"/>
            <p:cNvSpPr txBox="1">
              <a:spLocks noChangeArrowheads="1"/>
            </p:cNvSpPr>
            <p:nvPr/>
          </p:nvSpPr>
          <p:spPr bwMode="auto">
            <a:xfrm>
              <a:off x="8189913" y="20891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endParaRPr kumimoji="1" lang="en-US" altLang="zh-CN" sz="1050" b="1">
                <a:latin typeface="微软雅黑" panose="020B0503020204020204" pitchFamily="34" charset="-122"/>
                <a:ea typeface="微软雅黑" panose="020B0503020204020204" pitchFamily="34" charset="-122"/>
              </a:endParaRPr>
            </a:p>
          </p:txBody>
        </p:sp>
        <p:sp>
          <p:nvSpPr>
            <p:cNvPr id="110" name="Text Box 42"/>
            <p:cNvSpPr txBox="1">
              <a:spLocks noChangeArrowheads="1"/>
            </p:cNvSpPr>
            <p:nvPr/>
          </p:nvSpPr>
          <p:spPr bwMode="auto">
            <a:xfrm>
              <a:off x="8131175" y="23368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endParaRPr kumimoji="1" lang="en-US" altLang="zh-CN" sz="1050" b="1">
                <a:latin typeface="微软雅黑" panose="020B0503020204020204" pitchFamily="34" charset="-122"/>
                <a:ea typeface="微软雅黑" panose="020B0503020204020204" pitchFamily="34" charset="-122"/>
              </a:endParaRPr>
            </a:p>
          </p:txBody>
        </p:sp>
        <p:sp>
          <p:nvSpPr>
            <p:cNvPr id="111" name="Text Box 43"/>
            <p:cNvSpPr txBox="1">
              <a:spLocks noChangeArrowheads="1"/>
            </p:cNvSpPr>
            <p:nvPr/>
          </p:nvSpPr>
          <p:spPr bwMode="auto">
            <a:xfrm>
              <a:off x="8008938" y="2562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endParaRPr kumimoji="1" lang="en-US" altLang="zh-CN" sz="1050" b="1">
                <a:latin typeface="微软雅黑" panose="020B0503020204020204" pitchFamily="34" charset="-122"/>
                <a:ea typeface="微软雅黑" panose="020B0503020204020204" pitchFamily="34" charset="-122"/>
              </a:endParaRPr>
            </a:p>
          </p:txBody>
        </p:sp>
        <p:sp>
          <p:nvSpPr>
            <p:cNvPr id="112" name="Text Box 44"/>
            <p:cNvSpPr txBox="1">
              <a:spLocks noChangeArrowheads="1"/>
            </p:cNvSpPr>
            <p:nvPr/>
          </p:nvSpPr>
          <p:spPr bwMode="auto">
            <a:xfrm>
              <a:off x="7831138" y="27876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endParaRPr kumimoji="1" lang="en-US" altLang="zh-CN" sz="1050" b="1">
                <a:latin typeface="微软雅黑" panose="020B0503020204020204" pitchFamily="34" charset="-122"/>
                <a:ea typeface="微软雅黑" panose="020B0503020204020204" pitchFamily="34" charset="-122"/>
              </a:endParaRPr>
            </a:p>
          </p:txBody>
        </p:sp>
        <p:sp>
          <p:nvSpPr>
            <p:cNvPr id="113" name="Text Box 45"/>
            <p:cNvSpPr txBox="1">
              <a:spLocks noChangeArrowheads="1"/>
            </p:cNvSpPr>
            <p:nvPr/>
          </p:nvSpPr>
          <p:spPr bwMode="auto">
            <a:xfrm>
              <a:off x="7662864" y="2924175"/>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endParaRPr kumimoji="1" lang="en-US" altLang="zh-CN" sz="1050" b="1">
                <a:latin typeface="微软雅黑" panose="020B0503020204020204" pitchFamily="34" charset="-122"/>
                <a:ea typeface="微软雅黑" panose="020B0503020204020204" pitchFamily="34" charset="-122"/>
              </a:endParaRPr>
            </a:p>
          </p:txBody>
        </p:sp>
        <p:sp>
          <p:nvSpPr>
            <p:cNvPr id="114" name="Text Box 46"/>
            <p:cNvSpPr txBox="1">
              <a:spLocks noChangeArrowheads="1"/>
            </p:cNvSpPr>
            <p:nvPr/>
          </p:nvSpPr>
          <p:spPr bwMode="auto">
            <a:xfrm>
              <a:off x="7453313" y="3052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endParaRPr kumimoji="1" lang="en-US" altLang="zh-CN" sz="1050" b="1">
                <a:latin typeface="微软雅黑" panose="020B0503020204020204" pitchFamily="34" charset="-122"/>
                <a:ea typeface="微软雅黑" panose="020B0503020204020204" pitchFamily="34" charset="-122"/>
              </a:endParaRPr>
            </a:p>
          </p:txBody>
        </p:sp>
        <p:sp>
          <p:nvSpPr>
            <p:cNvPr id="115" name="Text Box 47"/>
            <p:cNvSpPr txBox="1">
              <a:spLocks noChangeArrowheads="1"/>
            </p:cNvSpPr>
            <p:nvPr/>
          </p:nvSpPr>
          <p:spPr bwMode="auto">
            <a:xfrm>
              <a:off x="7186614" y="31257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endParaRPr kumimoji="1" lang="en-US" altLang="zh-CN" sz="1050" b="1">
                <a:latin typeface="微软雅黑" panose="020B0503020204020204" pitchFamily="34" charset="-122"/>
                <a:ea typeface="微软雅黑" panose="020B0503020204020204" pitchFamily="34" charset="-122"/>
              </a:endParaRPr>
            </a:p>
          </p:txBody>
        </p:sp>
        <p:sp>
          <p:nvSpPr>
            <p:cNvPr id="116" name="Oval 48"/>
            <p:cNvSpPr>
              <a:spLocks noChangeArrowheads="1"/>
            </p:cNvSpPr>
            <p:nvPr/>
          </p:nvSpPr>
          <p:spPr bwMode="auto">
            <a:xfrm>
              <a:off x="7962900" y="98901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7" name="Oval 49"/>
            <p:cNvSpPr>
              <a:spLocks noChangeArrowheads="1"/>
            </p:cNvSpPr>
            <p:nvPr/>
          </p:nvSpPr>
          <p:spPr bwMode="auto">
            <a:xfrm>
              <a:off x="5981700" y="297973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8" name="Oval 51"/>
            <p:cNvSpPr>
              <a:spLocks noChangeArrowheads="1"/>
            </p:cNvSpPr>
            <p:nvPr/>
          </p:nvSpPr>
          <p:spPr bwMode="auto">
            <a:xfrm>
              <a:off x="7562850" y="722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9" name="Oval 52"/>
            <p:cNvSpPr>
              <a:spLocks noChangeArrowheads="1"/>
            </p:cNvSpPr>
            <p:nvPr/>
          </p:nvSpPr>
          <p:spPr bwMode="auto">
            <a:xfrm>
              <a:off x="8285163" y="25336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0" name="Oval 53"/>
            <p:cNvSpPr>
              <a:spLocks noChangeArrowheads="1"/>
            </p:cNvSpPr>
            <p:nvPr/>
          </p:nvSpPr>
          <p:spPr bwMode="auto">
            <a:xfrm>
              <a:off x="6448425" y="6746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1" name="Oval 54"/>
            <p:cNvSpPr>
              <a:spLocks noChangeArrowheads="1"/>
            </p:cNvSpPr>
            <p:nvPr/>
          </p:nvSpPr>
          <p:spPr bwMode="auto">
            <a:xfrm>
              <a:off x="8305800" y="1484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2" name="Oval 55"/>
            <p:cNvSpPr>
              <a:spLocks noChangeArrowheads="1"/>
            </p:cNvSpPr>
            <p:nvPr/>
          </p:nvSpPr>
          <p:spPr bwMode="auto">
            <a:xfrm>
              <a:off x="8420100" y="2008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3" name="Oval 56"/>
            <p:cNvSpPr>
              <a:spLocks noChangeArrowheads="1"/>
            </p:cNvSpPr>
            <p:nvPr/>
          </p:nvSpPr>
          <p:spPr bwMode="auto">
            <a:xfrm>
              <a:off x="8010525" y="3008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4" name="Oval 57"/>
            <p:cNvSpPr>
              <a:spLocks noChangeArrowheads="1"/>
            </p:cNvSpPr>
            <p:nvPr/>
          </p:nvSpPr>
          <p:spPr bwMode="auto">
            <a:xfrm>
              <a:off x="7543800" y="3313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5" name="Oval 58"/>
            <p:cNvSpPr>
              <a:spLocks noChangeArrowheads="1"/>
            </p:cNvSpPr>
            <p:nvPr/>
          </p:nvSpPr>
          <p:spPr bwMode="auto">
            <a:xfrm>
              <a:off x="7019925" y="3427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6" name="Oval 59"/>
            <p:cNvSpPr>
              <a:spLocks noChangeArrowheads="1"/>
            </p:cNvSpPr>
            <p:nvPr/>
          </p:nvSpPr>
          <p:spPr bwMode="auto">
            <a:xfrm>
              <a:off x="6477000" y="33226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7" name="Oval 60"/>
            <p:cNvSpPr>
              <a:spLocks noChangeArrowheads="1"/>
            </p:cNvSpPr>
            <p:nvPr/>
          </p:nvSpPr>
          <p:spPr bwMode="auto">
            <a:xfrm>
              <a:off x="5715000" y="2551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8" name="Oval 61"/>
            <p:cNvSpPr>
              <a:spLocks noChangeArrowheads="1"/>
            </p:cNvSpPr>
            <p:nvPr/>
          </p:nvSpPr>
          <p:spPr bwMode="auto">
            <a:xfrm>
              <a:off x="5600700" y="2008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9" name="Oval 62"/>
            <p:cNvSpPr>
              <a:spLocks noChangeArrowheads="1"/>
            </p:cNvSpPr>
            <p:nvPr/>
          </p:nvSpPr>
          <p:spPr bwMode="auto">
            <a:xfrm>
              <a:off x="6019800" y="1027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0" name="Oval 51"/>
            <p:cNvSpPr>
              <a:spLocks noChangeArrowheads="1"/>
            </p:cNvSpPr>
            <p:nvPr/>
          </p:nvSpPr>
          <p:spPr bwMode="auto">
            <a:xfrm>
              <a:off x="7288213"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1" name="Oval 51"/>
            <p:cNvSpPr>
              <a:spLocks noChangeArrowheads="1"/>
            </p:cNvSpPr>
            <p:nvPr/>
          </p:nvSpPr>
          <p:spPr bwMode="auto">
            <a:xfrm>
              <a:off x="7799388" y="8524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2" name="Oval 51"/>
            <p:cNvSpPr>
              <a:spLocks noChangeArrowheads="1"/>
            </p:cNvSpPr>
            <p:nvPr/>
          </p:nvSpPr>
          <p:spPr bwMode="auto">
            <a:xfrm>
              <a:off x="6229350" y="8524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3" name="Oval 51"/>
            <p:cNvSpPr>
              <a:spLocks noChangeArrowheads="1"/>
            </p:cNvSpPr>
            <p:nvPr/>
          </p:nvSpPr>
          <p:spPr bwMode="auto">
            <a:xfrm>
              <a:off x="6732588" y="6381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4" name="Oval 51"/>
            <p:cNvSpPr>
              <a:spLocks noChangeArrowheads="1"/>
            </p:cNvSpPr>
            <p:nvPr/>
          </p:nvSpPr>
          <p:spPr bwMode="auto">
            <a:xfrm>
              <a:off x="8188325" y="12557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5" name="Oval 51"/>
            <p:cNvSpPr>
              <a:spLocks noChangeArrowheads="1"/>
            </p:cNvSpPr>
            <p:nvPr/>
          </p:nvSpPr>
          <p:spPr bwMode="auto">
            <a:xfrm>
              <a:off x="6754813" y="3405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6" name="Oval 51"/>
            <p:cNvSpPr>
              <a:spLocks noChangeArrowheads="1"/>
            </p:cNvSpPr>
            <p:nvPr/>
          </p:nvSpPr>
          <p:spPr bwMode="auto">
            <a:xfrm>
              <a:off x="620553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7" name="Oval 51"/>
            <p:cNvSpPr>
              <a:spLocks noChangeArrowheads="1"/>
            </p:cNvSpPr>
            <p:nvPr/>
          </p:nvSpPr>
          <p:spPr bwMode="auto">
            <a:xfrm>
              <a:off x="5619750" y="17351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8" name="Oval 51"/>
            <p:cNvSpPr>
              <a:spLocks noChangeArrowheads="1"/>
            </p:cNvSpPr>
            <p:nvPr/>
          </p:nvSpPr>
          <p:spPr bwMode="auto">
            <a:xfrm>
              <a:off x="5832475" y="12398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9" name="Oval 51"/>
            <p:cNvSpPr>
              <a:spLocks noChangeArrowheads="1"/>
            </p:cNvSpPr>
            <p:nvPr/>
          </p:nvSpPr>
          <p:spPr bwMode="auto">
            <a:xfrm>
              <a:off x="7272338" y="3405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0" name="Oval 51"/>
            <p:cNvSpPr>
              <a:spLocks noChangeArrowheads="1"/>
            </p:cNvSpPr>
            <p:nvPr/>
          </p:nvSpPr>
          <p:spPr bwMode="auto">
            <a:xfrm>
              <a:off x="8393113" y="22764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1" name="Oval 51"/>
            <p:cNvSpPr>
              <a:spLocks noChangeArrowheads="1"/>
            </p:cNvSpPr>
            <p:nvPr/>
          </p:nvSpPr>
          <p:spPr bwMode="auto">
            <a:xfrm>
              <a:off x="8172450" y="28019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2" name="Oval 51"/>
            <p:cNvSpPr>
              <a:spLocks noChangeArrowheads="1"/>
            </p:cNvSpPr>
            <p:nvPr/>
          </p:nvSpPr>
          <p:spPr bwMode="auto">
            <a:xfrm>
              <a:off x="5626100" y="2292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3" name="Oval 51"/>
            <p:cNvSpPr>
              <a:spLocks noChangeArrowheads="1"/>
            </p:cNvSpPr>
            <p:nvPr/>
          </p:nvSpPr>
          <p:spPr bwMode="auto">
            <a:xfrm>
              <a:off x="5824538" y="27955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4" name="Oval 51"/>
            <p:cNvSpPr>
              <a:spLocks noChangeArrowheads="1"/>
            </p:cNvSpPr>
            <p:nvPr/>
          </p:nvSpPr>
          <p:spPr bwMode="auto">
            <a:xfrm>
              <a:off x="7013575" y="6159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5" name="Text Box 47"/>
            <p:cNvSpPr txBox="1">
              <a:spLocks noChangeArrowheads="1"/>
            </p:cNvSpPr>
            <p:nvPr/>
          </p:nvSpPr>
          <p:spPr bwMode="auto">
            <a:xfrm>
              <a:off x="6958012" y="31607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endParaRPr kumimoji="1" lang="en-US" altLang="zh-CN" sz="1050" b="1">
                <a:latin typeface="微软雅黑" panose="020B0503020204020204" pitchFamily="34" charset="-122"/>
                <a:ea typeface="微软雅黑" panose="020B0503020204020204" pitchFamily="34" charset="-122"/>
              </a:endParaRPr>
            </a:p>
          </p:txBody>
        </p:sp>
        <p:sp>
          <p:nvSpPr>
            <p:cNvPr id="146" name="Text Box 47"/>
            <p:cNvSpPr txBox="1">
              <a:spLocks noChangeArrowheads="1"/>
            </p:cNvSpPr>
            <p:nvPr/>
          </p:nvSpPr>
          <p:spPr bwMode="auto">
            <a:xfrm>
              <a:off x="6715125" y="31400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endParaRPr kumimoji="1" lang="en-US" altLang="zh-CN" sz="1050" b="1">
                <a:latin typeface="微软雅黑" panose="020B0503020204020204" pitchFamily="34" charset="-122"/>
                <a:ea typeface="微软雅黑" panose="020B0503020204020204" pitchFamily="34" charset="-122"/>
              </a:endParaRPr>
            </a:p>
          </p:txBody>
        </p:sp>
        <p:sp>
          <p:nvSpPr>
            <p:cNvPr id="147" name="Text Box 47"/>
            <p:cNvSpPr txBox="1">
              <a:spLocks noChangeArrowheads="1"/>
            </p:cNvSpPr>
            <p:nvPr/>
          </p:nvSpPr>
          <p:spPr bwMode="auto">
            <a:xfrm>
              <a:off x="6470650" y="30797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endParaRPr kumimoji="1" lang="en-US" altLang="zh-CN" sz="1050" b="1">
                <a:latin typeface="微软雅黑" panose="020B0503020204020204" pitchFamily="34" charset="-122"/>
                <a:ea typeface="微软雅黑" panose="020B0503020204020204" pitchFamily="34" charset="-122"/>
              </a:endParaRPr>
            </a:p>
          </p:txBody>
        </p:sp>
        <p:sp>
          <p:nvSpPr>
            <p:cNvPr id="148" name="Text Box 47"/>
            <p:cNvSpPr txBox="1">
              <a:spLocks noChangeArrowheads="1"/>
            </p:cNvSpPr>
            <p:nvPr/>
          </p:nvSpPr>
          <p:spPr bwMode="auto">
            <a:xfrm>
              <a:off x="6249988" y="29797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endParaRPr kumimoji="1" lang="en-US" altLang="zh-CN" sz="1050" b="1">
                <a:latin typeface="微软雅黑" panose="020B0503020204020204" pitchFamily="34" charset="-122"/>
                <a:ea typeface="微软雅黑" panose="020B0503020204020204" pitchFamily="34" charset="-122"/>
              </a:endParaRPr>
            </a:p>
          </p:txBody>
        </p:sp>
        <p:sp>
          <p:nvSpPr>
            <p:cNvPr id="149" name="Text Box 47"/>
            <p:cNvSpPr txBox="1">
              <a:spLocks noChangeArrowheads="1"/>
            </p:cNvSpPr>
            <p:nvPr/>
          </p:nvSpPr>
          <p:spPr bwMode="auto">
            <a:xfrm>
              <a:off x="6134099" y="27432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endParaRPr kumimoji="1" lang="en-US" altLang="zh-CN" sz="1050" b="1">
                <a:latin typeface="微软雅黑" panose="020B0503020204020204" pitchFamily="34" charset="-122"/>
                <a:ea typeface="微软雅黑" panose="020B0503020204020204" pitchFamily="34" charset="-122"/>
              </a:endParaRPr>
            </a:p>
          </p:txBody>
        </p:sp>
        <p:sp>
          <p:nvSpPr>
            <p:cNvPr id="150" name="Text Box 47"/>
            <p:cNvSpPr txBox="1">
              <a:spLocks noChangeArrowheads="1"/>
            </p:cNvSpPr>
            <p:nvPr/>
          </p:nvSpPr>
          <p:spPr bwMode="auto">
            <a:xfrm>
              <a:off x="5943600" y="26289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endParaRPr kumimoji="1" lang="en-US" altLang="zh-CN" sz="1050" b="1">
                <a:latin typeface="微软雅黑" panose="020B0503020204020204" pitchFamily="34" charset="-122"/>
                <a:ea typeface="微软雅黑" panose="020B0503020204020204" pitchFamily="34" charset="-122"/>
              </a:endParaRPr>
            </a:p>
          </p:txBody>
        </p:sp>
        <p:sp>
          <p:nvSpPr>
            <p:cNvPr id="151" name="Text Box 47"/>
            <p:cNvSpPr txBox="1">
              <a:spLocks noChangeArrowheads="1"/>
            </p:cNvSpPr>
            <p:nvPr/>
          </p:nvSpPr>
          <p:spPr bwMode="auto">
            <a:xfrm>
              <a:off x="5829301" y="243046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endParaRPr kumimoji="1" lang="en-US" altLang="zh-CN" sz="1050" b="1">
                <a:latin typeface="微软雅黑" panose="020B0503020204020204" pitchFamily="34" charset="-122"/>
                <a:ea typeface="微软雅黑" panose="020B0503020204020204" pitchFamily="34" charset="-122"/>
              </a:endParaRPr>
            </a:p>
          </p:txBody>
        </p:sp>
        <p:sp>
          <p:nvSpPr>
            <p:cNvPr id="152" name="Text Box 47"/>
            <p:cNvSpPr txBox="1">
              <a:spLocks noChangeArrowheads="1"/>
            </p:cNvSpPr>
            <p:nvPr/>
          </p:nvSpPr>
          <p:spPr bwMode="auto">
            <a:xfrm>
              <a:off x="5715001" y="2179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endParaRPr kumimoji="1" lang="en-US" altLang="zh-CN" sz="1050" b="1">
                <a:latin typeface="微软雅黑" panose="020B0503020204020204" pitchFamily="34" charset="-122"/>
                <a:ea typeface="微软雅黑" panose="020B0503020204020204" pitchFamily="34" charset="-122"/>
              </a:endParaRPr>
            </a:p>
          </p:txBody>
        </p:sp>
        <p:sp>
          <p:nvSpPr>
            <p:cNvPr id="153" name="Text Box 47"/>
            <p:cNvSpPr txBox="1">
              <a:spLocks noChangeArrowheads="1"/>
            </p:cNvSpPr>
            <p:nvPr/>
          </p:nvSpPr>
          <p:spPr bwMode="auto">
            <a:xfrm>
              <a:off x="5715001" y="1897062"/>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endParaRPr kumimoji="1" lang="en-US" altLang="zh-CN" sz="1050" b="1">
                <a:latin typeface="微软雅黑" panose="020B0503020204020204" pitchFamily="34" charset="-122"/>
                <a:ea typeface="微软雅黑" panose="020B0503020204020204" pitchFamily="34" charset="-122"/>
              </a:endParaRPr>
            </a:p>
          </p:txBody>
        </p:sp>
        <p:sp>
          <p:nvSpPr>
            <p:cNvPr id="154" name="Text Box 47"/>
            <p:cNvSpPr txBox="1">
              <a:spLocks noChangeArrowheads="1"/>
            </p:cNvSpPr>
            <p:nvPr/>
          </p:nvSpPr>
          <p:spPr bwMode="auto">
            <a:xfrm>
              <a:off x="5715001" y="16383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endParaRPr kumimoji="1" lang="en-US" altLang="zh-CN" sz="1050" b="1">
                <a:latin typeface="微软雅黑" panose="020B0503020204020204" pitchFamily="34" charset="-122"/>
                <a:ea typeface="微软雅黑" panose="020B0503020204020204" pitchFamily="34" charset="-122"/>
              </a:endParaRPr>
            </a:p>
          </p:txBody>
        </p:sp>
        <p:sp>
          <p:nvSpPr>
            <p:cNvPr id="155" name="Text Box 47"/>
            <p:cNvSpPr txBox="1">
              <a:spLocks noChangeArrowheads="1"/>
            </p:cNvSpPr>
            <p:nvPr/>
          </p:nvSpPr>
          <p:spPr bwMode="auto">
            <a:xfrm>
              <a:off x="5813425" y="1417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endParaRPr kumimoji="1" lang="en-US" altLang="zh-CN" sz="1050" b="1">
                <a:latin typeface="微软雅黑" panose="020B0503020204020204" pitchFamily="34" charset="-122"/>
                <a:ea typeface="微软雅黑" panose="020B0503020204020204" pitchFamily="34" charset="-122"/>
              </a:endParaRPr>
            </a:p>
          </p:txBody>
        </p:sp>
        <p:sp>
          <p:nvSpPr>
            <p:cNvPr id="156" name="Text Box 47"/>
            <p:cNvSpPr txBox="1">
              <a:spLocks noChangeArrowheads="1"/>
            </p:cNvSpPr>
            <p:nvPr/>
          </p:nvSpPr>
          <p:spPr bwMode="auto">
            <a:xfrm>
              <a:off x="5919788" y="12414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endParaRPr kumimoji="1" lang="en-US" altLang="zh-CN" sz="1050" b="1">
                <a:latin typeface="微软雅黑" panose="020B0503020204020204" pitchFamily="34" charset="-122"/>
                <a:ea typeface="微软雅黑" panose="020B0503020204020204" pitchFamily="34" charset="-122"/>
              </a:endParaRPr>
            </a:p>
          </p:txBody>
        </p:sp>
        <p:sp>
          <p:nvSpPr>
            <p:cNvPr id="157" name="Text Box 47"/>
            <p:cNvSpPr txBox="1">
              <a:spLocks noChangeArrowheads="1"/>
            </p:cNvSpPr>
            <p:nvPr/>
          </p:nvSpPr>
          <p:spPr bwMode="auto">
            <a:xfrm>
              <a:off x="6011863" y="1036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endParaRPr kumimoji="1" lang="en-US" altLang="zh-CN" sz="1050" b="1">
                <a:latin typeface="微软雅黑" panose="020B0503020204020204" pitchFamily="34" charset="-122"/>
                <a:ea typeface="微软雅黑" panose="020B0503020204020204" pitchFamily="34" charset="-122"/>
              </a:endParaRPr>
            </a:p>
          </p:txBody>
        </p:sp>
        <p:sp>
          <p:nvSpPr>
            <p:cNvPr id="158" name="Text Box 47"/>
            <p:cNvSpPr txBox="1">
              <a:spLocks noChangeArrowheads="1"/>
            </p:cNvSpPr>
            <p:nvPr/>
          </p:nvSpPr>
          <p:spPr bwMode="auto">
            <a:xfrm>
              <a:off x="6224588" y="8842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endParaRPr kumimoji="1" lang="en-US" altLang="zh-CN" sz="1050" b="1">
                <a:latin typeface="微软雅黑" panose="020B0503020204020204" pitchFamily="34" charset="-122"/>
                <a:ea typeface="微软雅黑" panose="020B0503020204020204" pitchFamily="34" charset="-122"/>
              </a:endParaRPr>
            </a:p>
          </p:txBody>
        </p:sp>
        <p:sp>
          <p:nvSpPr>
            <p:cNvPr id="159" name="Text Box 47"/>
            <p:cNvSpPr txBox="1">
              <a:spLocks noChangeArrowheads="1"/>
            </p:cNvSpPr>
            <p:nvPr/>
          </p:nvSpPr>
          <p:spPr bwMode="auto">
            <a:xfrm>
              <a:off x="6438900" y="7762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endParaRPr kumimoji="1" lang="en-US" altLang="zh-CN" sz="1050" b="1">
                <a:latin typeface="微软雅黑" panose="020B0503020204020204" pitchFamily="34" charset="-122"/>
                <a:ea typeface="微软雅黑" panose="020B0503020204020204" pitchFamily="34" charset="-122"/>
              </a:endParaRPr>
            </a:p>
          </p:txBody>
        </p:sp>
        <p:sp>
          <p:nvSpPr>
            <p:cNvPr id="160" name="Text Box 47"/>
            <p:cNvSpPr txBox="1">
              <a:spLocks noChangeArrowheads="1"/>
            </p:cNvSpPr>
            <p:nvPr/>
          </p:nvSpPr>
          <p:spPr bwMode="auto">
            <a:xfrm>
              <a:off x="6713539" y="6619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endParaRPr kumimoji="1" lang="en-US" altLang="zh-CN" sz="1050" b="1">
                <a:latin typeface="微软雅黑" panose="020B0503020204020204" pitchFamily="34" charset="-122"/>
                <a:ea typeface="微软雅黑" panose="020B0503020204020204" pitchFamily="34" charset="-122"/>
              </a:endParaRPr>
            </a:p>
          </p:txBody>
        </p:sp>
        <p:sp>
          <p:nvSpPr>
            <p:cNvPr id="161" name="Text Box 71"/>
            <p:cNvSpPr txBox="1">
              <a:spLocks noChangeArrowheads="1"/>
            </p:cNvSpPr>
            <p:nvPr/>
          </p:nvSpPr>
          <p:spPr bwMode="auto">
            <a:xfrm>
              <a:off x="8702675" y="2239963"/>
              <a:ext cx="304800"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endParaRPr kumimoji="1" lang="en-US" altLang="zh-CN" sz="1100" b="1" dirty="0">
                <a:latin typeface="微软雅黑" panose="020B0503020204020204" pitchFamily="34" charset="-122"/>
                <a:ea typeface="微软雅黑" panose="020B0503020204020204" pitchFamily="34" charset="-122"/>
              </a:endParaRPr>
            </a:p>
          </p:txBody>
        </p:sp>
        <p:sp>
          <p:nvSpPr>
            <p:cNvPr id="162" name="Oval 53"/>
            <p:cNvSpPr>
              <a:spLocks noChangeArrowheads="1"/>
            </p:cNvSpPr>
            <p:nvPr/>
          </p:nvSpPr>
          <p:spPr bwMode="auto">
            <a:xfrm>
              <a:off x="8343900" y="1698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63" name="Text Box 47"/>
            <p:cNvSpPr txBox="1">
              <a:spLocks noChangeArrowheads="1"/>
            </p:cNvSpPr>
            <p:nvPr/>
          </p:nvSpPr>
          <p:spPr bwMode="auto">
            <a:xfrm>
              <a:off x="8534400" y="15922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endParaRPr kumimoji="1" lang="en-US" altLang="zh-CN" sz="1100" b="1">
                <a:latin typeface="微软雅黑" panose="020B0503020204020204" pitchFamily="34" charset="-122"/>
                <a:ea typeface="微软雅黑" panose="020B0503020204020204" pitchFamily="34" charset="-122"/>
              </a:endParaRPr>
            </a:p>
          </p:txBody>
        </p:sp>
        <p:sp>
          <p:nvSpPr>
            <p:cNvPr id="164" name="Text Box 47"/>
            <p:cNvSpPr txBox="1">
              <a:spLocks noChangeArrowheads="1"/>
            </p:cNvSpPr>
            <p:nvPr/>
          </p:nvSpPr>
          <p:spPr bwMode="auto">
            <a:xfrm>
              <a:off x="8474075" y="25066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endParaRPr kumimoji="1" lang="en-US" altLang="zh-CN" sz="1100" b="1" dirty="0">
                <a:latin typeface="微软雅黑" panose="020B0503020204020204" pitchFamily="34" charset="-122"/>
                <a:ea typeface="微软雅黑" panose="020B0503020204020204" pitchFamily="34" charset="-122"/>
              </a:endParaRPr>
            </a:p>
          </p:txBody>
        </p:sp>
        <p:sp>
          <p:nvSpPr>
            <p:cNvPr id="165" name="Text Box 47"/>
            <p:cNvSpPr txBox="1">
              <a:spLocks noChangeArrowheads="1"/>
            </p:cNvSpPr>
            <p:nvPr/>
          </p:nvSpPr>
          <p:spPr bwMode="auto">
            <a:xfrm>
              <a:off x="8153399" y="8763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endParaRPr kumimoji="1" lang="en-US" altLang="zh-CN" sz="1100" b="1">
                <a:latin typeface="微软雅黑" panose="020B0503020204020204" pitchFamily="34" charset="-122"/>
                <a:ea typeface="微软雅黑" panose="020B0503020204020204" pitchFamily="34" charset="-122"/>
              </a:endParaRPr>
            </a:p>
          </p:txBody>
        </p:sp>
        <p:sp>
          <p:nvSpPr>
            <p:cNvPr id="166" name="Text Box 47"/>
            <p:cNvSpPr txBox="1">
              <a:spLocks noChangeArrowheads="1"/>
            </p:cNvSpPr>
            <p:nvPr/>
          </p:nvSpPr>
          <p:spPr bwMode="auto">
            <a:xfrm>
              <a:off x="6218238" y="4111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endParaRPr kumimoji="1" lang="en-US" altLang="zh-CN" sz="1100" b="1" dirty="0">
                <a:latin typeface="微软雅黑" panose="020B0503020204020204" pitchFamily="34" charset="-122"/>
                <a:ea typeface="微软雅黑" panose="020B0503020204020204" pitchFamily="34" charset="-122"/>
              </a:endParaRPr>
            </a:p>
          </p:txBody>
        </p:sp>
        <p:sp>
          <p:nvSpPr>
            <p:cNvPr id="167" name="Text Box 47"/>
            <p:cNvSpPr txBox="1">
              <a:spLocks noChangeArrowheads="1"/>
            </p:cNvSpPr>
            <p:nvPr/>
          </p:nvSpPr>
          <p:spPr bwMode="auto">
            <a:xfrm>
              <a:off x="5600699" y="29797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endParaRPr kumimoji="1" lang="en-US" altLang="zh-CN" sz="1100" b="1">
                <a:latin typeface="微软雅黑" panose="020B0503020204020204" pitchFamily="34" charset="-122"/>
                <a:ea typeface="微软雅黑" panose="020B0503020204020204" pitchFamily="34" charset="-122"/>
              </a:endParaRPr>
            </a:p>
          </p:txBody>
        </p:sp>
        <p:sp>
          <p:nvSpPr>
            <p:cNvPr id="168" name="Text Box 71"/>
            <p:cNvSpPr txBox="1">
              <a:spLocks noChangeArrowheads="1"/>
            </p:cNvSpPr>
            <p:nvPr/>
          </p:nvSpPr>
          <p:spPr bwMode="auto">
            <a:xfrm>
              <a:off x="7688263" y="411163"/>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endParaRPr kumimoji="1" lang="en-US" altLang="zh-CN" sz="1100" b="1" dirty="0">
                <a:latin typeface="微软雅黑" panose="020B0503020204020204" pitchFamily="34" charset="-122"/>
                <a:ea typeface="微软雅黑" panose="020B0503020204020204" pitchFamily="34" charset="-122"/>
              </a:endParaRPr>
            </a:p>
          </p:txBody>
        </p:sp>
        <p:sp>
          <p:nvSpPr>
            <p:cNvPr id="169" name="Text Box 71"/>
            <p:cNvSpPr txBox="1">
              <a:spLocks noChangeArrowheads="1"/>
            </p:cNvSpPr>
            <p:nvPr/>
          </p:nvSpPr>
          <p:spPr bwMode="auto">
            <a:xfrm>
              <a:off x="5661023" y="693738"/>
              <a:ext cx="3968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endParaRPr kumimoji="1" lang="en-US" altLang="zh-CN" sz="1100" b="1" dirty="0">
                <a:latin typeface="微软雅黑" panose="020B0503020204020204" pitchFamily="34" charset="-122"/>
                <a:ea typeface="微软雅黑" panose="020B0503020204020204" pitchFamily="34" charset="-122"/>
              </a:endParaRPr>
            </a:p>
          </p:txBody>
        </p:sp>
        <p:sp>
          <p:nvSpPr>
            <p:cNvPr id="170" name="Text Box 71"/>
            <p:cNvSpPr txBox="1">
              <a:spLocks noChangeArrowheads="1"/>
            </p:cNvSpPr>
            <p:nvPr/>
          </p:nvSpPr>
          <p:spPr bwMode="auto">
            <a:xfrm>
              <a:off x="8077200" y="449264"/>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endParaRPr kumimoji="1" lang="en-US" altLang="zh-CN" sz="1100" b="1" dirty="0">
                <a:latin typeface="微软雅黑" panose="020B0503020204020204" pitchFamily="34" charset="-122"/>
                <a:ea typeface="微软雅黑" panose="020B0503020204020204" pitchFamily="34" charset="-122"/>
              </a:endParaRPr>
            </a:p>
          </p:txBody>
        </p:sp>
        <p:sp>
          <p:nvSpPr>
            <p:cNvPr id="171" name="Text Box 71"/>
            <p:cNvSpPr txBox="1">
              <a:spLocks noChangeArrowheads="1"/>
            </p:cNvSpPr>
            <p:nvPr/>
          </p:nvSpPr>
          <p:spPr bwMode="auto">
            <a:xfrm>
              <a:off x="8305800" y="3047999"/>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172" name="Text Box 71"/>
            <p:cNvSpPr txBox="1">
              <a:spLocks noChangeArrowheads="1"/>
            </p:cNvSpPr>
            <p:nvPr/>
          </p:nvSpPr>
          <p:spPr bwMode="auto">
            <a:xfrm>
              <a:off x="5426076" y="968375"/>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endParaRPr kumimoji="1" lang="en-US" altLang="zh-CN" sz="1100" b="1" dirty="0">
                <a:latin typeface="微软雅黑" panose="020B0503020204020204" pitchFamily="34" charset="-122"/>
                <a:ea typeface="微软雅黑" panose="020B0503020204020204" pitchFamily="34" charset="-122"/>
              </a:endParaRPr>
            </a:p>
          </p:txBody>
        </p:sp>
        <p:cxnSp>
          <p:nvCxnSpPr>
            <p:cNvPr id="173" name="直接箭头连接符 172"/>
            <p:cNvCxnSpPr>
              <a:endCxn id="119" idx="7"/>
            </p:cNvCxnSpPr>
            <p:nvPr/>
          </p:nvCxnSpPr>
          <p:spPr bwMode="auto">
            <a:xfrm flipH="1">
              <a:off x="8415338" y="2430463"/>
              <a:ext cx="287337" cy="1254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直接箭头连接符 173"/>
            <p:cNvCxnSpPr/>
            <p:nvPr/>
          </p:nvCxnSpPr>
          <p:spPr bwMode="auto">
            <a:xfrm>
              <a:off x="7886700" y="677863"/>
              <a:ext cx="139700" cy="3159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直接箭头连接符 174"/>
            <p:cNvCxnSpPr/>
            <p:nvPr/>
          </p:nvCxnSpPr>
          <p:spPr bwMode="auto">
            <a:xfrm flipH="1">
              <a:off x="8085138" y="711200"/>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6" name="直接箭头连接符 175"/>
            <p:cNvCxnSpPr/>
            <p:nvPr/>
          </p:nvCxnSpPr>
          <p:spPr bwMode="auto">
            <a:xfrm flipV="1">
              <a:off x="5768975" y="762000"/>
              <a:ext cx="708025" cy="2968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直接箭头连接符 176"/>
            <p:cNvCxnSpPr>
              <a:stCxn id="171" idx="1"/>
            </p:cNvCxnSpPr>
            <p:nvPr/>
          </p:nvCxnSpPr>
          <p:spPr bwMode="auto">
            <a:xfrm flipH="1">
              <a:off x="7902576" y="3155679"/>
              <a:ext cx="403224" cy="7488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8" name="直接箭头连接符 177"/>
            <p:cNvCxnSpPr/>
            <p:nvPr/>
          </p:nvCxnSpPr>
          <p:spPr bwMode="auto">
            <a:xfrm flipV="1">
              <a:off x="6103938" y="738188"/>
              <a:ext cx="342900" cy="5556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9" name="Text Box 47"/>
            <p:cNvSpPr txBox="1">
              <a:spLocks noChangeArrowheads="1"/>
            </p:cNvSpPr>
            <p:nvPr/>
          </p:nvSpPr>
          <p:spPr bwMode="auto">
            <a:xfrm>
              <a:off x="5797294" y="3657600"/>
              <a:ext cx="2630707"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a:t>
              </a:r>
              <a:r>
                <a:rPr kumimoji="1" lang="en-US" altLang="zh-CN" sz="1400" b="1" dirty="0" smtClean="0">
                  <a:latin typeface="微软雅黑" panose="020B0503020204020204" pitchFamily="34" charset="-122"/>
                  <a:ea typeface="微软雅黑" panose="020B0503020204020204" pitchFamily="34" charset="-122"/>
                </a:rPr>
                <a:t>N13 </a:t>
              </a:r>
              <a:r>
                <a:rPr kumimoji="1" lang="zh-CN" altLang="en-US" sz="1400" b="1" dirty="0" smtClean="0">
                  <a:latin typeface="微软雅黑" panose="020B0503020204020204" pitchFamily="34" charset="-122"/>
                  <a:ea typeface="微软雅黑" panose="020B0503020204020204" pitchFamily="34" charset="-122"/>
                </a:rPr>
                <a:t>加入</a:t>
              </a:r>
              <a:r>
                <a:rPr kumimoji="1" lang="zh-CN" altLang="en-US" sz="1400" b="1" dirty="0">
                  <a:latin typeface="微软雅黑" panose="020B0503020204020204" pitchFamily="34" charset="-122"/>
                  <a:ea typeface="微软雅黑" panose="020B0503020204020204" pitchFamily="34" charset="-122"/>
                </a:rPr>
                <a:t>，</a:t>
              </a:r>
              <a:r>
                <a:rPr kumimoji="1" lang="en-US" altLang="zh-CN" sz="1400" b="1" dirty="0" smtClean="0">
                  <a:latin typeface="微软雅黑" panose="020B0503020204020204" pitchFamily="34" charset="-122"/>
                  <a:ea typeface="微软雅黑" panose="020B0503020204020204" pitchFamily="34" charset="-122"/>
                </a:rPr>
                <a:t>N26 </a:t>
              </a:r>
              <a:r>
                <a:rPr kumimoji="1" lang="zh-CN" altLang="en-US" sz="1400" b="1" dirty="0" smtClean="0">
                  <a:latin typeface="微软雅黑" panose="020B0503020204020204" pitchFamily="34" charset="-122"/>
                  <a:ea typeface="微软雅黑" panose="020B0503020204020204" pitchFamily="34" charset="-122"/>
                </a:rPr>
                <a:t>退出</a:t>
              </a:r>
              <a:r>
                <a:rPr kumimoji="1" lang="en-US" altLang="zh-CN" sz="1400" b="1" dirty="0" smtClean="0">
                  <a:latin typeface="微软雅黑" panose="020B0503020204020204" pitchFamily="34" charset="-122"/>
                  <a:ea typeface="微软雅黑" panose="020B0503020204020204" pitchFamily="34" charset="-122"/>
                </a:rPr>
                <a:t> </a:t>
              </a:r>
              <a:endParaRPr kumimoji="1" lang="en-US" altLang="zh-CN" sz="1400" b="1" dirty="0">
                <a:latin typeface="微软雅黑" panose="020B0503020204020204" pitchFamily="34" charset="-122"/>
                <a:ea typeface="微软雅黑" panose="020B0503020204020204" pitchFamily="34" charset="-122"/>
              </a:endParaRPr>
            </a:p>
          </p:txBody>
        </p:sp>
        <p:sp>
          <p:nvSpPr>
            <p:cNvPr id="180" name="Oval 52"/>
            <p:cNvSpPr>
              <a:spLocks noChangeArrowheads="1"/>
            </p:cNvSpPr>
            <p:nvPr/>
          </p:nvSpPr>
          <p:spPr bwMode="auto">
            <a:xfrm>
              <a:off x="7764463" y="316230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81" name="Oval 51"/>
            <p:cNvSpPr>
              <a:spLocks noChangeArrowheads="1"/>
            </p:cNvSpPr>
            <p:nvPr/>
          </p:nvSpPr>
          <p:spPr bwMode="auto">
            <a:xfrm>
              <a:off x="5707063" y="14938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2783302" y="1062034"/>
            <a:ext cx="5868157" cy="32655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37582" y="575320"/>
            <a:ext cx="3687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通过指针表</a:t>
            </a:r>
            <a:r>
              <a:rPr lang="zh-CN" altLang="en-US" sz="2000" b="1" dirty="0">
                <a:solidFill>
                  <a:srgbClr val="FFC000"/>
                </a:solidFill>
                <a:latin typeface="微软雅黑" panose="020B0503020204020204" pitchFamily="34" charset="-122"/>
                <a:ea typeface="微软雅黑" panose="020B0503020204020204" pitchFamily="34" charset="-122"/>
              </a:rPr>
              <a:t>加速</a:t>
            </a:r>
            <a:r>
              <a:rPr lang="zh-CN" altLang="en-US" sz="2000" b="1" dirty="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表查找</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Rectangle 68"/>
          <p:cNvSpPr>
            <a:spLocks noChangeArrowheads="1"/>
          </p:cNvSpPr>
          <p:nvPr/>
        </p:nvSpPr>
        <p:spPr bwMode="auto">
          <a:xfrm>
            <a:off x="367334" y="1022889"/>
            <a:ext cx="2457313" cy="32085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73050" indent="-273050" eaLnBrk="0" hangingPunct="0">
              <a:lnSpc>
                <a:spcPts val="2700"/>
              </a:lnSpc>
              <a:buClr>
                <a:srgbClr val="0070C0"/>
              </a:buClr>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为了加速查找，在 </a:t>
            </a:r>
            <a:r>
              <a:rPr lang="en-US" altLang="zh-CN" sz="1600" b="1" dirty="0">
                <a:latin typeface="微软雅黑" panose="020B0503020204020204" pitchFamily="34" charset="-122"/>
                <a:ea typeface="微软雅黑" panose="020B0503020204020204" pitchFamily="34" charset="-122"/>
              </a:rPr>
              <a:t>Chord </a:t>
            </a:r>
            <a:r>
              <a:rPr lang="zh-CN" altLang="en-US" sz="1600" b="1" dirty="0">
                <a:latin typeface="微软雅黑" panose="020B0503020204020204" pitchFamily="34" charset="-122"/>
                <a:ea typeface="微软雅黑" panose="020B0503020204020204" pitchFamily="34" charset="-122"/>
              </a:rPr>
              <a:t>环上可以增加一些</a:t>
            </a:r>
            <a:r>
              <a:rPr lang="zh-CN" altLang="en-US" sz="1600" b="1" dirty="0">
                <a:solidFill>
                  <a:srgbClr val="0000FF"/>
                </a:solidFill>
                <a:latin typeface="微软雅黑" panose="020B0503020204020204" pitchFamily="34" charset="-122"/>
                <a:ea typeface="微软雅黑" panose="020B0503020204020204" pitchFamily="34" charset="-122"/>
              </a:rPr>
              <a:t>指针表</a:t>
            </a:r>
            <a:r>
              <a:rPr lang="en-US" altLang="zh-CN" sz="1600" b="1" dirty="0">
                <a:latin typeface="微软雅黑" panose="020B0503020204020204" pitchFamily="34" charset="-122"/>
                <a:ea typeface="微软雅黑" panose="020B0503020204020204" pitchFamily="34" charset="-122"/>
              </a:rPr>
              <a:t>(finger table)</a:t>
            </a:r>
            <a:r>
              <a:rPr lang="zh-CN" altLang="en-US" sz="1600" b="1" dirty="0" smtClean="0">
                <a:latin typeface="微软雅黑" panose="020B0503020204020204" pitchFamily="34" charset="-122"/>
                <a:ea typeface="微软雅黑" panose="020B0503020204020204" pitchFamily="34" charset="-122"/>
              </a:rPr>
              <a:t>，又</a:t>
            </a:r>
            <a:r>
              <a:rPr lang="zh-CN" altLang="en-US" sz="1600" b="1" dirty="0">
                <a:latin typeface="微软雅黑" panose="020B0503020204020204" pitchFamily="34" charset="-122"/>
                <a:ea typeface="微软雅黑" panose="020B0503020204020204" pitchFamily="34" charset="-122"/>
              </a:rPr>
              <a:t>称为</a:t>
            </a:r>
            <a:r>
              <a:rPr lang="zh-CN" altLang="en-US" sz="1600" b="1" dirty="0">
                <a:solidFill>
                  <a:srgbClr val="0000FF"/>
                </a:solidFill>
                <a:latin typeface="微软雅黑" panose="020B0503020204020204" pitchFamily="34" charset="-122"/>
                <a:ea typeface="微软雅黑" panose="020B0503020204020204" pitchFamily="34" charset="-122"/>
              </a:rPr>
              <a:t>路由表</a:t>
            </a:r>
            <a:r>
              <a:rPr lang="zh-CN" altLang="en-US" sz="1600" b="1" dirty="0">
                <a:latin typeface="微软雅黑" panose="020B0503020204020204" pitchFamily="34" charset="-122"/>
                <a:ea typeface="微软雅黑" panose="020B0503020204020204" pitchFamily="34" charset="-122"/>
              </a:rPr>
              <a:t>或</a:t>
            </a:r>
            <a:r>
              <a:rPr lang="zh-CN" altLang="en-US" sz="1600" b="1" dirty="0">
                <a:solidFill>
                  <a:srgbClr val="0000FF"/>
                </a:solidFill>
                <a:latin typeface="微软雅黑" panose="020B0503020204020204" pitchFamily="34" charset="-122"/>
                <a:ea typeface="微软雅黑" panose="020B0503020204020204" pitchFamily="34" charset="-122"/>
              </a:rPr>
              <a:t>查找器表。</a:t>
            </a:r>
            <a:endParaRPr lang="zh-CN" altLang="en-US" sz="1600" b="1" dirty="0">
              <a:solidFill>
                <a:srgbClr val="0000FF"/>
              </a:solidFill>
              <a:latin typeface="微软雅黑" panose="020B0503020204020204" pitchFamily="34" charset="-122"/>
              <a:ea typeface="微软雅黑" panose="020B0503020204020204" pitchFamily="34" charset="-122"/>
            </a:endParaRPr>
          </a:p>
          <a:p>
            <a:pPr marL="273050" indent="-273050" eaLnBrk="0" hangingPunct="0">
              <a:lnSpc>
                <a:spcPts val="27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对于结点 </a:t>
            </a:r>
            <a:r>
              <a:rPr lang="en-US" altLang="zh-CN" sz="1600" b="1" dirty="0" smtClean="0">
                <a:latin typeface="微软雅黑" panose="020B0503020204020204" pitchFamily="34" charset="-122"/>
                <a:ea typeface="微软雅黑" panose="020B0503020204020204" pitchFamily="34" charset="-122"/>
              </a:rPr>
              <a:t>N4</a:t>
            </a:r>
            <a:r>
              <a:rPr lang="zh-CN" altLang="en-US" sz="1600" b="1" dirty="0" smtClean="0">
                <a:latin typeface="微软雅黑" panose="020B0503020204020204" pitchFamily="34" charset="-122"/>
                <a:ea typeface="微软雅黑" panose="020B0503020204020204" pitchFamily="34" charset="-122"/>
              </a:rPr>
              <a:t>，其指针表的第 </a:t>
            </a:r>
            <a:r>
              <a:rPr lang="en-US" altLang="zh-CN" sz="1600" b="1" dirty="0" smtClean="0">
                <a:latin typeface="微软雅黑" panose="020B0503020204020204" pitchFamily="34" charset="-122"/>
                <a:ea typeface="微软雅黑" panose="020B0503020204020204" pitchFamily="34" charset="-122"/>
              </a:rPr>
              <a:t>2 </a:t>
            </a:r>
            <a:r>
              <a:rPr lang="zh-CN" altLang="en-US" sz="1600" b="1" dirty="0">
                <a:latin typeface="微软雅黑" panose="020B0503020204020204" pitchFamily="34" charset="-122"/>
                <a:ea typeface="微软雅黑" panose="020B0503020204020204" pitchFamily="34" charset="-122"/>
              </a:rPr>
              <a:t>列第 </a:t>
            </a:r>
            <a:r>
              <a:rPr lang="en-US" altLang="zh-CN" sz="1600" b="1" i="1" dirty="0" err="1">
                <a:latin typeface="微软雅黑" panose="020B0503020204020204" pitchFamily="34" charset="-122"/>
                <a:ea typeface="微软雅黑" panose="020B0503020204020204" pitchFamily="34" charset="-122"/>
              </a:rPr>
              <a:t>i</a:t>
            </a:r>
            <a:r>
              <a:rPr lang="en-US" altLang="zh-CN" sz="1600" b="1" i="1" dirty="0">
                <a:latin typeface="微软雅黑" panose="020B0503020204020204" pitchFamily="34" charset="-122"/>
                <a:ea typeface="微软雅黑" panose="020B0503020204020204" pitchFamily="34" charset="-122"/>
              </a:rPr>
              <a:t> </a:t>
            </a:r>
            <a:r>
              <a:rPr lang="en-US" altLang="zh-CN" sz="1600" b="1" i="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行根据（</a:t>
            </a:r>
            <a:r>
              <a:rPr lang="en-US" altLang="zh-CN" sz="1600" b="1" dirty="0">
                <a:latin typeface="微软雅黑" panose="020B0503020204020204" pitchFamily="34" charset="-122"/>
                <a:ea typeface="微软雅黑" panose="020B0503020204020204" pitchFamily="34" charset="-122"/>
              </a:rPr>
              <a:t>N4 + 2</a:t>
            </a:r>
            <a:r>
              <a:rPr lang="en-US" altLang="zh-CN" sz="1600" b="1" i="1" baseline="30000" dirty="0">
                <a:latin typeface="微软雅黑" panose="020B0503020204020204" pitchFamily="34" charset="-122"/>
                <a:ea typeface="微软雅黑" panose="020B0503020204020204" pitchFamily="34" charset="-122"/>
              </a:rPr>
              <a:t>i – 1</a:t>
            </a:r>
            <a:r>
              <a:rPr lang="zh-CN" altLang="en-US" sz="1600" b="1" dirty="0">
                <a:latin typeface="微软雅黑" panose="020B0503020204020204" pitchFamily="34" charset="-122"/>
                <a:ea typeface="微软雅黑" panose="020B0503020204020204" pitchFamily="34" charset="-122"/>
              </a:rPr>
              <a:t>）计算得出</a:t>
            </a:r>
            <a:r>
              <a:rPr lang="zh-CN" altLang="en-US" sz="1600" b="1" dirty="0" smtClean="0">
                <a:latin typeface="微软雅黑" panose="020B0503020204020204" pitchFamily="34" charset="-122"/>
                <a:ea typeface="微软雅黑" panose="020B0503020204020204" pitchFamily="34" charset="-122"/>
              </a:rPr>
              <a:t>其</a:t>
            </a:r>
            <a:r>
              <a:rPr lang="zh-CN" altLang="en-US" sz="1600" b="1" dirty="0" smtClean="0">
                <a:solidFill>
                  <a:srgbClr val="0000FF"/>
                </a:solidFill>
                <a:latin typeface="微软雅黑" panose="020B0503020204020204" pitchFamily="34" charset="-122"/>
                <a:ea typeface="微软雅黑" panose="020B0503020204020204" pitchFamily="34" charset="-122"/>
              </a:rPr>
              <a:t>后继</a:t>
            </a:r>
            <a:r>
              <a:rPr lang="zh-CN" altLang="en-US" sz="1600" b="1" dirty="0">
                <a:solidFill>
                  <a:srgbClr val="0000FF"/>
                </a:solidFill>
                <a:latin typeface="微软雅黑" panose="020B0503020204020204" pitchFamily="34" charset="-122"/>
                <a:ea typeface="微软雅黑" panose="020B0503020204020204" pitchFamily="34" charset="-122"/>
              </a:rPr>
              <a:t>结点。</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2951985" y="1278383"/>
            <a:ext cx="5653754" cy="2840854"/>
            <a:chOff x="152399" y="419100"/>
            <a:chExt cx="7000772" cy="3554168"/>
          </a:xfrm>
        </p:grpSpPr>
        <p:sp>
          <p:nvSpPr>
            <p:cNvPr id="8" name="任意多边形 7"/>
            <p:cNvSpPr/>
            <p:nvPr/>
          </p:nvSpPr>
          <p:spPr>
            <a:xfrm>
              <a:off x="1703388" y="2362200"/>
              <a:ext cx="628650" cy="1282700"/>
            </a:xfrm>
            <a:custGeom>
              <a:avLst/>
              <a:gdLst>
                <a:gd name="connsiteX0" fmla="*/ 0 w 629174"/>
                <a:gd name="connsiteY0" fmla="*/ 0 h 1283516"/>
                <a:gd name="connsiteX1" fmla="*/ 629174 w 629174"/>
                <a:gd name="connsiteY1" fmla="*/ 700481 h 1283516"/>
                <a:gd name="connsiteX2" fmla="*/ 0 w 629174"/>
                <a:gd name="connsiteY2" fmla="*/ 1283516 h 1283516"/>
                <a:gd name="connsiteX3" fmla="*/ 0 w 629174"/>
                <a:gd name="connsiteY3" fmla="*/ 0 h 1283516"/>
              </a:gdLst>
              <a:ahLst/>
              <a:cxnLst>
                <a:cxn ang="0">
                  <a:pos x="connsiteX0" y="connsiteY0"/>
                </a:cxn>
                <a:cxn ang="0">
                  <a:pos x="connsiteX1" y="connsiteY1"/>
                </a:cxn>
                <a:cxn ang="0">
                  <a:pos x="connsiteX2" y="connsiteY2"/>
                </a:cxn>
                <a:cxn ang="0">
                  <a:pos x="connsiteX3" y="connsiteY3"/>
                </a:cxn>
              </a:cxnLst>
              <a:rect l="l" t="t" r="r" b="b"/>
              <a:pathLst>
                <a:path w="629174" h="1283516">
                  <a:moveTo>
                    <a:pt x="0" y="0"/>
                  </a:moveTo>
                  <a:lnTo>
                    <a:pt x="629174" y="700481"/>
                  </a:lnTo>
                  <a:lnTo>
                    <a:pt x="0" y="1283516"/>
                  </a:lnTo>
                  <a:lnTo>
                    <a:pt x="0" y="0"/>
                  </a:lnTo>
                  <a:close/>
                </a:path>
              </a:pathLst>
            </a:custGeom>
            <a:gradFill flip="none" rotWithShape="1">
              <a:gsLst>
                <a:gs pos="0">
                  <a:schemeClr val="bg2">
                    <a:lumMod val="20000"/>
                    <a:lumOff val="80000"/>
                    <a:shade val="30000"/>
                    <a:satMod val="115000"/>
                  </a:schemeClr>
                </a:gs>
                <a:gs pos="50000">
                  <a:schemeClr val="bg2">
                    <a:lumMod val="20000"/>
                    <a:lumOff val="80000"/>
                    <a:shade val="67500"/>
                    <a:satMod val="115000"/>
                  </a:schemeClr>
                </a:gs>
                <a:gs pos="100000">
                  <a:schemeClr val="bg2">
                    <a:lumMod val="20000"/>
                    <a:lumOff val="80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228600" y="533400"/>
              <a:ext cx="715963"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000" b="1">
                  <a:latin typeface="微软雅黑" panose="020B0503020204020204" pitchFamily="34" charset="-122"/>
                  <a:ea typeface="微软雅黑" panose="020B0503020204020204" pitchFamily="34" charset="-122"/>
                </a:rPr>
                <a:t>图例：</a:t>
              </a:r>
              <a:endParaRPr kumimoji="1" lang="zh-CN" altLang="en-US" sz="1000" b="1">
                <a:latin typeface="微软雅黑" panose="020B0503020204020204" pitchFamily="34" charset="-122"/>
                <a:ea typeface="微软雅黑" panose="020B0503020204020204" pitchFamily="34" charset="-122"/>
              </a:endParaRPr>
            </a:p>
          </p:txBody>
        </p:sp>
        <p:sp>
          <p:nvSpPr>
            <p:cNvPr id="10" name="Text Box 47"/>
            <p:cNvSpPr txBox="1">
              <a:spLocks noChangeArrowheads="1"/>
            </p:cNvSpPr>
            <p:nvPr/>
          </p:nvSpPr>
          <p:spPr bwMode="auto">
            <a:xfrm>
              <a:off x="1127125" y="533400"/>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NID</a:t>
              </a:r>
              <a:endParaRPr kumimoji="1" lang="en-US" altLang="zh-CN" sz="1000" b="1">
                <a:latin typeface="微软雅黑" panose="020B0503020204020204" pitchFamily="34" charset="-122"/>
                <a:ea typeface="微软雅黑" panose="020B0503020204020204" pitchFamily="34" charset="-122"/>
              </a:endParaRPr>
            </a:p>
          </p:txBody>
        </p:sp>
        <p:sp>
          <p:nvSpPr>
            <p:cNvPr id="11" name="Oval 53"/>
            <p:cNvSpPr>
              <a:spLocks noChangeArrowheads="1"/>
            </p:cNvSpPr>
            <p:nvPr/>
          </p:nvSpPr>
          <p:spPr bwMode="auto">
            <a:xfrm>
              <a:off x="876300" y="6254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2" name="Text Box 71"/>
            <p:cNvSpPr txBox="1">
              <a:spLocks noChangeArrowheads="1"/>
            </p:cNvSpPr>
            <p:nvPr/>
          </p:nvSpPr>
          <p:spPr bwMode="auto">
            <a:xfrm>
              <a:off x="854075" y="860425"/>
              <a:ext cx="190500" cy="206745"/>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endParaRPr kumimoji="1" lang="en-US" altLang="zh-CN" sz="900" b="1" dirty="0">
                <a:latin typeface="微软雅黑" panose="020B0503020204020204" pitchFamily="34" charset="-122"/>
                <a:ea typeface="微软雅黑" panose="020B0503020204020204" pitchFamily="34" charset="-122"/>
              </a:endParaRPr>
            </a:p>
          </p:txBody>
        </p:sp>
        <p:sp>
          <p:nvSpPr>
            <p:cNvPr id="13" name="Text Box 47"/>
            <p:cNvSpPr txBox="1">
              <a:spLocks noChangeArrowheads="1"/>
            </p:cNvSpPr>
            <p:nvPr/>
          </p:nvSpPr>
          <p:spPr bwMode="auto">
            <a:xfrm>
              <a:off x="1143001" y="819401"/>
              <a:ext cx="380999" cy="367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KID</a:t>
              </a:r>
              <a:endParaRPr kumimoji="1" lang="en-US" altLang="zh-CN" sz="1000" b="1" dirty="0">
                <a:latin typeface="微软雅黑" panose="020B0503020204020204" pitchFamily="34" charset="-122"/>
                <a:ea typeface="微软雅黑" panose="020B0503020204020204" pitchFamily="34" charset="-122"/>
              </a:endParaRPr>
            </a:p>
          </p:txBody>
        </p:sp>
        <p:sp>
          <p:nvSpPr>
            <p:cNvPr id="14" name="矩形 13"/>
            <p:cNvSpPr/>
            <p:nvPr/>
          </p:nvSpPr>
          <p:spPr bwMode="auto">
            <a:xfrm>
              <a:off x="266700" y="519113"/>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5" name="Oval 20"/>
            <p:cNvSpPr>
              <a:spLocks noChangeArrowheads="1"/>
            </p:cNvSpPr>
            <p:nvPr/>
          </p:nvSpPr>
          <p:spPr bwMode="auto">
            <a:xfrm>
              <a:off x="1987550" y="654050"/>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6" name="Text Box 31"/>
            <p:cNvSpPr txBox="1">
              <a:spLocks noChangeArrowheads="1"/>
            </p:cNvSpPr>
            <p:nvPr/>
          </p:nvSpPr>
          <p:spPr bwMode="auto">
            <a:xfrm>
              <a:off x="3263900" y="654050"/>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0</a:t>
              </a:r>
              <a:endParaRPr kumimoji="1" lang="en-US" altLang="zh-CN" sz="900" b="1">
                <a:latin typeface="微软雅黑" panose="020B0503020204020204" pitchFamily="34" charset="-122"/>
                <a:ea typeface="微软雅黑" panose="020B0503020204020204" pitchFamily="34" charset="-122"/>
              </a:endParaRPr>
            </a:p>
          </p:txBody>
        </p:sp>
        <p:sp>
          <p:nvSpPr>
            <p:cNvPr id="17" name="Text Box 33"/>
            <p:cNvSpPr txBox="1">
              <a:spLocks noChangeArrowheads="1"/>
            </p:cNvSpPr>
            <p:nvPr/>
          </p:nvSpPr>
          <p:spPr bwMode="auto">
            <a:xfrm>
              <a:off x="3519487" y="67627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a:t>
              </a:r>
              <a:endParaRPr kumimoji="1" lang="en-US" altLang="zh-CN" sz="900" b="1">
                <a:latin typeface="微软雅黑" panose="020B0503020204020204" pitchFamily="34" charset="-122"/>
                <a:ea typeface="微软雅黑" panose="020B0503020204020204" pitchFamily="34" charset="-122"/>
              </a:endParaRPr>
            </a:p>
          </p:txBody>
        </p:sp>
        <p:sp>
          <p:nvSpPr>
            <p:cNvPr id="18" name="Text Box 34"/>
            <p:cNvSpPr txBox="1">
              <a:spLocks noChangeArrowheads="1"/>
            </p:cNvSpPr>
            <p:nvPr/>
          </p:nvSpPr>
          <p:spPr bwMode="auto">
            <a:xfrm>
              <a:off x="3754438" y="72866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a:t>
              </a:r>
              <a:endParaRPr kumimoji="1" lang="en-US" altLang="zh-CN" sz="9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3997325" y="85248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a:t>
              </a:r>
              <a:endParaRPr kumimoji="1" lang="en-US" altLang="zh-CN" sz="900" b="1">
                <a:latin typeface="微软雅黑" panose="020B0503020204020204" pitchFamily="34" charset="-122"/>
                <a:ea typeface="微软雅黑" panose="020B0503020204020204" pitchFamily="34" charset="-122"/>
              </a:endParaRPr>
            </a:p>
          </p:txBody>
        </p:sp>
        <p:sp>
          <p:nvSpPr>
            <p:cNvPr id="20" name="Text Box 36"/>
            <p:cNvSpPr txBox="1">
              <a:spLocks noChangeArrowheads="1"/>
            </p:cNvSpPr>
            <p:nvPr/>
          </p:nvSpPr>
          <p:spPr bwMode="auto">
            <a:xfrm>
              <a:off x="4152898" y="102869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4</a:t>
              </a:r>
              <a:endParaRPr kumimoji="1" lang="en-US" altLang="zh-CN" sz="900" b="1">
                <a:latin typeface="微软雅黑" panose="020B0503020204020204" pitchFamily="34" charset="-122"/>
                <a:ea typeface="微软雅黑" panose="020B0503020204020204" pitchFamily="34" charset="-122"/>
              </a:endParaRPr>
            </a:p>
          </p:txBody>
        </p:sp>
        <p:sp>
          <p:nvSpPr>
            <p:cNvPr id="21" name="Text Box 37"/>
            <p:cNvSpPr txBox="1">
              <a:spLocks noChangeArrowheads="1"/>
            </p:cNvSpPr>
            <p:nvPr/>
          </p:nvSpPr>
          <p:spPr bwMode="auto">
            <a:xfrm>
              <a:off x="4303712" y="11763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5</a:t>
              </a:r>
              <a:endParaRPr kumimoji="1" lang="en-US" altLang="zh-CN" sz="900" b="1">
                <a:latin typeface="微软雅黑" panose="020B0503020204020204" pitchFamily="34" charset="-122"/>
                <a:ea typeface="微软雅黑" panose="020B0503020204020204" pitchFamily="34" charset="-122"/>
              </a:endParaRPr>
            </a:p>
          </p:txBody>
        </p:sp>
        <p:sp>
          <p:nvSpPr>
            <p:cNvPr id="22" name="Text Box 38"/>
            <p:cNvSpPr txBox="1">
              <a:spLocks noChangeArrowheads="1"/>
            </p:cNvSpPr>
            <p:nvPr/>
          </p:nvSpPr>
          <p:spPr bwMode="auto">
            <a:xfrm>
              <a:off x="4435474" y="13604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6</a:t>
              </a:r>
              <a:endParaRPr kumimoji="1" lang="en-US" altLang="zh-CN" sz="900" b="1">
                <a:latin typeface="微软雅黑" panose="020B0503020204020204" pitchFamily="34" charset="-122"/>
                <a:ea typeface="微软雅黑" panose="020B0503020204020204" pitchFamily="34" charset="-122"/>
              </a:endParaRPr>
            </a:p>
          </p:txBody>
        </p:sp>
        <p:sp>
          <p:nvSpPr>
            <p:cNvPr id="23" name="Text Box 39"/>
            <p:cNvSpPr txBox="1">
              <a:spLocks noChangeArrowheads="1"/>
            </p:cNvSpPr>
            <p:nvPr/>
          </p:nvSpPr>
          <p:spPr bwMode="auto">
            <a:xfrm>
              <a:off x="4502150" y="163512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7</a:t>
              </a:r>
              <a:endParaRPr kumimoji="1" lang="en-US" altLang="zh-CN" sz="900" b="1">
                <a:latin typeface="微软雅黑" panose="020B0503020204020204" pitchFamily="34" charset="-122"/>
                <a:ea typeface="微软雅黑" panose="020B0503020204020204" pitchFamily="34" charset="-122"/>
              </a:endParaRPr>
            </a:p>
          </p:txBody>
        </p:sp>
        <p:sp>
          <p:nvSpPr>
            <p:cNvPr id="24" name="Text Box 40"/>
            <p:cNvSpPr txBox="1">
              <a:spLocks noChangeArrowheads="1"/>
            </p:cNvSpPr>
            <p:nvPr/>
          </p:nvSpPr>
          <p:spPr bwMode="auto">
            <a:xfrm>
              <a:off x="4543426" y="18494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8</a:t>
              </a:r>
              <a:endParaRPr kumimoji="1" lang="en-US" altLang="zh-CN" sz="9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4538665" y="20970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9</a:t>
              </a:r>
              <a:endParaRPr kumimoji="1" lang="en-US" altLang="zh-CN" sz="9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479926" y="23447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10</a:t>
              </a:r>
              <a:endParaRPr kumimoji="1" lang="en-US" altLang="zh-CN" sz="900" b="1">
                <a:latin typeface="微软雅黑" panose="020B0503020204020204" pitchFamily="34" charset="-122"/>
                <a:ea typeface="微软雅黑" panose="020B0503020204020204" pitchFamily="34" charset="-122"/>
              </a:endParaRPr>
            </a:p>
          </p:txBody>
        </p:sp>
        <p:sp>
          <p:nvSpPr>
            <p:cNvPr id="27" name="Text Box 43"/>
            <p:cNvSpPr txBox="1">
              <a:spLocks noChangeArrowheads="1"/>
            </p:cNvSpPr>
            <p:nvPr/>
          </p:nvSpPr>
          <p:spPr bwMode="auto">
            <a:xfrm>
              <a:off x="4357688" y="25701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11</a:t>
              </a:r>
              <a:endParaRPr kumimoji="1" lang="en-US" altLang="zh-CN" sz="900" b="1">
                <a:latin typeface="微软雅黑" panose="020B0503020204020204" pitchFamily="34" charset="-122"/>
                <a:ea typeface="微软雅黑" panose="020B0503020204020204" pitchFamily="34" charset="-122"/>
              </a:endParaRPr>
            </a:p>
          </p:txBody>
        </p:sp>
        <p:sp>
          <p:nvSpPr>
            <p:cNvPr id="28" name="Text Box 44"/>
            <p:cNvSpPr txBox="1">
              <a:spLocks noChangeArrowheads="1"/>
            </p:cNvSpPr>
            <p:nvPr/>
          </p:nvSpPr>
          <p:spPr bwMode="auto">
            <a:xfrm>
              <a:off x="4179888" y="27955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12</a:t>
              </a:r>
              <a:endParaRPr kumimoji="1" lang="en-US" altLang="zh-CN" sz="900" b="1">
                <a:latin typeface="微软雅黑" panose="020B0503020204020204" pitchFamily="34" charset="-122"/>
                <a:ea typeface="微软雅黑" panose="020B0503020204020204" pitchFamily="34" charset="-122"/>
              </a:endParaRPr>
            </a:p>
          </p:txBody>
        </p:sp>
        <p:sp>
          <p:nvSpPr>
            <p:cNvPr id="29" name="Text Box 45"/>
            <p:cNvSpPr txBox="1">
              <a:spLocks noChangeArrowheads="1"/>
            </p:cNvSpPr>
            <p:nvPr/>
          </p:nvSpPr>
          <p:spPr bwMode="auto">
            <a:xfrm>
              <a:off x="4011614" y="2932111"/>
              <a:ext cx="230186"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13</a:t>
              </a:r>
              <a:endParaRPr kumimoji="1" lang="en-US" altLang="zh-CN" sz="900" b="1">
                <a:latin typeface="微软雅黑" panose="020B0503020204020204" pitchFamily="34" charset="-122"/>
                <a:ea typeface="微软雅黑" panose="020B0503020204020204" pitchFamily="34" charset="-122"/>
              </a:endParaRPr>
            </a:p>
          </p:txBody>
        </p:sp>
        <p:sp>
          <p:nvSpPr>
            <p:cNvPr id="30" name="Text Box 46"/>
            <p:cNvSpPr txBox="1">
              <a:spLocks noChangeArrowheads="1"/>
            </p:cNvSpPr>
            <p:nvPr/>
          </p:nvSpPr>
          <p:spPr bwMode="auto">
            <a:xfrm>
              <a:off x="3802062" y="306070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14</a:t>
              </a:r>
              <a:endParaRPr kumimoji="1" lang="en-US" altLang="zh-CN" sz="900" b="1">
                <a:latin typeface="微软雅黑" panose="020B0503020204020204" pitchFamily="34" charset="-122"/>
                <a:ea typeface="微软雅黑" panose="020B0503020204020204" pitchFamily="34" charset="-122"/>
              </a:endParaRPr>
            </a:p>
          </p:txBody>
        </p:sp>
        <p:sp>
          <p:nvSpPr>
            <p:cNvPr id="31" name="Text Box 47"/>
            <p:cNvSpPr txBox="1">
              <a:spLocks noChangeArrowheads="1"/>
            </p:cNvSpPr>
            <p:nvPr/>
          </p:nvSpPr>
          <p:spPr bwMode="auto">
            <a:xfrm>
              <a:off x="3535361" y="313372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15</a:t>
              </a:r>
              <a:endParaRPr kumimoji="1" lang="en-US" altLang="zh-CN" sz="900" b="1">
                <a:latin typeface="微软雅黑" panose="020B0503020204020204" pitchFamily="34" charset="-122"/>
                <a:ea typeface="微软雅黑" panose="020B0503020204020204" pitchFamily="34" charset="-122"/>
              </a:endParaRPr>
            </a:p>
          </p:txBody>
        </p:sp>
        <p:sp>
          <p:nvSpPr>
            <p:cNvPr id="32" name="Oval 48"/>
            <p:cNvSpPr>
              <a:spLocks noChangeArrowheads="1"/>
            </p:cNvSpPr>
            <p:nvPr/>
          </p:nvSpPr>
          <p:spPr bwMode="auto">
            <a:xfrm>
              <a:off x="4311650" y="9969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3" name="Oval 49"/>
            <p:cNvSpPr>
              <a:spLocks noChangeArrowheads="1"/>
            </p:cNvSpPr>
            <p:nvPr/>
          </p:nvSpPr>
          <p:spPr bwMode="auto">
            <a:xfrm>
              <a:off x="2330450" y="29876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4" name="Oval 50"/>
            <p:cNvSpPr>
              <a:spLocks noChangeArrowheads="1"/>
            </p:cNvSpPr>
            <p:nvPr/>
          </p:nvSpPr>
          <p:spPr bwMode="auto">
            <a:xfrm>
              <a:off x="2016125" y="14541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5" name="Oval 51"/>
            <p:cNvSpPr>
              <a:spLocks noChangeArrowheads="1"/>
            </p:cNvSpPr>
            <p:nvPr/>
          </p:nvSpPr>
          <p:spPr bwMode="auto">
            <a:xfrm>
              <a:off x="3911600" y="730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6" name="Oval 52"/>
            <p:cNvSpPr>
              <a:spLocks noChangeArrowheads="1"/>
            </p:cNvSpPr>
            <p:nvPr/>
          </p:nvSpPr>
          <p:spPr bwMode="auto">
            <a:xfrm>
              <a:off x="4633913" y="25415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7" name="Oval 53"/>
            <p:cNvSpPr>
              <a:spLocks noChangeArrowheads="1"/>
            </p:cNvSpPr>
            <p:nvPr/>
          </p:nvSpPr>
          <p:spPr bwMode="auto">
            <a:xfrm>
              <a:off x="2797175" y="682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8" name="Oval 54"/>
            <p:cNvSpPr>
              <a:spLocks noChangeArrowheads="1"/>
            </p:cNvSpPr>
            <p:nvPr/>
          </p:nvSpPr>
          <p:spPr bwMode="auto">
            <a:xfrm>
              <a:off x="4654550" y="1492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9" name="Oval 55"/>
            <p:cNvSpPr>
              <a:spLocks noChangeArrowheads="1"/>
            </p:cNvSpPr>
            <p:nvPr/>
          </p:nvSpPr>
          <p:spPr bwMode="auto">
            <a:xfrm>
              <a:off x="476885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0" name="Oval 56"/>
            <p:cNvSpPr>
              <a:spLocks noChangeArrowheads="1"/>
            </p:cNvSpPr>
            <p:nvPr/>
          </p:nvSpPr>
          <p:spPr bwMode="auto">
            <a:xfrm>
              <a:off x="4359275" y="3016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1" name="Oval 57"/>
            <p:cNvSpPr>
              <a:spLocks noChangeArrowheads="1"/>
            </p:cNvSpPr>
            <p:nvPr/>
          </p:nvSpPr>
          <p:spPr bwMode="auto">
            <a:xfrm>
              <a:off x="3892550" y="3321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2" name="Oval 58"/>
            <p:cNvSpPr>
              <a:spLocks noChangeArrowheads="1"/>
            </p:cNvSpPr>
            <p:nvPr/>
          </p:nvSpPr>
          <p:spPr bwMode="auto">
            <a:xfrm>
              <a:off x="3368675" y="3435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3" name="Oval 59"/>
            <p:cNvSpPr>
              <a:spLocks noChangeArrowheads="1"/>
            </p:cNvSpPr>
            <p:nvPr/>
          </p:nvSpPr>
          <p:spPr bwMode="auto">
            <a:xfrm>
              <a:off x="2825750" y="33305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4" name="Oval 60"/>
            <p:cNvSpPr>
              <a:spLocks noChangeArrowheads="1"/>
            </p:cNvSpPr>
            <p:nvPr/>
          </p:nvSpPr>
          <p:spPr bwMode="auto">
            <a:xfrm>
              <a:off x="2063750" y="2559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5" name="Oval 61"/>
            <p:cNvSpPr>
              <a:spLocks noChangeArrowheads="1"/>
            </p:cNvSpPr>
            <p:nvPr/>
          </p:nvSpPr>
          <p:spPr bwMode="auto">
            <a:xfrm>
              <a:off x="194945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6" name="Oval 62"/>
            <p:cNvSpPr>
              <a:spLocks noChangeArrowheads="1"/>
            </p:cNvSpPr>
            <p:nvPr/>
          </p:nvSpPr>
          <p:spPr bwMode="auto">
            <a:xfrm>
              <a:off x="2368550" y="1035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7" name="Oval 51"/>
            <p:cNvSpPr>
              <a:spLocks noChangeArrowheads="1"/>
            </p:cNvSpPr>
            <p:nvPr/>
          </p:nvSpPr>
          <p:spPr bwMode="auto">
            <a:xfrm>
              <a:off x="3636963" y="654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4148138"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578100"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3081338"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4537075" y="12636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103563"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2554288" y="31988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968500" y="17430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2181225" y="12477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3621088"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414813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4741863" y="2284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4521200" y="2809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1974850" y="23002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2173288" y="28035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3362325" y="6238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3" name="Text Box 47"/>
            <p:cNvSpPr txBox="1">
              <a:spLocks noChangeArrowheads="1"/>
            </p:cNvSpPr>
            <p:nvPr/>
          </p:nvSpPr>
          <p:spPr bwMode="auto">
            <a:xfrm>
              <a:off x="3306763" y="316864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16</a:t>
              </a:r>
              <a:endParaRPr kumimoji="1" lang="en-US" altLang="zh-CN" sz="90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3063876" y="314801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17</a:t>
              </a:r>
              <a:endParaRPr kumimoji="1" lang="en-US" altLang="zh-CN" sz="900" b="1">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2819401" y="30876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18</a:t>
              </a:r>
              <a:endParaRPr kumimoji="1" lang="en-US" altLang="zh-CN" sz="900" b="1">
                <a:latin typeface="微软雅黑" panose="020B0503020204020204" pitchFamily="34" charset="-122"/>
                <a:ea typeface="微软雅黑" panose="020B0503020204020204" pitchFamily="34" charset="-122"/>
              </a:endParaRPr>
            </a:p>
          </p:txBody>
        </p:sp>
        <p:sp>
          <p:nvSpPr>
            <p:cNvPr id="66" name="Text Box 47"/>
            <p:cNvSpPr txBox="1">
              <a:spLocks noChangeArrowheads="1"/>
            </p:cNvSpPr>
            <p:nvPr/>
          </p:nvSpPr>
          <p:spPr bwMode="auto">
            <a:xfrm>
              <a:off x="2598739" y="29876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19</a:t>
              </a:r>
              <a:endParaRPr kumimoji="1" lang="en-US" altLang="zh-CN" sz="900" b="1">
                <a:latin typeface="微软雅黑" panose="020B0503020204020204" pitchFamily="34" charset="-122"/>
                <a:ea typeface="微软雅黑" panose="020B0503020204020204" pitchFamily="34" charset="-122"/>
              </a:endParaRPr>
            </a:p>
          </p:txBody>
        </p:sp>
        <p:sp>
          <p:nvSpPr>
            <p:cNvPr id="67" name="Text Box 47"/>
            <p:cNvSpPr txBox="1">
              <a:spLocks noChangeArrowheads="1"/>
            </p:cNvSpPr>
            <p:nvPr/>
          </p:nvSpPr>
          <p:spPr bwMode="auto">
            <a:xfrm>
              <a:off x="2482851" y="275113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20</a:t>
              </a:r>
              <a:endParaRPr kumimoji="1" lang="en-US" altLang="zh-CN" sz="900" b="1">
                <a:latin typeface="微软雅黑" panose="020B0503020204020204" pitchFamily="34" charset="-122"/>
                <a:ea typeface="微软雅黑" panose="020B0503020204020204" pitchFamily="34" charset="-122"/>
              </a:endParaRPr>
            </a:p>
          </p:txBody>
        </p:sp>
        <p:sp>
          <p:nvSpPr>
            <p:cNvPr id="68" name="Text Box 47"/>
            <p:cNvSpPr txBox="1">
              <a:spLocks noChangeArrowheads="1"/>
            </p:cNvSpPr>
            <p:nvPr/>
          </p:nvSpPr>
          <p:spPr bwMode="auto">
            <a:xfrm>
              <a:off x="2292351" y="26368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21</a:t>
              </a:r>
              <a:endParaRPr kumimoji="1" lang="en-US" altLang="zh-CN" sz="900" b="1">
                <a:latin typeface="微软雅黑" panose="020B0503020204020204" pitchFamily="34" charset="-122"/>
                <a:ea typeface="微软雅黑" panose="020B0503020204020204" pitchFamily="34" charset="-122"/>
              </a:endParaRPr>
            </a:p>
          </p:txBody>
        </p:sp>
        <p:sp>
          <p:nvSpPr>
            <p:cNvPr id="69" name="Text Box 47"/>
            <p:cNvSpPr txBox="1">
              <a:spLocks noChangeArrowheads="1"/>
            </p:cNvSpPr>
            <p:nvPr/>
          </p:nvSpPr>
          <p:spPr bwMode="auto">
            <a:xfrm>
              <a:off x="2178051" y="243839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22</a:t>
              </a:r>
              <a:endParaRPr kumimoji="1" lang="en-US" altLang="zh-CN" sz="900" b="1">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2063749" y="2187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23</a:t>
              </a:r>
              <a:endParaRPr kumimoji="1" lang="en-US" altLang="zh-CN" sz="900" b="1">
                <a:latin typeface="微软雅黑" panose="020B0503020204020204" pitchFamily="34" charset="-122"/>
                <a:ea typeface="微软雅黑" panose="020B0503020204020204" pitchFamily="34" charset="-122"/>
              </a:endParaRPr>
            </a:p>
          </p:txBody>
        </p:sp>
        <p:sp>
          <p:nvSpPr>
            <p:cNvPr id="71" name="Text Box 47"/>
            <p:cNvSpPr txBox="1">
              <a:spLocks noChangeArrowheads="1"/>
            </p:cNvSpPr>
            <p:nvPr/>
          </p:nvSpPr>
          <p:spPr bwMode="auto">
            <a:xfrm>
              <a:off x="2063749" y="190499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24</a:t>
              </a:r>
              <a:endParaRPr kumimoji="1" lang="en-US" altLang="zh-CN" sz="900" b="1">
                <a:latin typeface="微软雅黑" panose="020B0503020204020204" pitchFamily="34" charset="-122"/>
                <a:ea typeface="微软雅黑" panose="020B0503020204020204" pitchFamily="34" charset="-122"/>
              </a:endParaRPr>
            </a:p>
          </p:txBody>
        </p:sp>
        <p:sp>
          <p:nvSpPr>
            <p:cNvPr id="72" name="Text Box 47"/>
            <p:cNvSpPr txBox="1">
              <a:spLocks noChangeArrowheads="1"/>
            </p:cNvSpPr>
            <p:nvPr/>
          </p:nvSpPr>
          <p:spPr bwMode="auto">
            <a:xfrm>
              <a:off x="2063749" y="164623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25</a:t>
              </a:r>
              <a:endParaRPr kumimoji="1" lang="en-US" altLang="zh-CN" sz="900" b="1">
                <a:latin typeface="微软雅黑" panose="020B0503020204020204" pitchFamily="34" charset="-122"/>
                <a:ea typeface="微软雅黑" panose="020B0503020204020204" pitchFamily="34" charset="-122"/>
              </a:endParaRPr>
            </a:p>
          </p:txBody>
        </p:sp>
        <p:sp>
          <p:nvSpPr>
            <p:cNvPr id="73" name="Text Box 47"/>
            <p:cNvSpPr txBox="1">
              <a:spLocks noChangeArrowheads="1"/>
            </p:cNvSpPr>
            <p:nvPr/>
          </p:nvSpPr>
          <p:spPr bwMode="auto">
            <a:xfrm>
              <a:off x="2162175" y="142557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26</a:t>
              </a:r>
              <a:endParaRPr kumimoji="1" lang="en-US" altLang="zh-CN" sz="900" b="1">
                <a:latin typeface="微软雅黑" panose="020B0503020204020204" pitchFamily="34" charset="-122"/>
                <a:ea typeface="微软雅黑" panose="020B0503020204020204" pitchFamily="34" charset="-122"/>
              </a:endParaRPr>
            </a:p>
          </p:txBody>
        </p:sp>
        <p:sp>
          <p:nvSpPr>
            <p:cNvPr id="74" name="Text Box 47"/>
            <p:cNvSpPr txBox="1">
              <a:spLocks noChangeArrowheads="1"/>
            </p:cNvSpPr>
            <p:nvPr/>
          </p:nvSpPr>
          <p:spPr bwMode="auto">
            <a:xfrm>
              <a:off x="2268538" y="12493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27</a:t>
              </a:r>
              <a:endParaRPr kumimoji="1" lang="en-US" altLang="zh-CN" sz="900" b="1">
                <a:latin typeface="微软雅黑" panose="020B0503020204020204" pitchFamily="34" charset="-122"/>
                <a:ea typeface="微软雅黑" panose="020B0503020204020204" pitchFamily="34" charset="-122"/>
              </a:endParaRPr>
            </a:p>
          </p:txBody>
        </p:sp>
        <p:sp>
          <p:nvSpPr>
            <p:cNvPr id="75" name="Text Box 47"/>
            <p:cNvSpPr txBox="1">
              <a:spLocks noChangeArrowheads="1"/>
            </p:cNvSpPr>
            <p:nvPr/>
          </p:nvSpPr>
          <p:spPr bwMode="auto">
            <a:xfrm>
              <a:off x="2360613" y="1044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28</a:t>
              </a:r>
              <a:endParaRPr kumimoji="1" lang="en-US" altLang="zh-CN" sz="900" b="1">
                <a:latin typeface="微软雅黑" panose="020B0503020204020204" pitchFamily="34" charset="-122"/>
                <a:ea typeface="微软雅黑" panose="020B0503020204020204" pitchFamily="34" charset="-122"/>
              </a:endParaRPr>
            </a:p>
          </p:txBody>
        </p:sp>
        <p:sp>
          <p:nvSpPr>
            <p:cNvPr id="76" name="Text Box 47"/>
            <p:cNvSpPr txBox="1">
              <a:spLocks noChangeArrowheads="1"/>
            </p:cNvSpPr>
            <p:nvPr/>
          </p:nvSpPr>
          <p:spPr bwMode="auto">
            <a:xfrm>
              <a:off x="2573338" y="8921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29</a:t>
              </a:r>
              <a:endParaRPr kumimoji="1" lang="en-US" altLang="zh-CN" sz="900" b="1">
                <a:latin typeface="微软雅黑" panose="020B0503020204020204" pitchFamily="34" charset="-122"/>
                <a:ea typeface="微软雅黑" panose="020B0503020204020204" pitchFamily="34" charset="-122"/>
              </a:endParaRPr>
            </a:p>
          </p:txBody>
        </p:sp>
        <p:sp>
          <p:nvSpPr>
            <p:cNvPr id="77" name="Text Box 47"/>
            <p:cNvSpPr txBox="1">
              <a:spLocks noChangeArrowheads="1"/>
            </p:cNvSpPr>
            <p:nvPr/>
          </p:nvSpPr>
          <p:spPr bwMode="auto">
            <a:xfrm>
              <a:off x="2787650" y="7842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30</a:t>
              </a:r>
              <a:endParaRPr kumimoji="1" lang="en-US" altLang="zh-CN" sz="900" b="1">
                <a:latin typeface="微软雅黑" panose="020B0503020204020204" pitchFamily="34" charset="-122"/>
                <a:ea typeface="微软雅黑" panose="020B0503020204020204" pitchFamily="34" charset="-122"/>
              </a:endParaRPr>
            </a:p>
          </p:txBody>
        </p:sp>
        <p:sp>
          <p:nvSpPr>
            <p:cNvPr id="78" name="Text Box 47"/>
            <p:cNvSpPr txBox="1">
              <a:spLocks noChangeArrowheads="1"/>
            </p:cNvSpPr>
            <p:nvPr/>
          </p:nvSpPr>
          <p:spPr bwMode="auto">
            <a:xfrm>
              <a:off x="3062288" y="6699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31</a:t>
              </a:r>
              <a:endParaRPr kumimoji="1" lang="en-US" altLang="zh-CN" sz="900" b="1">
                <a:latin typeface="微软雅黑" panose="020B0503020204020204" pitchFamily="34" charset="-122"/>
                <a:ea typeface="微软雅黑" panose="020B0503020204020204" pitchFamily="34" charset="-122"/>
              </a:endParaRPr>
            </a:p>
          </p:txBody>
        </p:sp>
        <p:sp>
          <p:nvSpPr>
            <p:cNvPr id="79" name="Text Box 71"/>
            <p:cNvSpPr txBox="1">
              <a:spLocks noChangeArrowheads="1"/>
            </p:cNvSpPr>
            <p:nvPr/>
          </p:nvSpPr>
          <p:spPr bwMode="auto">
            <a:xfrm>
              <a:off x="5013325" y="2285999"/>
              <a:ext cx="454029"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K8</a:t>
              </a:r>
              <a:endParaRPr kumimoji="1" lang="en-US" altLang="zh-CN" sz="1000" b="1" dirty="0">
                <a:latin typeface="微软雅黑" panose="020B0503020204020204" pitchFamily="34" charset="-122"/>
                <a:ea typeface="微软雅黑" panose="020B0503020204020204" pitchFamily="34" charset="-122"/>
              </a:endParaRPr>
            </a:p>
          </p:txBody>
        </p:sp>
        <p:sp>
          <p:nvSpPr>
            <p:cNvPr id="80" name="Oval 53"/>
            <p:cNvSpPr>
              <a:spLocks noChangeArrowheads="1"/>
            </p:cNvSpPr>
            <p:nvPr/>
          </p:nvSpPr>
          <p:spPr bwMode="auto">
            <a:xfrm>
              <a:off x="4692650" y="170656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81" name="Text Box 47"/>
            <p:cNvSpPr txBox="1">
              <a:spLocks noChangeArrowheads="1"/>
            </p:cNvSpPr>
            <p:nvPr/>
          </p:nvSpPr>
          <p:spPr bwMode="auto">
            <a:xfrm>
              <a:off x="4883149" y="1600198"/>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N7</a:t>
              </a:r>
              <a:endParaRPr kumimoji="1" lang="en-US" altLang="zh-CN" sz="100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4822825" y="2498724"/>
              <a:ext cx="47614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N10</a:t>
              </a:r>
              <a:endParaRPr kumimoji="1" lang="en-US" altLang="zh-CN" sz="1000" b="1" dirty="0">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4533900" y="769938"/>
              <a:ext cx="47148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N4</a:t>
              </a:r>
              <a:endParaRPr kumimoji="1" lang="en-US" altLang="zh-CN" sz="1000" b="1" dirty="0">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2590007" y="419268"/>
              <a:ext cx="514349"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N30</a:t>
              </a:r>
              <a:endParaRPr kumimoji="1" lang="en-US" altLang="zh-CN" sz="1000" b="1" dirty="0">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976438" y="3109914"/>
              <a:ext cx="438151"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N20</a:t>
              </a:r>
              <a:endParaRPr kumimoji="1" lang="en-US" altLang="zh-CN" sz="1000" b="1" dirty="0">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1641693" y="1295401"/>
              <a:ext cx="47942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N26</a:t>
              </a:r>
              <a:endParaRPr kumimoji="1" lang="en-US" altLang="zh-CN" sz="1000" b="1" dirty="0">
                <a:latin typeface="微软雅黑" panose="020B0503020204020204" pitchFamily="34" charset="-122"/>
                <a:ea typeface="微软雅黑" panose="020B0503020204020204" pitchFamily="34" charset="-122"/>
              </a:endParaRPr>
            </a:p>
          </p:txBody>
        </p:sp>
        <p:sp>
          <p:nvSpPr>
            <p:cNvPr id="87" name="Text Box 71"/>
            <p:cNvSpPr txBox="1">
              <a:spLocks noChangeArrowheads="1"/>
            </p:cNvSpPr>
            <p:nvPr/>
          </p:nvSpPr>
          <p:spPr bwMode="auto">
            <a:xfrm>
              <a:off x="3968751" y="419100"/>
              <a:ext cx="427037"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K31</a:t>
              </a:r>
              <a:endParaRPr kumimoji="1" lang="en-US" altLang="zh-CN" sz="1000" b="1" dirty="0">
                <a:latin typeface="微软雅黑" panose="020B0503020204020204" pitchFamily="34" charset="-122"/>
                <a:ea typeface="微软雅黑" panose="020B0503020204020204" pitchFamily="34" charset="-122"/>
              </a:endParaRPr>
            </a:p>
          </p:txBody>
        </p:sp>
        <p:sp>
          <p:nvSpPr>
            <p:cNvPr id="88" name="Text Box 71"/>
            <p:cNvSpPr txBox="1">
              <a:spLocks noChangeArrowheads="1"/>
            </p:cNvSpPr>
            <p:nvPr/>
          </p:nvSpPr>
          <p:spPr bwMode="auto">
            <a:xfrm>
              <a:off x="1968500" y="701675"/>
              <a:ext cx="438153"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K29</a:t>
              </a:r>
              <a:endParaRPr kumimoji="1" lang="en-US" altLang="zh-CN" sz="1000" b="1" dirty="0">
                <a:latin typeface="微软雅黑" panose="020B0503020204020204" pitchFamily="34" charset="-122"/>
                <a:ea typeface="微软雅黑" panose="020B0503020204020204" pitchFamily="34" charset="-122"/>
              </a:endParaRPr>
            </a:p>
          </p:txBody>
        </p:sp>
        <p:sp>
          <p:nvSpPr>
            <p:cNvPr id="89" name="Text Box 71"/>
            <p:cNvSpPr txBox="1">
              <a:spLocks noChangeArrowheads="1"/>
            </p:cNvSpPr>
            <p:nvPr/>
          </p:nvSpPr>
          <p:spPr bwMode="auto">
            <a:xfrm>
              <a:off x="4425950" y="457198"/>
              <a:ext cx="419099"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a:t>
              </a:r>
              <a:endParaRPr kumimoji="1" lang="en-US" altLang="zh-CN" sz="1000" b="1" dirty="0">
                <a:latin typeface="微软雅黑" panose="020B0503020204020204" pitchFamily="34" charset="-122"/>
                <a:ea typeface="微软雅黑" panose="020B0503020204020204" pitchFamily="34" charset="-122"/>
              </a:endParaRPr>
            </a:p>
          </p:txBody>
        </p:sp>
        <p:sp>
          <p:nvSpPr>
            <p:cNvPr id="90" name="Text Box 71"/>
            <p:cNvSpPr txBox="1">
              <a:spLocks noChangeArrowheads="1"/>
            </p:cNvSpPr>
            <p:nvPr/>
          </p:nvSpPr>
          <p:spPr bwMode="auto">
            <a:xfrm>
              <a:off x="2262024" y="3352796"/>
              <a:ext cx="512764"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a:latin typeface="微软雅黑" panose="020B0503020204020204" pitchFamily="34" charset="-122"/>
                  <a:ea typeface="微软雅黑" panose="020B0503020204020204" pitchFamily="34" charset="-122"/>
                </a:rPr>
                <a:t>K12</a:t>
              </a:r>
              <a:endParaRPr kumimoji="1" lang="en-US" altLang="zh-CN" sz="10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1262063" y="1592263"/>
              <a:ext cx="466728"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K23</a:t>
              </a:r>
              <a:endParaRPr kumimoji="1" lang="en-US" altLang="zh-CN" sz="1000" b="1" dirty="0">
                <a:latin typeface="微软雅黑" panose="020B0503020204020204" pitchFamily="34" charset="-122"/>
                <a:ea typeface="微软雅黑" panose="020B0503020204020204" pitchFamily="34" charset="-122"/>
              </a:endParaRPr>
            </a:p>
          </p:txBody>
        </p:sp>
        <p:cxnSp>
          <p:nvCxnSpPr>
            <p:cNvPr id="92" name="直接箭头连接符 91"/>
            <p:cNvCxnSpPr/>
            <p:nvPr/>
          </p:nvCxnSpPr>
          <p:spPr bwMode="auto">
            <a:xfrm flipH="1">
              <a:off x="4776788" y="2408238"/>
              <a:ext cx="214312" cy="16668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bwMode="auto">
            <a:xfrm>
              <a:off x="423545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flipH="1">
              <a:off x="443388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V="1">
              <a:off x="1744663" y="1577975"/>
              <a:ext cx="273050" cy="1365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H="1" flipV="1">
              <a:off x="2392363" y="3140075"/>
              <a:ext cx="144462" cy="2206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245268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176"/>
            <p:cNvSpPr txBox="1">
              <a:spLocks noChangeArrowheads="1"/>
            </p:cNvSpPr>
            <p:nvPr/>
          </p:nvSpPr>
          <p:spPr bwMode="auto">
            <a:xfrm>
              <a:off x="5576890" y="764925"/>
              <a:ext cx="1576281" cy="1623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      N7</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+ 2      N7</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+ 4      N10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+ 8      N20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+ 16    N20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99" name="直接连接符 98"/>
            <p:cNvCxnSpPr/>
            <p:nvPr/>
          </p:nvCxnSpPr>
          <p:spPr>
            <a:xfrm flipV="1">
              <a:off x="5578475" y="10588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flipV="1">
              <a:off x="5570538" y="1303338"/>
              <a:ext cx="1363662" cy="6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flipV="1">
              <a:off x="5562600" y="15541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flipV="1">
              <a:off x="5562600" y="1812925"/>
              <a:ext cx="1363663"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flipV="1">
              <a:off x="6461125" y="838200"/>
              <a:ext cx="15875" cy="1227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TextBox 200"/>
            <p:cNvSpPr txBox="1">
              <a:spLocks noChangeArrowheads="1"/>
            </p:cNvSpPr>
            <p:nvPr/>
          </p:nvSpPr>
          <p:spPr bwMode="auto">
            <a:xfrm>
              <a:off x="152399" y="2327024"/>
              <a:ext cx="1833561" cy="16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+ 2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+ 4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+ 8      N30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+ 16    N4</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05" name="矩形 104"/>
            <p:cNvSpPr/>
            <p:nvPr/>
          </p:nvSpPr>
          <p:spPr>
            <a:xfrm>
              <a:off x="195263" y="2362200"/>
              <a:ext cx="1489075" cy="12731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nvGrpSpPr>
            <p:cNvPr id="106" name="组合 115"/>
            <p:cNvGrpSpPr/>
            <p:nvPr/>
          </p:nvGrpSpPr>
          <p:grpSpPr bwMode="auto">
            <a:xfrm>
              <a:off x="176213" y="2636838"/>
              <a:ext cx="1508125" cy="762000"/>
              <a:chOff x="304800" y="2636838"/>
              <a:chExt cx="1379538" cy="762000"/>
            </a:xfrm>
          </p:grpSpPr>
          <p:cxnSp>
            <p:nvCxnSpPr>
              <p:cNvPr id="107" name="直接连接符 106"/>
              <p:cNvCxnSpPr/>
              <p:nvPr/>
            </p:nvCxnSpPr>
            <p:spPr>
              <a:xfrm flipV="1">
                <a:off x="320773" y="2636838"/>
                <a:ext cx="1363565"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flipV="1">
                <a:off x="312060" y="2887663"/>
                <a:ext cx="1365017"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flipV="1">
                <a:off x="304800" y="3132138"/>
                <a:ext cx="1363564"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304800" y="3390900"/>
                <a:ext cx="1363564"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直接连接符 110"/>
            <p:cNvCxnSpPr/>
            <p:nvPr/>
          </p:nvCxnSpPr>
          <p:spPr>
            <a:xfrm flipV="1">
              <a:off x="1082675" y="2370138"/>
              <a:ext cx="14288" cy="127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Text Box 47"/>
            <p:cNvSpPr txBox="1">
              <a:spLocks noChangeArrowheads="1"/>
            </p:cNvSpPr>
            <p:nvPr/>
          </p:nvSpPr>
          <p:spPr bwMode="auto">
            <a:xfrm>
              <a:off x="5576890" y="534950"/>
              <a:ext cx="1365247"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N4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sp>
          <p:nvSpPr>
            <p:cNvPr id="113" name="Text Box 47"/>
            <p:cNvSpPr txBox="1">
              <a:spLocks noChangeArrowheads="1"/>
            </p:cNvSpPr>
            <p:nvPr/>
          </p:nvSpPr>
          <p:spPr bwMode="auto">
            <a:xfrm>
              <a:off x="212005" y="2060559"/>
              <a:ext cx="1418361"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N20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cxnSp>
          <p:nvCxnSpPr>
            <p:cNvPr id="114" name="直接箭头连接符 113"/>
            <p:cNvCxnSpPr/>
            <p:nvPr/>
          </p:nvCxnSpPr>
          <p:spPr bwMode="auto">
            <a:xfrm>
              <a:off x="4397375" y="1158875"/>
              <a:ext cx="250825" cy="14160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a:off x="4427538" y="1135063"/>
              <a:ext cx="288925" cy="61753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直接箭头连接符 115"/>
            <p:cNvCxnSpPr/>
            <p:nvPr/>
          </p:nvCxnSpPr>
          <p:spPr bwMode="auto">
            <a:xfrm flipH="1">
              <a:off x="2492375" y="1176950"/>
              <a:ext cx="1881188"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bwMode="auto">
            <a:xfrm flipH="1" flipV="1">
              <a:off x="2149475" y="1584325"/>
              <a:ext cx="220663" cy="1417638"/>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直接箭头连接符 117"/>
            <p:cNvCxnSpPr/>
            <p:nvPr/>
          </p:nvCxnSpPr>
          <p:spPr bwMode="auto">
            <a:xfrm flipV="1">
              <a:off x="2422525" y="846138"/>
              <a:ext cx="442913" cy="21558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9" name="直接箭头连接符 118"/>
            <p:cNvCxnSpPr/>
            <p:nvPr/>
          </p:nvCxnSpPr>
          <p:spPr bwMode="auto">
            <a:xfrm flipV="1">
              <a:off x="2397107" y="1085238"/>
              <a:ext cx="1897062"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5562600" y="830263"/>
              <a:ext cx="1371600" cy="1243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21" name="任意多边形 120"/>
            <p:cNvSpPr/>
            <p:nvPr/>
          </p:nvSpPr>
          <p:spPr>
            <a:xfrm>
              <a:off x="4479925" y="838200"/>
              <a:ext cx="1060450" cy="1241425"/>
            </a:xfrm>
            <a:custGeom>
              <a:avLst/>
              <a:gdLst>
                <a:gd name="connsiteX0" fmla="*/ 0 w 1082040"/>
                <a:gd name="connsiteY0" fmla="*/ 236220 h 1257300"/>
                <a:gd name="connsiteX1" fmla="*/ 0 w 1082040"/>
                <a:gd name="connsiteY1" fmla="*/ 236220 h 1257300"/>
                <a:gd name="connsiteX2" fmla="*/ 1074420 w 1082040"/>
                <a:gd name="connsiteY2" fmla="*/ 0 h 1257300"/>
                <a:gd name="connsiteX3" fmla="*/ 1082040 w 1082040"/>
                <a:gd name="connsiteY3" fmla="*/ 1257300 h 1257300"/>
                <a:gd name="connsiteX4" fmla="*/ 0 w 1082040"/>
                <a:gd name="connsiteY4" fmla="*/ 236220 h 1257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040" h="1257300">
                  <a:moveTo>
                    <a:pt x="0" y="236220"/>
                  </a:moveTo>
                  <a:lnTo>
                    <a:pt x="0" y="236220"/>
                  </a:lnTo>
                  <a:lnTo>
                    <a:pt x="1074420" y="0"/>
                  </a:lnTo>
                  <a:lnTo>
                    <a:pt x="1082040" y="1257300"/>
                  </a:lnTo>
                  <a:lnTo>
                    <a:pt x="0" y="236220"/>
                  </a:ln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tags/tag1.xml><?xml version="1.0" encoding="utf-8"?>
<p:tagLst xmlns:p="http://schemas.openxmlformats.org/presentationml/2006/main">
  <p:tag name="COMMONDATA" val="eyJoZGlkIjoiNTBhOGQyNTBiYTA5MzhiNDgwMjJjZGI4MTFkZDc0YjQifQ=="/>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47137</Words>
  <Application>WPS 演示</Application>
  <PresentationFormat>全屏显示(16:9)</PresentationFormat>
  <Paragraphs>8428</Paragraphs>
  <Slides>280</Slides>
  <Notes>31</Notes>
  <HiddenSlides>0</HiddenSlides>
  <MMClips>0</MMClips>
  <ScaleCrop>false</ScaleCrop>
  <HeadingPairs>
    <vt:vector size="8" baseType="variant">
      <vt:variant>
        <vt:lpstr>已用的字体</vt:lpstr>
      </vt:variant>
      <vt:variant>
        <vt:i4>16</vt:i4>
      </vt:variant>
      <vt:variant>
        <vt:lpstr>主题</vt:lpstr>
      </vt:variant>
      <vt:variant>
        <vt:i4>1</vt:i4>
      </vt:variant>
      <vt:variant>
        <vt:lpstr>嵌入 OLE 服务器</vt:lpstr>
      </vt:variant>
      <vt:variant>
        <vt:i4>0</vt:i4>
      </vt:variant>
      <vt:variant>
        <vt:lpstr>幻灯片标题</vt:lpstr>
      </vt:variant>
      <vt:variant>
        <vt:i4>280</vt:i4>
      </vt:variant>
    </vt:vector>
  </HeadingPairs>
  <TitlesOfParts>
    <vt:vector size="297" baseType="lpstr">
      <vt:lpstr>Arial</vt:lpstr>
      <vt:lpstr>宋体</vt:lpstr>
      <vt:lpstr>Wingdings</vt:lpstr>
      <vt:lpstr>微软雅黑</vt:lpstr>
      <vt:lpstr>Calibri</vt:lpstr>
      <vt:lpstr>Times New Roman</vt:lpstr>
      <vt:lpstr>黑体</vt:lpstr>
      <vt:lpstr>Tahoma</vt:lpstr>
      <vt:lpstr>Arial Unicode MS</vt:lpstr>
      <vt:lpstr>굴림</vt:lpstr>
      <vt:lpstr>Courier New</vt:lpstr>
      <vt:lpstr>Adobe Arabic</vt:lpstr>
      <vt:lpstr>DejaVu Math TeX Gyre</vt:lpstr>
      <vt:lpstr>Symbol</vt:lpstr>
      <vt:lpstr>Symbol</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Administrator</cp:lastModifiedBy>
  <cp:revision>794</cp:revision>
  <dcterms:created xsi:type="dcterms:W3CDTF">2018-07-18T08:51:00Z</dcterms:created>
  <dcterms:modified xsi:type="dcterms:W3CDTF">2024-10-16T01:27:00Z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F41F16D560CC4C058604A3D62224FE4E_12</vt:lpwstr>
  </property>
  <property fmtid="{D5CDD505-2E9C-101B-9397-08002B2CF9AE}" pid="3" name="KSOProductBuildVer">
    <vt:lpwstr>2052-11.1.0.14309</vt:lpwstr>
  </property>
</Properties>
</file>