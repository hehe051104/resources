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88" r:id="rId11"/>
    <p:sldId id="266" r:id="rId12"/>
    <p:sldId id="267" r:id="rId13"/>
    <p:sldId id="268" r:id="rId14"/>
    <p:sldId id="269" r:id="rId15"/>
    <p:sldId id="289" r:id="rId16"/>
    <p:sldId id="270" r:id="rId17"/>
    <p:sldId id="271" r:id="rId18"/>
    <p:sldId id="272" r:id="rId19"/>
    <p:sldId id="273" r:id="rId20"/>
    <p:sldId id="290" r:id="rId21"/>
    <p:sldId id="274" r:id="rId22"/>
    <p:sldId id="276" r:id="rId23"/>
    <p:sldId id="277"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81288"/>
    <a:srgbClr val="F5F7F9"/>
    <a:srgbClr val="8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23" d="100"/>
          <a:sy n="123" d="100"/>
        </p:scale>
        <p:origin x="-1085" y="-38"/>
      </p:cViewPr>
      <p:guideLst>
        <p:guide orient="horz" pos="2182"/>
        <p:guide pos="2880"/>
      </p:guideLst>
    </p:cSldViewPr>
  </p:slid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640013" y="1193800"/>
            <a:ext cx="3071812"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864225" y="1193800"/>
            <a:ext cx="3071813" cy="5432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35838" y="403225"/>
            <a:ext cx="1600200" cy="6223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533650" y="403225"/>
            <a:ext cx="4649788" cy="6223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33650" y="403225"/>
            <a:ext cx="4856163" cy="50482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2640013" y="1193800"/>
            <a:ext cx="6296025" cy="5432425"/>
          </a:xfrm>
        </p:spPr>
        <p:txBody>
          <a:bodyPr/>
          <a:lstStyle/>
          <a:p>
            <a:pPr lvl="0"/>
            <a:endParaRPr lang="zh-CN" altLang="en-US" noProof="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533650" y="403225"/>
            <a:ext cx="6402388" cy="6223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2533650" y="403225"/>
            <a:ext cx="4856163" cy="504825"/>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2640013" y="1193800"/>
            <a:ext cx="3071812" cy="26400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5864225" y="1193800"/>
            <a:ext cx="3071813" cy="26400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2640013" y="3986213"/>
            <a:ext cx="3071812" cy="26400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5864225" y="3986213"/>
            <a:ext cx="3071813" cy="26400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 Target="../slides/slide24.xml"/><Relationship Id="rId3" Type="http://schemas.openxmlformats.org/officeDocument/2006/relationships/slideLayout" Target="../slideLayouts/slideLayout3.xml"/><Relationship Id="rId21" Type="http://schemas.openxmlformats.org/officeDocument/2006/relationships/oleObject" Target="../embeddings/oleObject2.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slide" Target="../slides/slide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ChangeArrowheads="1"/>
          </p:cNvSpPr>
          <p:nvPr userDrawn="1"/>
        </p:nvSpPr>
        <p:spPr bwMode="auto">
          <a:xfrm>
            <a:off x="2427288" y="301625"/>
            <a:ext cx="6467475" cy="6248400"/>
          </a:xfrm>
          <a:prstGeom prst="rect">
            <a:avLst/>
          </a:prstGeom>
          <a:solidFill>
            <a:srgbClr val="EDEEE9"/>
          </a:solidFill>
          <a:ln w="9525">
            <a:noFill/>
            <a:miter lim="800000"/>
          </a:ln>
          <a:effectLst/>
        </p:spPr>
        <p:txBody>
          <a:bodyPr wrap="none" anchor="ctr"/>
          <a:lstStyle/>
          <a:p>
            <a:pPr algn="ctr" fontAlgn="base">
              <a:spcBef>
                <a:spcPct val="0"/>
              </a:spcBef>
              <a:spcAft>
                <a:spcPct val="0"/>
              </a:spcAft>
              <a:defRPr/>
            </a:pPr>
            <a:endParaRPr lang="zh-CN" altLang="zh-CN" sz="2200" b="1">
              <a:solidFill>
                <a:srgbClr val="000000"/>
              </a:solidFill>
              <a:latin typeface="Times New Roman" panose="02020603050405020304" pitchFamily="18" charset="0"/>
              <a:ea typeface="楷体_GB2312" pitchFamily="49" charset="-122"/>
            </a:endParaRPr>
          </a:p>
        </p:txBody>
      </p:sp>
      <p:grpSp>
        <p:nvGrpSpPr>
          <p:cNvPr id="1030" name="Group 3"/>
          <p:cNvGrpSpPr/>
          <p:nvPr userDrawn="1"/>
        </p:nvGrpSpPr>
        <p:grpSpPr bwMode="auto">
          <a:xfrm>
            <a:off x="2189163" y="914400"/>
            <a:ext cx="6958012" cy="76200"/>
            <a:chOff x="1920" y="849"/>
            <a:chExt cx="4992" cy="63"/>
          </a:xfrm>
        </p:grpSpPr>
        <p:sp>
          <p:nvSpPr>
            <p:cNvPr id="225284" name="Rectangle 4"/>
            <p:cNvSpPr>
              <a:spLocks noChangeArrowheads="1"/>
            </p:cNvSpPr>
            <p:nvPr/>
          </p:nvSpPr>
          <p:spPr bwMode="auto">
            <a:xfrm>
              <a:off x="1920" y="849"/>
              <a:ext cx="4992" cy="49"/>
            </a:xfrm>
            <a:prstGeom prst="rect">
              <a:avLst/>
            </a:prstGeom>
            <a:gradFill rotWithShape="1">
              <a:gsLst>
                <a:gs pos="0">
                  <a:srgbClr val="8488C4"/>
                </a:gs>
                <a:gs pos="26500">
                  <a:srgbClr val="D4DEFF"/>
                </a:gs>
                <a:gs pos="41500">
                  <a:srgbClr val="D4DEFF"/>
                </a:gs>
                <a:gs pos="50000">
                  <a:srgbClr val="96AB94"/>
                </a:gs>
                <a:gs pos="58500">
                  <a:srgbClr val="D4DEFF"/>
                </a:gs>
                <a:gs pos="73500">
                  <a:srgbClr val="D4DEFF"/>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fontAlgn="base">
                <a:spcBef>
                  <a:spcPct val="0"/>
                </a:spcBef>
                <a:spcAft>
                  <a:spcPct val="0"/>
                </a:spcAft>
                <a:defRPr/>
              </a:pPr>
              <a:endParaRPr lang="zh-CN" altLang="en-US" sz="2000">
                <a:solidFill>
                  <a:srgbClr val="000000"/>
                </a:solidFill>
              </a:endParaRPr>
            </a:p>
          </p:txBody>
        </p:sp>
        <p:sp>
          <p:nvSpPr>
            <p:cNvPr id="225285" name="Rectangle 5"/>
            <p:cNvSpPr>
              <a:spLocks noChangeArrowheads="1"/>
            </p:cNvSpPr>
            <p:nvPr/>
          </p:nvSpPr>
          <p:spPr bwMode="white">
            <a:xfrm>
              <a:off x="1920" y="864"/>
              <a:ext cx="4992" cy="48"/>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fontAlgn="base">
                <a:spcBef>
                  <a:spcPct val="0"/>
                </a:spcBef>
                <a:spcAft>
                  <a:spcPct val="0"/>
                </a:spcAft>
                <a:defRPr/>
              </a:pPr>
              <a:endParaRPr lang="zh-CN" altLang="en-US" sz="2000">
                <a:solidFill>
                  <a:srgbClr val="000000"/>
                </a:solidFill>
              </a:endParaRPr>
            </a:p>
          </p:txBody>
        </p:sp>
      </p:grpSp>
      <p:grpSp>
        <p:nvGrpSpPr>
          <p:cNvPr id="1031" name="Group 6"/>
          <p:cNvGrpSpPr/>
          <p:nvPr userDrawn="1"/>
        </p:nvGrpSpPr>
        <p:grpSpPr bwMode="auto">
          <a:xfrm>
            <a:off x="0" y="-1588"/>
            <a:ext cx="9155113" cy="6858001"/>
            <a:chOff x="0" y="-1"/>
            <a:chExt cx="6925" cy="4320"/>
          </a:xfrm>
        </p:grpSpPr>
        <p:sp>
          <p:nvSpPr>
            <p:cNvPr id="225287" name="Rectangle 7"/>
            <p:cNvSpPr>
              <a:spLocks noChangeArrowheads="1"/>
            </p:cNvSpPr>
            <p:nvPr userDrawn="1"/>
          </p:nvSpPr>
          <p:spPr bwMode="auto">
            <a:xfrm>
              <a:off x="0" y="188"/>
              <a:ext cx="1637" cy="3936"/>
            </a:xfrm>
            <a:prstGeom prst="rect">
              <a:avLst/>
            </a:prstGeom>
            <a:solidFill>
              <a:srgbClr val="EDEEE9"/>
            </a:solidFill>
            <a:ln w="9525">
              <a:noFill/>
              <a:miter lim="800000"/>
            </a:ln>
            <a:effectLst/>
          </p:spPr>
          <p:txBody>
            <a:bodyPr wrap="none" anchor="ctr"/>
            <a:lstStyle/>
            <a:p>
              <a:pPr algn="ctr" fontAlgn="base">
                <a:spcBef>
                  <a:spcPct val="0"/>
                </a:spcBef>
                <a:spcAft>
                  <a:spcPct val="0"/>
                </a:spcAft>
                <a:defRPr/>
              </a:pPr>
              <a:endParaRPr lang="zh-CN" altLang="zh-CN" sz="2200" b="1">
                <a:solidFill>
                  <a:srgbClr val="000000"/>
                </a:solidFill>
                <a:latin typeface="Times New Roman" panose="02020603050405020304" pitchFamily="18" charset="0"/>
                <a:ea typeface="楷体_GB2312" pitchFamily="49" charset="-122"/>
              </a:endParaRPr>
            </a:p>
          </p:txBody>
        </p:sp>
        <p:grpSp>
          <p:nvGrpSpPr>
            <p:cNvPr id="1036" name="Group 8"/>
            <p:cNvGrpSpPr/>
            <p:nvPr userDrawn="1"/>
          </p:nvGrpSpPr>
          <p:grpSpPr bwMode="auto">
            <a:xfrm>
              <a:off x="0" y="-1"/>
              <a:ext cx="6925" cy="4320"/>
              <a:chOff x="0" y="-1"/>
              <a:chExt cx="6925" cy="4320"/>
            </a:xfrm>
          </p:grpSpPr>
          <p:sp>
            <p:nvSpPr>
              <p:cNvPr id="225289" name="Rectangle 9"/>
              <p:cNvSpPr>
                <a:spLocks noChangeArrowheads="1"/>
              </p:cNvSpPr>
              <p:nvPr userDrawn="1"/>
            </p:nvSpPr>
            <p:spPr bwMode="blackWhite">
              <a:xfrm>
                <a:off x="11" y="4138"/>
                <a:ext cx="6914" cy="181"/>
              </a:xfrm>
              <a:prstGeom prst="rect">
                <a:avLst/>
              </a:prstGeom>
              <a:solidFill>
                <a:srgbClr val="D7E5ED"/>
              </a:solidFill>
              <a:ln w="9525">
                <a:noFill/>
                <a:miter lim="800000"/>
              </a:ln>
            </p:spPr>
            <p:txBody>
              <a:bodyPr/>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0" name="Rectangle 10"/>
              <p:cNvSpPr>
                <a:spLocks noChangeArrowheads="1"/>
              </p:cNvSpPr>
              <p:nvPr userDrawn="1"/>
            </p:nvSpPr>
            <p:spPr bwMode="blackWhite">
              <a:xfrm>
                <a:off x="0" y="-1"/>
                <a:ext cx="6914" cy="181"/>
              </a:xfrm>
              <a:prstGeom prst="rect">
                <a:avLst/>
              </a:prstGeom>
              <a:solidFill>
                <a:srgbClr val="D7E5ED"/>
              </a:solidFill>
              <a:ln w="9525">
                <a:noFill/>
                <a:miter lim="800000"/>
              </a:ln>
            </p:spPr>
            <p:txBody>
              <a:bodyPr wrap="none" lIns="92075" tIns="0" rIns="92075" bIns="46037"/>
              <a:lstStyle/>
              <a:p>
                <a:pPr fontAlgn="base">
                  <a:spcBef>
                    <a:spcPct val="0"/>
                  </a:spcBef>
                  <a:spcAft>
                    <a:spcPct val="0"/>
                  </a:spcAft>
                  <a:defRPr/>
                </a:pPr>
                <a:r>
                  <a:rPr lang="en-US" altLang="zh-CN" sz="1200" i="1">
                    <a:solidFill>
                      <a:srgbClr val="333399"/>
                    </a:solidFill>
                    <a:latin typeface="Times New Roman" panose="02020603050405020304" pitchFamily="18" charset="0"/>
                  </a:rPr>
                  <a:t>				                                                                            Department of Material and Engineering, Soochow University</a:t>
                </a:r>
              </a:p>
            </p:txBody>
          </p:sp>
          <p:sp>
            <p:nvSpPr>
              <p:cNvPr id="225291" name="Rectangle 11"/>
              <p:cNvSpPr>
                <a:spLocks noChangeArrowheads="1"/>
              </p:cNvSpPr>
              <p:nvPr userDrawn="1"/>
            </p:nvSpPr>
            <p:spPr bwMode="blackWhite">
              <a:xfrm rot="5400000">
                <a:off x="4670"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2" name="Rectangle 12"/>
              <p:cNvSpPr>
                <a:spLocks noChangeArrowheads="1"/>
              </p:cNvSpPr>
              <p:nvPr userDrawn="1"/>
            </p:nvSpPr>
            <p:spPr bwMode="blackWhite">
              <a:xfrm rot="5400000">
                <a:off x="6735"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3" name="Rectangle 13"/>
              <p:cNvSpPr>
                <a:spLocks noChangeArrowheads="1"/>
              </p:cNvSpPr>
              <p:nvPr userDrawn="1"/>
            </p:nvSpPr>
            <p:spPr bwMode="blackWhite">
              <a:xfrm rot="5400000">
                <a:off x="-425" y="2068"/>
                <a:ext cx="4320" cy="181"/>
              </a:xfrm>
              <a:prstGeom prst="rect">
                <a:avLst/>
              </a:prstGeom>
              <a:solidFill>
                <a:srgbClr val="D7E5ED"/>
              </a:soli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4" name="Rectangle 14"/>
              <p:cNvSpPr>
                <a:spLocks noChangeArrowheads="1"/>
              </p:cNvSpPr>
              <p:nvPr userDrawn="1"/>
            </p:nvSpPr>
            <p:spPr bwMode="blackWhite">
              <a:xfrm rot="5400000">
                <a:off x="1656"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5" name="Rectangle 15"/>
              <p:cNvSpPr>
                <a:spLocks noChangeArrowheads="1"/>
              </p:cNvSpPr>
              <p:nvPr userDrawn="1"/>
            </p:nvSpPr>
            <p:spPr bwMode="blackWhite">
              <a:xfrm rot="5400000">
                <a:off x="1656" y="-1"/>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sp>
            <p:nvSpPr>
              <p:cNvPr id="225296" name="Rectangle 16"/>
              <p:cNvSpPr>
                <a:spLocks noChangeArrowheads="1"/>
              </p:cNvSpPr>
              <p:nvPr userDrawn="1"/>
            </p:nvSpPr>
            <p:spPr bwMode="blackWhite">
              <a:xfrm rot="5400000">
                <a:off x="6735" y="4138"/>
                <a:ext cx="181" cy="181"/>
              </a:xfrm>
              <a:prstGeom prst="rect">
                <a:avLst/>
              </a:prstGeom>
              <a:gradFill rotWithShape="1">
                <a:gsLst>
                  <a:gs pos="0">
                    <a:srgbClr val="FFFCFF"/>
                  </a:gs>
                  <a:gs pos="100000">
                    <a:srgbClr val="D7E5ED"/>
                  </a:gs>
                </a:gsLst>
                <a:path path="shape">
                  <a:fillToRect l="50000" t="50000" r="50000" b="50000"/>
                </a:path>
              </a:gradFill>
              <a:ln w="9525">
                <a:noFill/>
                <a:miter lim="800000"/>
              </a:ln>
            </p:spPr>
            <p:txBody>
              <a:bodyPr rot="10800000" vert="eaVert"/>
              <a:lstStyle/>
              <a:p>
                <a:pPr fontAlgn="base">
                  <a:spcBef>
                    <a:spcPct val="0"/>
                  </a:spcBef>
                  <a:spcAft>
                    <a:spcPct val="0"/>
                  </a:spcAft>
                  <a:defRPr/>
                </a:pPr>
                <a:endParaRPr kumimoji="1" lang="zh-CN" altLang="zh-CN" sz="2400">
                  <a:solidFill>
                    <a:srgbClr val="000000"/>
                  </a:solidFill>
                  <a:latin typeface="Times New Roman" panose="02020603050405020304" pitchFamily="18" charset="0"/>
                </a:endParaRPr>
              </a:p>
            </p:txBody>
          </p:sp>
        </p:grpSp>
      </p:grpSp>
      <p:sp>
        <p:nvSpPr>
          <p:cNvPr id="1032" name="Rectangle 17"/>
          <p:cNvSpPr>
            <a:spLocks noGrp="1" noChangeArrowheads="1"/>
          </p:cNvSpPr>
          <p:nvPr>
            <p:ph type="body" idx="1"/>
          </p:nvPr>
        </p:nvSpPr>
        <p:spPr bwMode="auto">
          <a:xfrm>
            <a:off x="2640013" y="1193800"/>
            <a:ext cx="6296025" cy="5432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25298" name="Rectangle 18"/>
          <p:cNvSpPr>
            <a:spLocks noGrp="1" noChangeArrowheads="1"/>
          </p:cNvSpPr>
          <p:nvPr>
            <p:ph type="title"/>
          </p:nvPr>
        </p:nvSpPr>
        <p:spPr bwMode="auto">
          <a:xfrm>
            <a:off x="2533650" y="403225"/>
            <a:ext cx="4856163" cy="504825"/>
          </a:xfrm>
          <a:prstGeom prst="rect">
            <a:avLst/>
          </a:prstGeom>
          <a:noFill/>
          <a:ln w="9525">
            <a:noFill/>
            <a:miter lim="800000"/>
          </a:ln>
          <a:effectLst/>
        </p:spPr>
        <p:txBody>
          <a:bodyPr vert="horz" wrap="square" lIns="91440" tIns="45720" rIns="91440" bIns="45720" numCol="1" anchor="ctr" anchorCtr="0" compatLnSpc="1"/>
          <a:lstStyle/>
          <a:p>
            <a:pPr lvl="0"/>
            <a:r>
              <a:rPr lang="zh-CN" altLang="en-US" smtClean="0"/>
              <a:t>单击此处编辑母版标题样式</a:t>
            </a:r>
          </a:p>
        </p:txBody>
      </p:sp>
      <p:graphicFrame>
        <p:nvGraphicFramePr>
          <p:cNvPr id="1026" name="Object 19">
            <a:hlinkClick r:id="rId18" action="ppaction://hlinksldjump"/>
          </p:cNvPr>
          <p:cNvGraphicFramePr>
            <a:graphicFrameLocks noChangeAspect="1"/>
          </p:cNvGraphicFramePr>
          <p:nvPr userDrawn="1"/>
        </p:nvGraphicFramePr>
        <p:xfrm>
          <a:off x="309563" y="-42863"/>
          <a:ext cx="790575" cy="377826"/>
        </p:xfrm>
        <a:graphic>
          <a:graphicData uri="http://schemas.openxmlformats.org/presentationml/2006/ole">
            <p:oleObj spid="_x0000_s1025" name="CS ChemDraw Drawing" r:id="rId19" imgW="3314700" imgH="1581150" progId="ExeApp.Eleconment.1">
              <p:embed/>
            </p:oleObj>
          </a:graphicData>
        </a:graphic>
      </p:graphicFrame>
      <p:graphicFrame>
        <p:nvGraphicFramePr>
          <p:cNvPr id="1027" name="Object 20">
            <a:hlinkClick r:id="rId20" action="ppaction://hlinksldjump"/>
          </p:cNvPr>
          <p:cNvGraphicFramePr>
            <a:graphicFrameLocks noChangeAspect="1"/>
          </p:cNvGraphicFramePr>
          <p:nvPr userDrawn="1"/>
        </p:nvGraphicFramePr>
        <p:xfrm>
          <a:off x="1146175" y="-42863"/>
          <a:ext cx="796925" cy="377826"/>
        </p:xfrm>
        <a:graphic>
          <a:graphicData uri="http://schemas.openxmlformats.org/presentationml/2006/ole">
            <p:oleObj spid="_x0000_s1039" name="CS ChemDraw Drawing" r:id="rId21" imgW="3314700" imgH="1571625" progId="ExeApp.Eleconment.1">
              <p:embed/>
            </p:oleObj>
          </a:graphicData>
        </a:graphic>
      </p:graphicFrame>
      <p:sp>
        <p:nvSpPr>
          <p:cNvPr id="225301" name="Rectangle 21"/>
          <p:cNvSpPr>
            <a:spLocks noChangeArrowheads="1"/>
          </p:cNvSpPr>
          <p:nvPr userDrawn="1"/>
        </p:nvSpPr>
        <p:spPr bwMode="auto">
          <a:xfrm>
            <a:off x="152400" y="457200"/>
            <a:ext cx="1212850" cy="641350"/>
          </a:xfrm>
          <a:prstGeom prst="rect">
            <a:avLst/>
          </a:prstGeom>
          <a:noFill/>
          <a:ln w="9525">
            <a:noFill/>
            <a:miter lim="800000"/>
          </a:ln>
          <a:effectLst/>
        </p:spPr>
        <p:txBody>
          <a:bodyPr wrap="none">
            <a:spAutoFit/>
          </a:bodyPr>
          <a:lstStyle/>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Inorganic</a:t>
            </a:r>
          </a:p>
          <a:p>
            <a:pPr algn="ctr" fontAlgn="base">
              <a:spcBef>
                <a:spcPct val="0"/>
              </a:spcBef>
              <a:spcAft>
                <a:spcPct val="0"/>
              </a:spcAft>
              <a:defRPr/>
            </a:pPr>
            <a:r>
              <a:rPr lang="en-US" altLang="zh-CN" b="1" i="1">
                <a:solidFill>
                  <a:srgbClr val="FF00FF"/>
                </a:solidFill>
                <a:latin typeface="隶书" panose="02010509060101010101" pitchFamily="49" charset="-122"/>
                <a:ea typeface="隶书" panose="02010509060101010101" pitchFamily="49" charset="-122"/>
              </a:rPr>
              <a:t>chemistry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par>
    </p:tnLst>
  </p:timing>
  <p:txStyles>
    <p:titleStyle>
      <a:lvl1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5.xml"/><Relationship Id="rId1" Type="http://schemas.openxmlformats.org/officeDocument/2006/relationships/vmlDrawing" Target="../drawings/vmlDrawing3.v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images.google.com/imgres?imgurl=http://www.chem4kids.com/files/art/matter_gas_1_240.jpg&amp;imgrefurl=http://www.chem4kids.com/files/matter_gas.html&amp;h=240&amp;w=240&amp;sz=9&amp;tbnid=EneWzxsNXtPCZM:&amp;tbnh=104&amp;tbnw=104&amp;hl=en&amp;start=1&amp;prev=/images?q=pictures++of++gases&amp;svnum=10&amp;hl=en&amp;lr=&amp;newwindow=1&amp;sa=X" TargetMode="External"/><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4.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5.vml"/><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4.xml"/><Relationship Id="rId1" Type="http://schemas.openxmlformats.org/officeDocument/2006/relationships/vmlDrawing" Target="../drawings/vmlDrawing6.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9.vml"/></Relationships>
</file>

<file path=ppt/slides/slide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组合 5"/>
          <p:cNvGrpSpPr/>
          <p:nvPr/>
        </p:nvGrpSpPr>
        <p:grpSpPr bwMode="auto">
          <a:xfrm>
            <a:off x="838200" y="2590800"/>
            <a:ext cx="7620000" cy="3429000"/>
            <a:chOff x="1752600" y="2362200"/>
            <a:chExt cx="6248400" cy="2743200"/>
          </a:xfrm>
        </p:grpSpPr>
        <p:pic>
          <p:nvPicPr>
            <p:cNvPr id="64518" name="Picture 1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752600" y="2362200"/>
              <a:ext cx="6248400" cy="2743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4519" name="矩形 7"/>
            <p:cNvSpPr>
              <a:spLocks noChangeArrowheads="1"/>
            </p:cNvSpPr>
            <p:nvPr/>
          </p:nvSpPr>
          <p:spPr bwMode="auto">
            <a:xfrm>
              <a:off x="1828800" y="2362200"/>
              <a:ext cx="1707519"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400" b="1" i="1">
                  <a:solidFill>
                    <a:srgbClr val="000000"/>
                  </a:solidFill>
                </a:rPr>
                <a:t>Aggregate</a:t>
              </a:r>
              <a:endParaRPr lang="zh-CN" altLang="en-US" sz="2400" b="1" i="1">
                <a:solidFill>
                  <a:srgbClr val="000000"/>
                </a:solidFill>
              </a:endParaRPr>
            </a:p>
          </p:txBody>
        </p:sp>
      </p:grpSp>
      <p:sp>
        <p:nvSpPr>
          <p:cNvPr id="7" name="Rectangle 2"/>
          <p:cNvSpPr txBox="1">
            <a:spLocks noChangeArrowheads="1"/>
          </p:cNvSpPr>
          <p:nvPr/>
        </p:nvSpPr>
        <p:spPr bwMode="auto">
          <a:xfrm>
            <a:off x="457200" y="228600"/>
            <a:ext cx="8458200" cy="504825"/>
          </a:xfrm>
          <a:prstGeom prst="rect">
            <a:avLst/>
          </a:prstGeom>
          <a:solidFill>
            <a:schemeClr val="bg2">
              <a:lumMod val="60000"/>
              <a:lumOff val="40000"/>
            </a:schemeClr>
          </a:solidFill>
          <a:ln w="9525">
            <a:noFill/>
            <a:miter lim="800000"/>
          </a:ln>
          <a:effectLst/>
        </p:spPr>
        <p:txBody>
          <a:bodyPr anchor="ctr"/>
          <a:lstStyle/>
          <a:p>
            <a:pPr algn="ctr" fontAlgn="base">
              <a:spcBef>
                <a:spcPct val="0"/>
              </a:spcBef>
              <a:spcAft>
                <a:spcPct val="0"/>
              </a:spcAft>
              <a:defRPr/>
            </a:pPr>
            <a:r>
              <a:rPr lang="en-US" altLang="zh-CN" sz="3200" b="1" i="1" kern="0" dirty="0">
                <a:solidFill>
                  <a:srgbClr val="CC0000"/>
                </a:solidFill>
                <a:latin typeface="Times New Roman" panose="02020603050405020304"/>
              </a:rPr>
              <a:t>Part  one    principles of chemical reactions</a:t>
            </a:r>
          </a:p>
        </p:txBody>
      </p:sp>
      <p:sp>
        <p:nvSpPr>
          <p:cNvPr id="8" name="Rectangle 5"/>
          <p:cNvSpPr>
            <a:spLocks noChangeArrowheads="1"/>
          </p:cNvSpPr>
          <p:nvPr/>
        </p:nvSpPr>
        <p:spPr bwMode="auto">
          <a:xfrm>
            <a:off x="533400" y="838200"/>
            <a:ext cx="8229600" cy="457200"/>
          </a:xfrm>
          <a:prstGeom prst="rect">
            <a:avLst/>
          </a:prstGeom>
          <a:solidFill>
            <a:schemeClr val="bg2">
              <a:lumMod val="60000"/>
              <a:lumOff val="40000"/>
            </a:schemeClr>
          </a:solidFill>
          <a:ln w="9525">
            <a:noFill/>
            <a:miter lim="800000"/>
          </a:ln>
        </p:spPr>
        <p:txBody>
          <a:bodyPr/>
          <a:lstStyle/>
          <a:p>
            <a:pPr algn="ctr" fontAlgn="base">
              <a:spcBef>
                <a:spcPct val="0"/>
              </a:spcBef>
              <a:spcAft>
                <a:spcPct val="0"/>
              </a:spcAft>
              <a:defRPr/>
            </a:pPr>
            <a:r>
              <a:rPr lang="en-US" altLang="zh-CN" sz="2800" b="1" i="1" dirty="0">
                <a:solidFill>
                  <a:srgbClr val="C00000"/>
                </a:solidFill>
                <a:latin typeface="Times New Roman" panose="02020603050405020304"/>
              </a:rPr>
              <a:t>(Thermodynamics and Kinetics of Chemical Reactions)</a:t>
            </a:r>
          </a:p>
        </p:txBody>
      </p:sp>
      <p:sp>
        <p:nvSpPr>
          <p:cNvPr id="9" name="矩形 8"/>
          <p:cNvSpPr/>
          <p:nvPr/>
        </p:nvSpPr>
        <p:spPr>
          <a:xfrm>
            <a:off x="914400" y="1524000"/>
            <a:ext cx="7167563" cy="584200"/>
          </a:xfrm>
          <a:prstGeom prst="rect">
            <a:avLst/>
          </a:prstGeom>
        </p:spPr>
        <p:txBody>
          <a:bodyPr>
            <a:spAutoFit/>
          </a:bodyPr>
          <a:lstStyle/>
          <a:p>
            <a:pPr algn="ctr" fontAlgn="base">
              <a:spcBef>
                <a:spcPct val="0"/>
              </a:spcBef>
              <a:spcAft>
                <a:spcPct val="0"/>
              </a:spcAft>
              <a:defRPr/>
            </a:pPr>
            <a:r>
              <a:rPr lang="en-US" altLang="zh-CN" sz="3200" b="1" i="1" kern="0" dirty="0">
                <a:solidFill>
                  <a:srgbClr val="C00000"/>
                </a:solidFill>
                <a:latin typeface="Times New Roman" panose="02020603050405020304"/>
              </a:rPr>
              <a:t>Chapter  one      GAS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61124" name="Object 4"/>
          <p:cNvGraphicFramePr>
            <a:graphicFrameLocks noChangeAspect="1"/>
          </p:cNvGraphicFramePr>
          <p:nvPr/>
        </p:nvGraphicFramePr>
        <p:xfrm>
          <a:off x="381000" y="381000"/>
          <a:ext cx="8610600" cy="1295400"/>
        </p:xfrm>
        <a:graphic>
          <a:graphicData uri="http://schemas.openxmlformats.org/presentationml/2006/ole">
            <p:oleObj spid="_x0000_s2049" name="CS ChemDraw Drawing" r:id="rId3" imgW="24288750" imgH="3657600" progId="ExeApp.Eleconment.1">
              <p:embed/>
            </p:oleObj>
          </a:graphicData>
        </a:graphic>
      </p:graphicFrame>
      <p:graphicFrame>
        <p:nvGraphicFramePr>
          <p:cNvPr id="261125" name="Object 5"/>
          <p:cNvGraphicFramePr>
            <a:graphicFrameLocks noChangeAspect="1"/>
          </p:cNvGraphicFramePr>
          <p:nvPr/>
        </p:nvGraphicFramePr>
        <p:xfrm>
          <a:off x="457200" y="1905000"/>
          <a:ext cx="8458200" cy="1219200"/>
        </p:xfrm>
        <a:graphic>
          <a:graphicData uri="http://schemas.openxmlformats.org/presentationml/2006/ole">
            <p:oleObj spid="_x0000_s2069" name="CS ChemDraw Drawing" r:id="rId4" imgW="21316950" imgH="2686050" progId="ExeApp.Eleconment.1">
              <p:embed/>
            </p:oleObj>
          </a:graphicData>
        </a:graphic>
      </p:graphicFrame>
      <p:graphicFrame>
        <p:nvGraphicFramePr>
          <p:cNvPr id="261126" name="Object 6"/>
          <p:cNvGraphicFramePr>
            <a:graphicFrameLocks noGrp="1" noChangeAspect="1"/>
          </p:cNvGraphicFramePr>
          <p:nvPr>
            <p:ph/>
          </p:nvPr>
        </p:nvGraphicFramePr>
        <p:xfrm>
          <a:off x="1524000" y="3505200"/>
          <a:ext cx="6019800" cy="2057400"/>
        </p:xfrm>
        <a:graphic>
          <a:graphicData uri="http://schemas.openxmlformats.org/presentationml/2006/ole">
            <p:oleObj spid="_x0000_s2070" name="CS ChemDraw Drawing" r:id="rId5" imgW="30746700" imgH="11182350" progId="ExeApp.Eleconment.1">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61124"/>
                                        </p:tgtEl>
                                        <p:attrNameLst>
                                          <p:attrName>style.visibility</p:attrName>
                                        </p:attrNameLst>
                                      </p:cBhvr>
                                      <p:to>
                                        <p:strVal val="visible"/>
                                      </p:to>
                                    </p:set>
                                    <p:anim calcmode="lin" valueType="num">
                                      <p:cBhvr>
                                        <p:cTn id="7" dur="500" fill="hold"/>
                                        <p:tgtEl>
                                          <p:spTgt spid="261124"/>
                                        </p:tgtEl>
                                        <p:attrNameLst>
                                          <p:attrName>ppt_w</p:attrName>
                                        </p:attrNameLst>
                                      </p:cBhvr>
                                      <p:tavLst>
                                        <p:tav tm="0">
                                          <p:val>
                                            <p:fltVal val="0"/>
                                          </p:val>
                                        </p:tav>
                                        <p:tav tm="100000">
                                          <p:val>
                                            <p:strVal val="#ppt_w"/>
                                          </p:val>
                                        </p:tav>
                                      </p:tavLst>
                                    </p:anim>
                                    <p:anim calcmode="lin" valueType="num">
                                      <p:cBhvr>
                                        <p:cTn id="8" dur="500" fill="hold"/>
                                        <p:tgtEl>
                                          <p:spTgt spid="261124"/>
                                        </p:tgtEl>
                                        <p:attrNameLst>
                                          <p:attrName>ppt_h</p:attrName>
                                        </p:attrNameLst>
                                      </p:cBhvr>
                                      <p:tavLst>
                                        <p:tav tm="0">
                                          <p:val>
                                            <p:fltVal val="0"/>
                                          </p:val>
                                        </p:tav>
                                        <p:tav tm="100000">
                                          <p:val>
                                            <p:strVal val="#ppt_h"/>
                                          </p:val>
                                        </p:tav>
                                      </p:tavLst>
                                    </p:anim>
                                    <p:anim calcmode="lin" valueType="num">
                                      <p:cBhvr>
                                        <p:cTn id="9" dur="500" fill="hold"/>
                                        <p:tgtEl>
                                          <p:spTgt spid="261124"/>
                                        </p:tgtEl>
                                        <p:attrNameLst>
                                          <p:attrName>style.rotation</p:attrName>
                                        </p:attrNameLst>
                                      </p:cBhvr>
                                      <p:tavLst>
                                        <p:tav tm="0">
                                          <p:val>
                                            <p:fltVal val="90"/>
                                          </p:val>
                                        </p:tav>
                                        <p:tav tm="100000">
                                          <p:val>
                                            <p:fltVal val="0"/>
                                          </p:val>
                                        </p:tav>
                                      </p:tavLst>
                                    </p:anim>
                                    <p:animEffect transition="in" filter="fade">
                                      <p:cBhvr>
                                        <p:cTn id="10" dur="500"/>
                                        <p:tgtEl>
                                          <p:spTgt spid="26112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61125"/>
                                        </p:tgtEl>
                                        <p:attrNameLst>
                                          <p:attrName>style.visibility</p:attrName>
                                        </p:attrNameLst>
                                      </p:cBhvr>
                                      <p:to>
                                        <p:strVal val="visible"/>
                                      </p:to>
                                    </p:set>
                                    <p:anim calcmode="lin" valueType="num">
                                      <p:cBhvr>
                                        <p:cTn id="15" dur="500" fill="hold"/>
                                        <p:tgtEl>
                                          <p:spTgt spid="261125"/>
                                        </p:tgtEl>
                                        <p:attrNameLst>
                                          <p:attrName>ppt_w</p:attrName>
                                        </p:attrNameLst>
                                      </p:cBhvr>
                                      <p:tavLst>
                                        <p:tav tm="0">
                                          <p:val>
                                            <p:fltVal val="0"/>
                                          </p:val>
                                        </p:tav>
                                        <p:tav tm="100000">
                                          <p:val>
                                            <p:strVal val="#ppt_w"/>
                                          </p:val>
                                        </p:tav>
                                      </p:tavLst>
                                    </p:anim>
                                    <p:anim calcmode="lin" valueType="num">
                                      <p:cBhvr>
                                        <p:cTn id="16" dur="500" fill="hold"/>
                                        <p:tgtEl>
                                          <p:spTgt spid="261125"/>
                                        </p:tgtEl>
                                        <p:attrNameLst>
                                          <p:attrName>ppt_h</p:attrName>
                                        </p:attrNameLst>
                                      </p:cBhvr>
                                      <p:tavLst>
                                        <p:tav tm="0">
                                          <p:val>
                                            <p:fltVal val="0"/>
                                          </p:val>
                                        </p:tav>
                                        <p:tav tm="100000">
                                          <p:val>
                                            <p:strVal val="#ppt_h"/>
                                          </p:val>
                                        </p:tav>
                                      </p:tavLst>
                                    </p:anim>
                                    <p:anim calcmode="lin" valueType="num">
                                      <p:cBhvr>
                                        <p:cTn id="17" dur="500" fill="hold"/>
                                        <p:tgtEl>
                                          <p:spTgt spid="261125"/>
                                        </p:tgtEl>
                                        <p:attrNameLst>
                                          <p:attrName>style.rotation</p:attrName>
                                        </p:attrNameLst>
                                      </p:cBhvr>
                                      <p:tavLst>
                                        <p:tav tm="0">
                                          <p:val>
                                            <p:fltVal val="90"/>
                                          </p:val>
                                        </p:tav>
                                        <p:tav tm="100000">
                                          <p:val>
                                            <p:fltVal val="0"/>
                                          </p:val>
                                        </p:tav>
                                      </p:tavLst>
                                    </p:anim>
                                    <p:animEffect transition="in" filter="fade">
                                      <p:cBhvr>
                                        <p:cTn id="18" dur="500"/>
                                        <p:tgtEl>
                                          <p:spTgt spid="26112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261126"/>
                                        </p:tgtEl>
                                        <p:attrNameLst>
                                          <p:attrName>style.visibility</p:attrName>
                                        </p:attrNameLst>
                                      </p:cBhvr>
                                      <p:to>
                                        <p:strVal val="visible"/>
                                      </p:to>
                                    </p:set>
                                    <p:anim calcmode="lin" valueType="num">
                                      <p:cBhvr>
                                        <p:cTn id="23" dur="500" fill="hold"/>
                                        <p:tgtEl>
                                          <p:spTgt spid="261126"/>
                                        </p:tgtEl>
                                        <p:attrNameLst>
                                          <p:attrName>ppt_w</p:attrName>
                                        </p:attrNameLst>
                                      </p:cBhvr>
                                      <p:tavLst>
                                        <p:tav tm="0">
                                          <p:val>
                                            <p:fltVal val="0"/>
                                          </p:val>
                                        </p:tav>
                                        <p:tav tm="100000">
                                          <p:val>
                                            <p:strVal val="#ppt_w"/>
                                          </p:val>
                                        </p:tav>
                                      </p:tavLst>
                                    </p:anim>
                                    <p:anim calcmode="lin" valueType="num">
                                      <p:cBhvr>
                                        <p:cTn id="24" dur="500" fill="hold"/>
                                        <p:tgtEl>
                                          <p:spTgt spid="261126"/>
                                        </p:tgtEl>
                                        <p:attrNameLst>
                                          <p:attrName>ppt_h</p:attrName>
                                        </p:attrNameLst>
                                      </p:cBhvr>
                                      <p:tavLst>
                                        <p:tav tm="0">
                                          <p:val>
                                            <p:fltVal val="0"/>
                                          </p:val>
                                        </p:tav>
                                        <p:tav tm="100000">
                                          <p:val>
                                            <p:strVal val="#ppt_h"/>
                                          </p:val>
                                        </p:tav>
                                      </p:tavLst>
                                    </p:anim>
                                    <p:anim calcmode="lin" valueType="num">
                                      <p:cBhvr>
                                        <p:cTn id="25" dur="500" fill="hold"/>
                                        <p:tgtEl>
                                          <p:spTgt spid="261126"/>
                                        </p:tgtEl>
                                        <p:attrNameLst>
                                          <p:attrName>style.rotation</p:attrName>
                                        </p:attrNameLst>
                                      </p:cBhvr>
                                      <p:tavLst>
                                        <p:tav tm="0">
                                          <p:val>
                                            <p:fltVal val="90"/>
                                          </p:val>
                                        </p:tav>
                                        <p:tav tm="100000">
                                          <p:val>
                                            <p:fltVal val="0"/>
                                          </p:val>
                                        </p:tav>
                                      </p:tavLst>
                                    </p:anim>
                                    <p:animEffect transition="in" filter="fade">
                                      <p:cBhvr>
                                        <p:cTn id="26" dur="500"/>
                                        <p:tgtEl>
                                          <p:spTgt spid="261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2" name="Rectangle 4"/>
          <p:cNvSpPr>
            <a:spLocks noChangeArrowheads="1"/>
          </p:cNvSpPr>
          <p:nvPr/>
        </p:nvSpPr>
        <p:spPr bwMode="auto">
          <a:xfrm>
            <a:off x="1066800" y="2820670"/>
            <a:ext cx="7086600" cy="930910"/>
          </a:xfrm>
          <a:prstGeom prst="rect">
            <a:avLst/>
          </a:prstGeom>
          <a:solidFill>
            <a:schemeClr val="bg1"/>
          </a:solidFill>
          <a:ln w="9525" algn="ctr">
            <a:noFill/>
            <a:miter lim="800000"/>
          </a:ln>
          <a:effectLst>
            <a:outerShdw sy="50000" kx="2453608" rotWithShape="0">
              <a:srgbClr val="808080">
                <a:alpha val="50000"/>
              </a:srgbClr>
            </a:outerShdw>
          </a:effectLst>
        </p:spPr>
        <p:txBody>
          <a:bodyPr lIns="0" tIns="98394" rIns="0" bIns="33327"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a:t>
            </a:r>
            <a:r>
              <a:rPr lang="zh-CN" altLang="en-US" sz="2600" b="1" dirty="0">
                <a:solidFill>
                  <a:srgbClr val="000000"/>
                </a:solidFill>
                <a:latin typeface="Times New Roman" panose="02020603050405020304"/>
              </a:rPr>
              <a:t>等离子态</a:t>
            </a:r>
            <a:r>
              <a:rPr lang="en-US" altLang="zh-CN" sz="2600" b="1" dirty="0">
                <a:solidFill>
                  <a:srgbClr val="000000"/>
                </a:solidFill>
                <a:latin typeface="Times New Roman" panose="02020603050405020304"/>
              </a:rPr>
              <a:t>Plasma state ——</a:t>
            </a:r>
            <a:r>
              <a:rPr lang="zh-CN" altLang="en-US" sz="2600" b="1" dirty="0">
                <a:solidFill>
                  <a:srgbClr val="000000"/>
                </a:solidFill>
                <a:latin typeface="Times New Roman" panose="02020603050405020304"/>
              </a:rPr>
              <a:t>电离化的气体</a:t>
            </a:r>
            <a:r>
              <a:rPr lang="en-US" altLang="zh-CN" sz="2600" b="1" dirty="0">
                <a:solidFill>
                  <a:srgbClr val="000000"/>
                </a:solidFill>
                <a:latin typeface="Times New Roman" panose="02020603050405020304"/>
              </a:rPr>
              <a:t>ionized gases(</a:t>
            </a:r>
            <a:r>
              <a:rPr lang="zh-CN" altLang="en-US" sz="2600" b="1" dirty="0">
                <a:solidFill>
                  <a:srgbClr val="000000"/>
                </a:solidFill>
                <a:latin typeface="Times New Roman" panose="02020603050405020304"/>
              </a:rPr>
              <a:t>正负离子组成的气体</a:t>
            </a:r>
            <a:r>
              <a:rPr lang="en-US" altLang="zh-CN" sz="2600" b="1" dirty="0">
                <a:solidFill>
                  <a:srgbClr val="000000"/>
                </a:solidFill>
                <a:latin typeface="Times New Roman" panose="02020603050405020304"/>
              </a:rPr>
              <a:t>) </a:t>
            </a:r>
          </a:p>
        </p:txBody>
      </p:sp>
      <p:sp>
        <p:nvSpPr>
          <p:cNvPr id="247813" name="Rectangle 5"/>
          <p:cNvSpPr>
            <a:spLocks noChangeArrowheads="1"/>
          </p:cNvSpPr>
          <p:nvPr/>
        </p:nvSpPr>
        <p:spPr bwMode="auto">
          <a:xfrm>
            <a:off x="990600" y="3886200"/>
            <a:ext cx="7239000" cy="933450"/>
          </a:xfrm>
          <a:prstGeom prst="rect">
            <a:avLst/>
          </a:prstGeom>
          <a:solidFill>
            <a:schemeClr val="bg1"/>
          </a:solidFill>
          <a:ln w="9525" algn="ctr">
            <a:noFill/>
            <a:miter lim="800000"/>
          </a:ln>
          <a:effectLst>
            <a:outerShdw sy="50000" kx="2453608" rotWithShape="0">
              <a:srgbClr val="808080">
                <a:alpha val="50000"/>
              </a:srgbClr>
            </a:outerShdw>
          </a:effectLst>
        </p:spPr>
        <p:txBody>
          <a:bodyPr lIns="0" tIns="98394" rIns="0" bIns="33327"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a:t>
            </a:r>
            <a:r>
              <a:rPr lang="zh-CN" altLang="en-US" sz="2600" b="1" dirty="0">
                <a:solidFill>
                  <a:srgbClr val="000000"/>
                </a:solidFill>
                <a:latin typeface="Times New Roman" panose="02020603050405020304"/>
              </a:rPr>
              <a:t>超固态</a:t>
            </a:r>
            <a:r>
              <a:rPr lang="en-US" altLang="zh-CN" sz="2600" b="1" dirty="0">
                <a:solidFill>
                  <a:srgbClr val="000000"/>
                </a:solidFill>
                <a:latin typeface="Times New Roman" panose="02020603050405020304"/>
              </a:rPr>
              <a:t>Ultra solid state —— </a:t>
            </a:r>
            <a:r>
              <a:rPr lang="zh-CN" altLang="en-US" sz="2600" b="1" dirty="0">
                <a:solidFill>
                  <a:srgbClr val="000000"/>
                </a:solidFill>
                <a:latin typeface="Times New Roman" panose="02020603050405020304"/>
              </a:rPr>
              <a:t>电子和原子核之间</a:t>
            </a:r>
            <a:r>
              <a:rPr lang="en-US" altLang="zh-CN" sz="2600" b="1" dirty="0">
                <a:solidFill>
                  <a:srgbClr val="000000"/>
                </a:solidFill>
                <a:latin typeface="Times New Roman" panose="02020603050405020304"/>
              </a:rPr>
              <a:t>no space </a:t>
            </a:r>
          </a:p>
        </p:txBody>
      </p:sp>
      <p:sp>
        <p:nvSpPr>
          <p:cNvPr id="247814" name="Rectangle 6"/>
          <p:cNvSpPr>
            <a:spLocks noChangeArrowheads="1"/>
          </p:cNvSpPr>
          <p:nvPr/>
        </p:nvSpPr>
        <p:spPr bwMode="auto">
          <a:xfrm>
            <a:off x="838200" y="5029200"/>
            <a:ext cx="7467600" cy="933450"/>
          </a:xfrm>
          <a:prstGeom prst="rect">
            <a:avLst/>
          </a:prstGeom>
          <a:solidFill>
            <a:schemeClr val="bg1"/>
          </a:solidFill>
          <a:ln w="9525" algn="ctr">
            <a:noFill/>
            <a:miter lim="800000"/>
          </a:ln>
          <a:effectLst>
            <a:outerShdw sy="50000" kx="2453608" rotWithShape="0">
              <a:srgbClr val="808080">
                <a:alpha val="50000"/>
              </a:srgbClr>
            </a:outerShdw>
          </a:effectLst>
        </p:spPr>
        <p:txBody>
          <a:bodyPr lIns="0" tIns="98394" rIns="0" bIns="33327"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a:t>
            </a:r>
            <a:r>
              <a:rPr lang="zh-CN" altLang="en-US" sz="2600" b="1" dirty="0">
                <a:solidFill>
                  <a:srgbClr val="000000"/>
                </a:solidFill>
                <a:latin typeface="Times New Roman" panose="02020603050405020304"/>
              </a:rPr>
              <a:t>中子态</a:t>
            </a:r>
            <a:r>
              <a:rPr lang="en-US" altLang="zh-CN" sz="2600" b="1" dirty="0">
                <a:solidFill>
                  <a:srgbClr val="000000"/>
                </a:solidFill>
                <a:latin typeface="Times New Roman" panose="02020603050405020304"/>
              </a:rPr>
              <a:t>Neutron state —— </a:t>
            </a:r>
            <a:r>
              <a:rPr lang="zh-CN" altLang="en-US" sz="2600" b="1" dirty="0">
                <a:solidFill>
                  <a:srgbClr val="000000"/>
                </a:solidFill>
                <a:latin typeface="Times New Roman" panose="02020603050405020304"/>
              </a:rPr>
              <a:t>强烈的挤压下，</a:t>
            </a:r>
            <a:r>
              <a:rPr lang="en-US" altLang="zh-CN" sz="2600" b="1" dirty="0">
                <a:solidFill>
                  <a:srgbClr val="000000"/>
                </a:solidFill>
                <a:latin typeface="Times New Roman" panose="02020603050405020304"/>
              </a:rPr>
              <a:t>proton + electron into neutron</a:t>
            </a:r>
          </a:p>
        </p:txBody>
      </p:sp>
      <p:graphicFrame>
        <p:nvGraphicFramePr>
          <p:cNvPr id="247829" name="Object 21"/>
          <p:cNvGraphicFramePr>
            <a:graphicFrameLocks noGrp="1" noChangeAspect="1"/>
          </p:cNvGraphicFramePr>
          <p:nvPr>
            <p:ph sz="half" idx="2"/>
          </p:nvPr>
        </p:nvGraphicFramePr>
        <p:xfrm>
          <a:off x="1828800" y="0"/>
          <a:ext cx="4343400" cy="2743200"/>
        </p:xfrm>
        <a:graphic>
          <a:graphicData uri="http://schemas.openxmlformats.org/presentationml/2006/ole">
            <p:oleObj spid="_x0000_s19457" name="CS ChemDraw Drawing" r:id="rId3" imgW="24507825" imgH="15382875" progId="ExeApp.Eleconment.1">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47829"/>
                                        </p:tgtEl>
                                        <p:attrNameLst>
                                          <p:attrName>style.visibility</p:attrName>
                                        </p:attrNameLst>
                                      </p:cBhvr>
                                      <p:to>
                                        <p:strVal val="visible"/>
                                      </p:to>
                                    </p:set>
                                    <p:animEffect transition="in" filter="wipe(down)">
                                      <p:cBhvr>
                                        <p:cTn id="7" dur="145">
                                          <p:stCondLst>
                                            <p:cond delay="0"/>
                                          </p:stCondLst>
                                        </p:cTn>
                                        <p:tgtEl>
                                          <p:spTgt spid="247829"/>
                                        </p:tgtEl>
                                      </p:cBhvr>
                                    </p:animEffect>
                                    <p:anim calcmode="lin" valueType="num">
                                      <p:cBhvr>
                                        <p:cTn id="8" dur="456" tmFilter="0,0; 0.14,0.36; 0.43,0.73; 0.71,0.91; 1.0,1.0">
                                          <p:stCondLst>
                                            <p:cond delay="0"/>
                                          </p:stCondLst>
                                        </p:cTn>
                                        <p:tgtEl>
                                          <p:spTgt spid="247829"/>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247829"/>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247829"/>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247829"/>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247829"/>
                                        </p:tgtEl>
                                        <p:attrNameLst>
                                          <p:attrName>ppt_y</p:attrName>
                                        </p:attrNameLst>
                                      </p:cBhvr>
                                      <p:tavLst>
                                        <p:tav tm="0" fmla="#ppt_y-sin(pi*$)/81">
                                          <p:val>
                                            <p:fltVal val="0"/>
                                          </p:val>
                                        </p:tav>
                                        <p:tav tm="100000">
                                          <p:val>
                                            <p:fltVal val="1"/>
                                          </p:val>
                                        </p:tav>
                                      </p:tavLst>
                                    </p:anim>
                                    <p:animScale>
                                      <p:cBhvr>
                                        <p:cTn id="13" dur="7">
                                          <p:stCondLst>
                                            <p:cond delay="162"/>
                                          </p:stCondLst>
                                        </p:cTn>
                                        <p:tgtEl>
                                          <p:spTgt spid="247829"/>
                                        </p:tgtEl>
                                      </p:cBhvr>
                                      <p:to x="100000" y="60000"/>
                                    </p:animScale>
                                    <p:animScale>
                                      <p:cBhvr>
                                        <p:cTn id="14" dur="41" decel="50000">
                                          <p:stCondLst>
                                            <p:cond delay="169"/>
                                          </p:stCondLst>
                                        </p:cTn>
                                        <p:tgtEl>
                                          <p:spTgt spid="247829"/>
                                        </p:tgtEl>
                                      </p:cBhvr>
                                      <p:to x="100000" y="100000"/>
                                    </p:animScale>
                                    <p:animScale>
                                      <p:cBhvr>
                                        <p:cTn id="15" dur="7">
                                          <p:stCondLst>
                                            <p:cond delay="328"/>
                                          </p:stCondLst>
                                        </p:cTn>
                                        <p:tgtEl>
                                          <p:spTgt spid="247829"/>
                                        </p:tgtEl>
                                      </p:cBhvr>
                                      <p:to x="100000" y="80000"/>
                                    </p:animScale>
                                    <p:animScale>
                                      <p:cBhvr>
                                        <p:cTn id="16" dur="41" decel="50000">
                                          <p:stCondLst>
                                            <p:cond delay="335"/>
                                          </p:stCondLst>
                                        </p:cTn>
                                        <p:tgtEl>
                                          <p:spTgt spid="247829"/>
                                        </p:tgtEl>
                                      </p:cBhvr>
                                      <p:to x="100000" y="100000"/>
                                    </p:animScale>
                                    <p:animScale>
                                      <p:cBhvr>
                                        <p:cTn id="17" dur="7">
                                          <p:stCondLst>
                                            <p:cond delay="410"/>
                                          </p:stCondLst>
                                        </p:cTn>
                                        <p:tgtEl>
                                          <p:spTgt spid="247829"/>
                                        </p:tgtEl>
                                      </p:cBhvr>
                                      <p:to x="100000" y="90000"/>
                                    </p:animScale>
                                    <p:animScale>
                                      <p:cBhvr>
                                        <p:cTn id="18" dur="41" decel="50000">
                                          <p:stCondLst>
                                            <p:cond delay="417"/>
                                          </p:stCondLst>
                                        </p:cTn>
                                        <p:tgtEl>
                                          <p:spTgt spid="247829"/>
                                        </p:tgtEl>
                                      </p:cBhvr>
                                      <p:to x="100000" y="100000"/>
                                    </p:animScale>
                                    <p:animScale>
                                      <p:cBhvr>
                                        <p:cTn id="19" dur="7">
                                          <p:stCondLst>
                                            <p:cond delay="452"/>
                                          </p:stCondLst>
                                        </p:cTn>
                                        <p:tgtEl>
                                          <p:spTgt spid="247829"/>
                                        </p:tgtEl>
                                      </p:cBhvr>
                                      <p:to x="100000" y="95000"/>
                                    </p:animScale>
                                    <p:animScale>
                                      <p:cBhvr>
                                        <p:cTn id="20" dur="41" decel="50000">
                                          <p:stCondLst>
                                            <p:cond delay="458"/>
                                          </p:stCondLst>
                                        </p:cTn>
                                        <p:tgtEl>
                                          <p:spTgt spid="247829"/>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iterate type="lt">
                                    <p:tmPct val="5000"/>
                                  </p:iterate>
                                  <p:childTnLst>
                                    <p:set>
                                      <p:cBhvr>
                                        <p:cTn id="24" dur="1" fill="hold">
                                          <p:stCondLst>
                                            <p:cond delay="0"/>
                                          </p:stCondLst>
                                        </p:cTn>
                                        <p:tgtEl>
                                          <p:spTgt spid="247812"/>
                                        </p:tgtEl>
                                        <p:attrNameLst>
                                          <p:attrName>style.visibility</p:attrName>
                                        </p:attrNameLst>
                                      </p:cBhvr>
                                      <p:to>
                                        <p:strVal val="visible"/>
                                      </p:to>
                                    </p:set>
                                    <p:anim calcmode="lin" valueType="num">
                                      <p:cBhvr>
                                        <p:cTn id="25" dur="500" fill="hold"/>
                                        <p:tgtEl>
                                          <p:spTgt spid="247812"/>
                                        </p:tgtEl>
                                        <p:attrNameLst>
                                          <p:attrName>ppt_w</p:attrName>
                                        </p:attrNameLst>
                                      </p:cBhvr>
                                      <p:tavLst>
                                        <p:tav tm="0">
                                          <p:val>
                                            <p:fltVal val="0"/>
                                          </p:val>
                                        </p:tav>
                                        <p:tav tm="100000">
                                          <p:val>
                                            <p:strVal val="#ppt_w"/>
                                          </p:val>
                                        </p:tav>
                                      </p:tavLst>
                                    </p:anim>
                                    <p:anim calcmode="lin" valueType="num">
                                      <p:cBhvr>
                                        <p:cTn id="26" dur="500" fill="hold"/>
                                        <p:tgtEl>
                                          <p:spTgt spid="247812"/>
                                        </p:tgtEl>
                                        <p:attrNameLst>
                                          <p:attrName>ppt_h</p:attrName>
                                        </p:attrNameLst>
                                      </p:cBhvr>
                                      <p:tavLst>
                                        <p:tav tm="0">
                                          <p:val>
                                            <p:fltVal val="0"/>
                                          </p:val>
                                        </p:tav>
                                        <p:tav tm="100000">
                                          <p:val>
                                            <p:strVal val="#ppt_h"/>
                                          </p:val>
                                        </p:tav>
                                      </p:tavLst>
                                    </p:anim>
                                    <p:anim calcmode="lin" valueType="num">
                                      <p:cBhvr>
                                        <p:cTn id="27" dur="500" fill="hold"/>
                                        <p:tgtEl>
                                          <p:spTgt spid="247812"/>
                                        </p:tgtEl>
                                        <p:attrNameLst>
                                          <p:attrName>style.rotation</p:attrName>
                                        </p:attrNameLst>
                                      </p:cBhvr>
                                      <p:tavLst>
                                        <p:tav tm="0">
                                          <p:val>
                                            <p:fltVal val="90"/>
                                          </p:val>
                                        </p:tav>
                                        <p:tav tm="100000">
                                          <p:val>
                                            <p:fltVal val="0"/>
                                          </p:val>
                                        </p:tav>
                                      </p:tavLst>
                                    </p:anim>
                                    <p:animEffect transition="in" filter="fade">
                                      <p:cBhvr>
                                        <p:cTn id="28" dur="500"/>
                                        <p:tgtEl>
                                          <p:spTgt spid="247812"/>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iterate type="lt">
                                    <p:tmPct val="5000"/>
                                  </p:iterate>
                                  <p:childTnLst>
                                    <p:set>
                                      <p:cBhvr>
                                        <p:cTn id="32" dur="1" fill="hold">
                                          <p:stCondLst>
                                            <p:cond delay="0"/>
                                          </p:stCondLst>
                                        </p:cTn>
                                        <p:tgtEl>
                                          <p:spTgt spid="247813"/>
                                        </p:tgtEl>
                                        <p:attrNameLst>
                                          <p:attrName>style.visibility</p:attrName>
                                        </p:attrNameLst>
                                      </p:cBhvr>
                                      <p:to>
                                        <p:strVal val="visible"/>
                                      </p:to>
                                    </p:set>
                                    <p:anim calcmode="lin" valueType="num">
                                      <p:cBhvr>
                                        <p:cTn id="33" dur="500" fill="hold"/>
                                        <p:tgtEl>
                                          <p:spTgt spid="247813"/>
                                        </p:tgtEl>
                                        <p:attrNameLst>
                                          <p:attrName>ppt_w</p:attrName>
                                        </p:attrNameLst>
                                      </p:cBhvr>
                                      <p:tavLst>
                                        <p:tav tm="0">
                                          <p:val>
                                            <p:fltVal val="0"/>
                                          </p:val>
                                        </p:tav>
                                        <p:tav tm="100000">
                                          <p:val>
                                            <p:strVal val="#ppt_w"/>
                                          </p:val>
                                        </p:tav>
                                      </p:tavLst>
                                    </p:anim>
                                    <p:anim calcmode="lin" valueType="num">
                                      <p:cBhvr>
                                        <p:cTn id="34" dur="500" fill="hold"/>
                                        <p:tgtEl>
                                          <p:spTgt spid="247813"/>
                                        </p:tgtEl>
                                        <p:attrNameLst>
                                          <p:attrName>ppt_h</p:attrName>
                                        </p:attrNameLst>
                                      </p:cBhvr>
                                      <p:tavLst>
                                        <p:tav tm="0">
                                          <p:val>
                                            <p:fltVal val="0"/>
                                          </p:val>
                                        </p:tav>
                                        <p:tav tm="100000">
                                          <p:val>
                                            <p:strVal val="#ppt_h"/>
                                          </p:val>
                                        </p:tav>
                                      </p:tavLst>
                                    </p:anim>
                                    <p:anim calcmode="lin" valueType="num">
                                      <p:cBhvr>
                                        <p:cTn id="35" dur="500" fill="hold"/>
                                        <p:tgtEl>
                                          <p:spTgt spid="247813"/>
                                        </p:tgtEl>
                                        <p:attrNameLst>
                                          <p:attrName>style.rotation</p:attrName>
                                        </p:attrNameLst>
                                      </p:cBhvr>
                                      <p:tavLst>
                                        <p:tav tm="0">
                                          <p:val>
                                            <p:fltVal val="90"/>
                                          </p:val>
                                        </p:tav>
                                        <p:tav tm="100000">
                                          <p:val>
                                            <p:fltVal val="0"/>
                                          </p:val>
                                        </p:tav>
                                      </p:tavLst>
                                    </p:anim>
                                    <p:animEffect transition="in" filter="fade">
                                      <p:cBhvr>
                                        <p:cTn id="36" dur="500"/>
                                        <p:tgtEl>
                                          <p:spTgt spid="247813"/>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iterate type="lt">
                                    <p:tmPct val="5000"/>
                                  </p:iterate>
                                  <p:childTnLst>
                                    <p:set>
                                      <p:cBhvr>
                                        <p:cTn id="40" dur="1" fill="hold">
                                          <p:stCondLst>
                                            <p:cond delay="0"/>
                                          </p:stCondLst>
                                        </p:cTn>
                                        <p:tgtEl>
                                          <p:spTgt spid="247814"/>
                                        </p:tgtEl>
                                        <p:attrNameLst>
                                          <p:attrName>style.visibility</p:attrName>
                                        </p:attrNameLst>
                                      </p:cBhvr>
                                      <p:to>
                                        <p:strVal val="visible"/>
                                      </p:to>
                                    </p:set>
                                    <p:anim calcmode="lin" valueType="num">
                                      <p:cBhvr>
                                        <p:cTn id="41" dur="500" fill="hold"/>
                                        <p:tgtEl>
                                          <p:spTgt spid="247814"/>
                                        </p:tgtEl>
                                        <p:attrNameLst>
                                          <p:attrName>ppt_w</p:attrName>
                                        </p:attrNameLst>
                                      </p:cBhvr>
                                      <p:tavLst>
                                        <p:tav tm="0">
                                          <p:val>
                                            <p:fltVal val="0"/>
                                          </p:val>
                                        </p:tav>
                                        <p:tav tm="100000">
                                          <p:val>
                                            <p:strVal val="#ppt_w"/>
                                          </p:val>
                                        </p:tav>
                                      </p:tavLst>
                                    </p:anim>
                                    <p:anim calcmode="lin" valueType="num">
                                      <p:cBhvr>
                                        <p:cTn id="42" dur="500" fill="hold"/>
                                        <p:tgtEl>
                                          <p:spTgt spid="247814"/>
                                        </p:tgtEl>
                                        <p:attrNameLst>
                                          <p:attrName>ppt_h</p:attrName>
                                        </p:attrNameLst>
                                      </p:cBhvr>
                                      <p:tavLst>
                                        <p:tav tm="0">
                                          <p:val>
                                            <p:fltVal val="0"/>
                                          </p:val>
                                        </p:tav>
                                        <p:tav tm="100000">
                                          <p:val>
                                            <p:strVal val="#ppt_h"/>
                                          </p:val>
                                        </p:tav>
                                      </p:tavLst>
                                    </p:anim>
                                    <p:anim calcmode="lin" valueType="num">
                                      <p:cBhvr>
                                        <p:cTn id="43" dur="500" fill="hold"/>
                                        <p:tgtEl>
                                          <p:spTgt spid="247814"/>
                                        </p:tgtEl>
                                        <p:attrNameLst>
                                          <p:attrName>style.rotation</p:attrName>
                                        </p:attrNameLst>
                                      </p:cBhvr>
                                      <p:tavLst>
                                        <p:tav tm="0">
                                          <p:val>
                                            <p:fltVal val="90"/>
                                          </p:val>
                                        </p:tav>
                                        <p:tav tm="100000">
                                          <p:val>
                                            <p:fltVal val="0"/>
                                          </p:val>
                                        </p:tav>
                                      </p:tavLst>
                                    </p:anim>
                                    <p:animEffect transition="in" filter="fade">
                                      <p:cBhvr>
                                        <p:cTn id="44" dur="500"/>
                                        <p:tgtEl>
                                          <p:spTgt spid="247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bldLvl="0" animBg="1"/>
      <p:bldP spid="247813" grpId="0" animBg="1"/>
      <p:bldP spid="24781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1981200" y="76200"/>
            <a:ext cx="4856163" cy="504825"/>
          </a:xfrm>
        </p:spPr>
        <p:txBody>
          <a:bodyPr/>
          <a:lstStyle/>
          <a:p>
            <a:pPr algn="ctr" eaLnBrk="1" hangingPunct="1"/>
            <a:r>
              <a:rPr lang="en-US" altLang="zh-CN" sz="2800" smtClean="0">
                <a:solidFill>
                  <a:srgbClr val="CC0000"/>
                </a:solidFill>
                <a:effectLst/>
              </a:rPr>
              <a:t>Chapter  One      GAS</a:t>
            </a:r>
          </a:p>
        </p:txBody>
      </p:sp>
      <p:grpSp>
        <p:nvGrpSpPr>
          <p:cNvPr id="2" name="组合 8"/>
          <p:cNvGrpSpPr/>
          <p:nvPr/>
        </p:nvGrpSpPr>
        <p:grpSpPr bwMode="auto">
          <a:xfrm>
            <a:off x="533400" y="685800"/>
            <a:ext cx="7620000" cy="2579370"/>
            <a:chOff x="228600" y="685800"/>
            <a:chExt cx="7620000" cy="2579370"/>
          </a:xfrm>
        </p:grpSpPr>
        <p:sp>
          <p:nvSpPr>
            <p:cNvPr id="195587" name="Rectangle 3"/>
            <p:cNvSpPr>
              <a:spLocks noChangeArrowheads="1"/>
            </p:cNvSpPr>
            <p:nvPr/>
          </p:nvSpPr>
          <p:spPr bwMode="auto">
            <a:xfrm>
              <a:off x="304800" y="685800"/>
              <a:ext cx="7543800" cy="521970"/>
            </a:xfrm>
            <a:prstGeom prst="rect">
              <a:avLst/>
            </a:prstGeom>
            <a:solidFill>
              <a:schemeClr val="bg1"/>
            </a:solidFill>
            <a:ln w="9525">
              <a:noFill/>
              <a:miter lim="800000"/>
            </a:ln>
          </p:spPr>
          <p:txBody>
            <a:bodyPr>
              <a:spAutoFit/>
            </a:bodyPr>
            <a:lstStyle/>
            <a:p>
              <a:pPr algn="ctr" fontAlgn="base">
                <a:spcBef>
                  <a:spcPct val="0"/>
                </a:spcBef>
                <a:spcAft>
                  <a:spcPct val="0"/>
                </a:spcAft>
                <a:defRPr/>
              </a:pPr>
              <a:r>
                <a:rPr lang="en-US" altLang="zh-CN" sz="2800" b="1" dirty="0">
                  <a:solidFill>
                    <a:srgbClr val="FF00FF"/>
                  </a:solidFill>
                  <a:latin typeface="Times New Roman" panose="02020603050405020304"/>
                </a:rPr>
                <a:t>Part  1     </a:t>
              </a:r>
              <a:r>
                <a:rPr lang="en-US" altLang="zh-CN" sz="2800" b="1" i="1" dirty="0">
                  <a:solidFill>
                    <a:srgbClr val="000000"/>
                  </a:solidFill>
                  <a:latin typeface="Times New Roman" panose="02020603050405020304"/>
                </a:rPr>
                <a:t>Properties   of  gases </a:t>
              </a:r>
              <a:r>
                <a:rPr lang="en-US" altLang="zh-CN" sz="2200" b="1" i="1" dirty="0">
                  <a:solidFill>
                    <a:srgbClr val="000000"/>
                  </a:solidFill>
                  <a:latin typeface="Times New Roman" panose="02020603050405020304"/>
                </a:rPr>
                <a:t>(be omitted</a:t>
              </a:r>
              <a:r>
                <a:rPr lang="zh-CN" altLang="en-US" sz="2200" b="1" i="1" dirty="0">
                  <a:solidFill>
                    <a:srgbClr val="000000"/>
                  </a:solidFill>
                  <a:latin typeface="Times New Roman" panose="02020603050405020304"/>
                </a:rPr>
                <a:t>略</a:t>
              </a:r>
              <a:r>
                <a:rPr lang="en-US" altLang="zh-CN" sz="2200" b="1" i="1" dirty="0">
                  <a:solidFill>
                    <a:srgbClr val="000000"/>
                  </a:solidFill>
                  <a:latin typeface="Times New Roman" panose="02020603050405020304"/>
                </a:rPr>
                <a:t>)</a:t>
              </a:r>
            </a:p>
          </p:txBody>
        </p:sp>
        <p:sp>
          <p:nvSpPr>
            <p:cNvPr id="195588" name="Rectangle 4"/>
            <p:cNvSpPr>
              <a:spLocks noChangeArrowheads="1"/>
            </p:cNvSpPr>
            <p:nvPr/>
          </p:nvSpPr>
          <p:spPr bwMode="auto">
            <a:xfrm>
              <a:off x="228600" y="1371600"/>
              <a:ext cx="6248400" cy="521970"/>
            </a:xfrm>
            <a:prstGeom prst="rect">
              <a:avLst/>
            </a:prstGeom>
            <a:solidFill>
              <a:schemeClr val="bg1"/>
            </a:solidFill>
            <a:ln w="9525">
              <a:noFill/>
              <a:miter lim="800000"/>
            </a:ln>
          </p:spPr>
          <p:txBody>
            <a:bodyPr>
              <a:spAutoFit/>
            </a:bodyPr>
            <a:lstStyle/>
            <a:p>
              <a:pPr algn="ctr" fontAlgn="base">
                <a:spcBef>
                  <a:spcPct val="0"/>
                </a:spcBef>
                <a:spcAft>
                  <a:spcPct val="0"/>
                </a:spcAft>
                <a:defRPr/>
              </a:pPr>
              <a:r>
                <a:rPr lang="en-US" altLang="zh-CN" sz="2800" b="1" dirty="0">
                  <a:solidFill>
                    <a:srgbClr val="FF00FF"/>
                  </a:solidFill>
                  <a:latin typeface="Times New Roman" panose="02020603050405020304"/>
                </a:rPr>
                <a:t>Part  2    </a:t>
              </a:r>
              <a:r>
                <a:rPr lang="en-US" altLang="zh-CN" sz="2800" b="1" i="1" dirty="0">
                  <a:solidFill>
                    <a:srgbClr val="000000"/>
                  </a:solidFill>
                  <a:latin typeface="Times New Roman" panose="02020603050405020304"/>
                </a:rPr>
                <a:t>Law  of  an  ideal  gas</a:t>
              </a:r>
            </a:p>
          </p:txBody>
        </p:sp>
        <p:sp>
          <p:nvSpPr>
            <p:cNvPr id="195589" name="Rectangle 5"/>
            <p:cNvSpPr>
              <a:spLocks noChangeArrowheads="1"/>
            </p:cNvSpPr>
            <p:nvPr/>
          </p:nvSpPr>
          <p:spPr bwMode="auto">
            <a:xfrm>
              <a:off x="228600" y="2057400"/>
              <a:ext cx="6248400" cy="521970"/>
            </a:xfrm>
            <a:prstGeom prst="rect">
              <a:avLst/>
            </a:prstGeom>
            <a:solidFill>
              <a:schemeClr val="bg1"/>
            </a:solidFill>
            <a:ln w="9525">
              <a:noFill/>
              <a:miter lim="800000"/>
            </a:ln>
          </p:spPr>
          <p:txBody>
            <a:bodyPr>
              <a:spAutoFit/>
            </a:bodyPr>
            <a:lstStyle/>
            <a:p>
              <a:pPr algn="ctr" fontAlgn="base">
                <a:spcBef>
                  <a:spcPct val="0"/>
                </a:spcBef>
                <a:spcAft>
                  <a:spcPct val="0"/>
                </a:spcAft>
                <a:defRPr/>
              </a:pPr>
              <a:r>
                <a:rPr lang="en-US" altLang="zh-CN" sz="2800" b="1" dirty="0">
                  <a:solidFill>
                    <a:srgbClr val="FF00FF"/>
                  </a:solidFill>
                  <a:latin typeface="Times New Roman" panose="02020603050405020304"/>
                </a:rPr>
                <a:t>Part  3     </a:t>
              </a:r>
              <a:r>
                <a:rPr lang="en-US" altLang="zh-CN" sz="2800" b="1" i="1" dirty="0">
                  <a:solidFill>
                    <a:srgbClr val="000000"/>
                  </a:solidFill>
                  <a:latin typeface="Times New Roman" panose="02020603050405020304"/>
                </a:rPr>
                <a:t>Mixed  gases</a:t>
              </a:r>
            </a:p>
          </p:txBody>
        </p:sp>
        <p:sp>
          <p:nvSpPr>
            <p:cNvPr id="195590" name="Rectangle 6"/>
            <p:cNvSpPr>
              <a:spLocks noChangeArrowheads="1"/>
            </p:cNvSpPr>
            <p:nvPr/>
          </p:nvSpPr>
          <p:spPr bwMode="auto">
            <a:xfrm>
              <a:off x="228600" y="2743200"/>
              <a:ext cx="7620000" cy="521970"/>
            </a:xfrm>
            <a:prstGeom prst="rect">
              <a:avLst/>
            </a:prstGeom>
            <a:solidFill>
              <a:schemeClr val="bg1"/>
            </a:solidFill>
            <a:ln w="9525">
              <a:noFill/>
              <a:miter lim="800000"/>
            </a:ln>
          </p:spPr>
          <p:txBody>
            <a:bodyPr>
              <a:spAutoFit/>
            </a:bodyPr>
            <a:lstStyle/>
            <a:p>
              <a:pPr algn="ctr" fontAlgn="base">
                <a:spcBef>
                  <a:spcPct val="0"/>
                </a:spcBef>
                <a:spcAft>
                  <a:spcPct val="0"/>
                </a:spcAft>
                <a:defRPr/>
              </a:pPr>
              <a:r>
                <a:rPr lang="en-US" altLang="zh-CN" sz="2800" b="1" dirty="0">
                  <a:solidFill>
                    <a:srgbClr val="FF00FF"/>
                  </a:solidFill>
                  <a:latin typeface="Times New Roman" panose="02020603050405020304"/>
                </a:rPr>
                <a:t>Part  4    </a:t>
              </a:r>
              <a:r>
                <a:rPr lang="en-US" altLang="zh-CN" sz="2800" b="1" i="1" dirty="0">
                  <a:solidFill>
                    <a:srgbClr val="000000"/>
                  </a:solidFill>
                  <a:latin typeface="Times New Roman" panose="02020603050405020304"/>
                </a:rPr>
                <a:t>Law  of  partial  pressure</a:t>
              </a:r>
            </a:p>
          </p:txBody>
        </p:sp>
      </p:grpSp>
      <p:sp>
        <p:nvSpPr>
          <p:cNvPr id="195591" name="Rectangle 7"/>
          <p:cNvSpPr>
            <a:spLocks noChangeArrowheads="1"/>
          </p:cNvSpPr>
          <p:nvPr/>
        </p:nvSpPr>
        <p:spPr bwMode="auto">
          <a:xfrm>
            <a:off x="228600" y="3886200"/>
            <a:ext cx="8458200" cy="1630045"/>
          </a:xfrm>
          <a:prstGeom prst="rect">
            <a:avLst/>
          </a:prstGeom>
          <a:solidFill>
            <a:schemeClr val="bg1"/>
          </a:solidFill>
          <a:ln w="9525">
            <a:noFill/>
            <a:miter lim="800000"/>
          </a:ln>
        </p:spPr>
        <p:txBody>
          <a:bodyPr>
            <a:spAutoFit/>
          </a:bodyPr>
          <a:lstStyle/>
          <a:p>
            <a:pPr algn="ctr" fontAlgn="base">
              <a:lnSpc>
                <a:spcPts val="4000"/>
              </a:lnSpc>
              <a:spcBef>
                <a:spcPct val="0"/>
              </a:spcBef>
              <a:spcAft>
                <a:spcPct val="0"/>
              </a:spcAft>
              <a:defRPr/>
            </a:pPr>
            <a:r>
              <a:rPr lang="zh-CN" altLang="en-US" sz="2800" b="1" dirty="0">
                <a:solidFill>
                  <a:srgbClr val="C00000"/>
                </a:solidFill>
                <a:latin typeface="Times New Roman" panose="02020603050405020304"/>
                <a:ea typeface="楷体_GB2312" pitchFamily="49" charset="-122"/>
              </a:rPr>
              <a:t>要求</a:t>
            </a:r>
            <a:r>
              <a:rPr lang="zh-CN" altLang="en-US" sz="2800" b="1" dirty="0">
                <a:solidFill>
                  <a:srgbClr val="000000"/>
                </a:solidFill>
                <a:latin typeface="Times New Roman" panose="02020603050405020304"/>
                <a:ea typeface="楷体_GB2312" pitchFamily="49" charset="-122"/>
              </a:rPr>
              <a:t>：</a:t>
            </a:r>
          </a:p>
          <a:p>
            <a:pPr algn="ctr" fontAlgn="base">
              <a:lnSpc>
                <a:spcPts val="4000"/>
              </a:lnSpc>
              <a:spcBef>
                <a:spcPct val="0"/>
              </a:spcBef>
              <a:spcAft>
                <a:spcPct val="0"/>
              </a:spcAft>
              <a:defRPr/>
            </a:pPr>
            <a:r>
              <a:rPr lang="zh-CN" altLang="en-US" sz="2800" b="1" dirty="0">
                <a:solidFill>
                  <a:srgbClr val="000000"/>
                </a:solidFill>
                <a:latin typeface="Times New Roman" panose="02020603050405020304"/>
                <a:ea typeface="楷体_GB2312" pitchFamily="49" charset="-122"/>
              </a:rPr>
              <a:t>     </a:t>
            </a:r>
            <a:r>
              <a:rPr lang="en-US" altLang="zh-CN" sz="2800" b="1" dirty="0">
                <a:solidFill>
                  <a:srgbClr val="000000"/>
                </a:solidFill>
                <a:latin typeface="Times New Roman" panose="02020603050405020304"/>
                <a:ea typeface="楷体_GB2312" pitchFamily="49" charset="-122"/>
              </a:rPr>
              <a:t>1. </a:t>
            </a:r>
            <a:r>
              <a:rPr lang="zh-CN" altLang="en-US" sz="2800" b="1" dirty="0" smtClean="0">
                <a:solidFill>
                  <a:srgbClr val="000000"/>
                </a:solidFill>
                <a:latin typeface="Times New Roman" panose="02020603050405020304"/>
                <a:ea typeface="楷体_GB2312" pitchFamily="49" charset="-122"/>
              </a:rPr>
              <a:t>掌握</a:t>
            </a:r>
            <a:r>
              <a:rPr lang="zh-CN" altLang="en-US" sz="2800" b="1" dirty="0">
                <a:solidFill>
                  <a:srgbClr val="000000"/>
                </a:solidFill>
                <a:latin typeface="Times New Roman" panose="02020603050405020304"/>
                <a:ea typeface="楷体_GB2312" pitchFamily="49" charset="-122"/>
              </a:rPr>
              <a:t>理想气体</a:t>
            </a:r>
            <a:r>
              <a:rPr lang="zh-CN" altLang="en-US" sz="2800" b="1" dirty="0" smtClean="0">
                <a:solidFill>
                  <a:srgbClr val="000000"/>
                </a:solidFill>
                <a:latin typeface="Times New Roman" panose="02020603050405020304"/>
                <a:ea typeface="楷体_GB2312" pitchFamily="49" charset="-122"/>
              </a:rPr>
              <a:t>状态方程的公式和</a:t>
            </a:r>
            <a:r>
              <a:rPr lang="zh-CN" altLang="en-US" sz="2800" b="1" dirty="0">
                <a:solidFill>
                  <a:srgbClr val="000000"/>
                </a:solidFill>
                <a:latin typeface="Times New Roman" panose="02020603050405020304"/>
                <a:ea typeface="楷体_GB2312" pitchFamily="49" charset="-122"/>
              </a:rPr>
              <a:t>计算；</a:t>
            </a:r>
          </a:p>
          <a:p>
            <a:pPr algn="ctr" fontAlgn="base">
              <a:lnSpc>
                <a:spcPts val="4000"/>
              </a:lnSpc>
              <a:spcBef>
                <a:spcPct val="0"/>
              </a:spcBef>
              <a:spcAft>
                <a:spcPct val="0"/>
              </a:spcAft>
              <a:defRPr/>
            </a:pPr>
            <a:r>
              <a:rPr lang="zh-CN" altLang="en-US" sz="2800" b="1" dirty="0">
                <a:solidFill>
                  <a:srgbClr val="000000"/>
                </a:solidFill>
                <a:latin typeface="Times New Roman" panose="02020603050405020304"/>
                <a:ea typeface="楷体_GB2312" pitchFamily="49" charset="-122"/>
              </a:rPr>
              <a:t>     </a:t>
            </a:r>
            <a:r>
              <a:rPr lang="en-US" altLang="zh-CN" sz="2800" b="1" dirty="0">
                <a:solidFill>
                  <a:srgbClr val="000000"/>
                </a:solidFill>
                <a:latin typeface="Times New Roman" panose="02020603050405020304"/>
                <a:ea typeface="楷体_GB2312" pitchFamily="49" charset="-122"/>
              </a:rPr>
              <a:t>2. </a:t>
            </a:r>
            <a:r>
              <a:rPr lang="zh-CN" altLang="en-US" sz="2800" b="1" dirty="0">
                <a:solidFill>
                  <a:srgbClr val="000000"/>
                </a:solidFill>
                <a:latin typeface="Times New Roman" panose="02020603050405020304"/>
                <a:ea typeface="楷体_GB2312" pitchFamily="49" charset="-122"/>
              </a:rPr>
              <a:t>掌握混合气体分压定律和计算。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blinds(horizontal)">
                                      <p:cBhvr>
                                        <p:cTn id="7" dur="500"/>
                                        <p:tgtEl>
                                          <p:spTgt spid="195586"/>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5591"/>
                                        </p:tgtEl>
                                        <p:attrNameLst>
                                          <p:attrName>style.visibility</p:attrName>
                                        </p:attrNameLst>
                                      </p:cBhvr>
                                      <p:to>
                                        <p:strVal val="visible"/>
                                      </p:to>
                                    </p:set>
                                    <p:animEffect transition="in" filter="blinds(horizontal)">
                                      <p:cBhvr>
                                        <p:cTn id="15" dur="1000"/>
                                        <p:tgtEl>
                                          <p:spTgt spid="195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591"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66562" name="组合 7"/>
          <p:cNvGrpSpPr/>
          <p:nvPr/>
        </p:nvGrpSpPr>
        <p:grpSpPr bwMode="auto">
          <a:xfrm>
            <a:off x="228600" y="228600"/>
            <a:ext cx="8704263" cy="5181600"/>
            <a:chOff x="228600" y="228600"/>
            <a:chExt cx="8704263" cy="5181600"/>
          </a:xfrm>
        </p:grpSpPr>
        <p:pic>
          <p:nvPicPr>
            <p:cNvPr id="66563" name="Picture 9" descr="EP-Gases"/>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48200" y="3429000"/>
              <a:ext cx="4284663" cy="1981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6564" name="Picture 13" descr="Dangerous Gases"/>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8600" y="3429000"/>
              <a:ext cx="4267200" cy="1981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6565" name="Picture 15"/>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495800" y="685800"/>
              <a:ext cx="4419600" cy="2362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6566" name="Picture 16"/>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28600" y="685800"/>
              <a:ext cx="4191000" cy="2362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567" name="Rectangle 17"/>
            <p:cNvSpPr>
              <a:spLocks noChangeArrowheads="1"/>
            </p:cNvSpPr>
            <p:nvPr/>
          </p:nvSpPr>
          <p:spPr bwMode="auto">
            <a:xfrm>
              <a:off x="3505200" y="228600"/>
              <a:ext cx="222408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fontAlgn="base">
                <a:spcBef>
                  <a:spcPct val="0"/>
                </a:spcBef>
                <a:spcAft>
                  <a:spcPct val="0"/>
                </a:spcAft>
              </a:pPr>
              <a:r>
                <a:rPr lang="en-US" altLang="zh-CN" sz="2400" b="1">
                  <a:solidFill>
                    <a:srgbClr val="000000"/>
                  </a:solidFill>
                  <a:latin typeface="Times New Roman" panose="02020603050405020304" pitchFamily="18" charset="0"/>
                </a:rPr>
                <a:t>Volcanic  gases</a:t>
              </a:r>
              <a:r>
                <a:rPr lang="en-US" altLang="zh-CN" sz="2400">
                  <a:solidFill>
                    <a:srgbClr val="000000"/>
                  </a:solidFill>
                  <a:latin typeface="Times New Roman" panose="02020603050405020304" pitchFamily="18" charset="0"/>
                </a:rPr>
                <a:t> </a:t>
              </a:r>
            </a:p>
          </p:txBody>
        </p:sp>
        <p:sp>
          <p:nvSpPr>
            <p:cNvPr id="66568" name="Rectangle 18"/>
            <p:cNvSpPr>
              <a:spLocks noChangeArrowheads="1"/>
            </p:cNvSpPr>
            <p:nvPr/>
          </p:nvSpPr>
          <p:spPr bwMode="auto">
            <a:xfrm>
              <a:off x="2286000" y="2971800"/>
              <a:ext cx="53721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fontAlgn="base">
                <a:spcBef>
                  <a:spcPct val="0"/>
                </a:spcBef>
                <a:spcAft>
                  <a:spcPct val="0"/>
                </a:spcAft>
              </a:pPr>
              <a:r>
                <a:rPr lang="en-US" altLang="zh-CN" sz="2400" b="1">
                  <a:solidFill>
                    <a:srgbClr val="000000"/>
                  </a:solidFill>
                  <a:latin typeface="Times New Roman" panose="02020603050405020304" pitchFamily="18" charset="0"/>
                </a:rPr>
                <a:t>Where   greenhouse   gases  come  from</a:t>
              </a:r>
              <a:r>
                <a:rPr lang="en-US" altLang="zh-CN" sz="2400">
                  <a:solidFill>
                    <a:srgbClr val="000000"/>
                  </a:solidFill>
                  <a:latin typeface="Times New Roman" panose="02020603050405020304" pitchFamily="18" charset="0"/>
                </a:rPr>
                <a:t> </a:t>
              </a:r>
            </a:p>
          </p:txBody>
        </p:sp>
      </p:gr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67586" name="组合 5"/>
          <p:cNvGrpSpPr/>
          <p:nvPr/>
        </p:nvGrpSpPr>
        <p:grpSpPr bwMode="auto">
          <a:xfrm>
            <a:off x="0" y="381000"/>
            <a:ext cx="8763000" cy="6096000"/>
            <a:chOff x="0" y="381000"/>
            <a:chExt cx="8763000" cy="6096000"/>
          </a:xfrm>
        </p:grpSpPr>
        <p:sp>
          <p:nvSpPr>
            <p:cNvPr id="67587" name="Rectangle 17"/>
            <p:cNvSpPr>
              <a:spLocks noChangeArrowheads="1"/>
            </p:cNvSpPr>
            <p:nvPr/>
          </p:nvSpPr>
          <p:spPr bwMode="auto">
            <a:xfrm>
              <a:off x="0" y="4343400"/>
              <a:ext cx="2873375"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fontAlgn="base">
                <a:spcBef>
                  <a:spcPct val="0"/>
                </a:spcBef>
                <a:spcAft>
                  <a:spcPct val="0"/>
                </a:spcAft>
              </a:pPr>
              <a:r>
                <a:rPr lang="en-US" altLang="zh-CN" sz="2600" b="1" i="1">
                  <a:solidFill>
                    <a:srgbClr val="000000"/>
                  </a:solidFill>
                  <a:latin typeface="Times New Roman" panose="02020603050405020304" pitchFamily="18" charset="0"/>
                </a:rPr>
                <a:t>Emission  of  gases </a:t>
              </a:r>
            </a:p>
          </p:txBody>
        </p:sp>
        <p:pic>
          <p:nvPicPr>
            <p:cNvPr id="67588" name="Picture 19" descr="pnd51027"/>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971800" y="381000"/>
              <a:ext cx="5791200" cy="2819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7589" name="Picture 2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71800" y="3352800"/>
              <a:ext cx="5753100" cy="312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7590" name="Rectangle 23"/>
            <p:cNvSpPr>
              <a:spLocks noChangeArrowheads="1"/>
            </p:cNvSpPr>
            <p:nvPr/>
          </p:nvSpPr>
          <p:spPr bwMode="auto">
            <a:xfrm>
              <a:off x="152400" y="1828800"/>
              <a:ext cx="2679700"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p>
              <a:pPr fontAlgn="base">
                <a:spcBef>
                  <a:spcPct val="0"/>
                </a:spcBef>
                <a:spcAft>
                  <a:spcPct val="0"/>
                </a:spcAft>
              </a:pPr>
              <a:r>
                <a:rPr lang="en-US" altLang="zh-CN" sz="2600" b="1" i="1">
                  <a:solidFill>
                    <a:srgbClr val="000000"/>
                  </a:solidFill>
                  <a:latin typeface="Times New Roman" panose="02020603050405020304" pitchFamily="18" charset="0"/>
                </a:rPr>
                <a:t>gases of  balloons </a:t>
              </a:r>
            </a:p>
          </p:txBody>
        </p:sp>
      </p:gr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68610" name="组合 6"/>
          <p:cNvGrpSpPr/>
          <p:nvPr/>
        </p:nvGrpSpPr>
        <p:grpSpPr bwMode="auto">
          <a:xfrm>
            <a:off x="0" y="100330"/>
            <a:ext cx="8763000" cy="6452870"/>
            <a:chOff x="0" y="100330"/>
            <a:chExt cx="8763000" cy="6452870"/>
          </a:xfrm>
        </p:grpSpPr>
        <p:pic>
          <p:nvPicPr>
            <p:cNvPr id="68611" name="Picture 7"/>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514600" y="3429000"/>
              <a:ext cx="6172200" cy="3124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8612" name="Rectangle 8"/>
            <p:cNvSpPr>
              <a:spLocks noChangeArrowheads="1"/>
            </p:cNvSpPr>
            <p:nvPr/>
          </p:nvSpPr>
          <p:spPr bwMode="auto">
            <a:xfrm>
              <a:off x="107315" y="4149090"/>
              <a:ext cx="2314575" cy="12915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r>
                <a:rPr lang="en-US" altLang="zh-CN" sz="2400" b="1">
                  <a:solidFill>
                    <a:srgbClr val="000000"/>
                  </a:solidFill>
                  <a:latin typeface="Times New Roman" panose="02020603050405020304" pitchFamily="18" charset="0"/>
                </a:rPr>
                <a:t>Scuba  diving</a:t>
              </a:r>
            </a:p>
            <a:p>
              <a:pPr algn="l" fontAlgn="base">
                <a:spcBef>
                  <a:spcPct val="0"/>
                </a:spcBef>
                <a:spcAft>
                  <a:spcPct val="0"/>
                </a:spcAft>
              </a:pPr>
              <a:r>
                <a:rPr lang="en-US" altLang="zh-CN" b="1" i="1">
                  <a:solidFill>
                    <a:schemeClr val="accent5">
                      <a:lumMod val="50000"/>
                    </a:schemeClr>
                  </a:solidFill>
                  <a:latin typeface="Times New Roman" panose="02020603050405020304" pitchFamily="18" charset="0"/>
                </a:rPr>
                <a:t>—Self-Contained Underwater Breathing Apparatus</a:t>
              </a:r>
            </a:p>
          </p:txBody>
        </p:sp>
        <p:sp>
          <p:nvSpPr>
            <p:cNvPr id="68613" name="Rectangle 9"/>
            <p:cNvSpPr>
              <a:spLocks noChangeArrowheads="1"/>
            </p:cNvSpPr>
            <p:nvPr/>
          </p:nvSpPr>
          <p:spPr bwMode="auto">
            <a:xfrm>
              <a:off x="0" y="100330"/>
              <a:ext cx="2133600" cy="16916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algn="ctr" fontAlgn="base">
                <a:spcBef>
                  <a:spcPct val="0"/>
                </a:spcBef>
                <a:spcAft>
                  <a:spcPct val="0"/>
                </a:spcAft>
              </a:pPr>
              <a:r>
                <a:rPr lang="en-US" altLang="zh-CN" sz="2600" b="1">
                  <a:solidFill>
                    <a:srgbClr val="000000"/>
                  </a:solidFill>
                  <a:latin typeface="Times New Roman" panose="02020603050405020304" pitchFamily="18" charset="0"/>
                </a:rPr>
                <a:t>Pressurized gases  are  all  around  you</a:t>
              </a:r>
            </a:p>
            <a:p>
              <a:pPr algn="ctr" fontAlgn="base">
                <a:spcBef>
                  <a:spcPct val="0"/>
                </a:spcBef>
                <a:spcAft>
                  <a:spcPct val="0"/>
                </a:spcAft>
              </a:pPr>
              <a:r>
                <a:rPr lang="en-US" altLang="zh-CN" b="1" i="1">
                  <a:solidFill>
                    <a:schemeClr val="accent5">
                      <a:lumMod val="50000"/>
                    </a:schemeClr>
                  </a:solidFill>
                  <a:latin typeface="Times New Roman" panose="02020603050405020304" pitchFamily="18" charset="0"/>
                </a:rPr>
                <a:t>—</a:t>
              </a:r>
              <a:r>
                <a:rPr lang="zh-CN" altLang="en-US" b="1" i="1">
                  <a:solidFill>
                    <a:schemeClr val="accent5">
                      <a:lumMod val="50000"/>
                    </a:schemeClr>
                  </a:solidFill>
                  <a:latin typeface="Times New Roman" panose="02020603050405020304" pitchFamily="18" charset="0"/>
                </a:rPr>
                <a:t>实验室</a:t>
              </a:r>
              <a:r>
                <a:rPr lang="en-US" altLang="zh-CN" sz="2600" b="1">
                  <a:solidFill>
                    <a:srgbClr val="000000"/>
                  </a:solidFill>
                  <a:latin typeface="Times New Roman" panose="02020603050405020304" pitchFamily="18" charset="0"/>
                </a:rPr>
                <a:t> </a:t>
              </a:r>
            </a:p>
          </p:txBody>
        </p:sp>
        <p:pic>
          <p:nvPicPr>
            <p:cNvPr id="68614" name="Picture 10" descr="matter_gas_1_240">
              <a:hlinkClick r:id="rId3"/>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715000" y="228600"/>
              <a:ext cx="3048000" cy="2895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615" name="Picture 11" descr="gases"/>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2514600" y="152400"/>
              <a:ext cx="2819400" cy="2895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Rectangle 2"/>
          <p:cNvSpPr>
            <a:spLocks noChangeArrowheads="1"/>
          </p:cNvSpPr>
          <p:nvPr/>
        </p:nvSpPr>
        <p:spPr bwMode="auto">
          <a:xfrm>
            <a:off x="2057400" y="609600"/>
            <a:ext cx="4572000" cy="554038"/>
          </a:xfrm>
          <a:prstGeom prst="rect">
            <a:avLst/>
          </a:prstGeom>
          <a:solidFill>
            <a:srgbClr val="99CCFF"/>
          </a:solidFill>
          <a:ln w="9525">
            <a:noFill/>
            <a:miter lim="800000"/>
          </a:ln>
        </p:spPr>
        <p:txBody>
          <a:bodyPr>
            <a:spAutoFit/>
          </a:bodyPr>
          <a:lstStyle/>
          <a:p>
            <a:pPr algn="ctr" fontAlgn="base">
              <a:spcBef>
                <a:spcPct val="0"/>
              </a:spcBef>
              <a:spcAft>
                <a:spcPct val="0"/>
              </a:spcAft>
              <a:defRPr/>
            </a:pPr>
            <a:r>
              <a:rPr lang="en-US" altLang="zh-CN" sz="3000" b="1">
                <a:solidFill>
                  <a:srgbClr val="C00000"/>
                </a:solidFill>
                <a:latin typeface="Times New Roman" panose="02020603050405020304"/>
              </a:rPr>
              <a:t>What  is  an  ideal  gase?</a:t>
            </a:r>
          </a:p>
        </p:txBody>
      </p:sp>
      <p:sp>
        <p:nvSpPr>
          <p:cNvPr id="144387" name="Rectangle 3"/>
          <p:cNvSpPr>
            <a:spLocks noChangeArrowheads="1"/>
          </p:cNvSpPr>
          <p:nvPr/>
        </p:nvSpPr>
        <p:spPr bwMode="auto">
          <a:xfrm>
            <a:off x="457200" y="1143318"/>
            <a:ext cx="8305800" cy="891540"/>
          </a:xfrm>
          <a:prstGeom prst="rect">
            <a:avLst/>
          </a:prstGeom>
          <a:solidFill>
            <a:schemeClr val="bg1"/>
          </a:solidFill>
          <a:ln w="9525">
            <a:noFill/>
            <a:miter lim="800000"/>
          </a:ln>
        </p:spPr>
        <p:txBody>
          <a:bodyPr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In  brief,   an  ideal  </a:t>
            </a:r>
            <a:r>
              <a:rPr lang="en-US" altLang="zh-CN" sz="2600" b="1" dirty="0">
                <a:solidFill>
                  <a:srgbClr val="0000FF"/>
                </a:solidFill>
                <a:latin typeface="Times New Roman" panose="02020603050405020304"/>
              </a:rPr>
              <a:t>gases  has  no  volume  &amp;   attractions  from  each   other</a:t>
            </a:r>
            <a:r>
              <a:rPr lang="en-US" altLang="zh-CN" sz="2600" b="1" i="1" dirty="0">
                <a:solidFill>
                  <a:srgbClr val="0000FF"/>
                </a:solidFill>
                <a:latin typeface="Times New Roman" panose="02020603050405020304"/>
              </a:rPr>
              <a:t>(</a:t>
            </a:r>
            <a:r>
              <a:rPr lang="zh-CN" altLang="en-US" sz="2600" b="1" i="1" dirty="0">
                <a:solidFill>
                  <a:srgbClr val="0000FF"/>
                </a:solidFill>
                <a:latin typeface="Times New Roman" panose="02020603050405020304"/>
              </a:rPr>
              <a:t>与是什么气体无关</a:t>
            </a:r>
            <a:r>
              <a:rPr lang="en-US" altLang="zh-CN" sz="2600" b="1" i="1" dirty="0">
                <a:solidFill>
                  <a:srgbClr val="0000FF"/>
                </a:solidFill>
                <a:latin typeface="Times New Roman" panose="02020603050405020304"/>
              </a:rPr>
              <a:t>) . </a:t>
            </a:r>
          </a:p>
        </p:txBody>
      </p:sp>
      <p:sp>
        <p:nvSpPr>
          <p:cNvPr id="144388" name="Rectangle 4"/>
          <p:cNvSpPr>
            <a:spLocks noChangeArrowheads="1"/>
          </p:cNvSpPr>
          <p:nvPr/>
        </p:nvSpPr>
        <p:spPr bwMode="auto">
          <a:xfrm>
            <a:off x="304800" y="2286000"/>
            <a:ext cx="8610600" cy="2092325"/>
          </a:xfrm>
          <a:prstGeom prst="rect">
            <a:avLst/>
          </a:prstGeom>
          <a:solidFill>
            <a:schemeClr val="bg1"/>
          </a:solidFill>
          <a:ln w="9525">
            <a:noFill/>
            <a:miter lim="800000"/>
          </a:ln>
        </p:spPr>
        <p:txBody>
          <a:bodyPr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In  detail,  an  ideal  gas  or  perfect  gas  is  </a:t>
            </a:r>
            <a:r>
              <a:rPr lang="en-US" altLang="zh-CN" sz="2600" b="1" i="1" dirty="0">
                <a:solidFill>
                  <a:srgbClr val="0000FF"/>
                </a:solidFill>
                <a:latin typeface="Times New Roman" panose="02020603050405020304"/>
              </a:rPr>
              <a:t>a  hypothetical  gas</a:t>
            </a:r>
            <a:r>
              <a:rPr lang="en-US" altLang="zh-CN" sz="2600" b="1" dirty="0">
                <a:solidFill>
                  <a:srgbClr val="000000"/>
                </a:solidFill>
                <a:latin typeface="Times New Roman" panose="02020603050405020304"/>
              </a:rPr>
              <a:t>  consisting  </a:t>
            </a:r>
            <a:r>
              <a:rPr lang="en-US" altLang="zh-CN" sz="2600" b="1" dirty="0">
                <a:solidFill>
                  <a:srgbClr val="0000FF"/>
                </a:solidFill>
                <a:latin typeface="Times New Roman" panose="02020603050405020304"/>
              </a:rPr>
              <a:t>of  identical particles  of  negligible  volume,  with  no inter-molecular  forces.</a:t>
            </a:r>
            <a:r>
              <a:rPr lang="en-US" altLang="zh-CN" sz="2600" b="1" dirty="0">
                <a:solidFill>
                  <a:srgbClr val="000000"/>
                </a:solidFill>
                <a:latin typeface="Times New Roman" panose="02020603050405020304"/>
              </a:rPr>
              <a:t>  Additionally, the constituent  atoms  or molecules  undergo perfectly  </a:t>
            </a:r>
            <a:r>
              <a:rPr lang="en-US" altLang="zh-CN" sz="2600" b="1" dirty="0">
                <a:solidFill>
                  <a:srgbClr val="0000FF"/>
                </a:solidFill>
                <a:latin typeface="Times New Roman" panose="02020603050405020304"/>
              </a:rPr>
              <a:t>elastic  collisions  </a:t>
            </a:r>
            <a:r>
              <a:rPr lang="en-US" altLang="zh-CN" sz="2600" b="1" dirty="0" err="1">
                <a:solidFill>
                  <a:srgbClr val="000000"/>
                </a:solidFill>
                <a:latin typeface="Times New Roman" panose="02020603050405020304"/>
              </a:rPr>
              <a:t>wih</a:t>
            </a:r>
            <a:r>
              <a:rPr lang="en-US" altLang="zh-CN" sz="2600" b="1" dirty="0">
                <a:solidFill>
                  <a:srgbClr val="000000"/>
                </a:solidFill>
                <a:latin typeface="Times New Roman" panose="02020603050405020304"/>
              </a:rPr>
              <a:t>  the  walls  of  the  container. </a:t>
            </a:r>
          </a:p>
        </p:txBody>
      </p:sp>
      <p:sp>
        <p:nvSpPr>
          <p:cNvPr id="144389" name="Rectangle 5"/>
          <p:cNvSpPr>
            <a:spLocks noChangeArrowheads="1"/>
          </p:cNvSpPr>
          <p:nvPr/>
        </p:nvSpPr>
        <p:spPr bwMode="auto">
          <a:xfrm>
            <a:off x="381000" y="4724400"/>
            <a:ext cx="8534400" cy="892552"/>
          </a:xfrm>
          <a:prstGeom prst="rect">
            <a:avLst/>
          </a:prstGeom>
          <a:solidFill>
            <a:schemeClr val="bg1"/>
          </a:solidFill>
          <a:ln w="9525">
            <a:noFill/>
            <a:miter lim="800000"/>
          </a:ln>
        </p:spPr>
        <p:txBody>
          <a:bodyPr anchor="ctr">
            <a:spAutoFit/>
          </a:bodyPr>
          <a:lstStyle/>
          <a:p>
            <a:pPr fontAlgn="base">
              <a:spcBef>
                <a:spcPct val="0"/>
              </a:spcBef>
              <a:spcAft>
                <a:spcPct val="0"/>
              </a:spcAft>
              <a:defRPr/>
            </a:pPr>
            <a:r>
              <a:rPr lang="en-US" altLang="zh-CN" sz="2600" b="1" dirty="0">
                <a:solidFill>
                  <a:srgbClr val="000000"/>
                </a:solidFill>
                <a:latin typeface="Times New Roman" panose="02020603050405020304"/>
              </a:rPr>
              <a:t>          Applied  conditions —— at  the  </a:t>
            </a:r>
            <a:r>
              <a:rPr lang="en-US" altLang="zh-CN" sz="2600" b="1" i="1" dirty="0" smtClean="0">
                <a:solidFill>
                  <a:srgbClr val="0000FF"/>
                </a:solidFill>
                <a:latin typeface="Times New Roman" panose="02020603050405020304"/>
              </a:rPr>
              <a:t>higher</a:t>
            </a:r>
            <a:r>
              <a:rPr lang="en-US" altLang="zh-CN" sz="2600" b="1" dirty="0" smtClean="0">
                <a:solidFill>
                  <a:srgbClr val="FF5050"/>
                </a:solidFill>
                <a:latin typeface="Times New Roman" panose="02020603050405020304"/>
              </a:rPr>
              <a:t> </a:t>
            </a:r>
            <a:r>
              <a:rPr lang="en-US" altLang="zh-CN" sz="2600" b="1" i="1" dirty="0" smtClean="0">
                <a:solidFill>
                  <a:srgbClr val="0000FF"/>
                </a:solidFill>
                <a:latin typeface="Times New Roman" panose="02020603050405020304"/>
              </a:rPr>
              <a:t>temperatures   </a:t>
            </a:r>
            <a:r>
              <a:rPr lang="en-US" altLang="zh-CN" sz="2600" b="1" i="1" dirty="0" smtClean="0">
                <a:latin typeface="Times New Roman" panose="02020603050405020304"/>
              </a:rPr>
              <a:t>or</a:t>
            </a:r>
            <a:r>
              <a:rPr lang="en-US" altLang="zh-CN" sz="2600" b="1" i="1" dirty="0" smtClean="0">
                <a:solidFill>
                  <a:schemeClr val="tx1"/>
                </a:solidFill>
                <a:latin typeface="Times New Roman" panose="02020603050405020304"/>
              </a:rPr>
              <a:t> at  </a:t>
            </a:r>
            <a:r>
              <a:rPr lang="en-US" altLang="zh-CN" sz="2600" b="1" i="1" dirty="0">
                <a:solidFill>
                  <a:schemeClr val="tx1"/>
                </a:solidFill>
                <a:latin typeface="Times New Roman" panose="02020603050405020304"/>
              </a:rPr>
              <a:t>the</a:t>
            </a:r>
            <a:r>
              <a:rPr lang="en-US" altLang="zh-CN" sz="2600" b="1" i="1" dirty="0">
                <a:solidFill>
                  <a:srgbClr val="0000FF"/>
                </a:solidFill>
                <a:latin typeface="Times New Roman" panose="02020603050405020304"/>
              </a:rPr>
              <a:t>  lower  pressures .</a:t>
            </a:r>
          </a:p>
        </p:txBody>
      </p:sp>
      <p:sp>
        <p:nvSpPr>
          <p:cNvPr id="7" name="Rectangle 4"/>
          <p:cNvSpPr>
            <a:spLocks noChangeArrowheads="1"/>
          </p:cNvSpPr>
          <p:nvPr/>
        </p:nvSpPr>
        <p:spPr bwMode="auto">
          <a:xfrm>
            <a:off x="0" y="0"/>
            <a:ext cx="4707890" cy="521970"/>
          </a:xfrm>
          <a:prstGeom prst="rect">
            <a:avLst/>
          </a:prstGeom>
          <a:gradFill rotWithShape="1">
            <a:gsLst>
              <a:gs pos="0">
                <a:srgbClr val="5E7676"/>
              </a:gs>
              <a:gs pos="50000">
                <a:srgbClr val="CCFFFF"/>
              </a:gs>
              <a:gs pos="100000">
                <a:srgbClr val="5E7676"/>
              </a:gs>
            </a:gsLst>
            <a:lin ang="5400000" scaled="1"/>
          </a:gradFill>
          <a:ln w="9525">
            <a:noFill/>
            <a:miter lim="800000"/>
          </a:ln>
        </p:spPr>
        <p:txBody>
          <a:bodyPr wrap="square">
            <a:spAutoFit/>
          </a:bodyPr>
          <a:lstStyle/>
          <a:p>
            <a:pPr fontAlgn="base">
              <a:spcBef>
                <a:spcPct val="0"/>
              </a:spcBef>
              <a:spcAft>
                <a:spcPct val="0"/>
              </a:spcAft>
              <a:defRPr/>
            </a:pPr>
            <a:r>
              <a:rPr lang="en-US" altLang="zh-CN" sz="2800" b="1" dirty="0">
                <a:solidFill>
                  <a:srgbClr val="FF0000"/>
                </a:solidFill>
                <a:latin typeface="Times New Roman" panose="02020603050405020304"/>
              </a:rPr>
              <a:t>Part 2   </a:t>
            </a:r>
            <a:r>
              <a:rPr lang="en-US" altLang="zh-CN" sz="2800" b="1" i="1" dirty="0">
                <a:solidFill>
                  <a:srgbClr val="FF0000"/>
                </a:solidFill>
                <a:latin typeface="Times New Roman" panose="02020603050405020304"/>
              </a:rPr>
              <a:t>Law  of  an  ideal  gas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4386"/>
                                        </p:tgtEl>
                                        <p:attrNameLst>
                                          <p:attrName>style.visibility</p:attrName>
                                        </p:attrNameLst>
                                      </p:cBhvr>
                                      <p:to>
                                        <p:strVal val="visible"/>
                                      </p:to>
                                    </p:set>
                                    <p:animEffect transition="in" filter="blinds(horizontal)">
                                      <p:cBhvr>
                                        <p:cTn id="12" dur="500"/>
                                        <p:tgtEl>
                                          <p:spTgt spid="14438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4387"/>
                                        </p:tgtEl>
                                        <p:attrNameLst>
                                          <p:attrName>style.visibility</p:attrName>
                                        </p:attrNameLst>
                                      </p:cBhvr>
                                      <p:to>
                                        <p:strVal val="visible"/>
                                      </p:to>
                                    </p:set>
                                    <p:animEffect transition="in" filter="blinds(horizontal)">
                                      <p:cBhvr>
                                        <p:cTn id="17" dur="500"/>
                                        <p:tgtEl>
                                          <p:spTgt spid="1443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4388"/>
                                        </p:tgtEl>
                                        <p:attrNameLst>
                                          <p:attrName>style.visibility</p:attrName>
                                        </p:attrNameLst>
                                      </p:cBhvr>
                                      <p:to>
                                        <p:strVal val="visible"/>
                                      </p:to>
                                    </p:set>
                                    <p:animEffect transition="in" filter="blinds(horizontal)">
                                      <p:cBhvr>
                                        <p:cTn id="22" dur="500"/>
                                        <p:tgtEl>
                                          <p:spTgt spid="14438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4389"/>
                                        </p:tgtEl>
                                        <p:attrNameLst>
                                          <p:attrName>style.visibility</p:attrName>
                                        </p:attrNameLst>
                                      </p:cBhvr>
                                      <p:to>
                                        <p:strVal val="visible"/>
                                      </p:to>
                                    </p:set>
                                    <p:animEffect transition="in" filter="blinds(horizontal)">
                                      <p:cBhvr>
                                        <p:cTn id="27" dur="500"/>
                                        <p:tgtEl>
                                          <p:spTgt spid="144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nimBg="1"/>
      <p:bldP spid="144387" grpId="0" animBg="1"/>
      <p:bldP spid="144387" grpId="1" animBg="1"/>
      <p:bldP spid="144388" grpId="0" animBg="1"/>
      <p:bldP spid="144388" grpId="1" animBg="1"/>
      <p:bldP spid="144389" grpId="0" animBg="1"/>
      <p:bldP spid="144389" grpId="1" animBg="1"/>
      <p:bldP spid="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p:cNvSpPr>
            <a:spLocks noChangeArrowheads="1"/>
          </p:cNvSpPr>
          <p:nvPr/>
        </p:nvSpPr>
        <p:spPr bwMode="auto">
          <a:xfrm>
            <a:off x="228600" y="152400"/>
            <a:ext cx="8763000" cy="892175"/>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altLang="zh-CN" sz="2600" b="1" dirty="0">
                <a:solidFill>
                  <a:srgbClr val="000000"/>
                </a:solidFill>
                <a:latin typeface="Times New Roman" panose="02020603050405020304"/>
              </a:rPr>
              <a:t>           Law  of  ideal  gases  is  also  called  equation  of  state  of  ideal  </a:t>
            </a:r>
            <a:r>
              <a:rPr lang="en-US" altLang="zh-CN" sz="2600" b="1" dirty="0" smtClean="0">
                <a:solidFill>
                  <a:srgbClr val="000000"/>
                </a:solidFill>
                <a:latin typeface="Times New Roman" panose="02020603050405020304"/>
              </a:rPr>
              <a:t>gases:</a:t>
            </a:r>
            <a:endParaRPr lang="en-US" altLang="zh-CN" sz="2600" b="1" dirty="0">
              <a:solidFill>
                <a:srgbClr val="000000"/>
              </a:solidFill>
              <a:latin typeface="Times New Roman" panose="02020603050405020304"/>
            </a:endParaRPr>
          </a:p>
        </p:txBody>
      </p:sp>
      <p:sp>
        <p:nvSpPr>
          <p:cNvPr id="7" name="Rectangle 2"/>
          <p:cNvSpPr>
            <a:spLocks noChangeArrowheads="1"/>
          </p:cNvSpPr>
          <p:nvPr/>
        </p:nvSpPr>
        <p:spPr bwMode="auto">
          <a:xfrm>
            <a:off x="107504" y="5429255"/>
            <a:ext cx="8382000" cy="892552"/>
          </a:xfrm>
          <a:prstGeom prst="rect">
            <a:avLst/>
          </a:prstGeom>
          <a:solidFill>
            <a:schemeClr val="bg1"/>
          </a:solidFill>
          <a:ln w="9525">
            <a:noFill/>
            <a:miter lim="800000"/>
          </a:ln>
        </p:spPr>
        <p:txBody>
          <a:bodyPr anchor="ctr">
            <a:spAutoFit/>
          </a:bodyPr>
          <a:lstStyle/>
          <a:p>
            <a:pPr fontAlgn="base">
              <a:spcBef>
                <a:spcPct val="0"/>
              </a:spcBef>
              <a:spcAft>
                <a:spcPct val="0"/>
              </a:spcAft>
              <a:defRPr/>
            </a:pPr>
            <a:r>
              <a:rPr lang="en-US" altLang="zh-CN" sz="2600" b="1" i="1" dirty="0">
                <a:solidFill>
                  <a:srgbClr val="000000"/>
                </a:solidFill>
                <a:latin typeface="Times New Roman" panose="02020603050405020304"/>
              </a:rPr>
              <a:t>         </a:t>
            </a:r>
            <a:r>
              <a:rPr lang="zh-CN" altLang="en-US" sz="2600" b="1" i="1" dirty="0">
                <a:latin typeface="Times New Roman" panose="02020603050405020304"/>
              </a:rPr>
              <a:t>注</a:t>
            </a:r>
            <a:r>
              <a:rPr lang="zh-CN" altLang="en-US" sz="2600" b="1" i="1" dirty="0" smtClean="0">
                <a:latin typeface="Times New Roman" panose="02020603050405020304"/>
              </a:rPr>
              <a:t>：</a:t>
            </a:r>
            <a:r>
              <a:rPr lang="zh-CN" altLang="en-US" sz="2600" b="1" i="1" dirty="0" smtClean="0">
                <a:solidFill>
                  <a:srgbClr val="0000FF"/>
                </a:solidFill>
                <a:latin typeface="Times New Roman" panose="02020603050405020304"/>
              </a:rPr>
              <a:t>一定</a:t>
            </a:r>
            <a:r>
              <a:rPr lang="zh-CN" altLang="en-US" sz="2600" b="1" i="1" dirty="0">
                <a:solidFill>
                  <a:srgbClr val="0000FF"/>
                </a:solidFill>
                <a:latin typeface="Times New Roman" panose="02020603050405020304"/>
              </a:rPr>
              <a:t>要注意</a:t>
            </a:r>
            <a:r>
              <a:rPr lang="en-US" altLang="zh-CN" sz="2600" b="1" i="1" dirty="0" err="1">
                <a:solidFill>
                  <a:srgbClr val="0000FF"/>
                </a:solidFill>
                <a:latin typeface="Times New Roman" panose="02020603050405020304"/>
              </a:rPr>
              <a:t>pV</a:t>
            </a:r>
            <a:r>
              <a:rPr lang="zh-CN" altLang="en-US" sz="2600" b="1" i="1" dirty="0">
                <a:solidFill>
                  <a:srgbClr val="0000FF"/>
                </a:solidFill>
                <a:latin typeface="Times New Roman" panose="02020603050405020304"/>
              </a:rPr>
              <a:t>单位的组合，熟记三套单位</a:t>
            </a:r>
            <a:r>
              <a:rPr lang="zh-CN" altLang="en-US" sz="2600" b="1" i="1" dirty="0" smtClean="0">
                <a:solidFill>
                  <a:srgbClr val="0000FF"/>
                </a:solidFill>
                <a:latin typeface="Times New Roman" panose="02020603050405020304"/>
              </a:rPr>
              <a:t>组合（最常用的是</a:t>
            </a:r>
            <a:r>
              <a:rPr lang="en-US" altLang="zh-CN" sz="2600" b="1" i="1" dirty="0" err="1" smtClean="0">
                <a:solidFill>
                  <a:srgbClr val="0000FF"/>
                </a:solidFill>
                <a:latin typeface="Times New Roman" panose="02020603050405020304"/>
              </a:rPr>
              <a:t>kPa·L</a:t>
            </a:r>
            <a:r>
              <a:rPr lang="zh-CN" altLang="en-US" sz="2600" b="1" i="1" dirty="0" smtClean="0">
                <a:solidFill>
                  <a:srgbClr val="0000FF"/>
                </a:solidFill>
                <a:latin typeface="Times New Roman" panose="02020603050405020304"/>
              </a:rPr>
              <a:t>）！ </a:t>
            </a:r>
            <a:r>
              <a:rPr lang="zh-CN" altLang="en-US" sz="2600" b="1" i="1" dirty="0">
                <a:solidFill>
                  <a:srgbClr val="0000FF"/>
                </a:solidFill>
                <a:latin typeface="Times New Roman" panose="02020603050405020304"/>
              </a:rPr>
              <a:t>这里的</a:t>
            </a:r>
            <a:r>
              <a:rPr lang="en-US" altLang="zh-CN" sz="2600" b="1" i="1" dirty="0" err="1">
                <a:solidFill>
                  <a:srgbClr val="0000FF"/>
                </a:solidFill>
                <a:latin typeface="Times New Roman" panose="02020603050405020304"/>
              </a:rPr>
              <a:t>pV</a:t>
            </a:r>
            <a:r>
              <a:rPr lang="zh-CN" altLang="en-US" sz="2600" b="1" i="1" dirty="0">
                <a:solidFill>
                  <a:srgbClr val="0000FF"/>
                </a:solidFill>
                <a:latin typeface="Times New Roman" panose="02020603050405020304"/>
              </a:rPr>
              <a:t>单位是</a:t>
            </a:r>
            <a:r>
              <a:rPr lang="zh-CN" altLang="en-US" sz="2600" b="1" i="1" dirty="0">
                <a:solidFill>
                  <a:srgbClr val="CC3300"/>
                </a:solidFill>
                <a:latin typeface="Times New Roman" panose="02020603050405020304"/>
              </a:rPr>
              <a:t> </a:t>
            </a:r>
            <a:r>
              <a:rPr lang="zh-CN" altLang="en-US" sz="2600" b="1" i="1" dirty="0" smtClean="0">
                <a:solidFill>
                  <a:srgbClr val="C00000"/>
                </a:solidFill>
                <a:latin typeface="Times New Roman" panose="02020603050405020304"/>
              </a:rPr>
              <a:t>焦耳</a:t>
            </a:r>
            <a:r>
              <a:rPr lang="en-US" altLang="zh-CN" sz="2600" b="1" i="1" dirty="0" smtClean="0">
                <a:solidFill>
                  <a:srgbClr val="C00000"/>
                </a:solidFill>
                <a:latin typeface="Times New Roman" panose="02020603050405020304"/>
              </a:rPr>
              <a:t>J</a:t>
            </a:r>
            <a:r>
              <a:rPr lang="en-US" altLang="zh-CN" sz="2600" b="1" i="1" dirty="0" smtClean="0">
                <a:solidFill>
                  <a:srgbClr val="CC3300"/>
                </a:solidFill>
                <a:latin typeface="Times New Roman" panose="02020603050405020304"/>
              </a:rPr>
              <a:t> </a:t>
            </a:r>
            <a:r>
              <a:rPr lang="en-US" altLang="zh-CN" sz="2600" b="1" i="1" dirty="0">
                <a:solidFill>
                  <a:srgbClr val="0000FF"/>
                </a:solidFill>
                <a:latin typeface="Times New Roman" panose="02020603050405020304"/>
              </a:rPr>
              <a:t>not kJ</a:t>
            </a:r>
            <a:r>
              <a:rPr lang="zh-CN" altLang="en-US" sz="2600" b="1" i="1" dirty="0">
                <a:solidFill>
                  <a:srgbClr val="0000FF"/>
                </a:solidFill>
                <a:latin typeface="Times New Roman" panose="02020603050405020304"/>
              </a:rPr>
              <a:t>！</a:t>
            </a:r>
            <a:endParaRPr lang="en-US" altLang="zh-CN" sz="2600" b="1" i="1" dirty="0">
              <a:solidFill>
                <a:srgbClr val="0000FF"/>
              </a:solidFill>
              <a:latin typeface="Times New Roman" panose="02020603050405020304"/>
            </a:endParaRPr>
          </a:p>
        </p:txBody>
      </p:sp>
      <p:graphicFrame>
        <p:nvGraphicFramePr>
          <p:cNvPr id="7170" name="Object 6"/>
          <p:cNvGraphicFramePr>
            <a:graphicFrameLocks noChangeAspect="1"/>
          </p:cNvGraphicFramePr>
          <p:nvPr/>
        </p:nvGraphicFramePr>
        <p:xfrm>
          <a:off x="179512" y="1052736"/>
          <a:ext cx="8640960" cy="3986113"/>
        </p:xfrm>
        <a:graphic>
          <a:graphicData uri="http://schemas.openxmlformats.org/presentationml/2006/ole">
            <p:oleObj spid="_x0000_s20481" name="CS ChemDraw Drawing" r:id="rId3" imgW="93383100" imgH="39890700" progId="ExeApp.Eleconment.1">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box(in)">
                                      <p:cBhvr>
                                        <p:cTn id="7" dur="500"/>
                                        <p:tgtEl>
                                          <p:spTgt spid="1321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 calcmode="lin" valueType="num">
                                      <p:cBhvr additive="base">
                                        <p:cTn id="12" dur="500" fill="hold"/>
                                        <p:tgtEl>
                                          <p:spTgt spid="7170"/>
                                        </p:tgtEl>
                                        <p:attrNameLst>
                                          <p:attrName>ppt_x</p:attrName>
                                        </p:attrNameLst>
                                      </p:cBhvr>
                                      <p:tavLst>
                                        <p:tav tm="0">
                                          <p:val>
                                            <p:strVal val="#ppt_x"/>
                                          </p:val>
                                        </p:tav>
                                        <p:tav tm="100000">
                                          <p:val>
                                            <p:strVal val="#ppt_x"/>
                                          </p:val>
                                        </p:tav>
                                      </p:tavLst>
                                    </p:anim>
                                    <p:anim calcmode="lin" valueType="num">
                                      <p:cBhvr additive="base">
                                        <p:cTn id="13"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amond(in)">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7"/>
          <p:cNvGraphicFramePr>
            <a:graphicFrameLocks noChangeAspect="1"/>
          </p:cNvGraphicFramePr>
          <p:nvPr/>
        </p:nvGraphicFramePr>
        <p:xfrm>
          <a:off x="755576" y="404664"/>
          <a:ext cx="7467600" cy="2286000"/>
        </p:xfrm>
        <a:graphic>
          <a:graphicData uri="http://schemas.openxmlformats.org/presentationml/2006/ole">
            <p:oleObj spid="_x0000_s26626" name="CS ChemDraw Drawing" r:id="rId3" imgW="89220675" imgH="36118800" progId="ExeApp.Eleconment.1">
              <p:embed/>
            </p:oleObj>
          </a:graphicData>
        </a:graphic>
      </p:graphicFrame>
      <p:graphicFrame>
        <p:nvGraphicFramePr>
          <p:cNvPr id="49155" name="Object 3" descr="ppt/media/image19.wmf"/>
          <p:cNvGraphicFramePr>
            <a:graphicFrameLocks noChangeAspect="1"/>
          </p:cNvGraphicFramePr>
          <p:nvPr/>
        </p:nvGraphicFramePr>
        <p:xfrm>
          <a:off x="755576" y="3212976"/>
          <a:ext cx="7272808" cy="3240360"/>
        </p:xfrm>
        <a:graphic>
          <a:graphicData uri="http://schemas.openxmlformats.org/presentationml/2006/ole">
            <p:oleObj spid="_x0000_s26625" name="CS ChemDraw Drawing" r:id="rId4" imgW="23841075" imgH="10972800" progId="ExeApp.Eleconment.1">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9155"/>
                                        </p:tgtEl>
                                        <p:attrNameLst>
                                          <p:attrName>style.visibility</p:attrName>
                                        </p:attrNameLst>
                                      </p:cBhvr>
                                      <p:to>
                                        <p:strVal val="visible"/>
                                      </p:to>
                                    </p:set>
                                    <p:animEffect transition="in" filter="blinds(horizontal)">
                                      <p:cBhvr>
                                        <p:cTn id="13"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ChangeArrowheads="1"/>
          </p:cNvSpPr>
          <p:nvPr/>
        </p:nvSpPr>
        <p:spPr bwMode="auto">
          <a:xfrm>
            <a:off x="285720" y="1357298"/>
            <a:ext cx="8458200" cy="1692771"/>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altLang="zh-CN" sz="2600" b="1" dirty="0">
                <a:solidFill>
                  <a:srgbClr val="990000"/>
                </a:solidFill>
                <a:latin typeface="Times New Roman" panose="02020603050405020304"/>
              </a:rPr>
              <a:t>         </a:t>
            </a:r>
            <a:r>
              <a:rPr lang="zh-CN" altLang="en-US" sz="2600" b="1" dirty="0" smtClean="0">
                <a:solidFill>
                  <a:srgbClr val="000000"/>
                </a:solidFill>
                <a:latin typeface="Times New Roman" panose="02020603050405020304"/>
              </a:rPr>
              <a:t>理想气体</a:t>
            </a:r>
            <a:r>
              <a:rPr lang="zh-CN" altLang="en-US" sz="2600" b="1" dirty="0">
                <a:solidFill>
                  <a:srgbClr val="000000"/>
                </a:solidFill>
                <a:latin typeface="Times New Roman" panose="02020603050405020304"/>
              </a:rPr>
              <a:t>摩尔体积：</a:t>
            </a:r>
            <a:r>
              <a:rPr lang="en-US" altLang="zh-CN" sz="2600" b="1" i="1" dirty="0">
                <a:latin typeface="Times New Roman" panose="02020603050405020304"/>
              </a:rPr>
              <a:t>at</a:t>
            </a:r>
            <a:r>
              <a:rPr lang="en-US" altLang="zh-CN" sz="2600" b="1" i="1" dirty="0">
                <a:solidFill>
                  <a:srgbClr val="0000FF"/>
                </a:solidFill>
                <a:latin typeface="Times New Roman" panose="02020603050405020304"/>
              </a:rPr>
              <a:t> 0℃, </a:t>
            </a:r>
            <a:r>
              <a:rPr lang="en-US" altLang="zh-CN" sz="2600" b="1" i="1" dirty="0" smtClean="0">
                <a:solidFill>
                  <a:srgbClr val="0000FF"/>
                </a:solidFill>
                <a:latin typeface="Times New Roman" panose="02020603050405020304"/>
              </a:rPr>
              <a:t>1atm </a:t>
            </a:r>
            <a:r>
              <a:rPr lang="en-US" altLang="zh-CN" sz="2600" b="1" i="1" dirty="0" smtClean="0">
                <a:latin typeface="Times New Roman" panose="02020603050405020304"/>
              </a:rPr>
              <a:t>(</a:t>
            </a:r>
            <a:r>
              <a:rPr lang="zh-CN" altLang="en-US" sz="2600" b="1" i="1" dirty="0" smtClean="0">
                <a:latin typeface="Times New Roman" panose="02020603050405020304"/>
              </a:rPr>
              <a:t>标态下</a:t>
            </a:r>
            <a:r>
              <a:rPr lang="en-US" altLang="zh-CN" sz="2600" b="1" i="1" dirty="0" smtClean="0">
                <a:latin typeface="Times New Roman" panose="02020603050405020304"/>
              </a:rPr>
              <a:t>STP) </a:t>
            </a:r>
            <a:r>
              <a:rPr lang="en-US" altLang="zh-CN" sz="2600" b="1" i="1" dirty="0" smtClean="0">
                <a:solidFill>
                  <a:srgbClr val="000000"/>
                </a:solidFill>
                <a:latin typeface="Times New Roman" panose="02020603050405020304"/>
              </a:rPr>
              <a:t>,  </a:t>
            </a:r>
            <a:r>
              <a:rPr lang="en-US" altLang="zh-CN" sz="2600" b="1" i="1" dirty="0">
                <a:solidFill>
                  <a:srgbClr val="000000"/>
                </a:solidFill>
                <a:latin typeface="Times New Roman" panose="02020603050405020304"/>
              </a:rPr>
              <a:t>the volume 1mol ideal gas is </a:t>
            </a:r>
            <a:r>
              <a:rPr lang="en-US" altLang="zh-CN" sz="2600" b="1" i="1" dirty="0">
                <a:solidFill>
                  <a:srgbClr val="0000FF"/>
                </a:solidFill>
                <a:latin typeface="Times New Roman" panose="02020603050405020304"/>
              </a:rPr>
              <a:t>22.4 </a:t>
            </a:r>
            <a:r>
              <a:rPr lang="en-US" altLang="zh-CN" sz="2600" b="1" i="1" dirty="0" err="1">
                <a:solidFill>
                  <a:srgbClr val="0000FF"/>
                </a:solidFill>
                <a:latin typeface="Times New Roman" panose="02020603050405020304"/>
              </a:rPr>
              <a:t>litre</a:t>
            </a:r>
            <a:r>
              <a:rPr lang="en-US" altLang="zh-CN" sz="2600" b="1" i="1" dirty="0">
                <a:solidFill>
                  <a:srgbClr val="0000FF"/>
                </a:solidFill>
                <a:latin typeface="Times New Roman" panose="02020603050405020304"/>
              </a:rPr>
              <a:t> </a:t>
            </a:r>
            <a:r>
              <a:rPr lang="en-US" altLang="zh-CN" sz="2600" b="1" i="1" dirty="0" smtClean="0">
                <a:solidFill>
                  <a:srgbClr val="000000"/>
                </a:solidFill>
                <a:latin typeface="Times New Roman" panose="02020603050405020304"/>
              </a:rPr>
              <a:t>(</a:t>
            </a:r>
            <a:r>
              <a:rPr lang="zh-CN" altLang="en-US" sz="2600" b="1" i="1" dirty="0" smtClean="0">
                <a:solidFill>
                  <a:srgbClr val="000000"/>
                </a:solidFill>
                <a:latin typeface="Times New Roman" panose="02020603050405020304"/>
              </a:rPr>
              <a:t>代入公式可知</a:t>
            </a:r>
            <a:r>
              <a:rPr lang="en-US" altLang="zh-CN" sz="2600" b="1" i="1" dirty="0" smtClean="0">
                <a:solidFill>
                  <a:srgbClr val="000000"/>
                </a:solidFill>
                <a:latin typeface="Times New Roman" panose="02020603050405020304"/>
              </a:rPr>
              <a:t>on the </a:t>
            </a:r>
            <a:r>
              <a:rPr lang="en-US" altLang="zh-CN" sz="2600" b="1" i="1" dirty="0" smtClean="0">
                <a:latin typeface="Times New Roman" panose="02020603050405020304"/>
              </a:rPr>
              <a:t>other conditions, </a:t>
            </a:r>
            <a:r>
              <a:rPr lang="en-US" altLang="zh-CN" sz="2600" b="1" i="1" dirty="0">
                <a:latin typeface="Times New Roman" panose="02020603050405020304"/>
              </a:rPr>
              <a:t>it is not</a:t>
            </a:r>
            <a:r>
              <a:rPr lang="zh-CN" altLang="en-US" sz="2600" b="1" i="1" dirty="0">
                <a:latin typeface="Times New Roman" panose="02020603050405020304"/>
              </a:rPr>
              <a:t>！</a:t>
            </a:r>
            <a:r>
              <a:rPr lang="en-US" altLang="zh-CN" sz="2600" b="1" i="1" dirty="0" smtClean="0">
                <a:solidFill>
                  <a:srgbClr val="000000"/>
                </a:solidFill>
                <a:latin typeface="Times New Roman" panose="02020603050405020304"/>
              </a:rPr>
              <a:t>)</a:t>
            </a:r>
          </a:p>
          <a:p>
            <a:pPr fontAlgn="base">
              <a:spcBef>
                <a:spcPct val="0"/>
              </a:spcBef>
              <a:spcAft>
                <a:spcPct val="0"/>
              </a:spcAft>
              <a:defRPr/>
            </a:pPr>
            <a:r>
              <a:rPr lang="en-US" altLang="zh-CN" sz="2600" b="1" i="1" dirty="0" smtClean="0">
                <a:solidFill>
                  <a:srgbClr val="000000"/>
                </a:solidFill>
                <a:latin typeface="Times New Roman" panose="02020603050405020304"/>
              </a:rPr>
              <a:t>                                      ——</a:t>
            </a:r>
            <a:r>
              <a:rPr lang="zh-CN" altLang="en-US" sz="2600" b="1" i="1" dirty="0">
                <a:solidFill>
                  <a:srgbClr val="000000"/>
                </a:solidFill>
                <a:latin typeface="Times New Roman" panose="02020603050405020304"/>
              </a:rPr>
              <a:t>也就是说，</a:t>
            </a:r>
            <a:r>
              <a:rPr lang="en-US" altLang="zh-CN" sz="2600" b="1" i="1" dirty="0">
                <a:solidFill>
                  <a:srgbClr val="0000FF"/>
                </a:solidFill>
                <a:latin typeface="Times New Roman" panose="02020603050405020304"/>
              </a:rPr>
              <a:t>22.4</a:t>
            </a:r>
            <a:r>
              <a:rPr lang="zh-CN" altLang="en-US" sz="2600" b="1" i="1" dirty="0">
                <a:solidFill>
                  <a:srgbClr val="0000FF"/>
                </a:solidFill>
                <a:latin typeface="Times New Roman" panose="02020603050405020304"/>
              </a:rPr>
              <a:t>升不能乱用</a:t>
            </a:r>
            <a:r>
              <a:rPr lang="zh-CN" altLang="en-US" sz="2600" b="1" i="1" dirty="0">
                <a:solidFill>
                  <a:srgbClr val="000000"/>
                </a:solidFill>
                <a:latin typeface="Times New Roman" panose="02020603050405020304"/>
              </a:rPr>
              <a:t>！</a:t>
            </a:r>
          </a:p>
        </p:txBody>
      </p:sp>
      <p:sp>
        <p:nvSpPr>
          <p:cNvPr id="8198" name="矩形 12"/>
          <p:cNvSpPr>
            <a:spLocks noChangeArrowheads="1"/>
          </p:cNvSpPr>
          <p:nvPr/>
        </p:nvSpPr>
        <p:spPr bwMode="auto">
          <a:xfrm>
            <a:off x="107504" y="764704"/>
            <a:ext cx="2133600" cy="554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zh-CN" altLang="en-US" sz="3000" b="1">
                <a:solidFill>
                  <a:srgbClr val="FF0000"/>
                </a:solidFill>
              </a:rPr>
              <a:t>一、单位</a:t>
            </a:r>
          </a:p>
        </p:txBody>
      </p:sp>
      <p:grpSp>
        <p:nvGrpSpPr>
          <p:cNvPr id="9" name="组合 8"/>
          <p:cNvGrpSpPr/>
          <p:nvPr/>
        </p:nvGrpSpPr>
        <p:grpSpPr>
          <a:xfrm>
            <a:off x="357158" y="3214686"/>
            <a:ext cx="8185992" cy="1857388"/>
            <a:chOff x="466974" y="2760135"/>
            <a:chExt cx="8185992" cy="1737054"/>
          </a:xfrm>
        </p:grpSpPr>
        <p:sp>
          <p:nvSpPr>
            <p:cNvPr id="6" name="矩形 5"/>
            <p:cNvSpPr/>
            <p:nvPr/>
          </p:nvSpPr>
          <p:spPr>
            <a:xfrm>
              <a:off x="466974" y="2760135"/>
              <a:ext cx="8185992" cy="1060340"/>
            </a:xfrm>
            <a:prstGeom prst="rect">
              <a:avLst/>
            </a:prstGeom>
            <a:solidFill>
              <a:schemeClr val="bg1"/>
            </a:solidFill>
          </p:spPr>
          <p:txBody>
            <a:bodyPr wrap="square">
              <a:spAutoFit/>
            </a:bodyPr>
            <a:lstStyle/>
            <a:p>
              <a:pPr fontAlgn="base">
                <a:lnSpc>
                  <a:spcPts val="3120"/>
                </a:lnSpc>
                <a:spcBef>
                  <a:spcPct val="0"/>
                </a:spcBef>
                <a:spcAft>
                  <a:spcPct val="0"/>
                </a:spcAft>
                <a:defRPr/>
              </a:pPr>
              <a:r>
                <a:rPr lang="zh-CN" altLang="en-US" sz="2600" b="1" dirty="0">
                  <a:solidFill>
                    <a:srgbClr val="000000"/>
                  </a:solidFill>
                  <a:latin typeface="Times New Roman" panose="02020603050405020304"/>
                </a:rPr>
                <a:t>        </a:t>
              </a:r>
              <a:r>
                <a:rPr lang="zh-CN" altLang="en-US" sz="2600" b="1" dirty="0" smtClean="0">
                  <a:solidFill>
                    <a:srgbClr val="000000"/>
                  </a:solidFill>
                  <a:latin typeface="Times New Roman" panose="02020603050405020304"/>
                </a:rPr>
                <a:t> 注：标准状态</a:t>
              </a:r>
              <a:r>
                <a:rPr lang="en-US" altLang="zh-CN" sz="2600" b="1" dirty="0" smtClean="0">
                  <a:solidFill>
                    <a:srgbClr val="281288"/>
                  </a:solidFill>
                  <a:latin typeface="Times New Roman" panose="02020603050405020304"/>
                </a:rPr>
                <a:t>/</a:t>
              </a:r>
              <a:r>
                <a:rPr lang="zh-CN" altLang="en-US" sz="2600" b="1" dirty="0" smtClean="0">
                  <a:solidFill>
                    <a:srgbClr val="281288"/>
                  </a:solidFill>
                  <a:latin typeface="Times New Roman" panose="02020603050405020304"/>
                </a:rPr>
                <a:t>标态</a:t>
              </a:r>
              <a:r>
                <a:rPr lang="en-US" altLang="zh-CN" sz="2600" b="1" dirty="0" smtClean="0">
                  <a:solidFill>
                    <a:srgbClr val="281288"/>
                  </a:solidFill>
                  <a:latin typeface="Times New Roman" panose="02020603050405020304"/>
                </a:rPr>
                <a:t>:</a:t>
              </a:r>
            </a:p>
            <a:p>
              <a:pPr fontAlgn="base">
                <a:lnSpc>
                  <a:spcPts val="3120"/>
                </a:lnSpc>
                <a:spcBef>
                  <a:spcPct val="0"/>
                </a:spcBef>
                <a:spcAft>
                  <a:spcPct val="0"/>
                </a:spcAft>
                <a:defRPr/>
              </a:pPr>
              <a:r>
                <a:rPr lang="zh-CN" altLang="en-US" sz="2600" b="1" i="1" dirty="0" smtClean="0">
                  <a:solidFill>
                    <a:srgbClr val="000000"/>
                  </a:solidFill>
                  <a:latin typeface="Times New Roman" panose="02020603050405020304"/>
                </a:rPr>
                <a:t>（</a:t>
              </a:r>
              <a:r>
                <a:rPr lang="en-US" altLang="zh-CN" sz="2600" b="1" i="1" dirty="0" smtClean="0">
                  <a:solidFill>
                    <a:srgbClr val="C00000"/>
                  </a:solidFill>
                  <a:latin typeface="Times New Roman" panose="02020603050405020304"/>
                </a:rPr>
                <a:t>STP—— </a:t>
              </a:r>
              <a:r>
                <a:rPr lang="en-US" altLang="zh-CN" sz="2600" b="1" i="1" dirty="0">
                  <a:solidFill>
                    <a:srgbClr val="C00000"/>
                  </a:solidFill>
                  <a:latin typeface="Times New Roman" panose="02020603050405020304"/>
                </a:rPr>
                <a:t>0℃( </a:t>
              </a:r>
              <a:r>
                <a:rPr lang="en-US" altLang="zh-CN" sz="2600" b="1" i="1" dirty="0" smtClean="0">
                  <a:solidFill>
                    <a:srgbClr val="C00000"/>
                  </a:solidFill>
                  <a:latin typeface="Times New Roman" panose="02020603050405020304"/>
                </a:rPr>
                <a:t>273.15K</a:t>
              </a:r>
              <a:r>
                <a:rPr lang="en-US" altLang="zh-CN" sz="2600" b="1" i="1" dirty="0">
                  <a:solidFill>
                    <a:srgbClr val="C00000"/>
                  </a:solidFill>
                  <a:latin typeface="Times New Roman" panose="02020603050405020304"/>
                </a:rPr>
                <a:t>)</a:t>
              </a:r>
              <a:r>
                <a:rPr lang="zh-CN" altLang="en-US" sz="2600" b="1" i="1" dirty="0" smtClean="0">
                  <a:solidFill>
                    <a:srgbClr val="C00000"/>
                  </a:solidFill>
                  <a:latin typeface="Times New Roman" panose="02020603050405020304"/>
                </a:rPr>
                <a:t>、</a:t>
              </a:r>
              <a:r>
                <a:rPr lang="en-US" altLang="zh-CN" sz="2600" b="1" i="1" dirty="0" smtClean="0">
                  <a:solidFill>
                    <a:srgbClr val="C00000"/>
                  </a:solidFill>
                  <a:latin typeface="Times New Roman" panose="02020603050405020304"/>
                </a:rPr>
                <a:t>101.325 </a:t>
              </a:r>
              <a:r>
                <a:rPr lang="en-US" altLang="zh-CN" sz="2600" b="1" i="1" dirty="0" err="1" smtClean="0">
                  <a:solidFill>
                    <a:srgbClr val="C00000"/>
                  </a:solidFill>
                  <a:latin typeface="Times New Roman" panose="02020603050405020304"/>
                </a:rPr>
                <a:t>kPa</a:t>
              </a:r>
              <a:r>
                <a:rPr lang="en-US" altLang="zh-CN" sz="2600" b="1" i="1" dirty="0" smtClean="0">
                  <a:solidFill>
                    <a:srgbClr val="C00000"/>
                  </a:solidFill>
                  <a:latin typeface="Times New Roman" panose="02020603050405020304"/>
                </a:rPr>
                <a:t>  or 1.01×10</a:t>
              </a:r>
              <a:r>
                <a:rPr lang="en-US" altLang="zh-CN" sz="2600" b="1" i="1" baseline="30000" dirty="0" smtClean="0">
                  <a:solidFill>
                    <a:srgbClr val="C00000"/>
                  </a:solidFill>
                  <a:latin typeface="Times New Roman" panose="02020603050405020304"/>
                </a:rPr>
                <a:t>5</a:t>
              </a:r>
              <a:r>
                <a:rPr lang="en-US" altLang="zh-CN" sz="2600" b="1" i="1" dirty="0" smtClean="0">
                  <a:solidFill>
                    <a:srgbClr val="C00000"/>
                  </a:solidFill>
                  <a:latin typeface="Times New Roman" panose="02020603050405020304"/>
                </a:rPr>
                <a:t>Pa</a:t>
              </a:r>
              <a:r>
                <a:rPr lang="en-US" altLang="zh-CN" sz="2600" b="1" i="1" dirty="0" smtClean="0">
                  <a:solidFill>
                    <a:srgbClr val="000000"/>
                  </a:solidFill>
                  <a:latin typeface="Times New Roman" panose="02020603050405020304"/>
                </a:rPr>
                <a:t>)</a:t>
              </a:r>
              <a:endParaRPr lang="en-US" altLang="zh-CN" sz="2600" b="1" dirty="0" smtClean="0">
                <a:solidFill>
                  <a:srgbClr val="000000"/>
                </a:solidFill>
                <a:latin typeface="Times New Roman" panose="02020603050405020304"/>
              </a:endParaRPr>
            </a:p>
            <a:p>
              <a:pPr fontAlgn="base">
                <a:lnSpc>
                  <a:spcPts val="3120"/>
                </a:lnSpc>
                <a:spcBef>
                  <a:spcPct val="0"/>
                </a:spcBef>
                <a:spcAft>
                  <a:spcPct val="0"/>
                </a:spcAft>
                <a:defRPr/>
              </a:pPr>
              <a:r>
                <a:rPr lang="zh-CN" altLang="en-US" sz="2600" b="1" dirty="0" smtClean="0">
                  <a:solidFill>
                    <a:srgbClr val="000000"/>
                  </a:solidFill>
                  <a:latin typeface="Times New Roman" panose="02020603050405020304"/>
                </a:rPr>
                <a:t>         </a:t>
              </a:r>
              <a:r>
                <a:rPr lang="zh-CN" altLang="en-US" sz="2600" b="1" i="1" dirty="0" smtClean="0">
                  <a:latin typeface="Times New Roman" panose="02020603050405020304"/>
                </a:rPr>
                <a:t>理想气体</a:t>
              </a:r>
              <a:r>
                <a:rPr lang="zh-CN" altLang="en-US" sz="2600" b="1" i="1" dirty="0">
                  <a:latin typeface="Times New Roman" panose="02020603050405020304"/>
                </a:rPr>
                <a:t>的标</a:t>
              </a:r>
              <a:r>
                <a:rPr lang="zh-CN" altLang="en-US" sz="2600" b="1" i="1" dirty="0" smtClean="0">
                  <a:latin typeface="Times New Roman" panose="02020603050405020304"/>
                </a:rPr>
                <a:t>态 </a:t>
              </a:r>
              <a:r>
                <a:rPr lang="zh-CN" altLang="en-US" sz="2600" b="1" dirty="0" smtClean="0">
                  <a:latin typeface="Times New Roman" panose="02020603050405020304"/>
                </a:rPr>
                <a:t>≠</a:t>
              </a:r>
              <a:r>
                <a:rPr lang="zh-CN" altLang="en-US" sz="2600" b="1" i="1" dirty="0" smtClean="0">
                  <a:latin typeface="Times New Roman" panose="02020603050405020304"/>
                </a:rPr>
                <a:t>热力学标态 </a:t>
              </a:r>
              <a:r>
                <a:rPr lang="zh-CN" altLang="en-US" sz="2600" b="1" dirty="0" smtClean="0">
                  <a:latin typeface="Times New Roman" panose="02020603050405020304"/>
                </a:rPr>
                <a:t>（</a:t>
              </a:r>
              <a:r>
                <a:rPr lang="en-US" altLang="zh-CN" sz="2600" b="1" i="1" dirty="0" smtClean="0">
                  <a:solidFill>
                    <a:srgbClr val="C00000"/>
                  </a:solidFill>
                  <a:latin typeface="Times New Roman" panose="02020603050405020304"/>
                </a:rPr>
                <a:t>p</a:t>
              </a:r>
              <a:r>
                <a:rPr lang="el-GR" altLang="zh-CN" sz="2600" b="1" i="1" baseline="30000" dirty="0" smtClean="0">
                  <a:solidFill>
                    <a:srgbClr val="C00000"/>
                  </a:solidFill>
                  <a:latin typeface="Times New Roman"/>
                  <a:cs typeface="Times New Roman"/>
                </a:rPr>
                <a:t>ϴ</a:t>
              </a:r>
              <a:r>
                <a:rPr lang="en-US" altLang="zh-CN" sz="2600" b="1" i="1" dirty="0" smtClean="0">
                  <a:solidFill>
                    <a:srgbClr val="C00000"/>
                  </a:solidFill>
                  <a:latin typeface="Times New Roman" panose="02020603050405020304"/>
                </a:rPr>
                <a:t>=100kPa</a:t>
              </a:r>
              <a:r>
                <a:rPr lang="zh-CN" altLang="en-US" sz="2600" b="1" dirty="0" smtClean="0">
                  <a:latin typeface="Times New Roman" panose="02020603050405020304"/>
                </a:rPr>
                <a:t>）</a:t>
              </a:r>
              <a:r>
                <a:rPr lang="zh-CN" altLang="en-US" sz="2600" b="1" i="1" dirty="0" smtClean="0">
                  <a:solidFill>
                    <a:srgbClr val="C00000"/>
                  </a:solidFill>
                  <a:latin typeface="Times New Roman" panose="02020603050405020304"/>
                </a:rPr>
                <a:t>！</a:t>
              </a:r>
              <a:endParaRPr lang="en-US" altLang="zh-CN" sz="2600" b="1" i="1" dirty="0">
                <a:solidFill>
                  <a:srgbClr val="C00000"/>
                </a:solidFill>
                <a:latin typeface="Times New Roman" panose="02020603050405020304"/>
              </a:endParaRPr>
            </a:p>
          </p:txBody>
        </p:sp>
        <p:sp>
          <p:nvSpPr>
            <p:cNvPr id="8" name="Rectangle 2"/>
            <p:cNvSpPr>
              <a:spLocks noChangeArrowheads="1"/>
            </p:cNvSpPr>
            <p:nvPr/>
          </p:nvSpPr>
          <p:spPr bwMode="auto">
            <a:xfrm>
              <a:off x="1763688" y="4005064"/>
              <a:ext cx="5159375" cy="492125"/>
            </a:xfrm>
            <a:prstGeom prst="rect">
              <a:avLst/>
            </a:prstGeom>
            <a:solidFill>
              <a:schemeClr val="bg1"/>
            </a:solidFill>
            <a:ln w="9525">
              <a:noFill/>
              <a:miter lim="800000"/>
            </a:ln>
          </p:spPr>
          <p:txBody>
            <a:bodyPr wrap="none" anchor="ctr">
              <a:spAutoFit/>
            </a:bodyPr>
            <a:lstStyle/>
            <a:p>
              <a:pPr fontAlgn="base">
                <a:spcBef>
                  <a:spcPct val="0"/>
                </a:spcBef>
                <a:spcAft>
                  <a:spcPct val="0"/>
                </a:spcAft>
                <a:defRPr/>
              </a:pPr>
              <a:r>
                <a:rPr lang="en-US" altLang="zh-CN" sz="2600" b="1" i="1" dirty="0">
                  <a:solidFill>
                    <a:srgbClr val="000000"/>
                  </a:solidFill>
                  <a:latin typeface="Times New Roman" panose="02020603050405020304"/>
                </a:rPr>
                <a:t> 1 </a:t>
              </a:r>
              <a:r>
                <a:rPr lang="en-US" altLang="zh-CN" sz="2600" b="1" i="1" dirty="0" err="1">
                  <a:solidFill>
                    <a:srgbClr val="000000"/>
                  </a:solidFill>
                  <a:latin typeface="Times New Roman" panose="02020603050405020304"/>
                </a:rPr>
                <a:t>atm</a:t>
              </a:r>
              <a:r>
                <a:rPr lang="en-US" altLang="zh-CN" sz="2600" b="1" i="1" dirty="0">
                  <a:solidFill>
                    <a:srgbClr val="000000"/>
                  </a:solidFill>
                  <a:latin typeface="Times New Roman" panose="02020603050405020304"/>
                </a:rPr>
                <a:t> = 760 mmHg = 101.325 </a:t>
              </a:r>
              <a:r>
                <a:rPr lang="en-US" altLang="zh-CN" sz="2600" b="1" i="1" dirty="0" err="1">
                  <a:solidFill>
                    <a:srgbClr val="000000"/>
                  </a:solidFill>
                  <a:latin typeface="Times New Roman" panose="02020603050405020304"/>
                </a:rPr>
                <a:t>kPa</a:t>
              </a:r>
              <a:r>
                <a:rPr lang="en-US" altLang="zh-CN" sz="2600" b="1" i="1" dirty="0">
                  <a:solidFill>
                    <a:srgbClr val="000000"/>
                  </a:solidFill>
                  <a:latin typeface="Times New Roman" panose="02020603050405020304"/>
                </a:rPr>
                <a:t> </a:t>
              </a:r>
            </a:p>
          </p:txBody>
        </p:sp>
      </p:grpSp>
      <p:sp>
        <p:nvSpPr>
          <p:cNvPr id="10" name="矩形 9"/>
          <p:cNvSpPr/>
          <p:nvPr/>
        </p:nvSpPr>
        <p:spPr>
          <a:xfrm>
            <a:off x="179512" y="188640"/>
            <a:ext cx="1800200" cy="523220"/>
          </a:xfrm>
          <a:prstGeom prst="rect">
            <a:avLst/>
          </a:prstGeom>
        </p:spPr>
        <p:txBody>
          <a:bodyPr wrap="square">
            <a:spAutoFit/>
          </a:bodyPr>
          <a:lstStyle/>
          <a:p>
            <a:r>
              <a:rPr lang="zh-CN" altLang="en-US" sz="2800" b="1" i="1" dirty="0" smtClean="0"/>
              <a:t>说明两点：</a:t>
            </a:r>
            <a:endParaRPr lang="zh-CN" altLang="en-US" sz="28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blinds(horizontal)">
                                      <p:cBhvr>
                                        <p:cTn id="7" dur="500"/>
                                        <p:tgtEl>
                                          <p:spTgt spid="819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19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矩形 5"/>
          <p:cNvSpPr>
            <a:spLocks noChangeArrowheads="1"/>
          </p:cNvSpPr>
          <p:nvPr/>
        </p:nvSpPr>
        <p:spPr bwMode="auto">
          <a:xfrm>
            <a:off x="319802" y="430560"/>
            <a:ext cx="2895600" cy="554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zh-CN" altLang="en-US" sz="3000" b="1" dirty="0">
                <a:solidFill>
                  <a:srgbClr val="FF0000"/>
                </a:solidFill>
              </a:rPr>
              <a:t>二、公式变化</a:t>
            </a:r>
          </a:p>
        </p:txBody>
      </p:sp>
      <p:grpSp>
        <p:nvGrpSpPr>
          <p:cNvPr id="3" name="组合 2"/>
          <p:cNvGrpSpPr/>
          <p:nvPr/>
        </p:nvGrpSpPr>
        <p:grpSpPr>
          <a:xfrm>
            <a:off x="1043608" y="1268760"/>
            <a:ext cx="5668937" cy="1864911"/>
            <a:chOff x="28593" y="3284984"/>
            <a:chExt cx="5305474" cy="1864911"/>
          </a:xfrm>
        </p:grpSpPr>
        <p:sp>
          <p:nvSpPr>
            <p:cNvPr id="10" name="Rectangle 2"/>
            <p:cNvSpPr>
              <a:spLocks noChangeArrowheads="1"/>
            </p:cNvSpPr>
            <p:nvPr/>
          </p:nvSpPr>
          <p:spPr bwMode="auto">
            <a:xfrm>
              <a:off x="1914940" y="3357374"/>
              <a:ext cx="1517389" cy="492443"/>
            </a:xfrm>
            <a:prstGeom prst="rect">
              <a:avLst/>
            </a:prstGeom>
            <a:solidFill>
              <a:schemeClr val="bg1"/>
            </a:solidFill>
            <a:ln w="9525">
              <a:noFill/>
              <a:miter lim="800000"/>
            </a:ln>
          </p:spPr>
          <p:txBody>
            <a:bodyPr wrap="none" anchor="ctr">
              <a:spAutoFit/>
            </a:bodyPr>
            <a:lstStyle/>
            <a:p>
              <a:pPr fontAlgn="base">
                <a:spcBef>
                  <a:spcPct val="0"/>
                </a:spcBef>
                <a:spcAft>
                  <a:spcPct val="0"/>
                </a:spcAft>
                <a:defRPr/>
              </a:pPr>
              <a:r>
                <a:rPr lang="en-US" altLang="zh-CN" sz="2600" b="1" i="1" dirty="0">
                  <a:solidFill>
                    <a:srgbClr val="800000"/>
                  </a:solidFill>
                  <a:latin typeface="Times New Roman" panose="02020603050405020304"/>
                </a:rPr>
                <a:t> </a:t>
              </a:r>
              <a:r>
                <a:rPr lang="en-US" altLang="zh-CN" sz="2600" b="1" i="1" dirty="0" err="1" smtClean="0">
                  <a:solidFill>
                    <a:srgbClr val="0000FF"/>
                  </a:solidFill>
                  <a:latin typeface="Times New Roman" panose="02020603050405020304"/>
                </a:rPr>
                <a:t>pV</a:t>
              </a:r>
              <a:r>
                <a:rPr lang="en-US" altLang="zh-CN" sz="2600" b="1" i="1" dirty="0" smtClean="0">
                  <a:solidFill>
                    <a:srgbClr val="0000FF"/>
                  </a:solidFill>
                  <a:latin typeface="Times New Roman" panose="02020603050405020304"/>
                </a:rPr>
                <a:t> = </a:t>
              </a:r>
              <a:r>
                <a:rPr lang="en-US" altLang="zh-CN" sz="2600" b="1" i="1" dirty="0" err="1" smtClean="0">
                  <a:solidFill>
                    <a:srgbClr val="0000FF"/>
                  </a:solidFill>
                  <a:latin typeface="Times New Roman" panose="02020603050405020304"/>
                </a:rPr>
                <a:t>nRT</a:t>
              </a:r>
              <a:endParaRPr lang="en-US" altLang="zh-CN" sz="2600" b="1" i="1" dirty="0">
                <a:solidFill>
                  <a:srgbClr val="0000FF"/>
                </a:solidFill>
                <a:latin typeface="Times New Roman" panose="02020603050405020304"/>
              </a:endParaRPr>
            </a:p>
          </p:txBody>
        </p:sp>
        <p:sp>
          <p:nvSpPr>
            <p:cNvPr id="11" name="Rectangle 2"/>
            <p:cNvSpPr>
              <a:spLocks noChangeArrowheads="1"/>
            </p:cNvSpPr>
            <p:nvPr/>
          </p:nvSpPr>
          <p:spPr bwMode="auto">
            <a:xfrm>
              <a:off x="782422" y="4005541"/>
              <a:ext cx="4551645" cy="491490"/>
            </a:xfrm>
            <a:prstGeom prst="rect">
              <a:avLst/>
            </a:prstGeom>
            <a:solidFill>
              <a:schemeClr val="bg1"/>
            </a:solidFill>
            <a:ln w="9525">
              <a:noFill/>
              <a:miter lim="800000"/>
            </a:ln>
          </p:spPr>
          <p:txBody>
            <a:bodyPr wrap="none" anchor="ctr">
              <a:spAutoFit/>
            </a:bodyPr>
            <a:lstStyle/>
            <a:p>
              <a:pPr fontAlgn="base">
                <a:spcBef>
                  <a:spcPct val="0"/>
                </a:spcBef>
                <a:spcAft>
                  <a:spcPct val="0"/>
                </a:spcAft>
                <a:defRPr/>
              </a:pPr>
              <a:r>
                <a:rPr lang="en-US" altLang="zh-CN" sz="2600" b="1" i="1" dirty="0">
                  <a:solidFill>
                    <a:srgbClr val="000000"/>
                  </a:solidFill>
                  <a:latin typeface="Times New Roman" panose="02020603050405020304"/>
                </a:rPr>
                <a:t> </a:t>
              </a:r>
              <a:r>
                <a:rPr lang="zh-CN" altLang="en-US" sz="2600" b="1" i="1" dirty="0" smtClean="0">
                  <a:solidFill>
                    <a:srgbClr val="000000"/>
                  </a:solidFill>
                  <a:latin typeface="Times New Roman" panose="02020603050405020304"/>
                </a:rPr>
                <a:t>当</a:t>
              </a:r>
              <a:r>
                <a:rPr lang="en-US" altLang="zh-CN" sz="2600" b="1" i="1" dirty="0" smtClean="0">
                  <a:solidFill>
                    <a:srgbClr val="000000"/>
                  </a:solidFill>
                  <a:latin typeface="Times New Roman" panose="02020603050405020304"/>
                </a:rPr>
                <a:t>n</a:t>
              </a:r>
              <a:r>
                <a:rPr lang="zh-CN" altLang="en-US" sz="2600" b="1" i="1" dirty="0" smtClean="0">
                  <a:solidFill>
                    <a:srgbClr val="000000"/>
                  </a:solidFill>
                  <a:latin typeface="Times New Roman" panose="02020603050405020304"/>
                </a:rPr>
                <a:t>、</a:t>
              </a:r>
              <a:r>
                <a:rPr lang="en-US" altLang="zh-CN" sz="2600" b="1" i="1" dirty="0" smtClean="0">
                  <a:solidFill>
                    <a:srgbClr val="000000"/>
                  </a:solidFill>
                  <a:latin typeface="Times New Roman" panose="02020603050405020304"/>
                </a:rPr>
                <a:t>T</a:t>
              </a:r>
              <a:r>
                <a:rPr lang="zh-CN" altLang="en-US" sz="2600" b="1" i="1" dirty="0" smtClean="0">
                  <a:solidFill>
                    <a:srgbClr val="000000"/>
                  </a:solidFill>
                  <a:latin typeface="Times New Roman" panose="02020603050405020304"/>
                </a:rPr>
                <a:t>不变时，不同状态</a:t>
              </a:r>
              <a:r>
                <a:rPr lang="en-US" altLang="zh-CN" sz="2600" b="1" i="1" dirty="0" smtClean="0">
                  <a:solidFill>
                    <a:srgbClr val="000000"/>
                  </a:solidFill>
                  <a:latin typeface="Times New Roman" panose="02020603050405020304"/>
                </a:rPr>
                <a:t> i</a:t>
              </a:r>
              <a:r>
                <a:rPr lang="zh-CN" altLang="en-US" sz="2600" b="1" i="1" dirty="0" smtClean="0">
                  <a:solidFill>
                    <a:srgbClr val="000000"/>
                  </a:solidFill>
                  <a:latin typeface="Times New Roman" panose="02020603050405020304"/>
                </a:rPr>
                <a:t>的</a:t>
              </a:r>
              <a:r>
                <a:rPr lang="en-US" altLang="zh-CN" sz="2600" b="1" i="1" dirty="0" smtClean="0">
                  <a:solidFill>
                    <a:srgbClr val="000000"/>
                  </a:solidFill>
                  <a:latin typeface="Times New Roman" panose="02020603050405020304"/>
                </a:rPr>
                <a:t>pV</a:t>
              </a:r>
            </a:p>
          </p:txBody>
        </p:sp>
        <p:sp>
          <p:nvSpPr>
            <p:cNvPr id="12" name="Rectangle 2"/>
            <p:cNvSpPr>
              <a:spLocks noChangeArrowheads="1"/>
            </p:cNvSpPr>
            <p:nvPr/>
          </p:nvSpPr>
          <p:spPr bwMode="auto">
            <a:xfrm>
              <a:off x="1780852" y="4657452"/>
              <a:ext cx="2144905" cy="492443"/>
            </a:xfrm>
            <a:prstGeom prst="rect">
              <a:avLst/>
            </a:prstGeom>
            <a:solidFill>
              <a:schemeClr val="bg1"/>
            </a:solidFill>
            <a:ln w="9525">
              <a:noFill/>
              <a:miter lim="800000"/>
            </a:ln>
          </p:spPr>
          <p:txBody>
            <a:bodyPr wrap="none" anchor="ctr">
              <a:spAutoFit/>
            </a:bodyPr>
            <a:lstStyle/>
            <a:p>
              <a:pPr fontAlgn="base">
                <a:spcBef>
                  <a:spcPct val="0"/>
                </a:spcBef>
                <a:spcAft>
                  <a:spcPct val="0"/>
                </a:spcAft>
                <a:defRPr/>
              </a:pPr>
              <a:r>
                <a:rPr lang="en-US" altLang="zh-CN" sz="2600" b="1" i="1" dirty="0">
                  <a:solidFill>
                    <a:srgbClr val="C00000"/>
                  </a:solidFill>
                  <a:latin typeface="Times New Roman" panose="02020603050405020304"/>
                </a:rPr>
                <a:t> </a:t>
              </a:r>
              <a:r>
                <a:rPr lang="en-US" altLang="zh-CN" sz="2600" b="1" i="1" dirty="0" err="1" smtClean="0">
                  <a:solidFill>
                    <a:srgbClr val="C00000"/>
                  </a:solidFill>
                  <a:latin typeface="Times New Roman" panose="02020603050405020304"/>
                </a:rPr>
                <a:t>p</a:t>
              </a:r>
              <a:r>
                <a:rPr lang="en-US" altLang="zh-CN" sz="2600" b="1" i="1" baseline="-25000" dirty="0" err="1" smtClean="0">
                  <a:solidFill>
                    <a:srgbClr val="C00000"/>
                  </a:solidFill>
                  <a:latin typeface="Times New Roman" panose="02020603050405020304"/>
                </a:rPr>
                <a:t>i</a:t>
              </a:r>
              <a:r>
                <a:rPr lang="en-US" altLang="zh-CN" sz="2600" b="1" i="1" dirty="0" err="1" smtClean="0">
                  <a:solidFill>
                    <a:srgbClr val="C00000"/>
                  </a:solidFill>
                  <a:latin typeface="Times New Roman" panose="02020603050405020304"/>
                </a:rPr>
                <a:t>V</a:t>
              </a:r>
              <a:r>
                <a:rPr lang="en-US" altLang="zh-CN" sz="2600" b="1" i="1" baseline="-25000" dirty="0" err="1" smtClean="0">
                  <a:solidFill>
                    <a:srgbClr val="C00000"/>
                  </a:solidFill>
                  <a:latin typeface="Times New Roman" panose="02020603050405020304"/>
                </a:rPr>
                <a:t>i</a:t>
              </a:r>
              <a:r>
                <a:rPr lang="en-US" altLang="zh-CN" sz="2600" b="1" i="1" baseline="-25000" dirty="0" smtClean="0">
                  <a:solidFill>
                    <a:srgbClr val="C00000"/>
                  </a:solidFill>
                  <a:latin typeface="Times New Roman" panose="02020603050405020304"/>
                </a:rPr>
                <a:t> </a:t>
              </a:r>
              <a:r>
                <a:rPr lang="en-US" altLang="zh-CN" sz="2600" b="1" i="1" dirty="0" smtClean="0">
                  <a:solidFill>
                    <a:srgbClr val="C00000"/>
                  </a:solidFill>
                  <a:latin typeface="Times New Roman" panose="02020603050405020304"/>
                </a:rPr>
                <a:t>= C (</a:t>
              </a:r>
              <a:r>
                <a:rPr lang="zh-CN" altLang="en-US" sz="2600" b="1" i="1" dirty="0" smtClean="0">
                  <a:solidFill>
                    <a:srgbClr val="C00000"/>
                  </a:solidFill>
                  <a:latin typeface="Times New Roman" panose="02020603050405020304"/>
                </a:rPr>
                <a:t>常数</a:t>
              </a:r>
              <a:r>
                <a:rPr lang="en-US" altLang="zh-CN" sz="2600" b="1" i="1" dirty="0" smtClean="0">
                  <a:solidFill>
                    <a:srgbClr val="C00000"/>
                  </a:solidFill>
                  <a:latin typeface="Times New Roman" panose="02020603050405020304"/>
                </a:rPr>
                <a:t>)</a:t>
              </a:r>
            </a:p>
          </p:txBody>
        </p:sp>
        <p:sp>
          <p:nvSpPr>
            <p:cNvPr id="13" name="Rectangle 2"/>
            <p:cNvSpPr>
              <a:spLocks noChangeArrowheads="1"/>
            </p:cNvSpPr>
            <p:nvPr/>
          </p:nvSpPr>
          <p:spPr bwMode="auto">
            <a:xfrm>
              <a:off x="28593" y="3284984"/>
              <a:ext cx="613893" cy="492443"/>
            </a:xfrm>
            <a:prstGeom prst="rect">
              <a:avLst/>
            </a:prstGeom>
            <a:solidFill>
              <a:schemeClr val="bg1"/>
            </a:solidFill>
            <a:ln w="9525">
              <a:noFill/>
              <a:miter lim="800000"/>
            </a:ln>
          </p:spPr>
          <p:txBody>
            <a:bodyPr wrap="none" anchor="ctr">
              <a:spAutoFit/>
            </a:bodyPr>
            <a:lstStyle/>
            <a:p>
              <a:pPr fontAlgn="base">
                <a:spcBef>
                  <a:spcPct val="0"/>
                </a:spcBef>
                <a:spcAft>
                  <a:spcPct val="0"/>
                </a:spcAft>
                <a:defRPr/>
              </a:pPr>
              <a:r>
                <a:rPr lang="en-US" altLang="zh-CN" sz="2600" b="1" i="1" dirty="0">
                  <a:solidFill>
                    <a:srgbClr val="C00000"/>
                  </a:solidFill>
                  <a:latin typeface="Times New Roman" panose="02020603050405020304"/>
                </a:rPr>
                <a:t> </a:t>
              </a:r>
              <a:r>
                <a:rPr lang="en-US" altLang="zh-CN" sz="2600" b="1" i="1" dirty="0" smtClean="0">
                  <a:solidFill>
                    <a:srgbClr val="FF0000"/>
                  </a:solidFill>
                  <a:latin typeface="Times New Roman" panose="02020603050405020304"/>
                </a:rPr>
                <a:t>(1)</a:t>
              </a:r>
              <a:endParaRPr lang="en-US" altLang="zh-CN" sz="2600" b="1" i="1" dirty="0">
                <a:solidFill>
                  <a:srgbClr val="FF0000"/>
                </a:solidFill>
                <a:latin typeface="Times New Roman" panose="02020603050405020304"/>
              </a:endParaRPr>
            </a:p>
          </p:txBody>
        </p:sp>
      </p:grpSp>
      <p:grpSp>
        <p:nvGrpSpPr>
          <p:cNvPr id="9" name="组合 8"/>
          <p:cNvGrpSpPr/>
          <p:nvPr/>
        </p:nvGrpSpPr>
        <p:grpSpPr>
          <a:xfrm>
            <a:off x="827584" y="3789040"/>
            <a:ext cx="6984776" cy="1943091"/>
            <a:chOff x="827584" y="382926"/>
            <a:chExt cx="5310670" cy="1943091"/>
          </a:xfrm>
        </p:grpSpPr>
        <p:grpSp>
          <p:nvGrpSpPr>
            <p:cNvPr id="14" name="组合 9"/>
            <p:cNvGrpSpPr/>
            <p:nvPr/>
          </p:nvGrpSpPr>
          <p:grpSpPr>
            <a:xfrm>
              <a:off x="2123728" y="382926"/>
              <a:ext cx="4014526" cy="1943091"/>
              <a:chOff x="2123728" y="382926"/>
              <a:chExt cx="4014526" cy="1943091"/>
            </a:xfrm>
          </p:grpSpPr>
          <p:grpSp>
            <p:nvGrpSpPr>
              <p:cNvPr id="16" name="组合 6"/>
              <p:cNvGrpSpPr/>
              <p:nvPr/>
            </p:nvGrpSpPr>
            <p:grpSpPr>
              <a:xfrm>
                <a:off x="2699792" y="382926"/>
                <a:ext cx="3096344" cy="857791"/>
                <a:chOff x="674616" y="565601"/>
                <a:chExt cx="3096344" cy="857791"/>
              </a:xfrm>
            </p:grpSpPr>
            <p:cxnSp>
              <p:nvCxnSpPr>
                <p:cNvPr id="23" name="直接连接符 22"/>
                <p:cNvCxnSpPr/>
                <p:nvPr/>
              </p:nvCxnSpPr>
              <p:spPr>
                <a:xfrm>
                  <a:off x="1311600" y="1002957"/>
                  <a:ext cx="659160"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矩形 4"/>
                <p:cNvSpPr/>
                <p:nvPr/>
              </p:nvSpPr>
              <p:spPr>
                <a:xfrm>
                  <a:off x="1361114" y="570909"/>
                  <a:ext cx="444352" cy="492443"/>
                </a:xfrm>
                <a:prstGeom prst="rect">
                  <a:avLst/>
                </a:prstGeom>
              </p:spPr>
              <p:txBody>
                <a:bodyPr wrap="none">
                  <a:spAutoFit/>
                </a:bodyPr>
                <a:lstStyle/>
                <a:p>
                  <a:r>
                    <a:rPr lang="en-US" altLang="zh-CN" sz="2600" b="1" i="1" dirty="0" smtClean="0">
                      <a:solidFill>
                        <a:srgbClr val="0000FF"/>
                      </a:solidFill>
                      <a:latin typeface="+mj-lt"/>
                    </a:rPr>
                    <a:t>m</a:t>
                  </a:r>
                  <a:endParaRPr lang="zh-CN" altLang="en-US" dirty="0">
                    <a:solidFill>
                      <a:srgbClr val="0000FF"/>
                    </a:solidFill>
                    <a:latin typeface="+mj-lt"/>
                  </a:endParaRPr>
                </a:p>
              </p:txBody>
            </p:sp>
            <p:sp>
              <p:nvSpPr>
                <p:cNvPr id="25" name="矩形 24"/>
                <p:cNvSpPr/>
                <p:nvPr/>
              </p:nvSpPr>
              <p:spPr>
                <a:xfrm>
                  <a:off x="1350088" y="930949"/>
                  <a:ext cx="481222" cy="492443"/>
                </a:xfrm>
                <a:prstGeom prst="rect">
                  <a:avLst/>
                </a:prstGeom>
              </p:spPr>
              <p:txBody>
                <a:bodyPr wrap="none">
                  <a:spAutoFit/>
                </a:bodyPr>
                <a:lstStyle/>
                <a:p>
                  <a:r>
                    <a:rPr lang="en-US" altLang="zh-CN" sz="2600" b="1" i="1" dirty="0" smtClean="0">
                      <a:solidFill>
                        <a:srgbClr val="0000FF"/>
                      </a:solidFill>
                      <a:latin typeface="+mj-lt"/>
                    </a:rPr>
                    <a:t>M</a:t>
                  </a:r>
                  <a:endParaRPr lang="zh-CN" altLang="en-US" dirty="0">
                    <a:solidFill>
                      <a:srgbClr val="0000FF"/>
                    </a:solidFill>
                    <a:latin typeface="+mj-lt"/>
                  </a:endParaRPr>
                </a:p>
              </p:txBody>
            </p:sp>
            <p:sp>
              <p:nvSpPr>
                <p:cNvPr id="26" name="矩形 25"/>
                <p:cNvSpPr/>
                <p:nvPr/>
              </p:nvSpPr>
              <p:spPr>
                <a:xfrm>
                  <a:off x="674616" y="762043"/>
                  <a:ext cx="644728" cy="492443"/>
                </a:xfrm>
                <a:prstGeom prst="rect">
                  <a:avLst/>
                </a:prstGeom>
              </p:spPr>
              <p:txBody>
                <a:bodyPr wrap="none">
                  <a:spAutoFit/>
                </a:bodyPr>
                <a:lstStyle/>
                <a:p>
                  <a:r>
                    <a:rPr lang="en-US" altLang="zh-CN" sz="2600" b="1" i="1" dirty="0" smtClean="0">
                      <a:solidFill>
                        <a:srgbClr val="0000FF"/>
                      </a:solidFill>
                      <a:latin typeface="+mj-lt"/>
                    </a:rPr>
                    <a:t>n =</a:t>
                  </a:r>
                  <a:endParaRPr lang="zh-CN" altLang="en-US" dirty="0">
                    <a:solidFill>
                      <a:srgbClr val="0000FF"/>
                    </a:solidFill>
                    <a:latin typeface="+mj-lt"/>
                  </a:endParaRPr>
                </a:p>
              </p:txBody>
            </p:sp>
            <p:cxnSp>
              <p:nvCxnSpPr>
                <p:cNvPr id="27" name="直接连接符 26"/>
                <p:cNvCxnSpPr/>
                <p:nvPr/>
              </p:nvCxnSpPr>
              <p:spPr>
                <a:xfrm>
                  <a:off x="3111800" y="997649"/>
                  <a:ext cx="659160"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3161314" y="565601"/>
                  <a:ext cx="444352" cy="492443"/>
                </a:xfrm>
                <a:prstGeom prst="rect">
                  <a:avLst/>
                </a:prstGeom>
              </p:spPr>
              <p:txBody>
                <a:bodyPr wrap="none">
                  <a:spAutoFit/>
                </a:bodyPr>
                <a:lstStyle/>
                <a:p>
                  <a:r>
                    <a:rPr lang="en-US" altLang="zh-CN" sz="2600" b="1" i="1" dirty="0" smtClean="0">
                      <a:solidFill>
                        <a:srgbClr val="0000FF"/>
                      </a:solidFill>
                      <a:latin typeface="+mj-lt"/>
                    </a:rPr>
                    <a:t>m</a:t>
                  </a:r>
                  <a:endParaRPr lang="zh-CN" altLang="en-US" dirty="0">
                    <a:solidFill>
                      <a:srgbClr val="0000FF"/>
                    </a:solidFill>
                    <a:latin typeface="+mj-lt"/>
                  </a:endParaRPr>
                </a:p>
              </p:txBody>
            </p:sp>
            <p:sp>
              <p:nvSpPr>
                <p:cNvPr id="29" name="矩形 28"/>
                <p:cNvSpPr/>
                <p:nvPr/>
              </p:nvSpPr>
              <p:spPr>
                <a:xfrm>
                  <a:off x="3150288" y="925641"/>
                  <a:ext cx="407484" cy="492443"/>
                </a:xfrm>
                <a:prstGeom prst="rect">
                  <a:avLst/>
                </a:prstGeom>
              </p:spPr>
              <p:txBody>
                <a:bodyPr wrap="none">
                  <a:spAutoFit/>
                </a:bodyPr>
                <a:lstStyle/>
                <a:p>
                  <a:r>
                    <a:rPr lang="en-US" altLang="zh-CN" sz="2600" b="1" i="1" dirty="0" smtClean="0">
                      <a:solidFill>
                        <a:srgbClr val="0000FF"/>
                      </a:solidFill>
                      <a:latin typeface="+mj-lt"/>
                    </a:rPr>
                    <a:t>V</a:t>
                  </a:r>
                  <a:endParaRPr lang="zh-CN" altLang="en-US" dirty="0">
                    <a:solidFill>
                      <a:srgbClr val="0000FF"/>
                    </a:solidFill>
                    <a:latin typeface="+mj-lt"/>
                  </a:endParaRPr>
                </a:p>
              </p:txBody>
            </p:sp>
            <p:sp>
              <p:nvSpPr>
                <p:cNvPr id="30" name="矩形 29"/>
                <p:cNvSpPr/>
                <p:nvPr/>
              </p:nvSpPr>
              <p:spPr>
                <a:xfrm>
                  <a:off x="2474816" y="756735"/>
                  <a:ext cx="630301" cy="492443"/>
                </a:xfrm>
                <a:prstGeom prst="rect">
                  <a:avLst/>
                </a:prstGeom>
              </p:spPr>
              <p:txBody>
                <a:bodyPr wrap="none">
                  <a:spAutoFit/>
                </a:bodyPr>
                <a:lstStyle/>
                <a:p>
                  <a:r>
                    <a:rPr lang="el-GR" altLang="zh-CN" sz="2600" b="1" i="1" dirty="0" smtClean="0">
                      <a:solidFill>
                        <a:srgbClr val="0000FF"/>
                      </a:solidFill>
                      <a:latin typeface="+mj-lt"/>
                    </a:rPr>
                    <a:t>ρ</a:t>
                  </a:r>
                  <a:r>
                    <a:rPr lang="en-US" altLang="zh-CN" sz="2600" b="1" i="1" dirty="0" smtClean="0">
                      <a:solidFill>
                        <a:srgbClr val="0000FF"/>
                      </a:solidFill>
                      <a:latin typeface="+mj-lt"/>
                    </a:rPr>
                    <a:t> =</a:t>
                  </a:r>
                  <a:endParaRPr lang="zh-CN" altLang="en-US" dirty="0">
                    <a:solidFill>
                      <a:srgbClr val="0000FF"/>
                    </a:solidFill>
                    <a:latin typeface="+mj-lt"/>
                  </a:endParaRPr>
                </a:p>
              </p:txBody>
            </p:sp>
          </p:grpSp>
          <p:grpSp>
            <p:nvGrpSpPr>
              <p:cNvPr id="17" name="组合 7"/>
              <p:cNvGrpSpPr/>
              <p:nvPr/>
            </p:nvGrpSpPr>
            <p:grpSpPr>
              <a:xfrm>
                <a:off x="2123728" y="1455048"/>
                <a:ext cx="4014526" cy="870969"/>
                <a:chOff x="4167393" y="584079"/>
                <a:chExt cx="4014526" cy="870969"/>
              </a:xfrm>
            </p:grpSpPr>
            <p:cxnSp>
              <p:nvCxnSpPr>
                <p:cNvPr id="18" name="直接连接符 17"/>
                <p:cNvCxnSpPr/>
                <p:nvPr/>
              </p:nvCxnSpPr>
              <p:spPr>
                <a:xfrm>
                  <a:off x="4984008" y="1052736"/>
                  <a:ext cx="968740" cy="5308"/>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065396" y="584079"/>
                  <a:ext cx="870751" cy="492443"/>
                </a:xfrm>
                <a:prstGeom prst="rect">
                  <a:avLst/>
                </a:prstGeom>
              </p:spPr>
              <p:txBody>
                <a:bodyPr wrap="none">
                  <a:spAutoFit/>
                </a:bodyPr>
                <a:lstStyle/>
                <a:p>
                  <a:r>
                    <a:rPr lang="en-US" altLang="zh-CN" sz="2600" b="1" i="1" dirty="0" err="1" smtClean="0">
                      <a:solidFill>
                        <a:srgbClr val="0000FF"/>
                      </a:solidFill>
                      <a:latin typeface="+mj-lt"/>
                    </a:rPr>
                    <a:t>mRT</a:t>
                  </a:r>
                  <a:endParaRPr lang="zh-CN" altLang="en-US" dirty="0">
                    <a:solidFill>
                      <a:srgbClr val="0000FF"/>
                    </a:solidFill>
                    <a:latin typeface="+mj-lt"/>
                  </a:endParaRPr>
                </a:p>
              </p:txBody>
            </p:sp>
            <p:sp>
              <p:nvSpPr>
                <p:cNvPr id="20" name="矩形 19"/>
                <p:cNvSpPr/>
                <p:nvPr/>
              </p:nvSpPr>
              <p:spPr>
                <a:xfrm>
                  <a:off x="5181182" y="962605"/>
                  <a:ext cx="481222" cy="492443"/>
                </a:xfrm>
                <a:prstGeom prst="rect">
                  <a:avLst/>
                </a:prstGeom>
              </p:spPr>
              <p:txBody>
                <a:bodyPr wrap="none">
                  <a:spAutoFit/>
                </a:bodyPr>
                <a:lstStyle/>
                <a:p>
                  <a:r>
                    <a:rPr lang="en-US" altLang="zh-CN" sz="2600" b="1" i="1" dirty="0" smtClean="0">
                      <a:solidFill>
                        <a:srgbClr val="0000FF"/>
                      </a:solidFill>
                      <a:latin typeface="+mj-lt"/>
                    </a:rPr>
                    <a:t>M</a:t>
                  </a:r>
                  <a:endParaRPr lang="zh-CN" altLang="en-US" dirty="0">
                    <a:solidFill>
                      <a:srgbClr val="0000FF"/>
                    </a:solidFill>
                    <a:latin typeface="+mj-lt"/>
                  </a:endParaRPr>
                </a:p>
              </p:txBody>
            </p:sp>
            <p:sp>
              <p:nvSpPr>
                <p:cNvPr id="21" name="矩形 20"/>
                <p:cNvSpPr/>
                <p:nvPr/>
              </p:nvSpPr>
              <p:spPr>
                <a:xfrm>
                  <a:off x="4167393" y="806514"/>
                  <a:ext cx="842282" cy="492443"/>
                </a:xfrm>
                <a:prstGeom prst="rect">
                  <a:avLst/>
                </a:prstGeom>
              </p:spPr>
              <p:txBody>
                <a:bodyPr wrap="none">
                  <a:spAutoFit/>
                </a:bodyPr>
                <a:lstStyle/>
                <a:p>
                  <a:r>
                    <a:rPr lang="en-US" altLang="zh-CN" sz="2600" b="1" i="1" dirty="0" err="1" smtClean="0">
                      <a:solidFill>
                        <a:srgbClr val="0000FF"/>
                      </a:solidFill>
                      <a:latin typeface="+mj-lt"/>
                    </a:rPr>
                    <a:t>pV</a:t>
                  </a:r>
                  <a:r>
                    <a:rPr lang="en-US" altLang="zh-CN" sz="2600" b="1" i="1" dirty="0" smtClean="0">
                      <a:solidFill>
                        <a:srgbClr val="0000FF"/>
                      </a:solidFill>
                      <a:latin typeface="+mj-lt"/>
                    </a:rPr>
                    <a:t> =</a:t>
                  </a:r>
                  <a:endParaRPr lang="zh-CN" altLang="en-US" dirty="0">
                    <a:solidFill>
                      <a:srgbClr val="0000FF"/>
                    </a:solidFill>
                    <a:latin typeface="+mj-lt"/>
                  </a:endParaRPr>
                </a:p>
              </p:txBody>
            </p:sp>
            <p:sp>
              <p:nvSpPr>
                <p:cNvPr id="22" name="矩形 21"/>
                <p:cNvSpPr/>
                <p:nvPr/>
              </p:nvSpPr>
              <p:spPr>
                <a:xfrm>
                  <a:off x="6578595" y="806513"/>
                  <a:ext cx="1603324" cy="492443"/>
                </a:xfrm>
                <a:prstGeom prst="rect">
                  <a:avLst/>
                </a:prstGeom>
              </p:spPr>
              <p:txBody>
                <a:bodyPr wrap="none">
                  <a:spAutoFit/>
                </a:bodyPr>
                <a:lstStyle/>
                <a:p>
                  <a:r>
                    <a:rPr lang="en-US" altLang="zh-CN" sz="2600" b="1" i="1" dirty="0" err="1" smtClean="0">
                      <a:solidFill>
                        <a:srgbClr val="C00000"/>
                      </a:solidFill>
                      <a:latin typeface="+mj-lt"/>
                    </a:rPr>
                    <a:t>pM</a:t>
                  </a:r>
                  <a:r>
                    <a:rPr lang="en-US" altLang="zh-CN" sz="2600" b="1" i="1" dirty="0" smtClean="0">
                      <a:solidFill>
                        <a:srgbClr val="C00000"/>
                      </a:solidFill>
                      <a:latin typeface="+mj-lt"/>
                    </a:rPr>
                    <a:t> = </a:t>
                  </a:r>
                  <a:r>
                    <a:rPr lang="el-GR" altLang="zh-CN" sz="2600" b="1" i="1" dirty="0" smtClean="0">
                      <a:solidFill>
                        <a:srgbClr val="C00000"/>
                      </a:solidFill>
                      <a:latin typeface="+mj-lt"/>
                    </a:rPr>
                    <a:t>ρ</a:t>
                  </a:r>
                  <a:r>
                    <a:rPr lang="en-US" altLang="zh-CN" sz="2600" b="1" i="1" dirty="0" smtClean="0">
                      <a:solidFill>
                        <a:srgbClr val="C00000"/>
                      </a:solidFill>
                      <a:latin typeface="+mj-lt"/>
                    </a:rPr>
                    <a:t>RT</a:t>
                  </a:r>
                </a:p>
              </p:txBody>
            </p:sp>
          </p:grpSp>
        </p:grpSp>
        <p:sp>
          <p:nvSpPr>
            <p:cNvPr id="15" name="矩形 14"/>
            <p:cNvSpPr/>
            <p:nvPr/>
          </p:nvSpPr>
          <p:spPr>
            <a:xfrm>
              <a:off x="827584" y="454934"/>
              <a:ext cx="591829" cy="492443"/>
            </a:xfrm>
            <a:prstGeom prst="rect">
              <a:avLst/>
            </a:prstGeom>
          </p:spPr>
          <p:txBody>
            <a:bodyPr wrap="none">
              <a:spAutoFit/>
            </a:bodyPr>
            <a:lstStyle/>
            <a:p>
              <a:r>
                <a:rPr lang="en-US" altLang="zh-CN" sz="2600" b="1" dirty="0" smtClean="0">
                  <a:solidFill>
                    <a:srgbClr val="FF0000"/>
                  </a:solidFill>
                  <a:latin typeface="+mj-lt"/>
                </a:rPr>
                <a:t>(2)</a:t>
              </a:r>
              <a:endParaRPr lang="zh-CN" altLang="en-US" dirty="0">
                <a:solidFill>
                  <a:srgbClr val="FF0000"/>
                </a:solidFill>
                <a:latin typeface="+mj-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500" fill="hold"/>
                                        <p:tgtEl>
                                          <p:spTgt spid="9221"/>
                                        </p:tgtEl>
                                        <p:attrNameLst>
                                          <p:attrName>ppt_x</p:attrName>
                                        </p:attrNameLst>
                                      </p:cBhvr>
                                      <p:tavLst>
                                        <p:tav tm="0">
                                          <p:val>
                                            <p:strVal val="#ppt_x"/>
                                          </p:val>
                                        </p:tav>
                                        <p:tav tm="100000">
                                          <p:val>
                                            <p:strVal val="#ppt_x"/>
                                          </p:val>
                                        </p:tav>
                                      </p:tavLst>
                                    </p:anim>
                                    <p:anim calcmode="lin" valueType="num">
                                      <p:cBhvr additive="base">
                                        <p:cTn id="8"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7" name="矩形 7"/>
          <p:cNvSpPr>
            <a:spLocks noChangeArrowheads="1"/>
          </p:cNvSpPr>
          <p:nvPr/>
        </p:nvSpPr>
        <p:spPr bwMode="auto">
          <a:xfrm>
            <a:off x="467544" y="332656"/>
            <a:ext cx="7848600"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lang="zh-CN" altLang="en-US" sz="2600" b="1" dirty="0">
                <a:solidFill>
                  <a:srgbClr val="000000"/>
                </a:solidFill>
              </a:rPr>
              <a:t>       </a:t>
            </a:r>
            <a:r>
              <a:rPr lang="zh-CN" altLang="en-US" sz="2600" b="1" dirty="0" smtClean="0">
                <a:solidFill>
                  <a:srgbClr val="000000"/>
                </a:solidFill>
              </a:rPr>
              <a:t>容易</a:t>
            </a:r>
            <a:r>
              <a:rPr lang="zh-CN" altLang="en-US" sz="2600" b="1" dirty="0">
                <a:solidFill>
                  <a:srgbClr val="000000"/>
                </a:solidFill>
              </a:rPr>
              <a:t>得到</a:t>
            </a:r>
            <a:r>
              <a:rPr lang="en-US" altLang="zh-CN" sz="2600" b="1" dirty="0">
                <a:solidFill>
                  <a:srgbClr val="000000"/>
                </a:solidFill>
              </a:rPr>
              <a:t>---</a:t>
            </a:r>
            <a:r>
              <a:rPr lang="zh-CN" altLang="en-US" sz="2600" b="1" dirty="0">
                <a:solidFill>
                  <a:srgbClr val="000000"/>
                </a:solidFill>
              </a:rPr>
              <a:t>阿佛加德罗定律：同温同压</a:t>
            </a:r>
            <a:r>
              <a:rPr lang="zh-CN" altLang="en-US" sz="2600" b="1" dirty="0" smtClean="0">
                <a:solidFill>
                  <a:srgbClr val="000000"/>
                </a:solidFill>
              </a:rPr>
              <a:t>下</a:t>
            </a:r>
            <a:r>
              <a:rPr lang="zh-CN" altLang="en-US" sz="2600" b="1" dirty="0">
                <a:solidFill>
                  <a:srgbClr val="000000"/>
                </a:solidFill>
              </a:rPr>
              <a:t>，</a:t>
            </a:r>
            <a:r>
              <a:rPr lang="zh-CN" altLang="en-US" sz="2600" b="1" dirty="0" smtClean="0">
                <a:solidFill>
                  <a:srgbClr val="000000"/>
                </a:solidFill>
              </a:rPr>
              <a:t>相同</a:t>
            </a:r>
            <a:r>
              <a:rPr lang="zh-CN" altLang="en-US" sz="2600" b="1" dirty="0">
                <a:solidFill>
                  <a:srgbClr val="000000"/>
                </a:solidFill>
              </a:rPr>
              <a:t>体积的任何气体含有相同的分子数。</a:t>
            </a:r>
          </a:p>
        </p:txBody>
      </p:sp>
      <p:grpSp>
        <p:nvGrpSpPr>
          <p:cNvPr id="5" name="组合 4"/>
          <p:cNvGrpSpPr/>
          <p:nvPr/>
        </p:nvGrpSpPr>
        <p:grpSpPr>
          <a:xfrm>
            <a:off x="611560" y="1772816"/>
            <a:ext cx="7543800" cy="2862322"/>
            <a:chOff x="611560" y="1772816"/>
            <a:chExt cx="7543800" cy="2862322"/>
          </a:xfrm>
        </p:grpSpPr>
        <p:sp>
          <p:nvSpPr>
            <p:cNvPr id="9" name="矩形 8"/>
            <p:cNvSpPr>
              <a:spLocks noChangeArrowheads="1"/>
            </p:cNvSpPr>
            <p:nvPr/>
          </p:nvSpPr>
          <p:spPr bwMode="auto">
            <a:xfrm>
              <a:off x="611560" y="1772816"/>
              <a:ext cx="7543800"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lang="zh-CN" altLang="en-US" sz="2600" b="1" i="1" dirty="0">
                  <a:solidFill>
                    <a:srgbClr val="000000"/>
                  </a:solidFill>
                </a:rPr>
                <a:t>        </a:t>
              </a:r>
              <a:r>
                <a:rPr lang="zh-CN" altLang="en-US" sz="2600" b="1" i="1" dirty="0" smtClean="0">
                  <a:solidFill>
                    <a:srgbClr val="000000"/>
                  </a:solidFill>
                </a:rPr>
                <a:t>注：</a:t>
              </a:r>
              <a:r>
                <a:rPr lang="en-US" altLang="zh-CN" sz="2600" b="1" i="1" dirty="0" smtClean="0">
                  <a:solidFill>
                    <a:srgbClr val="C00000"/>
                  </a:solidFill>
                </a:rPr>
                <a:t>1</a:t>
              </a:r>
              <a:r>
                <a:rPr lang="zh-CN" altLang="en-US" sz="2600" b="1" i="1" dirty="0" smtClean="0">
                  <a:solidFill>
                    <a:srgbClr val="C00000"/>
                  </a:solidFill>
                </a:rPr>
                <a:t>、</a:t>
              </a:r>
              <a:r>
                <a:rPr lang="zh-CN" altLang="en-US" sz="2600" b="1" i="1" dirty="0" smtClean="0">
                  <a:solidFill>
                    <a:srgbClr val="000000"/>
                  </a:solidFill>
                </a:rPr>
                <a:t>计算</a:t>
              </a:r>
              <a:r>
                <a:rPr lang="zh-CN" altLang="en-US" sz="2600" b="1" i="1" dirty="0">
                  <a:solidFill>
                    <a:srgbClr val="000000"/>
                  </a:solidFill>
                </a:rPr>
                <a:t>最好采用</a:t>
              </a:r>
              <a:r>
                <a:rPr lang="zh-CN" altLang="en-US" sz="2600" b="1" i="1" dirty="0">
                  <a:solidFill>
                    <a:srgbClr val="0000FF"/>
                  </a:solidFill>
                </a:rPr>
                <a:t>分状态的方式</a:t>
              </a:r>
              <a:r>
                <a:rPr lang="zh-CN" altLang="en-US" sz="2600" b="1" i="1" dirty="0">
                  <a:solidFill>
                    <a:srgbClr val="000000"/>
                  </a:solidFill>
                </a:rPr>
                <a:t>来</a:t>
              </a:r>
              <a:r>
                <a:rPr lang="zh-CN" altLang="en-US" sz="2600" b="1" i="1" dirty="0" smtClean="0">
                  <a:solidFill>
                    <a:srgbClr val="000000"/>
                  </a:solidFill>
                </a:rPr>
                <a:t>计算</a:t>
              </a:r>
              <a:r>
                <a:rPr lang="zh-CN" altLang="en-US" sz="2600" b="1" i="1" dirty="0">
                  <a:solidFill>
                    <a:srgbClr val="000000"/>
                  </a:solidFill>
                </a:rPr>
                <a:t>，</a:t>
              </a:r>
              <a:r>
                <a:rPr lang="zh-CN" altLang="en-US" sz="2600" b="1" i="1" dirty="0" smtClean="0">
                  <a:solidFill>
                    <a:srgbClr val="000000"/>
                  </a:solidFill>
                </a:rPr>
                <a:t>下面会</a:t>
              </a:r>
              <a:r>
                <a:rPr lang="zh-CN" altLang="en-US" sz="2600" b="1" i="1" dirty="0" smtClean="0">
                  <a:solidFill>
                    <a:srgbClr val="000000"/>
                  </a:solidFill>
                </a:rPr>
                <a:t>举例说明（</a:t>
              </a:r>
              <a:r>
                <a:rPr lang="zh-CN" altLang="en-US" sz="2200" b="1" i="1" dirty="0" smtClean="0">
                  <a:solidFill>
                    <a:srgbClr val="0000FF"/>
                  </a:solidFill>
                </a:rPr>
                <a:t>后面热力学第一定律中的做功的计算要用到</a:t>
              </a:r>
              <a:r>
                <a:rPr lang="en-US" altLang="zh-CN" sz="2600" b="1" i="1" dirty="0" smtClean="0">
                  <a:solidFill>
                    <a:srgbClr val="000000"/>
                  </a:solidFill>
                </a:rPr>
                <a:t>——</a:t>
              </a:r>
              <a:endParaRPr lang="en-US" altLang="zh-CN" sz="2600" b="1" i="1" dirty="0" smtClean="0">
                <a:solidFill>
                  <a:srgbClr val="000000"/>
                </a:solidFill>
              </a:endParaRPr>
            </a:p>
            <a:p>
              <a:pPr fontAlgn="base">
                <a:lnSpc>
                  <a:spcPts val="3600"/>
                </a:lnSpc>
                <a:spcBef>
                  <a:spcPct val="0"/>
                </a:spcBef>
                <a:spcAft>
                  <a:spcPct val="0"/>
                </a:spcAft>
              </a:pPr>
              <a:r>
                <a:rPr lang="en-US" altLang="zh-CN" sz="2600" b="1" i="1" dirty="0" smtClean="0">
                  <a:solidFill>
                    <a:srgbClr val="C00000"/>
                  </a:solidFill>
                </a:rPr>
                <a:t>               2</a:t>
              </a:r>
              <a:r>
                <a:rPr lang="zh-CN" altLang="en-US" sz="2600" b="1" i="1" dirty="0" smtClean="0">
                  <a:solidFill>
                    <a:srgbClr val="C00000"/>
                  </a:solidFill>
                </a:rPr>
                <a:t>、</a:t>
              </a:r>
              <a:r>
                <a:rPr lang="en-US" altLang="zh-CN" sz="2600" b="1" i="1" dirty="0" smtClean="0">
                  <a:latin typeface="+mj-lt"/>
                </a:rPr>
                <a:t>298K or 298.15K</a:t>
              </a:r>
              <a:r>
                <a:rPr lang="zh-CN" altLang="en-US" sz="2600" b="1" i="1" dirty="0" smtClean="0">
                  <a:latin typeface="+mj-lt"/>
                </a:rPr>
                <a:t>，原则上，大数据用前者，小数据用后者；</a:t>
              </a:r>
              <a:endParaRPr lang="en-US" altLang="zh-CN" sz="2600" b="1" i="1" dirty="0" smtClean="0">
                <a:latin typeface="+mj-lt"/>
              </a:endParaRPr>
            </a:p>
            <a:p>
              <a:pPr fontAlgn="base">
                <a:lnSpc>
                  <a:spcPts val="3600"/>
                </a:lnSpc>
                <a:spcBef>
                  <a:spcPct val="0"/>
                </a:spcBef>
                <a:spcAft>
                  <a:spcPct val="0"/>
                </a:spcAft>
              </a:pPr>
              <a:r>
                <a:rPr lang="en-US" altLang="zh-CN" sz="2600" b="1" i="1" dirty="0" smtClean="0">
                  <a:solidFill>
                    <a:srgbClr val="C00000"/>
                  </a:solidFill>
                </a:rPr>
                <a:t>              3</a:t>
              </a:r>
              <a:r>
                <a:rPr lang="zh-CN" altLang="en-US" sz="2600" b="1" i="1" dirty="0" smtClean="0">
                  <a:solidFill>
                    <a:srgbClr val="C00000"/>
                  </a:solidFill>
                </a:rPr>
                <a:t>、</a:t>
              </a:r>
              <a:r>
                <a:rPr lang="zh-CN" altLang="en-US" sz="2600" b="1" i="1" dirty="0" smtClean="0">
                  <a:solidFill>
                    <a:srgbClr val="000000"/>
                  </a:solidFill>
                </a:rPr>
                <a:t>压力</a:t>
              </a:r>
              <a:r>
                <a:rPr lang="zh-CN" altLang="en-US" sz="2600" b="1" i="1" dirty="0">
                  <a:solidFill>
                    <a:srgbClr val="000000"/>
                  </a:solidFill>
                </a:rPr>
                <a:t>应该用小写</a:t>
              </a:r>
              <a:r>
                <a:rPr lang="en-US" altLang="zh-CN" sz="2600" b="1" i="1" dirty="0">
                  <a:solidFill>
                    <a:srgbClr val="000000"/>
                  </a:solidFill>
                </a:rPr>
                <a:t>p</a:t>
              </a:r>
              <a:r>
                <a:rPr lang="zh-CN" altLang="en-US" sz="2600" b="1" i="1" dirty="0" smtClean="0">
                  <a:solidFill>
                    <a:srgbClr val="000000"/>
                  </a:solidFill>
                </a:rPr>
                <a:t>表示</a:t>
              </a:r>
              <a:endParaRPr lang="zh-CN" altLang="en-US" sz="2600" i="1" dirty="0">
                <a:solidFill>
                  <a:srgbClr val="000000"/>
                </a:solidFill>
              </a:endParaRPr>
            </a:p>
          </p:txBody>
        </p:sp>
        <p:sp>
          <p:nvSpPr>
            <p:cNvPr id="4" name="矩形 3"/>
            <p:cNvSpPr/>
            <p:nvPr/>
          </p:nvSpPr>
          <p:spPr bwMode="auto">
            <a:xfrm>
              <a:off x="2214546" y="2714620"/>
              <a:ext cx="3962400" cy="519113"/>
            </a:xfrm>
            <a:prstGeom prst="rect">
              <a:avLst/>
            </a:prstGeom>
            <a:solidFill>
              <a:schemeClr val="bg2">
                <a:lumMod val="40000"/>
                <a:lumOff val="60000"/>
              </a:schemeClr>
            </a:solidFill>
          </p:spPr>
          <p:txBody>
            <a:bodyPr>
              <a:spAutoFit/>
            </a:bodyPr>
            <a:lstStyle/>
            <a:p>
              <a:pPr eaLnBrk="0" fontAlgn="base" hangingPunct="0">
                <a:lnSpc>
                  <a:spcPts val="3600"/>
                </a:lnSpc>
                <a:spcBef>
                  <a:spcPct val="50000"/>
                </a:spcBef>
                <a:spcAft>
                  <a:spcPct val="0"/>
                </a:spcAft>
                <a:defRPr/>
              </a:pPr>
              <a:r>
                <a:rPr kumimoji="1" lang="en-US" altLang="zh-CN" sz="2800" b="1" i="1" dirty="0">
                  <a:solidFill>
                    <a:srgbClr val="C00000"/>
                  </a:solidFill>
                  <a:latin typeface="Times New Roman" panose="02020603050405020304" pitchFamily="18" charset="0"/>
                  <a:ea typeface="楷体_GB2312" pitchFamily="49" charset="-122"/>
                </a:rPr>
                <a:t>W= </a:t>
              </a:r>
              <a:r>
                <a:rPr kumimoji="1" lang="zh-CN" altLang="en-US" sz="2800" b="1" i="1" dirty="0">
                  <a:solidFill>
                    <a:srgbClr val="C00000"/>
                  </a:solidFill>
                  <a:latin typeface="Times New Roman" panose="02020603050405020304" pitchFamily="18" charset="0"/>
                  <a:ea typeface="楷体_GB2312" pitchFamily="49" charset="-122"/>
                </a:rPr>
                <a:t>－</a:t>
              </a:r>
              <a:r>
                <a:rPr kumimoji="1" lang="en-US" altLang="zh-CN" sz="2800" b="1" i="1" dirty="0">
                  <a:solidFill>
                    <a:srgbClr val="C00000"/>
                  </a:solidFill>
                  <a:latin typeface="Times New Roman" panose="02020603050405020304" pitchFamily="18" charset="0"/>
                  <a:ea typeface="楷体_GB2312" pitchFamily="49" charset="-122"/>
                </a:rPr>
                <a:t> </a:t>
              </a:r>
              <a:r>
                <a:rPr kumimoji="1" lang="en-US" altLang="zh-CN" sz="2800" b="1" i="1" dirty="0" err="1">
                  <a:solidFill>
                    <a:srgbClr val="C00000"/>
                  </a:solidFill>
                  <a:latin typeface="Times New Roman" panose="02020603050405020304" pitchFamily="18" charset="0"/>
                  <a:ea typeface="楷体_GB2312" pitchFamily="49" charset="-122"/>
                </a:rPr>
                <a:t>p⊿V</a:t>
              </a:r>
              <a:r>
                <a:rPr kumimoji="1" lang="en-US" altLang="zh-CN" sz="2800" b="1" i="1" dirty="0">
                  <a:solidFill>
                    <a:srgbClr val="C00000"/>
                  </a:solidFill>
                  <a:latin typeface="Times New Roman" panose="02020603050405020304" pitchFamily="18" charset="0"/>
                  <a:ea typeface="楷体_GB2312" pitchFamily="49" charset="-122"/>
                </a:rPr>
                <a:t> = </a:t>
              </a:r>
              <a:r>
                <a:rPr kumimoji="1" lang="zh-CN" altLang="en-US" sz="2800" b="1" i="1" dirty="0">
                  <a:solidFill>
                    <a:srgbClr val="C00000"/>
                  </a:solidFill>
                  <a:latin typeface="Times New Roman" panose="02020603050405020304" pitchFamily="18" charset="0"/>
                  <a:ea typeface="楷体_GB2312" pitchFamily="49" charset="-122"/>
                </a:rPr>
                <a:t>－</a:t>
              </a:r>
              <a:r>
                <a:rPr kumimoji="1" lang="en-US" altLang="zh-CN" sz="2800" b="1" i="1" dirty="0">
                  <a:solidFill>
                    <a:srgbClr val="C00000"/>
                  </a:solidFill>
                  <a:latin typeface="Times New Roman" panose="02020603050405020304" pitchFamily="18" charset="0"/>
                  <a:ea typeface="楷体_GB2312" pitchFamily="49" charset="-122"/>
                </a:rPr>
                <a:t> ⊿</a:t>
              </a:r>
              <a:r>
                <a:rPr kumimoji="1" lang="en-US" altLang="zh-CN" sz="2800" b="1" i="1" dirty="0" err="1">
                  <a:solidFill>
                    <a:srgbClr val="C00000"/>
                  </a:solidFill>
                  <a:latin typeface="Times New Roman" panose="02020603050405020304" pitchFamily="18" charset="0"/>
                  <a:ea typeface="楷体_GB2312" pitchFamily="49" charset="-122"/>
                </a:rPr>
                <a:t>nRT</a:t>
              </a:r>
              <a:endParaRPr kumimoji="1" lang="en-US" altLang="zh-CN" sz="2800" b="1" i="1" dirty="0">
                <a:solidFill>
                  <a:srgbClr val="C00000"/>
                </a:solidFill>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7"/>
                                        </p:tgtEl>
                                        <p:attrNameLst>
                                          <p:attrName>style.visibility</p:attrName>
                                        </p:attrNameLst>
                                      </p:cBhvr>
                                      <p:to>
                                        <p:strVal val="visible"/>
                                      </p:to>
                                    </p:set>
                                    <p:anim calcmode="lin" valueType="num">
                                      <p:cBhvr additive="base">
                                        <p:cTn id="7" dur="500" fill="hold"/>
                                        <p:tgtEl>
                                          <p:spTgt spid="10247"/>
                                        </p:tgtEl>
                                        <p:attrNameLst>
                                          <p:attrName>ppt_x</p:attrName>
                                        </p:attrNameLst>
                                      </p:cBhvr>
                                      <p:tavLst>
                                        <p:tav tm="0">
                                          <p:val>
                                            <p:strVal val="#ppt_x"/>
                                          </p:val>
                                        </p:tav>
                                        <p:tav tm="100000">
                                          <p:val>
                                            <p:strVal val="#ppt_x"/>
                                          </p:val>
                                        </p:tav>
                                      </p:tavLst>
                                    </p:anim>
                                    <p:anim calcmode="lin" valueType="num">
                                      <p:cBhvr additive="base">
                                        <p:cTn id="8" dur="500" fill="hold"/>
                                        <p:tgtEl>
                                          <p:spTgt spid="102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3327" name="Rectangle 31"/>
          <p:cNvSpPr>
            <a:spLocks noChangeArrowheads="1"/>
          </p:cNvSpPr>
          <p:nvPr/>
        </p:nvSpPr>
        <p:spPr bwMode="auto">
          <a:xfrm>
            <a:off x="152400" y="152400"/>
            <a:ext cx="8991600" cy="3354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dirty="0">
                <a:solidFill>
                  <a:srgbClr val="C00000"/>
                </a:solidFill>
                <a:latin typeface="Times New Roman" panose="02020603050405020304" pitchFamily="18" charset="0"/>
              </a:rPr>
              <a:t>         </a:t>
            </a:r>
            <a:r>
              <a:rPr lang="zh-CN" altLang="en-US" sz="2600" b="1" dirty="0">
                <a:solidFill>
                  <a:srgbClr val="C00000"/>
                </a:solidFill>
                <a:latin typeface="Times New Roman" panose="02020603050405020304" pitchFamily="18" charset="0"/>
                <a:ea typeface="楷体_GB2312" pitchFamily="49" charset="-122"/>
              </a:rPr>
              <a:t>例</a:t>
            </a:r>
            <a:r>
              <a:rPr lang="en-US" altLang="zh-CN" sz="2600" b="1" dirty="0">
                <a:solidFill>
                  <a:srgbClr val="C00000"/>
                </a:solidFill>
                <a:latin typeface="Times New Roman" panose="02020603050405020304" pitchFamily="18" charset="0"/>
                <a:ea typeface="楷体_GB2312" pitchFamily="49" charset="-122"/>
              </a:rPr>
              <a:t>   </a:t>
            </a:r>
            <a:r>
              <a:rPr lang="zh-CN" altLang="en-US" sz="2600" b="1" dirty="0">
                <a:solidFill>
                  <a:srgbClr val="000000"/>
                </a:solidFill>
                <a:latin typeface="Times New Roman" panose="02020603050405020304" pitchFamily="18" charset="0"/>
                <a:ea typeface="楷体_GB2312" pitchFamily="49" charset="-122"/>
              </a:rPr>
              <a:t>在实验室中，由金属钠与氢气在较高温度</a:t>
            </a:r>
            <a:r>
              <a:rPr lang="en-US" altLang="zh-CN" sz="2600" b="1" dirty="0">
                <a:solidFill>
                  <a:srgbClr val="000000"/>
                </a:solidFill>
                <a:latin typeface="Times New Roman" panose="02020603050405020304" pitchFamily="18" charset="0"/>
                <a:ea typeface="楷体_GB2312" pitchFamily="49" charset="-122"/>
              </a:rPr>
              <a:t>(﹥300</a:t>
            </a:r>
            <a:r>
              <a:rPr lang="zh-CN" altLang="zh-CN" sz="2600" b="1" dirty="0">
                <a:solidFill>
                  <a:srgbClr val="000000"/>
                </a:solidFill>
                <a:latin typeface="Times New Roman" panose="02020603050405020304" pitchFamily="18" charset="0"/>
                <a:ea typeface="楷体_GB2312" pitchFamily="49" charset="-122"/>
              </a:rPr>
              <a:t>℃</a:t>
            </a:r>
            <a:r>
              <a:rPr lang="en-US" altLang="zh-CN" sz="2600" b="1" dirty="0">
                <a:solidFill>
                  <a:srgbClr val="000000"/>
                </a:solidFill>
                <a:latin typeface="Times New Roman" panose="02020603050405020304" pitchFamily="18" charset="0"/>
                <a:ea typeface="楷体_GB2312" pitchFamily="49" charset="-122"/>
              </a:rPr>
              <a:t>)</a:t>
            </a:r>
            <a:r>
              <a:rPr lang="zh-CN" altLang="en-US" sz="2600" b="1" dirty="0">
                <a:solidFill>
                  <a:srgbClr val="000000"/>
                </a:solidFill>
                <a:latin typeface="Times New Roman" panose="02020603050405020304" pitchFamily="18" charset="0"/>
                <a:ea typeface="楷体_GB2312" pitchFamily="49" charset="-122"/>
              </a:rPr>
              <a:t>下制取氢化钠</a:t>
            </a:r>
            <a:r>
              <a:rPr lang="en-US" altLang="zh-CN" sz="2600" b="1" dirty="0">
                <a:solidFill>
                  <a:srgbClr val="000000"/>
                </a:solidFill>
                <a:latin typeface="Times New Roman" panose="02020603050405020304" pitchFamily="18" charset="0"/>
                <a:ea typeface="楷体_GB2312" pitchFamily="49" charset="-122"/>
              </a:rPr>
              <a:t>(</a:t>
            </a:r>
            <a:r>
              <a:rPr lang="en-US" altLang="zh-CN" sz="2600" b="1" dirty="0" err="1">
                <a:solidFill>
                  <a:srgbClr val="000000"/>
                </a:solidFill>
                <a:latin typeface="Times New Roman" panose="02020603050405020304" pitchFamily="18" charset="0"/>
                <a:ea typeface="楷体_GB2312" pitchFamily="49" charset="-122"/>
              </a:rPr>
              <a:t>NaH</a:t>
            </a:r>
            <a:r>
              <a:rPr lang="en-US" altLang="zh-CN" sz="2600" b="1" dirty="0">
                <a:solidFill>
                  <a:srgbClr val="000000"/>
                </a:solidFill>
                <a:latin typeface="Times New Roman" panose="02020603050405020304" pitchFamily="18" charset="0"/>
                <a:ea typeface="楷体_GB2312" pitchFamily="49" charset="-122"/>
              </a:rPr>
              <a:t>)</a:t>
            </a:r>
            <a:r>
              <a:rPr lang="zh-CN" altLang="en-US" sz="2600" b="1" dirty="0">
                <a:solidFill>
                  <a:srgbClr val="000000"/>
                </a:solidFill>
                <a:latin typeface="Times New Roman" panose="02020603050405020304" pitchFamily="18" charset="0"/>
                <a:ea typeface="楷体_GB2312" pitchFamily="49" charset="-122"/>
              </a:rPr>
              <a:t>时，反应前必须将装置用无水无氧的氮气置换。氮气是由氮气钢瓶提供的，其容积为</a:t>
            </a:r>
            <a:r>
              <a:rPr lang="en-US" altLang="zh-CN" sz="2600" b="1" dirty="0">
                <a:solidFill>
                  <a:srgbClr val="000000"/>
                </a:solidFill>
                <a:latin typeface="Times New Roman" panose="02020603050405020304" pitchFamily="18" charset="0"/>
                <a:ea typeface="楷体_GB2312" pitchFamily="49" charset="-122"/>
              </a:rPr>
              <a:t>50.0L</a:t>
            </a:r>
            <a:r>
              <a:rPr lang="zh-CN" altLang="en-US" sz="2600" b="1" dirty="0">
                <a:solidFill>
                  <a:srgbClr val="000000"/>
                </a:solidFill>
                <a:latin typeface="Times New Roman" panose="02020603050405020304" pitchFamily="18" charset="0"/>
                <a:ea typeface="楷体_GB2312" pitchFamily="49" charset="-122"/>
              </a:rPr>
              <a:t>，温度为</a:t>
            </a:r>
            <a:r>
              <a:rPr lang="en-US" altLang="zh-CN" sz="2600" b="1" dirty="0">
                <a:solidFill>
                  <a:srgbClr val="000000"/>
                </a:solidFill>
                <a:latin typeface="Times New Roman" panose="02020603050405020304" pitchFamily="18" charset="0"/>
                <a:ea typeface="楷体_GB2312" pitchFamily="49" charset="-122"/>
              </a:rPr>
              <a:t>25℃</a:t>
            </a:r>
            <a:r>
              <a:rPr lang="zh-CN" altLang="en-US" sz="2600" b="1" dirty="0">
                <a:solidFill>
                  <a:srgbClr val="000000"/>
                </a:solidFill>
                <a:latin typeface="Times New Roman" panose="02020603050405020304" pitchFamily="18" charset="0"/>
                <a:ea typeface="楷体_GB2312" pitchFamily="49" charset="-122"/>
              </a:rPr>
              <a:t>、压力为</a:t>
            </a:r>
            <a:r>
              <a:rPr lang="en-US" altLang="zh-CN" sz="2600" b="1" dirty="0">
                <a:solidFill>
                  <a:srgbClr val="000000"/>
                </a:solidFill>
                <a:latin typeface="Times New Roman" panose="02020603050405020304" pitchFamily="18" charset="0"/>
                <a:ea typeface="楷体_GB2312" pitchFamily="49" charset="-122"/>
              </a:rPr>
              <a:t>15.2MPa</a:t>
            </a:r>
            <a:r>
              <a:rPr lang="zh-CN" altLang="en-US" sz="2600" b="1" dirty="0">
                <a:solidFill>
                  <a:srgbClr val="000000"/>
                </a:solidFill>
                <a:latin typeface="Times New Roman" panose="02020603050405020304" pitchFamily="18" charset="0"/>
                <a:ea typeface="楷体_GB2312" pitchFamily="49" charset="-122"/>
              </a:rPr>
              <a:t>。</a:t>
            </a:r>
          </a:p>
          <a:p>
            <a:pPr fontAlgn="base">
              <a:lnSpc>
                <a:spcPts val="3600"/>
              </a:lnSpc>
              <a:spcBef>
                <a:spcPct val="0"/>
              </a:spcBef>
              <a:spcAft>
                <a:spcPct val="0"/>
              </a:spcAft>
            </a:pPr>
            <a:r>
              <a:rPr lang="zh-CN" altLang="en-US" sz="2600" b="1" dirty="0">
                <a:solidFill>
                  <a:srgbClr val="000000"/>
                </a:solidFill>
                <a:latin typeface="Times New Roman" panose="02020603050405020304" pitchFamily="18" charset="0"/>
                <a:ea typeface="楷体_GB2312" pitchFamily="49" charset="-122"/>
              </a:rPr>
              <a:t>       </a:t>
            </a:r>
            <a:r>
              <a:rPr lang="en-US" altLang="zh-CN" sz="2600" b="1" dirty="0">
                <a:solidFill>
                  <a:srgbClr val="000000"/>
                </a:solidFill>
                <a:latin typeface="Times New Roman" panose="02020603050405020304" pitchFamily="18" charset="0"/>
                <a:ea typeface="楷体_GB2312" pitchFamily="49" charset="-122"/>
              </a:rPr>
              <a:t>(1)</a:t>
            </a:r>
            <a:r>
              <a:rPr lang="zh-CN" altLang="en-US" sz="2600" b="1" dirty="0">
                <a:solidFill>
                  <a:srgbClr val="000000"/>
                </a:solidFill>
                <a:latin typeface="Times New Roman" panose="02020603050405020304" pitchFamily="18" charset="0"/>
                <a:ea typeface="楷体_GB2312" pitchFamily="49" charset="-122"/>
              </a:rPr>
              <a:t>计算钢瓶中氮气的物质的量</a:t>
            </a:r>
            <a:r>
              <a:rPr lang="en-US" altLang="zh-CN" sz="2600" b="1" dirty="0">
                <a:solidFill>
                  <a:srgbClr val="000000"/>
                </a:solidFill>
                <a:latin typeface="Times New Roman" panose="02020603050405020304" pitchFamily="18" charset="0"/>
                <a:ea typeface="楷体_GB2312" pitchFamily="49" charset="-122"/>
              </a:rPr>
              <a:t>n(N</a:t>
            </a:r>
            <a:r>
              <a:rPr lang="en-US" altLang="zh-CN" sz="2600" b="1" baseline="-25000" dirty="0">
                <a:solidFill>
                  <a:srgbClr val="000000"/>
                </a:solidFill>
                <a:latin typeface="Times New Roman" panose="02020603050405020304" pitchFamily="18" charset="0"/>
                <a:ea typeface="楷体_GB2312" pitchFamily="49" charset="-122"/>
              </a:rPr>
              <a:t>2</a:t>
            </a:r>
            <a:r>
              <a:rPr lang="en-US" altLang="zh-CN" sz="2600" b="1" dirty="0">
                <a:solidFill>
                  <a:srgbClr val="000000"/>
                </a:solidFill>
                <a:latin typeface="Times New Roman" panose="02020603050405020304" pitchFamily="18" charset="0"/>
                <a:ea typeface="楷体_GB2312" pitchFamily="49" charset="-122"/>
              </a:rPr>
              <a:t>)</a:t>
            </a:r>
            <a:r>
              <a:rPr lang="zh-CN" altLang="en-US" sz="2600" b="1" dirty="0">
                <a:solidFill>
                  <a:srgbClr val="000000"/>
                </a:solidFill>
                <a:latin typeface="Times New Roman" panose="02020603050405020304" pitchFamily="18" charset="0"/>
                <a:ea typeface="楷体_GB2312" pitchFamily="49" charset="-122"/>
              </a:rPr>
              <a:t>和质量</a:t>
            </a:r>
            <a:r>
              <a:rPr lang="en-US" altLang="zh-CN" sz="2600" b="1" dirty="0">
                <a:solidFill>
                  <a:srgbClr val="000000"/>
                </a:solidFill>
                <a:latin typeface="Times New Roman" panose="02020603050405020304" pitchFamily="18" charset="0"/>
                <a:ea typeface="楷体_GB2312" pitchFamily="49" charset="-122"/>
              </a:rPr>
              <a:t>m(N</a:t>
            </a:r>
            <a:r>
              <a:rPr lang="en-US" altLang="zh-CN" sz="2600" b="1" baseline="-25000" dirty="0">
                <a:solidFill>
                  <a:srgbClr val="000000"/>
                </a:solidFill>
                <a:latin typeface="Times New Roman" panose="02020603050405020304" pitchFamily="18" charset="0"/>
                <a:ea typeface="楷体_GB2312" pitchFamily="49" charset="-122"/>
              </a:rPr>
              <a:t>2</a:t>
            </a:r>
            <a:r>
              <a:rPr lang="en-US" altLang="zh-CN" sz="2600" b="1" dirty="0">
                <a:solidFill>
                  <a:srgbClr val="000000"/>
                </a:solidFill>
                <a:latin typeface="Times New Roman" panose="02020603050405020304" pitchFamily="18" charset="0"/>
                <a:ea typeface="楷体_GB2312" pitchFamily="49" charset="-122"/>
              </a:rPr>
              <a:t>)</a:t>
            </a:r>
            <a:r>
              <a:rPr lang="zh-CN" altLang="en-US" sz="2600" b="1" dirty="0">
                <a:solidFill>
                  <a:srgbClr val="000000"/>
                </a:solidFill>
                <a:latin typeface="Times New Roman" panose="02020603050405020304" pitchFamily="18" charset="0"/>
                <a:ea typeface="楷体_GB2312" pitchFamily="49" charset="-122"/>
              </a:rPr>
              <a:t>；</a:t>
            </a:r>
          </a:p>
          <a:p>
            <a:pPr fontAlgn="base">
              <a:spcBef>
                <a:spcPct val="0"/>
              </a:spcBef>
              <a:spcAft>
                <a:spcPct val="0"/>
              </a:spcAft>
            </a:pPr>
            <a:r>
              <a:rPr lang="zh-CN" altLang="en-US" sz="2600" b="1" dirty="0">
                <a:solidFill>
                  <a:srgbClr val="000000"/>
                </a:solidFill>
                <a:latin typeface="Times New Roman" panose="02020603050405020304" pitchFamily="18" charset="0"/>
                <a:ea typeface="楷体_GB2312" pitchFamily="49" charset="-122"/>
              </a:rPr>
              <a:t>       </a:t>
            </a:r>
            <a:r>
              <a:rPr lang="en-US" altLang="zh-CN" sz="2600" b="1" dirty="0">
                <a:solidFill>
                  <a:srgbClr val="000000"/>
                </a:solidFill>
                <a:latin typeface="Times New Roman" panose="02020603050405020304" pitchFamily="18" charset="0"/>
                <a:ea typeface="楷体_GB2312" pitchFamily="49" charset="-122"/>
              </a:rPr>
              <a:t>(2)</a:t>
            </a:r>
            <a:r>
              <a:rPr lang="zh-CN" altLang="en-US" sz="2600" b="1" dirty="0">
                <a:solidFill>
                  <a:srgbClr val="000000"/>
                </a:solidFill>
                <a:latin typeface="Times New Roman" panose="02020603050405020304" pitchFamily="18" charset="0"/>
                <a:ea typeface="楷体_GB2312" pitchFamily="49" charset="-122"/>
              </a:rPr>
              <a:t>若将实验装置用氮气置换了五次后，钢瓶压力下降至</a:t>
            </a:r>
            <a:r>
              <a:rPr lang="en-US" altLang="zh-CN" sz="2600" b="1" dirty="0">
                <a:solidFill>
                  <a:srgbClr val="000000"/>
                </a:solidFill>
                <a:latin typeface="Times New Roman" panose="02020603050405020304" pitchFamily="18" charset="0"/>
                <a:ea typeface="楷体_GB2312" pitchFamily="49" charset="-122"/>
              </a:rPr>
              <a:t>13.8 </a:t>
            </a:r>
            <a:r>
              <a:rPr lang="en-US" altLang="zh-CN" sz="2600" b="1" dirty="0" err="1">
                <a:solidFill>
                  <a:srgbClr val="000000"/>
                </a:solidFill>
                <a:latin typeface="Times New Roman" panose="02020603050405020304" pitchFamily="18" charset="0"/>
                <a:ea typeface="楷体_GB2312" pitchFamily="49" charset="-122"/>
              </a:rPr>
              <a:t>MPa</a:t>
            </a:r>
            <a:r>
              <a:rPr lang="zh-CN" altLang="en-US" sz="2600" b="1" dirty="0">
                <a:solidFill>
                  <a:srgbClr val="000000"/>
                </a:solidFill>
                <a:latin typeface="Times New Roman" panose="02020603050405020304" pitchFamily="18" charset="0"/>
                <a:ea typeface="楷体_GB2312" pitchFamily="49" charset="-122"/>
              </a:rPr>
              <a:t>。计算在</a:t>
            </a:r>
            <a:r>
              <a:rPr lang="en-US" altLang="zh-CN" sz="2600" b="1" dirty="0">
                <a:solidFill>
                  <a:srgbClr val="000000"/>
                </a:solidFill>
                <a:latin typeface="Times New Roman" panose="02020603050405020304" pitchFamily="18" charset="0"/>
                <a:ea typeface="楷体_GB2312" pitchFamily="49" charset="-122"/>
              </a:rPr>
              <a:t>25℃</a:t>
            </a:r>
            <a:r>
              <a:rPr lang="zh-CN" altLang="en-US" sz="2600" b="1" dirty="0">
                <a:solidFill>
                  <a:srgbClr val="000000"/>
                </a:solidFill>
                <a:latin typeface="Times New Roman" panose="02020603050405020304" pitchFamily="18" charset="0"/>
                <a:ea typeface="楷体_GB2312" pitchFamily="49" charset="-122"/>
              </a:rPr>
              <a:t>、</a:t>
            </a:r>
            <a:r>
              <a:rPr lang="en-US" altLang="zh-CN" sz="2600" b="1" dirty="0">
                <a:solidFill>
                  <a:srgbClr val="000000"/>
                </a:solidFill>
                <a:latin typeface="Times New Roman" panose="02020603050405020304" pitchFamily="18" charset="0"/>
                <a:ea typeface="楷体_GB2312" pitchFamily="49" charset="-122"/>
              </a:rPr>
              <a:t>0.100MPa</a:t>
            </a:r>
            <a:r>
              <a:rPr lang="zh-CN" altLang="en-US" sz="2600" b="1" dirty="0">
                <a:solidFill>
                  <a:srgbClr val="000000"/>
                </a:solidFill>
                <a:latin typeface="Times New Roman" panose="02020603050405020304" pitchFamily="18" charset="0"/>
                <a:ea typeface="楷体_GB2312" pitchFamily="49" charset="-122"/>
              </a:rPr>
              <a:t>下，平均每次耗用氮气的体积。</a:t>
            </a:r>
          </a:p>
        </p:txBody>
      </p:sp>
      <p:sp>
        <p:nvSpPr>
          <p:cNvPr id="183331" name="Rectangle 35"/>
          <p:cNvSpPr>
            <a:spLocks noChangeArrowheads="1"/>
          </p:cNvSpPr>
          <p:nvPr/>
        </p:nvSpPr>
        <p:spPr bwMode="auto">
          <a:xfrm>
            <a:off x="381000" y="3657600"/>
            <a:ext cx="8458200" cy="8858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zh-CN" altLang="en-US" sz="2600" b="1" i="1">
                <a:solidFill>
                  <a:srgbClr val="660033"/>
                </a:solidFill>
                <a:latin typeface="Times New Roman" panose="02020603050405020304" pitchFamily="18" charset="0"/>
                <a:ea typeface="楷体_GB2312" pitchFamily="49" charset="-122"/>
              </a:rPr>
              <a:t>已知：（</a:t>
            </a:r>
            <a:r>
              <a:rPr lang="en-US" altLang="zh-CN" sz="2600" b="1" i="1">
                <a:solidFill>
                  <a:srgbClr val="660033"/>
                </a:solidFill>
                <a:latin typeface="Times New Roman" panose="02020603050405020304" pitchFamily="18" charset="0"/>
                <a:ea typeface="楷体_GB2312" pitchFamily="49" charset="-122"/>
              </a:rPr>
              <a:t>1</a:t>
            </a:r>
            <a:r>
              <a:rPr lang="zh-CN" altLang="en-US" sz="2600" b="1" i="1">
                <a:solidFill>
                  <a:srgbClr val="660033"/>
                </a:solidFill>
                <a:latin typeface="Times New Roman" panose="02020603050405020304" pitchFamily="18" charset="0"/>
                <a:ea typeface="楷体_GB2312" pitchFamily="49" charset="-122"/>
              </a:rPr>
              <a:t>）</a:t>
            </a:r>
            <a:r>
              <a:rPr lang="en-US" altLang="zh-CN" sz="2600" b="1" i="1">
                <a:solidFill>
                  <a:srgbClr val="660033"/>
                </a:solidFill>
                <a:latin typeface="Times New Roman" panose="02020603050405020304" pitchFamily="18" charset="0"/>
                <a:ea typeface="楷体_GB2312" pitchFamily="49" charset="-122"/>
              </a:rPr>
              <a:t>V</a:t>
            </a:r>
            <a:r>
              <a:rPr lang="en-US" altLang="zh-CN" sz="2600" b="1" i="1" baseline="-25000">
                <a:solidFill>
                  <a:srgbClr val="660033"/>
                </a:solidFill>
                <a:latin typeface="Times New Roman" panose="02020603050405020304" pitchFamily="18" charset="0"/>
                <a:ea typeface="楷体_GB2312" pitchFamily="49" charset="-122"/>
              </a:rPr>
              <a:t>1</a:t>
            </a:r>
            <a:r>
              <a:rPr lang="en-US" altLang="zh-CN" sz="2600" b="1" i="1">
                <a:solidFill>
                  <a:srgbClr val="660033"/>
                </a:solidFill>
                <a:latin typeface="Times New Roman" panose="02020603050405020304" pitchFamily="18" charset="0"/>
                <a:ea typeface="楷体_GB2312" pitchFamily="49" charset="-122"/>
              </a:rPr>
              <a:t>=50.0L,  p</a:t>
            </a:r>
            <a:r>
              <a:rPr lang="en-US" altLang="zh-CN" sz="2600" b="1" i="1" baseline="-25000">
                <a:solidFill>
                  <a:srgbClr val="660033"/>
                </a:solidFill>
                <a:latin typeface="Times New Roman" panose="02020603050405020304" pitchFamily="18" charset="0"/>
                <a:ea typeface="楷体_GB2312" pitchFamily="49" charset="-122"/>
              </a:rPr>
              <a:t>1</a:t>
            </a:r>
            <a:r>
              <a:rPr lang="en-US" altLang="zh-CN" sz="2600" b="1" i="1">
                <a:solidFill>
                  <a:srgbClr val="660033"/>
                </a:solidFill>
                <a:latin typeface="Times New Roman" panose="02020603050405020304" pitchFamily="18" charset="0"/>
                <a:ea typeface="楷体_GB2312" pitchFamily="49" charset="-122"/>
              </a:rPr>
              <a:t>=15.2MPa,  T</a:t>
            </a:r>
            <a:r>
              <a:rPr lang="en-US" altLang="zh-CN" sz="2600" b="1" i="1" baseline="-25000">
                <a:solidFill>
                  <a:srgbClr val="660033"/>
                </a:solidFill>
                <a:latin typeface="Times New Roman" panose="02020603050405020304" pitchFamily="18" charset="0"/>
                <a:ea typeface="楷体_GB2312" pitchFamily="49" charset="-122"/>
              </a:rPr>
              <a:t>1</a:t>
            </a:r>
            <a:r>
              <a:rPr lang="en-US" altLang="zh-CN" sz="2600" b="1" i="1">
                <a:solidFill>
                  <a:srgbClr val="660033"/>
                </a:solidFill>
                <a:latin typeface="Times New Roman" panose="02020603050405020304" pitchFamily="18" charset="0"/>
                <a:ea typeface="楷体_GB2312" pitchFamily="49" charset="-122"/>
              </a:rPr>
              <a:t>=273+25=298K</a:t>
            </a:r>
          </a:p>
          <a:p>
            <a:pPr fontAlgn="base">
              <a:spcBef>
                <a:spcPct val="0"/>
              </a:spcBef>
              <a:spcAft>
                <a:spcPct val="0"/>
              </a:spcAft>
            </a:pPr>
            <a:r>
              <a:rPr lang="en-US" altLang="zh-CN" sz="2600" b="1" i="1">
                <a:solidFill>
                  <a:srgbClr val="660033"/>
                </a:solidFill>
                <a:latin typeface="Times New Roman" panose="02020603050405020304" pitchFamily="18" charset="0"/>
                <a:ea typeface="楷体_GB2312" pitchFamily="49" charset="-122"/>
              </a:rPr>
              <a:t>   </a:t>
            </a:r>
            <a:r>
              <a:rPr lang="zh-CN" altLang="en-US" sz="2600" b="1" i="1">
                <a:solidFill>
                  <a:srgbClr val="660033"/>
                </a:solidFill>
                <a:latin typeface="Times New Roman" panose="02020603050405020304" pitchFamily="18" charset="0"/>
                <a:ea typeface="楷体_GB2312" pitchFamily="49" charset="-122"/>
              </a:rPr>
              <a:t>求</a:t>
            </a:r>
            <a:r>
              <a:rPr lang="en-US" altLang="zh-CN" sz="2600" b="1" i="1">
                <a:solidFill>
                  <a:srgbClr val="660033"/>
                </a:solidFill>
                <a:latin typeface="Times New Roman" panose="02020603050405020304" pitchFamily="18" charset="0"/>
                <a:ea typeface="楷体_GB2312" pitchFamily="49" charset="-122"/>
              </a:rPr>
              <a:t>:     n(N</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a:t>
            </a:r>
            <a:r>
              <a:rPr lang="zh-CN" altLang="en-US" sz="2600" b="1" i="1">
                <a:solidFill>
                  <a:srgbClr val="660033"/>
                </a:solidFill>
                <a:latin typeface="Times New Roman" panose="02020603050405020304" pitchFamily="18" charset="0"/>
                <a:ea typeface="楷体_GB2312" pitchFamily="49" charset="-122"/>
              </a:rPr>
              <a:t>、</a:t>
            </a:r>
            <a:r>
              <a:rPr lang="en-US" altLang="zh-CN" sz="2600" b="1" i="1">
                <a:solidFill>
                  <a:srgbClr val="660033"/>
                </a:solidFill>
                <a:latin typeface="Times New Roman" panose="02020603050405020304" pitchFamily="18" charset="0"/>
                <a:ea typeface="楷体_GB2312" pitchFamily="49" charset="-122"/>
              </a:rPr>
              <a:t>m(N</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a:t>
            </a:r>
            <a:endParaRPr lang="en-US" altLang="zh-CN" sz="2600" b="1">
              <a:solidFill>
                <a:srgbClr val="000000"/>
              </a:solidFill>
              <a:latin typeface="Times New Roman" panose="02020603050405020304" pitchFamily="18" charset="0"/>
              <a:ea typeface="楷体_GB2312" pitchFamily="49" charset="-122"/>
            </a:endParaRPr>
          </a:p>
        </p:txBody>
      </p:sp>
      <p:sp>
        <p:nvSpPr>
          <p:cNvPr id="183332" name="Rectangle 36"/>
          <p:cNvSpPr>
            <a:spLocks noChangeArrowheads="1"/>
          </p:cNvSpPr>
          <p:nvPr/>
        </p:nvSpPr>
        <p:spPr bwMode="auto">
          <a:xfrm>
            <a:off x="304800" y="4572000"/>
            <a:ext cx="8458200" cy="12827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i="1">
                <a:solidFill>
                  <a:srgbClr val="660033"/>
                </a:solidFill>
                <a:latin typeface="Times New Roman" panose="02020603050405020304" pitchFamily="18" charset="0"/>
                <a:ea typeface="楷体_GB2312" pitchFamily="49" charset="-122"/>
              </a:rPr>
              <a:t>        </a:t>
            </a:r>
            <a:r>
              <a:rPr lang="zh-CN" altLang="en-US" sz="2600" b="1" i="1">
                <a:solidFill>
                  <a:srgbClr val="660033"/>
                </a:solidFill>
                <a:latin typeface="Times New Roman" panose="02020603050405020304" pitchFamily="18" charset="0"/>
                <a:ea typeface="楷体_GB2312" pitchFamily="49" charset="-122"/>
              </a:rPr>
              <a:t>（</a:t>
            </a:r>
            <a:r>
              <a:rPr lang="en-US" altLang="zh-CN" sz="2600" b="1" i="1">
                <a:solidFill>
                  <a:srgbClr val="660033"/>
                </a:solidFill>
                <a:latin typeface="Times New Roman" panose="02020603050405020304" pitchFamily="18" charset="0"/>
                <a:ea typeface="楷体_GB2312" pitchFamily="49" charset="-122"/>
              </a:rPr>
              <a:t>2</a:t>
            </a:r>
            <a:r>
              <a:rPr lang="zh-CN" altLang="en-US" sz="2600" b="1" i="1">
                <a:solidFill>
                  <a:srgbClr val="660033"/>
                </a:solidFill>
                <a:latin typeface="Times New Roman" panose="02020603050405020304" pitchFamily="18" charset="0"/>
                <a:ea typeface="楷体_GB2312" pitchFamily="49" charset="-122"/>
              </a:rPr>
              <a:t>）</a:t>
            </a:r>
            <a:r>
              <a:rPr lang="en-US" altLang="zh-CN" sz="2600" b="1" i="1">
                <a:solidFill>
                  <a:srgbClr val="660033"/>
                </a:solidFill>
                <a:latin typeface="Times New Roman" panose="02020603050405020304" pitchFamily="18" charset="0"/>
                <a:ea typeface="楷体_GB2312" pitchFamily="49" charset="-122"/>
              </a:rPr>
              <a:t>V</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=50.0L,  p</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=13.8MPa,  T</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=273+25=298K,  p</a:t>
            </a:r>
            <a:r>
              <a:rPr lang="en-US" altLang="zh-CN" sz="2600" b="1" i="1" baseline="-25000">
                <a:solidFill>
                  <a:srgbClr val="660033"/>
                </a:solidFill>
                <a:latin typeface="Times New Roman" panose="02020603050405020304" pitchFamily="18" charset="0"/>
                <a:ea typeface="楷体_GB2312" pitchFamily="49" charset="-122"/>
              </a:rPr>
              <a:t>3</a:t>
            </a:r>
            <a:r>
              <a:rPr lang="en-US" altLang="zh-CN" sz="2600" b="1" i="1">
                <a:solidFill>
                  <a:srgbClr val="660033"/>
                </a:solidFill>
                <a:latin typeface="Times New Roman" panose="02020603050405020304" pitchFamily="18" charset="0"/>
                <a:ea typeface="楷体_GB2312" pitchFamily="49" charset="-122"/>
              </a:rPr>
              <a:t>=0.100MPa</a:t>
            </a:r>
          </a:p>
          <a:p>
            <a:pPr fontAlgn="base">
              <a:spcBef>
                <a:spcPct val="0"/>
              </a:spcBef>
              <a:spcAft>
                <a:spcPct val="0"/>
              </a:spcAft>
            </a:pPr>
            <a:r>
              <a:rPr lang="en-US" altLang="zh-CN" sz="2600" b="1" i="1">
                <a:solidFill>
                  <a:srgbClr val="660033"/>
                </a:solidFill>
                <a:latin typeface="Times New Roman" panose="02020603050405020304" pitchFamily="18" charset="0"/>
                <a:ea typeface="楷体_GB2312" pitchFamily="49" charset="-122"/>
              </a:rPr>
              <a:t>   </a:t>
            </a:r>
            <a:r>
              <a:rPr lang="zh-CN" altLang="en-US" sz="2600" b="1" i="1">
                <a:solidFill>
                  <a:srgbClr val="660033"/>
                </a:solidFill>
                <a:latin typeface="Times New Roman" panose="02020603050405020304" pitchFamily="18" charset="0"/>
                <a:ea typeface="楷体_GB2312" pitchFamily="49" charset="-122"/>
              </a:rPr>
              <a:t>求</a:t>
            </a:r>
            <a:r>
              <a:rPr lang="en-US" altLang="zh-CN" sz="2600" b="1" i="1">
                <a:solidFill>
                  <a:srgbClr val="660033"/>
                </a:solidFill>
                <a:latin typeface="Times New Roman" panose="02020603050405020304" pitchFamily="18" charset="0"/>
                <a:ea typeface="楷体_GB2312" pitchFamily="49" charset="-122"/>
              </a:rPr>
              <a:t>:   1/5V(N</a:t>
            </a:r>
            <a:r>
              <a:rPr lang="en-US" altLang="zh-CN" sz="2600" b="1" i="1" baseline="-25000">
                <a:solidFill>
                  <a:srgbClr val="660033"/>
                </a:solidFill>
                <a:latin typeface="Times New Roman" panose="02020603050405020304" pitchFamily="18" charset="0"/>
                <a:ea typeface="楷体_GB2312" pitchFamily="49" charset="-122"/>
              </a:rPr>
              <a:t>2</a:t>
            </a:r>
            <a:r>
              <a:rPr lang="en-US" altLang="zh-CN" sz="2600" b="1" i="1">
                <a:solidFill>
                  <a:srgbClr val="660033"/>
                </a:solidFill>
                <a:latin typeface="Times New Roman" panose="02020603050405020304" pitchFamily="18" charset="0"/>
                <a:ea typeface="楷体_GB2312" pitchFamily="49" charset="-122"/>
              </a:rPr>
              <a:t>)</a:t>
            </a:r>
            <a:endParaRPr lang="en-US" altLang="zh-CN" sz="2600" b="1">
              <a:solidFill>
                <a:srgbClr val="00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3327"/>
                                        </p:tgtEl>
                                        <p:attrNameLst>
                                          <p:attrName>style.visibility</p:attrName>
                                        </p:attrNameLst>
                                      </p:cBhvr>
                                      <p:to>
                                        <p:strVal val="visible"/>
                                      </p:to>
                                    </p:set>
                                    <p:animEffect transition="in" filter="checkerboard(across)">
                                      <p:cBhvr>
                                        <p:cTn id="7" dur="500"/>
                                        <p:tgtEl>
                                          <p:spTgt spid="18332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3331"/>
                                        </p:tgtEl>
                                        <p:attrNameLst>
                                          <p:attrName>style.visibility</p:attrName>
                                        </p:attrNameLst>
                                      </p:cBhvr>
                                      <p:to>
                                        <p:strVal val="visible"/>
                                      </p:to>
                                    </p:set>
                                    <p:animEffect transition="in" filter="checkerboard(across)">
                                      <p:cBhvr>
                                        <p:cTn id="12" dur="500"/>
                                        <p:tgtEl>
                                          <p:spTgt spid="18333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83332"/>
                                        </p:tgtEl>
                                        <p:attrNameLst>
                                          <p:attrName>style.visibility</p:attrName>
                                        </p:attrNameLst>
                                      </p:cBhvr>
                                      <p:to>
                                        <p:strVal val="visible"/>
                                      </p:to>
                                    </p:set>
                                    <p:animEffect transition="in" filter="checkerboard(across)">
                                      <p:cBhvr>
                                        <p:cTn id="17" dur="500"/>
                                        <p:tgtEl>
                                          <p:spTgt spid="183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27" grpId="0"/>
      <p:bldP spid="183331" grpId="0" animBg="1"/>
      <p:bldP spid="1833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28596" y="2000240"/>
            <a:ext cx="4012637" cy="2092881"/>
          </a:xfrm>
          <a:prstGeom prst="rect">
            <a:avLst/>
          </a:prstGeom>
        </p:spPr>
        <p:txBody>
          <a:bodyPr wrap="none">
            <a:spAutoFit/>
          </a:bodyPr>
          <a:lstStyle/>
          <a:p>
            <a:r>
              <a:rPr lang="zh-CN" altLang="en-US" sz="2600" b="1" i="1" dirty="0" smtClean="0">
                <a:solidFill>
                  <a:srgbClr val="0000FF"/>
                </a:solidFill>
                <a:latin typeface="+mj-lt"/>
              </a:rPr>
              <a:t>状态</a:t>
            </a:r>
            <a:r>
              <a:rPr lang="en-US" altLang="zh-CN" sz="2600" b="1" i="1" dirty="0" smtClean="0">
                <a:solidFill>
                  <a:srgbClr val="0000FF"/>
                </a:solidFill>
                <a:latin typeface="+mj-lt"/>
              </a:rPr>
              <a:t>2</a:t>
            </a:r>
            <a:r>
              <a:rPr lang="zh-CN" altLang="en-US" sz="2600" b="1" i="1" dirty="0" smtClean="0">
                <a:solidFill>
                  <a:srgbClr val="0000FF"/>
                </a:solidFill>
                <a:latin typeface="+mj-lt"/>
              </a:rPr>
              <a:t>：</a:t>
            </a:r>
            <a:endParaRPr lang="en-US" altLang="zh-CN" sz="2600" b="1" i="1" dirty="0" smtClean="0">
              <a:solidFill>
                <a:srgbClr val="0000FF"/>
              </a:solidFill>
              <a:latin typeface="+mj-lt"/>
            </a:endParaRPr>
          </a:p>
          <a:p>
            <a:r>
              <a:rPr lang="en-US" altLang="zh-CN" sz="2600" b="1" i="1" dirty="0" smtClean="0">
                <a:latin typeface="+mj-lt"/>
              </a:rPr>
              <a:t>T=298K</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p</a:t>
            </a:r>
            <a:r>
              <a:rPr lang="en-US" altLang="zh-CN" sz="2600" b="1" i="1" baseline="-25000" dirty="0" smtClean="0">
                <a:latin typeface="+mj-lt"/>
              </a:rPr>
              <a:t>2</a:t>
            </a:r>
            <a:r>
              <a:rPr lang="en-US" altLang="zh-CN" sz="2600" b="1" i="1" dirty="0" smtClean="0">
                <a:latin typeface="+mj-lt"/>
              </a:rPr>
              <a:t>=15.2 – 13.8 = 1.4 </a:t>
            </a:r>
            <a:r>
              <a:rPr lang="en-US" altLang="zh-CN" sz="2600" b="1" i="1" dirty="0" err="1" smtClean="0">
                <a:latin typeface="+mj-lt"/>
              </a:rPr>
              <a:t>MPa</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V</a:t>
            </a:r>
            <a:r>
              <a:rPr lang="en-US" altLang="zh-CN" sz="2600" b="1" i="1" baseline="-25000" dirty="0" smtClean="0">
                <a:latin typeface="+mj-lt"/>
              </a:rPr>
              <a:t>2</a:t>
            </a:r>
            <a:r>
              <a:rPr lang="en-US" altLang="zh-CN" sz="2600" b="1" i="1" dirty="0" smtClean="0">
                <a:latin typeface="+mj-lt"/>
              </a:rPr>
              <a:t>=50L</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n</a:t>
            </a:r>
            <a:r>
              <a:rPr lang="en-US" altLang="zh-CN" sz="2600" b="1" i="1" baseline="-25000" dirty="0" smtClean="0">
                <a:latin typeface="+mj-lt"/>
              </a:rPr>
              <a:t>2</a:t>
            </a:r>
            <a:endParaRPr lang="zh-CN" altLang="en-US" sz="2600" b="1" i="1" baseline="-25000" dirty="0">
              <a:latin typeface="+mj-lt"/>
            </a:endParaRPr>
          </a:p>
        </p:txBody>
      </p:sp>
      <p:sp>
        <p:nvSpPr>
          <p:cNvPr id="4" name="矩形 3"/>
          <p:cNvSpPr/>
          <p:nvPr/>
        </p:nvSpPr>
        <p:spPr>
          <a:xfrm>
            <a:off x="5286380" y="4000504"/>
            <a:ext cx="3145479" cy="2092881"/>
          </a:xfrm>
          <a:prstGeom prst="rect">
            <a:avLst/>
          </a:prstGeom>
        </p:spPr>
        <p:txBody>
          <a:bodyPr wrap="square">
            <a:spAutoFit/>
          </a:bodyPr>
          <a:lstStyle/>
          <a:p>
            <a:r>
              <a:rPr lang="zh-CN" altLang="en-US" sz="2600" b="1" i="1" dirty="0" smtClean="0">
                <a:solidFill>
                  <a:srgbClr val="0000FF"/>
                </a:solidFill>
                <a:latin typeface="+mj-lt"/>
              </a:rPr>
              <a:t>状态</a:t>
            </a:r>
            <a:r>
              <a:rPr lang="en-US" altLang="zh-CN" sz="2600" b="1" i="1" dirty="0" smtClean="0">
                <a:solidFill>
                  <a:srgbClr val="0000FF"/>
                </a:solidFill>
                <a:latin typeface="+mj-lt"/>
              </a:rPr>
              <a:t>3</a:t>
            </a:r>
            <a:r>
              <a:rPr lang="zh-CN" altLang="en-US" sz="2600" b="1" i="1" dirty="0" smtClean="0">
                <a:solidFill>
                  <a:srgbClr val="0000FF"/>
                </a:solidFill>
                <a:latin typeface="+mj-lt"/>
              </a:rPr>
              <a:t>：</a:t>
            </a:r>
            <a:endParaRPr lang="en-US" altLang="zh-CN" sz="2600" b="1" i="1" dirty="0" smtClean="0">
              <a:solidFill>
                <a:srgbClr val="0000FF"/>
              </a:solidFill>
              <a:latin typeface="+mj-lt"/>
            </a:endParaRPr>
          </a:p>
          <a:p>
            <a:r>
              <a:rPr lang="en-US" altLang="zh-CN" sz="2600" b="1" i="1" dirty="0" smtClean="0">
                <a:latin typeface="+mj-lt"/>
              </a:rPr>
              <a:t>T=298K</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p</a:t>
            </a:r>
            <a:r>
              <a:rPr lang="en-US" altLang="zh-CN" sz="2600" b="1" i="1" baseline="-25000" dirty="0" smtClean="0">
                <a:latin typeface="+mj-lt"/>
              </a:rPr>
              <a:t>3</a:t>
            </a:r>
            <a:r>
              <a:rPr lang="en-US" altLang="zh-CN" sz="2600" b="1" i="1" dirty="0" smtClean="0">
                <a:latin typeface="+mj-lt"/>
              </a:rPr>
              <a:t>=0.1 </a:t>
            </a:r>
            <a:r>
              <a:rPr lang="en-US" altLang="zh-CN" sz="2600" b="1" i="1" dirty="0" err="1" smtClean="0">
                <a:latin typeface="+mj-lt"/>
              </a:rPr>
              <a:t>MPa</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V</a:t>
            </a:r>
            <a:r>
              <a:rPr lang="en-US" altLang="zh-CN" sz="2600" b="1" i="1" baseline="-25000" dirty="0" smtClean="0">
                <a:latin typeface="+mj-lt"/>
              </a:rPr>
              <a:t>3</a:t>
            </a:r>
            <a:r>
              <a:rPr lang="en-US" altLang="zh-CN" sz="2600" b="1" i="1" dirty="0" smtClean="0">
                <a:latin typeface="+mj-lt"/>
              </a:rPr>
              <a:t>=? L</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n</a:t>
            </a:r>
            <a:r>
              <a:rPr lang="en-US" altLang="zh-CN" sz="2600" b="1" i="1" baseline="-25000" dirty="0" smtClean="0">
                <a:latin typeface="+mj-lt"/>
              </a:rPr>
              <a:t>2</a:t>
            </a:r>
            <a:endParaRPr lang="zh-CN" altLang="en-US" sz="2600" b="1" i="1" baseline="-25000" dirty="0">
              <a:latin typeface="+mj-lt"/>
            </a:endParaRPr>
          </a:p>
        </p:txBody>
      </p:sp>
      <p:sp>
        <p:nvSpPr>
          <p:cNvPr id="5" name="矩形 4"/>
          <p:cNvSpPr/>
          <p:nvPr/>
        </p:nvSpPr>
        <p:spPr>
          <a:xfrm>
            <a:off x="4714876" y="71414"/>
            <a:ext cx="3643338" cy="2092881"/>
          </a:xfrm>
          <a:prstGeom prst="rect">
            <a:avLst/>
          </a:prstGeom>
        </p:spPr>
        <p:txBody>
          <a:bodyPr wrap="square">
            <a:spAutoFit/>
          </a:bodyPr>
          <a:lstStyle/>
          <a:p>
            <a:r>
              <a:rPr lang="zh-CN" altLang="en-US" sz="2600" b="1" i="1" dirty="0" smtClean="0">
                <a:solidFill>
                  <a:srgbClr val="0000FF"/>
                </a:solidFill>
                <a:latin typeface="+mj-lt"/>
              </a:rPr>
              <a:t>状态</a:t>
            </a:r>
            <a:r>
              <a:rPr lang="en-US" altLang="zh-CN" sz="2600" b="1" i="1" dirty="0" smtClean="0">
                <a:solidFill>
                  <a:srgbClr val="0000FF"/>
                </a:solidFill>
                <a:latin typeface="+mj-lt"/>
              </a:rPr>
              <a:t>1</a:t>
            </a:r>
            <a:r>
              <a:rPr lang="zh-CN" altLang="en-US" sz="2600" b="1" i="1" dirty="0" smtClean="0">
                <a:solidFill>
                  <a:srgbClr val="0000FF"/>
                </a:solidFill>
                <a:latin typeface="+mj-lt"/>
              </a:rPr>
              <a:t>：</a:t>
            </a:r>
            <a:endParaRPr lang="en-US" altLang="zh-CN" sz="2600" b="1" i="1" dirty="0" smtClean="0">
              <a:solidFill>
                <a:srgbClr val="0000FF"/>
              </a:solidFill>
              <a:latin typeface="+mj-lt"/>
            </a:endParaRPr>
          </a:p>
          <a:p>
            <a:r>
              <a:rPr lang="en-US" altLang="zh-CN" sz="2600" b="1" i="1" dirty="0" smtClean="0">
                <a:latin typeface="+mj-lt"/>
              </a:rPr>
              <a:t>T=298K</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p=15.2 </a:t>
            </a:r>
            <a:r>
              <a:rPr lang="en-US" altLang="zh-CN" sz="2600" b="1" i="1" dirty="0" err="1" smtClean="0">
                <a:latin typeface="+mj-lt"/>
              </a:rPr>
              <a:t>MPa</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V=50L</a:t>
            </a:r>
            <a:r>
              <a:rPr lang="zh-CN" altLang="en-US" sz="2600" b="1" i="1" dirty="0" smtClean="0">
                <a:latin typeface="+mj-lt"/>
              </a:rPr>
              <a:t>、</a:t>
            </a:r>
            <a:endParaRPr lang="en-US" altLang="zh-CN" sz="2600" b="1" i="1" dirty="0" smtClean="0">
              <a:latin typeface="+mj-lt"/>
            </a:endParaRPr>
          </a:p>
          <a:p>
            <a:r>
              <a:rPr lang="en-US" altLang="zh-CN" sz="2600" b="1" i="1" dirty="0" smtClean="0">
                <a:latin typeface="+mj-lt"/>
              </a:rPr>
              <a:t>n</a:t>
            </a:r>
            <a:endParaRPr lang="zh-CN" altLang="en-US" sz="2600" b="1" i="1" baseline="-25000" dirty="0">
              <a:latin typeface="+mj-lt"/>
            </a:endParaRPr>
          </a:p>
        </p:txBody>
      </p:sp>
      <p:sp>
        <p:nvSpPr>
          <p:cNvPr id="6" name="矩形 5"/>
          <p:cNvSpPr/>
          <p:nvPr/>
        </p:nvSpPr>
        <p:spPr>
          <a:xfrm>
            <a:off x="3786182" y="3571876"/>
            <a:ext cx="2028883" cy="1015663"/>
          </a:xfrm>
          <a:prstGeom prst="rect">
            <a:avLst/>
          </a:prstGeom>
        </p:spPr>
        <p:txBody>
          <a:bodyPr wrap="square">
            <a:spAutoFit/>
          </a:bodyPr>
          <a:lstStyle/>
          <a:p>
            <a:r>
              <a:rPr lang="en-US" altLang="zh-CN" sz="6000" b="1" dirty="0" smtClean="0">
                <a:solidFill>
                  <a:srgbClr val="000000"/>
                </a:solidFill>
                <a:latin typeface="Times New Roman" panose="02020603050405020304"/>
              </a:rPr>
              <a:t>↘</a:t>
            </a:r>
            <a:endParaRPr lang="zh-CN" altLang="en-US" sz="6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8" name="Rectangle 4"/>
          <p:cNvSpPr>
            <a:spLocks noChangeArrowheads="1"/>
          </p:cNvSpPr>
          <p:nvPr/>
        </p:nvSpPr>
        <p:spPr bwMode="auto">
          <a:xfrm>
            <a:off x="228600" y="152400"/>
            <a:ext cx="8686800" cy="9461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zh-CN" altLang="en-US" sz="2600" b="1" i="1" dirty="0">
                <a:solidFill>
                  <a:srgbClr val="000000"/>
                </a:solidFill>
                <a:ea typeface="楷体_GB2312" pitchFamily="49" charset="-122"/>
              </a:rPr>
              <a:t>解：</a:t>
            </a:r>
            <a:r>
              <a:rPr lang="zh-CN" altLang="en-US" sz="2600" b="1" i="1" dirty="0">
                <a:solidFill>
                  <a:srgbClr val="0000FF"/>
                </a:solidFill>
                <a:ea typeface="楷体_GB2312" pitchFamily="49" charset="-122"/>
              </a:rPr>
              <a:t>（</a:t>
            </a:r>
            <a:r>
              <a:rPr lang="en-US" altLang="zh-CN" sz="2600" b="1" i="1" dirty="0">
                <a:solidFill>
                  <a:srgbClr val="0000FF"/>
                </a:solidFill>
                <a:ea typeface="楷体_GB2312" pitchFamily="49" charset="-122"/>
              </a:rPr>
              <a:t>1</a:t>
            </a:r>
            <a:r>
              <a:rPr lang="zh-CN" altLang="en-US" sz="2600" b="1" i="1" dirty="0">
                <a:solidFill>
                  <a:srgbClr val="0000FF"/>
                </a:solidFill>
                <a:ea typeface="楷体_GB2312" pitchFamily="49" charset="-122"/>
              </a:rPr>
              <a:t>）</a:t>
            </a:r>
            <a:r>
              <a:rPr lang="zh-CN" altLang="en-US" sz="2600" b="1" i="1" dirty="0">
                <a:solidFill>
                  <a:srgbClr val="000000"/>
                </a:solidFill>
                <a:ea typeface="楷体_GB2312" pitchFamily="49" charset="-122"/>
              </a:rPr>
              <a:t>可以直接套公式：   </a:t>
            </a:r>
            <a:r>
              <a:rPr lang="en-US" altLang="zh-CN" sz="2800" b="1" i="1" dirty="0" err="1">
                <a:solidFill>
                  <a:srgbClr val="000000"/>
                </a:solidFill>
                <a:latin typeface="Times New Roman" panose="02020603050405020304" pitchFamily="18" charset="0"/>
              </a:rPr>
              <a:t>pV</a:t>
            </a:r>
            <a:r>
              <a:rPr lang="en-US" altLang="zh-CN" sz="2800" b="1" i="1" dirty="0">
                <a:solidFill>
                  <a:srgbClr val="000000"/>
                </a:solidFill>
                <a:latin typeface="Times New Roman" panose="02020603050405020304" pitchFamily="18" charset="0"/>
              </a:rPr>
              <a:t>  =  n RT</a:t>
            </a:r>
          </a:p>
          <a:p>
            <a:pPr fontAlgn="base">
              <a:spcBef>
                <a:spcPct val="0"/>
              </a:spcBef>
              <a:spcAft>
                <a:spcPct val="0"/>
              </a:spcAft>
            </a:pPr>
            <a:r>
              <a:rPr lang="en-US" altLang="zh-CN" sz="2800" b="1" i="1" dirty="0">
                <a:solidFill>
                  <a:srgbClr val="000000"/>
                </a:solidFill>
                <a:latin typeface="Times New Roman" panose="02020603050405020304" pitchFamily="18" charset="0"/>
                <a:ea typeface="楷体_GB2312" pitchFamily="49" charset="-122"/>
              </a:rPr>
              <a:t>                                                 n = m/M</a:t>
            </a:r>
          </a:p>
        </p:txBody>
      </p:sp>
      <p:sp>
        <p:nvSpPr>
          <p:cNvPr id="11269" name="Rectangle 8"/>
          <p:cNvSpPr>
            <a:spLocks noChangeArrowheads="1"/>
          </p:cNvSpPr>
          <p:nvPr/>
        </p:nvSpPr>
        <p:spPr bwMode="auto">
          <a:xfrm>
            <a:off x="228600" y="1219200"/>
            <a:ext cx="8610600" cy="21066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i="1" dirty="0">
                <a:solidFill>
                  <a:srgbClr val="000000"/>
                </a:solidFill>
                <a:ea typeface="楷体_GB2312" pitchFamily="49" charset="-122"/>
              </a:rPr>
              <a:t>        </a:t>
            </a:r>
            <a:r>
              <a:rPr lang="zh-CN" altLang="en-US" sz="2600" b="1" i="1" dirty="0">
                <a:solidFill>
                  <a:srgbClr val="0000FF"/>
                </a:solidFill>
                <a:ea typeface="楷体_GB2312" pitchFamily="49" charset="-122"/>
              </a:rPr>
              <a:t>（</a:t>
            </a:r>
            <a:r>
              <a:rPr lang="en-US" altLang="zh-CN" sz="2600" b="1" i="1" dirty="0">
                <a:solidFill>
                  <a:srgbClr val="0000FF"/>
                </a:solidFill>
                <a:ea typeface="楷体_GB2312" pitchFamily="49" charset="-122"/>
              </a:rPr>
              <a:t>2</a:t>
            </a:r>
            <a:r>
              <a:rPr lang="zh-CN" altLang="en-US" sz="2600" b="1" i="1" dirty="0">
                <a:solidFill>
                  <a:srgbClr val="0000FF"/>
                </a:solidFill>
                <a:ea typeface="楷体_GB2312" pitchFamily="49" charset="-122"/>
              </a:rPr>
              <a:t>）</a:t>
            </a:r>
            <a:r>
              <a:rPr lang="zh-CN" altLang="en-US" sz="2600" b="1" i="1" dirty="0">
                <a:solidFill>
                  <a:srgbClr val="000000"/>
                </a:solidFill>
                <a:ea typeface="楷体_GB2312" pitchFamily="49" charset="-122"/>
              </a:rPr>
              <a:t>因为同温，可用公式：</a:t>
            </a:r>
            <a:r>
              <a:rPr lang="en-US" altLang="zh-CN" sz="2800" b="1" i="1" dirty="0">
                <a:solidFill>
                  <a:srgbClr val="000000"/>
                </a:solidFill>
                <a:latin typeface="Times New Roman" panose="02020603050405020304" pitchFamily="18" charset="0"/>
              </a:rPr>
              <a:t>p</a:t>
            </a:r>
            <a:r>
              <a:rPr lang="en-US" altLang="zh-CN" sz="2800" b="1" i="1" baseline="-25000" dirty="0">
                <a:solidFill>
                  <a:srgbClr val="000000"/>
                </a:solidFill>
                <a:latin typeface="Times New Roman" panose="02020603050405020304" pitchFamily="18" charset="0"/>
              </a:rPr>
              <a:t>2</a:t>
            </a:r>
            <a:r>
              <a:rPr lang="en-US" altLang="zh-CN" sz="2800" b="1" i="1" dirty="0">
                <a:solidFill>
                  <a:srgbClr val="000000"/>
                </a:solidFill>
                <a:latin typeface="Times New Roman" panose="02020603050405020304" pitchFamily="18" charset="0"/>
              </a:rPr>
              <a:t>V</a:t>
            </a:r>
            <a:r>
              <a:rPr lang="en-US" altLang="zh-CN" sz="2800" b="1" i="1" baseline="-25000" dirty="0">
                <a:solidFill>
                  <a:srgbClr val="000000"/>
                </a:solidFill>
                <a:latin typeface="Times New Roman" panose="02020603050405020304" pitchFamily="18" charset="0"/>
              </a:rPr>
              <a:t>2</a:t>
            </a:r>
            <a:r>
              <a:rPr lang="en-US" altLang="zh-CN" sz="2800" b="1" i="1" dirty="0">
                <a:solidFill>
                  <a:srgbClr val="000000"/>
                </a:solidFill>
                <a:latin typeface="Times New Roman" panose="02020603050405020304" pitchFamily="18" charset="0"/>
              </a:rPr>
              <a:t> = p</a:t>
            </a:r>
            <a:r>
              <a:rPr lang="en-US" altLang="zh-CN" sz="2800" b="1" i="1" baseline="-25000" dirty="0">
                <a:solidFill>
                  <a:srgbClr val="000000"/>
                </a:solidFill>
                <a:latin typeface="Times New Roman" panose="02020603050405020304" pitchFamily="18" charset="0"/>
              </a:rPr>
              <a:t>3</a:t>
            </a:r>
            <a:r>
              <a:rPr lang="en-US" altLang="zh-CN" sz="2800" b="1" i="1" dirty="0">
                <a:solidFill>
                  <a:srgbClr val="000000"/>
                </a:solidFill>
                <a:latin typeface="Times New Roman" panose="02020603050405020304" pitchFamily="18" charset="0"/>
              </a:rPr>
              <a:t>V</a:t>
            </a:r>
            <a:r>
              <a:rPr lang="en-US" altLang="zh-CN" sz="2800" b="1" i="1" baseline="-25000" dirty="0">
                <a:solidFill>
                  <a:srgbClr val="000000"/>
                </a:solidFill>
                <a:latin typeface="Times New Roman" panose="02020603050405020304" pitchFamily="18" charset="0"/>
              </a:rPr>
              <a:t>3</a:t>
            </a:r>
          </a:p>
          <a:p>
            <a:pPr fontAlgn="base">
              <a:spcBef>
                <a:spcPct val="0"/>
              </a:spcBef>
              <a:spcAft>
                <a:spcPct val="0"/>
              </a:spcAft>
            </a:pPr>
            <a:r>
              <a:rPr lang="en-US" altLang="zh-CN" sz="2600" dirty="0">
                <a:solidFill>
                  <a:srgbClr val="000000"/>
                </a:solidFill>
                <a:latin typeface="Times New Roman" panose="02020603050405020304" pitchFamily="18" charset="0"/>
                <a:ea typeface="楷体_GB2312" pitchFamily="49" charset="-122"/>
              </a:rPr>
              <a:t>                </a:t>
            </a:r>
            <a:r>
              <a:rPr lang="zh-CN" altLang="en-US" sz="2600" b="1" dirty="0">
                <a:solidFill>
                  <a:srgbClr val="000000"/>
                </a:solidFill>
                <a:latin typeface="Times New Roman" panose="02020603050405020304" pitchFamily="18" charset="0"/>
                <a:ea typeface="楷体_GB2312" pitchFamily="49" charset="-122"/>
              </a:rPr>
              <a:t>设</a:t>
            </a:r>
            <a:r>
              <a:rPr lang="en-US" altLang="zh-CN" sz="2600" b="1" i="1" dirty="0">
                <a:solidFill>
                  <a:srgbClr val="000000"/>
                </a:solidFill>
                <a:latin typeface="Times New Roman" panose="02020603050405020304" pitchFamily="18" charset="0"/>
                <a:ea typeface="楷体_GB2312" pitchFamily="49" charset="-122"/>
              </a:rPr>
              <a:t>p</a:t>
            </a:r>
            <a:r>
              <a:rPr lang="en-US" altLang="zh-CN" sz="2600" b="1" i="1" baseline="-25000" dirty="0">
                <a:solidFill>
                  <a:srgbClr val="000000"/>
                </a:solidFill>
                <a:latin typeface="Times New Roman" panose="02020603050405020304" pitchFamily="18" charset="0"/>
                <a:ea typeface="楷体_GB2312" pitchFamily="49" charset="-122"/>
              </a:rPr>
              <a:t>2</a:t>
            </a:r>
            <a:r>
              <a:rPr lang="en-US" altLang="zh-CN" sz="2600" b="1" i="1" dirty="0">
                <a:solidFill>
                  <a:srgbClr val="000000"/>
                </a:solidFill>
                <a:latin typeface="Times New Roman" panose="02020603050405020304" pitchFamily="18" charset="0"/>
                <a:ea typeface="楷体_GB2312" pitchFamily="49" charset="-122"/>
              </a:rPr>
              <a:t> = 15.2 </a:t>
            </a:r>
            <a:r>
              <a:rPr lang="en-US" altLang="zh-CN" sz="2600" b="1" i="1" dirty="0">
                <a:solidFill>
                  <a:srgbClr val="000000"/>
                </a:solidFill>
                <a:latin typeface="Times New Roman" panose="02020603050405020304" pitchFamily="18" charset="0"/>
              </a:rPr>
              <a:t>– 13.8 = 1.4 </a:t>
            </a:r>
            <a:r>
              <a:rPr lang="en-US" altLang="zh-CN" sz="2600" b="1" i="1" dirty="0" err="1">
                <a:solidFill>
                  <a:srgbClr val="000000"/>
                </a:solidFill>
                <a:latin typeface="Times New Roman" panose="02020603050405020304" pitchFamily="18" charset="0"/>
              </a:rPr>
              <a:t>MPa</a:t>
            </a:r>
            <a:r>
              <a:rPr lang="en-US" altLang="zh-CN" sz="2600" b="1" i="1" dirty="0">
                <a:solidFill>
                  <a:srgbClr val="000000"/>
                </a:solidFill>
                <a:latin typeface="Times New Roman" panose="02020603050405020304" pitchFamily="18" charset="0"/>
              </a:rPr>
              <a:t>;  V</a:t>
            </a:r>
            <a:r>
              <a:rPr lang="en-US" altLang="zh-CN" sz="2600" b="1" i="1" baseline="-25000" dirty="0">
                <a:solidFill>
                  <a:srgbClr val="000000"/>
                </a:solidFill>
                <a:latin typeface="Times New Roman" panose="02020603050405020304" pitchFamily="18" charset="0"/>
              </a:rPr>
              <a:t>2</a:t>
            </a:r>
            <a:r>
              <a:rPr lang="en-US" altLang="zh-CN" sz="2600" b="1" i="1" dirty="0">
                <a:solidFill>
                  <a:srgbClr val="000000"/>
                </a:solidFill>
                <a:latin typeface="Times New Roman" panose="02020603050405020304" pitchFamily="18" charset="0"/>
              </a:rPr>
              <a:t>=50.0L</a:t>
            </a:r>
          </a:p>
          <a:p>
            <a:pPr fontAlgn="base">
              <a:spcBef>
                <a:spcPct val="0"/>
              </a:spcBef>
              <a:spcAft>
                <a:spcPct val="0"/>
              </a:spcAft>
            </a:pPr>
            <a:r>
              <a:rPr lang="en-US" altLang="zh-CN" sz="2600" b="1" i="1" dirty="0">
                <a:solidFill>
                  <a:srgbClr val="000000"/>
                </a:solidFill>
                <a:latin typeface="Times New Roman" panose="02020603050405020304" pitchFamily="18" charset="0"/>
              </a:rPr>
              <a:t>                    p</a:t>
            </a:r>
            <a:r>
              <a:rPr lang="en-US" altLang="zh-CN" sz="2600" b="1" i="1" baseline="-25000" dirty="0">
                <a:solidFill>
                  <a:srgbClr val="000000"/>
                </a:solidFill>
                <a:latin typeface="Times New Roman" panose="02020603050405020304" pitchFamily="18" charset="0"/>
              </a:rPr>
              <a:t>3</a:t>
            </a:r>
            <a:r>
              <a:rPr lang="en-US" altLang="zh-CN" sz="2600" b="1" i="1" dirty="0">
                <a:solidFill>
                  <a:srgbClr val="000000"/>
                </a:solidFill>
                <a:latin typeface="Times New Roman" panose="02020603050405020304" pitchFamily="18" charset="0"/>
              </a:rPr>
              <a:t> = 0.100MPa;                     V</a:t>
            </a:r>
            <a:r>
              <a:rPr lang="en-US" altLang="zh-CN" sz="2600" b="1" i="1" baseline="-25000" dirty="0">
                <a:solidFill>
                  <a:srgbClr val="000000"/>
                </a:solidFill>
                <a:latin typeface="Times New Roman" panose="02020603050405020304" pitchFamily="18" charset="0"/>
              </a:rPr>
              <a:t>3</a:t>
            </a:r>
            <a:r>
              <a:rPr lang="en-US" altLang="zh-CN" sz="2600" b="1" i="1" dirty="0">
                <a:solidFill>
                  <a:srgbClr val="000000"/>
                </a:solidFill>
                <a:latin typeface="Times New Roman" panose="02020603050405020304" pitchFamily="18" charset="0"/>
              </a:rPr>
              <a:t> = V(N</a:t>
            </a:r>
            <a:r>
              <a:rPr lang="en-US" altLang="zh-CN" sz="2600" b="1" i="1" baseline="-25000" dirty="0">
                <a:solidFill>
                  <a:srgbClr val="000000"/>
                </a:solidFill>
                <a:latin typeface="Times New Roman" panose="02020603050405020304" pitchFamily="18" charset="0"/>
              </a:rPr>
              <a:t>2</a:t>
            </a:r>
            <a:r>
              <a:rPr lang="en-US" altLang="zh-CN" sz="2600" b="1" i="1" dirty="0">
                <a:solidFill>
                  <a:srgbClr val="000000"/>
                </a:solidFill>
                <a:latin typeface="Times New Roman" panose="02020603050405020304" pitchFamily="18" charset="0"/>
              </a:rPr>
              <a:t>)</a:t>
            </a:r>
          </a:p>
          <a:p>
            <a:pPr fontAlgn="base">
              <a:spcBef>
                <a:spcPct val="0"/>
              </a:spcBef>
              <a:spcAft>
                <a:spcPct val="0"/>
              </a:spcAft>
            </a:pPr>
            <a:r>
              <a:rPr lang="en-US" altLang="zh-CN" sz="2600" b="1" i="1" dirty="0">
                <a:solidFill>
                  <a:srgbClr val="000000"/>
                </a:solidFill>
                <a:latin typeface="Times New Roman" panose="02020603050405020304" pitchFamily="18" charset="0"/>
              </a:rPr>
              <a:t>       </a:t>
            </a:r>
            <a:r>
              <a:rPr lang="zh-CN" altLang="en-US" sz="2600" b="1" i="1" dirty="0">
                <a:solidFill>
                  <a:srgbClr val="000000"/>
                </a:solidFill>
                <a:latin typeface="Times New Roman" panose="02020603050405020304" pitchFamily="18" charset="0"/>
              </a:rPr>
              <a:t>所以， </a:t>
            </a:r>
            <a:r>
              <a:rPr lang="en-US" altLang="zh-CN" sz="2600" b="1" i="1" dirty="0">
                <a:solidFill>
                  <a:srgbClr val="000000"/>
                </a:solidFill>
                <a:latin typeface="Times New Roman" panose="02020603050405020304" pitchFamily="18" charset="0"/>
              </a:rPr>
              <a:t>1/5V(N</a:t>
            </a:r>
            <a:r>
              <a:rPr lang="en-US" altLang="zh-CN" sz="2600" b="1" i="1" baseline="-25000" dirty="0">
                <a:solidFill>
                  <a:srgbClr val="000000"/>
                </a:solidFill>
                <a:latin typeface="Times New Roman" panose="02020603050405020304" pitchFamily="18" charset="0"/>
              </a:rPr>
              <a:t>2</a:t>
            </a:r>
            <a:r>
              <a:rPr lang="en-US" altLang="zh-CN" sz="2600" b="1" i="1" dirty="0">
                <a:solidFill>
                  <a:srgbClr val="000000"/>
                </a:solidFill>
                <a:latin typeface="Times New Roman" panose="02020603050405020304" pitchFamily="18" charset="0"/>
              </a:rPr>
              <a:t>)= 1.4</a:t>
            </a:r>
            <a:r>
              <a:rPr lang="en-US" altLang="zh-CN" sz="2600" b="1" i="1" dirty="0">
                <a:solidFill>
                  <a:srgbClr val="000000"/>
                </a:solidFill>
              </a:rPr>
              <a:t>×</a:t>
            </a:r>
            <a:r>
              <a:rPr lang="en-US" altLang="zh-CN" sz="2600" b="1" i="1" dirty="0">
                <a:solidFill>
                  <a:srgbClr val="000000"/>
                </a:solidFill>
                <a:latin typeface="Times New Roman" panose="02020603050405020304" pitchFamily="18" charset="0"/>
              </a:rPr>
              <a:t>50.0/(5</a:t>
            </a:r>
            <a:r>
              <a:rPr lang="en-US" altLang="zh-CN" sz="2600" b="1" i="1" dirty="0">
                <a:solidFill>
                  <a:srgbClr val="000000"/>
                </a:solidFill>
              </a:rPr>
              <a:t>×</a:t>
            </a:r>
            <a:r>
              <a:rPr lang="en-US" altLang="zh-CN" sz="2600" b="1" i="1" dirty="0">
                <a:solidFill>
                  <a:srgbClr val="000000"/>
                </a:solidFill>
                <a:latin typeface="Times New Roman" panose="02020603050405020304" pitchFamily="18" charset="0"/>
              </a:rPr>
              <a:t> 0.100)</a:t>
            </a:r>
          </a:p>
          <a:p>
            <a:pPr fontAlgn="base">
              <a:spcBef>
                <a:spcPct val="0"/>
              </a:spcBef>
              <a:spcAft>
                <a:spcPct val="0"/>
              </a:spcAft>
            </a:pPr>
            <a:r>
              <a:rPr lang="en-US" altLang="zh-CN" sz="2600" b="1" i="1" dirty="0">
                <a:solidFill>
                  <a:srgbClr val="000000"/>
                </a:solidFill>
                <a:latin typeface="Times New Roman" panose="02020603050405020304" pitchFamily="18" charset="0"/>
              </a:rPr>
              <a:t>                                   = 140 (L)</a:t>
            </a:r>
          </a:p>
        </p:txBody>
      </p:sp>
      <p:grpSp>
        <p:nvGrpSpPr>
          <p:cNvPr id="8" name="组合 7"/>
          <p:cNvGrpSpPr/>
          <p:nvPr/>
        </p:nvGrpSpPr>
        <p:grpSpPr>
          <a:xfrm>
            <a:off x="152400" y="3505200"/>
            <a:ext cx="8920194" cy="2731061"/>
            <a:chOff x="152400" y="3505200"/>
            <a:chExt cx="8920194" cy="2731061"/>
          </a:xfrm>
        </p:grpSpPr>
        <p:sp>
          <p:nvSpPr>
            <p:cNvPr id="11270" name="Rectangle 9"/>
            <p:cNvSpPr>
              <a:spLocks noChangeArrowheads="1"/>
            </p:cNvSpPr>
            <p:nvPr/>
          </p:nvSpPr>
          <p:spPr bwMode="auto">
            <a:xfrm>
              <a:off x="714348" y="4143380"/>
              <a:ext cx="6248400" cy="2092881"/>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i="1" dirty="0" smtClean="0">
                  <a:solidFill>
                    <a:srgbClr val="000000"/>
                  </a:solidFill>
                  <a:latin typeface="+mj-lt"/>
                  <a:ea typeface="楷体_GB2312" pitchFamily="49" charset="-122"/>
                </a:rPr>
                <a:t>n</a:t>
              </a:r>
              <a:r>
                <a:rPr lang="en-US" altLang="zh-CN" sz="2600" b="1" i="1" baseline="-25000" dirty="0" smtClean="0">
                  <a:solidFill>
                    <a:srgbClr val="000000"/>
                  </a:solidFill>
                  <a:latin typeface="+mj-lt"/>
                  <a:ea typeface="楷体_GB2312" pitchFamily="49" charset="-122"/>
                </a:rPr>
                <a:t>2</a:t>
              </a:r>
              <a:r>
                <a:rPr lang="en-US" altLang="zh-CN" sz="2600" b="1" i="1" dirty="0" smtClean="0">
                  <a:solidFill>
                    <a:srgbClr val="000000"/>
                  </a:solidFill>
                  <a:latin typeface="+mj-lt"/>
                  <a:ea typeface="楷体_GB2312" pitchFamily="49" charset="-122"/>
                </a:rPr>
                <a:t> =  (</a:t>
              </a:r>
              <a:r>
                <a:rPr lang="en-US" altLang="zh-CN" sz="2600" b="1" i="1" dirty="0" smtClean="0">
                  <a:solidFill>
                    <a:srgbClr val="000000"/>
                  </a:solidFill>
                  <a:latin typeface="+mj-lt"/>
                </a:rPr>
                <a:t>p</a:t>
              </a:r>
              <a:r>
                <a:rPr lang="en-US" altLang="zh-CN" sz="2600" b="1" i="1" baseline="-25000" dirty="0" smtClean="0">
                  <a:solidFill>
                    <a:srgbClr val="000000"/>
                  </a:solidFill>
                  <a:latin typeface="+mj-lt"/>
                </a:rPr>
                <a:t>2</a:t>
              </a:r>
              <a:r>
                <a:rPr lang="en-US" altLang="zh-CN" sz="2600" b="1" i="1" dirty="0" smtClean="0">
                  <a:solidFill>
                    <a:srgbClr val="000000"/>
                  </a:solidFill>
                  <a:latin typeface="+mj-lt"/>
                </a:rPr>
                <a:t>V</a:t>
              </a:r>
              <a:r>
                <a:rPr lang="en-US" altLang="zh-CN" sz="2600" b="1" i="1" baseline="-25000" dirty="0" smtClean="0">
                  <a:solidFill>
                    <a:srgbClr val="000000"/>
                  </a:solidFill>
                  <a:latin typeface="+mj-lt"/>
                </a:rPr>
                <a:t>2</a:t>
              </a:r>
              <a:r>
                <a:rPr lang="en-US" altLang="zh-CN" sz="2600" b="1" i="1" dirty="0" smtClean="0">
                  <a:solidFill>
                    <a:srgbClr val="000000"/>
                  </a:solidFill>
                  <a:latin typeface="+mj-lt"/>
                </a:rPr>
                <a:t>)/RT </a:t>
              </a:r>
              <a:r>
                <a:rPr lang="zh-CN" altLang="en-US" sz="2600" b="1" i="1" dirty="0" smtClean="0">
                  <a:solidFill>
                    <a:srgbClr val="000000"/>
                  </a:solidFill>
                  <a:latin typeface="+mj-lt"/>
                </a:rPr>
                <a:t>代入下式：</a:t>
              </a:r>
              <a:endParaRPr lang="en-US" altLang="zh-CN" sz="2600" b="1" i="1" dirty="0" smtClean="0">
                <a:solidFill>
                  <a:srgbClr val="000000"/>
                </a:solidFill>
                <a:latin typeface="+mj-lt"/>
              </a:endParaRPr>
            </a:p>
            <a:p>
              <a:pPr fontAlgn="base">
                <a:spcBef>
                  <a:spcPct val="0"/>
                </a:spcBef>
                <a:spcAft>
                  <a:spcPct val="0"/>
                </a:spcAft>
              </a:pPr>
              <a:r>
                <a:rPr lang="en-US" altLang="zh-CN" sz="2600" b="1" i="1" dirty="0" smtClean="0">
                  <a:solidFill>
                    <a:srgbClr val="000000"/>
                  </a:solidFill>
                  <a:latin typeface="+mj-lt"/>
                </a:rPr>
                <a:t>                           V</a:t>
              </a:r>
              <a:r>
                <a:rPr lang="en-US" altLang="zh-CN" sz="2600" b="1" i="1" baseline="-25000" dirty="0" smtClean="0">
                  <a:solidFill>
                    <a:srgbClr val="000000"/>
                  </a:solidFill>
                  <a:latin typeface="+mj-lt"/>
                </a:rPr>
                <a:t>3</a:t>
              </a:r>
              <a:r>
                <a:rPr lang="en-US" altLang="zh-CN" sz="2600" b="1" i="1" dirty="0" smtClean="0">
                  <a:solidFill>
                    <a:srgbClr val="000000"/>
                  </a:solidFill>
                  <a:latin typeface="+mj-lt"/>
                </a:rPr>
                <a:t>= </a:t>
              </a:r>
              <a:r>
                <a:rPr lang="en-US" altLang="zh-CN" sz="2600" b="1" i="1" dirty="0" smtClean="0">
                  <a:solidFill>
                    <a:srgbClr val="000000"/>
                  </a:solidFill>
                  <a:latin typeface="+mj-lt"/>
                  <a:ea typeface="楷体_GB2312" pitchFamily="49" charset="-122"/>
                </a:rPr>
                <a:t>n</a:t>
              </a:r>
              <a:r>
                <a:rPr lang="en-US" altLang="zh-CN" sz="2600" b="1" i="1" baseline="-25000" dirty="0" smtClean="0">
                  <a:solidFill>
                    <a:srgbClr val="000000"/>
                  </a:solidFill>
                  <a:latin typeface="+mj-lt"/>
                  <a:ea typeface="楷体_GB2312" pitchFamily="49" charset="-122"/>
                </a:rPr>
                <a:t>2</a:t>
              </a:r>
              <a:r>
                <a:rPr lang="en-US" altLang="zh-CN" sz="2600" b="1" i="1" dirty="0" smtClean="0">
                  <a:solidFill>
                    <a:srgbClr val="000000"/>
                  </a:solidFill>
                  <a:latin typeface="+mj-lt"/>
                </a:rPr>
                <a:t>RT/p</a:t>
              </a:r>
              <a:r>
                <a:rPr lang="en-US" altLang="zh-CN" sz="2600" b="1" i="1" baseline="-25000" dirty="0" smtClean="0">
                  <a:solidFill>
                    <a:srgbClr val="000000"/>
                  </a:solidFill>
                  <a:latin typeface="+mj-lt"/>
                </a:rPr>
                <a:t>3</a:t>
              </a:r>
              <a:r>
                <a:rPr lang="en-US" altLang="zh-CN" sz="2600" b="1" i="1" dirty="0" smtClean="0">
                  <a:solidFill>
                    <a:srgbClr val="000000"/>
                  </a:solidFill>
                  <a:latin typeface="+mj-lt"/>
                </a:rPr>
                <a:t> </a:t>
              </a:r>
            </a:p>
            <a:p>
              <a:pPr fontAlgn="base">
                <a:spcBef>
                  <a:spcPct val="0"/>
                </a:spcBef>
                <a:spcAft>
                  <a:spcPct val="0"/>
                </a:spcAft>
              </a:pPr>
              <a:r>
                <a:rPr lang="en-US" altLang="zh-CN" sz="2600" b="1" i="1" dirty="0" smtClean="0">
                  <a:solidFill>
                    <a:srgbClr val="000000"/>
                  </a:solidFill>
                  <a:latin typeface="+mj-lt"/>
                </a:rPr>
                <a:t>                               =[(15.2-13.8)×50]/0.1</a:t>
              </a:r>
            </a:p>
            <a:p>
              <a:pPr fontAlgn="base">
                <a:spcBef>
                  <a:spcPct val="0"/>
                </a:spcBef>
                <a:spcAft>
                  <a:spcPct val="0"/>
                </a:spcAft>
              </a:pPr>
              <a:r>
                <a:rPr lang="en-US" altLang="zh-CN" sz="2600" b="1" i="1" dirty="0" smtClean="0">
                  <a:solidFill>
                    <a:srgbClr val="000000"/>
                  </a:solidFill>
                  <a:latin typeface="+mj-lt"/>
                  <a:ea typeface="楷体_GB2312" pitchFamily="49" charset="-122"/>
                </a:rPr>
                <a:t>                               = 700 L         </a:t>
              </a:r>
            </a:p>
            <a:p>
              <a:pPr fontAlgn="base">
                <a:spcBef>
                  <a:spcPct val="0"/>
                </a:spcBef>
                <a:spcAft>
                  <a:spcPct val="0"/>
                </a:spcAft>
              </a:pPr>
              <a:r>
                <a:rPr lang="en-US" altLang="zh-CN" sz="2600" b="1" i="1" dirty="0" smtClean="0">
                  <a:solidFill>
                    <a:srgbClr val="000000"/>
                  </a:solidFill>
                  <a:latin typeface="+mj-lt"/>
                  <a:ea typeface="楷体_GB2312" pitchFamily="49" charset="-122"/>
                </a:rPr>
                <a:t>                         </a:t>
              </a:r>
              <a:r>
                <a:rPr lang="en-US" altLang="zh-CN" sz="2600" b="1" i="1" dirty="0" smtClean="0">
                  <a:solidFill>
                    <a:srgbClr val="000000"/>
                  </a:solidFill>
                  <a:latin typeface="+mj-lt"/>
                </a:rPr>
                <a:t>1/5V(N</a:t>
              </a:r>
              <a:r>
                <a:rPr lang="en-US" altLang="zh-CN" sz="2600" b="1" i="1" baseline="-25000" dirty="0" smtClean="0">
                  <a:solidFill>
                    <a:srgbClr val="000000"/>
                  </a:solidFill>
                  <a:latin typeface="+mj-lt"/>
                </a:rPr>
                <a:t>2</a:t>
              </a:r>
              <a:r>
                <a:rPr lang="en-US" altLang="zh-CN" sz="2600" b="1" i="1" dirty="0" smtClean="0">
                  <a:solidFill>
                    <a:srgbClr val="000000"/>
                  </a:solidFill>
                  <a:latin typeface="+mj-lt"/>
                </a:rPr>
                <a:t>)= 140L </a:t>
              </a:r>
              <a:endParaRPr lang="zh-CN" altLang="en-US" sz="2600" b="1" i="1" dirty="0">
                <a:solidFill>
                  <a:srgbClr val="000000"/>
                </a:solidFill>
                <a:latin typeface="+mj-lt"/>
                <a:ea typeface="楷体_GB2312" pitchFamily="49" charset="-122"/>
              </a:endParaRPr>
            </a:p>
          </p:txBody>
        </p:sp>
        <p:sp>
          <p:nvSpPr>
            <p:cNvPr id="11271" name="Rectangle 9"/>
            <p:cNvSpPr>
              <a:spLocks noChangeArrowheads="1"/>
            </p:cNvSpPr>
            <p:nvPr/>
          </p:nvSpPr>
          <p:spPr bwMode="auto">
            <a:xfrm>
              <a:off x="152400" y="3505200"/>
              <a:ext cx="8920194" cy="49244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altLang="zh-CN" sz="2600" b="1" dirty="0">
                  <a:solidFill>
                    <a:srgbClr val="000000"/>
                  </a:solidFill>
                  <a:ea typeface="楷体_GB2312" pitchFamily="49" charset="-122"/>
                </a:rPr>
                <a:t> </a:t>
              </a:r>
              <a:r>
                <a:rPr lang="zh-CN" altLang="en-US" sz="2600" b="1" dirty="0" smtClean="0">
                  <a:solidFill>
                    <a:srgbClr val="000000"/>
                  </a:solidFill>
                  <a:ea typeface="楷体_GB2312" pitchFamily="49" charset="-122"/>
                </a:rPr>
                <a:t>或</a:t>
              </a:r>
              <a:r>
                <a:rPr lang="zh-CN" altLang="en-US" sz="2600" b="1" i="1" dirty="0" smtClean="0">
                  <a:solidFill>
                    <a:srgbClr val="0000FF"/>
                  </a:solidFill>
                  <a:ea typeface="楷体_GB2312" pitchFamily="49" charset="-122"/>
                </a:rPr>
                <a:t>（</a:t>
              </a:r>
              <a:r>
                <a:rPr lang="en-US" altLang="zh-CN" sz="2600" b="1" i="1" dirty="0" smtClean="0">
                  <a:solidFill>
                    <a:srgbClr val="0000FF"/>
                  </a:solidFill>
                  <a:ea typeface="楷体_GB2312" pitchFamily="49" charset="-122"/>
                </a:rPr>
                <a:t>2</a:t>
              </a:r>
              <a:r>
                <a:rPr lang="zh-CN" altLang="en-US" sz="2600" b="1" i="1" dirty="0" smtClean="0">
                  <a:solidFill>
                    <a:srgbClr val="0000FF"/>
                  </a:solidFill>
                  <a:ea typeface="楷体_GB2312" pitchFamily="49" charset="-122"/>
                </a:rPr>
                <a:t>）</a:t>
              </a:r>
              <a:r>
                <a:rPr lang="zh-CN" altLang="en-US" sz="2600" b="1" dirty="0" smtClean="0">
                  <a:solidFill>
                    <a:srgbClr val="000000"/>
                  </a:solidFill>
                  <a:ea typeface="楷体_GB2312" pitchFamily="49" charset="-122"/>
                </a:rPr>
                <a:t>根据</a:t>
              </a:r>
              <a:r>
                <a:rPr lang="zh-CN" altLang="en-US" sz="2600" b="1" dirty="0">
                  <a:solidFill>
                    <a:srgbClr val="000000"/>
                  </a:solidFill>
                  <a:ea typeface="楷体_GB2312" pitchFamily="49" charset="-122"/>
                </a:rPr>
                <a:t>物质的量不变</a:t>
              </a:r>
              <a:r>
                <a:rPr lang="zh-CN" altLang="en-US" sz="2600" b="1" dirty="0">
                  <a:solidFill>
                    <a:srgbClr val="000000"/>
                  </a:solidFill>
                  <a:ea typeface="楷体_GB2312" pitchFamily="49" charset="-122"/>
                  <a:sym typeface="Wingdings" panose="05000000000000000000" pitchFamily="2" charset="2"/>
                </a:rPr>
                <a:t>（</a:t>
              </a:r>
              <a:r>
                <a:rPr lang="zh-CN" altLang="en-US" sz="2600" b="1" dirty="0">
                  <a:solidFill>
                    <a:srgbClr val="000000"/>
                  </a:solidFill>
                  <a:ea typeface="楷体_GB2312" pitchFamily="49" charset="-122"/>
                </a:rPr>
                <a:t>实际上也是</a:t>
              </a:r>
              <a:r>
                <a:rPr lang="en-US" altLang="zh-CN" sz="2600" b="1" dirty="0" smtClean="0">
                  <a:solidFill>
                    <a:srgbClr val="000000"/>
                  </a:solidFill>
                  <a:latin typeface="Times New Roman" panose="02020603050405020304" pitchFamily="18" charset="0"/>
                </a:rPr>
                <a:t>p</a:t>
              </a:r>
              <a:r>
                <a:rPr lang="en-US" altLang="zh-CN" sz="2600" b="1" baseline="-25000" dirty="0" smtClean="0">
                  <a:solidFill>
                    <a:srgbClr val="000000"/>
                  </a:solidFill>
                  <a:latin typeface="Times New Roman" panose="02020603050405020304" pitchFamily="18" charset="0"/>
                </a:rPr>
                <a:t>2</a:t>
              </a:r>
              <a:r>
                <a:rPr lang="en-US" altLang="zh-CN" sz="2600" b="1" dirty="0" smtClean="0">
                  <a:solidFill>
                    <a:srgbClr val="000000"/>
                  </a:solidFill>
                  <a:latin typeface="Times New Roman" panose="02020603050405020304" pitchFamily="18" charset="0"/>
                </a:rPr>
                <a:t>V</a:t>
              </a:r>
              <a:r>
                <a:rPr lang="en-US" altLang="zh-CN" sz="2600" b="1" baseline="-25000" dirty="0" smtClean="0">
                  <a:solidFill>
                    <a:srgbClr val="000000"/>
                  </a:solidFill>
                  <a:latin typeface="Times New Roman" panose="02020603050405020304" pitchFamily="18" charset="0"/>
                </a:rPr>
                <a:t>2</a:t>
              </a:r>
              <a:r>
                <a:rPr lang="en-US" altLang="zh-CN" sz="2600" b="1" dirty="0" smtClean="0">
                  <a:solidFill>
                    <a:srgbClr val="000000"/>
                  </a:solidFill>
                  <a:latin typeface="Times New Roman" panose="02020603050405020304" pitchFamily="18" charset="0"/>
                </a:rPr>
                <a:t> </a:t>
              </a:r>
              <a:r>
                <a:rPr lang="en-US" altLang="zh-CN" sz="2600" b="1" dirty="0">
                  <a:solidFill>
                    <a:srgbClr val="000000"/>
                  </a:solidFill>
                  <a:latin typeface="Times New Roman" panose="02020603050405020304" pitchFamily="18" charset="0"/>
                </a:rPr>
                <a:t>= </a:t>
              </a:r>
              <a:r>
                <a:rPr lang="en-US" altLang="zh-CN" sz="2600" b="1" dirty="0" smtClean="0">
                  <a:solidFill>
                    <a:srgbClr val="000000"/>
                  </a:solidFill>
                  <a:latin typeface="Times New Roman" panose="02020603050405020304" pitchFamily="18" charset="0"/>
                </a:rPr>
                <a:t>p</a:t>
              </a:r>
              <a:r>
                <a:rPr lang="en-US" altLang="zh-CN" sz="2600" b="1" baseline="-25000" dirty="0" smtClean="0">
                  <a:solidFill>
                    <a:srgbClr val="000000"/>
                  </a:solidFill>
                  <a:latin typeface="Times New Roman" panose="02020603050405020304" pitchFamily="18" charset="0"/>
                </a:rPr>
                <a:t>3</a:t>
              </a:r>
              <a:r>
                <a:rPr lang="en-US" altLang="zh-CN" sz="2600" b="1" dirty="0" smtClean="0">
                  <a:solidFill>
                    <a:srgbClr val="000000"/>
                  </a:solidFill>
                  <a:latin typeface="Times New Roman" panose="02020603050405020304" pitchFamily="18" charset="0"/>
                </a:rPr>
                <a:t>V</a:t>
              </a:r>
              <a:r>
                <a:rPr lang="en-US" altLang="zh-CN" sz="2600" b="1" baseline="-25000" dirty="0" smtClean="0">
                  <a:solidFill>
                    <a:srgbClr val="000000"/>
                  </a:solidFill>
                  <a:latin typeface="Times New Roman" panose="02020603050405020304" pitchFamily="18" charset="0"/>
                </a:rPr>
                <a:t>3</a:t>
              </a:r>
              <a:r>
                <a:rPr lang="zh-CN" altLang="en-US" sz="2600" b="1" dirty="0" smtClean="0">
                  <a:solidFill>
                    <a:srgbClr val="000000"/>
                  </a:solidFill>
                  <a:ea typeface="楷体_GB2312" pitchFamily="49" charset="-122"/>
                </a:rPr>
                <a:t>）</a:t>
              </a:r>
              <a:r>
                <a:rPr lang="zh-CN" altLang="en-US" sz="2600" b="1" dirty="0">
                  <a:solidFill>
                    <a:srgbClr val="000000"/>
                  </a:solidFill>
                  <a:ea typeface="楷体_GB2312"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ppt_x"/>
                                          </p:val>
                                        </p:tav>
                                        <p:tav tm="100000">
                                          <p:val>
                                            <p:strVal val="#ppt_x"/>
                                          </p:val>
                                        </p:tav>
                                      </p:tavLst>
                                    </p:anim>
                                    <p:anim calcmode="lin" valueType="num">
                                      <p:cBhvr additive="base">
                                        <p:cTn id="8"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 calcmode="lin" valueType="num">
                                      <p:cBhvr additive="base">
                                        <p:cTn id="13" dur="500" fill="hold"/>
                                        <p:tgtEl>
                                          <p:spTgt spid="11269"/>
                                        </p:tgtEl>
                                        <p:attrNameLst>
                                          <p:attrName>ppt_x</p:attrName>
                                        </p:attrNameLst>
                                      </p:cBhvr>
                                      <p:tavLst>
                                        <p:tav tm="0">
                                          <p:val>
                                            <p:strVal val="#ppt_x"/>
                                          </p:val>
                                        </p:tav>
                                        <p:tav tm="100000">
                                          <p:val>
                                            <p:strVal val="#ppt_x"/>
                                          </p:val>
                                        </p:tav>
                                      </p:tavLst>
                                    </p:anim>
                                    <p:anim calcmode="lin" valueType="num">
                                      <p:cBhvr additive="base">
                                        <p:cTn id="14"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P spid="1126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28600" y="152400"/>
            <a:ext cx="8686800" cy="1292225"/>
          </a:xfrm>
          <a:prstGeom prst="rect">
            <a:avLst/>
          </a:prstGeom>
          <a:solidFill>
            <a:schemeClr val="bg1"/>
          </a:solidFill>
        </p:spPr>
        <p:txBody>
          <a:bodyPr>
            <a:spAutoFit/>
          </a:bodyPr>
          <a:lstStyle/>
          <a:p>
            <a:pPr fontAlgn="base">
              <a:spcBef>
                <a:spcPct val="0"/>
              </a:spcBef>
              <a:spcAft>
                <a:spcPct val="0"/>
              </a:spcAft>
              <a:defRPr/>
            </a:pPr>
            <a:r>
              <a:rPr lang="zh-CN" altLang="en-US" sz="2600" b="1" dirty="0">
                <a:solidFill>
                  <a:srgbClr val="C00000"/>
                </a:solidFill>
                <a:latin typeface="Times New Roman" panose="02020603050405020304"/>
              </a:rPr>
              <a:t>      例</a:t>
            </a:r>
            <a:r>
              <a:rPr lang="zh-CN" altLang="en-US" sz="2600" b="1" dirty="0">
                <a:solidFill>
                  <a:srgbClr val="000000"/>
                </a:solidFill>
                <a:latin typeface="Times New Roman" panose="02020603050405020304"/>
              </a:rPr>
              <a:t>  常温常压下（</a:t>
            </a:r>
            <a:r>
              <a:rPr lang="en-US" altLang="zh-CN" sz="2600" b="1" i="1" dirty="0">
                <a:solidFill>
                  <a:srgbClr val="000000"/>
                </a:solidFill>
                <a:latin typeface="Times New Roman" panose="02020603050405020304"/>
              </a:rPr>
              <a:t>298K</a:t>
            </a:r>
            <a:r>
              <a:rPr lang="zh-CN" altLang="en-US" sz="2600" b="1" i="1" dirty="0">
                <a:solidFill>
                  <a:srgbClr val="000000"/>
                </a:solidFill>
                <a:latin typeface="Times New Roman" panose="02020603050405020304"/>
              </a:rPr>
              <a:t>、</a:t>
            </a:r>
            <a:r>
              <a:rPr lang="en-US" altLang="zh-CN" sz="2600" b="1" i="1" dirty="0">
                <a:solidFill>
                  <a:srgbClr val="000000"/>
                </a:solidFill>
                <a:latin typeface="Times New Roman" panose="02020603050405020304"/>
              </a:rPr>
              <a:t>101.325kPa</a:t>
            </a:r>
            <a:r>
              <a:rPr lang="zh-CN" altLang="en-US" sz="2600" b="1" dirty="0">
                <a:solidFill>
                  <a:srgbClr val="000000"/>
                </a:solidFill>
                <a:latin typeface="Times New Roman" panose="02020603050405020304"/>
              </a:rPr>
              <a:t>）石英安瓶被整体加热到</a:t>
            </a:r>
            <a:r>
              <a:rPr lang="en-US" altLang="zh-CN" sz="2600" b="1" i="1" dirty="0">
                <a:solidFill>
                  <a:srgbClr val="000000"/>
                </a:solidFill>
                <a:latin typeface="Times New Roman" panose="02020603050405020304"/>
              </a:rPr>
              <a:t>800K</a:t>
            </a:r>
            <a:r>
              <a:rPr lang="zh-CN" altLang="en-US" sz="2600" b="1" dirty="0">
                <a:solidFill>
                  <a:srgbClr val="000000"/>
                </a:solidFill>
                <a:latin typeface="Times New Roman" panose="02020603050405020304"/>
              </a:rPr>
              <a:t>时急速用火焰封闭，求封闭后瓶内的气体在常温下的压力多大？</a:t>
            </a:r>
            <a:endParaRPr lang="zh-CN" altLang="en-US" sz="2000" b="1" dirty="0">
              <a:solidFill>
                <a:srgbClr val="000000"/>
              </a:solidFill>
              <a:latin typeface="Times New Roman" panose="02020603050405020304"/>
            </a:endParaRPr>
          </a:p>
        </p:txBody>
      </p:sp>
      <p:pic>
        <p:nvPicPr>
          <p:cNvPr id="159748" name="Picture 4" descr="http://img59.chem17.com/2/20130523/635049458211805746822.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000232" y="1428736"/>
            <a:ext cx="4181484" cy="26241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矩形 3"/>
          <p:cNvSpPr/>
          <p:nvPr/>
        </p:nvSpPr>
        <p:spPr>
          <a:xfrm>
            <a:off x="428596" y="4643446"/>
            <a:ext cx="7643866" cy="892552"/>
          </a:xfrm>
          <a:prstGeom prst="rect">
            <a:avLst/>
          </a:prstGeom>
        </p:spPr>
        <p:txBody>
          <a:bodyPr wrap="square">
            <a:spAutoFit/>
          </a:bodyPr>
          <a:lstStyle/>
          <a:p>
            <a:r>
              <a:rPr lang="zh-CN" altLang="en-US" sz="2600" b="1" dirty="0" smtClean="0">
                <a:solidFill>
                  <a:srgbClr val="000000"/>
                </a:solidFill>
                <a:latin typeface="Times New Roman" panose="02020603050405020304"/>
              </a:rPr>
              <a:t>        </a:t>
            </a:r>
            <a:r>
              <a:rPr lang="zh-CN" altLang="en-US" sz="2600" b="1" i="1" dirty="0" smtClean="0">
                <a:solidFill>
                  <a:srgbClr val="C00000"/>
                </a:solidFill>
                <a:latin typeface="Times New Roman" panose="02020603050405020304"/>
              </a:rPr>
              <a:t>分析：</a:t>
            </a:r>
            <a:r>
              <a:rPr lang="zh-CN" altLang="en-US" sz="2600" b="1" i="1" dirty="0" smtClean="0">
                <a:solidFill>
                  <a:srgbClr val="0000FF"/>
                </a:solidFill>
                <a:latin typeface="Times New Roman" panose="02020603050405020304"/>
              </a:rPr>
              <a:t>关键点在于，</a:t>
            </a:r>
            <a:r>
              <a:rPr lang="zh-CN" altLang="en-US" sz="2600" b="1" dirty="0" smtClean="0">
                <a:solidFill>
                  <a:srgbClr val="000000"/>
                </a:solidFill>
                <a:latin typeface="Times New Roman" panose="02020603050405020304"/>
              </a:rPr>
              <a:t>加热到</a:t>
            </a:r>
            <a:r>
              <a:rPr lang="en-US" altLang="zh-CN" sz="2600" b="1" i="1" dirty="0" smtClean="0">
                <a:solidFill>
                  <a:srgbClr val="000000"/>
                </a:solidFill>
                <a:latin typeface="Times New Roman" panose="02020603050405020304"/>
              </a:rPr>
              <a:t>800K</a:t>
            </a:r>
            <a:r>
              <a:rPr lang="zh-CN" altLang="en-US" sz="2600" b="1" dirty="0" smtClean="0">
                <a:solidFill>
                  <a:srgbClr val="000000"/>
                </a:solidFill>
                <a:latin typeface="Times New Roman" panose="02020603050405020304"/>
              </a:rPr>
              <a:t>时急速用火焰封闭</a:t>
            </a:r>
            <a:r>
              <a:rPr lang="en-US" altLang="zh-CN" sz="2600" b="1" dirty="0" smtClean="0">
                <a:solidFill>
                  <a:srgbClr val="000000"/>
                </a:solidFill>
                <a:latin typeface="Times New Roman" panose="02020603050405020304"/>
              </a:rPr>
              <a:t>——</a:t>
            </a:r>
            <a:r>
              <a:rPr lang="zh-CN" altLang="en-US" sz="2600" b="1" dirty="0" smtClean="0">
                <a:solidFill>
                  <a:srgbClr val="000000"/>
                </a:solidFill>
                <a:latin typeface="Times New Roman" panose="02020603050405020304"/>
              </a:rPr>
              <a:t>封闭前与外界相通，所以压力等于常压</a:t>
            </a:r>
            <a:endParaRPr lang="zh-CN" alt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9748"/>
                                        </p:tgtEl>
                                        <p:attrNameLst>
                                          <p:attrName>style.visibility</p:attrName>
                                        </p:attrNameLst>
                                      </p:cBhvr>
                                      <p:to>
                                        <p:strVal val="visible"/>
                                      </p:to>
                                    </p:set>
                                    <p:animEffect transition="in" filter="blinds(horizontal)">
                                      <p:cBhvr>
                                        <p:cTn id="12" dur="500"/>
                                        <p:tgtEl>
                                          <p:spTgt spid="15974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3"/>
          <p:cNvGraphicFramePr>
            <a:graphicFrameLocks noChangeAspect="1"/>
          </p:cNvGraphicFramePr>
          <p:nvPr/>
        </p:nvGraphicFramePr>
        <p:xfrm>
          <a:off x="2057400" y="76200"/>
          <a:ext cx="4038600" cy="6248400"/>
        </p:xfrm>
        <a:graphic>
          <a:graphicData uri="http://schemas.openxmlformats.org/presentationml/2006/ole">
            <p:oleObj spid="_x0000_s27649" name="CS ChemDraw Drawing" r:id="rId3" imgW="55121175" imgH="123272550" progId="ExeApp.Eleconment.1">
              <p:embed/>
            </p:oleObj>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9630" name="Rectangle 14"/>
          <p:cNvSpPr>
            <a:spLocks noChangeArrowheads="1"/>
          </p:cNvSpPr>
          <p:nvPr/>
        </p:nvSpPr>
        <p:spPr bwMode="auto">
          <a:xfrm>
            <a:off x="228600" y="685800"/>
            <a:ext cx="8534400" cy="8858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spcBef>
                <a:spcPct val="0"/>
              </a:spcBef>
              <a:spcAft>
                <a:spcPct val="0"/>
              </a:spcAft>
            </a:pPr>
            <a:r>
              <a:rPr lang="en-US" altLang="zh-CN" sz="2600" b="1">
                <a:solidFill>
                  <a:srgbClr val="000000"/>
                </a:solidFill>
                <a:latin typeface="Times New Roman" panose="02020603050405020304" pitchFamily="18" charset="0"/>
              </a:rPr>
              <a:t>          How  do  we  deal  with  gases  composed  of  a  mixture  of  two  or  more  different  substances?</a:t>
            </a:r>
          </a:p>
        </p:txBody>
      </p:sp>
      <p:sp>
        <p:nvSpPr>
          <p:cNvPr id="239631" name="Rectangle 15"/>
          <p:cNvSpPr>
            <a:spLocks noChangeArrowheads="1"/>
          </p:cNvSpPr>
          <p:nvPr/>
        </p:nvSpPr>
        <p:spPr bwMode="auto">
          <a:xfrm>
            <a:off x="152400" y="1828800"/>
            <a:ext cx="8686800" cy="89217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spcBef>
                <a:spcPct val="0"/>
              </a:spcBef>
              <a:spcAft>
                <a:spcPct val="0"/>
              </a:spcAft>
            </a:pPr>
            <a:r>
              <a:rPr lang="en-US" altLang="zh-CN" sz="2600" b="1" i="1" dirty="0">
                <a:solidFill>
                  <a:srgbClr val="FF0000"/>
                </a:solidFill>
                <a:latin typeface="Times New Roman" panose="02020603050405020304" pitchFamily="18" charset="0"/>
              </a:rPr>
              <a:t>           </a:t>
            </a:r>
            <a:r>
              <a:rPr lang="en-US" altLang="zh-CN" sz="2600" b="1" dirty="0">
                <a:solidFill>
                  <a:srgbClr val="000000"/>
                </a:solidFill>
                <a:latin typeface="Times New Roman" panose="02020603050405020304" pitchFamily="18" charset="0"/>
              </a:rPr>
              <a:t>Mixed  gases  are  also  ideal  gases,  therefore</a:t>
            </a:r>
            <a:r>
              <a:rPr lang="en-US" altLang="zh-CN" sz="2600" b="1" dirty="0">
                <a:solidFill>
                  <a:srgbClr val="0000FF"/>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they  follow  the  laws  of  ideal  </a:t>
            </a:r>
            <a:r>
              <a:rPr lang="en-US" altLang="zh-CN" sz="2600" b="1" i="1" dirty="0" smtClean="0">
                <a:solidFill>
                  <a:srgbClr val="0000FF"/>
                </a:solidFill>
                <a:latin typeface="Times New Roman" panose="02020603050405020304" pitchFamily="18" charset="0"/>
              </a:rPr>
              <a:t>gases.</a:t>
            </a:r>
            <a:endParaRPr lang="en-US" altLang="zh-CN" sz="2600" b="1" i="1" dirty="0">
              <a:solidFill>
                <a:srgbClr val="0000FF"/>
              </a:solidFill>
              <a:latin typeface="Times New Roman" panose="02020603050405020304" pitchFamily="18" charset="0"/>
            </a:endParaRPr>
          </a:p>
        </p:txBody>
      </p:sp>
      <p:sp>
        <p:nvSpPr>
          <p:cNvPr id="239633" name="Rectangle 17"/>
          <p:cNvSpPr>
            <a:spLocks noChangeArrowheads="1"/>
          </p:cNvSpPr>
          <p:nvPr/>
        </p:nvSpPr>
        <p:spPr bwMode="auto">
          <a:xfrm>
            <a:off x="381000" y="4572000"/>
            <a:ext cx="8382000" cy="1261884"/>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dirty="0">
                <a:solidFill>
                  <a:srgbClr val="0000FF"/>
                </a:solidFill>
                <a:latin typeface="Times New Roman" panose="02020603050405020304" pitchFamily="18" charset="0"/>
              </a:rPr>
              <a:t>          the  </a:t>
            </a:r>
            <a:r>
              <a:rPr lang="en-US" altLang="zh-CN" sz="2600" b="1" i="1" dirty="0">
                <a:solidFill>
                  <a:srgbClr val="0000FF"/>
                </a:solidFill>
                <a:latin typeface="Times New Roman" panose="02020603050405020304" pitchFamily="18" charset="0"/>
              </a:rPr>
              <a:t>pressure</a:t>
            </a:r>
            <a:r>
              <a:rPr lang="en-US" altLang="zh-CN" sz="2600" b="1" dirty="0">
                <a:solidFill>
                  <a:srgbClr val="0000FF"/>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exerted  by  an</a:t>
            </a:r>
            <a:r>
              <a:rPr lang="en-US" altLang="zh-CN" sz="2600" b="1" dirty="0">
                <a:solidFill>
                  <a:srgbClr val="0000FF"/>
                </a:solidFill>
                <a:latin typeface="Times New Roman" panose="02020603050405020304" pitchFamily="18" charset="0"/>
              </a:rPr>
              <a:t>  </a:t>
            </a:r>
            <a:r>
              <a:rPr lang="en-US" altLang="zh-CN" sz="2600" b="1" i="1" dirty="0">
                <a:solidFill>
                  <a:srgbClr val="0000FF"/>
                </a:solidFill>
                <a:latin typeface="Times New Roman" panose="02020603050405020304" pitchFamily="18" charset="0"/>
              </a:rPr>
              <a:t>individual  gas</a:t>
            </a:r>
            <a:r>
              <a:rPr lang="en-US" altLang="zh-CN" sz="2600" b="1" dirty="0">
                <a:solidFill>
                  <a:srgbClr val="0000FF"/>
                </a:solidFill>
                <a:latin typeface="Times New Roman" panose="02020603050405020304" pitchFamily="18" charset="0"/>
              </a:rPr>
              <a:t>  </a:t>
            </a:r>
            <a:r>
              <a:rPr lang="en-US" altLang="zh-CN" sz="2600" b="1" dirty="0">
                <a:solidFill>
                  <a:srgbClr val="000000"/>
                </a:solidFill>
                <a:latin typeface="Times New Roman" panose="02020603050405020304" pitchFamily="18" charset="0"/>
              </a:rPr>
              <a:t>in  a  mixture  of  gases  </a:t>
            </a:r>
            <a:r>
              <a:rPr lang="en-US" altLang="zh-CN" sz="2600" b="1" i="1" dirty="0">
                <a:solidFill>
                  <a:srgbClr val="0000FF"/>
                </a:solidFill>
                <a:latin typeface="Times New Roman" panose="02020603050405020304" pitchFamily="18" charset="0"/>
              </a:rPr>
              <a:t>at  the  same  T</a:t>
            </a:r>
            <a:r>
              <a:rPr lang="zh-CN" altLang="en-US" sz="2600" b="1" i="1" dirty="0">
                <a:solidFill>
                  <a:srgbClr val="0000FF"/>
                </a:solidFill>
                <a:latin typeface="Times New Roman" panose="02020603050405020304" pitchFamily="18" charset="0"/>
              </a:rPr>
              <a:t>、</a:t>
            </a:r>
            <a:r>
              <a:rPr lang="en-US" altLang="zh-CN" sz="2600" b="1" i="1" dirty="0">
                <a:solidFill>
                  <a:srgbClr val="0000FF"/>
                </a:solidFill>
                <a:latin typeface="Times New Roman" panose="02020603050405020304" pitchFamily="18" charset="0"/>
              </a:rPr>
              <a:t>V</a:t>
            </a:r>
            <a:r>
              <a:rPr lang="en-US" altLang="zh-CN" sz="2600" b="1" i="1" dirty="0" smtClean="0">
                <a:solidFill>
                  <a:srgbClr val="0000FF"/>
                </a:solidFill>
                <a:latin typeface="Times New Roman" panose="02020603050405020304" pitchFamily="18" charset="0"/>
              </a:rPr>
              <a:t>.</a:t>
            </a:r>
            <a:r>
              <a:rPr lang="en-US" altLang="zh-CN" sz="2400" b="1" i="1" dirty="0" smtClean="0">
                <a:solidFill>
                  <a:srgbClr val="0000FF"/>
                </a:solidFill>
                <a:latin typeface="Times New Roman" panose="02020603050405020304" pitchFamily="18" charset="0"/>
              </a:rPr>
              <a:t> </a:t>
            </a:r>
          </a:p>
          <a:p>
            <a:pPr algn="ctr" fontAlgn="base">
              <a:spcBef>
                <a:spcPct val="0"/>
              </a:spcBef>
              <a:spcAft>
                <a:spcPct val="0"/>
              </a:spcAft>
            </a:pPr>
            <a:r>
              <a:rPr lang="en-US" altLang="zh-CN" sz="2400" b="1" i="1" dirty="0" err="1" smtClean="0">
                <a:solidFill>
                  <a:srgbClr val="C00000"/>
                </a:solidFill>
                <a:latin typeface="Times New Roman" panose="02020603050405020304" pitchFamily="18" charset="0"/>
              </a:rPr>
              <a:t>p</a:t>
            </a:r>
            <a:r>
              <a:rPr lang="en-US" altLang="zh-CN" sz="2400" b="1" i="1" baseline="-25000" dirty="0" err="1" smtClean="0">
                <a:solidFill>
                  <a:srgbClr val="C00000"/>
                </a:solidFill>
                <a:latin typeface="Times New Roman" panose="02020603050405020304" pitchFamily="18" charset="0"/>
              </a:rPr>
              <a:t>i</a:t>
            </a:r>
            <a:r>
              <a:rPr lang="en-US" altLang="zh-CN" sz="2400" b="1" i="1" dirty="0" err="1" smtClean="0">
                <a:solidFill>
                  <a:srgbClr val="C00000"/>
                </a:solidFill>
                <a:latin typeface="Times New Roman" panose="02020603050405020304" pitchFamily="18" charset="0"/>
              </a:rPr>
              <a:t>V</a:t>
            </a:r>
            <a:r>
              <a:rPr lang="en-US" altLang="zh-CN" sz="2400" b="1" i="1" dirty="0" smtClean="0">
                <a:solidFill>
                  <a:srgbClr val="C00000"/>
                </a:solidFill>
                <a:latin typeface="Times New Roman" panose="02020603050405020304" pitchFamily="18" charset="0"/>
              </a:rPr>
              <a:t> = </a:t>
            </a:r>
            <a:r>
              <a:rPr lang="en-US" altLang="zh-CN" sz="2400" b="1" i="1" dirty="0" err="1" smtClean="0">
                <a:solidFill>
                  <a:srgbClr val="C00000"/>
                </a:solidFill>
                <a:latin typeface="Times New Roman" panose="02020603050405020304" pitchFamily="18" charset="0"/>
              </a:rPr>
              <a:t>n</a:t>
            </a:r>
            <a:r>
              <a:rPr lang="en-US" altLang="zh-CN" sz="2400" b="1" i="1" baseline="-25000" dirty="0" err="1" smtClean="0">
                <a:solidFill>
                  <a:srgbClr val="C00000"/>
                </a:solidFill>
                <a:latin typeface="Times New Roman" panose="02020603050405020304" pitchFamily="18" charset="0"/>
              </a:rPr>
              <a:t>i</a:t>
            </a:r>
            <a:r>
              <a:rPr lang="en-US" altLang="zh-CN" sz="2400" b="1" i="1" dirty="0" err="1" smtClean="0">
                <a:solidFill>
                  <a:srgbClr val="C00000"/>
                </a:solidFill>
                <a:latin typeface="Times New Roman" panose="02020603050405020304" pitchFamily="18" charset="0"/>
              </a:rPr>
              <a:t>RT</a:t>
            </a:r>
            <a:endParaRPr lang="en-US" altLang="zh-CN" sz="2400" b="1" i="1" dirty="0" smtClean="0">
              <a:solidFill>
                <a:srgbClr val="C00000"/>
              </a:solidFill>
              <a:latin typeface="Times New Roman" panose="02020603050405020304"/>
            </a:endParaRPr>
          </a:p>
        </p:txBody>
      </p:sp>
      <p:sp>
        <p:nvSpPr>
          <p:cNvPr id="239635" name="Rectangle 19"/>
          <p:cNvSpPr>
            <a:spLocks noChangeArrowheads="1"/>
          </p:cNvSpPr>
          <p:nvPr/>
        </p:nvSpPr>
        <p:spPr bwMode="auto">
          <a:xfrm>
            <a:off x="228600" y="3810000"/>
            <a:ext cx="3914772" cy="523220"/>
          </a:xfrm>
          <a:prstGeom prst="rect">
            <a:avLst/>
          </a:prstGeom>
          <a:solidFill>
            <a:srgbClr val="FF99FF"/>
          </a:solidFill>
          <a:ln w="9525">
            <a:noFill/>
            <a:miter lim="800000"/>
          </a:ln>
        </p:spPr>
        <p:txBody>
          <a:bodyPr wrap="square">
            <a:spAutoFit/>
          </a:bodyPr>
          <a:lstStyle/>
          <a:p>
            <a:pPr fontAlgn="ctr">
              <a:spcBef>
                <a:spcPct val="0"/>
              </a:spcBef>
              <a:spcAft>
                <a:spcPct val="0"/>
              </a:spcAft>
              <a:defRPr/>
            </a:pPr>
            <a:r>
              <a:rPr lang="en-US" altLang="zh-CN" sz="2800" b="1" i="1" dirty="0">
                <a:solidFill>
                  <a:srgbClr val="000000"/>
                </a:solidFill>
                <a:latin typeface="Times New Roman" panose="02020603050405020304"/>
              </a:rPr>
              <a:t>1</a:t>
            </a:r>
            <a:r>
              <a:rPr lang="zh-CN" altLang="en-US" sz="2800" b="1" i="1" dirty="0">
                <a:solidFill>
                  <a:srgbClr val="000000"/>
                </a:solidFill>
                <a:latin typeface="Times New Roman" panose="02020603050405020304"/>
              </a:rPr>
              <a:t>、</a:t>
            </a:r>
            <a:r>
              <a:rPr lang="en-US" altLang="zh-CN" sz="2800" b="1" i="1" dirty="0">
                <a:solidFill>
                  <a:srgbClr val="000000"/>
                </a:solidFill>
                <a:latin typeface="Times New Roman" panose="02020603050405020304"/>
              </a:rPr>
              <a:t> partial  </a:t>
            </a:r>
            <a:r>
              <a:rPr lang="en-US" altLang="zh-CN" sz="2800" b="1" i="1" dirty="0" err="1">
                <a:solidFill>
                  <a:srgbClr val="000000"/>
                </a:solidFill>
                <a:latin typeface="Times New Roman" panose="02020603050405020304"/>
              </a:rPr>
              <a:t>pessure</a:t>
            </a:r>
            <a:r>
              <a:rPr lang="en-US" altLang="zh-CN" sz="2800" b="1" i="1" dirty="0">
                <a:solidFill>
                  <a:srgbClr val="000000"/>
                </a:solidFill>
                <a:latin typeface="Times New Roman" panose="02020603050405020304"/>
              </a:rPr>
              <a:t>  (p</a:t>
            </a:r>
            <a:r>
              <a:rPr lang="en-US" altLang="zh-CN" sz="2800" b="1" i="1" baseline="-25000" dirty="0">
                <a:solidFill>
                  <a:srgbClr val="000000"/>
                </a:solidFill>
                <a:latin typeface="Times New Roman" panose="02020603050405020304"/>
              </a:rPr>
              <a:t>i</a:t>
            </a:r>
            <a:r>
              <a:rPr lang="en-US" altLang="zh-CN" sz="2800" b="1" i="1" dirty="0" smtClean="0">
                <a:solidFill>
                  <a:srgbClr val="000000"/>
                </a:solidFill>
                <a:latin typeface="Times New Roman" panose="02020603050405020304"/>
              </a:rPr>
              <a:t>)</a:t>
            </a:r>
            <a:r>
              <a:rPr lang="en-US" altLang="zh-CN" sz="2800" b="1" i="1" dirty="0" smtClean="0">
                <a:solidFill>
                  <a:srgbClr val="C00000"/>
                </a:solidFill>
                <a:latin typeface="Times New Roman" panose="02020603050405020304" pitchFamily="18" charset="0"/>
              </a:rPr>
              <a:t> </a:t>
            </a:r>
            <a:endParaRPr lang="en-US" altLang="zh-CN" sz="2800" b="1" i="1" dirty="0">
              <a:solidFill>
                <a:srgbClr val="0000FF"/>
              </a:solidFill>
              <a:latin typeface="Times New Roman" panose="02020603050405020304"/>
            </a:endParaRPr>
          </a:p>
        </p:txBody>
      </p:sp>
      <p:sp>
        <p:nvSpPr>
          <p:cNvPr id="8" name="Rectangle 5"/>
          <p:cNvSpPr>
            <a:spLocks noChangeArrowheads="1"/>
          </p:cNvSpPr>
          <p:nvPr/>
        </p:nvSpPr>
        <p:spPr bwMode="auto">
          <a:xfrm>
            <a:off x="76200" y="76200"/>
            <a:ext cx="4724400" cy="523875"/>
          </a:xfrm>
          <a:prstGeom prst="rect">
            <a:avLst/>
          </a:prstGeom>
          <a:gradFill rotWithShape="1">
            <a:gsLst>
              <a:gs pos="0">
                <a:srgbClr val="595959"/>
              </a:gs>
              <a:gs pos="50000">
                <a:srgbClr val="C0C0C0"/>
              </a:gs>
              <a:gs pos="100000">
                <a:srgbClr val="595959"/>
              </a:gs>
            </a:gsLst>
            <a:lin ang="5400000" scaled="1"/>
          </a:gradFill>
          <a:ln w="9525">
            <a:noFill/>
            <a:miter lim="800000"/>
          </a:ln>
        </p:spPr>
        <p:txBody>
          <a:bodyPr>
            <a:spAutoFit/>
          </a:bodyPr>
          <a:lstStyle/>
          <a:p>
            <a:pPr fontAlgn="base">
              <a:spcBef>
                <a:spcPct val="0"/>
              </a:spcBef>
              <a:spcAft>
                <a:spcPct val="0"/>
              </a:spcAft>
              <a:defRPr/>
            </a:pPr>
            <a:r>
              <a:rPr lang="en-US" altLang="zh-CN" sz="2800" b="1" i="1" dirty="0">
                <a:solidFill>
                  <a:srgbClr val="FF0000"/>
                </a:solidFill>
                <a:latin typeface="Times New Roman" panose="02020603050405020304"/>
              </a:rPr>
              <a:t>Part  </a:t>
            </a:r>
            <a:r>
              <a:rPr lang="en-US" altLang="zh-CN" sz="2800" b="1" i="1" dirty="0" smtClean="0">
                <a:solidFill>
                  <a:srgbClr val="FF0000"/>
                </a:solidFill>
                <a:latin typeface="Times New Roman" panose="02020603050405020304"/>
              </a:rPr>
              <a:t>3     </a:t>
            </a:r>
            <a:r>
              <a:rPr lang="en-US" altLang="zh-CN" sz="2800" b="1" i="1" dirty="0">
                <a:solidFill>
                  <a:srgbClr val="FF0000"/>
                </a:solidFill>
                <a:latin typeface="Times New Roman" panose="02020603050405020304"/>
              </a:rPr>
              <a:t>Mixed  gases</a:t>
            </a:r>
          </a:p>
        </p:txBody>
      </p:sp>
      <p:sp>
        <p:nvSpPr>
          <p:cNvPr id="9" name="Rectangle 6"/>
          <p:cNvSpPr>
            <a:spLocks noChangeArrowheads="1"/>
          </p:cNvSpPr>
          <p:nvPr/>
        </p:nvSpPr>
        <p:spPr bwMode="auto">
          <a:xfrm>
            <a:off x="152400" y="2971800"/>
            <a:ext cx="5867400" cy="523875"/>
          </a:xfrm>
          <a:prstGeom prst="rect">
            <a:avLst/>
          </a:prstGeom>
          <a:solidFill>
            <a:schemeClr val="bg1">
              <a:lumMod val="65000"/>
            </a:schemeClr>
          </a:solidFill>
          <a:ln w="9525">
            <a:noFill/>
            <a:miter lim="800000"/>
          </a:ln>
          <a:effectLst>
            <a:outerShdw blurRad="50800" dist="50800" dir="5400000" algn="ctr" rotWithShape="0">
              <a:schemeClr val="tx1">
                <a:lumMod val="75000"/>
                <a:lumOff val="25000"/>
              </a:schemeClr>
            </a:outerShdw>
          </a:effectLst>
          <a:scene3d>
            <a:camera prst="orthographicFront"/>
            <a:lightRig rig="threePt" dir="t"/>
          </a:scene3d>
          <a:sp3d extrusionH="177800" contourW="12700" prstMaterial="metal">
            <a:bevelT/>
            <a:bevelB/>
            <a:extrusionClr>
              <a:schemeClr val="tx1">
                <a:lumMod val="85000"/>
                <a:lumOff val="15000"/>
              </a:schemeClr>
            </a:extrusionClr>
            <a:contourClr>
              <a:schemeClr val="tx2">
                <a:lumMod val="85000"/>
                <a:lumOff val="15000"/>
              </a:schemeClr>
            </a:contourClr>
          </a:sp3d>
        </p:spPr>
        <p:txBody>
          <a:bodyPr>
            <a:spAutoFit/>
          </a:bodyPr>
          <a:lstStyle/>
          <a:p>
            <a:pPr fontAlgn="base">
              <a:spcBef>
                <a:spcPct val="0"/>
              </a:spcBef>
              <a:spcAft>
                <a:spcPct val="0"/>
              </a:spcAft>
              <a:defRPr/>
            </a:pPr>
            <a:r>
              <a:rPr lang="en-US" altLang="zh-CN" sz="2800" b="1" i="1" dirty="0">
                <a:solidFill>
                  <a:srgbClr val="FF0000"/>
                </a:solidFill>
                <a:latin typeface="Times New Roman" panose="02020603050405020304"/>
              </a:rPr>
              <a:t>Part  </a:t>
            </a:r>
            <a:r>
              <a:rPr lang="en-US" altLang="zh-CN" sz="2800" b="1" i="1" dirty="0" smtClean="0">
                <a:solidFill>
                  <a:srgbClr val="FF0000"/>
                </a:solidFill>
                <a:latin typeface="Times New Roman" panose="02020603050405020304"/>
              </a:rPr>
              <a:t>4    </a:t>
            </a:r>
            <a:r>
              <a:rPr lang="en-US" altLang="zh-CN" sz="2800" b="1" i="1" dirty="0">
                <a:solidFill>
                  <a:srgbClr val="FF0000"/>
                </a:solidFill>
                <a:latin typeface="Times New Roman" panose="02020603050405020304"/>
              </a:rPr>
              <a:t>Law  of  partial  pressure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9630"/>
                                        </p:tgtEl>
                                        <p:attrNameLst>
                                          <p:attrName>style.visibility</p:attrName>
                                        </p:attrNameLst>
                                      </p:cBhvr>
                                      <p:to>
                                        <p:strVal val="visible"/>
                                      </p:to>
                                    </p:set>
                                    <p:animEffect transition="in" filter="box(in)">
                                      <p:cBhvr>
                                        <p:cTn id="12" dur="500"/>
                                        <p:tgtEl>
                                          <p:spTgt spid="23963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39631"/>
                                        </p:tgtEl>
                                        <p:attrNameLst>
                                          <p:attrName>style.visibility</p:attrName>
                                        </p:attrNameLst>
                                      </p:cBhvr>
                                      <p:to>
                                        <p:strVal val="visible"/>
                                      </p:to>
                                    </p:set>
                                    <p:animEffect transition="in" filter="box(in)">
                                      <p:cBhvr>
                                        <p:cTn id="17" dur="500"/>
                                        <p:tgtEl>
                                          <p:spTgt spid="2396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39635"/>
                                        </p:tgtEl>
                                        <p:attrNameLst>
                                          <p:attrName>style.visibility</p:attrName>
                                        </p:attrNameLst>
                                      </p:cBhvr>
                                      <p:to>
                                        <p:strVal val="visible"/>
                                      </p:to>
                                    </p:set>
                                    <p:animEffect transition="in" filter="box(in)">
                                      <p:cBhvr>
                                        <p:cTn id="27" dur="500"/>
                                        <p:tgtEl>
                                          <p:spTgt spid="23963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39633"/>
                                        </p:tgtEl>
                                        <p:attrNameLst>
                                          <p:attrName>style.visibility</p:attrName>
                                        </p:attrNameLst>
                                      </p:cBhvr>
                                      <p:to>
                                        <p:strVal val="visible"/>
                                      </p:to>
                                    </p:set>
                                    <p:animEffect transition="in" filter="box(in)">
                                      <p:cBhvr>
                                        <p:cTn id="32" dur="500"/>
                                        <p:tgtEl>
                                          <p:spTgt spid="239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30" grpId="0" animBg="1"/>
      <p:bldP spid="239631" grpId="0" animBg="1"/>
      <p:bldP spid="239633" grpId="0" animBg="1"/>
      <p:bldP spid="239635"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a:grpSpLocks/>
          </p:cNvGrpSpPr>
          <p:nvPr/>
        </p:nvGrpSpPr>
        <p:grpSpPr bwMode="auto">
          <a:xfrm>
            <a:off x="76200" y="228600"/>
            <a:ext cx="8991600" cy="3962400"/>
            <a:chOff x="228600" y="304800"/>
            <a:chExt cx="8534400" cy="3962400"/>
          </a:xfrm>
        </p:grpSpPr>
        <p:sp>
          <p:nvSpPr>
            <p:cNvPr id="8" name="Rectangle 24"/>
            <p:cNvSpPr>
              <a:spLocks noChangeArrowheads="1"/>
            </p:cNvSpPr>
            <p:nvPr/>
          </p:nvSpPr>
          <p:spPr bwMode="auto">
            <a:xfrm>
              <a:off x="228600" y="304800"/>
              <a:ext cx="8382216" cy="457200"/>
            </a:xfrm>
            <a:prstGeom prst="rect">
              <a:avLst/>
            </a:prstGeom>
            <a:noFill/>
            <a:ln w="9525">
              <a:noFill/>
              <a:miter lim="800000"/>
            </a:ln>
            <a:effectLst/>
          </p:spPr>
          <p:txBody>
            <a:bodyPr/>
            <a:lstStyle/>
            <a:p>
              <a:pPr algn="ctr">
                <a:lnSpc>
                  <a:spcPct val="100000"/>
                </a:lnSpc>
                <a:spcBef>
                  <a:spcPct val="0"/>
                </a:spcBef>
                <a:defRPr/>
              </a:pPr>
              <a:r>
                <a:rPr lang="zh-CN" altLang="en-US" sz="2600" b="1" dirty="0"/>
                <a:t>二、</a:t>
              </a:r>
              <a:r>
                <a:rPr lang="en-US" altLang="zh-CN" sz="2600" b="1" dirty="0"/>
                <a:t>   </a:t>
              </a:r>
              <a:r>
                <a:rPr lang="zh-CN" altLang="en-US" sz="2600" b="1" dirty="0"/>
                <a:t>标准平衡常数</a:t>
              </a:r>
              <a:r>
                <a:rPr kumimoji="1" lang="en-US" altLang="zh-CN" sz="2600" b="1" i="1" dirty="0">
                  <a:solidFill>
                    <a:srgbClr val="0000FF"/>
                  </a:solidFill>
                  <a:latin typeface="Times New Roman" pitchFamily="18" charset="0"/>
                  <a:cs typeface="Times New Roman" pitchFamily="18" charset="0"/>
                </a:rPr>
                <a:t>K</a:t>
              </a:r>
              <a:r>
                <a:rPr kumimoji="1" lang="el-GR" altLang="zh-CN" sz="2600" b="1" i="1" baseline="30000" dirty="0">
                  <a:solidFill>
                    <a:srgbClr val="0000FF"/>
                  </a:solidFill>
                  <a:latin typeface="Times New Roman" pitchFamily="18" charset="0"/>
                  <a:cs typeface="Times New Roman" pitchFamily="18" charset="0"/>
                </a:rPr>
                <a:t>Θ</a:t>
              </a:r>
              <a:r>
                <a:rPr kumimoji="1" lang="en-US" altLang="zh-CN" sz="2200" b="1" i="1" dirty="0">
                  <a:solidFill>
                    <a:srgbClr val="0000FF"/>
                  </a:solidFill>
                  <a:latin typeface="Times New Roman" pitchFamily="18" charset="0"/>
                  <a:cs typeface="Times New Roman" pitchFamily="18" charset="0"/>
                </a:rPr>
                <a:t>(</a:t>
              </a:r>
              <a:r>
                <a:rPr kumimoji="1" lang="en-US" altLang="zh-CN" sz="2200" b="1" i="1" dirty="0">
                  <a:solidFill>
                    <a:srgbClr val="0000FF"/>
                  </a:solidFill>
                  <a:latin typeface="Times New Roman" pitchFamily="18" charset="0"/>
                  <a:ea typeface="宋体" panose="02010600030101010101" pitchFamily="2" charset="-122"/>
                  <a:cs typeface="Times New Roman" pitchFamily="18" charset="0"/>
                </a:rPr>
                <a:t>standard equilibrium constant</a:t>
              </a:r>
              <a:r>
                <a:rPr kumimoji="1" lang="en-US" altLang="zh-CN" sz="2200" b="1" i="1" dirty="0">
                  <a:solidFill>
                    <a:srgbClr val="0000FF"/>
                  </a:solidFill>
                  <a:effectLst>
                    <a:outerShdw blurRad="38100" dist="38100" dir="2700000" algn="tl">
                      <a:srgbClr val="000000"/>
                    </a:outerShdw>
                  </a:effectLst>
                  <a:latin typeface="Times New Roman" pitchFamily="18" charset="0"/>
                  <a:ea typeface="宋体" panose="02010600030101010101" pitchFamily="2" charset="-122"/>
                  <a:cs typeface="Times New Roman" pitchFamily="18" charset="0"/>
                </a:rPr>
                <a:t> </a:t>
              </a:r>
              <a:r>
                <a:rPr kumimoji="1" lang="en-US" altLang="zh-CN" sz="2200" b="1" i="1" dirty="0">
                  <a:solidFill>
                    <a:srgbClr val="0000FF"/>
                  </a:solidFill>
                  <a:latin typeface="Times New Roman" pitchFamily="18" charset="0"/>
                  <a:cs typeface="Times New Roman" pitchFamily="18" charset="0"/>
                </a:rPr>
                <a:t>)</a:t>
              </a:r>
              <a:r>
                <a:rPr kumimoji="1" lang="zh-CN" altLang="el-GR" sz="2600" b="1" i="1" baseline="30000" dirty="0">
                  <a:solidFill>
                    <a:srgbClr val="0000FF"/>
                  </a:solidFill>
                  <a:latin typeface="Times New Roman" pitchFamily="18" charset="0"/>
                  <a:cs typeface="Times New Roman" pitchFamily="18" charset="0"/>
                </a:rPr>
                <a:t/>
              </a:r>
              <a:br>
                <a:rPr kumimoji="1" lang="zh-CN" altLang="el-GR" sz="2600" b="1" i="1" baseline="30000" dirty="0">
                  <a:solidFill>
                    <a:srgbClr val="0000FF"/>
                  </a:solidFill>
                  <a:latin typeface="Times New Roman" pitchFamily="18" charset="0"/>
                  <a:cs typeface="Times New Roman" pitchFamily="18" charset="0"/>
                </a:rPr>
              </a:br>
              <a:endParaRPr kumimoji="1" lang="en-US" altLang="zh-CN" sz="2600" b="1" i="1" baseline="30000" dirty="0">
                <a:solidFill>
                  <a:srgbClr val="0000FF"/>
                </a:solidFill>
                <a:latin typeface="Times New Roman" pitchFamily="18" charset="0"/>
                <a:cs typeface="Times New Roman" pitchFamily="18" charset="0"/>
              </a:endParaRPr>
            </a:p>
          </p:txBody>
        </p:sp>
        <p:sp>
          <p:nvSpPr>
            <p:cNvPr id="2055" name="Rectangle 8"/>
            <p:cNvSpPr>
              <a:spLocks noChangeArrowheads="1"/>
            </p:cNvSpPr>
            <p:nvPr/>
          </p:nvSpPr>
          <p:spPr bwMode="auto">
            <a:xfrm>
              <a:off x="304800" y="914400"/>
              <a:ext cx="2401223" cy="492443"/>
            </a:xfrm>
            <a:prstGeom prst="rect">
              <a:avLst/>
            </a:prstGeom>
            <a:solidFill>
              <a:schemeClr val="bg1"/>
            </a:solidFill>
            <a:ln w="9525">
              <a:noFill/>
              <a:miter lim="800000"/>
              <a:headEnd/>
              <a:tailEnd/>
            </a:ln>
          </p:spPr>
          <p:txBody>
            <a:bodyPr wrap="none">
              <a:spAutoFit/>
            </a:bodyPr>
            <a:lstStyle/>
            <a:p>
              <a:pPr>
                <a:lnSpc>
                  <a:spcPct val="100000"/>
                </a:lnSpc>
                <a:spcBef>
                  <a:spcPct val="0"/>
                </a:spcBef>
              </a:pPr>
              <a:r>
                <a:rPr lang="zh-CN" altLang="en-US" sz="2600" b="1" dirty="0">
                  <a:solidFill>
                    <a:schemeClr val="tx1"/>
                  </a:solidFill>
                  <a:latin typeface="Arial" pitchFamily="34" charset="0"/>
                </a:rPr>
                <a:t>对于一般反应，</a:t>
              </a:r>
            </a:p>
          </p:txBody>
        </p:sp>
        <p:graphicFrame>
          <p:nvGraphicFramePr>
            <p:cNvPr id="2050" name="Object 5"/>
            <p:cNvGraphicFramePr>
              <a:graphicFrameLocks noChangeAspect="1"/>
            </p:cNvGraphicFramePr>
            <p:nvPr/>
          </p:nvGraphicFramePr>
          <p:xfrm>
            <a:off x="381000" y="1524000"/>
            <a:ext cx="8382000" cy="533400"/>
          </p:xfrm>
          <a:graphic>
            <a:graphicData uri="http://schemas.openxmlformats.org/presentationml/2006/ole">
              <p:oleObj spid="_x0000_s49154" r:id="rId3" imgW="11885676" imgH="626364" progId="ExeApp.Eleconment.1">
                <p:embed/>
              </p:oleObj>
            </a:graphicData>
          </a:graphic>
        </p:graphicFrame>
        <p:graphicFrame>
          <p:nvGraphicFramePr>
            <p:cNvPr id="2051" name="Object 4"/>
            <p:cNvGraphicFramePr>
              <a:graphicFrameLocks noChangeAspect="1"/>
            </p:cNvGraphicFramePr>
            <p:nvPr/>
          </p:nvGraphicFramePr>
          <p:xfrm>
            <a:off x="762000" y="2209800"/>
            <a:ext cx="7620000" cy="2057400"/>
          </p:xfrm>
          <a:graphic>
            <a:graphicData uri="http://schemas.openxmlformats.org/presentationml/2006/ole">
              <p:oleObj spid="_x0000_s49155" r:id="rId4" imgW="6108192" imgH="1371600" progId="ExeApp.Eleconment.1">
                <p:embed/>
              </p:oleObj>
            </a:graphicData>
          </a:graphic>
        </p:graphicFrame>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5363" name="Rectangle 19"/>
          <p:cNvSpPr>
            <a:spLocks noChangeArrowheads="1"/>
          </p:cNvSpPr>
          <p:nvPr/>
        </p:nvSpPr>
        <p:spPr bwMode="auto">
          <a:xfrm>
            <a:off x="0" y="0"/>
            <a:ext cx="6553200" cy="519113"/>
          </a:xfrm>
          <a:prstGeom prst="rect">
            <a:avLst/>
          </a:prstGeom>
          <a:solidFill>
            <a:srgbClr val="FF99FF"/>
          </a:solidFill>
          <a:ln w="9525">
            <a:noFill/>
            <a:miter lim="800000"/>
          </a:ln>
        </p:spPr>
        <p:txBody>
          <a:bodyPr anchor="ctr">
            <a:spAutoFit/>
          </a:bodyPr>
          <a:lstStyle/>
          <a:p>
            <a:pPr fontAlgn="base">
              <a:spcBef>
                <a:spcPct val="0"/>
              </a:spcBef>
              <a:spcAft>
                <a:spcPct val="0"/>
              </a:spcAft>
              <a:defRPr/>
            </a:pPr>
            <a:r>
              <a:rPr lang="en-US" altLang="zh-CN" sz="2800" b="1" i="1" dirty="0">
                <a:solidFill>
                  <a:srgbClr val="000000"/>
                </a:solidFill>
                <a:latin typeface="Times New Roman" panose="02020603050405020304"/>
              </a:rPr>
              <a:t>2</a:t>
            </a:r>
            <a:r>
              <a:rPr lang="zh-CN" altLang="en-US" sz="2800" b="1" i="1" dirty="0">
                <a:solidFill>
                  <a:srgbClr val="000000"/>
                </a:solidFill>
                <a:latin typeface="Times New Roman" panose="02020603050405020304"/>
              </a:rPr>
              <a:t>、</a:t>
            </a:r>
            <a:r>
              <a:rPr lang="en-US" altLang="zh-CN" sz="2800" b="1" i="1" dirty="0">
                <a:solidFill>
                  <a:srgbClr val="000000"/>
                </a:solidFill>
                <a:latin typeface="Times New Roman" panose="02020603050405020304"/>
              </a:rPr>
              <a:t>  Dalton's  Law  of  Partial  Pressures</a:t>
            </a:r>
          </a:p>
        </p:txBody>
      </p:sp>
      <p:grpSp>
        <p:nvGrpSpPr>
          <p:cNvPr id="2" name="组合 8"/>
          <p:cNvGrpSpPr/>
          <p:nvPr/>
        </p:nvGrpSpPr>
        <p:grpSpPr bwMode="auto">
          <a:xfrm>
            <a:off x="533400" y="609600"/>
            <a:ext cx="8305800" cy="3276600"/>
            <a:chOff x="533400" y="609600"/>
            <a:chExt cx="8305800" cy="3276600"/>
          </a:xfrm>
        </p:grpSpPr>
        <p:sp>
          <p:nvSpPr>
            <p:cNvPr id="13320" name="Rectangle 23"/>
            <p:cNvSpPr>
              <a:spLocks noChangeArrowheads="1"/>
            </p:cNvSpPr>
            <p:nvPr/>
          </p:nvSpPr>
          <p:spPr bwMode="auto">
            <a:xfrm>
              <a:off x="533400" y="1143000"/>
              <a:ext cx="2590800" cy="20764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spcBef>
                  <a:spcPct val="0"/>
                </a:spcBef>
                <a:spcAft>
                  <a:spcPct val="0"/>
                </a:spcAft>
              </a:pPr>
              <a:r>
                <a:rPr lang="en-US" altLang="zh-CN" sz="2600" b="1">
                  <a:solidFill>
                    <a:srgbClr val="000000"/>
                  </a:solidFill>
                  <a:latin typeface="Times New Roman" panose="02020603050405020304" pitchFamily="18" charset="0"/>
                </a:rPr>
                <a:t>John Dalton </a:t>
              </a:r>
            </a:p>
            <a:p>
              <a:pPr fontAlgn="base">
                <a:spcBef>
                  <a:spcPct val="0"/>
                </a:spcBef>
                <a:spcAft>
                  <a:spcPct val="0"/>
                </a:spcAft>
              </a:pPr>
              <a:r>
                <a:rPr lang="en-US" altLang="zh-CN" sz="2600" b="1">
                  <a:solidFill>
                    <a:srgbClr val="000000"/>
                  </a:solidFill>
                  <a:latin typeface="Times New Roman" panose="02020603050405020304" pitchFamily="18" charset="0"/>
                </a:rPr>
                <a:t>(1766-1844) </a:t>
              </a:r>
            </a:p>
            <a:p>
              <a:pPr fontAlgn="base">
                <a:spcBef>
                  <a:spcPct val="0"/>
                </a:spcBef>
                <a:spcAft>
                  <a:spcPct val="0"/>
                </a:spcAft>
              </a:pPr>
              <a:r>
                <a:rPr lang="en-US" altLang="zh-CN" sz="2600" b="1">
                  <a:solidFill>
                    <a:srgbClr val="000000"/>
                  </a:solidFill>
                  <a:latin typeface="Times New Roman" panose="02020603050405020304" pitchFamily="18" charset="0"/>
                </a:rPr>
                <a:t>— ( familiar  with  Dalton's  </a:t>
              </a:r>
              <a:r>
                <a:rPr lang="en-US" altLang="zh-CN" sz="2600" b="1" i="1">
                  <a:solidFill>
                    <a:srgbClr val="000000"/>
                  </a:solidFill>
                  <a:latin typeface="Times New Roman" panose="02020603050405020304" pitchFamily="18" charset="0"/>
                </a:rPr>
                <a:t>atomic theory</a:t>
              </a:r>
              <a:r>
                <a:rPr lang="en-US" altLang="zh-CN" sz="2600" b="1">
                  <a:solidFill>
                    <a:srgbClr val="000000"/>
                  </a:solidFill>
                  <a:latin typeface="Times New Roman" panose="02020603050405020304" pitchFamily="18" charset="0"/>
                </a:rPr>
                <a:t>) </a:t>
              </a:r>
            </a:p>
          </p:txBody>
        </p:sp>
        <p:pic>
          <p:nvPicPr>
            <p:cNvPr id="13321" name="Picture 24" descr="Portrait of John Dalton"/>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505200" y="609600"/>
              <a:ext cx="5334000" cy="3276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grpSp>
        <p:nvGrpSpPr>
          <p:cNvPr id="3" name="组合 7"/>
          <p:cNvGrpSpPr/>
          <p:nvPr/>
        </p:nvGrpSpPr>
        <p:grpSpPr bwMode="auto">
          <a:xfrm>
            <a:off x="228600" y="3994150"/>
            <a:ext cx="8686800" cy="2330450"/>
            <a:chOff x="228600" y="3994150"/>
            <a:chExt cx="8686800" cy="2330450"/>
          </a:xfrm>
        </p:grpSpPr>
        <p:sp>
          <p:nvSpPr>
            <p:cNvPr id="13318" name="Rectangle 21"/>
            <p:cNvSpPr>
              <a:spLocks noChangeArrowheads="1"/>
            </p:cNvSpPr>
            <p:nvPr/>
          </p:nvSpPr>
          <p:spPr bwMode="auto">
            <a:xfrm>
              <a:off x="228600" y="3994150"/>
              <a:ext cx="8686800" cy="137318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spcBef>
                  <a:spcPct val="0"/>
                </a:spcBef>
                <a:spcAft>
                  <a:spcPct val="0"/>
                </a:spcAft>
              </a:pPr>
              <a:r>
                <a:rPr lang="en-US" altLang="zh-CN" sz="2800" b="1" i="1" dirty="0">
                  <a:solidFill>
                    <a:srgbClr val="000000"/>
                  </a:solidFill>
                  <a:latin typeface="Times New Roman" panose="02020603050405020304" pitchFamily="18" charset="0"/>
                </a:rPr>
                <a:t>         </a:t>
              </a:r>
              <a:r>
                <a:rPr lang="en-US" altLang="zh-CN" sz="2800" b="1" i="1" dirty="0">
                  <a:solidFill>
                    <a:srgbClr val="0000FF"/>
                  </a:solidFill>
                  <a:latin typeface="Times New Roman" panose="02020603050405020304" pitchFamily="18" charset="0"/>
                </a:rPr>
                <a:t>The  total  pressure (P</a:t>
              </a:r>
              <a:r>
                <a:rPr lang="en-US" altLang="zh-CN" sz="2800" b="1" i="1" baseline="-25000" dirty="0">
                  <a:solidFill>
                    <a:srgbClr val="0000FF"/>
                  </a:solidFill>
                  <a:latin typeface="Times New Roman" panose="02020603050405020304" pitchFamily="18" charset="0"/>
                </a:rPr>
                <a:t>t </a:t>
              </a:r>
              <a:r>
                <a:rPr lang="en-US" altLang="zh-CN" sz="2800" b="1" i="1" dirty="0">
                  <a:solidFill>
                    <a:srgbClr val="0000FF"/>
                  </a:solidFill>
                  <a:latin typeface="Times New Roman" panose="02020603050405020304" pitchFamily="18" charset="0"/>
                </a:rPr>
                <a:t>)  </a:t>
              </a:r>
              <a:r>
                <a:rPr lang="en-US" altLang="zh-CN" sz="2800" b="1" i="1" dirty="0">
                  <a:solidFill>
                    <a:srgbClr val="000000"/>
                  </a:solidFill>
                  <a:latin typeface="Times New Roman" panose="02020603050405020304" pitchFamily="18" charset="0"/>
                </a:rPr>
                <a:t>of  a  mixture  of  gases  equals  the  sum  of  the  pressures (P</a:t>
              </a:r>
              <a:r>
                <a:rPr lang="en-US" altLang="zh-CN" sz="2800" b="1" i="1" baseline="-25000" dirty="0">
                  <a:solidFill>
                    <a:srgbClr val="000000"/>
                  </a:solidFill>
                  <a:latin typeface="Times New Roman" panose="02020603050405020304" pitchFamily="18" charset="0"/>
                </a:rPr>
                <a:t>1</a:t>
              </a:r>
              <a:r>
                <a:rPr lang="en-US" altLang="zh-CN" sz="2800" b="1" i="1" dirty="0">
                  <a:solidFill>
                    <a:srgbClr val="000000"/>
                  </a:solidFill>
                  <a:latin typeface="Times New Roman" panose="02020603050405020304" pitchFamily="18" charset="0"/>
                </a:rPr>
                <a:t>,P</a:t>
              </a:r>
              <a:r>
                <a:rPr lang="en-US" altLang="zh-CN" sz="2800" b="1" i="1" baseline="-25000" dirty="0">
                  <a:solidFill>
                    <a:srgbClr val="000000"/>
                  </a:solidFill>
                  <a:latin typeface="Times New Roman" panose="02020603050405020304" pitchFamily="18" charset="0"/>
                </a:rPr>
                <a:t>2</a:t>
              </a:r>
              <a:r>
                <a:rPr lang="en-US" altLang="zh-CN" sz="2800" b="1" i="1" dirty="0">
                  <a:solidFill>
                    <a:srgbClr val="000000"/>
                  </a:solidFill>
                  <a:latin typeface="Times New Roman" panose="02020603050405020304" pitchFamily="18" charset="0"/>
                </a:rPr>
                <a:t>,P</a:t>
              </a:r>
              <a:r>
                <a:rPr lang="en-US" altLang="zh-CN" sz="2800" b="1" i="1" baseline="-25000" dirty="0">
                  <a:solidFill>
                    <a:srgbClr val="000000"/>
                  </a:solidFill>
                  <a:latin typeface="Times New Roman" panose="02020603050405020304" pitchFamily="18" charset="0"/>
                </a:rPr>
                <a:t>3</a:t>
              </a:r>
              <a:r>
                <a:rPr lang="en-US" altLang="zh-CN" sz="2800" b="1" i="1" dirty="0">
                  <a:solidFill>
                    <a:srgbClr val="000000"/>
                  </a:solidFill>
                  <a:latin typeface="Times New Roman" panose="02020603050405020304" pitchFamily="18" charset="0"/>
                </a:rPr>
                <a:t>, …)  that  each  would  exert  if  it  were  present  alone.</a:t>
              </a:r>
            </a:p>
          </p:txBody>
        </p:sp>
        <p:sp>
          <p:nvSpPr>
            <p:cNvPr id="13319" name="Rectangle 22"/>
            <p:cNvSpPr>
              <a:spLocks noChangeArrowheads="1"/>
            </p:cNvSpPr>
            <p:nvPr/>
          </p:nvSpPr>
          <p:spPr bwMode="auto">
            <a:xfrm>
              <a:off x="1524000" y="5410200"/>
              <a:ext cx="3505200" cy="549275"/>
            </a:xfrm>
            <a:prstGeom prst="rect">
              <a:avLst/>
            </a:prstGeom>
            <a:solidFill>
              <a:srgbClr val="FF99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algn="ctr" fontAlgn="base">
                <a:spcBef>
                  <a:spcPct val="0"/>
                </a:spcBef>
                <a:spcAft>
                  <a:spcPct val="0"/>
                </a:spcAft>
              </a:pPr>
              <a:r>
                <a:rPr lang="en-US" altLang="zh-CN" sz="3000" b="1" i="1">
                  <a:solidFill>
                    <a:srgbClr val="000000"/>
                  </a:solidFill>
                  <a:latin typeface="Times New Roman" panose="02020603050405020304" pitchFamily="18" charset="0"/>
                </a:rPr>
                <a:t>p</a:t>
              </a:r>
              <a:r>
                <a:rPr lang="en-US" altLang="zh-CN" sz="3000" b="1" i="1" baseline="-25000">
                  <a:solidFill>
                    <a:srgbClr val="000000"/>
                  </a:solidFill>
                  <a:latin typeface="Times New Roman" panose="02020603050405020304" pitchFamily="18" charset="0"/>
                </a:rPr>
                <a:t>t</a:t>
              </a:r>
              <a:r>
                <a:rPr lang="en-US" altLang="zh-CN" sz="3000">
                  <a:solidFill>
                    <a:srgbClr val="000000"/>
                  </a:solidFill>
                  <a:latin typeface="Times New Roman" panose="02020603050405020304" pitchFamily="18" charset="0"/>
                </a:rPr>
                <a:t> </a:t>
              </a:r>
              <a:r>
                <a:rPr lang="en-US" altLang="zh-CN" sz="3000" b="1" i="1">
                  <a:solidFill>
                    <a:srgbClr val="000000"/>
                  </a:solidFill>
                  <a:latin typeface="Times New Roman" panose="02020603050405020304" pitchFamily="18" charset="0"/>
                </a:rPr>
                <a:t>=</a:t>
              </a:r>
              <a:r>
                <a:rPr lang="en-US" altLang="zh-CN" sz="3000">
                  <a:solidFill>
                    <a:srgbClr val="000000"/>
                  </a:solidFill>
                  <a:latin typeface="Times New Roman" panose="02020603050405020304" pitchFamily="18" charset="0"/>
                </a:rPr>
                <a:t> </a:t>
              </a:r>
              <a:r>
                <a:rPr lang="en-US" altLang="zh-CN" sz="3000" b="1" i="1">
                  <a:solidFill>
                    <a:srgbClr val="000000"/>
                  </a:solidFill>
                  <a:latin typeface="Times New Roman" panose="02020603050405020304" pitchFamily="18" charset="0"/>
                </a:rPr>
                <a:t>p</a:t>
              </a:r>
              <a:r>
                <a:rPr lang="en-US" altLang="zh-CN" sz="3000" b="1" i="1" baseline="-25000">
                  <a:solidFill>
                    <a:srgbClr val="000000"/>
                  </a:solidFill>
                  <a:latin typeface="Times New Roman" panose="02020603050405020304" pitchFamily="18" charset="0"/>
                </a:rPr>
                <a:t>1</a:t>
              </a:r>
              <a:r>
                <a:rPr lang="en-US" altLang="zh-CN" sz="3000" b="1" i="1">
                  <a:solidFill>
                    <a:srgbClr val="000000"/>
                  </a:solidFill>
                  <a:latin typeface="Times New Roman" panose="02020603050405020304" pitchFamily="18" charset="0"/>
                </a:rPr>
                <a:t> + p</a:t>
              </a:r>
              <a:r>
                <a:rPr lang="en-US" altLang="zh-CN" sz="3000" b="1" i="1" baseline="-25000">
                  <a:solidFill>
                    <a:srgbClr val="000000"/>
                  </a:solidFill>
                  <a:latin typeface="Times New Roman" panose="02020603050405020304" pitchFamily="18" charset="0"/>
                </a:rPr>
                <a:t>2</a:t>
              </a:r>
              <a:r>
                <a:rPr lang="en-US" altLang="zh-CN" sz="3000" b="1" i="1">
                  <a:solidFill>
                    <a:srgbClr val="000000"/>
                  </a:solidFill>
                  <a:latin typeface="Times New Roman" panose="02020603050405020304" pitchFamily="18" charset="0"/>
                </a:rPr>
                <a:t> + p</a:t>
              </a:r>
              <a:r>
                <a:rPr lang="en-US" altLang="zh-CN" sz="3000" b="1" i="1" baseline="-25000">
                  <a:solidFill>
                    <a:srgbClr val="000000"/>
                  </a:solidFill>
                  <a:latin typeface="Times New Roman" panose="02020603050405020304" pitchFamily="18" charset="0"/>
                </a:rPr>
                <a:t>3</a:t>
              </a:r>
              <a:r>
                <a:rPr lang="en-US" altLang="zh-CN" sz="3000" b="1" i="1">
                  <a:solidFill>
                    <a:srgbClr val="000000"/>
                  </a:solidFill>
                  <a:latin typeface="Times New Roman" panose="02020603050405020304" pitchFamily="18" charset="0"/>
                </a:rPr>
                <a:t> + ...</a:t>
              </a:r>
              <a:r>
                <a:rPr lang="en-US" altLang="zh-CN" sz="3000">
                  <a:solidFill>
                    <a:srgbClr val="000000"/>
                  </a:solidFill>
                  <a:latin typeface="Times New Roman" panose="02020603050405020304" pitchFamily="18" charset="0"/>
                </a:rPr>
                <a:t> </a:t>
              </a:r>
            </a:p>
          </p:txBody>
        </p:sp>
        <p:graphicFrame>
          <p:nvGraphicFramePr>
            <p:cNvPr id="13314" name="Object 9"/>
            <p:cNvGraphicFramePr>
              <a:graphicFrameLocks noChangeAspect="1"/>
            </p:cNvGraphicFramePr>
            <p:nvPr/>
          </p:nvGraphicFramePr>
          <p:xfrm>
            <a:off x="5715000" y="5334000"/>
            <a:ext cx="1828800" cy="990600"/>
          </p:xfrm>
          <a:graphic>
            <a:graphicData uri="http://schemas.openxmlformats.org/presentationml/2006/ole">
              <p:oleObj spid="_x0000_s35841" name="CS ChemDraw Drawing" r:id="rId4" imgW="16830675" imgH="9486900" progId="ExeApp.Eleconment.1">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85363"/>
                                        </p:tgtEl>
                                        <p:attrNameLst>
                                          <p:attrName>style.visibility</p:attrName>
                                        </p:attrNameLst>
                                      </p:cBhvr>
                                      <p:to>
                                        <p:strVal val="visible"/>
                                      </p:to>
                                    </p:set>
                                    <p:animEffect transition="in" filter="diamond(in)">
                                      <p:cBhvr>
                                        <p:cTn id="7" dur="500"/>
                                        <p:tgtEl>
                                          <p:spTgt spid="1853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6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215061" name="Picture 21" descr="IMG00005"/>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000232" y="142852"/>
            <a:ext cx="3810000"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5062" name="Rectangle 22"/>
          <p:cNvSpPr>
            <a:spLocks noChangeArrowheads="1"/>
          </p:cNvSpPr>
          <p:nvPr/>
        </p:nvSpPr>
        <p:spPr bwMode="auto">
          <a:xfrm>
            <a:off x="500034" y="1142984"/>
            <a:ext cx="8229600" cy="12827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spcBef>
                <a:spcPct val="0"/>
              </a:spcBef>
              <a:spcAft>
                <a:spcPct val="0"/>
              </a:spcAft>
            </a:pPr>
            <a:r>
              <a:rPr lang="en-US" altLang="zh-CN" sz="2600" b="1" i="1" dirty="0">
                <a:solidFill>
                  <a:srgbClr val="000000"/>
                </a:solidFill>
                <a:latin typeface="Times New Roman" panose="02020603050405020304" pitchFamily="18" charset="0"/>
              </a:rPr>
              <a:t>          </a:t>
            </a:r>
            <a:r>
              <a:rPr lang="en-US" altLang="zh-CN" sz="2600" b="1" i="1" dirty="0">
                <a:solidFill>
                  <a:srgbClr val="C00000"/>
                </a:solidFill>
                <a:latin typeface="Times New Roman" panose="02020603050405020304" pitchFamily="18" charset="0"/>
              </a:rPr>
              <a:t>At  constant  temperature  and  volume</a:t>
            </a:r>
            <a:r>
              <a:rPr lang="en-US" altLang="zh-CN" sz="2600" b="1" i="1" dirty="0">
                <a:solidFill>
                  <a:srgbClr val="000000"/>
                </a:solidFill>
                <a:latin typeface="Times New Roman" panose="02020603050405020304" pitchFamily="18" charset="0"/>
              </a:rPr>
              <a:t>,  the  total  pressure  of  a  gas  sample  is determined  by  the  total  number  of  moles  of  gas  present</a:t>
            </a:r>
            <a:r>
              <a:rPr lang="en-US" altLang="zh-CN" sz="2600" b="1" dirty="0">
                <a:solidFill>
                  <a:srgbClr val="000000"/>
                </a:solidFill>
                <a:latin typeface="Times New Roman" panose="02020603050405020304" pitchFamily="18" charset="0"/>
              </a:rPr>
              <a:t> .</a:t>
            </a:r>
          </a:p>
        </p:txBody>
      </p:sp>
      <p:pic>
        <p:nvPicPr>
          <p:cNvPr id="5" name="Picture 24" descr="IMG00009"/>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928926" y="2714620"/>
            <a:ext cx="2743200" cy="1219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21"/>
          <p:cNvSpPr>
            <a:spLocks noChangeArrowheads="1"/>
          </p:cNvSpPr>
          <p:nvPr/>
        </p:nvSpPr>
        <p:spPr bwMode="auto">
          <a:xfrm>
            <a:off x="457200" y="4038600"/>
            <a:ext cx="8229600" cy="8858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en-US" altLang="zh-CN" sz="2600" b="1">
                <a:solidFill>
                  <a:srgbClr val="000000"/>
                </a:solidFill>
                <a:latin typeface="Times New Roman" panose="02020603050405020304" pitchFamily="18" charset="0"/>
              </a:rPr>
              <a:t>          The  value  ( n</a:t>
            </a:r>
            <a:r>
              <a:rPr lang="en-US" altLang="zh-CN" sz="2600" b="1" baseline="-25000">
                <a:solidFill>
                  <a:srgbClr val="000000"/>
                </a:solidFill>
                <a:latin typeface="Times New Roman" panose="02020603050405020304" pitchFamily="18" charset="0"/>
              </a:rPr>
              <a:t>1 </a:t>
            </a:r>
            <a:r>
              <a:rPr lang="en-US" altLang="zh-CN" sz="2600" b="1">
                <a:solidFill>
                  <a:srgbClr val="000000"/>
                </a:solidFill>
                <a:latin typeface="Times New Roman" panose="02020603050405020304" pitchFamily="18" charset="0"/>
              </a:rPr>
              <a:t>/ n</a:t>
            </a:r>
            <a:r>
              <a:rPr lang="en-US" altLang="zh-CN" sz="2600" b="1" baseline="-25000">
                <a:solidFill>
                  <a:srgbClr val="000000"/>
                </a:solidFill>
                <a:latin typeface="Times New Roman" panose="02020603050405020304" pitchFamily="18" charset="0"/>
              </a:rPr>
              <a:t>t </a:t>
            </a:r>
            <a:r>
              <a:rPr lang="en-US" altLang="zh-CN" sz="2600" b="1">
                <a:solidFill>
                  <a:srgbClr val="000000"/>
                </a:solidFill>
                <a:latin typeface="Times New Roman" panose="02020603050405020304" pitchFamily="18" charset="0"/>
              </a:rPr>
              <a:t>)  is  termed  the  </a:t>
            </a:r>
            <a:r>
              <a:rPr lang="en-US" altLang="zh-CN" sz="2600" b="1" i="1">
                <a:solidFill>
                  <a:srgbClr val="C00000"/>
                </a:solidFill>
                <a:latin typeface="Times New Roman" panose="02020603050405020304" pitchFamily="18" charset="0"/>
              </a:rPr>
              <a:t>mole  fraction (X)  </a:t>
            </a:r>
            <a:r>
              <a:rPr lang="en-US" altLang="zh-CN" sz="2600" b="1">
                <a:solidFill>
                  <a:srgbClr val="000000"/>
                </a:solidFill>
                <a:latin typeface="Times New Roman" panose="02020603050405020304" pitchFamily="18" charset="0"/>
              </a:rPr>
              <a:t>of  the  component  gas.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61"/>
                                        </p:tgtEl>
                                        <p:attrNameLst>
                                          <p:attrName>style.visibility</p:attrName>
                                        </p:attrNameLst>
                                      </p:cBhvr>
                                      <p:to>
                                        <p:strVal val="visible"/>
                                      </p:to>
                                    </p:set>
                                    <p:animEffect transition="in" filter="blinds(horizontal)">
                                      <p:cBhvr>
                                        <p:cTn id="7" dur="500"/>
                                        <p:tgtEl>
                                          <p:spTgt spid="2150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62"/>
                                        </p:tgtEl>
                                        <p:attrNameLst>
                                          <p:attrName>style.visibility</p:attrName>
                                        </p:attrNameLst>
                                      </p:cBhvr>
                                      <p:to>
                                        <p:strVal val="visible"/>
                                      </p:to>
                                    </p:set>
                                    <p:animEffect transition="in" filter="blinds(horizontal)">
                                      <p:cBhvr>
                                        <p:cTn id="12" dur="500"/>
                                        <p:tgtEl>
                                          <p:spTgt spid="21506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amond(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amond(i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2"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组合 6"/>
          <p:cNvGrpSpPr/>
          <p:nvPr/>
        </p:nvGrpSpPr>
        <p:grpSpPr bwMode="auto">
          <a:xfrm>
            <a:off x="228600" y="152400"/>
            <a:ext cx="8534400" cy="3489325"/>
            <a:chOff x="228600" y="152400"/>
            <a:chExt cx="8534400" cy="3489325"/>
          </a:xfrm>
        </p:grpSpPr>
        <p:sp>
          <p:nvSpPr>
            <p:cNvPr id="75782" name="Rectangle 10"/>
            <p:cNvSpPr>
              <a:spLocks noChangeArrowheads="1"/>
            </p:cNvSpPr>
            <p:nvPr/>
          </p:nvSpPr>
          <p:spPr bwMode="auto">
            <a:xfrm>
              <a:off x="1219200" y="152400"/>
              <a:ext cx="7315200" cy="24003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eaLnBrk="0" fontAlgn="base" hangingPunct="0">
                <a:lnSpc>
                  <a:spcPts val="3600"/>
                </a:lnSpc>
                <a:spcBef>
                  <a:spcPct val="0"/>
                </a:spcBef>
                <a:spcAft>
                  <a:spcPct val="0"/>
                </a:spcAft>
              </a:pPr>
              <a:r>
                <a:rPr lang="en-US" altLang="zh-CN" sz="2600" b="1" i="1" dirty="0">
                  <a:solidFill>
                    <a:srgbClr val="000000"/>
                  </a:solidFill>
                  <a:latin typeface="Times New Roman" panose="02020603050405020304" pitchFamily="18" charset="0"/>
                  <a:cs typeface="Arial" panose="020B0604020202020204" pitchFamily="34" charset="0"/>
                </a:rPr>
                <a:t>        A  gaseous  mixture  made  from  10g  of  oxygen  and  10g  of  methane  is  placed  in  a  10L  vessel  at  0°C. </a:t>
              </a:r>
            </a:p>
            <a:p>
              <a:pPr eaLnBrk="0" fontAlgn="base" hangingPunct="0">
                <a:lnSpc>
                  <a:spcPts val="3600"/>
                </a:lnSpc>
                <a:spcBef>
                  <a:spcPct val="0"/>
                </a:spcBef>
                <a:spcAft>
                  <a:spcPct val="0"/>
                </a:spcAft>
              </a:pPr>
              <a:r>
                <a:rPr lang="en-US" altLang="zh-CN" sz="2600" b="1" i="1" dirty="0">
                  <a:solidFill>
                    <a:srgbClr val="000000"/>
                  </a:solidFill>
                  <a:latin typeface="Times New Roman" panose="02020603050405020304" pitchFamily="18" charset="0"/>
                  <a:cs typeface="Arial" panose="020B0604020202020204" pitchFamily="34" charset="0"/>
                </a:rPr>
                <a:t>        What  is  the  partial  pressure  of  each  gas,  and  what  is  the  total  pressure  in  the  vessel?</a:t>
              </a:r>
              <a:endParaRPr lang="en-US" altLang="zh-CN" sz="2600" b="1" i="1" dirty="0">
                <a:solidFill>
                  <a:srgbClr val="000000"/>
                </a:solidFill>
                <a:latin typeface="Times New Roman" panose="02020603050405020304" pitchFamily="18" charset="0"/>
              </a:endParaRPr>
            </a:p>
          </p:txBody>
        </p:sp>
        <p:sp>
          <p:nvSpPr>
            <p:cNvPr id="75783" name="Rectangle 11"/>
            <p:cNvSpPr>
              <a:spLocks noChangeArrowheads="1"/>
            </p:cNvSpPr>
            <p:nvPr/>
          </p:nvSpPr>
          <p:spPr bwMode="auto">
            <a:xfrm>
              <a:off x="228600" y="228600"/>
              <a:ext cx="1695450" cy="517525"/>
            </a:xfrm>
            <a:prstGeom prst="rect">
              <a:avLst/>
            </a:prstGeom>
            <a:gradFill rotWithShape="1">
              <a:gsLst>
                <a:gs pos="0">
                  <a:srgbClr val="182F76"/>
                </a:gs>
                <a:gs pos="50000">
                  <a:srgbClr val="3366FF"/>
                </a:gs>
                <a:gs pos="100000">
                  <a:srgbClr val="182F76"/>
                </a:gs>
              </a:gsLst>
              <a:lin ang="540000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fontAlgn="base">
                <a:lnSpc>
                  <a:spcPts val="3600"/>
                </a:lnSpc>
                <a:spcBef>
                  <a:spcPct val="0"/>
                </a:spcBef>
                <a:spcAft>
                  <a:spcPct val="0"/>
                </a:spcAft>
              </a:pPr>
              <a:r>
                <a:rPr lang="en-US" altLang="zh-CN" sz="2600" b="1">
                  <a:solidFill>
                    <a:srgbClr val="FF5050"/>
                  </a:solidFill>
                  <a:latin typeface="Times New Roman" panose="02020603050405020304" pitchFamily="18" charset="0"/>
                </a:rPr>
                <a:t>Example 1</a:t>
              </a:r>
            </a:p>
          </p:txBody>
        </p:sp>
        <p:sp>
          <p:nvSpPr>
            <p:cNvPr id="75784" name="Rectangle 14"/>
            <p:cNvSpPr>
              <a:spLocks noChangeArrowheads="1"/>
            </p:cNvSpPr>
            <p:nvPr/>
          </p:nvSpPr>
          <p:spPr bwMode="auto">
            <a:xfrm>
              <a:off x="685800" y="2667000"/>
              <a:ext cx="8077200" cy="9747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lang="en-US" altLang="zh-CN" sz="2600" b="1" i="1">
                  <a:solidFill>
                    <a:srgbClr val="0000FF"/>
                  </a:solidFill>
                  <a:latin typeface="Times New Roman" panose="02020603050405020304" pitchFamily="18" charset="0"/>
                  <a:ea typeface="楷体_GB2312" pitchFamily="49" charset="-122"/>
                </a:rPr>
                <a:t>       </a:t>
              </a:r>
              <a:r>
                <a:rPr lang="zh-CN" altLang="en-US" sz="2600" b="1" i="1">
                  <a:solidFill>
                    <a:srgbClr val="0000FF"/>
                  </a:solidFill>
                  <a:latin typeface="Times New Roman" panose="02020603050405020304" pitchFamily="18" charset="0"/>
                  <a:ea typeface="楷体_GB2312" pitchFamily="49" charset="-122"/>
                </a:rPr>
                <a:t>已知：</a:t>
              </a:r>
              <a:r>
                <a:rPr lang="en-US" altLang="zh-CN" sz="2600" b="1" i="1">
                  <a:solidFill>
                    <a:srgbClr val="0000FF"/>
                  </a:solidFill>
                  <a:latin typeface="Times New Roman" panose="02020603050405020304" pitchFamily="18" charset="0"/>
                  <a:ea typeface="楷体_GB2312" pitchFamily="49" charset="-122"/>
                </a:rPr>
                <a:t>V=10 L, T</a:t>
              </a:r>
              <a:r>
                <a:rPr lang="en-US" altLang="zh-CN" sz="2600" b="1" i="1">
                  <a:solidFill>
                    <a:srgbClr val="0000FF"/>
                  </a:solidFill>
                  <a:latin typeface="Times New Roman" panose="02020603050405020304" pitchFamily="18" charset="0"/>
                </a:rPr>
                <a:t>=273K</a:t>
              </a:r>
              <a:r>
                <a:rPr lang="zh-CN" altLang="en-US" sz="2600" b="1" i="1">
                  <a:solidFill>
                    <a:srgbClr val="0000FF"/>
                  </a:solidFill>
                  <a:latin typeface="Times New Roman" panose="02020603050405020304" pitchFamily="18" charset="0"/>
                </a:rPr>
                <a:t>，</a:t>
              </a:r>
              <a:r>
                <a:rPr lang="en-US" altLang="zh-CN" sz="2600" b="1" i="1">
                  <a:solidFill>
                    <a:srgbClr val="0000FF"/>
                  </a:solidFill>
                  <a:latin typeface="Times New Roman" panose="02020603050405020304" pitchFamily="18" charset="0"/>
                  <a:ea typeface="楷体_GB2312" pitchFamily="49" charset="-122"/>
                </a:rPr>
                <a:t>m(O</a:t>
              </a:r>
              <a:r>
                <a:rPr lang="en-US" altLang="zh-CN" sz="2600" b="1" i="1" baseline="-25000">
                  <a:solidFill>
                    <a:srgbClr val="0000FF"/>
                  </a:solidFill>
                  <a:latin typeface="Times New Roman" panose="02020603050405020304" pitchFamily="18" charset="0"/>
                  <a:ea typeface="楷体_GB2312" pitchFamily="49" charset="-122"/>
                </a:rPr>
                <a:t>2</a:t>
              </a:r>
              <a:r>
                <a:rPr lang="en-US" altLang="zh-CN" sz="2600" b="1" i="1">
                  <a:solidFill>
                    <a:srgbClr val="0000FF"/>
                  </a:solidFill>
                  <a:latin typeface="Times New Roman" panose="02020603050405020304" pitchFamily="18" charset="0"/>
                  <a:ea typeface="楷体_GB2312" pitchFamily="49" charset="-122"/>
                </a:rPr>
                <a:t>)=10g,  m(CH</a:t>
              </a:r>
              <a:r>
                <a:rPr lang="en-US" altLang="zh-CN" sz="2600" b="1" i="1" baseline="-25000">
                  <a:solidFill>
                    <a:srgbClr val="0000FF"/>
                  </a:solidFill>
                  <a:latin typeface="Times New Roman" panose="02020603050405020304" pitchFamily="18" charset="0"/>
                  <a:ea typeface="楷体_GB2312" pitchFamily="49" charset="-122"/>
                </a:rPr>
                <a:t>4</a:t>
              </a:r>
              <a:r>
                <a:rPr lang="en-US" altLang="zh-CN" sz="2600" b="1" i="1">
                  <a:solidFill>
                    <a:srgbClr val="0000FF"/>
                  </a:solidFill>
                  <a:latin typeface="Times New Roman" panose="02020603050405020304" pitchFamily="18" charset="0"/>
                  <a:ea typeface="楷体_GB2312" pitchFamily="49" charset="-122"/>
                </a:rPr>
                <a:t>)=10g</a:t>
              </a:r>
            </a:p>
            <a:p>
              <a:pPr fontAlgn="base">
                <a:lnSpc>
                  <a:spcPts val="3600"/>
                </a:lnSpc>
                <a:spcBef>
                  <a:spcPct val="0"/>
                </a:spcBef>
                <a:spcAft>
                  <a:spcPct val="0"/>
                </a:spcAft>
              </a:pPr>
              <a:r>
                <a:rPr lang="en-US" altLang="zh-CN" sz="2600" b="1" i="1">
                  <a:solidFill>
                    <a:srgbClr val="0000FF"/>
                  </a:solidFill>
                  <a:latin typeface="Times New Roman" panose="02020603050405020304" pitchFamily="18" charset="0"/>
                  <a:ea typeface="楷体_GB2312" pitchFamily="49" charset="-122"/>
                </a:rPr>
                <a:t>        </a:t>
              </a:r>
              <a:r>
                <a:rPr lang="zh-CN" altLang="en-US" sz="2600" b="1" i="1">
                  <a:solidFill>
                    <a:srgbClr val="0000FF"/>
                  </a:solidFill>
                  <a:latin typeface="Times New Roman" panose="02020603050405020304" pitchFamily="18" charset="0"/>
                  <a:ea typeface="楷体_GB2312" pitchFamily="49" charset="-122"/>
                </a:rPr>
                <a:t>求</a:t>
              </a:r>
              <a:r>
                <a:rPr lang="en-US" altLang="zh-CN" sz="2600" b="1" i="1">
                  <a:solidFill>
                    <a:srgbClr val="0000FF"/>
                  </a:solidFill>
                  <a:latin typeface="Times New Roman" panose="02020603050405020304" pitchFamily="18" charset="0"/>
                  <a:ea typeface="楷体_GB2312" pitchFamily="49" charset="-122"/>
                </a:rPr>
                <a:t>:    p</a:t>
              </a:r>
              <a:r>
                <a:rPr lang="en-US" altLang="zh-CN" sz="2600" b="1" i="1" baseline="-25000">
                  <a:solidFill>
                    <a:srgbClr val="0000FF"/>
                  </a:solidFill>
                  <a:latin typeface="Times New Roman" panose="02020603050405020304" pitchFamily="18" charset="0"/>
                  <a:ea typeface="楷体_GB2312" pitchFamily="49" charset="-122"/>
                </a:rPr>
                <a:t>O2</a:t>
              </a:r>
              <a:r>
                <a:rPr lang="zh-CN" altLang="en-US" sz="2600" b="1" i="1">
                  <a:solidFill>
                    <a:srgbClr val="0000FF"/>
                  </a:solidFill>
                  <a:latin typeface="Times New Roman" panose="02020603050405020304" pitchFamily="18" charset="0"/>
                  <a:ea typeface="楷体_GB2312" pitchFamily="49" charset="-122"/>
                </a:rPr>
                <a:t>、   </a:t>
              </a:r>
              <a:r>
                <a:rPr lang="en-US" altLang="zh-CN" sz="2600" b="1" i="1">
                  <a:solidFill>
                    <a:srgbClr val="0000FF"/>
                  </a:solidFill>
                  <a:latin typeface="Times New Roman" panose="02020603050405020304" pitchFamily="18" charset="0"/>
                  <a:ea typeface="楷体_GB2312" pitchFamily="49" charset="-122"/>
                </a:rPr>
                <a:t>p</a:t>
              </a:r>
              <a:r>
                <a:rPr lang="en-US" altLang="zh-CN" sz="2600" b="1" i="1" baseline="-25000">
                  <a:solidFill>
                    <a:srgbClr val="0000FF"/>
                  </a:solidFill>
                  <a:latin typeface="Times New Roman" panose="02020603050405020304" pitchFamily="18" charset="0"/>
                  <a:ea typeface="楷体_GB2312" pitchFamily="49" charset="-122"/>
                </a:rPr>
                <a:t>CH4</a:t>
              </a:r>
              <a:r>
                <a:rPr lang="en-US" altLang="zh-CN" sz="2600" b="1" i="1">
                  <a:solidFill>
                    <a:srgbClr val="0000FF"/>
                  </a:solidFill>
                  <a:latin typeface="Times New Roman" panose="02020603050405020304" pitchFamily="18" charset="0"/>
                  <a:ea typeface="楷体_GB2312" pitchFamily="49" charset="-122"/>
                </a:rPr>
                <a:t>   and   p</a:t>
              </a:r>
              <a:r>
                <a:rPr lang="en-US" altLang="zh-CN" sz="2600" b="1" i="1" baseline="-25000">
                  <a:solidFill>
                    <a:srgbClr val="0000FF"/>
                  </a:solidFill>
                  <a:latin typeface="Times New Roman" panose="02020603050405020304" pitchFamily="18" charset="0"/>
                  <a:ea typeface="楷体_GB2312" pitchFamily="49" charset="-122"/>
                </a:rPr>
                <a:t>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组合 6"/>
          <p:cNvGrpSpPr/>
          <p:nvPr/>
        </p:nvGrpSpPr>
        <p:grpSpPr bwMode="auto">
          <a:xfrm>
            <a:off x="0" y="0"/>
            <a:ext cx="8991600" cy="3489325"/>
            <a:chOff x="0" y="0"/>
            <a:chExt cx="8991600" cy="3489325"/>
          </a:xfrm>
        </p:grpSpPr>
        <p:sp>
          <p:nvSpPr>
            <p:cNvPr id="77830" name="Rectangle 7"/>
            <p:cNvSpPr>
              <a:spLocks noChangeArrowheads="1"/>
            </p:cNvSpPr>
            <p:nvPr/>
          </p:nvSpPr>
          <p:spPr bwMode="auto">
            <a:xfrm>
              <a:off x="76200" y="533400"/>
              <a:ext cx="8915400" cy="19018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pPr fontAlgn="base">
                <a:lnSpc>
                  <a:spcPts val="3600"/>
                </a:lnSpc>
                <a:spcBef>
                  <a:spcPct val="0"/>
                </a:spcBef>
                <a:spcAft>
                  <a:spcPct val="0"/>
                </a:spcAft>
              </a:pPr>
              <a:r>
                <a:rPr lang="en-US" altLang="zh-CN" sz="2600" b="1" i="1" dirty="0">
                  <a:solidFill>
                    <a:srgbClr val="000000"/>
                  </a:solidFill>
                  <a:latin typeface="Times New Roman" panose="02020603050405020304" pitchFamily="18" charset="0"/>
                </a:rPr>
                <a:t>         A  sample  of  hydrogen  gas  is  collected  over  water  at  14.0</a:t>
              </a:r>
              <a:r>
                <a:rPr lang="en-US" altLang="zh-CN" sz="2600" b="1" i="1" baseline="30000" dirty="0">
                  <a:solidFill>
                    <a:srgbClr val="000000"/>
                  </a:solidFill>
                  <a:latin typeface="Times New Roman" panose="02020603050405020304" pitchFamily="18" charset="0"/>
                </a:rPr>
                <a:t> </a:t>
              </a:r>
              <a:r>
                <a:rPr lang="en-US" altLang="zh-CN" sz="2600" b="1" i="1" baseline="30000" dirty="0" err="1">
                  <a:solidFill>
                    <a:srgbClr val="000000"/>
                  </a:solidFill>
                  <a:latin typeface="Times New Roman" panose="02020603050405020304" pitchFamily="18" charset="0"/>
                </a:rPr>
                <a:t>o</a:t>
              </a:r>
              <a:r>
                <a:rPr lang="en-US" altLang="zh-CN" sz="2600" b="1" i="1" dirty="0" err="1">
                  <a:solidFill>
                    <a:srgbClr val="000000"/>
                  </a:solidFill>
                  <a:latin typeface="Times New Roman" panose="02020603050405020304" pitchFamily="18" charset="0"/>
                </a:rPr>
                <a:t>C.</a:t>
              </a:r>
              <a:r>
                <a:rPr lang="en-US" altLang="zh-CN" sz="2600" b="1" i="1" dirty="0">
                  <a:solidFill>
                    <a:srgbClr val="000000"/>
                  </a:solidFill>
                  <a:latin typeface="Times New Roman" panose="02020603050405020304" pitchFamily="18" charset="0"/>
                </a:rPr>
                <a:t>  The  pressure  of  the  resultant  mixture  is  101.6 </a:t>
              </a:r>
              <a:r>
                <a:rPr lang="en-US" altLang="zh-CN" sz="2600" b="1" i="1" dirty="0" err="1">
                  <a:solidFill>
                    <a:srgbClr val="000000"/>
                  </a:solidFill>
                  <a:latin typeface="Times New Roman" panose="02020603050405020304" pitchFamily="18" charset="0"/>
                </a:rPr>
                <a:t>kPa</a:t>
              </a:r>
              <a:r>
                <a:rPr lang="en-US" altLang="zh-CN" sz="2600" b="1" i="1" dirty="0">
                  <a:solidFill>
                    <a:srgbClr val="000000"/>
                  </a:solidFill>
                  <a:latin typeface="Times New Roman" panose="02020603050405020304" pitchFamily="18" charset="0"/>
                </a:rPr>
                <a:t> (V=1.0L) . What  are  the  pressure and  the  mol number  of  the  dry  hydrogen  at  the  same  temperature?</a:t>
              </a:r>
            </a:p>
          </p:txBody>
        </p:sp>
        <p:sp>
          <p:nvSpPr>
            <p:cNvPr id="77831" name="Rectangle 10"/>
            <p:cNvSpPr>
              <a:spLocks noChangeArrowheads="1"/>
            </p:cNvSpPr>
            <p:nvPr/>
          </p:nvSpPr>
          <p:spPr bwMode="auto">
            <a:xfrm>
              <a:off x="0" y="0"/>
              <a:ext cx="2176463" cy="488950"/>
            </a:xfrm>
            <a:prstGeom prst="rect">
              <a:avLst/>
            </a:prstGeom>
            <a:gradFill rotWithShape="1">
              <a:gsLst>
                <a:gs pos="0">
                  <a:srgbClr val="182F76"/>
                </a:gs>
                <a:gs pos="50000">
                  <a:srgbClr val="3366FF"/>
                </a:gs>
                <a:gs pos="100000">
                  <a:srgbClr val="182F76"/>
                </a:gs>
              </a:gsLst>
              <a:lin ang="540000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2600" b="1">
                  <a:solidFill>
                    <a:srgbClr val="FF5050"/>
                  </a:solidFill>
                  <a:latin typeface="Times New Roman" panose="02020603050405020304" pitchFamily="18" charset="0"/>
                </a:rPr>
                <a:t>Example 2</a:t>
              </a:r>
              <a:r>
                <a:rPr lang="zh-CN" altLang="en-US" sz="2600" b="1">
                  <a:solidFill>
                    <a:srgbClr val="FF5050"/>
                  </a:solidFill>
                  <a:latin typeface="Times New Roman" panose="02020603050405020304" pitchFamily="18" charset="0"/>
                </a:rPr>
                <a:t>：  </a:t>
              </a:r>
            </a:p>
          </p:txBody>
        </p:sp>
        <p:sp>
          <p:nvSpPr>
            <p:cNvPr id="77832" name="Rectangle 12"/>
            <p:cNvSpPr>
              <a:spLocks noChangeArrowheads="1"/>
            </p:cNvSpPr>
            <p:nvPr/>
          </p:nvSpPr>
          <p:spPr bwMode="auto">
            <a:xfrm>
              <a:off x="152400" y="2514600"/>
              <a:ext cx="8686800" cy="9747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fontAlgn="base">
                <a:lnSpc>
                  <a:spcPts val="3600"/>
                </a:lnSpc>
                <a:spcBef>
                  <a:spcPct val="0"/>
                </a:spcBef>
                <a:spcAft>
                  <a:spcPct val="0"/>
                </a:spcAft>
              </a:pPr>
              <a:r>
                <a:rPr lang="zh-CN" altLang="en-US" sz="2600" b="1" i="1">
                  <a:solidFill>
                    <a:srgbClr val="0000FF"/>
                  </a:solidFill>
                  <a:latin typeface="Times New Roman" panose="02020603050405020304" pitchFamily="18" charset="0"/>
                  <a:ea typeface="楷体_GB2312" pitchFamily="49" charset="-122"/>
                </a:rPr>
                <a:t>已知： </a:t>
              </a:r>
              <a:r>
                <a:rPr lang="en-US" altLang="zh-CN" sz="2600" b="1" i="1">
                  <a:solidFill>
                    <a:srgbClr val="0000FF"/>
                  </a:solidFill>
                  <a:latin typeface="Times New Roman" panose="02020603050405020304" pitchFamily="18" charset="0"/>
                </a:rPr>
                <a:t>p</a:t>
              </a:r>
              <a:r>
                <a:rPr lang="en-US" altLang="zh-CN" sz="2600" b="1" i="1" baseline="-25000">
                  <a:solidFill>
                    <a:srgbClr val="0000FF"/>
                  </a:solidFill>
                  <a:latin typeface="Times New Roman" panose="02020603050405020304" pitchFamily="18" charset="0"/>
                </a:rPr>
                <a:t>t</a:t>
              </a:r>
              <a:r>
                <a:rPr lang="en-US" altLang="zh-CN" sz="2600" b="1" i="1">
                  <a:solidFill>
                    <a:srgbClr val="0000FF"/>
                  </a:solidFill>
                  <a:latin typeface="Times New Roman" panose="02020603050405020304" pitchFamily="18" charset="0"/>
                </a:rPr>
                <a:t> = 101.6kPa,   T</a:t>
              </a:r>
              <a:r>
                <a:rPr lang="en-US" altLang="zh-CN" sz="2600" b="1" i="1">
                  <a:solidFill>
                    <a:srgbClr val="0000FF"/>
                  </a:solidFill>
                  <a:latin typeface="Times New Roman" panose="02020603050405020304" pitchFamily="18" charset="0"/>
                  <a:ea typeface="楷体_GB2312" pitchFamily="49" charset="-122"/>
                </a:rPr>
                <a:t>=273+14=287K,   </a:t>
              </a:r>
              <a:r>
                <a:rPr lang="en-US" altLang="zh-CN" sz="2600" b="1" i="1">
                  <a:solidFill>
                    <a:srgbClr val="0000FF"/>
                  </a:solidFill>
                  <a:latin typeface="Times New Roman" panose="02020603050405020304" pitchFamily="18" charset="0"/>
                </a:rPr>
                <a:t>V=1.0L</a:t>
              </a:r>
              <a:endParaRPr lang="en-US" altLang="zh-CN" sz="2600" b="1" i="1">
                <a:solidFill>
                  <a:srgbClr val="0000FF"/>
                </a:solidFill>
                <a:latin typeface="Times New Roman" panose="02020603050405020304" pitchFamily="18" charset="0"/>
                <a:ea typeface="楷体_GB2312" pitchFamily="49" charset="-122"/>
              </a:endParaRPr>
            </a:p>
            <a:p>
              <a:pPr fontAlgn="base">
                <a:lnSpc>
                  <a:spcPts val="3600"/>
                </a:lnSpc>
                <a:spcBef>
                  <a:spcPct val="0"/>
                </a:spcBef>
                <a:spcAft>
                  <a:spcPct val="0"/>
                </a:spcAft>
              </a:pPr>
              <a:r>
                <a:rPr lang="en-US" altLang="zh-CN" sz="2600" b="1" i="1">
                  <a:solidFill>
                    <a:srgbClr val="0000FF"/>
                  </a:solidFill>
                  <a:latin typeface="Times New Roman" panose="02020603050405020304" pitchFamily="18" charset="0"/>
                  <a:ea typeface="楷体_GB2312" pitchFamily="49" charset="-122"/>
                </a:rPr>
                <a:t>            </a:t>
              </a:r>
              <a:r>
                <a:rPr lang="zh-CN" altLang="en-US" sz="2600" b="1" i="1">
                  <a:solidFill>
                    <a:srgbClr val="0000FF"/>
                  </a:solidFill>
                  <a:latin typeface="Times New Roman" panose="02020603050405020304" pitchFamily="18" charset="0"/>
                  <a:ea typeface="楷体_GB2312" pitchFamily="49" charset="-122"/>
                </a:rPr>
                <a:t>求</a:t>
              </a:r>
              <a:r>
                <a:rPr lang="en-US" altLang="zh-CN" sz="2600" b="1" i="1">
                  <a:solidFill>
                    <a:srgbClr val="0000FF"/>
                  </a:solidFill>
                  <a:latin typeface="Times New Roman" panose="02020603050405020304" pitchFamily="18" charset="0"/>
                  <a:ea typeface="楷体_GB2312" pitchFamily="49" charset="-122"/>
                </a:rPr>
                <a:t>:     p</a:t>
              </a:r>
              <a:r>
                <a:rPr lang="en-US" altLang="zh-CN" sz="2600" b="1" i="1" baseline="-25000">
                  <a:solidFill>
                    <a:srgbClr val="0000FF"/>
                  </a:solidFill>
                  <a:latin typeface="Times New Roman" panose="02020603050405020304" pitchFamily="18" charset="0"/>
                  <a:ea typeface="楷体_GB2312" pitchFamily="49" charset="-122"/>
                </a:rPr>
                <a:t>H2</a:t>
              </a:r>
              <a:r>
                <a:rPr lang="zh-CN" altLang="en-US" sz="2600" b="1" i="1">
                  <a:solidFill>
                    <a:srgbClr val="0000FF"/>
                  </a:solidFill>
                  <a:latin typeface="Times New Roman" panose="02020603050405020304" pitchFamily="18" charset="0"/>
                  <a:ea typeface="楷体_GB2312" pitchFamily="49" charset="-122"/>
                </a:rPr>
                <a:t>、 </a:t>
              </a:r>
              <a:r>
                <a:rPr lang="en-US" altLang="zh-CN" sz="2600" b="1" i="1">
                  <a:solidFill>
                    <a:srgbClr val="0000FF"/>
                  </a:solidFill>
                  <a:latin typeface="Times New Roman" panose="02020603050405020304" pitchFamily="18" charset="0"/>
                  <a:ea typeface="楷体_GB2312" pitchFamily="49" charset="-122"/>
                </a:rPr>
                <a:t>n(H</a:t>
              </a:r>
              <a:r>
                <a:rPr lang="en-US" altLang="zh-CN" sz="2600" b="1" i="1" baseline="-25000">
                  <a:solidFill>
                    <a:srgbClr val="0000FF"/>
                  </a:solidFill>
                  <a:latin typeface="Times New Roman" panose="02020603050405020304" pitchFamily="18" charset="0"/>
                  <a:ea typeface="楷体_GB2312" pitchFamily="49" charset="-122"/>
                </a:rPr>
                <a:t>2</a:t>
              </a:r>
              <a:r>
                <a:rPr lang="en-US" altLang="zh-CN" sz="2600" b="1" i="1">
                  <a:solidFill>
                    <a:srgbClr val="0000FF"/>
                  </a:solidFill>
                  <a:latin typeface="Times New Roman" panose="02020603050405020304" pitchFamily="18" charset="0"/>
                  <a:ea typeface="楷体_GB2312" pitchFamily="49" charset="-122"/>
                </a:rPr>
                <a:t>)</a:t>
              </a:r>
              <a:endParaRPr lang="en-US" altLang="zh-CN" sz="2600" b="1" i="1" baseline="-25000">
                <a:solidFill>
                  <a:srgbClr val="0000FF"/>
                </a:solidFill>
                <a:latin typeface="Times New Roman" panose="02020603050405020304" pitchFamily="18" charset="0"/>
                <a:ea typeface="楷体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aphicFrame>
        <p:nvGraphicFramePr>
          <p:cNvPr id="190046" name="Group 606"/>
          <p:cNvGraphicFramePr>
            <a:graphicFrameLocks noGrp="1"/>
          </p:cNvGraphicFramePr>
          <p:nvPr>
            <p:ph idx="1"/>
          </p:nvPr>
        </p:nvGraphicFramePr>
        <p:xfrm>
          <a:off x="0" y="0"/>
          <a:ext cx="9144000" cy="6400804"/>
        </p:xfrm>
        <a:graphic>
          <a:graphicData uri="http://schemas.openxmlformats.org/drawingml/2006/table">
            <a:tbl>
              <a:tblPr/>
              <a:tblGrid>
                <a:gridCol w="1217613"/>
                <a:gridCol w="1177925"/>
                <a:gridCol w="265112"/>
                <a:gridCol w="2208213"/>
                <a:gridCol w="1549400"/>
                <a:gridCol w="265112"/>
                <a:gridCol w="1271588"/>
                <a:gridCol w="1189037"/>
              </a:tblGrid>
              <a:tr h="519113">
                <a:tc gridSpan="8">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Table-----Vapor  Pressure  of  Water</a:t>
                      </a:r>
                      <a:endParaRPr kumimoji="0" lang="en-US" altLang="zh-CN" sz="24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112236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T(°c)</a:t>
                      </a: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P </a:t>
                      </a: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kPa</a:t>
                      </a: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Tx/>
                        <a:buNone/>
                      </a:pPr>
                      <a:endPar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rowSpan="11">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 </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solidFill>
                      <a:srgbClr val="8000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T(°c)</a:t>
                      </a: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P </a:t>
                      </a: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kPa</a:t>
                      </a: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p>
                    <a:p>
                      <a:pPr marL="342900" marR="0" lvl="0" indent="-342900" algn="ctr" defTabSz="914400" rtl="0" eaLnBrk="1" fontAlgn="base" latinLnBrk="0" hangingPunct="1">
                        <a:lnSpc>
                          <a:spcPct val="100000"/>
                        </a:lnSpc>
                        <a:spcBef>
                          <a:spcPct val="0"/>
                        </a:spcBef>
                        <a:spcAft>
                          <a:spcPct val="0"/>
                        </a:spcAft>
                        <a:buClrTx/>
                        <a:buSzTx/>
                        <a:buFontTx/>
                        <a:buNone/>
                      </a:pPr>
                      <a:endPar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rowSpan="11">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 </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solidFill>
                      <a:srgbClr val="8000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T(°c)</a:t>
                      </a: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P </a:t>
                      </a: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r>
                        <a:rPr kumimoji="0" lang="en-US" altLang="zh-CN" sz="2000" b="1" i="1"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kPa</a:t>
                      </a:r>
                      <a:r>
                        <a:rPr kumimoji="0" lang="en-US" altLang="zh-CN" sz="2000" b="1" i="1"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  </a:t>
                      </a: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7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0.6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46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0.8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21</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2.5</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62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5</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0.9</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35</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5.6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46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1.1</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7.4</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46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24</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50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12.3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7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1.4</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25</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60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19.9</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62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14</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3.4</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70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31.2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7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27</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3.6</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80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47.3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14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2.1</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3.8</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90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70.1</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r h="477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19</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2.2</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29</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4.0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100</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Arial" panose="020B0604020202020204" pitchFamily="34" charset="0"/>
                        </a:rPr>
                        <a:t>101.3</a:t>
                      </a:r>
                      <a:endParaRPr kumimoji="0" lang="en-US" altLang="zh-CN" sz="2000" b="1"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808040"/>
                      </a:solidFill>
                      <a:prstDash val="solid"/>
                      <a:round/>
                      <a:headEnd type="none" w="med" len="med"/>
                      <a:tailEnd type="none" w="med" len="med"/>
                    </a:lnL>
                    <a:lnR w="12700" cap="flat" cmpd="sng" algn="ctr">
                      <a:solidFill>
                        <a:srgbClr val="808040"/>
                      </a:solidFill>
                      <a:prstDash val="solid"/>
                      <a:round/>
                      <a:headEnd type="none" w="med" len="med"/>
                      <a:tailEnd type="none" w="med" len="med"/>
                    </a:lnR>
                    <a:lnT w="12700" cap="flat" cmpd="sng" algn="ctr">
                      <a:solidFill>
                        <a:srgbClr val="808040"/>
                      </a:solidFill>
                      <a:prstDash val="solid"/>
                      <a:round/>
                      <a:headEnd type="none" w="med" len="med"/>
                      <a:tailEnd type="none" w="med" len="med"/>
                    </a:lnT>
                    <a:lnB w="12700" cap="flat" cmpd="sng" algn="ctr">
                      <a:solidFill>
                        <a:srgbClr val="80804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046"/>
                                        </p:tgtEl>
                                        <p:attrNameLst>
                                          <p:attrName>style.visibility</p:attrName>
                                        </p:attrNameLst>
                                      </p:cBhvr>
                                      <p:to>
                                        <p:strVal val="visible"/>
                                      </p:to>
                                    </p:set>
                                    <p:anim calcmode="lin" valueType="num">
                                      <p:cBhvr additive="base">
                                        <p:cTn id="7" dur="500" fill="hold"/>
                                        <p:tgtEl>
                                          <p:spTgt spid="190046"/>
                                        </p:tgtEl>
                                        <p:attrNameLst>
                                          <p:attrName>ppt_x</p:attrName>
                                        </p:attrNameLst>
                                      </p:cBhvr>
                                      <p:tavLst>
                                        <p:tav tm="0">
                                          <p:val>
                                            <p:strVal val="#ppt_x"/>
                                          </p:val>
                                        </p:tav>
                                        <p:tav tm="100000">
                                          <p:val>
                                            <p:strVal val="#ppt_x"/>
                                          </p:val>
                                        </p:tav>
                                      </p:tavLst>
                                    </p:anim>
                                    <p:anim calcmode="lin" valueType="num">
                                      <p:cBhvr additive="base">
                                        <p:cTn id="8" dur="500" fill="hold"/>
                                        <p:tgtEl>
                                          <p:spTgt spid="1900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
          <p:cNvGrpSpPr/>
          <p:nvPr/>
        </p:nvGrpSpPr>
        <p:grpSpPr bwMode="auto">
          <a:xfrm>
            <a:off x="71406" y="71414"/>
            <a:ext cx="8839200" cy="4721225"/>
            <a:chOff x="0" y="1219200"/>
            <a:chExt cx="8839200" cy="4721225"/>
          </a:xfrm>
        </p:grpSpPr>
        <p:sp>
          <p:nvSpPr>
            <p:cNvPr id="79876" name="Rectangle 10"/>
            <p:cNvSpPr>
              <a:spLocks noChangeArrowheads="1"/>
            </p:cNvSpPr>
            <p:nvPr/>
          </p:nvSpPr>
          <p:spPr bwMode="auto">
            <a:xfrm>
              <a:off x="0" y="1219200"/>
              <a:ext cx="2197100" cy="512763"/>
            </a:xfrm>
            <a:prstGeom prst="rect">
              <a:avLst/>
            </a:prstGeom>
            <a:gradFill rotWithShape="1">
              <a:gsLst>
                <a:gs pos="0">
                  <a:srgbClr val="182F76"/>
                </a:gs>
                <a:gs pos="50000">
                  <a:srgbClr val="3366FF"/>
                </a:gs>
                <a:gs pos="100000">
                  <a:srgbClr val="182F76"/>
                </a:gs>
              </a:gsLst>
              <a:lin ang="5400000" scaled="1"/>
            </a:gra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fontAlgn="base">
                <a:lnSpc>
                  <a:spcPts val="3600"/>
                </a:lnSpc>
                <a:spcBef>
                  <a:spcPct val="0"/>
                </a:spcBef>
                <a:spcAft>
                  <a:spcPct val="0"/>
                </a:spcAft>
              </a:pPr>
              <a:r>
                <a:rPr lang="en-US" altLang="zh-CN" sz="2600" b="1">
                  <a:solidFill>
                    <a:srgbClr val="FF5050"/>
                  </a:solidFill>
                  <a:latin typeface="Times New Roman" panose="02020603050405020304" pitchFamily="18" charset="0"/>
                </a:rPr>
                <a:t>Example 3</a:t>
              </a:r>
              <a:r>
                <a:rPr lang="zh-CN" altLang="en-US" sz="2600" b="1">
                  <a:solidFill>
                    <a:srgbClr val="FF5050"/>
                  </a:solidFill>
                  <a:latin typeface="Times New Roman" panose="02020603050405020304" pitchFamily="18" charset="0"/>
                </a:rPr>
                <a:t>：  </a:t>
              </a:r>
            </a:p>
          </p:txBody>
        </p:sp>
        <p:sp>
          <p:nvSpPr>
            <p:cNvPr id="5" name="Rectangle 5"/>
            <p:cNvSpPr>
              <a:spLocks noChangeArrowheads="1"/>
            </p:cNvSpPr>
            <p:nvPr/>
          </p:nvSpPr>
          <p:spPr bwMode="auto">
            <a:xfrm>
              <a:off x="152400" y="1752600"/>
              <a:ext cx="8686800" cy="1897063"/>
            </a:xfrm>
            <a:prstGeom prst="rect">
              <a:avLst/>
            </a:prstGeom>
            <a:solidFill>
              <a:schemeClr val="bg1"/>
            </a:solidFill>
            <a:ln w="9525">
              <a:noFill/>
              <a:miter lim="800000"/>
            </a:ln>
          </p:spPr>
          <p:txBody>
            <a:bodyPr>
              <a:spAutoFit/>
            </a:bodyPr>
            <a:lstStyle/>
            <a:p>
              <a:pPr fontAlgn="base">
                <a:lnSpc>
                  <a:spcPts val="3600"/>
                </a:lnSpc>
                <a:spcBef>
                  <a:spcPct val="0"/>
                </a:spcBef>
                <a:spcAft>
                  <a:spcPct val="0"/>
                </a:spcAft>
                <a:defRPr/>
              </a:pPr>
              <a:r>
                <a:rPr lang="zh-CN" altLang="en-US" sz="2600" b="1" i="1" dirty="0">
                  <a:solidFill>
                    <a:srgbClr val="000000"/>
                  </a:solidFill>
                  <a:latin typeface="Times New Roman" panose="02020603050405020304"/>
                </a:rPr>
                <a:t>         在</a:t>
              </a:r>
              <a:r>
                <a:rPr lang="en-US" altLang="zh-CN" sz="2600" b="1" i="1" dirty="0">
                  <a:solidFill>
                    <a:srgbClr val="000000"/>
                  </a:solidFill>
                  <a:latin typeface="Times New Roman" panose="02020603050405020304"/>
                </a:rPr>
                <a:t>298.15K</a:t>
              </a:r>
              <a:r>
                <a:rPr lang="zh-CN" altLang="en-US" sz="2600" b="1" i="1" dirty="0">
                  <a:solidFill>
                    <a:srgbClr val="000000"/>
                  </a:solidFill>
                  <a:latin typeface="Times New Roman" panose="02020603050405020304"/>
                </a:rPr>
                <a:t>，</a:t>
              </a:r>
              <a:r>
                <a:rPr lang="en-US" altLang="zh-CN" sz="2600" b="1" i="1" dirty="0">
                  <a:solidFill>
                    <a:srgbClr val="000000"/>
                  </a:solidFill>
                  <a:latin typeface="Times New Roman" panose="02020603050405020304"/>
                </a:rPr>
                <a:t>1.47MPa</a:t>
              </a:r>
              <a:r>
                <a:rPr lang="zh-CN" altLang="en-US" sz="2600" b="1" i="1" dirty="0">
                  <a:solidFill>
                    <a:srgbClr val="000000"/>
                  </a:solidFill>
                  <a:latin typeface="Times New Roman" panose="02020603050405020304"/>
                </a:rPr>
                <a:t>下把氨气通入容积为</a:t>
              </a:r>
              <a:r>
                <a:rPr lang="en-US" altLang="zh-CN" sz="2600" b="1" i="1" dirty="0">
                  <a:solidFill>
                    <a:srgbClr val="000000"/>
                  </a:solidFill>
                  <a:latin typeface="Times New Roman" panose="02020603050405020304"/>
                </a:rPr>
                <a:t>1.00L</a:t>
              </a:r>
              <a:r>
                <a:rPr lang="zh-CN" altLang="en-US" sz="2600" b="1" i="1" dirty="0">
                  <a:solidFill>
                    <a:srgbClr val="000000"/>
                  </a:solidFill>
                  <a:latin typeface="Times New Roman" panose="02020603050405020304"/>
                </a:rPr>
                <a:t>的刚性壁密闭容器中，在</a:t>
              </a:r>
              <a:r>
                <a:rPr lang="en-US" altLang="zh-CN" sz="2600" b="1" i="1" dirty="0">
                  <a:solidFill>
                    <a:srgbClr val="000000"/>
                  </a:solidFill>
                  <a:latin typeface="Times New Roman" panose="02020603050405020304"/>
                </a:rPr>
                <a:t>623.15K</a:t>
              </a:r>
              <a:r>
                <a:rPr lang="zh-CN" altLang="en-US" sz="2600" b="1" i="1" dirty="0">
                  <a:solidFill>
                    <a:srgbClr val="000000"/>
                  </a:solidFill>
                  <a:latin typeface="Times New Roman" panose="02020603050405020304"/>
                </a:rPr>
                <a:t>下用催化剂使部分氨气分解成氮气和氢气，这时测得总压为</a:t>
              </a:r>
              <a:r>
                <a:rPr lang="en-US" altLang="zh-CN" sz="2600" b="1" i="1" dirty="0">
                  <a:solidFill>
                    <a:srgbClr val="000000"/>
                  </a:solidFill>
                  <a:latin typeface="Times New Roman" panose="02020603050405020304"/>
                </a:rPr>
                <a:t>5MPa</a:t>
              </a:r>
              <a:r>
                <a:rPr lang="zh-CN" altLang="en-US" sz="2600" b="1" i="1" dirty="0">
                  <a:solidFill>
                    <a:srgbClr val="000000"/>
                  </a:solidFill>
                  <a:latin typeface="Times New Roman" panose="02020603050405020304"/>
                </a:rPr>
                <a:t>，求氨的解离度、各组分气体的摩尔分数和分压。</a:t>
              </a:r>
              <a:endParaRPr lang="en-US" altLang="zh-CN" sz="2600" b="1" i="1" dirty="0">
                <a:solidFill>
                  <a:srgbClr val="000000"/>
                </a:solidFill>
                <a:latin typeface="Times New Roman" panose="02020603050405020304"/>
              </a:endParaRPr>
            </a:p>
          </p:txBody>
        </p:sp>
        <p:sp>
          <p:nvSpPr>
            <p:cNvPr id="6" name="矩形 5"/>
            <p:cNvSpPr>
              <a:spLocks noChangeArrowheads="1"/>
            </p:cNvSpPr>
            <p:nvPr/>
          </p:nvSpPr>
          <p:spPr bwMode="auto">
            <a:xfrm>
              <a:off x="762000" y="3581400"/>
              <a:ext cx="7848600" cy="2359025"/>
            </a:xfrm>
            <a:prstGeom prst="rect">
              <a:avLst/>
            </a:prstGeom>
            <a:solidFill>
              <a:schemeClr val="bg1"/>
            </a:solidFill>
            <a:ln w="9525">
              <a:noFill/>
              <a:miter lim="800000"/>
            </a:ln>
          </p:spPr>
          <p:txBody>
            <a:bodyPr>
              <a:spAutoFit/>
            </a:bodyPr>
            <a:lstStyle/>
            <a:p>
              <a:pPr fontAlgn="base">
                <a:lnSpc>
                  <a:spcPts val="3600"/>
                </a:lnSpc>
                <a:spcBef>
                  <a:spcPct val="0"/>
                </a:spcBef>
                <a:spcAft>
                  <a:spcPct val="0"/>
                </a:spcAft>
                <a:defRPr/>
              </a:pPr>
              <a:r>
                <a:rPr lang="zh-CN" altLang="en-US" sz="2600" b="1" i="1" dirty="0">
                  <a:solidFill>
                    <a:srgbClr val="0000FF"/>
                  </a:solidFill>
                  <a:latin typeface="Times New Roman" panose="02020603050405020304"/>
                </a:rPr>
                <a:t>已知：</a:t>
              </a:r>
              <a:r>
                <a:rPr lang="en-US" altLang="zh-CN" sz="2600" b="1" i="1" dirty="0">
                  <a:solidFill>
                    <a:srgbClr val="0000FF"/>
                  </a:solidFill>
                  <a:latin typeface="Times New Roman" panose="02020603050405020304"/>
                </a:rPr>
                <a:t>T</a:t>
              </a:r>
              <a:r>
                <a:rPr lang="en-US" altLang="zh-CN" sz="2600" b="1" i="1" baseline="-25000" dirty="0">
                  <a:solidFill>
                    <a:srgbClr val="0000FF"/>
                  </a:solidFill>
                  <a:latin typeface="Times New Roman" panose="02020603050405020304"/>
                </a:rPr>
                <a:t>1</a:t>
              </a:r>
              <a:r>
                <a:rPr lang="en-US" altLang="zh-CN" sz="2600" b="1" i="1" dirty="0">
                  <a:solidFill>
                    <a:srgbClr val="0000FF"/>
                  </a:solidFill>
                  <a:latin typeface="Times New Roman" panose="02020603050405020304"/>
                </a:rPr>
                <a:t>=298.15K</a:t>
              </a:r>
              <a:r>
                <a:rPr lang="zh-CN" altLang="en-US" sz="2600" b="1" i="1" dirty="0">
                  <a:solidFill>
                    <a:srgbClr val="0000FF"/>
                  </a:solidFill>
                  <a:latin typeface="Times New Roman" panose="02020603050405020304"/>
                </a:rPr>
                <a:t>， </a:t>
              </a:r>
              <a:r>
                <a:rPr lang="en-US" altLang="zh-CN" sz="2600" b="1" i="1" dirty="0">
                  <a:solidFill>
                    <a:srgbClr val="0000FF"/>
                  </a:solidFill>
                  <a:latin typeface="Times New Roman" panose="02020603050405020304"/>
                </a:rPr>
                <a:t>T</a:t>
              </a:r>
              <a:r>
                <a:rPr lang="en-US" altLang="zh-CN" sz="2600" b="1" i="1" baseline="-25000" dirty="0">
                  <a:solidFill>
                    <a:srgbClr val="0000FF"/>
                  </a:solidFill>
                  <a:latin typeface="Times New Roman" panose="02020603050405020304"/>
                </a:rPr>
                <a:t>2</a:t>
              </a:r>
              <a:r>
                <a:rPr lang="en-US" altLang="zh-CN" sz="2600" b="1" i="1" dirty="0">
                  <a:solidFill>
                    <a:srgbClr val="0000FF"/>
                  </a:solidFill>
                  <a:latin typeface="Times New Roman" panose="02020603050405020304"/>
                </a:rPr>
                <a:t>=623.15K</a:t>
              </a:r>
              <a:r>
                <a:rPr lang="zh-CN" altLang="en-US" sz="2600" b="1" i="1" dirty="0">
                  <a:solidFill>
                    <a:srgbClr val="0000FF"/>
                  </a:solidFill>
                  <a:latin typeface="Times New Roman" panose="02020603050405020304"/>
                </a:rPr>
                <a:t>， </a:t>
              </a:r>
              <a:r>
                <a:rPr lang="en-US" altLang="zh-CN" sz="2600" b="1" i="1" dirty="0">
                  <a:solidFill>
                    <a:srgbClr val="0000FF"/>
                  </a:solidFill>
                  <a:latin typeface="Times New Roman" panose="02020603050405020304"/>
                </a:rPr>
                <a:t>V =1.00L</a:t>
              </a:r>
            </a:p>
            <a:p>
              <a:pPr fontAlgn="base">
                <a:lnSpc>
                  <a:spcPts val="3600"/>
                </a:lnSpc>
                <a:spcBef>
                  <a:spcPct val="0"/>
                </a:spcBef>
                <a:spcAft>
                  <a:spcPct val="0"/>
                </a:spcAft>
                <a:defRPr/>
              </a:pPr>
              <a:r>
                <a:rPr lang="en-US" altLang="zh-CN" sz="2600" b="1" i="1" dirty="0">
                  <a:solidFill>
                    <a:srgbClr val="0000FF"/>
                  </a:solidFill>
                  <a:latin typeface="Times New Roman" panose="02020603050405020304"/>
                </a:rPr>
                <a:t>            p</a:t>
              </a:r>
              <a:r>
                <a:rPr lang="en-US" altLang="zh-CN" sz="2600" b="1" i="1" baseline="-25000" dirty="0">
                  <a:solidFill>
                    <a:srgbClr val="0000FF"/>
                  </a:solidFill>
                  <a:latin typeface="Times New Roman" panose="02020603050405020304"/>
                </a:rPr>
                <a:t>1</a:t>
              </a:r>
              <a:r>
                <a:rPr lang="en-US" altLang="zh-CN" sz="2600" b="1" i="1" dirty="0">
                  <a:solidFill>
                    <a:srgbClr val="0000FF"/>
                  </a:solidFill>
                  <a:latin typeface="Times New Roman" panose="02020603050405020304"/>
                </a:rPr>
                <a:t>(NH</a:t>
              </a:r>
              <a:r>
                <a:rPr lang="en-US" altLang="zh-CN" sz="2600" b="1" i="1" baseline="-25000" dirty="0">
                  <a:solidFill>
                    <a:srgbClr val="0000FF"/>
                  </a:solidFill>
                  <a:latin typeface="Times New Roman" panose="02020603050405020304"/>
                </a:rPr>
                <a:t>3</a:t>
              </a:r>
              <a:r>
                <a:rPr lang="en-US" altLang="zh-CN" sz="2600" b="1" i="1" dirty="0">
                  <a:solidFill>
                    <a:srgbClr val="0000FF"/>
                  </a:solidFill>
                  <a:latin typeface="Times New Roman" panose="02020603050405020304"/>
                </a:rPr>
                <a:t>) = 1.47MPa</a:t>
              </a:r>
              <a:r>
                <a:rPr lang="zh-CN" altLang="en-US" sz="2600" b="1" i="1" dirty="0">
                  <a:solidFill>
                    <a:srgbClr val="0000FF"/>
                  </a:solidFill>
                  <a:latin typeface="Times New Roman" panose="02020603050405020304"/>
                </a:rPr>
                <a:t>， </a:t>
              </a:r>
              <a:r>
                <a:rPr lang="en-US" altLang="zh-CN" sz="2600" b="1" i="1" dirty="0">
                  <a:solidFill>
                    <a:srgbClr val="0000FF"/>
                  </a:solidFill>
                  <a:latin typeface="Times New Roman" panose="02020603050405020304"/>
                </a:rPr>
                <a:t>p</a:t>
              </a:r>
              <a:r>
                <a:rPr lang="en-US" altLang="zh-CN" sz="2600" b="1" i="1" baseline="-25000" dirty="0">
                  <a:solidFill>
                    <a:srgbClr val="0000FF"/>
                  </a:solidFill>
                  <a:latin typeface="Times New Roman" panose="02020603050405020304"/>
                </a:rPr>
                <a:t>t</a:t>
              </a:r>
              <a:r>
                <a:rPr lang="en-US" altLang="zh-CN" sz="2600" b="1" i="1" dirty="0">
                  <a:solidFill>
                    <a:srgbClr val="0000FF"/>
                  </a:solidFill>
                  <a:latin typeface="Times New Roman" panose="02020603050405020304"/>
                </a:rPr>
                <a:t> = 5MPa</a:t>
              </a:r>
            </a:p>
            <a:p>
              <a:pPr fontAlgn="base">
                <a:lnSpc>
                  <a:spcPts val="3600"/>
                </a:lnSpc>
                <a:spcBef>
                  <a:spcPct val="0"/>
                </a:spcBef>
                <a:spcAft>
                  <a:spcPct val="0"/>
                </a:spcAft>
                <a:defRPr/>
              </a:pPr>
              <a:r>
                <a:rPr lang="zh-CN" altLang="en-US" sz="2600" b="1" i="1" dirty="0">
                  <a:solidFill>
                    <a:srgbClr val="0000FF"/>
                  </a:solidFill>
                  <a:latin typeface="Times New Roman" panose="02020603050405020304"/>
                </a:rPr>
                <a:t>求：   </a:t>
              </a:r>
              <a:r>
                <a:rPr lang="el-GR" altLang="zh-CN" sz="2600" b="1" i="1" dirty="0">
                  <a:solidFill>
                    <a:srgbClr val="0000FF"/>
                  </a:solidFill>
                  <a:latin typeface="Times New Roman" panose="02020603050405020304"/>
                  <a:cs typeface="Times New Roman" panose="02020603050405020304" pitchFamily="18" charset="0"/>
                </a:rPr>
                <a:t>α</a:t>
              </a:r>
              <a:r>
                <a:rPr lang="en-US" altLang="zh-CN" sz="2600" b="1" i="1" dirty="0">
                  <a:solidFill>
                    <a:srgbClr val="0000FF"/>
                  </a:solidFill>
                  <a:latin typeface="Times New Roman" panose="02020603050405020304"/>
                </a:rPr>
                <a:t>(NH</a:t>
              </a:r>
              <a:r>
                <a:rPr lang="en-US" altLang="zh-CN" sz="2600" b="1" i="1" baseline="-25000" dirty="0">
                  <a:solidFill>
                    <a:srgbClr val="0000FF"/>
                  </a:solidFill>
                  <a:latin typeface="Times New Roman" panose="02020603050405020304"/>
                </a:rPr>
                <a:t>3</a:t>
              </a:r>
              <a:r>
                <a:rPr lang="en-US" altLang="zh-CN" sz="2600" b="1" i="1" dirty="0">
                  <a:solidFill>
                    <a:srgbClr val="0000FF"/>
                  </a:solidFill>
                  <a:latin typeface="Times New Roman" panose="02020603050405020304"/>
                </a:rPr>
                <a:t>);</a:t>
              </a:r>
            </a:p>
            <a:p>
              <a:pPr fontAlgn="base">
                <a:lnSpc>
                  <a:spcPts val="3600"/>
                </a:lnSpc>
                <a:spcBef>
                  <a:spcPct val="0"/>
                </a:spcBef>
                <a:spcAft>
                  <a:spcPct val="0"/>
                </a:spcAft>
                <a:defRPr/>
              </a:pPr>
              <a:r>
                <a:rPr lang="en-US" altLang="zh-CN" sz="2600" b="1" i="1" dirty="0">
                  <a:solidFill>
                    <a:srgbClr val="0000FF"/>
                  </a:solidFill>
                  <a:latin typeface="Times New Roman" panose="02020603050405020304"/>
                </a:rPr>
                <a:t>           </a:t>
              </a:r>
              <a:r>
                <a:rPr lang="el-GR" altLang="zh-CN" sz="2600" b="1" i="1" dirty="0">
                  <a:solidFill>
                    <a:srgbClr val="0000FF"/>
                  </a:solidFill>
                  <a:latin typeface="Times New Roman" panose="02020603050405020304"/>
                </a:rPr>
                <a:t>χ</a:t>
              </a:r>
              <a:r>
                <a:rPr lang="en-US" altLang="zh-CN" sz="2600" b="1" i="1" dirty="0">
                  <a:solidFill>
                    <a:srgbClr val="0000FF"/>
                  </a:solidFill>
                  <a:latin typeface="Times New Roman" panose="02020603050405020304"/>
                </a:rPr>
                <a:t>(NH</a:t>
              </a:r>
              <a:r>
                <a:rPr lang="en-US" altLang="zh-CN" sz="2600" b="1" i="1" baseline="-25000" dirty="0">
                  <a:solidFill>
                    <a:srgbClr val="0000FF"/>
                  </a:solidFill>
                  <a:latin typeface="Times New Roman" panose="02020603050405020304"/>
                </a:rPr>
                <a:t>3</a:t>
              </a:r>
              <a:r>
                <a:rPr lang="en-US" altLang="zh-CN" sz="2600" b="1" i="1" dirty="0">
                  <a:solidFill>
                    <a:srgbClr val="0000FF"/>
                  </a:solidFill>
                  <a:latin typeface="Times New Roman" panose="02020603050405020304"/>
                </a:rPr>
                <a:t>)</a:t>
              </a:r>
              <a:r>
                <a:rPr lang="zh-CN" altLang="en-US" sz="2600" b="1" i="1" dirty="0">
                  <a:solidFill>
                    <a:srgbClr val="0000FF"/>
                  </a:solidFill>
                  <a:latin typeface="Times New Roman" panose="02020603050405020304"/>
                </a:rPr>
                <a:t>， </a:t>
              </a:r>
              <a:r>
                <a:rPr lang="el-GR" altLang="zh-CN" sz="2600" b="1" i="1" dirty="0">
                  <a:solidFill>
                    <a:srgbClr val="0000FF"/>
                  </a:solidFill>
                  <a:latin typeface="Times New Roman" panose="02020603050405020304"/>
                </a:rPr>
                <a:t>χ</a:t>
              </a:r>
              <a:r>
                <a:rPr lang="en-US" altLang="zh-CN" sz="2600" b="1" i="1" dirty="0">
                  <a:solidFill>
                    <a:srgbClr val="0000FF"/>
                  </a:solidFill>
                  <a:latin typeface="Times New Roman" panose="02020603050405020304"/>
                </a:rPr>
                <a:t>(H</a:t>
              </a:r>
              <a:r>
                <a:rPr lang="en-US" altLang="zh-CN" sz="2600" b="1" i="1" baseline="-25000" dirty="0">
                  <a:solidFill>
                    <a:srgbClr val="0000FF"/>
                  </a:solidFill>
                  <a:latin typeface="Times New Roman" panose="02020603050405020304"/>
                </a:rPr>
                <a:t>2</a:t>
              </a:r>
              <a:r>
                <a:rPr lang="en-US" altLang="zh-CN" sz="2600" b="1" i="1" dirty="0">
                  <a:solidFill>
                    <a:srgbClr val="0000FF"/>
                  </a:solidFill>
                  <a:latin typeface="Times New Roman" panose="02020603050405020304"/>
                </a:rPr>
                <a:t>)</a:t>
              </a:r>
              <a:r>
                <a:rPr lang="zh-CN" altLang="en-US" sz="2600" b="1" i="1" dirty="0">
                  <a:solidFill>
                    <a:srgbClr val="0000FF"/>
                  </a:solidFill>
                  <a:latin typeface="Times New Roman" panose="02020603050405020304"/>
                </a:rPr>
                <a:t>， </a:t>
              </a:r>
              <a:r>
                <a:rPr lang="el-GR" altLang="zh-CN" sz="2600" b="1" i="1" dirty="0">
                  <a:solidFill>
                    <a:srgbClr val="0000FF"/>
                  </a:solidFill>
                  <a:latin typeface="Times New Roman" panose="02020603050405020304"/>
                </a:rPr>
                <a:t>χ</a:t>
              </a:r>
              <a:r>
                <a:rPr lang="en-US" altLang="zh-CN" sz="2600" b="1" i="1" dirty="0">
                  <a:solidFill>
                    <a:srgbClr val="0000FF"/>
                  </a:solidFill>
                  <a:latin typeface="Times New Roman" panose="02020603050405020304"/>
                </a:rPr>
                <a:t>(N</a:t>
              </a:r>
              <a:r>
                <a:rPr lang="en-US" altLang="zh-CN" sz="2600" b="1" i="1" baseline="-25000" dirty="0">
                  <a:solidFill>
                    <a:srgbClr val="0000FF"/>
                  </a:solidFill>
                  <a:latin typeface="Times New Roman" panose="02020603050405020304"/>
                </a:rPr>
                <a:t>2</a:t>
              </a:r>
              <a:r>
                <a:rPr lang="en-US" altLang="zh-CN" sz="2600" b="1" i="1" dirty="0">
                  <a:solidFill>
                    <a:srgbClr val="0000FF"/>
                  </a:solidFill>
                  <a:latin typeface="Times New Roman" panose="02020603050405020304"/>
                </a:rPr>
                <a:t>);</a:t>
              </a:r>
            </a:p>
            <a:p>
              <a:pPr fontAlgn="base">
                <a:lnSpc>
                  <a:spcPts val="3600"/>
                </a:lnSpc>
                <a:spcBef>
                  <a:spcPct val="0"/>
                </a:spcBef>
                <a:spcAft>
                  <a:spcPct val="0"/>
                </a:spcAft>
                <a:defRPr/>
              </a:pPr>
              <a:r>
                <a:rPr lang="en-US" altLang="zh-CN" sz="2600" b="1" i="1" dirty="0">
                  <a:solidFill>
                    <a:srgbClr val="0000FF"/>
                  </a:solidFill>
                  <a:latin typeface="Times New Roman" panose="02020603050405020304"/>
                </a:rPr>
                <a:t>           p (NH</a:t>
              </a:r>
              <a:r>
                <a:rPr lang="en-US" altLang="zh-CN" sz="2600" b="1" i="1" baseline="-25000" dirty="0">
                  <a:solidFill>
                    <a:srgbClr val="0000FF"/>
                  </a:solidFill>
                  <a:latin typeface="Times New Roman" panose="02020603050405020304"/>
                </a:rPr>
                <a:t>3</a:t>
              </a:r>
              <a:r>
                <a:rPr lang="en-US" altLang="zh-CN" sz="2600" b="1" i="1" dirty="0">
                  <a:solidFill>
                    <a:srgbClr val="0000FF"/>
                  </a:solidFill>
                  <a:latin typeface="Times New Roman" panose="02020603050405020304"/>
                </a:rPr>
                <a:t>)</a:t>
              </a:r>
              <a:r>
                <a:rPr lang="zh-CN" altLang="en-US" sz="2600" b="1" i="1" dirty="0">
                  <a:solidFill>
                    <a:srgbClr val="0000FF"/>
                  </a:solidFill>
                  <a:latin typeface="Times New Roman" panose="02020603050405020304"/>
                </a:rPr>
                <a:t>， </a:t>
              </a:r>
              <a:r>
                <a:rPr lang="en-US" altLang="zh-CN" sz="2600" b="1" i="1" dirty="0">
                  <a:solidFill>
                    <a:srgbClr val="0000FF"/>
                  </a:solidFill>
                  <a:latin typeface="Times New Roman" panose="02020603050405020304"/>
                </a:rPr>
                <a:t>p (H</a:t>
              </a:r>
              <a:r>
                <a:rPr lang="en-US" altLang="zh-CN" sz="2600" b="1" i="1" baseline="-25000" dirty="0">
                  <a:solidFill>
                    <a:srgbClr val="0000FF"/>
                  </a:solidFill>
                  <a:latin typeface="Times New Roman" panose="02020603050405020304"/>
                </a:rPr>
                <a:t>2</a:t>
              </a:r>
              <a:r>
                <a:rPr lang="en-US" altLang="zh-CN" sz="2600" b="1" i="1" dirty="0">
                  <a:solidFill>
                    <a:srgbClr val="0000FF"/>
                  </a:solidFill>
                  <a:latin typeface="Times New Roman" panose="02020603050405020304"/>
                </a:rPr>
                <a:t>)</a:t>
              </a:r>
              <a:r>
                <a:rPr lang="zh-CN" altLang="en-US" sz="2600" b="1" i="1" dirty="0">
                  <a:solidFill>
                    <a:srgbClr val="0000FF"/>
                  </a:solidFill>
                  <a:latin typeface="Times New Roman" panose="02020603050405020304"/>
                </a:rPr>
                <a:t>， </a:t>
              </a:r>
              <a:r>
                <a:rPr lang="en-US" altLang="zh-CN" sz="2600" b="1" i="1" dirty="0">
                  <a:solidFill>
                    <a:srgbClr val="0000FF"/>
                  </a:solidFill>
                  <a:latin typeface="Times New Roman" panose="02020603050405020304"/>
                </a:rPr>
                <a:t>p(N</a:t>
              </a:r>
              <a:r>
                <a:rPr lang="en-US" altLang="zh-CN" sz="2600" b="1" i="1" baseline="-25000" dirty="0">
                  <a:solidFill>
                    <a:srgbClr val="0000FF"/>
                  </a:solidFill>
                  <a:latin typeface="Times New Roman" panose="02020603050405020304"/>
                </a:rPr>
                <a:t>2</a:t>
              </a:r>
              <a:r>
                <a:rPr lang="en-US" altLang="zh-CN" sz="2600" b="1" i="1" dirty="0">
                  <a:solidFill>
                    <a:srgbClr val="0000FF"/>
                  </a:solidFill>
                  <a:latin typeface="Times New Roman" panose="02020603050405020304"/>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txBox="1">
            <a:spLocks noChangeArrowheads="1"/>
          </p:cNvSpPr>
          <p:nvPr/>
        </p:nvSpPr>
        <p:spPr>
          <a:xfrm>
            <a:off x="381000" y="152400"/>
            <a:ext cx="8497888" cy="5334000"/>
          </a:xfrm>
          <a:prstGeom prst="rect">
            <a:avLst/>
          </a:prstGeom>
          <a:solidFill>
            <a:schemeClr val="bg1"/>
          </a:solidFill>
        </p:spPr>
        <p:txBody>
          <a:bodyPr/>
          <a:lstStyle/>
          <a:p>
            <a:pPr marL="342900" indent="-342900" fontAlgn="base">
              <a:spcBef>
                <a:spcPct val="20000"/>
              </a:spcBef>
              <a:spcAft>
                <a:spcPct val="0"/>
              </a:spcAft>
              <a:defRPr/>
            </a:pPr>
            <a:r>
              <a:rPr lang="zh-CN" altLang="en-US" sz="2600" b="1" kern="0" dirty="0">
                <a:solidFill>
                  <a:srgbClr val="000000"/>
                </a:solidFill>
                <a:latin typeface="Times New Roman" panose="02020603050405020304"/>
              </a:rPr>
              <a:t>解：   根据</a:t>
            </a:r>
            <a:r>
              <a:rPr lang="en-US" altLang="zh-CN" sz="2600" b="1" i="1" kern="0" dirty="0" err="1">
                <a:solidFill>
                  <a:srgbClr val="000000"/>
                </a:solidFill>
                <a:latin typeface="Times New Roman" panose="02020603050405020304"/>
              </a:rPr>
              <a:t>pV</a:t>
            </a:r>
            <a:r>
              <a:rPr lang="en-US" altLang="zh-CN" sz="2600" b="1" i="1" kern="0" dirty="0">
                <a:solidFill>
                  <a:srgbClr val="000000"/>
                </a:solidFill>
                <a:latin typeface="Times New Roman" panose="02020603050405020304"/>
              </a:rPr>
              <a:t>=</a:t>
            </a:r>
            <a:r>
              <a:rPr lang="en-US" altLang="zh-CN" sz="2600" b="1" i="1" kern="0" dirty="0" err="1">
                <a:solidFill>
                  <a:srgbClr val="000000"/>
                </a:solidFill>
                <a:latin typeface="Times New Roman" panose="02020603050405020304"/>
              </a:rPr>
              <a:t>nRT</a:t>
            </a:r>
            <a:r>
              <a:rPr lang="zh-CN" altLang="en-US" sz="2600" b="1" kern="0" dirty="0">
                <a:solidFill>
                  <a:srgbClr val="000000"/>
                </a:solidFill>
                <a:latin typeface="Times New Roman" panose="02020603050405020304"/>
              </a:rPr>
              <a:t>，在没有反应前（温度上升），</a:t>
            </a:r>
          </a:p>
          <a:p>
            <a:pPr marL="342900" indent="-342900" fontAlgn="base">
              <a:spcBef>
                <a:spcPct val="20000"/>
              </a:spcBef>
              <a:spcAft>
                <a:spcPct val="0"/>
              </a:spcAft>
              <a:defRPr/>
            </a:pPr>
            <a:r>
              <a:rPr lang="zh-CN" altLang="en-US" sz="2600" b="1" kern="0" dirty="0">
                <a:solidFill>
                  <a:srgbClr val="000000"/>
                </a:solidFill>
                <a:latin typeface="Times New Roman" panose="02020603050405020304"/>
              </a:rPr>
              <a:t>      </a:t>
            </a:r>
            <a:r>
              <a:rPr lang="en-US" altLang="zh-CN" sz="2600" b="1" kern="0" dirty="0">
                <a:solidFill>
                  <a:srgbClr val="000000"/>
                </a:solidFill>
                <a:latin typeface="Times New Roman" panose="02020603050405020304"/>
              </a:rPr>
              <a:t>NH</a:t>
            </a:r>
            <a:r>
              <a:rPr lang="en-US" altLang="zh-CN" sz="2600" b="1" kern="0" baseline="-25000" dirty="0">
                <a:solidFill>
                  <a:srgbClr val="000000"/>
                </a:solidFill>
                <a:latin typeface="Times New Roman" panose="02020603050405020304"/>
              </a:rPr>
              <a:t>3 </a:t>
            </a:r>
            <a:r>
              <a:rPr lang="zh-CN" altLang="en-US" sz="2600" b="1" kern="0" dirty="0">
                <a:solidFill>
                  <a:srgbClr val="000000"/>
                </a:solidFill>
                <a:latin typeface="Times New Roman" panose="02020603050405020304"/>
              </a:rPr>
              <a:t>的压力为</a:t>
            </a:r>
            <a:r>
              <a:rPr lang="en-US" altLang="zh-CN" sz="2600" b="1" kern="0" dirty="0">
                <a:solidFill>
                  <a:srgbClr val="000000"/>
                </a:solidFill>
                <a:latin typeface="Times New Roman" panose="02020603050405020304"/>
              </a:rPr>
              <a:t>p</a:t>
            </a:r>
            <a:r>
              <a:rPr lang="en-US" altLang="zh-CN" sz="2600" b="1" kern="0" baseline="-25000" dirty="0">
                <a:solidFill>
                  <a:srgbClr val="000000"/>
                </a:solidFill>
                <a:latin typeface="Times New Roman" panose="02020603050405020304"/>
              </a:rPr>
              <a:t>2</a:t>
            </a:r>
            <a:r>
              <a:rPr lang="zh-CN" altLang="en-US" sz="2600" b="1" kern="0" dirty="0">
                <a:solidFill>
                  <a:srgbClr val="000000"/>
                </a:solidFill>
                <a:latin typeface="Times New Roman" panose="02020603050405020304"/>
              </a:rPr>
              <a:t>可以用公式</a:t>
            </a:r>
            <a:r>
              <a:rPr lang="en-US" altLang="zh-CN" sz="2600" b="1" kern="0" dirty="0">
                <a:solidFill>
                  <a:srgbClr val="000000"/>
                </a:solidFill>
                <a:latin typeface="Times New Roman" panose="02020603050405020304"/>
              </a:rPr>
              <a:t>p</a:t>
            </a:r>
            <a:r>
              <a:rPr lang="en-US" altLang="zh-CN" sz="2600" b="1" kern="0" baseline="-25000" dirty="0">
                <a:solidFill>
                  <a:srgbClr val="000000"/>
                </a:solidFill>
                <a:latin typeface="Times New Roman" panose="02020603050405020304"/>
              </a:rPr>
              <a:t>1</a:t>
            </a:r>
            <a:r>
              <a:rPr lang="en-US" altLang="zh-CN" sz="2600" b="1" kern="0" dirty="0">
                <a:solidFill>
                  <a:srgbClr val="000000"/>
                </a:solidFill>
                <a:latin typeface="Times New Roman" panose="02020603050405020304"/>
              </a:rPr>
              <a:t>/ p</a:t>
            </a:r>
            <a:r>
              <a:rPr lang="en-US" altLang="zh-CN" sz="2600" b="1" kern="0" baseline="-25000" dirty="0">
                <a:solidFill>
                  <a:srgbClr val="000000"/>
                </a:solidFill>
                <a:latin typeface="Times New Roman" panose="02020603050405020304"/>
              </a:rPr>
              <a:t>2</a:t>
            </a:r>
            <a:r>
              <a:rPr lang="en-US" altLang="zh-CN" sz="2600" b="1" kern="0" dirty="0">
                <a:solidFill>
                  <a:srgbClr val="000000"/>
                </a:solidFill>
                <a:latin typeface="Times New Roman" panose="02020603050405020304"/>
              </a:rPr>
              <a:t>=T</a:t>
            </a:r>
            <a:r>
              <a:rPr lang="en-US" altLang="zh-CN" sz="2600" b="1" kern="0" baseline="-25000" dirty="0">
                <a:solidFill>
                  <a:srgbClr val="000000"/>
                </a:solidFill>
                <a:latin typeface="Times New Roman" panose="02020603050405020304"/>
              </a:rPr>
              <a:t>1</a:t>
            </a:r>
            <a:r>
              <a:rPr lang="en-US" altLang="zh-CN" sz="2600" b="1" kern="0" dirty="0">
                <a:solidFill>
                  <a:srgbClr val="000000"/>
                </a:solidFill>
                <a:latin typeface="Times New Roman" panose="02020603050405020304"/>
              </a:rPr>
              <a:t>/T</a:t>
            </a:r>
            <a:r>
              <a:rPr lang="en-US" altLang="zh-CN" sz="2600" b="1" kern="0" baseline="-25000" dirty="0">
                <a:solidFill>
                  <a:srgbClr val="000000"/>
                </a:solidFill>
                <a:latin typeface="Times New Roman" panose="02020603050405020304"/>
              </a:rPr>
              <a:t>2</a:t>
            </a:r>
            <a:r>
              <a:rPr lang="zh-CN" altLang="en-US" sz="2600" b="1" kern="0" dirty="0">
                <a:solidFill>
                  <a:srgbClr val="000000"/>
                </a:solidFill>
                <a:latin typeface="Times New Roman" panose="02020603050405020304"/>
              </a:rPr>
              <a:t>计算为：</a:t>
            </a:r>
            <a:endParaRPr lang="en-US" altLang="zh-CN" sz="2600" b="1" kern="0" dirty="0">
              <a:solidFill>
                <a:srgbClr val="000000"/>
              </a:solidFill>
              <a:latin typeface="Times New Roman" panose="02020603050405020304"/>
            </a:endParaRP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a:t>
            </a:r>
            <a:r>
              <a:rPr lang="zh-CN" altLang="en-US" sz="2600" b="1" i="1" kern="0" dirty="0">
                <a:solidFill>
                  <a:srgbClr val="0000FF"/>
                </a:solidFill>
                <a:latin typeface="Times New Roman" panose="02020603050405020304"/>
              </a:rPr>
              <a:t>     </a:t>
            </a:r>
            <a:r>
              <a:rPr lang="en-US" altLang="zh-CN" sz="2600" b="1" i="1" kern="0" dirty="0">
                <a:solidFill>
                  <a:srgbClr val="0000FF"/>
                </a:solidFill>
                <a:latin typeface="Times New Roman" panose="02020603050405020304"/>
              </a:rPr>
              <a:t>1.47/p</a:t>
            </a:r>
            <a:r>
              <a:rPr lang="en-US" altLang="zh-CN" sz="2600" b="1" i="1" kern="0" baseline="-25000" dirty="0">
                <a:solidFill>
                  <a:srgbClr val="0000FF"/>
                </a:solidFill>
                <a:latin typeface="Times New Roman" panose="02020603050405020304"/>
              </a:rPr>
              <a:t>2</a:t>
            </a:r>
            <a:r>
              <a:rPr lang="en-US" altLang="zh-CN" sz="2600" b="1" i="1" kern="0" dirty="0">
                <a:solidFill>
                  <a:srgbClr val="0000FF"/>
                </a:solidFill>
                <a:latin typeface="Times New Roman" panose="02020603050405020304"/>
              </a:rPr>
              <a:t>= 298.15/623.15         p</a:t>
            </a:r>
            <a:r>
              <a:rPr lang="en-US" altLang="zh-CN" sz="2600" b="1" i="1" kern="0" baseline="-25000" dirty="0">
                <a:solidFill>
                  <a:srgbClr val="0000FF"/>
                </a:solidFill>
                <a:latin typeface="Times New Roman" panose="02020603050405020304"/>
              </a:rPr>
              <a:t>2</a:t>
            </a:r>
            <a:r>
              <a:rPr lang="en-US" altLang="zh-CN" sz="2600" b="1" i="1" kern="0" dirty="0">
                <a:solidFill>
                  <a:srgbClr val="0000FF"/>
                </a:solidFill>
                <a:latin typeface="Times New Roman" panose="02020603050405020304"/>
              </a:rPr>
              <a:t>= 3.07 </a:t>
            </a:r>
            <a:r>
              <a:rPr lang="en-US" altLang="zh-CN" sz="2600" b="1" i="1" kern="0" dirty="0" err="1">
                <a:solidFill>
                  <a:srgbClr val="0000FF"/>
                </a:solidFill>
                <a:latin typeface="Times New Roman" panose="02020603050405020304"/>
              </a:rPr>
              <a:t>MPa</a:t>
            </a:r>
            <a:endParaRPr lang="en-US" altLang="zh-CN" sz="2600" b="1" i="1" kern="0" dirty="0">
              <a:solidFill>
                <a:srgbClr val="0000FF"/>
              </a:solidFill>
              <a:latin typeface="Times New Roman" panose="02020603050405020304"/>
            </a:endParaRPr>
          </a:p>
          <a:p>
            <a:pPr marL="342900" indent="-342900" fontAlgn="base">
              <a:spcBef>
                <a:spcPct val="20000"/>
              </a:spcBef>
              <a:spcAft>
                <a:spcPct val="0"/>
              </a:spcAft>
              <a:defRPr/>
            </a:pPr>
            <a:r>
              <a:rPr lang="en-US" altLang="zh-CN" sz="2600" b="1" i="1" kern="0" dirty="0">
                <a:solidFill>
                  <a:srgbClr val="C00000"/>
                </a:solidFill>
                <a:latin typeface="Times New Roman" panose="02020603050405020304"/>
              </a:rPr>
              <a:t>     </a:t>
            </a:r>
            <a:r>
              <a:rPr lang="zh-CN" altLang="en-US" sz="2600" b="1" i="1" kern="0" dirty="0">
                <a:solidFill>
                  <a:srgbClr val="C00000"/>
                </a:solidFill>
                <a:latin typeface="Times New Roman" panose="02020603050405020304"/>
              </a:rPr>
              <a:t>在</a:t>
            </a:r>
            <a:r>
              <a:rPr lang="en-US" altLang="zh-CN" sz="2600" b="1" i="1" kern="0" dirty="0">
                <a:solidFill>
                  <a:srgbClr val="C00000"/>
                </a:solidFill>
                <a:latin typeface="Times New Roman" panose="02020603050405020304"/>
              </a:rPr>
              <a:t>V</a:t>
            </a:r>
            <a:r>
              <a:rPr lang="zh-CN" altLang="en-US" sz="2600" b="1" i="1" kern="0" dirty="0">
                <a:solidFill>
                  <a:srgbClr val="C00000"/>
                </a:solidFill>
                <a:latin typeface="Times New Roman" panose="02020603050405020304"/>
              </a:rPr>
              <a:t>、</a:t>
            </a:r>
            <a:r>
              <a:rPr lang="en-US" altLang="zh-CN" sz="2600" b="1" i="1" kern="0" dirty="0">
                <a:solidFill>
                  <a:srgbClr val="C00000"/>
                </a:solidFill>
                <a:latin typeface="Times New Roman" panose="02020603050405020304"/>
              </a:rPr>
              <a:t>T</a:t>
            </a:r>
            <a:r>
              <a:rPr lang="zh-CN" altLang="en-US" sz="2600" b="1" i="1" kern="0" dirty="0">
                <a:solidFill>
                  <a:srgbClr val="C00000"/>
                </a:solidFill>
                <a:latin typeface="Times New Roman" panose="02020603050405020304"/>
              </a:rPr>
              <a:t>一定时，化学反应方程式</a:t>
            </a:r>
            <a:r>
              <a:rPr lang="zh-CN" altLang="en-US" sz="2600" b="1" i="1" kern="0" dirty="0" smtClean="0">
                <a:solidFill>
                  <a:srgbClr val="C00000"/>
                </a:solidFill>
                <a:latin typeface="Times New Roman" panose="02020603050405020304"/>
              </a:rPr>
              <a:t>可用</a:t>
            </a:r>
            <a:r>
              <a:rPr lang="en-US" altLang="zh-CN" sz="2600" b="1" i="1" kern="0" dirty="0" smtClean="0">
                <a:solidFill>
                  <a:srgbClr val="C00000"/>
                </a:solidFill>
                <a:latin typeface="Times New Roman" panose="02020603050405020304"/>
              </a:rPr>
              <a:t>p</a:t>
            </a:r>
            <a:r>
              <a:rPr lang="zh-CN" altLang="en-US" sz="2600" b="1" i="1" kern="0" dirty="0" smtClean="0">
                <a:solidFill>
                  <a:srgbClr val="C00000"/>
                </a:solidFill>
                <a:latin typeface="Times New Roman" panose="02020603050405020304"/>
              </a:rPr>
              <a:t>代替</a:t>
            </a:r>
            <a:r>
              <a:rPr lang="en-US" altLang="zh-CN" sz="2600" b="1" i="1" kern="0" dirty="0">
                <a:solidFill>
                  <a:srgbClr val="C00000"/>
                </a:solidFill>
                <a:latin typeface="Times New Roman" panose="02020603050405020304"/>
              </a:rPr>
              <a:t>n</a:t>
            </a:r>
            <a:r>
              <a:rPr lang="zh-CN" altLang="en-US" sz="2600" b="1" i="1" kern="0" dirty="0">
                <a:solidFill>
                  <a:srgbClr val="C00000"/>
                </a:solidFill>
                <a:latin typeface="Times New Roman" panose="02020603050405020304"/>
              </a:rPr>
              <a:t>来计算 </a:t>
            </a:r>
            <a:endParaRPr lang="en-US" altLang="zh-CN" sz="2600" b="1" i="1" kern="0" dirty="0">
              <a:solidFill>
                <a:srgbClr val="C00000"/>
              </a:solidFill>
              <a:latin typeface="Times New Roman" panose="02020603050405020304"/>
            </a:endParaRPr>
          </a:p>
          <a:p>
            <a:pPr marL="342900" indent="-342900" fontAlgn="base">
              <a:spcBef>
                <a:spcPct val="20000"/>
              </a:spcBef>
              <a:spcAft>
                <a:spcPct val="0"/>
              </a:spcAft>
              <a:defRPr/>
            </a:pPr>
            <a:r>
              <a:rPr lang="en-US" altLang="zh-CN" sz="2600" b="1" kern="0" dirty="0">
                <a:solidFill>
                  <a:srgbClr val="000000"/>
                </a:solidFill>
                <a:latin typeface="Times New Roman" panose="02020603050405020304"/>
              </a:rPr>
              <a:t>                     </a:t>
            </a:r>
            <a:r>
              <a:rPr lang="zh-CN" altLang="en-US" sz="2600" b="1" kern="0" dirty="0">
                <a:solidFill>
                  <a:srgbClr val="000000"/>
                </a:solidFill>
                <a:latin typeface="Times New Roman" panose="02020603050405020304"/>
              </a:rPr>
              <a:t>  </a:t>
            </a:r>
            <a:r>
              <a:rPr lang="en-US" altLang="zh-CN" sz="2600" b="1" i="1" kern="0" dirty="0">
                <a:solidFill>
                  <a:srgbClr val="0000FF"/>
                </a:solidFill>
                <a:latin typeface="Times New Roman" panose="02020603050405020304"/>
              </a:rPr>
              <a:t>2NH</a:t>
            </a:r>
            <a:r>
              <a:rPr lang="en-US" altLang="zh-CN" sz="2600" b="1" i="1" kern="0" baseline="-25000" dirty="0">
                <a:solidFill>
                  <a:srgbClr val="0000FF"/>
                </a:solidFill>
                <a:latin typeface="Times New Roman" panose="02020603050405020304"/>
              </a:rPr>
              <a:t>3</a:t>
            </a:r>
            <a:r>
              <a:rPr lang="en-US" altLang="zh-CN" sz="2600" b="1" i="1" kern="0" dirty="0">
                <a:solidFill>
                  <a:srgbClr val="0000FF"/>
                </a:solidFill>
                <a:latin typeface="Times New Roman" panose="02020603050405020304"/>
              </a:rPr>
              <a:t>   →    N</a:t>
            </a:r>
            <a:r>
              <a:rPr lang="en-US" altLang="zh-CN" sz="2600" b="1" i="1" kern="0" baseline="-25000" dirty="0">
                <a:solidFill>
                  <a:srgbClr val="0000FF"/>
                </a:solidFill>
                <a:latin typeface="Times New Roman" panose="02020603050405020304"/>
              </a:rPr>
              <a:t>2   </a:t>
            </a:r>
            <a:r>
              <a:rPr lang="en-US" altLang="zh-CN" sz="2600" b="1" i="1" kern="0" dirty="0">
                <a:solidFill>
                  <a:srgbClr val="0000FF"/>
                </a:solidFill>
                <a:latin typeface="Times New Roman" panose="02020603050405020304"/>
              </a:rPr>
              <a:t>  +    3H</a:t>
            </a:r>
            <a:r>
              <a:rPr lang="en-US" altLang="zh-CN" sz="2600" b="1" i="1" kern="0" baseline="-25000" dirty="0">
                <a:solidFill>
                  <a:srgbClr val="0000FF"/>
                </a:solidFill>
                <a:latin typeface="Times New Roman" panose="02020603050405020304"/>
              </a:rPr>
              <a:t>2</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3.07MPa        0              0</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3.07-2x          x             3x</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3.07-2x + x + 3x = 5   </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x = 0.96 </a:t>
            </a:r>
            <a:r>
              <a:rPr lang="en-US" altLang="zh-CN" sz="2600" b="1" i="1" kern="0" dirty="0" err="1">
                <a:solidFill>
                  <a:srgbClr val="0000FF"/>
                </a:solidFill>
                <a:latin typeface="Times New Roman" panose="02020603050405020304"/>
              </a:rPr>
              <a:t>Mpa</a:t>
            </a:r>
            <a:endParaRPr lang="en-US" altLang="zh-CN" sz="2600" b="1" i="1" kern="0" dirty="0">
              <a:solidFill>
                <a:srgbClr val="0000FF"/>
              </a:solidFill>
              <a:latin typeface="Times New Roman" panose="02020603050405020304"/>
            </a:endParaRPr>
          </a:p>
          <a:p>
            <a:pPr marL="342900" indent="-342900" algn="ctr" fontAlgn="base">
              <a:spcBef>
                <a:spcPct val="20000"/>
              </a:spcBef>
              <a:spcAft>
                <a:spcPct val="0"/>
              </a:spcAft>
              <a:defRPr/>
            </a:pPr>
            <a:endParaRPr lang="en-US" altLang="zh-CN" sz="2600" b="1" kern="0" dirty="0">
              <a:solidFill>
                <a:srgbClr val="000000"/>
              </a:solidFill>
              <a:latin typeface="Times New Roman" panose="02020603050405020304"/>
            </a:endParaRPr>
          </a:p>
          <a:p>
            <a:pPr marL="342900" indent="-342900" fontAlgn="base">
              <a:spcBef>
                <a:spcPct val="20000"/>
              </a:spcBef>
              <a:spcAft>
                <a:spcPct val="0"/>
              </a:spcAft>
              <a:defRPr/>
            </a:pPr>
            <a:r>
              <a:rPr lang="zh-CN" altLang="en-US" sz="2600" b="1" kern="0" dirty="0">
                <a:solidFill>
                  <a:srgbClr val="000000"/>
                </a:solidFill>
                <a:latin typeface="Times New Roman" panose="02020603050405020304"/>
              </a:rPr>
              <a:t>或     也可以用物质的量代入计算</a:t>
            </a:r>
            <a:r>
              <a:rPr lang="en-US" altLang="zh-CN" sz="2600" b="1" kern="0" dirty="0">
                <a:solidFill>
                  <a:srgbClr val="000000"/>
                </a:solidFill>
                <a:latin typeface="Times New Roman" panose="02020603050405020304"/>
              </a:rPr>
              <a:t>:</a:t>
            </a:r>
            <a:endParaRPr lang="zh-CN" altLang="en-US" sz="2600" b="1" kern="0" dirty="0">
              <a:solidFill>
                <a:srgbClr val="000000"/>
              </a:solidFill>
              <a:latin typeface="Times New Roman" panose="02020603050405020304"/>
            </a:endParaRPr>
          </a:p>
          <a:p>
            <a:pPr marL="342900" indent="-342900" algn="ctr" fontAlgn="base">
              <a:spcBef>
                <a:spcPct val="20000"/>
              </a:spcBef>
              <a:spcAft>
                <a:spcPct val="0"/>
              </a:spcAft>
              <a:defRPr/>
            </a:pPr>
            <a:endParaRPr lang="en-US" altLang="zh-CN" sz="2600" b="1" kern="0"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0825" y="188913"/>
            <a:ext cx="8569325" cy="6408737"/>
          </a:xfrm>
          <a:prstGeom prst="rect">
            <a:avLst/>
          </a:prstGeom>
          <a:solidFill>
            <a:schemeClr val="bg1"/>
          </a:solidFill>
        </p:spPr>
        <p:txBody>
          <a:bodyPr/>
          <a:lstStyle/>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1.47×1000×1 = n</a:t>
            </a:r>
            <a:r>
              <a:rPr lang="en-US" altLang="zh-CN" sz="2600" b="1" i="1" kern="0" baseline="-25000" dirty="0">
                <a:solidFill>
                  <a:srgbClr val="0000FF"/>
                </a:solidFill>
                <a:latin typeface="Times New Roman" panose="02020603050405020304"/>
              </a:rPr>
              <a:t>1</a:t>
            </a:r>
            <a:r>
              <a:rPr lang="en-US" altLang="zh-CN" sz="2600" b="1" i="1" kern="0" dirty="0">
                <a:solidFill>
                  <a:srgbClr val="0000FF"/>
                </a:solidFill>
                <a:latin typeface="Times New Roman" panose="02020603050405020304"/>
              </a:rPr>
              <a:t>×8.314×298.15</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n</a:t>
            </a:r>
            <a:r>
              <a:rPr lang="en-US" altLang="zh-CN" sz="2600" b="1" i="1" kern="0" baseline="-25000" dirty="0">
                <a:solidFill>
                  <a:srgbClr val="0000FF"/>
                </a:solidFill>
                <a:latin typeface="Times New Roman" panose="02020603050405020304"/>
              </a:rPr>
              <a:t>1</a:t>
            </a:r>
            <a:r>
              <a:rPr lang="en-US" altLang="zh-CN" sz="2600" b="1" i="1" kern="0" dirty="0">
                <a:solidFill>
                  <a:srgbClr val="0000FF"/>
                </a:solidFill>
                <a:latin typeface="Times New Roman" panose="02020603050405020304"/>
              </a:rPr>
              <a:t>= 0.593 mol</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5×1000×1 = n</a:t>
            </a:r>
            <a:r>
              <a:rPr lang="en-US" altLang="zh-CN" sz="2600" b="1" i="1" kern="0" baseline="-25000" dirty="0">
                <a:solidFill>
                  <a:srgbClr val="0000FF"/>
                </a:solidFill>
                <a:latin typeface="Times New Roman" panose="02020603050405020304"/>
              </a:rPr>
              <a:t>2</a:t>
            </a:r>
            <a:r>
              <a:rPr lang="en-US" altLang="zh-CN" sz="2600" b="1" i="1" kern="0" dirty="0">
                <a:solidFill>
                  <a:srgbClr val="0000FF"/>
                </a:solidFill>
                <a:latin typeface="Times New Roman" panose="02020603050405020304"/>
              </a:rPr>
              <a:t>×8.314×623.15</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n</a:t>
            </a:r>
            <a:r>
              <a:rPr lang="en-US" altLang="zh-CN" sz="2600" b="1" i="1" kern="0" baseline="-25000" dirty="0">
                <a:solidFill>
                  <a:srgbClr val="0000FF"/>
                </a:solidFill>
                <a:latin typeface="Times New Roman" panose="02020603050405020304"/>
              </a:rPr>
              <a:t>2</a:t>
            </a:r>
            <a:r>
              <a:rPr lang="en-US" altLang="zh-CN" sz="2600" b="1" i="1" kern="0" dirty="0">
                <a:solidFill>
                  <a:srgbClr val="0000FF"/>
                </a:solidFill>
                <a:latin typeface="Times New Roman" panose="02020603050405020304"/>
              </a:rPr>
              <a:t>= 0.975 mol</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2NH</a:t>
            </a:r>
            <a:r>
              <a:rPr lang="en-US" altLang="zh-CN" sz="2600" b="1" i="1" kern="0" baseline="-25000" dirty="0">
                <a:solidFill>
                  <a:srgbClr val="0000FF"/>
                </a:solidFill>
                <a:latin typeface="Times New Roman" panose="02020603050405020304"/>
              </a:rPr>
              <a:t>3</a:t>
            </a:r>
            <a:r>
              <a:rPr lang="en-US" altLang="zh-CN" sz="2600" b="1" i="1" kern="0" dirty="0">
                <a:solidFill>
                  <a:srgbClr val="0000FF"/>
                </a:solidFill>
                <a:latin typeface="Times New Roman" panose="02020603050405020304"/>
              </a:rPr>
              <a:t>   →    N</a:t>
            </a:r>
            <a:r>
              <a:rPr lang="en-US" altLang="zh-CN" sz="2600" b="1" i="1" kern="0" baseline="-25000" dirty="0">
                <a:solidFill>
                  <a:srgbClr val="0000FF"/>
                </a:solidFill>
                <a:latin typeface="Times New Roman" panose="02020603050405020304"/>
              </a:rPr>
              <a:t>2   </a:t>
            </a:r>
            <a:r>
              <a:rPr lang="en-US" altLang="zh-CN" sz="2600" b="1" i="1" kern="0" dirty="0">
                <a:solidFill>
                  <a:srgbClr val="0000FF"/>
                </a:solidFill>
                <a:latin typeface="Times New Roman" panose="02020603050405020304"/>
              </a:rPr>
              <a:t>  +    3H</a:t>
            </a:r>
            <a:r>
              <a:rPr lang="en-US" altLang="zh-CN" sz="2600" b="1" i="1" kern="0" baseline="-25000" dirty="0">
                <a:solidFill>
                  <a:srgbClr val="0000FF"/>
                </a:solidFill>
                <a:latin typeface="Times New Roman" panose="02020603050405020304"/>
              </a:rPr>
              <a:t>2</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0.593            0              0</a:t>
            </a:r>
          </a:p>
          <a:p>
            <a:pPr marL="342900" indent="-342900" fontAlgn="base">
              <a:spcBef>
                <a:spcPct val="20000"/>
              </a:spcBef>
              <a:spcAft>
                <a:spcPct val="0"/>
              </a:spcAft>
              <a:defRPr/>
            </a:pPr>
            <a:r>
              <a:rPr lang="en-US" altLang="zh-CN" sz="2600" b="1" i="1" kern="0" dirty="0">
                <a:solidFill>
                  <a:srgbClr val="0000FF"/>
                </a:solidFill>
                <a:latin typeface="Times New Roman" panose="02020603050405020304"/>
              </a:rPr>
              <a:t>                             0.593-2x       x             3x</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 0.593-2x + x + 3x = 0.975 </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x = 0.186 mol</a:t>
            </a:r>
          </a:p>
          <a:p>
            <a:pPr marL="342900" indent="-342900" algn="ctr" fontAlgn="base">
              <a:spcBef>
                <a:spcPct val="20000"/>
              </a:spcBef>
              <a:spcAft>
                <a:spcPct val="0"/>
              </a:spcAft>
              <a:defRPr/>
            </a:pPr>
            <a:endParaRPr lang="en-US" altLang="zh-CN" sz="2600" b="1" i="1" kern="0" dirty="0">
              <a:solidFill>
                <a:srgbClr val="0000FF"/>
              </a:solidFill>
              <a:latin typeface="Times New Roman" panose="02020603050405020304"/>
            </a:endParaRP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[p</a:t>
            </a:r>
            <a:r>
              <a:rPr lang="en-US" altLang="zh-CN" sz="2600" b="1" i="1" kern="0" baseline="-25000" dirty="0">
                <a:solidFill>
                  <a:srgbClr val="0000FF"/>
                </a:solidFill>
                <a:latin typeface="Times New Roman" panose="02020603050405020304"/>
              </a:rPr>
              <a:t>1</a:t>
            </a:r>
            <a:r>
              <a:rPr lang="en-US" altLang="zh-CN" sz="2600" b="1" i="1" kern="0" dirty="0">
                <a:solidFill>
                  <a:srgbClr val="0000FF"/>
                </a:solidFill>
                <a:latin typeface="Times New Roman" panose="02020603050405020304"/>
              </a:rPr>
              <a:t>/ p</a:t>
            </a:r>
            <a:r>
              <a:rPr lang="en-US" altLang="zh-CN" sz="2600" b="1" i="1" kern="0" baseline="-25000" dirty="0">
                <a:solidFill>
                  <a:srgbClr val="0000FF"/>
                </a:solidFill>
                <a:latin typeface="Times New Roman" panose="02020603050405020304"/>
              </a:rPr>
              <a:t>2 </a:t>
            </a:r>
            <a:r>
              <a:rPr lang="en-US" altLang="zh-CN" sz="2600" b="1" i="1" kern="0" dirty="0">
                <a:solidFill>
                  <a:srgbClr val="0000FF"/>
                </a:solidFill>
                <a:latin typeface="Times New Roman" panose="02020603050405020304"/>
              </a:rPr>
              <a:t>= n</a:t>
            </a:r>
            <a:r>
              <a:rPr lang="en-US" altLang="zh-CN" sz="2600" b="1" i="1" kern="0" baseline="-25000" dirty="0">
                <a:solidFill>
                  <a:srgbClr val="0000FF"/>
                </a:solidFill>
                <a:latin typeface="Times New Roman" panose="02020603050405020304"/>
              </a:rPr>
              <a:t>1</a:t>
            </a:r>
            <a:r>
              <a:rPr lang="en-US" altLang="zh-CN" sz="2600" b="1" i="1" kern="0" dirty="0">
                <a:solidFill>
                  <a:srgbClr val="0000FF"/>
                </a:solidFill>
                <a:latin typeface="Times New Roman" panose="02020603050405020304"/>
              </a:rPr>
              <a:t>T</a:t>
            </a:r>
            <a:r>
              <a:rPr lang="en-US" altLang="zh-CN" sz="2600" b="1" i="1" kern="0" baseline="-25000" dirty="0">
                <a:solidFill>
                  <a:srgbClr val="0000FF"/>
                </a:solidFill>
                <a:latin typeface="Times New Roman" panose="02020603050405020304"/>
              </a:rPr>
              <a:t>1</a:t>
            </a:r>
            <a:r>
              <a:rPr lang="en-US" altLang="zh-CN" sz="2600" b="1" i="1" kern="0" dirty="0">
                <a:solidFill>
                  <a:srgbClr val="0000FF"/>
                </a:solidFill>
                <a:latin typeface="Times New Roman" panose="02020603050405020304"/>
              </a:rPr>
              <a:t>/n</a:t>
            </a:r>
            <a:r>
              <a:rPr lang="en-US" altLang="zh-CN" sz="2600" b="1" i="1" kern="0" baseline="-25000" dirty="0">
                <a:solidFill>
                  <a:srgbClr val="0000FF"/>
                </a:solidFill>
                <a:latin typeface="Times New Roman" panose="02020603050405020304"/>
              </a:rPr>
              <a:t>2</a:t>
            </a:r>
            <a:r>
              <a:rPr lang="en-US" altLang="zh-CN" sz="2600" b="1" i="1" kern="0" dirty="0">
                <a:solidFill>
                  <a:srgbClr val="0000FF"/>
                </a:solidFill>
                <a:latin typeface="Times New Roman" panose="02020603050405020304"/>
              </a:rPr>
              <a:t>T</a:t>
            </a:r>
            <a:r>
              <a:rPr lang="en-US" altLang="zh-CN" sz="2600" b="1" i="1" kern="0" baseline="-25000" dirty="0">
                <a:solidFill>
                  <a:srgbClr val="0000FF"/>
                </a:solidFill>
                <a:latin typeface="Times New Roman" panose="02020603050405020304"/>
              </a:rPr>
              <a:t>2</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1.47/5 = (298.15/623.15)(1/(1+x))</a:t>
            </a:r>
          </a:p>
          <a:p>
            <a:pPr marL="342900" indent="-342900" algn="ctr" fontAlgn="base">
              <a:spcBef>
                <a:spcPct val="20000"/>
              </a:spcBef>
              <a:spcAft>
                <a:spcPct val="0"/>
              </a:spcAft>
              <a:defRPr/>
            </a:pPr>
            <a:r>
              <a:rPr lang="en-US" altLang="zh-CN" sz="2600" b="1" i="1" kern="0" dirty="0">
                <a:solidFill>
                  <a:srgbClr val="0000FF"/>
                </a:solidFill>
                <a:latin typeface="Times New Roman" panose="02020603050405020304"/>
              </a:rPr>
              <a:t>x = 0.63]</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ChangeArrowheads="1"/>
          </p:cNvSpPr>
          <p:nvPr/>
        </p:nvSpPr>
        <p:spPr bwMode="auto">
          <a:xfrm>
            <a:off x="395288" y="333375"/>
            <a:ext cx="8424862" cy="4494213"/>
          </a:xfrm>
          <a:prstGeom prst="rect">
            <a:avLst/>
          </a:prstGeom>
          <a:solidFill>
            <a:schemeClr val="bg1"/>
          </a:solidFill>
          <a:ln w="9525">
            <a:noFill/>
            <a:miter lim="800000"/>
          </a:ln>
        </p:spPr>
        <p:txBody>
          <a:bodyPr>
            <a:spAutoFit/>
          </a:bodyPr>
          <a:lstStyle/>
          <a:p>
            <a:pPr algn="ctr" fontAlgn="base">
              <a:spcBef>
                <a:spcPct val="0"/>
              </a:spcBef>
              <a:spcAft>
                <a:spcPct val="0"/>
              </a:spcAft>
              <a:defRPr/>
            </a:pPr>
            <a:r>
              <a:rPr lang="el-GR" altLang="zh-CN" sz="2600" b="1" i="1" dirty="0">
                <a:solidFill>
                  <a:srgbClr val="0000FF"/>
                </a:solidFill>
                <a:latin typeface="Times New Roman" panose="02020603050405020304"/>
                <a:cs typeface="Times New Roman" panose="02020603050405020304" pitchFamily="18" charset="0"/>
              </a:rPr>
              <a:t>α</a:t>
            </a:r>
            <a:r>
              <a:rPr lang="en-US" altLang="zh-CN" sz="2600" b="1" i="1" dirty="0">
                <a:solidFill>
                  <a:srgbClr val="0000FF"/>
                </a:solidFill>
                <a:latin typeface="Times New Roman" panose="02020603050405020304"/>
                <a:cs typeface="Times New Roman" panose="02020603050405020304" pitchFamily="18" charset="0"/>
              </a:rPr>
              <a:t>(NH</a:t>
            </a:r>
            <a:r>
              <a:rPr lang="en-US" altLang="zh-CN" sz="2600" b="1" i="1" baseline="-25000" dirty="0">
                <a:solidFill>
                  <a:srgbClr val="0000FF"/>
                </a:solidFill>
                <a:latin typeface="Times New Roman" panose="02020603050405020304"/>
                <a:cs typeface="Times New Roman" panose="02020603050405020304" pitchFamily="18" charset="0"/>
              </a:rPr>
              <a:t>3</a:t>
            </a:r>
            <a:r>
              <a:rPr lang="en-US" altLang="zh-CN" sz="2600" b="1" i="1" dirty="0">
                <a:solidFill>
                  <a:srgbClr val="0000FF"/>
                </a:solidFill>
                <a:latin typeface="Times New Roman" panose="02020603050405020304"/>
                <a:cs typeface="Times New Roman" panose="02020603050405020304" pitchFamily="18" charset="0"/>
              </a:rPr>
              <a:t>)</a:t>
            </a:r>
            <a:r>
              <a:rPr lang="el-GR" altLang="zh-CN" sz="2600" b="1" i="1" dirty="0">
                <a:solidFill>
                  <a:srgbClr val="0000FF"/>
                </a:solidFill>
                <a:latin typeface="Times New Roman" panose="02020603050405020304"/>
                <a:cs typeface="Times New Roman" panose="02020603050405020304" pitchFamily="18" charset="0"/>
              </a:rPr>
              <a:t> </a:t>
            </a:r>
            <a:r>
              <a:rPr lang="en-US" altLang="zh-CN" sz="2600" b="1" i="1" dirty="0">
                <a:solidFill>
                  <a:srgbClr val="0000FF"/>
                </a:solidFill>
                <a:latin typeface="Times New Roman" panose="02020603050405020304"/>
                <a:cs typeface="Times New Roman" panose="02020603050405020304" pitchFamily="18" charset="0"/>
              </a:rPr>
              <a:t>= 2×0.96/3.07 = 62.76%</a:t>
            </a:r>
          </a:p>
          <a:p>
            <a:pPr fontAlgn="base">
              <a:spcBef>
                <a:spcPct val="0"/>
              </a:spcBef>
              <a:spcAft>
                <a:spcPct val="0"/>
              </a:spcAft>
              <a:defRPr/>
            </a:pPr>
            <a:endParaRPr lang="en-US" altLang="zh-CN" sz="2600" b="1" i="1" dirty="0">
              <a:solidFill>
                <a:srgbClr val="0000FF"/>
              </a:solidFill>
              <a:latin typeface="Times New Roman" panose="02020603050405020304"/>
              <a:cs typeface="Times New Roman" panose="02020603050405020304" pitchFamily="18" charset="0"/>
            </a:endParaRPr>
          </a:p>
          <a:p>
            <a:pPr algn="ctr" fontAlgn="base">
              <a:spcBef>
                <a:spcPct val="0"/>
              </a:spcBef>
              <a:spcAft>
                <a:spcPct val="0"/>
              </a:spcAft>
              <a:defRPr/>
            </a:pPr>
            <a:r>
              <a:rPr lang="el-GR" altLang="zh-CN" sz="2600" b="1" i="1" dirty="0">
                <a:solidFill>
                  <a:srgbClr val="0000FF"/>
                </a:solidFill>
                <a:latin typeface="Times New Roman" panose="02020603050405020304"/>
                <a:cs typeface="Times New Roman" panose="02020603050405020304" pitchFamily="18" charset="0"/>
              </a:rPr>
              <a:t>χ</a:t>
            </a:r>
            <a:r>
              <a:rPr lang="en-US" altLang="zh-CN" sz="2600" b="1" i="1" dirty="0">
                <a:solidFill>
                  <a:srgbClr val="0000FF"/>
                </a:solidFill>
                <a:latin typeface="Times New Roman" panose="02020603050405020304"/>
                <a:cs typeface="Times New Roman" panose="02020603050405020304" pitchFamily="18" charset="0"/>
              </a:rPr>
              <a:t>(NH</a:t>
            </a:r>
            <a:r>
              <a:rPr lang="en-US" altLang="zh-CN" sz="2600" b="1" i="1" baseline="-25000" dirty="0">
                <a:solidFill>
                  <a:srgbClr val="0000FF"/>
                </a:solidFill>
                <a:latin typeface="Times New Roman" panose="02020603050405020304"/>
                <a:cs typeface="Times New Roman" panose="02020603050405020304" pitchFamily="18" charset="0"/>
              </a:rPr>
              <a:t>3</a:t>
            </a:r>
            <a:r>
              <a:rPr lang="en-US" altLang="zh-CN" sz="2600" b="1" i="1" dirty="0">
                <a:solidFill>
                  <a:srgbClr val="0000FF"/>
                </a:solidFill>
                <a:latin typeface="Times New Roman" panose="02020603050405020304"/>
                <a:cs typeface="Times New Roman" panose="02020603050405020304" pitchFamily="18" charset="0"/>
              </a:rPr>
              <a:t>) = (3.07-2×0.96)/5 = 0.23</a:t>
            </a:r>
          </a:p>
          <a:p>
            <a:pPr algn="ctr" fontAlgn="base">
              <a:spcBef>
                <a:spcPct val="0"/>
              </a:spcBef>
              <a:spcAft>
                <a:spcPct val="0"/>
              </a:spcAft>
              <a:defRPr/>
            </a:pPr>
            <a:r>
              <a:rPr lang="el-GR" altLang="zh-CN" sz="2600" b="1" i="1" dirty="0">
                <a:solidFill>
                  <a:srgbClr val="0000FF"/>
                </a:solidFill>
                <a:latin typeface="Times New Roman" panose="02020603050405020304"/>
                <a:cs typeface="Times New Roman" panose="02020603050405020304" pitchFamily="18" charset="0"/>
              </a:rPr>
              <a:t>χ</a:t>
            </a:r>
            <a:r>
              <a:rPr lang="en-US" altLang="zh-CN" sz="2600" b="1" i="1" dirty="0">
                <a:solidFill>
                  <a:srgbClr val="0000FF"/>
                </a:solidFill>
                <a:latin typeface="Times New Roman" panose="02020603050405020304"/>
                <a:cs typeface="Times New Roman" panose="02020603050405020304" pitchFamily="18" charset="0"/>
              </a:rPr>
              <a:t>(H</a:t>
            </a:r>
            <a:r>
              <a:rPr lang="en-US" altLang="zh-CN" sz="2600" b="1" i="1" baseline="-25000" dirty="0">
                <a:solidFill>
                  <a:srgbClr val="0000FF"/>
                </a:solidFill>
                <a:latin typeface="Times New Roman" panose="02020603050405020304"/>
                <a:cs typeface="Times New Roman" panose="02020603050405020304" pitchFamily="18" charset="0"/>
              </a:rPr>
              <a:t>2</a:t>
            </a:r>
            <a:r>
              <a:rPr lang="en-US" altLang="zh-CN" sz="2600" b="1" i="1" dirty="0">
                <a:solidFill>
                  <a:srgbClr val="0000FF"/>
                </a:solidFill>
                <a:latin typeface="Times New Roman" panose="02020603050405020304"/>
                <a:cs typeface="Times New Roman" panose="02020603050405020304" pitchFamily="18" charset="0"/>
              </a:rPr>
              <a:t>) = 3×0.96/5 = 0.58</a:t>
            </a:r>
          </a:p>
          <a:p>
            <a:pPr algn="ctr" fontAlgn="base">
              <a:spcBef>
                <a:spcPct val="0"/>
              </a:spcBef>
              <a:spcAft>
                <a:spcPct val="0"/>
              </a:spcAft>
              <a:defRPr/>
            </a:pPr>
            <a:r>
              <a:rPr lang="el-GR" altLang="zh-CN" sz="2600" b="1" i="1" dirty="0">
                <a:solidFill>
                  <a:srgbClr val="0000FF"/>
                </a:solidFill>
                <a:latin typeface="Times New Roman" panose="02020603050405020304"/>
                <a:cs typeface="Times New Roman" panose="02020603050405020304" pitchFamily="18" charset="0"/>
              </a:rPr>
              <a:t>χ</a:t>
            </a:r>
            <a:r>
              <a:rPr lang="en-US" altLang="zh-CN" sz="2600" b="1" i="1" dirty="0">
                <a:solidFill>
                  <a:srgbClr val="0000FF"/>
                </a:solidFill>
                <a:latin typeface="Times New Roman" panose="02020603050405020304"/>
                <a:cs typeface="Times New Roman" panose="02020603050405020304" pitchFamily="18" charset="0"/>
              </a:rPr>
              <a:t>(N</a:t>
            </a:r>
            <a:r>
              <a:rPr lang="en-US" altLang="zh-CN" sz="2600" b="1" i="1" baseline="-25000" dirty="0">
                <a:solidFill>
                  <a:srgbClr val="0000FF"/>
                </a:solidFill>
                <a:latin typeface="Times New Roman" panose="02020603050405020304"/>
                <a:cs typeface="Times New Roman" panose="02020603050405020304" pitchFamily="18" charset="0"/>
              </a:rPr>
              <a:t>2</a:t>
            </a:r>
            <a:r>
              <a:rPr lang="en-US" altLang="zh-CN" sz="2600" b="1" i="1" dirty="0">
                <a:solidFill>
                  <a:srgbClr val="0000FF"/>
                </a:solidFill>
                <a:latin typeface="Times New Roman" panose="02020603050405020304"/>
                <a:cs typeface="Times New Roman" panose="02020603050405020304" pitchFamily="18" charset="0"/>
              </a:rPr>
              <a:t>) = 0.96)/5 = 0.19</a:t>
            </a:r>
          </a:p>
          <a:p>
            <a:pPr algn="ctr" fontAlgn="base">
              <a:spcBef>
                <a:spcPct val="0"/>
              </a:spcBef>
              <a:spcAft>
                <a:spcPct val="0"/>
              </a:spcAft>
              <a:defRPr/>
            </a:pPr>
            <a:endParaRPr lang="en-US" altLang="zh-CN" sz="2600" b="1" i="1" dirty="0">
              <a:solidFill>
                <a:srgbClr val="0000FF"/>
              </a:solidFill>
              <a:latin typeface="Times New Roman" panose="02020603050405020304"/>
              <a:cs typeface="Times New Roman" panose="02020603050405020304" pitchFamily="18" charset="0"/>
            </a:endParaRPr>
          </a:p>
          <a:p>
            <a:pPr fontAlgn="base">
              <a:spcBef>
                <a:spcPct val="0"/>
              </a:spcBef>
              <a:spcAft>
                <a:spcPct val="0"/>
              </a:spcAft>
              <a:defRPr/>
            </a:pPr>
            <a:r>
              <a:rPr lang="zh-CN" altLang="en-US" sz="2600" b="1" i="1" dirty="0">
                <a:solidFill>
                  <a:srgbClr val="0000FF"/>
                </a:solidFill>
                <a:latin typeface="Times New Roman" panose="02020603050405020304"/>
                <a:cs typeface="Times New Roman" panose="02020603050405020304" pitchFamily="18" charset="0"/>
              </a:rPr>
              <a:t>根据</a:t>
            </a:r>
            <a:r>
              <a:rPr lang="en-US" altLang="zh-CN" sz="2600" b="1" i="1" dirty="0">
                <a:solidFill>
                  <a:srgbClr val="0000FF"/>
                </a:solidFill>
                <a:latin typeface="Times New Roman" panose="02020603050405020304"/>
                <a:cs typeface="Times New Roman" panose="02020603050405020304" pitchFamily="18" charset="0"/>
              </a:rPr>
              <a:t>p</a:t>
            </a:r>
            <a:r>
              <a:rPr lang="en-US" altLang="zh-CN" sz="2600" b="1" i="1" baseline="-25000" dirty="0">
                <a:solidFill>
                  <a:srgbClr val="0000FF"/>
                </a:solidFill>
                <a:latin typeface="Times New Roman" panose="02020603050405020304"/>
                <a:cs typeface="Times New Roman" panose="02020603050405020304" pitchFamily="18" charset="0"/>
              </a:rPr>
              <a:t>i</a:t>
            </a:r>
            <a:r>
              <a:rPr lang="en-US" altLang="zh-CN" sz="2600" b="1" i="1" dirty="0">
                <a:solidFill>
                  <a:srgbClr val="0000FF"/>
                </a:solidFill>
                <a:latin typeface="Times New Roman" panose="02020603050405020304"/>
                <a:cs typeface="Times New Roman" panose="02020603050405020304" pitchFamily="18" charset="0"/>
              </a:rPr>
              <a:t> = </a:t>
            </a:r>
            <a:r>
              <a:rPr lang="el-GR" altLang="zh-CN" sz="2600" b="1" i="1" dirty="0">
                <a:solidFill>
                  <a:srgbClr val="0000FF"/>
                </a:solidFill>
                <a:latin typeface="Times New Roman" panose="02020603050405020304"/>
                <a:cs typeface="Times New Roman" panose="02020603050405020304" pitchFamily="18" charset="0"/>
              </a:rPr>
              <a:t>χ</a:t>
            </a:r>
            <a:r>
              <a:rPr lang="en-US" altLang="zh-CN" sz="2600" b="1" i="1" baseline="-25000" dirty="0" err="1">
                <a:solidFill>
                  <a:srgbClr val="0000FF"/>
                </a:solidFill>
                <a:latin typeface="Times New Roman" panose="02020603050405020304"/>
                <a:cs typeface="Times New Roman" panose="02020603050405020304" pitchFamily="18" charset="0"/>
              </a:rPr>
              <a:t>i</a:t>
            </a:r>
            <a:r>
              <a:rPr lang="en-US" altLang="zh-CN" sz="2600" b="1" i="1" dirty="0" err="1">
                <a:solidFill>
                  <a:srgbClr val="0000FF"/>
                </a:solidFill>
                <a:latin typeface="Times New Roman" panose="02020603050405020304"/>
                <a:cs typeface="Times New Roman" panose="02020603050405020304" pitchFamily="18" charset="0"/>
              </a:rPr>
              <a:t>p</a:t>
            </a:r>
            <a:r>
              <a:rPr lang="en-US" altLang="zh-CN" sz="2600" b="1" i="1" baseline="-25000" dirty="0" err="1">
                <a:solidFill>
                  <a:srgbClr val="0000FF"/>
                </a:solidFill>
                <a:latin typeface="Times New Roman" panose="02020603050405020304"/>
                <a:cs typeface="Times New Roman" panose="02020603050405020304" pitchFamily="18" charset="0"/>
              </a:rPr>
              <a:t>t</a:t>
            </a:r>
            <a:endParaRPr lang="en-US" altLang="zh-CN" sz="2600" b="1" i="1" baseline="-25000" dirty="0">
              <a:solidFill>
                <a:srgbClr val="0000FF"/>
              </a:solidFill>
              <a:latin typeface="Times New Roman" panose="02020603050405020304"/>
              <a:cs typeface="Times New Roman" panose="02020603050405020304" pitchFamily="18" charset="0"/>
            </a:endParaRPr>
          </a:p>
          <a:p>
            <a:pPr algn="ctr" fontAlgn="base">
              <a:spcBef>
                <a:spcPct val="0"/>
              </a:spcBef>
              <a:spcAft>
                <a:spcPct val="0"/>
              </a:spcAft>
              <a:defRPr/>
            </a:pPr>
            <a:r>
              <a:rPr lang="en-US" altLang="zh-CN" sz="2600" b="1" i="1" dirty="0">
                <a:solidFill>
                  <a:srgbClr val="0000FF"/>
                </a:solidFill>
                <a:latin typeface="Times New Roman" panose="02020603050405020304"/>
                <a:cs typeface="Times New Roman" panose="02020603050405020304" pitchFamily="18" charset="0"/>
              </a:rPr>
              <a:t>p(NH</a:t>
            </a:r>
            <a:r>
              <a:rPr lang="en-US" altLang="zh-CN" sz="2600" b="1" i="1" baseline="-25000" dirty="0">
                <a:solidFill>
                  <a:srgbClr val="0000FF"/>
                </a:solidFill>
                <a:latin typeface="Times New Roman" panose="02020603050405020304"/>
                <a:cs typeface="Times New Roman" panose="02020603050405020304" pitchFamily="18" charset="0"/>
              </a:rPr>
              <a:t>3</a:t>
            </a:r>
            <a:r>
              <a:rPr lang="en-US" altLang="zh-CN" sz="2600" b="1" i="1" dirty="0">
                <a:solidFill>
                  <a:srgbClr val="0000FF"/>
                </a:solidFill>
                <a:latin typeface="Times New Roman" panose="02020603050405020304"/>
                <a:cs typeface="Times New Roman" panose="02020603050405020304" pitchFamily="18" charset="0"/>
              </a:rPr>
              <a:t>) = 0.23×5 = 1.15 </a:t>
            </a:r>
            <a:r>
              <a:rPr lang="en-US" altLang="zh-CN" sz="2600" b="1" i="1" dirty="0" err="1">
                <a:solidFill>
                  <a:srgbClr val="0000FF"/>
                </a:solidFill>
                <a:latin typeface="Times New Roman" panose="02020603050405020304"/>
                <a:cs typeface="Times New Roman" panose="02020603050405020304" pitchFamily="18" charset="0"/>
              </a:rPr>
              <a:t>MPa</a:t>
            </a:r>
            <a:endParaRPr lang="en-US" altLang="zh-CN" sz="2600" b="1" i="1" dirty="0">
              <a:solidFill>
                <a:srgbClr val="0000FF"/>
              </a:solidFill>
              <a:latin typeface="Times New Roman" panose="02020603050405020304"/>
              <a:cs typeface="Times New Roman" panose="02020603050405020304" pitchFamily="18" charset="0"/>
            </a:endParaRPr>
          </a:p>
          <a:p>
            <a:pPr algn="ctr" fontAlgn="base">
              <a:spcBef>
                <a:spcPct val="0"/>
              </a:spcBef>
              <a:spcAft>
                <a:spcPct val="0"/>
              </a:spcAft>
              <a:defRPr/>
            </a:pPr>
            <a:r>
              <a:rPr lang="en-US" altLang="zh-CN" sz="2600" b="1" i="1" dirty="0">
                <a:solidFill>
                  <a:srgbClr val="0000FF"/>
                </a:solidFill>
                <a:latin typeface="Times New Roman" panose="02020603050405020304"/>
                <a:cs typeface="Times New Roman" panose="02020603050405020304" pitchFamily="18" charset="0"/>
              </a:rPr>
              <a:t>p (H</a:t>
            </a:r>
            <a:r>
              <a:rPr lang="en-US" altLang="zh-CN" sz="2600" b="1" i="1" baseline="-25000" dirty="0">
                <a:solidFill>
                  <a:srgbClr val="0000FF"/>
                </a:solidFill>
                <a:latin typeface="Times New Roman" panose="02020603050405020304"/>
                <a:cs typeface="Times New Roman" panose="02020603050405020304" pitchFamily="18" charset="0"/>
              </a:rPr>
              <a:t>2</a:t>
            </a:r>
            <a:r>
              <a:rPr lang="en-US" altLang="zh-CN" sz="2600" b="1" i="1" dirty="0">
                <a:solidFill>
                  <a:srgbClr val="0000FF"/>
                </a:solidFill>
                <a:latin typeface="Times New Roman" panose="02020603050405020304"/>
                <a:cs typeface="Times New Roman" panose="02020603050405020304" pitchFamily="18" charset="0"/>
              </a:rPr>
              <a:t>) = 0.58×5 = 2.90 </a:t>
            </a:r>
            <a:r>
              <a:rPr lang="en-US" altLang="zh-CN" sz="2600" b="1" i="1" dirty="0" err="1">
                <a:solidFill>
                  <a:srgbClr val="0000FF"/>
                </a:solidFill>
                <a:latin typeface="Times New Roman" panose="02020603050405020304"/>
                <a:cs typeface="Times New Roman" panose="02020603050405020304" pitchFamily="18" charset="0"/>
              </a:rPr>
              <a:t>MPa</a:t>
            </a:r>
            <a:r>
              <a:rPr lang="en-US" altLang="zh-CN" sz="2600" b="1" i="1" dirty="0">
                <a:solidFill>
                  <a:srgbClr val="0000FF"/>
                </a:solidFill>
                <a:latin typeface="Times New Roman" panose="02020603050405020304"/>
                <a:cs typeface="Times New Roman" panose="02020603050405020304" pitchFamily="18" charset="0"/>
              </a:rPr>
              <a:t> </a:t>
            </a:r>
          </a:p>
          <a:p>
            <a:pPr algn="ctr" fontAlgn="base">
              <a:spcBef>
                <a:spcPct val="0"/>
              </a:spcBef>
              <a:spcAft>
                <a:spcPct val="0"/>
              </a:spcAft>
              <a:defRPr/>
            </a:pPr>
            <a:r>
              <a:rPr lang="en-US" altLang="zh-CN" sz="2600" b="1" i="1" dirty="0">
                <a:solidFill>
                  <a:srgbClr val="0000FF"/>
                </a:solidFill>
                <a:latin typeface="Times New Roman" panose="02020603050405020304"/>
                <a:cs typeface="Times New Roman" panose="02020603050405020304" pitchFamily="18" charset="0"/>
              </a:rPr>
              <a:t> p(N</a:t>
            </a:r>
            <a:r>
              <a:rPr lang="en-US" altLang="zh-CN" sz="2600" b="1" i="1" baseline="-25000" dirty="0">
                <a:solidFill>
                  <a:srgbClr val="0000FF"/>
                </a:solidFill>
                <a:latin typeface="Times New Roman" panose="02020603050405020304"/>
                <a:cs typeface="Times New Roman" panose="02020603050405020304" pitchFamily="18" charset="0"/>
              </a:rPr>
              <a:t>2</a:t>
            </a:r>
            <a:r>
              <a:rPr lang="en-US" altLang="zh-CN" sz="2600" b="1" i="1" dirty="0">
                <a:solidFill>
                  <a:srgbClr val="0000FF"/>
                </a:solidFill>
                <a:latin typeface="Times New Roman" panose="02020603050405020304"/>
                <a:cs typeface="Times New Roman" panose="02020603050405020304" pitchFamily="18" charset="0"/>
              </a:rPr>
              <a:t>) = 0.19×5 = 0.95 </a:t>
            </a:r>
            <a:r>
              <a:rPr lang="en-US" altLang="zh-CN" sz="2600" b="1" i="1" dirty="0" err="1">
                <a:solidFill>
                  <a:srgbClr val="0000FF"/>
                </a:solidFill>
                <a:latin typeface="Times New Roman" panose="02020603050405020304"/>
                <a:cs typeface="Times New Roman" panose="02020603050405020304" pitchFamily="18" charset="0"/>
              </a:rPr>
              <a:t>MPa</a:t>
            </a:r>
            <a:endParaRPr lang="en-US" altLang="zh-CN" sz="2600" b="1" i="1" dirty="0">
              <a:solidFill>
                <a:srgbClr val="0000FF"/>
              </a:solidFill>
              <a:latin typeface="Times New Roman" panose="02020603050405020304"/>
              <a:cs typeface="Times New Roman" panose="02020603050405020304" pitchFamily="18" charset="0"/>
            </a:endParaRPr>
          </a:p>
          <a:p>
            <a:pPr algn="ctr" fontAlgn="base">
              <a:spcBef>
                <a:spcPct val="0"/>
              </a:spcBef>
              <a:spcAft>
                <a:spcPct val="0"/>
              </a:spcAft>
              <a:defRPr/>
            </a:pPr>
            <a:endParaRPr lang="en-US" altLang="zh-CN" sz="2600" b="1" i="1" dirty="0">
              <a:solidFill>
                <a:srgbClr val="0000FF"/>
              </a:solidFill>
              <a:latin typeface="Times New Roman" panose="02020603050405020304"/>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28600" y="1524000"/>
            <a:ext cx="8153400" cy="977900"/>
          </a:xfrm>
          <a:prstGeom prst="rect">
            <a:avLst/>
          </a:prstGeom>
          <a:solidFill>
            <a:schemeClr val="bg1"/>
          </a:solidFill>
          <a:ln w="9525">
            <a:noFill/>
            <a:miter lim="800000"/>
          </a:ln>
        </p:spPr>
        <p:txBody>
          <a:bodyPr anchor="ctr">
            <a:spAutoFit/>
          </a:bodyPr>
          <a:lstStyle/>
          <a:p>
            <a:pPr fontAlgn="base">
              <a:lnSpc>
                <a:spcPts val="3600"/>
              </a:lnSpc>
              <a:spcBef>
                <a:spcPct val="0"/>
              </a:spcBef>
              <a:spcAft>
                <a:spcPct val="0"/>
              </a:spcAft>
              <a:defRPr/>
            </a:pPr>
            <a:r>
              <a:rPr lang="en-US" altLang="zh-CN" sz="2600" b="1" i="1" dirty="0">
                <a:solidFill>
                  <a:srgbClr val="FF00FF"/>
                </a:solidFill>
                <a:latin typeface="Times New Roman" panose="02020603050405020304"/>
              </a:rPr>
              <a:t>         2.</a:t>
            </a:r>
            <a:r>
              <a:rPr lang="en-US" altLang="zh-CN" sz="2600" b="1" i="1" dirty="0">
                <a:solidFill>
                  <a:srgbClr val="000000"/>
                </a:solidFill>
                <a:latin typeface="Times New Roman" panose="02020603050405020304"/>
              </a:rPr>
              <a:t> Why  is  wet  air  less  dense  than  dry  air  at  the same  temperature? </a:t>
            </a:r>
          </a:p>
        </p:txBody>
      </p:sp>
      <p:sp>
        <p:nvSpPr>
          <p:cNvPr id="5" name="Rectangle 3"/>
          <p:cNvSpPr>
            <a:spLocks noChangeArrowheads="1"/>
          </p:cNvSpPr>
          <p:nvPr/>
        </p:nvSpPr>
        <p:spPr bwMode="auto">
          <a:xfrm>
            <a:off x="304800" y="685800"/>
            <a:ext cx="8077200" cy="977900"/>
          </a:xfrm>
          <a:prstGeom prst="rect">
            <a:avLst/>
          </a:prstGeom>
          <a:solidFill>
            <a:schemeClr val="bg1"/>
          </a:solidFill>
          <a:ln w="9525">
            <a:noFill/>
            <a:miter lim="800000"/>
          </a:ln>
        </p:spPr>
        <p:txBody>
          <a:bodyPr anchor="ctr">
            <a:spAutoFit/>
          </a:bodyPr>
          <a:lstStyle/>
          <a:p>
            <a:pPr fontAlgn="base">
              <a:lnSpc>
                <a:spcPts val="3600"/>
              </a:lnSpc>
              <a:spcBef>
                <a:spcPct val="0"/>
              </a:spcBef>
              <a:spcAft>
                <a:spcPct val="0"/>
              </a:spcAft>
              <a:defRPr/>
            </a:pPr>
            <a:r>
              <a:rPr lang="en-US" altLang="zh-CN" sz="2600" b="1" i="1" dirty="0">
                <a:solidFill>
                  <a:srgbClr val="000000"/>
                </a:solidFill>
                <a:latin typeface="Times New Roman" panose="02020603050405020304"/>
              </a:rPr>
              <a:t>        </a:t>
            </a:r>
            <a:r>
              <a:rPr lang="en-US" altLang="zh-CN" sz="2600" b="1" i="1" dirty="0">
                <a:solidFill>
                  <a:srgbClr val="FF00FF"/>
                </a:solidFill>
                <a:latin typeface="Times New Roman" panose="02020603050405020304"/>
              </a:rPr>
              <a:t>1.</a:t>
            </a:r>
            <a:r>
              <a:rPr lang="en-US" altLang="zh-CN" sz="2600" b="1" i="1" dirty="0">
                <a:solidFill>
                  <a:srgbClr val="000000"/>
                </a:solidFill>
                <a:latin typeface="Times New Roman" panose="02020603050405020304"/>
              </a:rPr>
              <a:t> A  balloon  filled  with  helium  weighs  much  less than  an  identical  balloon  filled  with  air. </a:t>
            </a:r>
          </a:p>
        </p:txBody>
      </p:sp>
      <p:sp>
        <p:nvSpPr>
          <p:cNvPr id="6" name="Rectangle 4"/>
          <p:cNvSpPr>
            <a:spLocks noChangeArrowheads="1"/>
          </p:cNvSpPr>
          <p:nvPr/>
        </p:nvSpPr>
        <p:spPr bwMode="auto">
          <a:xfrm>
            <a:off x="0" y="152400"/>
            <a:ext cx="4572000" cy="512763"/>
          </a:xfrm>
          <a:prstGeom prst="rect">
            <a:avLst/>
          </a:prstGeom>
          <a:solidFill>
            <a:schemeClr val="bg1"/>
          </a:solidFill>
          <a:ln w="9525">
            <a:noFill/>
            <a:miter lim="800000"/>
          </a:ln>
        </p:spPr>
        <p:txBody>
          <a:bodyPr>
            <a:spAutoFit/>
          </a:bodyPr>
          <a:lstStyle/>
          <a:p>
            <a:pPr algn="ctr" fontAlgn="base">
              <a:lnSpc>
                <a:spcPts val="3600"/>
              </a:lnSpc>
              <a:spcBef>
                <a:spcPct val="0"/>
              </a:spcBef>
              <a:spcAft>
                <a:spcPct val="0"/>
              </a:spcAft>
              <a:defRPr/>
            </a:pPr>
            <a:r>
              <a:rPr lang="en-US" altLang="zh-CN" sz="2600" b="1" i="1" dirty="0" err="1">
                <a:solidFill>
                  <a:srgbClr val="FF00FF"/>
                </a:solidFill>
                <a:latin typeface="Times New Roman" panose="02020603050405020304"/>
              </a:rPr>
              <a:t>Quenstions</a:t>
            </a:r>
            <a:r>
              <a:rPr lang="en-US" altLang="zh-CN" sz="2600" b="1" i="1" dirty="0">
                <a:solidFill>
                  <a:srgbClr val="FF00FF"/>
                </a:solidFill>
                <a:latin typeface="Times New Roman" panose="02020603050405020304"/>
              </a:rPr>
              <a:t>  in  real  life</a:t>
            </a:r>
            <a:r>
              <a:rPr lang="zh-CN" altLang="en-US" sz="2600" b="1" i="1" dirty="0">
                <a:solidFill>
                  <a:srgbClr val="FF00FF"/>
                </a:solidFill>
                <a:latin typeface="Times New Roman" panose="02020603050405020304"/>
              </a:rPr>
              <a:t>：</a:t>
            </a:r>
            <a:endParaRPr lang="zh-CN" altLang="en-US" sz="2600" b="1" i="1" dirty="0">
              <a:solidFill>
                <a:srgbClr val="009900"/>
              </a:solidFill>
              <a:latin typeface="Times New Roman" panose="02020603050405020304"/>
            </a:endParaRPr>
          </a:p>
        </p:txBody>
      </p:sp>
      <p:sp>
        <p:nvSpPr>
          <p:cNvPr id="7" name="Rectangle 7"/>
          <p:cNvSpPr>
            <a:spLocks noChangeArrowheads="1"/>
          </p:cNvSpPr>
          <p:nvPr/>
        </p:nvSpPr>
        <p:spPr bwMode="auto">
          <a:xfrm>
            <a:off x="304800" y="2454275"/>
            <a:ext cx="8077200" cy="517525"/>
          </a:xfrm>
          <a:prstGeom prst="rect">
            <a:avLst/>
          </a:prstGeom>
          <a:solidFill>
            <a:schemeClr val="bg1"/>
          </a:solidFill>
          <a:ln w="9525">
            <a:noFill/>
            <a:miter lim="800000"/>
          </a:ln>
        </p:spPr>
        <p:txBody>
          <a:bodyPr anchor="ctr">
            <a:spAutoFit/>
          </a:bodyPr>
          <a:lstStyle/>
          <a:p>
            <a:pPr fontAlgn="base">
              <a:lnSpc>
                <a:spcPts val="3600"/>
              </a:lnSpc>
              <a:spcBef>
                <a:spcPct val="0"/>
              </a:spcBef>
              <a:spcAft>
                <a:spcPct val="0"/>
              </a:spcAft>
              <a:tabLst>
                <a:tab pos="457200" algn="l"/>
              </a:tabLst>
              <a:defRPr/>
            </a:pPr>
            <a:r>
              <a:rPr lang="en-US" altLang="zh-CN" sz="2600" b="1" i="1" dirty="0">
                <a:solidFill>
                  <a:srgbClr val="FF00FF"/>
                </a:solidFill>
                <a:latin typeface="Times New Roman" panose="02020603050405020304"/>
              </a:rPr>
              <a:t>       3.</a:t>
            </a:r>
            <a:r>
              <a:rPr lang="en-US" altLang="zh-CN" sz="2600" b="1" i="1" dirty="0">
                <a:solidFill>
                  <a:srgbClr val="000000"/>
                </a:solidFill>
                <a:latin typeface="Times New Roman" panose="02020603050405020304"/>
              </a:rPr>
              <a:t> Deep sea fish die when brought to the surface.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990600" y="3352800"/>
            <a:ext cx="6781800" cy="708025"/>
          </a:xfrm>
          <a:prstGeom prst="rect">
            <a:avLst/>
          </a:prstGeom>
          <a:solidFill>
            <a:schemeClr val="bg1"/>
          </a:solidFill>
          <a:ln w="9525">
            <a:noFill/>
            <a:miter lim="800000"/>
          </a:ln>
        </p:spPr>
        <p:txBody>
          <a:bodyPr anchor="ctr">
            <a:spAutoFit/>
          </a:bodyPr>
          <a:lstStyle/>
          <a:p>
            <a:pPr algn="ctr" fontAlgn="base">
              <a:spcBef>
                <a:spcPct val="0"/>
              </a:spcBef>
              <a:spcAft>
                <a:spcPct val="0"/>
              </a:spcAft>
              <a:tabLst>
                <a:tab pos="457200" algn="l"/>
              </a:tabLst>
              <a:defRPr/>
            </a:pPr>
            <a:r>
              <a:rPr lang="zh-CN" altLang="en-US" sz="4000" b="1" i="1" dirty="0">
                <a:solidFill>
                  <a:srgbClr val="C00000"/>
                </a:solidFill>
                <a:latin typeface="Times New Roman" panose="02020603050405020304"/>
              </a:rPr>
              <a:t>作业： </a:t>
            </a:r>
            <a:r>
              <a:rPr lang="en-US" altLang="zh-CN" sz="4000" b="1" i="1" smtClean="0">
                <a:solidFill>
                  <a:srgbClr val="C00000"/>
                </a:solidFill>
                <a:latin typeface="Times New Roman" panose="02020603050405020304"/>
              </a:rPr>
              <a:t>P</a:t>
            </a:r>
            <a:r>
              <a:rPr lang="en-US" altLang="zh-CN" sz="4000" b="1" i="1" baseline="-25000" smtClean="0">
                <a:solidFill>
                  <a:srgbClr val="C00000"/>
                </a:solidFill>
                <a:latin typeface="Times New Roman" panose="02020603050405020304"/>
              </a:rPr>
              <a:t>24   </a:t>
            </a:r>
            <a:r>
              <a:rPr lang="en-US" altLang="zh-CN" sz="4000" b="1" i="1" dirty="0">
                <a:solidFill>
                  <a:srgbClr val="C00000"/>
                </a:solidFill>
                <a:latin typeface="Times New Roman" panose="02020603050405020304"/>
              </a:rPr>
              <a:t>--- 2</a:t>
            </a:r>
            <a:r>
              <a:rPr lang="zh-CN" altLang="en-US" sz="4000" b="1" i="1" dirty="0">
                <a:solidFill>
                  <a:srgbClr val="C00000"/>
                </a:solidFill>
                <a:latin typeface="Times New Roman" panose="02020603050405020304"/>
              </a:rPr>
              <a:t>、</a:t>
            </a:r>
            <a:r>
              <a:rPr lang="en-US" altLang="zh-CN" sz="4000" b="1" i="1" dirty="0">
                <a:solidFill>
                  <a:srgbClr val="C00000"/>
                </a:solidFill>
                <a:latin typeface="Times New Roman" panose="02020603050405020304"/>
              </a:rPr>
              <a:t>4</a:t>
            </a:r>
            <a:r>
              <a:rPr lang="zh-CN" altLang="en-US" sz="4000" b="1" i="1" dirty="0">
                <a:solidFill>
                  <a:srgbClr val="C00000"/>
                </a:solidFill>
                <a:latin typeface="Times New Roman" panose="02020603050405020304"/>
              </a:rPr>
              <a:t>、</a:t>
            </a:r>
            <a:r>
              <a:rPr lang="en-US" altLang="zh-CN" sz="4000" b="1" i="1" dirty="0">
                <a:solidFill>
                  <a:srgbClr val="C00000"/>
                </a:solidFill>
                <a:latin typeface="Times New Roman" panose="02020603050405020304"/>
              </a:rPr>
              <a:t>6</a:t>
            </a:r>
            <a:r>
              <a:rPr lang="zh-CN" altLang="en-US" sz="4000" b="1" i="1" dirty="0">
                <a:solidFill>
                  <a:srgbClr val="C00000"/>
                </a:solidFill>
                <a:latin typeface="Times New Roman" panose="02020603050405020304"/>
              </a:rPr>
              <a:t>、</a:t>
            </a:r>
            <a:r>
              <a:rPr lang="en-US" altLang="zh-CN" sz="4000" b="1" i="1" dirty="0">
                <a:solidFill>
                  <a:srgbClr val="C00000"/>
                </a:solidFill>
                <a:latin typeface="Times New Roman" panose="02020603050405020304"/>
              </a:rPr>
              <a:t>7</a:t>
            </a:r>
          </a:p>
        </p:txBody>
      </p:sp>
      <p:sp>
        <p:nvSpPr>
          <p:cNvPr id="84995" name="矩形 4"/>
          <p:cNvSpPr>
            <a:spLocks noChangeArrowheads="1"/>
          </p:cNvSpPr>
          <p:nvPr/>
        </p:nvSpPr>
        <p:spPr bwMode="auto">
          <a:xfrm>
            <a:off x="838200" y="228600"/>
            <a:ext cx="7848600" cy="2400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lang="en-US" altLang="zh-CN" sz="2600" b="1" i="1">
                <a:solidFill>
                  <a:srgbClr val="FF00FF"/>
                </a:solidFill>
                <a:latin typeface="Times New Roman" panose="02020603050405020304" pitchFamily="18" charset="0"/>
              </a:rPr>
              <a:t>Note:  </a:t>
            </a:r>
            <a:r>
              <a:rPr lang="en-US" altLang="zh-CN" sz="2600" b="1" i="1">
                <a:solidFill>
                  <a:srgbClr val="000000"/>
                </a:solidFill>
                <a:latin typeface="Times New Roman" panose="02020603050405020304" pitchFamily="18" charset="0"/>
              </a:rPr>
              <a:t>(The pressure decreases as the fish are brought to the surface, so the volume of gases in their bodies increases, and pops bladders, cells, and membranes). —— comparing it with cosmetic surgery(including face-lift, breast implant…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14"/>
          <p:cNvGraphicFramePr>
            <a:graphicFrameLocks noGrp="1" noChangeAspect="1"/>
          </p:cNvGraphicFramePr>
          <p:nvPr>
            <p:ph/>
          </p:nvPr>
        </p:nvGraphicFramePr>
        <p:xfrm>
          <a:off x="2743200" y="1828800"/>
          <a:ext cx="3200400" cy="4572000"/>
        </p:xfrm>
        <a:graphic>
          <a:graphicData uri="http://schemas.openxmlformats.org/presentationml/2006/ole">
            <p:oleObj spid="_x0000_s37889" name="CS ChemDraw Drawing" r:id="rId3" imgW="10182225" imgH="16659225" progId="ExeApp.Eleconment.1">
              <p:embed/>
            </p:oleObj>
          </a:graphicData>
        </a:graphic>
      </p:graphicFrame>
      <p:grpSp>
        <p:nvGrpSpPr>
          <p:cNvPr id="14339" name="组合 5"/>
          <p:cNvGrpSpPr/>
          <p:nvPr/>
        </p:nvGrpSpPr>
        <p:grpSpPr bwMode="auto">
          <a:xfrm>
            <a:off x="228600" y="228600"/>
            <a:ext cx="8466138" cy="1506538"/>
            <a:chOff x="228600" y="228600"/>
            <a:chExt cx="8466138" cy="1505974"/>
          </a:xfrm>
        </p:grpSpPr>
        <p:sp>
          <p:nvSpPr>
            <p:cNvPr id="14340" name="Rectangle 4"/>
            <p:cNvSpPr>
              <a:spLocks noChangeArrowheads="1"/>
            </p:cNvSpPr>
            <p:nvPr/>
          </p:nvSpPr>
          <p:spPr bwMode="auto">
            <a:xfrm>
              <a:off x="228600" y="228600"/>
              <a:ext cx="1295400" cy="4889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lang="zh-CN" altLang="en-US" sz="2600" b="1" i="1">
                  <a:solidFill>
                    <a:srgbClr val="C00000"/>
                  </a:solidFill>
                </a:rPr>
                <a:t>补充：</a:t>
              </a:r>
            </a:p>
          </p:txBody>
        </p:sp>
        <p:sp>
          <p:nvSpPr>
            <p:cNvPr id="14341" name="矩形 4"/>
            <p:cNvSpPr>
              <a:spLocks noChangeArrowheads="1"/>
            </p:cNvSpPr>
            <p:nvPr/>
          </p:nvSpPr>
          <p:spPr bwMode="auto">
            <a:xfrm>
              <a:off x="457200" y="762000"/>
              <a:ext cx="8237538" cy="9725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fontAlgn="base">
                <a:lnSpc>
                  <a:spcPts val="3600"/>
                </a:lnSpc>
                <a:spcBef>
                  <a:spcPct val="0"/>
                </a:spcBef>
                <a:spcAft>
                  <a:spcPct val="0"/>
                </a:spcAft>
              </a:pPr>
              <a:r>
                <a:rPr lang="en-US" altLang="zh-CN" sz="2600" b="1">
                  <a:solidFill>
                    <a:srgbClr val="000000"/>
                  </a:solidFill>
                </a:rPr>
                <a:t> </a:t>
              </a:r>
              <a:r>
                <a:rPr lang="zh-CN" altLang="en-US" sz="2600" b="1">
                  <a:solidFill>
                    <a:srgbClr val="000000"/>
                  </a:solidFill>
                </a:rPr>
                <a:t>分体积 </a:t>
              </a:r>
              <a:r>
                <a:rPr lang="en-US" altLang="zh-CN" sz="2600" b="1">
                  <a:solidFill>
                    <a:srgbClr val="000000"/>
                  </a:solidFill>
                </a:rPr>
                <a:t>—— </a:t>
              </a:r>
              <a:r>
                <a:rPr lang="zh-CN" altLang="en-US" sz="2600" b="1">
                  <a:solidFill>
                    <a:srgbClr val="000000"/>
                  </a:solidFill>
                </a:rPr>
                <a:t>某组分气体</a:t>
              </a:r>
              <a:r>
                <a:rPr lang="en-US" altLang="zh-CN" sz="2600" b="1">
                  <a:solidFill>
                    <a:srgbClr val="000000"/>
                  </a:solidFill>
                </a:rPr>
                <a:t>B</a:t>
              </a:r>
              <a:r>
                <a:rPr lang="zh-CN" altLang="en-US" sz="2600" b="1">
                  <a:solidFill>
                    <a:srgbClr val="000000"/>
                  </a:solidFill>
                </a:rPr>
                <a:t>与混合气体相同压力时单独所占有的体积</a:t>
              </a:r>
              <a:r>
                <a:rPr lang="en-US" altLang="zh-CN" sz="2600" b="1">
                  <a:solidFill>
                    <a:srgbClr val="000000"/>
                  </a:solidFill>
                </a:rPr>
                <a:t>(</a:t>
              </a:r>
              <a:r>
                <a:rPr lang="zh-CN" altLang="en-US" sz="2600" b="1">
                  <a:solidFill>
                    <a:srgbClr val="000000"/>
                  </a:solidFill>
                </a:rPr>
                <a:t>实际上，温度也相同</a:t>
              </a:r>
              <a:r>
                <a:rPr lang="en-US" altLang="zh-CN" sz="2600" b="1">
                  <a:solidFill>
                    <a:srgbClr val="000000"/>
                  </a:solidFill>
                </a:rPr>
                <a:t>)</a:t>
              </a:r>
              <a:r>
                <a:rPr lang="zh-CN" altLang="en-US" sz="2600" b="1">
                  <a:solidFill>
                    <a:srgbClr val="000000"/>
                  </a:solidFill>
                </a:rPr>
                <a:t>。公式有</a:t>
              </a:r>
              <a:endParaRPr lang="zh-CN" altLang="en-US" sz="2000">
                <a:solidFill>
                  <a:srgbClr val="000000"/>
                </a:solidFill>
              </a:endParaRPr>
            </a:p>
          </p:txBody>
        </p:sp>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Q3Y2FkMzBhOWQzYzNlMDlhNTg0YjExZjlmYTdlOTgifQ=="/>
</p:tagLst>
</file>

<file path=ppt/theme/theme1.xml><?xml version="1.0" encoding="utf-8"?>
<a:theme xmlns:a="http://schemas.openxmlformats.org/drawingml/2006/main" name="2_默认设计模板">
  <a:themeElements>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默认设计模板">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1756</Words>
  <Application>WPS 演示</Application>
  <PresentationFormat>全屏显示(4:3)</PresentationFormat>
  <Paragraphs>244</Paragraphs>
  <Slides>32</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35" baseType="lpstr">
      <vt:lpstr>2_默认设计模板</vt:lpstr>
      <vt:lpstr>CS ChemDraw Drawing</vt:lpstr>
      <vt:lpstr>Eleconment Class</vt:lpstr>
      <vt:lpstr>幻灯片 1</vt:lpstr>
      <vt:lpstr>幻灯片 2</vt:lpstr>
      <vt:lpstr>幻灯片 3</vt:lpstr>
      <vt:lpstr>Chapter  One      GAS</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vector>
  </TitlesOfParts>
  <Company>P R 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Windows User</cp:lastModifiedBy>
  <cp:revision>70</cp:revision>
  <dcterms:created xsi:type="dcterms:W3CDTF">2020-09-26T10:30:00Z</dcterms:created>
  <dcterms:modified xsi:type="dcterms:W3CDTF">2023-09-23T08:38:17Z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9C7775D0C7C246EA95ED39742F64AD03</vt:lpwstr>
  </property>
  <property fmtid="{D5CDD505-2E9C-101B-9397-08002B2CF9AE}" pid="3" name="KSOProductBuildVer">
    <vt:lpwstr>2052-11.1.0.12358</vt:lpwstr>
  </property>
</Properties>
</file>