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300" r:id="rId30"/>
    <p:sldId id="283" r:id="rId31"/>
    <p:sldId id="284" r:id="rId32"/>
    <p:sldId id="285" r:id="rId33"/>
    <p:sldId id="301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9144000" cy="6858000" type="screen4x3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23" d="100"/>
          <a:sy n="123" d="100"/>
        </p:scale>
        <p:origin x="-1085" y="-38"/>
      </p:cViewPr>
      <p:guideLst>
        <p:guide orient="horz" pos="2160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" Target="../slides/slide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6" Type="http://schemas.openxmlformats.org/officeDocument/2006/relationships/slide" Target="../slides/slide2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21.xml"/><Relationship Id="rId19" Type="http://schemas.openxmlformats.org/officeDocument/2006/relationships/oleObject" Target="../embeddings/oleObject2.bin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438400" y="304800"/>
            <a:ext cx="6467475" cy="6248400"/>
          </a:xfrm>
          <a:prstGeom prst="rect">
            <a:avLst/>
          </a:prstGeom>
          <a:solidFill>
            <a:srgbClr val="EDEEE9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30" name="Group 3"/>
          <p:cNvGrpSpPr/>
          <p:nvPr/>
        </p:nvGrpSpPr>
        <p:grpSpPr bwMode="auto">
          <a:xfrm>
            <a:off x="2189163" y="914400"/>
            <a:ext cx="6958012" cy="76200"/>
            <a:chOff x="1920" y="849"/>
            <a:chExt cx="4992" cy="63"/>
          </a:xfrm>
        </p:grpSpPr>
        <p:sp>
          <p:nvSpPr>
            <p:cNvPr id="1042" name="Rectangle 4"/>
            <p:cNvSpPr>
              <a:spLocks noChangeArrowheads="1"/>
            </p:cNvSpPr>
            <p:nvPr/>
          </p:nvSpPr>
          <p:spPr bwMode="auto">
            <a:xfrm>
              <a:off x="1920" y="849"/>
              <a:ext cx="4992" cy="49"/>
            </a:xfrm>
            <a:prstGeom prst="rect">
              <a:avLst/>
            </a:prstGeom>
            <a:gradFill rotWithShape="1">
              <a:gsLst>
                <a:gs pos="0">
                  <a:srgbClr val="8488C4"/>
                </a:gs>
                <a:gs pos="26500">
                  <a:srgbClr val="D4DEFF"/>
                </a:gs>
                <a:gs pos="41499">
                  <a:srgbClr val="D4DEFF"/>
                </a:gs>
                <a:gs pos="50000">
                  <a:srgbClr val="96AB94"/>
                </a:gs>
                <a:gs pos="58501">
                  <a:srgbClr val="D4DEFF"/>
                </a:gs>
                <a:gs pos="73500">
                  <a:srgbClr val="D4DEFF"/>
                </a:gs>
                <a:gs pos="100000">
                  <a:srgbClr val="8488C4"/>
                </a:gs>
              </a:gsLst>
              <a:lin ang="5400000" scaled="1"/>
            </a:gradFill>
            <a:ln w="57150" cap="rnd" cmpd="thinThick">
              <a:noFill/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zh-CN" altLang="en-US" sz="3000" b="1">
                <a:solidFill>
                  <a:srgbClr val="99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5" name="Rectangle 5"/>
            <p:cNvSpPr>
              <a:spLocks noChangeArrowheads="1"/>
            </p:cNvSpPr>
            <p:nvPr/>
          </p:nvSpPr>
          <p:spPr bwMode="white">
            <a:xfrm>
              <a:off x="1920" y="864"/>
              <a:ext cx="4992" cy="48"/>
            </a:xfrm>
            <a:prstGeom prst="rect">
              <a:avLst/>
            </a:prstGeom>
            <a:gradFill rotWithShape="1">
              <a:gsLst>
                <a:gs pos="0">
                  <a:srgbClr val="8488C4"/>
                </a:gs>
                <a:gs pos="26500">
                  <a:srgbClr val="D4DEFF">
                    <a:alpha val="68730"/>
                  </a:srgbClr>
                </a:gs>
                <a:gs pos="41500">
                  <a:srgbClr val="D4DEFF">
                    <a:alpha val="51030"/>
                  </a:srgbClr>
                </a:gs>
                <a:gs pos="50000">
                  <a:srgbClr val="96AB94">
                    <a:alpha val="41000"/>
                  </a:srgbClr>
                </a:gs>
                <a:gs pos="58500">
                  <a:srgbClr val="D4DEFF">
                    <a:alpha val="51030"/>
                  </a:srgbClr>
                </a:gs>
                <a:gs pos="73500">
                  <a:srgbClr val="D4DEFF">
                    <a:alpha val="68730"/>
                  </a:srgbClr>
                </a:gs>
                <a:gs pos="100000">
                  <a:srgbClr val="8488C4"/>
                </a:gs>
              </a:gsLst>
              <a:lin ang="5400000" scaled="1"/>
            </a:gradFill>
            <a:ln w="57150" cap="rnd" cmpd="thinThick">
              <a:noFill/>
              <a:prstDash val="sysDot"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zh-CN" altLang="en-US" sz="3000" b="1">
                <a:solidFill>
                  <a:srgbClr val="99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1" name="Group 6"/>
          <p:cNvGrpSpPr/>
          <p:nvPr/>
        </p:nvGrpSpPr>
        <p:grpSpPr bwMode="auto">
          <a:xfrm>
            <a:off x="0" y="-1588"/>
            <a:ext cx="9155113" cy="6858001"/>
            <a:chOff x="0" y="-1"/>
            <a:chExt cx="6925" cy="4320"/>
          </a:xfrm>
        </p:grpSpPr>
        <p:sp>
          <p:nvSpPr>
            <p:cNvPr id="1032" name="Rectangle 7"/>
            <p:cNvSpPr>
              <a:spLocks noChangeArrowheads="1"/>
            </p:cNvSpPr>
            <p:nvPr userDrawn="1"/>
          </p:nvSpPr>
          <p:spPr bwMode="auto">
            <a:xfrm>
              <a:off x="0" y="188"/>
              <a:ext cx="1637" cy="3936"/>
            </a:xfrm>
            <a:prstGeom prst="rect">
              <a:avLst/>
            </a:prstGeom>
            <a:solidFill>
              <a:srgbClr val="EDEEE9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z="22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8"/>
            <p:cNvGrpSpPr/>
            <p:nvPr userDrawn="1"/>
          </p:nvGrpSpPr>
          <p:grpSpPr bwMode="auto">
            <a:xfrm>
              <a:off x="0" y="-1"/>
              <a:ext cx="6925" cy="4320"/>
              <a:chOff x="0" y="-1"/>
              <a:chExt cx="6925" cy="4320"/>
            </a:xfrm>
          </p:grpSpPr>
          <p:sp>
            <p:nvSpPr>
              <p:cNvPr id="2" name="Rectangle 9"/>
              <p:cNvSpPr>
                <a:spLocks noChangeArrowheads="1"/>
              </p:cNvSpPr>
              <p:nvPr userDrawn="1"/>
            </p:nvSpPr>
            <p:spPr bwMode="blackWhite">
              <a:xfrm>
                <a:off x="11" y="4138"/>
                <a:ext cx="6914" cy="181"/>
              </a:xfrm>
              <a:prstGeom prst="rect">
                <a:avLst/>
              </a:prstGeom>
              <a:solidFill>
                <a:srgbClr val="D7E5ED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5" name="Rectangle 10"/>
              <p:cNvSpPr>
                <a:spLocks noChangeArrowheads="1"/>
              </p:cNvSpPr>
              <p:nvPr userDrawn="1"/>
            </p:nvSpPr>
            <p:spPr bwMode="blackWhite">
              <a:xfrm>
                <a:off x="0" y="-1"/>
                <a:ext cx="6914" cy="181"/>
              </a:xfrm>
              <a:prstGeom prst="rect">
                <a:avLst/>
              </a:prstGeom>
              <a:solidFill>
                <a:srgbClr val="D7E5ED"/>
              </a:solidFill>
              <a:ln w="9525">
                <a:noFill/>
                <a:miter lim="800000"/>
              </a:ln>
            </p:spPr>
            <p:txBody>
              <a:bodyPr wrap="none" lIns="92075" tIns="0" rIns="92075" bIns="46037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200" i="1">
                    <a:solidFill>
                      <a:srgbClr val="333399"/>
                    </a:solidFill>
                    <a:latin typeface="Times New Roman" panose="02020603050405020304" pitchFamily="18" charset="0"/>
                  </a:rPr>
                  <a:t>				                                                                            Department of Material and Engineering, Soochow University</a:t>
                </a:r>
              </a:p>
            </p:txBody>
          </p:sp>
          <p:sp>
            <p:nvSpPr>
              <p:cNvPr id="1036" name="Rectangle 11"/>
              <p:cNvSpPr>
                <a:spLocks noChangeArrowheads="1"/>
              </p:cNvSpPr>
              <p:nvPr userDrawn="1"/>
            </p:nvSpPr>
            <p:spPr bwMode="blackWhite">
              <a:xfrm rot="5400000">
                <a:off x="4670" y="2068"/>
                <a:ext cx="4320" cy="181"/>
              </a:xfrm>
              <a:prstGeom prst="rect">
                <a:avLst/>
              </a:prstGeom>
              <a:solidFill>
                <a:srgbClr val="D7E5ED"/>
              </a:solidFill>
              <a:ln w="9525">
                <a:noFill/>
                <a:miter lim="800000"/>
              </a:ln>
            </p:spPr>
            <p:txBody>
              <a:bodyPr rot="10800000" vert="eaVert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7" name="Rectangle 12"/>
              <p:cNvSpPr>
                <a:spLocks noChangeArrowheads="1"/>
              </p:cNvSpPr>
              <p:nvPr userDrawn="1"/>
            </p:nvSpPr>
            <p:spPr bwMode="blackWhite">
              <a:xfrm rot="5400000">
                <a:off x="6735" y="-1"/>
                <a:ext cx="181" cy="181"/>
              </a:xfrm>
              <a:prstGeom prst="rect">
                <a:avLst/>
              </a:prstGeom>
              <a:gradFill rotWithShape="1">
                <a:gsLst>
                  <a:gs pos="0">
                    <a:srgbClr val="FFFCFF"/>
                  </a:gs>
                  <a:gs pos="100000">
                    <a:srgbClr val="D7E5E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miter lim="800000"/>
              </a:ln>
            </p:spPr>
            <p:txBody>
              <a:bodyPr rot="10800000" vert="eaVert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8" name="Rectangle 13"/>
              <p:cNvSpPr>
                <a:spLocks noChangeArrowheads="1"/>
              </p:cNvSpPr>
              <p:nvPr userDrawn="1"/>
            </p:nvSpPr>
            <p:spPr bwMode="blackWhite">
              <a:xfrm rot="5400000">
                <a:off x="-425" y="2068"/>
                <a:ext cx="4320" cy="181"/>
              </a:xfrm>
              <a:prstGeom prst="rect">
                <a:avLst/>
              </a:prstGeom>
              <a:solidFill>
                <a:srgbClr val="D7E5ED"/>
              </a:solidFill>
              <a:ln w="9525">
                <a:noFill/>
                <a:miter lim="800000"/>
              </a:ln>
            </p:spPr>
            <p:txBody>
              <a:bodyPr rot="10800000" vert="eaVert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9" name="Rectangle 14"/>
              <p:cNvSpPr>
                <a:spLocks noChangeArrowheads="1"/>
              </p:cNvSpPr>
              <p:nvPr userDrawn="1"/>
            </p:nvSpPr>
            <p:spPr bwMode="blackWhite">
              <a:xfrm rot="5400000">
                <a:off x="1656" y="4138"/>
                <a:ext cx="181" cy="181"/>
              </a:xfrm>
              <a:prstGeom prst="rect">
                <a:avLst/>
              </a:prstGeom>
              <a:gradFill rotWithShape="1">
                <a:gsLst>
                  <a:gs pos="0">
                    <a:srgbClr val="FFFCFF"/>
                  </a:gs>
                  <a:gs pos="100000">
                    <a:srgbClr val="D7E5E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miter lim="800000"/>
              </a:ln>
            </p:spPr>
            <p:txBody>
              <a:bodyPr rot="10800000" vert="eaVert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0" name="Rectangle 15"/>
              <p:cNvSpPr>
                <a:spLocks noChangeArrowheads="1"/>
              </p:cNvSpPr>
              <p:nvPr userDrawn="1"/>
            </p:nvSpPr>
            <p:spPr bwMode="blackWhite">
              <a:xfrm rot="5400000">
                <a:off x="1656" y="-1"/>
                <a:ext cx="181" cy="181"/>
              </a:xfrm>
              <a:prstGeom prst="rect">
                <a:avLst/>
              </a:prstGeom>
              <a:gradFill rotWithShape="1">
                <a:gsLst>
                  <a:gs pos="0">
                    <a:srgbClr val="FFFCFF"/>
                  </a:gs>
                  <a:gs pos="100000">
                    <a:srgbClr val="D7E5E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miter lim="800000"/>
              </a:ln>
            </p:spPr>
            <p:txBody>
              <a:bodyPr rot="10800000" vert="eaVert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1" name="Rectangle 16"/>
              <p:cNvSpPr>
                <a:spLocks noChangeArrowheads="1"/>
              </p:cNvSpPr>
              <p:nvPr userDrawn="1"/>
            </p:nvSpPr>
            <p:spPr bwMode="blackWhite">
              <a:xfrm rot="5400000">
                <a:off x="6735" y="4138"/>
                <a:ext cx="181" cy="181"/>
              </a:xfrm>
              <a:prstGeom prst="rect">
                <a:avLst/>
              </a:prstGeom>
              <a:gradFill rotWithShape="1">
                <a:gsLst>
                  <a:gs pos="0">
                    <a:srgbClr val="FFFCFF"/>
                  </a:gs>
                  <a:gs pos="100000">
                    <a:srgbClr val="D7E5E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miter lim="800000"/>
              </a:ln>
            </p:spPr>
            <p:txBody>
              <a:bodyPr rot="10800000" vert="eaVert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3" name="Object 19">
            <a:hlinkClick r:id="rId16" action="ppaction://hlinksldjump"/>
          </p:cNvPr>
          <p:cNvGraphicFramePr>
            <a:graphicFrameLocks noChangeAspect="1"/>
          </p:cNvGraphicFramePr>
          <p:nvPr/>
        </p:nvGraphicFramePr>
        <p:xfrm>
          <a:off x="309563" y="-42863"/>
          <a:ext cx="790575" cy="377826"/>
        </p:xfrm>
        <a:graphic>
          <a:graphicData uri="http://schemas.openxmlformats.org/presentationml/2006/ole">
            <p:oleObj spid="_x0000_s1025" name="CS ChemDraw Drawing" r:id="rId17" imgW="3314700" imgH="1581150" progId="">
              <p:embed/>
            </p:oleObj>
          </a:graphicData>
        </a:graphic>
      </p:graphicFrame>
      <p:graphicFrame>
        <p:nvGraphicFramePr>
          <p:cNvPr id="1027" name="Object 20">
            <a:hlinkClick r:id="rId18" action="ppaction://hlinksldjump"/>
          </p:cNvPr>
          <p:cNvGraphicFramePr>
            <a:graphicFrameLocks noChangeAspect="1"/>
          </p:cNvGraphicFramePr>
          <p:nvPr/>
        </p:nvGraphicFramePr>
        <p:xfrm>
          <a:off x="1146175" y="-42863"/>
          <a:ext cx="796925" cy="377826"/>
        </p:xfrm>
        <a:graphic>
          <a:graphicData uri="http://schemas.openxmlformats.org/presentationml/2006/ole">
            <p:oleObj spid="_x0000_s1026" name="CS ChemDraw Drawing" r:id="rId19" imgW="3314700" imgH="1571625" progId="">
              <p:embed/>
            </p:oleObj>
          </a:graphicData>
        </a:graphic>
      </p:graphicFrame>
      <p:sp>
        <p:nvSpPr>
          <p:cNvPr id="5" name="Rectangle 21"/>
          <p:cNvSpPr>
            <a:spLocks noChangeArrowheads="1"/>
          </p:cNvSpPr>
          <p:nvPr/>
        </p:nvSpPr>
        <p:spPr bwMode="auto">
          <a:xfrm>
            <a:off x="152400" y="457200"/>
            <a:ext cx="1212850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i="1">
                <a:solidFill>
                  <a:srgbClr val="FF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Inorganic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i="1">
                <a:solidFill>
                  <a:srgbClr val="FF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chemistry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 i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7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9.v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0.v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2.v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4.v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1905000" y="152400"/>
            <a:ext cx="4876800" cy="533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000" b="1" i="1" smtClean="0">
                <a:solidFill>
                  <a:srgbClr val="FF0000"/>
                </a:solidFill>
                <a:latin typeface="楷体_GB2312" pitchFamily="49" charset="-122"/>
              </a:rPr>
              <a:t>第三章  化学动力学基础</a:t>
            </a:r>
            <a:endParaRPr lang="zh-CN" altLang="en-US" sz="3000" b="1" i="1" smtClean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10"/>
          <p:cNvGrpSpPr/>
          <p:nvPr/>
        </p:nvGrpSpPr>
        <p:grpSpPr bwMode="auto">
          <a:xfrm>
            <a:off x="1143000" y="1295400"/>
            <a:ext cx="7010400" cy="2514600"/>
            <a:chOff x="1219200" y="914400"/>
            <a:chExt cx="7010400" cy="2514600"/>
          </a:xfrm>
        </p:grpSpPr>
        <p:sp>
          <p:nvSpPr>
            <p:cNvPr id="28678" name="Rectangle 6"/>
            <p:cNvSpPr>
              <a:spLocks noChangeArrowheads="1"/>
            </p:cNvSpPr>
            <p:nvPr/>
          </p:nvSpPr>
          <p:spPr bwMode="auto">
            <a:xfrm>
              <a:off x="1219200" y="914400"/>
              <a:ext cx="45720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第一节  化学反应速率</a:t>
              </a:r>
              <a:endParaRPr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9" name="Rectangle 7"/>
            <p:cNvSpPr>
              <a:spLocks noChangeArrowheads="1"/>
            </p:cNvSpPr>
            <p:nvPr/>
          </p:nvSpPr>
          <p:spPr bwMode="auto">
            <a:xfrm>
              <a:off x="1828800" y="1447800"/>
              <a:ext cx="64008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lnSpc>
                  <a:spcPts val="3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第二节  影响化学反应速率的因素</a:t>
              </a:r>
              <a:br>
                <a:rPr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</a:br>
              <a:r>
                <a:rPr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        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浓度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、温度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、催化剂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8680" name="Rectangle 8"/>
            <p:cNvSpPr>
              <a:spLocks noChangeArrowheads="1"/>
            </p:cNvSpPr>
            <p:nvPr/>
          </p:nvSpPr>
          <p:spPr bwMode="auto">
            <a:xfrm>
              <a:off x="2667000" y="2438400"/>
              <a:ext cx="37338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第三节   反应历程简介</a:t>
              </a:r>
            </a:p>
          </p:txBody>
        </p:sp>
        <p:sp>
          <p:nvSpPr>
            <p:cNvPr id="28681" name="Rectangle 13"/>
            <p:cNvSpPr>
              <a:spLocks noChangeArrowheads="1"/>
            </p:cNvSpPr>
            <p:nvPr/>
          </p:nvSpPr>
          <p:spPr bwMode="auto">
            <a:xfrm>
              <a:off x="4038600" y="2971800"/>
              <a:ext cx="37338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第四节   反应速率理论</a:t>
              </a:r>
            </a:p>
          </p:txBody>
        </p:sp>
      </p:grpSp>
      <p:pic>
        <p:nvPicPr>
          <p:cNvPr id="28676" name="Picture 9" descr="https://p2.ifengimg.com/2019_21/4D003433A9A819B0ABD17735A19D057BA38DE75B_w480_h3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28794" y="3857628"/>
            <a:ext cx="4572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0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组合 7"/>
          <p:cNvGrpSpPr/>
          <p:nvPr/>
        </p:nvGrpSpPr>
        <p:grpSpPr bwMode="auto">
          <a:xfrm>
            <a:off x="381000" y="304800"/>
            <a:ext cx="8534400" cy="4510088"/>
            <a:chOff x="228600" y="76200"/>
            <a:chExt cx="8534400" cy="2066925"/>
          </a:xfrm>
        </p:grpSpPr>
        <p:grpSp>
          <p:nvGrpSpPr>
            <p:cNvPr id="29699" name="组合 12"/>
            <p:cNvGrpSpPr/>
            <p:nvPr/>
          </p:nvGrpSpPr>
          <p:grpSpPr bwMode="auto">
            <a:xfrm>
              <a:off x="228600" y="355600"/>
              <a:ext cx="8534400" cy="1787525"/>
              <a:chOff x="304800" y="4165600"/>
              <a:chExt cx="8534400" cy="1787525"/>
            </a:xfrm>
          </p:grpSpPr>
          <p:sp>
            <p:nvSpPr>
              <p:cNvPr id="29701" name="Rectangle 14"/>
              <p:cNvSpPr>
                <a:spLocks noChangeArrowheads="1"/>
              </p:cNvSpPr>
              <p:nvPr/>
            </p:nvSpPr>
            <p:spPr bwMode="auto">
              <a:xfrm>
                <a:off x="304800" y="4165600"/>
                <a:ext cx="8458200" cy="914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fontAlgn="base">
                  <a:lnSpc>
                    <a:spcPts val="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00" b="1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  1</a:t>
                </a:r>
                <a:r>
                  <a:rPr lang="zh-CN" altLang="en-US" sz="2600" b="1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、掌握</a:t>
                </a:r>
                <a:r>
                  <a:rPr lang="en-US" altLang="zh-CN" sz="2600" b="1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600" b="1" baseline="-2500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反</a:t>
                </a:r>
                <a:r>
                  <a:rPr lang="zh-CN" altLang="en-US" sz="2600" b="1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概念、反应级数、活化能（了解）；</a:t>
                </a:r>
                <a:endPara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fontAlgn="base">
                  <a:lnSpc>
                    <a:spcPts val="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600" b="1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        熟悉碰撞理论和过渡态理论；</a:t>
                </a:r>
                <a:endPara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fontAlgn="base">
                  <a:lnSpc>
                    <a:spcPts val="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600" b="1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       了解反应机理的简单推导方法；</a:t>
                </a:r>
                <a:endParaRPr lang="zh-CN" altLang="en-US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2" name="Rectangle 15"/>
              <p:cNvSpPr>
                <a:spLocks noChangeArrowheads="1"/>
              </p:cNvSpPr>
              <p:nvPr/>
            </p:nvSpPr>
            <p:spPr bwMode="auto">
              <a:xfrm>
                <a:off x="381000" y="5038725"/>
                <a:ext cx="8458200" cy="914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fontAlgn="base">
                  <a:lnSpc>
                    <a:spcPts val="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   2</a:t>
                </a:r>
                <a:r>
                  <a:rPr lang="zh-CN" altLang="en-US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、掌握</a:t>
                </a:r>
                <a:r>
                  <a:rPr lang="en-US" altLang="zh-CN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zh-CN" altLang="en-US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对化学反应速率的影响规律和相关计算</a:t>
                </a:r>
                <a:r>
                  <a:rPr lang="en-US" altLang="zh-CN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重点一级反应和</a:t>
                </a:r>
                <a:r>
                  <a:rPr lang="en-US" altLang="zh-CN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Arrhenius</a:t>
                </a:r>
                <a:r>
                  <a:rPr lang="zh-CN" altLang="en-US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方程式</a:t>
                </a:r>
                <a:r>
                  <a:rPr lang="en-US" altLang="zh-CN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。</a:t>
                </a:r>
                <a:endParaRPr lang="en-US" altLang="zh-CN" sz="26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304800" y="76200"/>
              <a:ext cx="2286000" cy="225536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6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本章要求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组合 9"/>
          <p:cNvGrpSpPr/>
          <p:nvPr/>
        </p:nvGrpSpPr>
        <p:grpSpPr bwMode="auto">
          <a:xfrm>
            <a:off x="304800" y="533400"/>
            <a:ext cx="8458200" cy="3108325"/>
            <a:chOff x="304800" y="152400"/>
            <a:chExt cx="8458200" cy="3107969"/>
          </a:xfrm>
        </p:grpSpPr>
        <p:sp>
          <p:nvSpPr>
            <p:cNvPr id="264196" name="Rectangle 4"/>
            <p:cNvSpPr>
              <a:spLocks noChangeArrowheads="1"/>
            </p:cNvSpPr>
            <p:nvPr/>
          </p:nvSpPr>
          <p:spPr bwMode="auto">
            <a:xfrm>
              <a:off x="990600" y="152400"/>
              <a:ext cx="5181600" cy="40000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92075" tIns="46038" rIns="92075" bIns="46038" anchor="b"/>
            <a:lstStyle/>
            <a:p>
              <a:pPr fontAlgn="base">
                <a:lnSpc>
                  <a:spcPts val="36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研究化学反应经常遇到的问题是：</a:t>
              </a:r>
              <a:endParaRPr lang="zh-CN" altLang="en-US" sz="2600" b="1">
                <a:solidFill>
                  <a:srgbClr val="00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</a:endParaRPr>
            </a:p>
          </p:txBody>
        </p:sp>
        <p:sp>
          <p:nvSpPr>
            <p:cNvPr id="30724" name="Text Box 5"/>
            <p:cNvSpPr txBox="1">
              <a:spLocks noChangeArrowheads="1"/>
            </p:cNvSpPr>
            <p:nvPr/>
          </p:nvSpPr>
          <p:spPr bwMode="auto">
            <a:xfrm>
              <a:off x="304800" y="609600"/>
              <a:ext cx="8458200" cy="10163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i="1" smtClean="0">
                  <a:solidFill>
                    <a:srgbClr val="000000"/>
                  </a:solidFill>
                </a:rPr>
                <a:t>       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1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、某个未知反应在一定条件下能否自发进行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——</a:t>
              </a:r>
              <a:r>
                <a:rPr lang="en-US" altLang="zh-CN" sz="2600" i="1" smtClean="0">
                  <a:solidFill>
                    <a:srgbClr val="C00000"/>
                  </a:solidFill>
                </a:rPr>
                <a:t>Δ</a:t>
              </a:r>
              <a:r>
                <a:rPr lang="en-US" altLang="zh-CN" sz="2600" i="1" baseline="-25000" smtClean="0">
                  <a:solidFill>
                    <a:srgbClr val="C00000"/>
                  </a:solidFill>
                </a:rPr>
                <a:t>r</a:t>
              </a:r>
              <a:r>
                <a:rPr lang="en-US" altLang="zh-CN" sz="2600" i="1" smtClean="0">
                  <a:solidFill>
                    <a:srgbClr val="C00000"/>
                  </a:solidFill>
                </a:rPr>
                <a:t>G</a:t>
              </a:r>
              <a:r>
                <a:rPr lang="en-US" altLang="zh-CN" sz="2600" i="1" baseline="-25000" smtClean="0">
                  <a:solidFill>
                    <a:srgbClr val="C00000"/>
                  </a:solidFill>
                </a:rPr>
                <a:t>m</a:t>
              </a:r>
              <a:r>
                <a:rPr lang="zh-CN" altLang="en-US" sz="2600" i="1" smtClean="0">
                  <a:solidFill>
                    <a:srgbClr val="C00000"/>
                  </a:solidFill>
                </a:rPr>
                <a:t>判据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，反应的方向和程度如何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—— </a:t>
              </a:r>
              <a:r>
                <a:rPr lang="zh-CN" altLang="en-US" sz="2600" i="1" smtClean="0">
                  <a:solidFill>
                    <a:srgbClr val="C00000"/>
                  </a:solidFill>
                </a:rPr>
                <a:t>化学平衡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问题；          </a:t>
              </a:r>
            </a:p>
          </p:txBody>
        </p:sp>
        <p:sp>
          <p:nvSpPr>
            <p:cNvPr id="30725" name="Rectangle 6"/>
            <p:cNvSpPr>
              <a:spLocks noChangeArrowheads="1"/>
            </p:cNvSpPr>
            <p:nvPr/>
          </p:nvSpPr>
          <p:spPr bwMode="auto">
            <a:xfrm>
              <a:off x="304800" y="1676400"/>
              <a:ext cx="8458200" cy="5127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2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、反应是吸热还是放热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————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热化学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Δ</a:t>
              </a:r>
              <a:r>
                <a:rPr kumimoji="1" lang="en-US" altLang="zh-CN" sz="2600" b="1" i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sz="2600" b="1" i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m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26" name="Rectangle 7"/>
            <p:cNvSpPr>
              <a:spLocks noChangeArrowheads="1"/>
            </p:cNvSpPr>
            <p:nvPr/>
          </p:nvSpPr>
          <p:spPr bwMode="auto">
            <a:xfrm>
              <a:off x="304800" y="2286000"/>
              <a:ext cx="84582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、反应进行的快慢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反应速率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问题，反应是如何进行的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反应的真实途径属于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反应机理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问题 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/>
        </p:nvGrpSpPr>
        <p:grpSpPr bwMode="auto">
          <a:xfrm>
            <a:off x="762000" y="1676400"/>
            <a:ext cx="7772400" cy="1663700"/>
            <a:chOff x="762000" y="1676400"/>
            <a:chExt cx="7772400" cy="1663991"/>
          </a:xfrm>
        </p:grpSpPr>
        <p:sp>
          <p:nvSpPr>
            <p:cNvPr id="31750" name="Text Box 10"/>
            <p:cNvSpPr txBox="1">
              <a:spLocks noChangeArrowheads="1"/>
            </p:cNvSpPr>
            <p:nvPr/>
          </p:nvSpPr>
          <p:spPr bwMode="auto">
            <a:xfrm>
              <a:off x="762000" y="2286000"/>
              <a:ext cx="7772400" cy="10543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000000"/>
                  </a:solidFill>
                </a:rPr>
                <a:t>        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快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——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爆炸反应，中和反应，离子反应；</a:t>
              </a:r>
              <a:endParaRPr lang="en-US" altLang="zh-CN" sz="2600" smtClean="0">
                <a:solidFill>
                  <a:srgbClr val="000000"/>
                </a:solidFill>
              </a:endParaRPr>
            </a:p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600" smtClean="0">
                  <a:solidFill>
                    <a:srgbClr val="000000"/>
                  </a:solidFill>
                </a:rPr>
                <a:t>慢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—— 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金属腐蚀，橡胶、塑料老化，有机反应。</a:t>
              </a:r>
            </a:p>
          </p:txBody>
        </p:sp>
        <p:sp>
          <p:nvSpPr>
            <p:cNvPr id="31751" name="Text Box 11"/>
            <p:cNvSpPr txBox="1">
              <a:spLocks noChangeArrowheads="1"/>
            </p:cNvSpPr>
            <p:nvPr/>
          </p:nvSpPr>
          <p:spPr bwMode="auto">
            <a:xfrm>
              <a:off x="2209800" y="1676400"/>
              <a:ext cx="3886200" cy="512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600" smtClean="0">
                  <a:solidFill>
                    <a:srgbClr val="000000"/>
                  </a:solidFill>
                </a:rPr>
                <a:t>化学反应有快有慢</a:t>
              </a:r>
            </a:p>
          </p:txBody>
        </p:sp>
      </p:grp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2362200" y="304800"/>
            <a:ext cx="4267200" cy="455613"/>
          </a:xfrm>
          <a:prstGeom prst="rect">
            <a:avLst/>
          </a:prstGeom>
          <a:gradFill rotWithShape="1">
            <a:gsLst>
              <a:gs pos="0">
                <a:srgbClr val="767647"/>
              </a:gs>
              <a:gs pos="100000">
                <a:srgbClr val="FFFF99"/>
              </a:gs>
            </a:gsLst>
            <a:lin ang="5400000" scaled="1"/>
          </a:gradFill>
          <a:ln w="9525">
            <a:noFill/>
            <a:miter lim="800000"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800" b="1">
                <a:solidFill>
                  <a:srgbClr val="990000"/>
                </a:solidFill>
                <a:latin typeface="Times New Roman" panose="02020603050405020304" pitchFamily="18" charset="0"/>
              </a:rPr>
              <a:t>3-1   </a:t>
            </a:r>
            <a:r>
              <a:rPr lang="zh-CN" altLang="en-US" sz="2800" b="1">
                <a:solidFill>
                  <a:srgbClr val="990000"/>
                </a:solidFill>
                <a:latin typeface="Times New Roman" panose="02020603050405020304" pitchFamily="18" charset="0"/>
              </a:rPr>
              <a:t>化学反应速率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33400" y="914400"/>
            <a:ext cx="2209800" cy="455613"/>
          </a:xfrm>
          <a:prstGeom prst="rect">
            <a:avLst/>
          </a:prstGeom>
          <a:gradFill rotWithShape="1">
            <a:gsLst>
              <a:gs pos="0">
                <a:srgbClr val="767647"/>
              </a:gs>
              <a:gs pos="100000">
                <a:srgbClr val="FFFF99"/>
              </a:gs>
            </a:gsLst>
            <a:lin ang="5400000" scaled="1"/>
          </a:gradFill>
          <a:ln w="9525">
            <a:noFill/>
            <a:miter lim="800000"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800" b="1">
                <a:solidFill>
                  <a:srgbClr val="990000"/>
                </a:solidFill>
                <a:latin typeface="Times New Roman" panose="02020603050405020304" pitchFamily="18" charset="0"/>
              </a:rPr>
              <a:t>3-1-1    </a:t>
            </a:r>
            <a:r>
              <a:rPr lang="zh-CN" altLang="en-US" sz="2800" b="1">
                <a:solidFill>
                  <a:srgbClr val="990000"/>
                </a:solidFill>
                <a:latin typeface="Times New Roman" panose="02020603050405020304" pitchFamily="18" charset="0"/>
              </a:rPr>
              <a:t>概述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1000" y="3810000"/>
            <a:ext cx="8305800" cy="1905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14350" indent="-514350"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Scientifically speaking, life is nothing but a series</a:t>
            </a:r>
          </a:p>
          <a:p>
            <a:pPr marL="514350" indent="-514350"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of chemical reactions…(accelerate/decelerate the process</a:t>
            </a:r>
          </a:p>
          <a:p>
            <a:pPr marL="514350" indent="-514350"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---long/short)</a:t>
            </a:r>
            <a:endParaRPr kumimoji="1" lang="zh-CN" altLang="en-US" sz="26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20" name="Rectangle 4"/>
          <p:cNvSpPr>
            <a:spLocks noChangeArrowheads="1"/>
          </p:cNvSpPr>
          <p:nvPr/>
        </p:nvSpPr>
        <p:spPr bwMode="auto">
          <a:xfrm>
            <a:off x="685800" y="381000"/>
            <a:ext cx="7924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反应趋势的大小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(Δ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600" b="1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、反应程度的高低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(K</a:t>
            </a:r>
            <a:r>
              <a:rPr kumimoji="1" lang="el-GR" altLang="zh-CN" sz="2600" b="1" baseline="30000" smtClean="0">
                <a:solidFill>
                  <a:srgbClr val="000000"/>
                </a:solidFill>
                <a:latin typeface="楷体_GB2312" pitchFamily="49" charset="-122"/>
              </a:rPr>
              <a:t>Θ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与反应的快慢没有关系：也就是说，反应的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600" b="1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越负或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l-GR" altLang="zh-CN" sz="2600" b="1" baseline="30000" smtClean="0">
                <a:solidFill>
                  <a:srgbClr val="000000"/>
                </a:solidFill>
                <a:latin typeface="楷体_GB2312" pitchFamily="49" charset="-122"/>
              </a:rPr>
              <a:t>Θ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值越大，反应速率不一定越快。</a:t>
            </a:r>
            <a:endParaRPr kumimoji="1" lang="en-US" altLang="zh-CN" sz="26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热力学和动力学是两个完全不同的两个方面。</a:t>
            </a:r>
          </a:p>
        </p:txBody>
      </p:sp>
      <p:sp>
        <p:nvSpPr>
          <p:cNvPr id="265222" name="Rectangle 6"/>
          <p:cNvSpPr>
            <a:spLocks noChangeArrowheads="1"/>
          </p:cNvSpPr>
          <p:nvPr/>
        </p:nvSpPr>
        <p:spPr bwMode="auto">
          <a:xfrm>
            <a:off x="685800" y="2819400"/>
            <a:ext cx="7848600" cy="1576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研究控制化学反应速率在工业生产和实际生活中具有重要意义。如金属的防腐、食物的防腐防霉、化工产品的合成、人体的衰老等方面。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0" grpId="0" animBg="1"/>
      <p:bldP spid="2652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57200" y="76200"/>
            <a:ext cx="4876800" cy="455613"/>
          </a:xfrm>
          <a:prstGeom prst="rect">
            <a:avLst/>
          </a:prstGeom>
          <a:gradFill rotWithShape="1">
            <a:gsLst>
              <a:gs pos="0">
                <a:srgbClr val="767647"/>
              </a:gs>
              <a:gs pos="100000">
                <a:srgbClr val="FFFF99"/>
              </a:gs>
            </a:gsLst>
            <a:lin ang="5400000" scaled="1"/>
          </a:gradFill>
          <a:ln w="9525">
            <a:noFill/>
            <a:miter lim="800000"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800" b="1">
                <a:solidFill>
                  <a:srgbClr val="990000"/>
                </a:solidFill>
                <a:latin typeface="Times New Roman" panose="02020603050405020304" pitchFamily="18" charset="0"/>
              </a:rPr>
              <a:t>3-1-2    </a:t>
            </a:r>
            <a:r>
              <a:rPr lang="zh-CN" altLang="en-US" sz="2800" b="1">
                <a:solidFill>
                  <a:srgbClr val="990000"/>
                </a:solidFill>
                <a:latin typeface="Times New Roman" panose="02020603050405020304" pitchFamily="18" charset="0"/>
              </a:rPr>
              <a:t>平均速率和瞬时速率</a:t>
            </a:r>
          </a:p>
        </p:txBody>
      </p:sp>
      <p:grpSp>
        <p:nvGrpSpPr>
          <p:cNvPr id="2" name="组合 9"/>
          <p:cNvGrpSpPr/>
          <p:nvPr/>
        </p:nvGrpSpPr>
        <p:grpSpPr bwMode="auto">
          <a:xfrm>
            <a:off x="228600" y="838200"/>
            <a:ext cx="8763000" cy="3390900"/>
            <a:chOff x="228600" y="838200"/>
            <a:chExt cx="8763000" cy="3390415"/>
          </a:xfrm>
        </p:grpSpPr>
        <p:sp>
          <p:nvSpPr>
            <p:cNvPr id="33796" name="Rectangle 8"/>
            <p:cNvSpPr>
              <a:spLocks noChangeArrowheads="1"/>
            </p:cNvSpPr>
            <p:nvPr/>
          </p:nvSpPr>
          <p:spPr bwMode="auto">
            <a:xfrm>
              <a:off x="228600" y="838200"/>
              <a:ext cx="8763000" cy="1015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楷体_GB2312" pitchFamily="49" charset="-122"/>
                </a:rPr>
                <a:t>化学反应的平均速率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通常以单位时间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(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Δt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)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内某一反应物物质的量的减少或生成物物质的量的增加来表示。</a:t>
              </a:r>
            </a:p>
          </p:txBody>
        </p:sp>
        <p:sp>
          <p:nvSpPr>
            <p:cNvPr id="33797" name="Rectangle 9"/>
            <p:cNvSpPr>
              <a:spLocks noChangeArrowheads="1"/>
            </p:cNvSpPr>
            <p:nvPr/>
          </p:nvSpPr>
          <p:spPr bwMode="auto">
            <a:xfrm>
              <a:off x="1981200" y="1828800"/>
              <a:ext cx="4114800" cy="5127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= ︱Δn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B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/ Δt︱</a:t>
              </a:r>
            </a:p>
          </p:txBody>
        </p:sp>
        <p:sp>
          <p:nvSpPr>
            <p:cNvPr id="33798" name="Rectangle 10"/>
            <p:cNvSpPr>
              <a:spLocks noChangeArrowheads="1"/>
            </p:cNvSpPr>
            <p:nvPr/>
          </p:nvSpPr>
          <p:spPr bwMode="auto">
            <a:xfrm>
              <a:off x="228600" y="2438400"/>
              <a:ext cx="8763000" cy="49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对于封闭系统体积一定的情况下，可用浓度来代替：</a:t>
              </a:r>
            </a:p>
          </p:txBody>
        </p:sp>
        <p:sp>
          <p:nvSpPr>
            <p:cNvPr id="33799" name="Rectangle 2"/>
            <p:cNvSpPr>
              <a:spLocks noChangeArrowheads="1"/>
            </p:cNvSpPr>
            <p:nvPr/>
          </p:nvSpPr>
          <p:spPr bwMode="auto">
            <a:xfrm>
              <a:off x="2438400" y="3124200"/>
              <a:ext cx="4114800" cy="5127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= ︱Δc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B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/ Δt︱</a:t>
              </a:r>
            </a:p>
          </p:txBody>
        </p:sp>
        <p:sp>
          <p:nvSpPr>
            <p:cNvPr id="33800" name="Rectangle 3"/>
            <p:cNvSpPr>
              <a:spLocks noChangeArrowheads="1"/>
            </p:cNvSpPr>
            <p:nvPr/>
          </p:nvSpPr>
          <p:spPr bwMode="auto">
            <a:xfrm>
              <a:off x="685800" y="3733800"/>
              <a:ext cx="6858000" cy="49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速率不管大小，总是取正值。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 bwMode="auto">
          <a:xfrm>
            <a:off x="914400" y="2438400"/>
            <a:ext cx="7191375" cy="1731963"/>
            <a:chOff x="720" y="3120"/>
            <a:chExt cx="4530" cy="1091"/>
          </a:xfrm>
        </p:grpSpPr>
        <p:sp>
          <p:nvSpPr>
            <p:cNvPr id="34823" name="Rectangle 11"/>
            <p:cNvSpPr>
              <a:spLocks noChangeArrowheads="1"/>
            </p:cNvSpPr>
            <p:nvPr/>
          </p:nvSpPr>
          <p:spPr bwMode="auto">
            <a:xfrm>
              <a:off x="2640" y="3120"/>
              <a:ext cx="2610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1.5×10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-3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mol·L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-1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·s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34824" name="Rectangle 12"/>
            <p:cNvSpPr>
              <a:spLocks noChangeArrowheads="1"/>
            </p:cNvSpPr>
            <p:nvPr/>
          </p:nvSpPr>
          <p:spPr bwMode="auto">
            <a:xfrm>
              <a:off x="768" y="3135"/>
              <a:ext cx="1822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r(N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  =</a:t>
              </a:r>
            </a:p>
          </p:txBody>
        </p:sp>
        <p:sp>
          <p:nvSpPr>
            <p:cNvPr id="34825" name="Rectangle 13"/>
            <p:cNvSpPr>
              <a:spLocks noChangeArrowheads="1"/>
            </p:cNvSpPr>
            <p:nvPr/>
          </p:nvSpPr>
          <p:spPr bwMode="auto">
            <a:xfrm>
              <a:off x="720" y="3519"/>
              <a:ext cx="1885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r(NO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  =</a:t>
              </a:r>
            </a:p>
          </p:txBody>
        </p:sp>
        <p:sp>
          <p:nvSpPr>
            <p:cNvPr id="34826" name="Rectangle 14"/>
            <p:cNvSpPr>
              <a:spLocks noChangeArrowheads="1"/>
            </p:cNvSpPr>
            <p:nvPr/>
          </p:nvSpPr>
          <p:spPr bwMode="auto">
            <a:xfrm>
              <a:off x="2592" y="3504"/>
              <a:ext cx="2592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3.0×10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-3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mol·L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-1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·s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34827" name="Rectangle 15"/>
            <p:cNvSpPr>
              <a:spLocks noChangeArrowheads="1"/>
            </p:cNvSpPr>
            <p:nvPr/>
          </p:nvSpPr>
          <p:spPr bwMode="auto">
            <a:xfrm>
              <a:off x="720" y="3903"/>
              <a:ext cx="1883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r(O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   =</a:t>
              </a:r>
            </a:p>
          </p:txBody>
        </p:sp>
        <p:sp>
          <p:nvSpPr>
            <p:cNvPr id="34828" name="Rectangle 16"/>
            <p:cNvSpPr>
              <a:spLocks noChangeArrowheads="1"/>
            </p:cNvSpPr>
            <p:nvPr/>
          </p:nvSpPr>
          <p:spPr bwMode="auto">
            <a:xfrm>
              <a:off x="2592" y="3903"/>
              <a:ext cx="2597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7.5×10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-4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mol·L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-1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·s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</p:grpSp>
      <p:grpSp>
        <p:nvGrpSpPr>
          <p:cNvPr id="3" name="组合 19"/>
          <p:cNvGrpSpPr/>
          <p:nvPr/>
        </p:nvGrpSpPr>
        <p:grpSpPr bwMode="auto">
          <a:xfrm>
            <a:off x="228600" y="304800"/>
            <a:ext cx="8642350" cy="1733550"/>
            <a:chOff x="228600" y="304800"/>
            <a:chExt cx="8642350" cy="1732767"/>
          </a:xfrm>
        </p:grpSpPr>
        <p:sp>
          <p:nvSpPr>
            <p:cNvPr id="34820" name="Text Box 5"/>
            <p:cNvSpPr txBox="1">
              <a:spLocks noChangeArrowheads="1"/>
            </p:cNvSpPr>
            <p:nvPr/>
          </p:nvSpPr>
          <p:spPr bwMode="auto">
            <a:xfrm>
              <a:off x="1381125" y="381000"/>
              <a:ext cx="7272338" cy="5127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000000"/>
                  </a:solidFill>
                </a:rPr>
                <a:t>     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反应　                 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2N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O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5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 → 4NO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  +  O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4821" name="Text Box 6"/>
            <p:cNvSpPr txBox="1">
              <a:spLocks noChangeArrowheads="1"/>
            </p:cNvSpPr>
            <p:nvPr/>
          </p:nvSpPr>
          <p:spPr bwMode="auto">
            <a:xfrm>
              <a:off x="228600" y="884238"/>
              <a:ext cx="8642350" cy="11533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smtClean="0">
                  <a:solidFill>
                    <a:srgbClr val="000000"/>
                  </a:solidFill>
                </a:rPr>
                <a:t>           </a:t>
              </a:r>
              <a:r>
                <a:rPr lang="zh-CN" altLang="en-US" sz="2400" smtClean="0">
                  <a:solidFill>
                    <a:srgbClr val="000000"/>
                  </a:solidFill>
                </a:rPr>
                <a:t>开始浓度</a:t>
              </a:r>
              <a:r>
                <a:rPr lang="en-US" altLang="zh-CN" sz="2400" smtClean="0">
                  <a:solidFill>
                    <a:srgbClr val="000000"/>
                  </a:solidFill>
                </a:rPr>
                <a:t>/(mol</a:t>
              </a:r>
              <a:r>
                <a:rPr lang="en-US" altLang="zh-CN" sz="2400" smtClean="0">
                  <a:solidFill>
                    <a:srgbClr val="000000"/>
                  </a:solidFill>
                  <a:cs typeface="Times New Roman" panose="02020603050405020304" pitchFamily="18" charset="0"/>
                </a:rPr>
                <a:t>·</a:t>
              </a:r>
              <a:r>
                <a:rPr lang="en-US" altLang="zh-CN" sz="2400" smtClean="0">
                  <a:solidFill>
                    <a:srgbClr val="000000"/>
                  </a:solidFill>
                </a:rPr>
                <a:t>L</a:t>
              </a:r>
              <a:r>
                <a:rPr lang="en-US" altLang="zh-CN" sz="2400" baseline="30000" smtClean="0">
                  <a:solidFill>
                    <a:srgbClr val="000000"/>
                  </a:solidFill>
                </a:rPr>
                <a:t>-1</a:t>
              </a:r>
              <a:r>
                <a:rPr lang="en-US" altLang="zh-CN" sz="2400" smtClean="0">
                  <a:solidFill>
                    <a:srgbClr val="000000"/>
                  </a:solidFill>
                </a:rPr>
                <a:t>)         2.10             0             0</a:t>
              </a:r>
            </a:p>
            <a:p>
              <a:pPr algn="just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smtClean="0">
                  <a:solidFill>
                    <a:srgbClr val="000000"/>
                  </a:solidFill>
                </a:rPr>
                <a:t>          100</a:t>
              </a:r>
              <a:r>
                <a:rPr lang="zh-CN" altLang="en-US" sz="2400" smtClean="0">
                  <a:solidFill>
                    <a:srgbClr val="000000"/>
                  </a:solidFill>
                </a:rPr>
                <a:t>秒浓度</a:t>
              </a:r>
              <a:r>
                <a:rPr lang="en-US" altLang="zh-CN" sz="2400" smtClean="0">
                  <a:solidFill>
                    <a:srgbClr val="000000"/>
                  </a:solidFill>
                </a:rPr>
                <a:t>/(mol·L</a:t>
              </a:r>
              <a:r>
                <a:rPr lang="en-US" altLang="zh-CN" sz="2400" baseline="30000" smtClean="0">
                  <a:solidFill>
                    <a:srgbClr val="000000"/>
                  </a:solidFill>
                </a:rPr>
                <a:t>-1</a:t>
              </a:r>
              <a:r>
                <a:rPr lang="en-US" altLang="zh-CN" sz="2400" smtClean="0">
                  <a:solidFill>
                    <a:srgbClr val="000000"/>
                  </a:solidFill>
                </a:rPr>
                <a:t>)</a:t>
              </a:r>
              <a:r>
                <a:rPr lang="zh-CN" altLang="en-US" sz="2400" smtClean="0">
                  <a:solidFill>
                    <a:srgbClr val="000000"/>
                  </a:solidFill>
                </a:rPr>
                <a:t>　    </a:t>
              </a:r>
              <a:r>
                <a:rPr lang="en-US" altLang="zh-CN" sz="2400" smtClean="0">
                  <a:solidFill>
                    <a:srgbClr val="000000"/>
                  </a:solidFill>
                </a:rPr>
                <a:t>1.95           0.30        0.075</a:t>
              </a:r>
            </a:p>
          </p:txBody>
        </p:sp>
        <p:sp>
          <p:nvSpPr>
            <p:cNvPr id="34822" name="矩形 18"/>
            <p:cNvSpPr>
              <a:spLocks noChangeArrowheads="1"/>
            </p:cNvSpPr>
            <p:nvPr/>
          </p:nvSpPr>
          <p:spPr bwMode="auto">
            <a:xfrm>
              <a:off x="457200" y="304800"/>
              <a:ext cx="570990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3000" b="1" smtClean="0">
                  <a:solidFill>
                    <a:srgbClr val="FF5050"/>
                  </a:solidFill>
                  <a:latin typeface="楷体_GB2312" pitchFamily="49" charset="-122"/>
                </a:rPr>
                <a:t>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Text Box 2"/>
          <p:cNvSpPr txBox="1">
            <a:spLocks noChangeArrowheads="1"/>
          </p:cNvSpPr>
          <p:nvPr/>
        </p:nvSpPr>
        <p:spPr bwMode="auto">
          <a:xfrm>
            <a:off x="609600" y="228600"/>
            <a:ext cx="7924800" cy="1477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 </a:t>
            </a:r>
            <a:r>
              <a:rPr lang="zh-CN" altLang="en-US" sz="2600" smtClean="0">
                <a:solidFill>
                  <a:srgbClr val="000000"/>
                </a:solidFill>
              </a:rPr>
              <a:t>用不同物质来表示的反应速率的数值是不同的，而实际上，同一化学反应的速率应该相同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</a:rPr>
              <a:t>只有一个值。</a:t>
            </a:r>
          </a:p>
        </p:txBody>
      </p:sp>
      <p:sp>
        <p:nvSpPr>
          <p:cNvPr id="311299" name="Text Box 3"/>
          <p:cNvSpPr txBox="1">
            <a:spLocks noChangeArrowheads="1"/>
          </p:cNvSpPr>
          <p:nvPr/>
        </p:nvSpPr>
        <p:spPr bwMode="auto">
          <a:xfrm>
            <a:off x="762000" y="1905000"/>
            <a:ext cx="7696200" cy="1016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0" lang="en-US" altLang="zh-CN" sz="2600" smtClean="0">
                <a:solidFill>
                  <a:srgbClr val="000000"/>
                </a:solidFill>
              </a:rPr>
              <a:t>        </a:t>
            </a:r>
            <a:r>
              <a:rPr kumimoji="0" lang="zh-CN" altLang="en-US" sz="2600" smtClean="0">
                <a:solidFill>
                  <a:srgbClr val="000000"/>
                </a:solidFill>
              </a:rPr>
              <a:t>由于</a:t>
            </a:r>
            <a:r>
              <a:rPr kumimoji="0" lang="en-US" altLang="zh-CN" sz="2600" smtClean="0">
                <a:solidFill>
                  <a:srgbClr val="000000"/>
                </a:solidFill>
              </a:rPr>
              <a:t>r</a:t>
            </a:r>
            <a:r>
              <a:rPr lang="en-US" altLang="zh-CN" sz="2600" smtClean="0">
                <a:solidFill>
                  <a:srgbClr val="000000"/>
                </a:solidFill>
              </a:rPr>
              <a:t>(N</a:t>
            </a:r>
            <a:r>
              <a:rPr lang="en-US" altLang="zh-CN" sz="2600" baseline="-25000" smtClean="0">
                <a:solidFill>
                  <a:srgbClr val="000000"/>
                </a:solidFill>
              </a:rPr>
              <a:t>2</a:t>
            </a:r>
            <a:r>
              <a:rPr lang="en-US" altLang="zh-CN" sz="2600" smtClean="0">
                <a:solidFill>
                  <a:srgbClr val="000000"/>
                </a:solidFill>
              </a:rPr>
              <a:t>O</a:t>
            </a:r>
            <a:r>
              <a:rPr lang="en-US" altLang="zh-CN" sz="2600" baseline="-25000" smtClean="0">
                <a:solidFill>
                  <a:srgbClr val="000000"/>
                </a:solidFill>
              </a:rPr>
              <a:t>5</a:t>
            </a:r>
            <a:r>
              <a:rPr lang="en-US" altLang="zh-CN" sz="2600" smtClean="0">
                <a:solidFill>
                  <a:srgbClr val="000000"/>
                </a:solidFill>
              </a:rPr>
              <a:t>) : r(NO</a:t>
            </a:r>
            <a:r>
              <a:rPr lang="en-US" altLang="zh-CN" sz="2600" baseline="-25000" smtClean="0">
                <a:solidFill>
                  <a:srgbClr val="000000"/>
                </a:solidFill>
              </a:rPr>
              <a:t>2</a:t>
            </a:r>
            <a:r>
              <a:rPr lang="en-US" altLang="zh-CN" sz="2600" smtClean="0">
                <a:solidFill>
                  <a:srgbClr val="000000"/>
                </a:solidFill>
              </a:rPr>
              <a:t>) : r(O</a:t>
            </a:r>
            <a:r>
              <a:rPr lang="en-US" altLang="zh-CN" sz="2600" baseline="-25000" smtClean="0">
                <a:solidFill>
                  <a:srgbClr val="000000"/>
                </a:solidFill>
              </a:rPr>
              <a:t>2</a:t>
            </a:r>
            <a:r>
              <a:rPr lang="en-US" altLang="zh-CN" sz="2600" smtClean="0">
                <a:solidFill>
                  <a:srgbClr val="000000"/>
                </a:solidFill>
              </a:rPr>
              <a:t>) = 2 : 4 : 1</a:t>
            </a:r>
            <a:r>
              <a:rPr lang="zh-CN" altLang="en-US" sz="2600" smtClean="0">
                <a:solidFill>
                  <a:srgbClr val="000000"/>
                </a:solidFill>
              </a:rPr>
              <a:t>，速率比刚好等于反应式中相应物质分子式前的系数比。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28600" y="3200400"/>
            <a:ext cx="8458200" cy="885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化学速率的</a:t>
            </a:r>
            <a:r>
              <a:rPr kumimoji="1" lang="zh-CN" altLang="en-US" sz="2600" b="1" i="1" smtClean="0">
                <a:solidFill>
                  <a:srgbClr val="C00000"/>
                </a:solidFill>
                <a:latin typeface="Times New Roman" panose="02020603050405020304" pitchFamily="18" charset="0"/>
              </a:rPr>
              <a:t>新</a:t>
            </a:r>
            <a:r>
              <a:rPr kumimoji="1" lang="zh-CN" altLang="en-US" sz="2600" b="1" i="1" smtClean="0">
                <a:solidFill>
                  <a:srgbClr val="C00000"/>
                </a:solidFill>
                <a:latin typeface="楷体_GB2312" pitchFamily="49" charset="-122"/>
              </a:rPr>
              <a:t>定义</a:t>
            </a:r>
            <a:r>
              <a:rPr kumimoji="1" lang="en-US" altLang="zh-CN" sz="2600" b="1" smtClean="0">
                <a:solidFill>
                  <a:srgbClr val="000000"/>
                </a:solidFill>
                <a:latin typeface="楷体_GB2312" pitchFamily="49" charset="-122"/>
              </a:rPr>
              <a:t>: </a:t>
            </a:r>
            <a:r>
              <a:rPr kumimoji="1"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单位体积内反应进行程度</a:t>
            </a:r>
            <a:r>
              <a:rPr kumimoji="1" lang="en-US" altLang="zh-CN" sz="2600" b="1" smtClean="0">
                <a:solidFill>
                  <a:srgbClr val="000000"/>
                </a:solidFill>
                <a:latin typeface="楷体_GB2312" pitchFamily="49" charset="-122"/>
              </a:rPr>
              <a:t>(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反应进度</a:t>
            </a:r>
            <a:r>
              <a:rPr kumimoji="1" lang="en-US" altLang="zh-CN" sz="2600" b="1" smtClean="0">
                <a:solidFill>
                  <a:srgbClr val="000000"/>
                </a:solidFill>
                <a:latin typeface="楷体_GB2312" pitchFamily="49" charset="-122"/>
              </a:rPr>
              <a:t>ξ)</a:t>
            </a:r>
            <a:r>
              <a:rPr kumimoji="1"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随时间的变化率。</a:t>
            </a:r>
          </a:p>
        </p:txBody>
      </p:sp>
      <p:graphicFrame>
        <p:nvGraphicFramePr>
          <p:cNvPr id="9" name="Object 7"/>
          <p:cNvGraphicFramePr>
            <a:graphicFrameLocks noGrp="1" noChangeAspect="1"/>
          </p:cNvGraphicFramePr>
          <p:nvPr>
            <p:ph/>
          </p:nvPr>
        </p:nvGraphicFramePr>
        <p:xfrm>
          <a:off x="457200" y="4419600"/>
          <a:ext cx="8305800" cy="1219200"/>
        </p:xfrm>
        <a:graphic>
          <a:graphicData uri="http://schemas.openxmlformats.org/presentationml/2006/ole">
            <p:oleObj spid="_x0000_s14337" name="CS ChemDraw Drawing" r:id="rId3" imgW="33480375" imgH="417195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animBg="1"/>
      <p:bldP spid="311299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457200" y="2819400"/>
            <a:ext cx="8534400" cy="1216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</a:t>
            </a:r>
            <a:r>
              <a:rPr lang="zh-CN" altLang="en-US" sz="2600" smtClean="0">
                <a:solidFill>
                  <a:srgbClr val="000000"/>
                </a:solidFill>
              </a:rPr>
              <a:t>同一化学反应的速率相同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</a:rPr>
              <a:t>只有一个值：</a:t>
            </a:r>
            <a:endParaRPr lang="en-US" altLang="zh-CN" sz="2600" smtClean="0">
              <a:solidFill>
                <a:srgbClr val="000000"/>
              </a:solidFill>
            </a:endParaRPr>
          </a:p>
          <a:p>
            <a:pPr algn="ctr"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7.5×10</a:t>
            </a:r>
            <a:r>
              <a:rPr lang="en-US" altLang="zh-CN" sz="2600" baseline="30000" smtClean="0">
                <a:solidFill>
                  <a:srgbClr val="000000"/>
                </a:solidFill>
              </a:rPr>
              <a:t>-4 </a:t>
            </a:r>
            <a:r>
              <a:rPr lang="en-US" altLang="zh-CN" sz="2600" smtClean="0">
                <a:solidFill>
                  <a:srgbClr val="000000"/>
                </a:solidFill>
              </a:rPr>
              <a:t> mol·L</a:t>
            </a:r>
            <a:r>
              <a:rPr lang="en-US" altLang="zh-CN" sz="2600" baseline="30000" smtClean="0">
                <a:solidFill>
                  <a:srgbClr val="000000"/>
                </a:solidFill>
              </a:rPr>
              <a:t>-1</a:t>
            </a:r>
            <a:r>
              <a:rPr lang="en-US" altLang="zh-CN" sz="2600" smtClean="0">
                <a:solidFill>
                  <a:srgbClr val="000000"/>
                </a:solidFill>
              </a:rPr>
              <a:t>·s</a:t>
            </a:r>
            <a:r>
              <a:rPr lang="en-US" altLang="zh-CN" sz="2600" baseline="30000" smtClean="0">
                <a:solidFill>
                  <a:srgbClr val="000000"/>
                </a:solidFill>
              </a:rPr>
              <a:t>-1</a:t>
            </a:r>
            <a:endParaRPr lang="en-US" altLang="zh-CN" sz="2600" smtClean="0">
              <a:solidFill>
                <a:srgbClr val="000000"/>
              </a:solidFill>
            </a:endParaRPr>
          </a:p>
        </p:txBody>
      </p:sp>
      <p:graphicFrame>
        <p:nvGraphicFramePr>
          <p:cNvPr id="12" name="Object 15"/>
          <p:cNvGraphicFramePr>
            <a:graphicFrameLocks noGrp="1" noChangeAspect="1"/>
          </p:cNvGraphicFramePr>
          <p:nvPr>
            <p:ph sz="half" idx="1"/>
          </p:nvPr>
        </p:nvGraphicFramePr>
        <p:xfrm>
          <a:off x="457200" y="1524000"/>
          <a:ext cx="8305800" cy="914400"/>
        </p:xfrm>
        <a:graphic>
          <a:graphicData uri="http://schemas.openxmlformats.org/presentationml/2006/ole">
            <p:oleObj spid="_x0000_s35841" name="CS ChemDraw Drawing" r:id="rId3" imgW="32680275" imgH="3714750" progId="">
              <p:embed/>
            </p:oleObj>
          </a:graphicData>
        </a:graphic>
      </p:graphicFrame>
      <p:grpSp>
        <p:nvGrpSpPr>
          <p:cNvPr id="2" name="组合 8"/>
          <p:cNvGrpSpPr/>
          <p:nvPr/>
        </p:nvGrpSpPr>
        <p:grpSpPr bwMode="auto">
          <a:xfrm>
            <a:off x="1219200" y="228600"/>
            <a:ext cx="7326313" cy="1022350"/>
            <a:chOff x="762000" y="228600"/>
            <a:chExt cx="6248400" cy="1022350"/>
          </a:xfrm>
        </p:grpSpPr>
        <p:sp>
          <p:nvSpPr>
            <p:cNvPr id="3078" name="Text Box 9"/>
            <p:cNvSpPr txBox="1">
              <a:spLocks noChangeArrowheads="1"/>
            </p:cNvSpPr>
            <p:nvPr/>
          </p:nvSpPr>
          <p:spPr bwMode="auto">
            <a:xfrm>
              <a:off x="762000" y="228600"/>
              <a:ext cx="6248400" cy="489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600" smtClean="0">
                  <a:solidFill>
                    <a:srgbClr val="000000"/>
                  </a:solidFill>
                </a:rPr>
                <a:t>如前面的反应     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2N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O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5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 → 4NO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 + O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079" name="矩形 13"/>
            <p:cNvSpPr>
              <a:spLocks noChangeArrowheads="1"/>
            </p:cNvSpPr>
            <p:nvPr/>
          </p:nvSpPr>
          <p:spPr bwMode="auto">
            <a:xfrm>
              <a:off x="762000" y="838396"/>
              <a:ext cx="4419600" cy="412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反应的平均速率计算为：</a:t>
              </a:r>
            </a:p>
          </p:txBody>
        </p:sp>
      </p:grpSp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304800" y="4191000"/>
            <a:ext cx="8610600" cy="143668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楷体_GB2312" pitchFamily="49" charset="-122"/>
              </a:rPr>
              <a:t>    </a:t>
            </a:r>
            <a:r>
              <a:rPr kumimoji="1" lang="zh-CN" altLang="en-US" sz="2600" b="1" smtClean="0">
                <a:solidFill>
                  <a:srgbClr val="C00000"/>
                </a:solidFill>
                <a:latin typeface="楷体_GB2312" pitchFamily="49" charset="-122"/>
              </a:rPr>
              <a:t>特点：</a:t>
            </a:r>
            <a:r>
              <a:rPr kumimoji="1" lang="zh-CN" altLang="en-US" sz="2600" b="1" smtClean="0">
                <a:solidFill>
                  <a:srgbClr val="0000FF"/>
                </a:solidFill>
                <a:latin typeface="楷体_GB2312" pitchFamily="49" charset="-122"/>
              </a:rPr>
              <a:t>用反应进度来表示的反应速率的值与物种无关</a:t>
            </a:r>
            <a:r>
              <a:rPr kumimoji="1" lang="en-US" altLang="zh-CN" sz="2600" b="1" smtClean="0">
                <a:solidFill>
                  <a:srgbClr val="0000FF"/>
                </a:solidFill>
                <a:latin typeface="楷体_GB2312" pitchFamily="49" charset="-122"/>
              </a:rPr>
              <a:t>; </a:t>
            </a:r>
            <a:r>
              <a:rPr kumimoji="1" lang="zh-CN" altLang="en-US" sz="2600" b="1" smtClean="0">
                <a:solidFill>
                  <a:srgbClr val="0000FF"/>
                </a:solidFill>
                <a:latin typeface="楷体_GB2312" pitchFamily="49" charset="-122"/>
              </a:rPr>
              <a:t>但与计量系数有关，所以在表示反应速率时，必须写明相应的化学计量方程式。 </a:t>
            </a:r>
            <a:endParaRPr kumimoji="1" lang="zh-CN" altLang="en-US" sz="2600" b="1" smtClean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245" name="Object 21"/>
          <p:cNvGraphicFramePr>
            <a:graphicFrameLocks noGrp="1" noChangeAspect="1"/>
          </p:cNvGraphicFramePr>
          <p:nvPr>
            <p:ph sz="half" idx="2"/>
          </p:nvPr>
        </p:nvGraphicFramePr>
        <p:xfrm>
          <a:off x="304800" y="838200"/>
          <a:ext cx="8382000" cy="1143000"/>
        </p:xfrm>
        <a:graphic>
          <a:graphicData uri="http://schemas.openxmlformats.org/presentationml/2006/ole">
            <p:oleObj spid="_x0000_s36865" name="CS ChemDraw Drawing" r:id="rId3" imgW="32680275" imgH="3733800" progId="">
              <p:embed/>
            </p:oleObj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57200" y="304800"/>
            <a:ext cx="3352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i="1" smtClean="0">
                <a:solidFill>
                  <a:srgbClr val="C00000"/>
                </a:solidFill>
                <a:latin typeface="Times New Roman" panose="02020603050405020304" pitchFamily="18" charset="0"/>
              </a:rPr>
              <a:t>反应的瞬时速率</a:t>
            </a:r>
          </a:p>
        </p:txBody>
      </p:sp>
      <p:grpSp>
        <p:nvGrpSpPr>
          <p:cNvPr id="2" name="组合 11"/>
          <p:cNvGrpSpPr/>
          <p:nvPr/>
        </p:nvGrpSpPr>
        <p:grpSpPr bwMode="auto">
          <a:xfrm>
            <a:off x="228600" y="2209800"/>
            <a:ext cx="8534400" cy="2346325"/>
            <a:chOff x="228600" y="2209800"/>
            <a:chExt cx="8534400" cy="2345969"/>
          </a:xfrm>
        </p:grpSpPr>
        <p:sp>
          <p:nvSpPr>
            <p:cNvPr id="4101" name="Rectangle 25"/>
            <p:cNvSpPr>
              <a:spLocks noChangeArrowheads="1"/>
            </p:cNvSpPr>
            <p:nvPr/>
          </p:nvSpPr>
          <p:spPr bwMode="auto">
            <a:xfrm>
              <a:off x="228600" y="2209800"/>
              <a:ext cx="8534400" cy="14360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楷体_GB2312" pitchFamily="49" charset="-122"/>
                </a:rPr>
                <a:t>物理意义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：用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( N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) – t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作图，则曲线上对应于横坐标某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t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的一点作切线，此切线的斜率的负值就是该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t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时的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瞬时速率。</a:t>
              </a:r>
            </a:p>
          </p:txBody>
        </p:sp>
        <p:sp>
          <p:nvSpPr>
            <p:cNvPr id="4102" name="Rectangle 26"/>
            <p:cNvSpPr>
              <a:spLocks noChangeArrowheads="1"/>
            </p:cNvSpPr>
            <p:nvPr/>
          </p:nvSpPr>
          <p:spPr bwMode="auto">
            <a:xfrm>
              <a:off x="228600" y="3581400"/>
              <a:ext cx="85344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在数学上，这种切线的斜率叫做曲线上某切点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A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的变化率，所以，瞬时速率又称为浓度随时间的变化率</a:t>
              </a:r>
              <a:endPara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8" name="Picture 2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57200"/>
            <a:ext cx="8305800" cy="5181600"/>
          </a:xfrm>
          <a:prstGeom prst="rect">
            <a:avLst/>
          </a:prstGeom>
          <a:gradFill rotWithShape="1">
            <a:gsLst>
              <a:gs pos="0">
                <a:srgbClr val="99CCFF">
                  <a:gamma/>
                  <a:shade val="46275"/>
                  <a:invGamma/>
                </a:srgbClr>
              </a:gs>
              <a:gs pos="50000">
                <a:srgbClr val="99CCFF">
                  <a:alpha val="49001"/>
                </a:srgbClr>
              </a:gs>
              <a:gs pos="100000">
                <a:srgbClr val="99CCFF">
                  <a:gamma/>
                  <a:shade val="46275"/>
                  <a:invGamma/>
                </a:srgb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09600" y="914400"/>
            <a:ext cx="8001000" cy="1558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  <a:latin typeface="楷体_GB2312" pitchFamily="49" charset="-122"/>
              </a:rPr>
              <a:t>    </a:t>
            </a:r>
            <a:r>
              <a:rPr lang="zh-CN" altLang="en-US" sz="2600" smtClean="0">
                <a:solidFill>
                  <a:srgbClr val="000000"/>
                </a:solidFill>
                <a:latin typeface="楷体_GB2312" pitchFamily="49" charset="-122"/>
              </a:rPr>
              <a:t>条件不同，反应速率不同。即使对同一反应，不同的浓度、压力、温度以及是否使用催化剂，反应速率都不尽相同。现分别讨论如下：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524000" y="2819400"/>
            <a:ext cx="5715000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3-2-1   </a:t>
            </a:r>
            <a:r>
              <a:rPr lang="zh-CN" altLang="en-US" sz="26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浓度对化学反应速率的影响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52400" y="76200"/>
            <a:ext cx="8915400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3-2</a:t>
            </a:r>
            <a:r>
              <a:rPr lang="en-US" altLang="zh-CN" sz="2800" b="1" smtClean="0">
                <a:solidFill>
                  <a:srgbClr val="990000"/>
                </a:solidFill>
                <a:latin typeface="楷体_GB2312" pitchFamily="49" charset="-122"/>
              </a:rPr>
              <a:t>   </a:t>
            </a:r>
            <a:r>
              <a:rPr lang="zh-CN" altLang="en-US" sz="2800" b="1" smtClean="0">
                <a:solidFill>
                  <a:srgbClr val="990000"/>
                </a:solidFill>
                <a:latin typeface="楷体_GB2312" pitchFamily="49" charset="-122"/>
              </a:rPr>
              <a:t>影响化学反应速率的因素</a:t>
            </a:r>
            <a:r>
              <a:rPr lang="en-US" altLang="zh-CN" sz="2800" b="1" smtClean="0">
                <a:solidFill>
                  <a:srgbClr val="990000"/>
                </a:solidFill>
                <a:latin typeface="楷体_GB2312" pitchFamily="49" charset="-122"/>
              </a:rPr>
              <a:t>——</a:t>
            </a:r>
            <a:r>
              <a:rPr lang="en-US" altLang="zh-CN" sz="22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2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2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2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、催化剂</a:t>
            </a:r>
            <a:endParaRPr lang="en-US" altLang="zh-CN" sz="2200" b="1" smtClean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85800" y="3657600"/>
            <a:ext cx="8001000" cy="1063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  <a:latin typeface="楷体_GB2312" pitchFamily="49" charset="-122"/>
              </a:rPr>
              <a:t>    </a:t>
            </a:r>
            <a:r>
              <a:rPr lang="zh-CN" altLang="en-US" sz="2600" smtClean="0">
                <a:solidFill>
                  <a:srgbClr val="000000"/>
                </a:solidFill>
                <a:latin typeface="楷体_GB2312" pitchFamily="49" charset="-122"/>
              </a:rPr>
              <a:t>在高中，我们已经很熟悉浓度对反应速率的定性结论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  <a:latin typeface="楷体_GB2312" pitchFamily="49" charset="-122"/>
              </a:rPr>
              <a:t>反应物浓度越大</a:t>
            </a:r>
            <a:r>
              <a:rPr lang="en-US" altLang="zh-CN" sz="2600" smtClean="0">
                <a:solidFill>
                  <a:srgbClr val="000000"/>
                </a:solidFill>
                <a:latin typeface="楷体_GB2312" pitchFamily="49" charset="-122"/>
              </a:rPr>
              <a:t>, </a:t>
            </a:r>
            <a:r>
              <a:rPr lang="zh-CN" altLang="en-US" sz="2600" smtClean="0">
                <a:solidFill>
                  <a:srgbClr val="000000"/>
                </a:solidFill>
                <a:latin typeface="楷体_GB2312" pitchFamily="49" charset="-122"/>
              </a:rPr>
              <a:t>反应速率越快。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5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381000" y="334963"/>
            <a:ext cx="8534400" cy="5110162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outerShdw sy="50000" kx="2453608" rotWithShape="0">
              <a:srgbClr val="808080">
                <a:alpha val="50000"/>
              </a:srgbClr>
            </a:outerShdw>
          </a:effectLst>
        </p:spPr>
        <p:txBody>
          <a:bodyPr lIns="92075" tIns="46038" rIns="92075" bIns="46038" anchor="ctr">
            <a:spAutoFit/>
          </a:bodyPr>
          <a:lstStyle/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       In most simple cases, increasing the concentration of the reactants increases the speed of the reaction. </a:t>
            </a:r>
          </a:p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       However, if the reaction is complex and has a complex </a:t>
            </a:r>
            <a:r>
              <a:rPr kumimoji="1" lang="en-US" altLang="zh-CN" sz="2600" b="1" i="1">
                <a:solidFill>
                  <a:srgbClr val="000000"/>
                </a:solidFill>
                <a:latin typeface="Times New Roman" panose="02020603050405020304" pitchFamily="18" charset="0"/>
              </a:rPr>
              <a:t>mechanism </a:t>
            </a:r>
            <a:r>
              <a:rPr kumimoji="1"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(series of steps in the reaction), this may not be the case. </a:t>
            </a:r>
          </a:p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       In fact, determining the concentration effect on the rate of reaction can give you clues as to which reactant is involved in the rate-determining step of the mechanism. (this information can then be used to help figure out the reaction mechanism.)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83" name="Text Box 7"/>
          <p:cNvSpPr txBox="1">
            <a:spLocks noChangeArrowheads="1"/>
          </p:cNvSpPr>
          <p:nvPr/>
        </p:nvSpPr>
        <p:spPr bwMode="auto">
          <a:xfrm>
            <a:off x="228600" y="228600"/>
            <a:ext cx="8382000" cy="1436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</a:t>
            </a:r>
            <a:r>
              <a:rPr lang="zh-CN" altLang="en-US" sz="2600" smtClean="0">
                <a:solidFill>
                  <a:srgbClr val="000000"/>
                </a:solidFill>
              </a:rPr>
              <a:t>早在</a:t>
            </a:r>
            <a:r>
              <a:rPr lang="en-US" altLang="zh-CN" sz="2600" smtClean="0">
                <a:solidFill>
                  <a:srgbClr val="000000"/>
                </a:solidFill>
              </a:rPr>
              <a:t>1850</a:t>
            </a:r>
            <a:r>
              <a:rPr lang="zh-CN" altLang="en-US" sz="2600" smtClean="0">
                <a:solidFill>
                  <a:srgbClr val="000000"/>
                </a:solidFill>
              </a:rPr>
              <a:t>年，</a:t>
            </a:r>
            <a:r>
              <a:rPr lang="en-US" altLang="zh-CN" sz="2600" smtClean="0">
                <a:solidFill>
                  <a:srgbClr val="000000"/>
                </a:solidFill>
              </a:rPr>
              <a:t>Wilhelmy</a:t>
            </a:r>
            <a:r>
              <a:rPr lang="zh-CN" altLang="en-US" sz="2600" smtClean="0">
                <a:solidFill>
                  <a:srgbClr val="000000"/>
                </a:solidFill>
              </a:rPr>
              <a:t>通过实验方法确定了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</a:rPr>
              <a:t>蔗糖</a:t>
            </a:r>
            <a:r>
              <a:rPr lang="en-US" altLang="zh-CN" sz="2600" smtClean="0">
                <a:solidFill>
                  <a:srgbClr val="000000"/>
                </a:solidFill>
              </a:rPr>
              <a:t>(saccharose or cane sugar)</a:t>
            </a:r>
            <a:r>
              <a:rPr lang="zh-CN" altLang="en-US" sz="2600" smtClean="0">
                <a:solidFill>
                  <a:srgbClr val="000000"/>
                </a:solidFill>
              </a:rPr>
              <a:t>在</a:t>
            </a:r>
            <a:r>
              <a:rPr lang="en-US" altLang="zh-CN" sz="2600" smtClean="0">
                <a:solidFill>
                  <a:srgbClr val="000000"/>
                </a:solidFill>
              </a:rPr>
              <a:t>H</a:t>
            </a:r>
            <a:r>
              <a:rPr lang="en-US" altLang="zh-CN" sz="2600" baseline="30000" smtClean="0">
                <a:solidFill>
                  <a:srgbClr val="000000"/>
                </a:solidFill>
              </a:rPr>
              <a:t>+</a:t>
            </a:r>
            <a:r>
              <a:rPr lang="zh-CN" altLang="en-US" sz="2600" smtClean="0">
                <a:solidFill>
                  <a:srgbClr val="000000"/>
                </a:solidFill>
              </a:rPr>
              <a:t>催化下水解成葡萄糖和果糖的定量方程式：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762000" y="4343400"/>
            <a:ext cx="60198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600" smtClean="0">
                <a:solidFill>
                  <a:srgbClr val="000000"/>
                </a:solidFill>
              </a:rPr>
              <a:t>称为</a:t>
            </a:r>
            <a:r>
              <a:rPr lang="zh-CN" altLang="en-US" sz="2600" i="1" smtClean="0">
                <a:solidFill>
                  <a:srgbClr val="C00000"/>
                </a:solidFill>
              </a:rPr>
              <a:t>速率方程式</a:t>
            </a:r>
            <a:r>
              <a:rPr lang="en-US" altLang="zh-CN" sz="2600" i="1" smtClean="0">
                <a:solidFill>
                  <a:srgbClr val="C00000"/>
                </a:solidFill>
              </a:rPr>
              <a:t>(rate equation)</a:t>
            </a:r>
          </a:p>
        </p:txBody>
      </p:sp>
      <p:grpSp>
        <p:nvGrpSpPr>
          <p:cNvPr id="2" name="组合 12"/>
          <p:cNvGrpSpPr/>
          <p:nvPr/>
        </p:nvGrpSpPr>
        <p:grpSpPr bwMode="auto">
          <a:xfrm>
            <a:off x="838200" y="1905000"/>
            <a:ext cx="7742238" cy="2054225"/>
            <a:chOff x="838200" y="1905000"/>
            <a:chExt cx="7742237" cy="2054225"/>
          </a:xfrm>
        </p:grpSpPr>
        <p:graphicFrame>
          <p:nvGraphicFramePr>
            <p:cNvPr id="5122" name="Object 9"/>
            <p:cNvGraphicFramePr>
              <a:graphicFrameLocks noChangeAspect="1"/>
            </p:cNvGraphicFramePr>
            <p:nvPr/>
          </p:nvGraphicFramePr>
          <p:xfrm>
            <a:off x="838200" y="1905000"/>
            <a:ext cx="3122613" cy="1120775"/>
          </p:xfrm>
          <a:graphic>
            <a:graphicData uri="http://schemas.openxmlformats.org/presentationml/2006/ole">
              <p:oleObj spid="_x0000_s37891" name="CS ChemDraw Drawing" r:id="rId3" imgW="19526250" imgH="7010400" progId="">
                <p:embed/>
              </p:oleObj>
            </a:graphicData>
          </a:graphic>
        </p:graphicFrame>
        <p:graphicFrame>
          <p:nvGraphicFramePr>
            <p:cNvPr id="5123" name="Object 10"/>
            <p:cNvGraphicFramePr>
              <a:graphicFrameLocks noChangeAspect="1"/>
            </p:cNvGraphicFramePr>
            <p:nvPr/>
          </p:nvGraphicFramePr>
          <p:xfrm>
            <a:off x="4114800" y="1981200"/>
            <a:ext cx="1946275" cy="581025"/>
          </p:xfrm>
          <a:graphic>
            <a:graphicData uri="http://schemas.openxmlformats.org/presentationml/2006/ole">
              <p:oleObj spid="_x0000_s37890" name="CS ChemDraw Drawing" r:id="rId4" imgW="12172950" imgH="3638550" progId="">
                <p:embed/>
              </p:oleObj>
            </a:graphicData>
          </a:graphic>
        </p:graphicFrame>
        <p:graphicFrame>
          <p:nvGraphicFramePr>
            <p:cNvPr id="3" name="Object 11"/>
            <p:cNvGraphicFramePr>
              <a:graphicFrameLocks noChangeAspect="1"/>
            </p:cNvGraphicFramePr>
            <p:nvPr/>
          </p:nvGraphicFramePr>
          <p:xfrm>
            <a:off x="5486400" y="2819400"/>
            <a:ext cx="3094037" cy="1139825"/>
          </p:xfrm>
          <a:graphic>
            <a:graphicData uri="http://schemas.openxmlformats.org/presentationml/2006/ole">
              <p:oleObj spid="_x0000_s37889" name="CS ChemDraw Drawing" r:id="rId5" imgW="19345275" imgH="7134225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3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1125" y="0"/>
            <a:ext cx="8923338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1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8382000" cy="1436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</a:t>
            </a:r>
            <a:r>
              <a:rPr lang="zh-CN" altLang="en-US" sz="2600" smtClean="0">
                <a:solidFill>
                  <a:srgbClr val="000000"/>
                </a:solidFill>
              </a:rPr>
              <a:t>不同的化学反应有不同的速率方程式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</a:rPr>
              <a:t>见上表，即使表面上是同一类型的反应，通过实验测定的速率方程式可能相差甚远。</a:t>
            </a:r>
          </a:p>
        </p:txBody>
      </p:sp>
      <p:grpSp>
        <p:nvGrpSpPr>
          <p:cNvPr id="2" name="组合 9"/>
          <p:cNvGrpSpPr/>
          <p:nvPr/>
        </p:nvGrpSpPr>
        <p:grpSpPr bwMode="auto">
          <a:xfrm>
            <a:off x="685800" y="2438400"/>
            <a:ext cx="6946900" cy="2274888"/>
            <a:chOff x="520700" y="2362200"/>
            <a:chExt cx="6946900" cy="2275307"/>
          </a:xfrm>
        </p:grpSpPr>
        <p:sp>
          <p:nvSpPr>
            <p:cNvPr id="39942" name="Rectangle 5"/>
            <p:cNvSpPr>
              <a:spLocks noChangeArrowheads="1"/>
            </p:cNvSpPr>
            <p:nvPr/>
          </p:nvSpPr>
          <p:spPr bwMode="auto">
            <a:xfrm>
              <a:off x="2197100" y="2819484"/>
              <a:ext cx="4876800" cy="516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aA + bB → cC + dD</a:t>
              </a:r>
            </a:p>
          </p:txBody>
        </p:sp>
        <p:sp>
          <p:nvSpPr>
            <p:cNvPr id="39943" name="Rectangle 6"/>
            <p:cNvSpPr>
              <a:spLocks noChangeArrowheads="1"/>
            </p:cNvSpPr>
            <p:nvPr/>
          </p:nvSpPr>
          <p:spPr bwMode="auto">
            <a:xfrm>
              <a:off x="2057400" y="4114800"/>
              <a:ext cx="5410200" cy="522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 = </a:t>
              </a:r>
              <a:r>
                <a:rPr kumimoji="1" lang="en-US" altLang="zh-CN" sz="28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{</a:t>
              </a:r>
              <a:r>
                <a:rPr kumimoji="1" lang="en-US" altLang="zh-CN" sz="28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(A)}</a:t>
              </a:r>
              <a:r>
                <a:rPr kumimoji="1" lang="en-US" altLang="zh-CN" sz="28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l-GR" altLang="zh-CN" sz="28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α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{</a:t>
              </a:r>
              <a:r>
                <a:rPr kumimoji="1" lang="en-US" altLang="zh-CN" sz="28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(B)}</a:t>
              </a:r>
              <a:r>
                <a:rPr kumimoji="1" lang="el-GR" altLang="zh-CN" sz="28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</a:p>
          </p:txBody>
        </p:sp>
        <p:sp>
          <p:nvSpPr>
            <p:cNvPr id="39944" name="Rectangle 7"/>
            <p:cNvSpPr>
              <a:spLocks noChangeArrowheads="1"/>
            </p:cNvSpPr>
            <p:nvPr/>
          </p:nvSpPr>
          <p:spPr bwMode="auto">
            <a:xfrm>
              <a:off x="685800" y="2362200"/>
              <a:ext cx="2194832" cy="5127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对于某一反应</a:t>
              </a:r>
            </a:p>
          </p:txBody>
        </p:sp>
        <p:sp>
          <p:nvSpPr>
            <p:cNvPr id="39945" name="Rectangle 8"/>
            <p:cNvSpPr>
              <a:spLocks noChangeArrowheads="1"/>
            </p:cNvSpPr>
            <p:nvPr/>
          </p:nvSpPr>
          <p:spPr bwMode="auto">
            <a:xfrm>
              <a:off x="520700" y="3429000"/>
              <a:ext cx="4204997" cy="49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反应的速率方程式可表示为</a:t>
              </a:r>
            </a:p>
          </p:txBody>
        </p:sp>
      </p:grpSp>
      <p:sp>
        <p:nvSpPr>
          <p:cNvPr id="304138" name="Text Box 10"/>
          <p:cNvSpPr txBox="1">
            <a:spLocks noChangeArrowheads="1"/>
          </p:cNvSpPr>
          <p:nvPr/>
        </p:nvSpPr>
        <p:spPr bwMode="auto">
          <a:xfrm>
            <a:off x="609600" y="4953000"/>
            <a:ext cx="8305800" cy="5127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</a:ln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600" smtClean="0">
                <a:solidFill>
                  <a:srgbClr val="C00000"/>
                </a:solidFill>
              </a:rPr>
              <a:t>注意</a:t>
            </a:r>
            <a:r>
              <a:rPr lang="en-US" altLang="zh-CN" sz="2600" smtClean="0">
                <a:solidFill>
                  <a:srgbClr val="C00000"/>
                </a:solidFill>
              </a:rPr>
              <a:t>:  </a:t>
            </a:r>
            <a:r>
              <a:rPr lang="zh-CN" altLang="en-US" sz="2600" smtClean="0">
                <a:solidFill>
                  <a:srgbClr val="0000FF"/>
                </a:solidFill>
              </a:rPr>
              <a:t>对于大多数化学反应，</a:t>
            </a:r>
            <a:r>
              <a:rPr lang="el-GR" altLang="zh-CN" sz="2600" smtClean="0">
                <a:solidFill>
                  <a:srgbClr val="0000FF"/>
                </a:solidFill>
              </a:rPr>
              <a:t>α</a:t>
            </a:r>
            <a:r>
              <a:rPr lang="zh-CN" altLang="en-US" sz="2600" smtClean="0">
                <a:solidFill>
                  <a:srgbClr val="0000FF"/>
                </a:solidFill>
              </a:rPr>
              <a:t>、</a:t>
            </a:r>
            <a:r>
              <a:rPr lang="el-GR" altLang="zh-CN" sz="2600" smtClean="0">
                <a:solidFill>
                  <a:srgbClr val="0000FF"/>
                </a:solidFill>
              </a:rPr>
              <a:t>β</a:t>
            </a:r>
            <a:r>
              <a:rPr lang="zh-CN" altLang="en-US" sz="2600" smtClean="0">
                <a:solidFill>
                  <a:srgbClr val="0000FF"/>
                </a:solidFill>
              </a:rPr>
              <a:t>与</a:t>
            </a:r>
            <a:r>
              <a:rPr lang="en-US" altLang="zh-CN" sz="2600" smtClean="0">
                <a:solidFill>
                  <a:srgbClr val="0000FF"/>
                </a:solidFill>
              </a:rPr>
              <a:t>a</a:t>
            </a:r>
            <a:r>
              <a:rPr lang="zh-CN" altLang="en-US" sz="2600" smtClean="0">
                <a:solidFill>
                  <a:srgbClr val="0000FF"/>
                </a:solidFill>
              </a:rPr>
              <a:t>、</a:t>
            </a:r>
            <a:r>
              <a:rPr lang="en-US" altLang="zh-CN" sz="2600" smtClean="0">
                <a:solidFill>
                  <a:srgbClr val="0000FF"/>
                </a:solidFill>
              </a:rPr>
              <a:t>b</a:t>
            </a:r>
            <a:r>
              <a:rPr lang="zh-CN" altLang="en-US" sz="2600" smtClean="0">
                <a:solidFill>
                  <a:srgbClr val="0000FF"/>
                </a:solidFill>
              </a:rPr>
              <a:t>没有关系！ 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28600" y="1752600"/>
            <a:ext cx="62484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一、</a:t>
            </a:r>
            <a:r>
              <a:rPr kumimoji="1" lang="zh-CN" altLang="en-US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速率方程式的</a:t>
            </a:r>
            <a:r>
              <a:rPr lang="zh-CN" altLang="en-US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反应级数和速率常数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1" grpId="0" animBg="1"/>
      <p:bldP spid="304138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/>
          <p:nvPr/>
        </p:nvGrpSpPr>
        <p:grpSpPr bwMode="auto">
          <a:xfrm>
            <a:off x="228600" y="228600"/>
            <a:ext cx="8686800" cy="2011363"/>
            <a:chOff x="152400" y="0"/>
            <a:chExt cx="8686800" cy="2010728"/>
          </a:xfrm>
        </p:grpSpPr>
        <p:sp>
          <p:nvSpPr>
            <p:cNvPr id="40964" name="Text Box 2"/>
            <p:cNvSpPr txBox="1">
              <a:spLocks noChangeArrowheads="1"/>
            </p:cNvSpPr>
            <p:nvPr/>
          </p:nvSpPr>
          <p:spPr bwMode="auto">
            <a:xfrm>
              <a:off x="152400" y="0"/>
              <a:ext cx="3505200" cy="5127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000000"/>
                  </a:solidFill>
                </a:rPr>
                <a:t>         </a:t>
              </a:r>
              <a:r>
                <a:rPr lang="en-US" altLang="zh-CN" sz="2600" smtClean="0">
                  <a:solidFill>
                    <a:srgbClr val="C00000"/>
                  </a:solidFill>
                </a:rPr>
                <a:t>(i)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 </a:t>
              </a:r>
              <a:r>
                <a:rPr lang="en-US" altLang="zh-CN" sz="2600" smtClean="0">
                  <a:solidFill>
                    <a:srgbClr val="000000"/>
                  </a:solidFill>
                  <a:cs typeface="Times New Roman" panose="02020603050405020304" pitchFamily="18" charset="0"/>
                </a:rPr>
                <a:t>r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为瞬时速率；</a:t>
              </a:r>
            </a:p>
          </p:txBody>
        </p:sp>
        <p:sp>
          <p:nvSpPr>
            <p:cNvPr id="40965" name="Text Box 5"/>
            <p:cNvSpPr txBox="1">
              <a:spLocks noChangeArrowheads="1"/>
            </p:cNvSpPr>
            <p:nvPr/>
          </p:nvSpPr>
          <p:spPr bwMode="auto">
            <a:xfrm>
              <a:off x="228600" y="533400"/>
              <a:ext cx="8610600" cy="1477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C00000"/>
                  </a:solidFill>
                </a:rPr>
                <a:t>        (ii) 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式中各浓度项的指数和</a:t>
              </a:r>
              <a:r>
                <a:rPr lang="en-US" altLang="zh-CN" sz="2600" i="1" smtClean="0">
                  <a:solidFill>
                    <a:srgbClr val="C00000"/>
                  </a:solidFill>
                </a:rPr>
                <a:t>(</a:t>
              </a:r>
              <a:r>
                <a:rPr lang="el-GR" altLang="zh-CN" sz="2600" i="1" smtClean="0">
                  <a:solidFill>
                    <a:srgbClr val="C00000"/>
                  </a:solidFill>
                  <a:ea typeface="宋体" panose="02010600030101010101" pitchFamily="2" charset="-122"/>
                </a:rPr>
                <a:t>α</a:t>
              </a:r>
              <a:r>
                <a:rPr lang="en-US" altLang="zh-CN" sz="2600" i="1" smtClean="0">
                  <a:solidFill>
                    <a:srgbClr val="C00000"/>
                  </a:solidFill>
                </a:rPr>
                <a:t>+</a:t>
              </a:r>
              <a:r>
                <a:rPr lang="el-GR" altLang="zh-CN" sz="2600" i="1" smtClean="0">
                  <a:solidFill>
                    <a:srgbClr val="C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2600" i="1" smtClean="0">
                  <a:solidFill>
                    <a:srgbClr val="C00000"/>
                  </a:solidFill>
                </a:rPr>
                <a:t>)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为反应的</a:t>
              </a:r>
              <a:r>
                <a:rPr lang="zh-CN" altLang="en-US" sz="2600" i="1" smtClean="0">
                  <a:solidFill>
                    <a:srgbClr val="C00000"/>
                  </a:solidFill>
                </a:rPr>
                <a:t>反应级数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；可取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0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、正整数、分数、负数；</a:t>
              </a:r>
              <a:r>
                <a:rPr lang="el-GR" altLang="zh-CN" sz="2600" i="1" smtClean="0">
                  <a:solidFill>
                    <a:srgbClr val="C00000"/>
                  </a:solidFill>
                  <a:ea typeface="宋体" panose="02010600030101010101" pitchFamily="2" charset="-122"/>
                </a:rPr>
                <a:t>α</a:t>
              </a:r>
              <a:r>
                <a:rPr lang="zh-CN" altLang="en-US" sz="2600" i="1" smtClean="0">
                  <a:solidFill>
                    <a:srgbClr val="C00000"/>
                  </a:solidFill>
                </a:rPr>
                <a:t>、</a:t>
              </a:r>
              <a:r>
                <a:rPr lang="el-GR" altLang="zh-CN" sz="2600" i="1" smtClean="0">
                  <a:solidFill>
                    <a:srgbClr val="C00000"/>
                  </a:solidFill>
                  <a:ea typeface="宋体" panose="02010600030101010101" pitchFamily="2" charset="-122"/>
                </a:rPr>
                <a:t>β</a:t>
              </a:r>
              <a:r>
                <a:rPr lang="zh-CN" altLang="el-GR" sz="2600" i="1" smtClean="0">
                  <a:solidFill>
                    <a:srgbClr val="C00000"/>
                  </a:solidFill>
                  <a:cs typeface="Times New Roman" panose="02020603050405020304" pitchFamily="18" charset="0"/>
                </a:rPr>
                <a:t>的值由实验测定</a:t>
              </a:r>
              <a:r>
                <a:rPr lang="en-US" altLang="zh-CN" sz="2600" smtClean="0">
                  <a:solidFill>
                    <a:srgbClr val="000000"/>
                  </a:solidFill>
                  <a:cs typeface="Times New Roman" panose="02020603050405020304" pitchFamily="18" charset="0"/>
                </a:rPr>
                <a:t>——</a:t>
              </a:r>
              <a:r>
                <a:rPr lang="zh-CN" altLang="en-US" sz="2600" smtClean="0">
                  <a:solidFill>
                    <a:srgbClr val="000000"/>
                  </a:solidFill>
                  <a:cs typeface="Times New Roman" panose="02020603050405020304" pitchFamily="18" charset="0"/>
                </a:rPr>
                <a:t>见表</a:t>
              </a:r>
            </a:p>
          </p:txBody>
        </p:sp>
      </p:grpSp>
      <p:sp>
        <p:nvSpPr>
          <p:cNvPr id="303110" name="Text Box 6"/>
          <p:cNvSpPr txBox="1">
            <a:spLocks noChangeArrowheads="1"/>
          </p:cNvSpPr>
          <p:nvPr/>
        </p:nvSpPr>
        <p:spPr bwMode="auto">
          <a:xfrm>
            <a:off x="228600" y="2286000"/>
            <a:ext cx="8534400" cy="187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FF"/>
                </a:solidFill>
                <a:latin typeface="楷体_GB2312" pitchFamily="49" charset="-122"/>
              </a:rPr>
              <a:t>    </a:t>
            </a:r>
            <a:r>
              <a:rPr lang="zh-CN" altLang="en-US" sz="2600" smtClean="0">
                <a:solidFill>
                  <a:srgbClr val="000000"/>
                </a:solidFill>
                <a:latin typeface="楷体_GB2312" pitchFamily="49" charset="-122"/>
              </a:rPr>
              <a:t>如何在实验中确定</a:t>
            </a:r>
            <a:r>
              <a:rPr lang="en-US" altLang="zh-CN" sz="2600" i="1" smtClean="0">
                <a:solidFill>
                  <a:srgbClr val="C00000"/>
                </a:solidFill>
              </a:rPr>
              <a:t>(</a:t>
            </a:r>
            <a:r>
              <a:rPr lang="el-GR" altLang="zh-CN" sz="2600" i="1" smtClean="0">
                <a:solidFill>
                  <a:srgbClr val="C00000"/>
                </a:solidFill>
                <a:ea typeface="宋体" panose="02010600030101010101" pitchFamily="2" charset="-122"/>
              </a:rPr>
              <a:t>α</a:t>
            </a:r>
            <a:r>
              <a:rPr lang="en-US" altLang="zh-CN" sz="2600" i="1" smtClean="0">
                <a:solidFill>
                  <a:srgbClr val="C00000"/>
                </a:solidFill>
              </a:rPr>
              <a:t>+</a:t>
            </a:r>
            <a:r>
              <a:rPr lang="el-GR" altLang="zh-CN" sz="2600" i="1" smtClean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2600" i="1" smtClean="0">
                <a:solidFill>
                  <a:srgbClr val="C00000"/>
                </a:solidFill>
              </a:rPr>
              <a:t>)</a:t>
            </a:r>
            <a:r>
              <a:rPr lang="zh-CN" altLang="en-US" sz="2600" i="1" smtClean="0">
                <a:solidFill>
                  <a:srgbClr val="000000"/>
                </a:solidFill>
              </a:rPr>
              <a:t>？</a:t>
            </a:r>
            <a:r>
              <a:rPr lang="zh-CN" altLang="en-US" sz="2600" smtClean="0">
                <a:solidFill>
                  <a:srgbClr val="000000"/>
                </a:solidFill>
                <a:latin typeface="楷体_GB2312" pitchFamily="49" charset="-122"/>
              </a:rPr>
              <a:t>，有时可以使某反应物的浓度特大，或在反应过程中某反应物的浓度实际变化不大，这时可作近似处理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  <a:latin typeface="楷体_GB2312" pitchFamily="49" charset="-122"/>
              </a:rPr>
              <a:t>视此反应物的浓度为常数，这样就可以降低反应级数，使问题简化。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81000" y="152400"/>
            <a:ext cx="8610600" cy="1117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C00000"/>
                </a:solidFill>
              </a:rPr>
              <a:t>         </a:t>
            </a:r>
            <a:r>
              <a:rPr lang="en-US" altLang="zh-CN" sz="2600" smtClean="0">
                <a:solidFill>
                  <a:srgbClr val="C00000"/>
                </a:solidFill>
                <a:ea typeface="黑体" panose="02010609060101010101" pitchFamily="2" charset="-122"/>
              </a:rPr>
              <a:t>(iii)</a:t>
            </a:r>
            <a:r>
              <a:rPr lang="en-US" altLang="zh-CN" sz="2600" smtClean="0">
                <a:solidFill>
                  <a:srgbClr val="C00000"/>
                </a:solidFill>
              </a:rPr>
              <a:t> </a:t>
            </a:r>
            <a:r>
              <a:rPr lang="en-US" altLang="zh-CN" sz="2600" smtClean="0">
                <a:solidFill>
                  <a:srgbClr val="000000"/>
                </a:solidFill>
              </a:rPr>
              <a:t>k (</a:t>
            </a:r>
            <a:r>
              <a:rPr lang="zh-CN" altLang="en-US" sz="2600" smtClean="0">
                <a:solidFill>
                  <a:srgbClr val="000000"/>
                </a:solidFill>
              </a:rPr>
              <a:t>小写</a:t>
            </a:r>
            <a:r>
              <a:rPr lang="en-US" altLang="zh-CN" sz="2600" smtClean="0">
                <a:solidFill>
                  <a:srgbClr val="000000"/>
                </a:solidFill>
              </a:rPr>
              <a:t>) </a:t>
            </a:r>
            <a:r>
              <a:rPr lang="zh-CN" altLang="en-US" sz="2600" smtClean="0">
                <a:solidFill>
                  <a:srgbClr val="000000"/>
                </a:solidFill>
              </a:rPr>
              <a:t>被称为</a:t>
            </a:r>
            <a:r>
              <a:rPr lang="zh-CN" altLang="en-US" sz="2600" i="1" smtClean="0">
                <a:solidFill>
                  <a:srgbClr val="0000FF"/>
                </a:solidFill>
              </a:rPr>
              <a:t>速率系数</a:t>
            </a:r>
            <a:r>
              <a:rPr lang="zh-CN" altLang="en-US" sz="2600" smtClean="0">
                <a:solidFill>
                  <a:srgbClr val="000000"/>
                </a:solidFill>
              </a:rPr>
              <a:t>，单位由反应速率方程式确定，</a:t>
            </a:r>
            <a:r>
              <a:rPr lang="en-US" altLang="zh-CN" sz="2600" smtClean="0">
                <a:solidFill>
                  <a:srgbClr val="000000"/>
                </a:solidFill>
              </a:rPr>
              <a:t>k</a:t>
            </a:r>
            <a:r>
              <a:rPr lang="zh-CN" altLang="en-US" sz="2600" smtClean="0">
                <a:solidFill>
                  <a:srgbClr val="000000"/>
                </a:solidFill>
              </a:rPr>
              <a:t>值越大，给定条件下的反应速率 </a:t>
            </a:r>
            <a:r>
              <a:rPr lang="en-US" altLang="zh-CN" sz="2600" smtClean="0">
                <a:solidFill>
                  <a:srgbClr val="000000"/>
                </a:solidFill>
              </a:rPr>
              <a:t>r </a:t>
            </a:r>
            <a:r>
              <a:rPr lang="zh-CN" altLang="en-US" sz="2600" smtClean="0">
                <a:solidFill>
                  <a:srgbClr val="000000"/>
                </a:solidFill>
              </a:rPr>
              <a:t>越大</a:t>
            </a:r>
            <a:r>
              <a:rPr lang="en-US" altLang="zh-CN" sz="2600" smtClean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04800" y="2209800"/>
            <a:ext cx="8458200" cy="3057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 </a:t>
            </a:r>
            <a:r>
              <a:rPr lang="zh-CN" altLang="en-US" sz="2600" smtClean="0">
                <a:solidFill>
                  <a:srgbClr val="000000"/>
                </a:solidFill>
              </a:rPr>
              <a:t>但应该注意</a:t>
            </a:r>
            <a:endParaRPr lang="en-US" altLang="zh-CN" sz="2600" smtClean="0">
              <a:solidFill>
                <a:srgbClr val="000000"/>
              </a:solidFill>
            </a:endParaRPr>
          </a:p>
          <a:p>
            <a:pPr algn="just"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 </a:t>
            </a:r>
            <a:r>
              <a:rPr lang="en-US" altLang="zh-CN" sz="2600" smtClean="0">
                <a:solidFill>
                  <a:srgbClr val="C00000"/>
                </a:solidFill>
              </a:rPr>
              <a:t>1</a:t>
            </a:r>
            <a:r>
              <a:rPr lang="zh-CN" altLang="en-US" sz="2600" smtClean="0">
                <a:solidFill>
                  <a:srgbClr val="C00000"/>
                </a:solidFill>
              </a:rPr>
              <a:t>）</a:t>
            </a:r>
            <a:r>
              <a:rPr lang="zh-CN" altLang="en-US" sz="2600" i="1" smtClean="0">
                <a:solidFill>
                  <a:srgbClr val="0000FF"/>
                </a:solidFill>
              </a:rPr>
              <a:t>对于反应级数不同的反应，来比较速率系数</a:t>
            </a:r>
            <a:r>
              <a:rPr lang="en-US" altLang="zh-CN" sz="2600" i="1" smtClean="0">
                <a:solidFill>
                  <a:srgbClr val="0000FF"/>
                </a:solidFill>
              </a:rPr>
              <a:t>k</a:t>
            </a:r>
            <a:r>
              <a:rPr lang="zh-CN" altLang="en-US" sz="2600" i="1" smtClean="0">
                <a:solidFill>
                  <a:srgbClr val="0000FF"/>
                </a:solidFill>
              </a:rPr>
              <a:t>的大小是没有意义的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</a:rPr>
              <a:t>就像体积和长度不能对比一样。</a:t>
            </a:r>
            <a:endParaRPr lang="en-US" altLang="zh-CN" sz="2600" smtClean="0">
              <a:solidFill>
                <a:srgbClr val="000000"/>
              </a:solidFill>
            </a:endParaRPr>
          </a:p>
          <a:p>
            <a:pPr algn="just" fontAlgn="base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 </a:t>
            </a:r>
            <a:r>
              <a:rPr lang="en-US" altLang="zh-CN" sz="2600" smtClean="0">
                <a:solidFill>
                  <a:srgbClr val="C00000"/>
                </a:solidFill>
              </a:rPr>
              <a:t>2</a:t>
            </a:r>
            <a:r>
              <a:rPr lang="zh-CN" altLang="en-US" sz="2600" smtClean="0">
                <a:solidFill>
                  <a:srgbClr val="C00000"/>
                </a:solidFill>
              </a:rPr>
              <a:t>）</a:t>
            </a:r>
            <a:r>
              <a:rPr lang="zh-CN" altLang="en-US" sz="2600" smtClean="0">
                <a:solidFill>
                  <a:srgbClr val="000000"/>
                </a:solidFill>
              </a:rPr>
              <a:t>对于同一反应，</a:t>
            </a:r>
            <a:r>
              <a:rPr lang="en-US" altLang="zh-CN" sz="2600" i="1" smtClean="0">
                <a:solidFill>
                  <a:srgbClr val="C00000"/>
                </a:solidFill>
              </a:rPr>
              <a:t>k</a:t>
            </a:r>
            <a:r>
              <a:rPr lang="zh-CN" altLang="en-US" sz="2600" i="1" smtClean="0">
                <a:solidFill>
                  <a:srgbClr val="C00000"/>
                </a:solidFill>
              </a:rPr>
              <a:t>是温度的函数</a:t>
            </a:r>
            <a:r>
              <a:rPr lang="zh-CN" altLang="en-US" sz="2600" i="1" smtClean="0">
                <a:solidFill>
                  <a:srgbClr val="000000"/>
                </a:solidFill>
              </a:rPr>
              <a:t>，</a:t>
            </a:r>
            <a:r>
              <a:rPr lang="zh-CN" altLang="en-US" sz="2600" smtClean="0">
                <a:solidFill>
                  <a:srgbClr val="000000"/>
                </a:solidFill>
              </a:rPr>
              <a:t>与反应物浓度、分压无关</a:t>
            </a:r>
            <a:r>
              <a:rPr lang="en-US" altLang="zh-CN" sz="2600" smtClean="0">
                <a:solidFill>
                  <a:srgbClr val="000000"/>
                </a:solidFill>
              </a:rPr>
              <a:t>---</a:t>
            </a:r>
            <a:r>
              <a:rPr lang="zh-CN" altLang="en-US" sz="2600" smtClean="0">
                <a:solidFill>
                  <a:srgbClr val="000000"/>
                </a:solidFill>
              </a:rPr>
              <a:t>可以与标准平衡常数</a:t>
            </a:r>
            <a:r>
              <a:rPr lang="en-US" altLang="zh-CN" sz="2600" smtClean="0">
                <a:solidFill>
                  <a:srgbClr val="000000"/>
                </a:solidFill>
              </a:rPr>
              <a:t>K</a:t>
            </a:r>
            <a:r>
              <a:rPr lang="el-GR" altLang="zh-CN" sz="2600" baseline="30000" smtClean="0">
                <a:solidFill>
                  <a:srgbClr val="000000"/>
                </a:solidFill>
              </a:rPr>
              <a:t>Θ</a:t>
            </a:r>
            <a:r>
              <a:rPr lang="zh-CN" altLang="en-US" sz="2600" smtClean="0">
                <a:solidFill>
                  <a:srgbClr val="000000"/>
                </a:solidFill>
              </a:rPr>
              <a:t>联系起来！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457200" y="609600"/>
            <a:ext cx="80010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 </a:t>
            </a:r>
            <a:r>
              <a:rPr lang="zh-CN" altLang="en-US" sz="2600" smtClean="0">
                <a:solidFill>
                  <a:srgbClr val="000000"/>
                </a:solidFill>
              </a:rPr>
              <a:t>具体的实验方法有多种，将在物理化学课程学到。</a:t>
            </a:r>
          </a:p>
        </p:txBody>
      </p:sp>
      <p:sp>
        <p:nvSpPr>
          <p:cNvPr id="302085" name="Text Box 5"/>
          <p:cNvSpPr txBox="1">
            <a:spLocks noChangeArrowheads="1"/>
          </p:cNvSpPr>
          <p:nvPr/>
        </p:nvSpPr>
        <p:spPr bwMode="auto">
          <a:xfrm>
            <a:off x="457200" y="1219200"/>
            <a:ext cx="8001000" cy="1477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 </a:t>
            </a:r>
            <a:r>
              <a:rPr lang="en-US" altLang="zh-CN" sz="2600" smtClean="0">
                <a:solidFill>
                  <a:srgbClr val="C00000"/>
                </a:solidFill>
              </a:rPr>
              <a:t>1</a:t>
            </a:r>
            <a:r>
              <a:rPr lang="zh-CN" altLang="en-US" sz="2600" smtClean="0">
                <a:solidFill>
                  <a:srgbClr val="C00000"/>
                </a:solidFill>
              </a:rPr>
              <a:t>、</a:t>
            </a:r>
            <a:r>
              <a:rPr lang="zh-CN" altLang="en-US" sz="2600" smtClean="0">
                <a:solidFill>
                  <a:srgbClr val="000000"/>
                </a:solidFill>
              </a:rPr>
              <a:t>通过</a:t>
            </a:r>
            <a:r>
              <a:rPr lang="zh-CN" altLang="en-US" sz="2600" i="1" smtClean="0">
                <a:solidFill>
                  <a:srgbClr val="0000FF"/>
                </a:solidFill>
              </a:rPr>
              <a:t>反应物浓度随时间的变化规律（还可以作图方法确定，见表</a:t>
            </a:r>
            <a:r>
              <a:rPr lang="en-US" altLang="zh-CN" sz="2600" i="1" smtClean="0">
                <a:solidFill>
                  <a:srgbClr val="0000FF"/>
                </a:solidFill>
              </a:rPr>
              <a:t>3-4</a:t>
            </a:r>
            <a:r>
              <a:rPr lang="zh-CN" altLang="en-US" sz="2600" i="1" smtClean="0">
                <a:solidFill>
                  <a:srgbClr val="0000FF"/>
                </a:solidFill>
              </a:rPr>
              <a:t>）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</a:rPr>
              <a:t>对于反应级数小</a:t>
            </a:r>
            <a:r>
              <a:rPr lang="en-US" altLang="zh-CN" sz="2600" smtClean="0">
                <a:solidFill>
                  <a:srgbClr val="000000"/>
                </a:solidFill>
              </a:rPr>
              <a:t>(</a:t>
            </a:r>
            <a:r>
              <a:rPr lang="zh-CN" altLang="en-US" sz="2600" smtClean="0">
                <a:solidFill>
                  <a:srgbClr val="000000"/>
                </a:solidFill>
              </a:rPr>
              <a:t>即简单的反应级数，</a:t>
            </a:r>
            <a:r>
              <a:rPr lang="en-US" altLang="zh-CN" sz="2600" smtClean="0">
                <a:solidFill>
                  <a:srgbClr val="000000"/>
                </a:solidFill>
              </a:rPr>
              <a:t>0</a:t>
            </a:r>
            <a:r>
              <a:rPr lang="zh-CN" altLang="en-US" sz="2600" smtClean="0">
                <a:solidFill>
                  <a:srgbClr val="000000"/>
                </a:solidFill>
              </a:rPr>
              <a:t>级、一、二级</a:t>
            </a:r>
            <a:r>
              <a:rPr lang="en-US" altLang="zh-CN" sz="2600" smtClean="0">
                <a:solidFill>
                  <a:srgbClr val="000000"/>
                </a:solidFill>
              </a:rPr>
              <a:t>)</a:t>
            </a:r>
            <a:r>
              <a:rPr lang="zh-CN" altLang="en-US" sz="2600" smtClean="0">
                <a:solidFill>
                  <a:srgbClr val="000000"/>
                </a:solidFill>
              </a:rPr>
              <a:t>的反应很容易判断。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28600" y="152400"/>
            <a:ext cx="69437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6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二、通过实验数据来建立速率方程式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81000" y="2743200"/>
            <a:ext cx="8229600" cy="1016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000000"/>
                </a:solidFill>
              </a:rPr>
              <a:t>         </a:t>
            </a:r>
            <a:r>
              <a:rPr lang="en-US" altLang="zh-CN" sz="2600" smtClean="0">
                <a:solidFill>
                  <a:srgbClr val="C00000"/>
                </a:solidFill>
              </a:rPr>
              <a:t>2</a:t>
            </a:r>
            <a:r>
              <a:rPr lang="zh-CN" altLang="en-US" sz="2600" smtClean="0">
                <a:solidFill>
                  <a:srgbClr val="C00000"/>
                </a:solidFill>
              </a:rPr>
              <a:t>、</a:t>
            </a:r>
            <a:r>
              <a:rPr lang="zh-CN" altLang="en-US" sz="2600" i="1" smtClean="0">
                <a:solidFill>
                  <a:srgbClr val="C00000"/>
                </a:solidFill>
              </a:rPr>
              <a:t>初始速率法</a:t>
            </a:r>
            <a:r>
              <a:rPr lang="en-US" altLang="zh-CN" sz="2600" smtClean="0">
                <a:solidFill>
                  <a:srgbClr val="000000"/>
                </a:solidFill>
              </a:rPr>
              <a:t>——</a:t>
            </a:r>
            <a:r>
              <a:rPr lang="zh-CN" altLang="en-US" sz="2600" smtClean="0">
                <a:solidFill>
                  <a:srgbClr val="000000"/>
                </a:solidFill>
              </a:rPr>
              <a:t>通过实验，获得多种不同初始浓度下的初始速率，从而比较得到速率方程式的方法。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33400" y="3810000"/>
            <a:ext cx="8001000" cy="23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初始速率对于动力学研究有重要意义：</a:t>
            </a:r>
            <a:endParaRPr kumimoji="1" lang="en-US" altLang="zh-CN" sz="26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①是反应的最大速率；</a:t>
            </a:r>
            <a:endParaRPr kumimoji="1" lang="en-US" altLang="zh-CN" sz="26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②反应刚刚开始，生成物浓度小到可以忽略，排除了生成物和副反应产物对反应速率的影响。</a:t>
            </a:r>
            <a:endParaRPr kumimoji="1" lang="zh-CN" altLang="en-US" sz="3000" b="1" smtClean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 animBg="1"/>
      <p:bldP spid="302085" grpId="0" animBg="1"/>
      <p:bldP spid="8" grpId="0"/>
      <p:bldP spid="9" grpId="0" animBg="1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"/>
          <p:cNvGrpSpPr/>
          <p:nvPr/>
        </p:nvGrpSpPr>
        <p:grpSpPr bwMode="auto">
          <a:xfrm>
            <a:off x="152400" y="152400"/>
            <a:ext cx="8610600" cy="3614738"/>
            <a:chOff x="152400" y="152400"/>
            <a:chExt cx="8610600" cy="3614738"/>
          </a:xfrm>
        </p:grpSpPr>
        <p:pic>
          <p:nvPicPr>
            <p:cNvPr id="44039" name="Picture 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152400"/>
              <a:ext cx="8610600" cy="36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0" name="矩形 6"/>
            <p:cNvSpPr>
              <a:spLocks noChangeArrowheads="1"/>
            </p:cNvSpPr>
            <p:nvPr/>
          </p:nvSpPr>
          <p:spPr bwMode="auto">
            <a:xfrm>
              <a:off x="304800" y="228600"/>
              <a:ext cx="9573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3000" b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例题</a:t>
              </a:r>
            </a:p>
          </p:txBody>
        </p:sp>
      </p:grpSp>
      <p:grpSp>
        <p:nvGrpSpPr>
          <p:cNvPr id="3" name="组合 11"/>
          <p:cNvGrpSpPr/>
          <p:nvPr/>
        </p:nvGrpSpPr>
        <p:grpSpPr bwMode="auto">
          <a:xfrm>
            <a:off x="381000" y="3810000"/>
            <a:ext cx="8534400" cy="2117725"/>
            <a:chOff x="381000" y="3810000"/>
            <a:chExt cx="8534400" cy="2117369"/>
          </a:xfrm>
        </p:grpSpPr>
        <p:sp>
          <p:nvSpPr>
            <p:cNvPr id="44036" name="Text Box 3"/>
            <p:cNvSpPr txBox="1">
              <a:spLocks noChangeArrowheads="1"/>
            </p:cNvSpPr>
            <p:nvPr/>
          </p:nvSpPr>
          <p:spPr bwMode="auto">
            <a:xfrm>
              <a:off x="381000" y="3810000"/>
              <a:ext cx="5943600" cy="488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000000"/>
                  </a:solidFill>
                </a:rPr>
                <a:t>       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不难确定上述反应的速率方程式：</a:t>
              </a:r>
            </a:p>
          </p:txBody>
        </p:sp>
        <p:sp>
          <p:nvSpPr>
            <p:cNvPr id="44037" name="Rectangle 4"/>
            <p:cNvSpPr>
              <a:spLocks noChangeArrowheads="1"/>
            </p:cNvSpPr>
            <p:nvPr/>
          </p:nvSpPr>
          <p:spPr bwMode="auto">
            <a:xfrm>
              <a:off x="1676400" y="4419600"/>
              <a:ext cx="5410200" cy="433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 = </a:t>
              </a:r>
              <a:r>
                <a:rPr kumimoji="1" lang="en-US" altLang="zh-CN" sz="28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{</a:t>
              </a:r>
              <a:r>
                <a:rPr kumimoji="1" lang="en-US" altLang="zh-CN" sz="28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(H</a:t>
              </a:r>
              <a:r>
                <a:rPr kumimoji="1" lang="en-US" altLang="zh-CN" sz="28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)}</a:t>
              </a:r>
              <a:r>
                <a:rPr kumimoji="1" lang="en-US" altLang="zh-CN" sz="28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1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{</a:t>
              </a:r>
              <a:r>
                <a:rPr kumimoji="1" lang="en-US" altLang="zh-CN" sz="28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(NO)}</a:t>
              </a:r>
              <a:r>
                <a:rPr kumimoji="1" lang="en-US" altLang="zh-CN" sz="28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el-GR" altLang="zh-CN" sz="2800" b="1" baseline="30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38" name="Text Box 5"/>
            <p:cNvSpPr txBox="1">
              <a:spLocks noChangeArrowheads="1"/>
            </p:cNvSpPr>
            <p:nvPr/>
          </p:nvSpPr>
          <p:spPr bwMode="auto">
            <a:xfrm>
              <a:off x="457200" y="4953000"/>
              <a:ext cx="84582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000000"/>
                  </a:solidFill>
                </a:rPr>
                <a:t>        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通过上述反应的速率方程式和实验数据，很容易求出速率常数 </a:t>
              </a:r>
              <a:r>
                <a:rPr lang="en-US" altLang="zh-CN" sz="2600" i="1" smtClean="0">
                  <a:solidFill>
                    <a:srgbClr val="000000"/>
                  </a:solidFill>
                  <a:ea typeface="宋体" panose="02010600030101010101" pitchFamily="2" charset="-122"/>
                </a:rPr>
                <a:t>k 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值。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Text Box 2"/>
          <p:cNvSpPr txBox="1">
            <a:spLocks noChangeArrowheads="1"/>
          </p:cNvSpPr>
          <p:nvPr/>
        </p:nvSpPr>
        <p:spPr bwMode="auto">
          <a:xfrm>
            <a:off x="152400" y="152400"/>
            <a:ext cx="8458200" cy="1016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smtClean="0">
                <a:solidFill>
                  <a:srgbClr val="C00000"/>
                </a:solidFill>
              </a:rPr>
              <a:t>         3</a:t>
            </a:r>
            <a:r>
              <a:rPr lang="zh-CN" altLang="en-US" sz="2600" smtClean="0">
                <a:solidFill>
                  <a:srgbClr val="C00000"/>
                </a:solidFill>
              </a:rPr>
              <a:t>、</a:t>
            </a:r>
            <a:r>
              <a:rPr lang="zh-CN" altLang="en-US" sz="2600" smtClean="0">
                <a:solidFill>
                  <a:srgbClr val="000000"/>
                </a:solidFill>
              </a:rPr>
              <a:t>通过</a:t>
            </a:r>
            <a:r>
              <a:rPr lang="zh-CN" altLang="en-US" sz="2600" i="1" smtClean="0">
                <a:solidFill>
                  <a:srgbClr val="C00000"/>
                </a:solidFill>
              </a:rPr>
              <a:t>速率系数的单位</a:t>
            </a:r>
            <a:r>
              <a:rPr lang="zh-CN" altLang="en-US" sz="2600" smtClean="0">
                <a:solidFill>
                  <a:srgbClr val="000000"/>
                </a:solidFill>
              </a:rPr>
              <a:t>（参考表</a:t>
            </a:r>
            <a:r>
              <a:rPr lang="en-US" altLang="zh-CN" sz="2600" smtClean="0">
                <a:solidFill>
                  <a:srgbClr val="000000"/>
                </a:solidFill>
              </a:rPr>
              <a:t>3-3</a:t>
            </a:r>
            <a:r>
              <a:rPr lang="zh-CN" altLang="en-US" sz="2600" smtClean="0">
                <a:solidFill>
                  <a:srgbClr val="000000"/>
                </a:solidFill>
              </a:rPr>
              <a:t>），也能判断出一些反应级数小的反应速率方程式。</a:t>
            </a:r>
            <a:endParaRPr lang="en-US" altLang="zh-CN" sz="2600" smtClean="0">
              <a:solidFill>
                <a:srgbClr val="000000"/>
              </a:solidFill>
            </a:endParaRPr>
          </a:p>
        </p:txBody>
      </p:sp>
      <p:grpSp>
        <p:nvGrpSpPr>
          <p:cNvPr id="2" name="组合 10"/>
          <p:cNvGrpSpPr/>
          <p:nvPr/>
        </p:nvGrpSpPr>
        <p:grpSpPr bwMode="auto">
          <a:xfrm>
            <a:off x="533400" y="2286000"/>
            <a:ext cx="7231063" cy="2303463"/>
            <a:chOff x="533400" y="1828800"/>
            <a:chExt cx="7231063" cy="2303463"/>
          </a:xfrm>
        </p:grpSpPr>
        <p:sp>
          <p:nvSpPr>
            <p:cNvPr id="45061" name="Rectangle 8"/>
            <p:cNvSpPr>
              <a:spLocks noChangeArrowheads="1"/>
            </p:cNvSpPr>
            <p:nvPr/>
          </p:nvSpPr>
          <p:spPr bwMode="auto">
            <a:xfrm>
              <a:off x="533400" y="1828800"/>
              <a:ext cx="5160963" cy="488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一级反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应的速率方程式的通式为：</a:t>
              </a:r>
            </a:p>
          </p:txBody>
        </p:sp>
        <p:sp>
          <p:nvSpPr>
            <p:cNvPr id="45062" name="Rectangle 9"/>
            <p:cNvSpPr>
              <a:spLocks noChangeArrowheads="1"/>
            </p:cNvSpPr>
            <p:nvPr/>
          </p:nvSpPr>
          <p:spPr bwMode="auto">
            <a:xfrm>
              <a:off x="1981200" y="2438400"/>
              <a:ext cx="5029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r  = </a:t>
              </a:r>
              <a:r>
                <a:rPr kumimoji="1" lang="en-US" altLang="zh-CN" sz="30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k</a:t>
              </a: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{</a:t>
              </a:r>
              <a:r>
                <a:rPr kumimoji="1" lang="en-US" altLang="zh-CN" sz="30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(A)}</a:t>
              </a:r>
              <a:endParaRPr kumimoji="1" lang="el-GR" altLang="zh-CN" sz="3000" b="1" baseline="30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063" name="Rectangle 10"/>
            <p:cNvSpPr>
              <a:spLocks noChangeArrowheads="1"/>
            </p:cNvSpPr>
            <p:nvPr/>
          </p:nvSpPr>
          <p:spPr bwMode="auto">
            <a:xfrm>
              <a:off x="1295400" y="3048000"/>
              <a:ext cx="6469063" cy="10842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令              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t=0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时，对应的浓度为 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</a:t>
              </a:r>
              <a:r>
                <a:rPr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     t=t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时，对应的浓度为 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</a:t>
              </a:r>
              <a:r>
                <a:rPr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" y="1752600"/>
            <a:ext cx="57610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6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三、利用速率方程式进行计算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0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4" grpId="0" animBg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4" name="Rectangle 6"/>
          <p:cNvSpPr>
            <a:spLocks noChangeArrowheads="1"/>
          </p:cNvSpPr>
          <p:nvPr/>
        </p:nvSpPr>
        <p:spPr bwMode="auto">
          <a:xfrm>
            <a:off x="304800" y="2819400"/>
            <a:ext cx="8610600" cy="512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这就是一级反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应速率方程式的定量计算式。</a:t>
            </a:r>
            <a:endParaRPr kumimoji="1" lang="en-US" altLang="zh-CN" sz="26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146" name="Object 7"/>
          <p:cNvGraphicFramePr>
            <a:graphicFrameLocks noChangeAspect="1"/>
          </p:cNvGraphicFramePr>
          <p:nvPr/>
        </p:nvGraphicFramePr>
        <p:xfrm>
          <a:off x="838200" y="152400"/>
          <a:ext cx="6934200" cy="2590800"/>
        </p:xfrm>
        <a:graphic>
          <a:graphicData uri="http://schemas.openxmlformats.org/presentationml/2006/ole">
            <p:oleObj spid="_x0000_s41985" name="CS ChemDraw Drawing" r:id="rId3" imgW="28298775" imgH="12077700" progId="">
              <p:embed/>
            </p:oleObj>
          </a:graphicData>
        </a:graphic>
      </p:graphicFrame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81000" y="3581400"/>
            <a:ext cx="8382000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一级反应的特征：</a:t>
            </a:r>
            <a:endParaRPr kumimoji="1" lang="en-US" altLang="zh-CN" sz="26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ts val="4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         1) </a:t>
            </a:r>
            <a:r>
              <a:rPr kumimoji="1" lang="zh-CN" altLang="en-US" sz="2600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若对</a:t>
            </a:r>
            <a:r>
              <a:rPr kumimoji="1" lang="en-US" altLang="zh-CN" sz="2600" b="1" i="1" dirty="0" err="1" smtClean="0">
                <a:solidFill>
                  <a:srgbClr val="0000FF"/>
                </a:solidFill>
                <a:latin typeface="Times New Roman" panose="02020603050405020304" pitchFamily="18" charset="0"/>
              </a:rPr>
              <a:t>lnc</a:t>
            </a:r>
            <a:r>
              <a:rPr kumimoji="1" lang="en-US" altLang="zh-CN" sz="2600" b="1" i="1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600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- t </a:t>
            </a:r>
            <a:r>
              <a:rPr kumimoji="1" lang="zh-CN" altLang="en-US" sz="2600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作图，可得一条直线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参考表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3-4) 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，直线的斜率为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-k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30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9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4" grpId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381000" y="2667000"/>
            <a:ext cx="8458200" cy="10160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000FF"/>
                </a:solidFill>
                <a:latin typeface="楷体_GB2312" pitchFamily="49" charset="-122"/>
              </a:rPr>
              <a:t>    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/>
                <a:ea typeface="Verdana" panose="020B0604030504040204" pitchFamily="34" charset="0"/>
              </a:rPr>
              <a:t>2)</a:t>
            </a:r>
            <a:r>
              <a:rPr lang="zh-CN" altLang="en-US" sz="2600" b="1" i="1" dirty="0">
                <a:solidFill>
                  <a:srgbClr val="0000FF"/>
                </a:solidFill>
                <a:latin typeface="楷体_GB2312" pitchFamily="49" charset="-122"/>
              </a:rPr>
              <a:t>半衰期与反应物的初始浓度无关</a:t>
            </a:r>
            <a:r>
              <a:rPr lang="zh-CN" altLang="en-US" sz="2600" b="1" dirty="0">
                <a:solidFill>
                  <a:srgbClr val="000000"/>
                </a:solidFill>
                <a:latin typeface="楷体_GB2312" pitchFamily="49" charset="-122"/>
              </a:rPr>
              <a:t>，这是一级反应的重要特征之一。</a:t>
            </a:r>
            <a:endParaRPr kumimoji="1" lang="zh-CN" altLang="en-US" sz="2600" b="1" dirty="0">
              <a:solidFill>
                <a:srgbClr val="000000"/>
              </a:solidFill>
              <a:latin typeface="楷体_GB2312" pitchFamily="49" charset="-122"/>
            </a:endParaRPr>
          </a:p>
        </p:txBody>
      </p:sp>
      <p:grpSp>
        <p:nvGrpSpPr>
          <p:cNvPr id="2" name="组合 5"/>
          <p:cNvGrpSpPr/>
          <p:nvPr/>
        </p:nvGrpSpPr>
        <p:grpSpPr bwMode="auto">
          <a:xfrm>
            <a:off x="228600" y="228600"/>
            <a:ext cx="8534400" cy="1828800"/>
            <a:chOff x="228600" y="76200"/>
            <a:chExt cx="8534400" cy="1829005"/>
          </a:xfrm>
        </p:grpSpPr>
        <p:sp>
          <p:nvSpPr>
            <p:cNvPr id="3" name="Rectangle 7"/>
            <p:cNvSpPr>
              <a:spLocks noChangeArrowheads="1"/>
            </p:cNvSpPr>
            <p:nvPr/>
          </p:nvSpPr>
          <p:spPr bwMode="auto">
            <a:xfrm>
              <a:off x="228600" y="76200"/>
              <a:ext cx="8534400" cy="974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当 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= 0.5 c</a:t>
              </a:r>
              <a:r>
                <a:rPr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0 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时，反应所需的时间我们称之为半衰期，用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1/2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来表示：</a:t>
              </a:r>
              <a:endPara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0" name="Object 3"/>
            <p:cNvGraphicFramePr>
              <a:graphicFrameLocks noChangeAspect="1"/>
            </p:cNvGraphicFramePr>
            <p:nvPr/>
          </p:nvGraphicFramePr>
          <p:xfrm>
            <a:off x="2209800" y="914494"/>
            <a:ext cx="5257800" cy="990711"/>
          </p:xfrm>
          <a:graphic>
            <a:graphicData uri="http://schemas.openxmlformats.org/presentationml/2006/ole">
              <p:oleObj spid="_x0000_s50177" name="CS ChemDraw Drawing" r:id="rId3" imgW="20545425" imgH="4981575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8"/>
          <p:cNvGrpSpPr/>
          <p:nvPr/>
        </p:nvGrpSpPr>
        <p:grpSpPr bwMode="auto">
          <a:xfrm>
            <a:off x="714348" y="4357694"/>
            <a:ext cx="7543800" cy="1576388"/>
            <a:chOff x="228600" y="4343400"/>
            <a:chExt cx="6858000" cy="1576387"/>
          </a:xfrm>
        </p:grpSpPr>
        <p:sp>
          <p:nvSpPr>
            <p:cNvPr id="8197" name="Rectangle 13"/>
            <p:cNvSpPr>
              <a:spLocks noChangeArrowheads="1"/>
            </p:cNvSpPr>
            <p:nvPr/>
          </p:nvSpPr>
          <p:spPr bwMode="auto">
            <a:xfrm>
              <a:off x="228600" y="4800600"/>
              <a:ext cx="3276600" cy="488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直接套两公式</a:t>
              </a:r>
              <a:endPara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8" name="Rectangle 16"/>
            <p:cNvSpPr>
              <a:spLocks noChangeArrowheads="1"/>
            </p:cNvSpPr>
            <p:nvPr/>
          </p:nvSpPr>
          <p:spPr bwMode="auto">
            <a:xfrm>
              <a:off x="3505200" y="4343400"/>
              <a:ext cx="3581400" cy="492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ln(c</a:t>
              </a:r>
              <a:r>
                <a:rPr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t 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/ c</a:t>
              </a:r>
              <a:r>
                <a:rPr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 = – kt</a:t>
              </a:r>
            </a:p>
          </p:txBody>
        </p:sp>
        <p:graphicFrame>
          <p:nvGraphicFramePr>
            <p:cNvPr id="8194" name="Object 8"/>
            <p:cNvGraphicFramePr>
              <a:graphicFrameLocks noChangeAspect="1"/>
            </p:cNvGraphicFramePr>
            <p:nvPr/>
          </p:nvGraphicFramePr>
          <p:xfrm>
            <a:off x="3657600" y="5105400"/>
            <a:ext cx="3232150" cy="814387"/>
          </p:xfrm>
          <a:graphic>
            <a:graphicData uri="http://schemas.openxmlformats.org/presentationml/2006/ole">
              <p:oleObj spid="_x0000_s51201" name="CS ChemDraw Drawing" r:id="rId3" imgW="14973300" imgH="3657600" progId="">
                <p:embed/>
              </p:oleObj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152400" y="76200"/>
            <a:ext cx="8915400" cy="3886200"/>
            <a:chOff x="152400" y="76200"/>
            <a:chExt cx="8915400" cy="3886200"/>
          </a:xfrm>
        </p:grpSpPr>
        <p:grpSp>
          <p:nvGrpSpPr>
            <p:cNvPr id="2" name="Group 12"/>
            <p:cNvGrpSpPr/>
            <p:nvPr/>
          </p:nvGrpSpPr>
          <p:grpSpPr bwMode="auto">
            <a:xfrm>
              <a:off x="152400" y="76200"/>
              <a:ext cx="8915400" cy="3886200"/>
              <a:chOff x="0" y="0"/>
              <a:chExt cx="5616" cy="2448"/>
            </a:xfrm>
          </p:grpSpPr>
          <p:pic>
            <p:nvPicPr>
              <p:cNvPr id="8199" name="Picture 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0" y="0"/>
                <a:ext cx="2256" cy="2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00" name="Picture 11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360" cy="2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矩形 8"/>
            <p:cNvSpPr/>
            <p:nvPr/>
          </p:nvSpPr>
          <p:spPr>
            <a:xfrm>
              <a:off x="357158" y="142852"/>
              <a:ext cx="1104790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6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例题</a:t>
              </a:r>
              <a:r>
                <a:rPr kumimoji="1" lang="en-US" altLang="zh-CN" sz="26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1 </a:t>
              </a:r>
              <a:endParaRPr lang="zh-CN" altLang="en-US" sz="2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4"/>
          <p:cNvGraphicFramePr>
            <a:graphicFrameLocks noGrp="1" noChangeAspect="1"/>
          </p:cNvGraphicFramePr>
          <p:nvPr>
            <p:ph/>
          </p:nvPr>
        </p:nvGraphicFramePr>
        <p:xfrm>
          <a:off x="-76200" y="0"/>
          <a:ext cx="9220200" cy="6248400"/>
        </p:xfrm>
        <a:graphic>
          <a:graphicData uri="http://schemas.openxmlformats.org/presentationml/2006/ole">
            <p:oleObj spid="_x0000_s52225" name="CS ChemDraw Drawing" r:id="rId3" imgW="35118675" imgH="19973925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85344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8382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2910" y="571480"/>
            <a:ext cx="7215238" cy="1692771"/>
            <a:chOff x="214282" y="-24"/>
            <a:chExt cx="8572560" cy="1692771"/>
          </a:xfrm>
        </p:grpSpPr>
        <p:sp>
          <p:nvSpPr>
            <p:cNvPr id="69633" name="Rectangle 1"/>
            <p:cNvSpPr>
              <a:spLocks noChangeArrowheads="1"/>
            </p:cNvSpPr>
            <p:nvPr/>
          </p:nvSpPr>
          <p:spPr bwMode="auto">
            <a:xfrm>
              <a:off x="214282" y="-24"/>
              <a:ext cx="8572560" cy="169277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</a:t>
              </a:r>
              <a:r>
                <a:rPr kumimoji="0" 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碳</a:t>
              </a:r>
              <a:r>
                <a:rPr kumimoji="0" lang="en-US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-14</a:t>
              </a:r>
              <a:r>
                <a:rPr kumimoji="0" lang="zh-CN" altLang="en-US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半衰期为</a:t>
              </a:r>
              <a:r>
                <a:rPr kumimoji="0" lang="en-US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5720</a:t>
              </a:r>
              <a:r>
                <a:rPr kumimoji="0" lang="zh-CN" altLang="en-US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年（一级反应），今测得北京周口店出土的某动物骨化石中的</a:t>
              </a:r>
              <a:r>
                <a:rPr kumimoji="0" lang="en-US" altLang="zh-CN" sz="2600" b="1" i="0" u="none" strike="noStrike" cap="none" normalizeH="0" baseline="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14</a:t>
              </a:r>
              <a:r>
                <a:rPr kumimoji="0" lang="en-US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C/</a:t>
              </a:r>
              <a:r>
                <a:rPr kumimoji="0" lang="en-US" altLang="zh-CN" sz="2600" b="1" i="0" u="none" strike="noStrike" cap="none" normalizeH="0" baseline="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0" lang="en-US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zh-CN" altLang="en-US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比值是当今活着生物的</a:t>
              </a:r>
              <a:r>
                <a:rPr kumimoji="0" lang="en-US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0.109</a:t>
              </a:r>
              <a:r>
                <a:rPr kumimoji="0" lang="zh-CN" altLang="en-US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倍，计算该化石距今多久</a:t>
              </a:r>
              <a:r>
                <a:rPr kumimoji="0" lang="zh-CN" altLang="en-US" sz="2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？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468912" y="-24"/>
              <a:ext cx="1104790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6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例题</a:t>
              </a:r>
              <a:r>
                <a:rPr kumimoji="1" lang="en-US" altLang="zh-CN" sz="26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2 </a:t>
              </a:r>
              <a:endParaRPr lang="zh-CN" altLang="en-US" sz="2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3" name="Rectangle 3"/>
          <p:cNvSpPr>
            <a:spLocks noChangeArrowheads="1"/>
          </p:cNvSpPr>
          <p:nvPr/>
        </p:nvSpPr>
        <p:spPr bwMode="auto">
          <a:xfrm>
            <a:off x="1066800" y="685800"/>
            <a:ext cx="6905625" cy="512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大多数化学反应，温度升高，反应速率增大</a:t>
            </a:r>
          </a:p>
        </p:txBody>
      </p:sp>
      <p:grpSp>
        <p:nvGrpSpPr>
          <p:cNvPr id="2" name="组合 16"/>
          <p:cNvGrpSpPr/>
          <p:nvPr/>
        </p:nvGrpSpPr>
        <p:grpSpPr bwMode="auto">
          <a:xfrm>
            <a:off x="304800" y="1371600"/>
            <a:ext cx="8686800" cy="2346325"/>
            <a:chOff x="304800" y="1371600"/>
            <a:chExt cx="8686800" cy="2346325"/>
          </a:xfrm>
        </p:grpSpPr>
        <p:sp>
          <p:nvSpPr>
            <p:cNvPr id="10246" name="Rectangle 4"/>
            <p:cNvSpPr>
              <a:spLocks noChangeArrowheads="1"/>
            </p:cNvSpPr>
            <p:nvPr/>
          </p:nvSpPr>
          <p:spPr bwMode="auto">
            <a:xfrm>
              <a:off x="304800" y="1371600"/>
              <a:ext cx="86868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经验规则：对于同一反应，反应温度每升高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10K,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反应速率或反应速率常数通常增大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2-4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倍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定量计算的结论。</a:t>
              </a:r>
            </a:p>
          </p:txBody>
        </p:sp>
        <p:graphicFrame>
          <p:nvGraphicFramePr>
            <p:cNvPr id="10242" name="Object 6"/>
            <p:cNvGraphicFramePr>
              <a:graphicFrameLocks noChangeAspect="1"/>
            </p:cNvGraphicFramePr>
            <p:nvPr/>
          </p:nvGraphicFramePr>
          <p:xfrm>
            <a:off x="1981200" y="2438400"/>
            <a:ext cx="5237163" cy="1279525"/>
          </p:xfrm>
          <a:graphic>
            <a:graphicData uri="http://schemas.openxmlformats.org/presentationml/2006/ole">
              <p:oleObj spid="_x0000_s53249" name="CS ChemDraw Drawing" r:id="rId3" imgW="18440400" imgH="4514850" progId="">
                <p:embed/>
              </p:oleObj>
            </a:graphicData>
          </a:graphic>
        </p:graphicFrame>
      </p:grpSp>
      <p:sp>
        <p:nvSpPr>
          <p:cNvPr id="10245" name="矩形 13"/>
          <p:cNvSpPr>
            <a:spLocks noChangeArrowheads="1"/>
          </p:cNvSpPr>
          <p:nvPr/>
        </p:nvSpPr>
        <p:spPr bwMode="auto">
          <a:xfrm>
            <a:off x="762000" y="152400"/>
            <a:ext cx="73152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6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3-2-2   </a:t>
            </a:r>
            <a:r>
              <a:rPr lang="zh-CN" altLang="en-US" sz="26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温度对化学反应速率的影响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9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3"/>
          <p:cNvGraphicFramePr>
            <a:graphicFrameLocks noGrp="1" noChangeAspect="1"/>
          </p:cNvGraphicFramePr>
          <p:nvPr>
            <p:ph sz="half" idx="2"/>
          </p:nvPr>
        </p:nvGraphicFramePr>
        <p:xfrm>
          <a:off x="5334000" y="685800"/>
          <a:ext cx="569913" cy="401638"/>
        </p:xfrm>
        <a:graphic>
          <a:graphicData uri="http://schemas.openxmlformats.org/presentationml/2006/ole">
            <p:oleObj spid="_x0000_s57348" name="CS ChemDraw Drawing" r:id="rId3" imgW="3571875" imgH="2524125" progId="">
              <p:embed/>
            </p:oleObj>
          </a:graphicData>
        </a:graphic>
      </p:graphicFrame>
      <p:grpSp>
        <p:nvGrpSpPr>
          <p:cNvPr id="2" name="组合 23"/>
          <p:cNvGrpSpPr/>
          <p:nvPr/>
        </p:nvGrpSpPr>
        <p:grpSpPr bwMode="auto">
          <a:xfrm>
            <a:off x="228600" y="228600"/>
            <a:ext cx="8534400" cy="2493963"/>
            <a:chOff x="228600" y="228600"/>
            <a:chExt cx="8534400" cy="2493963"/>
          </a:xfrm>
        </p:grpSpPr>
        <p:sp>
          <p:nvSpPr>
            <p:cNvPr id="11273" name="Rectangle 5"/>
            <p:cNvSpPr>
              <a:spLocks noChangeArrowheads="1"/>
            </p:cNvSpPr>
            <p:nvPr/>
          </p:nvSpPr>
          <p:spPr bwMode="auto">
            <a:xfrm>
              <a:off x="228600" y="228600"/>
              <a:ext cx="2960688" cy="488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Arrhenius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方程式：</a:t>
              </a:r>
            </a:p>
          </p:txBody>
        </p:sp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4648200" y="304800"/>
              <a:ext cx="4114800" cy="48895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exponential</a:t>
              </a:r>
              <a:r>
                <a:rPr lang="zh-CN" altLang="en-US" sz="2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指数函数</a:t>
              </a:r>
            </a:p>
          </p:txBody>
        </p:sp>
        <p:sp>
          <p:nvSpPr>
            <p:cNvPr id="11275" name="矩形 12"/>
            <p:cNvSpPr>
              <a:spLocks noChangeArrowheads="1"/>
            </p:cNvSpPr>
            <p:nvPr/>
          </p:nvSpPr>
          <p:spPr bwMode="auto">
            <a:xfrm>
              <a:off x="4800600" y="1143000"/>
              <a:ext cx="3835400" cy="412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k = A exp(–Ea/RT)</a:t>
              </a:r>
            </a:p>
          </p:txBody>
        </p:sp>
        <p:sp>
          <p:nvSpPr>
            <p:cNvPr id="11276" name="矩形 13"/>
            <p:cNvSpPr>
              <a:spLocks noChangeArrowheads="1"/>
            </p:cNvSpPr>
            <p:nvPr/>
          </p:nvSpPr>
          <p:spPr bwMode="auto">
            <a:xfrm>
              <a:off x="3886200" y="1143000"/>
              <a:ext cx="498855" cy="412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or</a:t>
              </a:r>
            </a:p>
          </p:txBody>
        </p:sp>
        <p:graphicFrame>
          <p:nvGraphicFramePr>
            <p:cNvPr id="11268" name="Object 5"/>
            <p:cNvGraphicFramePr>
              <a:graphicFrameLocks noChangeAspect="1"/>
            </p:cNvGraphicFramePr>
            <p:nvPr/>
          </p:nvGraphicFramePr>
          <p:xfrm>
            <a:off x="990600" y="1143000"/>
            <a:ext cx="2661920" cy="609600"/>
          </p:xfrm>
          <a:graphic>
            <a:graphicData uri="http://schemas.openxmlformats.org/presentationml/2006/ole">
              <p:oleObj spid="_x0000_s57347" name="CS ChemDraw Drawing" r:id="rId4" imgW="13001625" imgH="2990850" progId="">
                <p:embed/>
              </p:oleObj>
            </a:graphicData>
          </a:graphic>
        </p:graphicFrame>
        <p:graphicFrame>
          <p:nvGraphicFramePr>
            <p:cNvPr id="11269" name="Object 7"/>
            <p:cNvGraphicFramePr>
              <a:graphicFrameLocks noChangeAspect="1"/>
            </p:cNvGraphicFramePr>
            <p:nvPr/>
          </p:nvGraphicFramePr>
          <p:xfrm>
            <a:off x="2667000" y="1752600"/>
            <a:ext cx="3659187" cy="969963"/>
          </p:xfrm>
          <a:graphic>
            <a:graphicData uri="http://schemas.openxmlformats.org/presentationml/2006/ole">
              <p:oleObj spid="_x0000_s57346" name="CS ChemDraw Drawing" r:id="rId5" imgW="22879050" imgH="6076950" progId="">
                <p:embed/>
              </p:oleObj>
            </a:graphicData>
          </a:graphic>
        </p:graphicFrame>
      </p:grpSp>
      <p:grpSp>
        <p:nvGrpSpPr>
          <p:cNvPr id="3" name="组合 24"/>
          <p:cNvGrpSpPr/>
          <p:nvPr/>
        </p:nvGrpSpPr>
        <p:grpSpPr bwMode="auto">
          <a:xfrm>
            <a:off x="304800" y="2895600"/>
            <a:ext cx="8610600" cy="2270125"/>
            <a:chOff x="304800" y="2895600"/>
            <a:chExt cx="8610600" cy="2269769"/>
          </a:xfrm>
        </p:grpSpPr>
        <p:graphicFrame>
          <p:nvGraphicFramePr>
            <p:cNvPr id="4" name="Object 8"/>
            <p:cNvGraphicFramePr>
              <a:graphicFrameLocks noChangeAspect="1"/>
            </p:cNvGraphicFramePr>
            <p:nvPr/>
          </p:nvGraphicFramePr>
          <p:xfrm>
            <a:off x="1905000" y="2895600"/>
            <a:ext cx="5562600" cy="1143000"/>
          </p:xfrm>
          <a:graphic>
            <a:graphicData uri="http://schemas.openxmlformats.org/presentationml/2006/ole">
              <p:oleObj spid="_x0000_s57345" name="CS ChemDraw Drawing" r:id="rId6" imgW="28803600" imgH="5924550" progId="">
                <p:embed/>
              </p:oleObj>
            </a:graphicData>
          </a:graphic>
        </p:graphicFrame>
        <p:sp>
          <p:nvSpPr>
            <p:cNvPr id="11272" name="Rectangle 6"/>
            <p:cNvSpPr>
              <a:spLocks noChangeArrowheads="1"/>
            </p:cNvSpPr>
            <p:nvPr/>
          </p:nvSpPr>
          <p:spPr bwMode="auto">
            <a:xfrm>
              <a:off x="304800" y="4191000"/>
              <a:ext cx="86106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对于大多数反应来说，在一定的温度区间内可以近似为：指前因子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和活化能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的值与温度无关！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04800" y="228600"/>
            <a:ext cx="8610600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以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lnk — 1/T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作图，可得到一条直线，直线的斜率和截距分别可以求出指前因子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和活化能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的值。</a:t>
            </a:r>
            <a:endParaRPr kumimoji="1" lang="zh-CN" altLang="en-US" sz="30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11"/>
          <p:cNvGrpSpPr/>
          <p:nvPr/>
        </p:nvGrpSpPr>
        <p:grpSpPr bwMode="auto">
          <a:xfrm>
            <a:off x="457200" y="1447800"/>
            <a:ext cx="7086600" cy="2133600"/>
            <a:chOff x="457200" y="1447800"/>
            <a:chExt cx="7086600" cy="2133600"/>
          </a:xfrm>
        </p:grpSpPr>
        <p:sp>
          <p:nvSpPr>
            <p:cNvPr id="12294" name="矩形 8"/>
            <p:cNvSpPr>
              <a:spLocks noChangeArrowheads="1"/>
            </p:cNvSpPr>
            <p:nvPr/>
          </p:nvSpPr>
          <p:spPr bwMode="auto">
            <a:xfrm>
              <a:off x="457200" y="1447800"/>
              <a:ext cx="5329246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fontAlgn="base" hangingPunct="0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上述公式的变化形式有（一）： </a:t>
              </a:r>
            </a:p>
          </p:txBody>
        </p:sp>
        <p:graphicFrame>
          <p:nvGraphicFramePr>
            <p:cNvPr id="12290" name="Object 8"/>
            <p:cNvGraphicFramePr>
              <a:graphicFrameLocks noChangeAspect="1"/>
            </p:cNvGraphicFramePr>
            <p:nvPr/>
          </p:nvGraphicFramePr>
          <p:xfrm>
            <a:off x="1752600" y="2209800"/>
            <a:ext cx="5791200" cy="1371600"/>
          </p:xfrm>
          <a:graphic>
            <a:graphicData uri="http://schemas.openxmlformats.org/presentationml/2006/ole">
              <p:oleObj spid="_x0000_s58369" name="CS ChemDraw Drawing" r:id="rId3" imgW="22250400" imgH="5200650" progId="">
                <p:embed/>
              </p:oleObj>
            </a:graphicData>
          </a:graphic>
        </p:graphicFrame>
      </p:grp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57200" y="4038600"/>
            <a:ext cx="8077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600" b="1" i="1" dirty="0" smtClean="0">
                <a:solidFill>
                  <a:srgbClr val="3333CC"/>
                </a:solidFill>
                <a:latin typeface="Times New Roman" panose="02020603050405020304" pitchFamily="18" charset="0"/>
              </a:rPr>
              <a:t>利用表</a:t>
            </a:r>
            <a:r>
              <a:rPr kumimoji="1" lang="en-US" altLang="zh-CN" sz="2600" b="1" i="1" dirty="0" smtClean="0">
                <a:solidFill>
                  <a:srgbClr val="3333CC"/>
                </a:solidFill>
                <a:latin typeface="Times New Roman" panose="02020603050405020304" pitchFamily="18" charset="0"/>
              </a:rPr>
              <a:t>3-5</a:t>
            </a:r>
            <a:r>
              <a:rPr kumimoji="1" lang="zh-CN" altLang="en-US" sz="2600" b="1" i="1" dirty="0" smtClean="0">
                <a:solidFill>
                  <a:srgbClr val="3333CC"/>
                </a:solidFill>
                <a:latin typeface="Times New Roman" panose="02020603050405020304" pitchFamily="18" charset="0"/>
              </a:rPr>
              <a:t>任意两组数据，也可以计算反应的指前因子</a:t>
            </a:r>
            <a:r>
              <a:rPr kumimoji="1" lang="en-US" altLang="zh-CN" sz="2600" b="1" i="1" dirty="0" smtClean="0">
                <a:solidFill>
                  <a:srgbClr val="3333CC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600" b="1" i="1" dirty="0" smtClean="0">
                <a:solidFill>
                  <a:srgbClr val="3333CC"/>
                </a:solidFill>
                <a:latin typeface="Times New Roman" panose="02020603050405020304" pitchFamily="18" charset="0"/>
              </a:rPr>
              <a:t>和活化能</a:t>
            </a:r>
            <a:r>
              <a:rPr kumimoji="1" lang="en-US" altLang="zh-CN" sz="2600" b="1" i="1" dirty="0" smtClean="0">
                <a:solidFill>
                  <a:srgbClr val="3333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600" b="1" i="1" baseline="-25000" dirty="0" smtClean="0">
                <a:solidFill>
                  <a:srgbClr val="3333CC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600" b="1" i="1" dirty="0" smtClean="0">
                <a:solidFill>
                  <a:srgbClr val="3333CC"/>
                </a:solidFill>
                <a:latin typeface="Times New Roman" panose="02020603050405020304" pitchFamily="18" charset="0"/>
              </a:rPr>
              <a:t>的值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71604" y="1071546"/>
            <a:ext cx="5107487" cy="19468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lnk</a:t>
            </a:r>
            <a:r>
              <a:rPr kumimoji="0" lang="zh-CN" altLang="zh-CN" sz="3200" b="1" i="0" u="none" strike="noStrike" cap="none" normalizeH="0" baseline="-3000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3200" b="1" i="0" u="none" strike="noStrike" cap="none" normalizeH="0" baseline="-3000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/(RT) + lnA</a:t>
            </a:r>
            <a:endParaRPr kumimoji="0" lang="zh-CN" altLang="zh-CN" sz="32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ts val="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lnk</a:t>
            </a:r>
            <a:r>
              <a:rPr kumimoji="0" lang="zh-CN" altLang="zh-CN" sz="3200" b="1" i="0" u="none" strike="noStrike" cap="none" normalizeH="0" baseline="-3000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3200" b="1" i="0" u="none" strike="noStrike" cap="none" normalizeH="0" baseline="-3000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a2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/(RT) + lnA</a:t>
            </a:r>
            <a:endParaRPr kumimoji="0" lang="zh-CN" altLang="zh-CN" sz="32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ts val="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ln(k</a:t>
            </a:r>
            <a:r>
              <a:rPr kumimoji="0" lang="zh-CN" altLang="zh-CN" sz="3200" b="1" i="0" u="none" strike="noStrike" cap="none" normalizeH="0" baseline="-2500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/k</a:t>
            </a:r>
            <a:r>
              <a:rPr kumimoji="0" lang="zh-CN" altLang="zh-CN" sz="3200" b="1" i="0" u="none" strike="noStrike" cap="none" normalizeH="0" baseline="-2500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(E</a:t>
            </a:r>
            <a:r>
              <a:rPr kumimoji="0" lang="zh-CN" altLang="zh-CN" sz="3200" b="1" i="0" u="none" strike="noStrike" cap="none" normalizeH="0" baseline="-3000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kumimoji="0" 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3200" b="1" i="0" u="none" strike="noStrike" cap="none" normalizeH="0" baseline="-3000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a2</a:t>
            </a:r>
            <a:r>
              <a:rPr kumimoji="0" lang="zh-CN" altLang="zh-CN" sz="3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)/(RT)</a:t>
            </a:r>
            <a:endParaRPr kumimoji="0" lang="zh-CN" altLang="zh-CN" sz="32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472" y="214290"/>
            <a:ext cx="3254375" cy="491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6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变化形式有（二）： </a:t>
            </a:r>
            <a:endParaRPr lang="zh-CN" altLang="en-US" sz="2600" dirty="0"/>
          </a:p>
        </p:txBody>
      </p:sp>
      <p:sp>
        <p:nvSpPr>
          <p:cNvPr id="7" name="矩形 6"/>
          <p:cNvSpPr/>
          <p:nvPr/>
        </p:nvSpPr>
        <p:spPr>
          <a:xfrm>
            <a:off x="1500166" y="3571876"/>
            <a:ext cx="4500245" cy="491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600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两种变化形式都可以自己导出</a:t>
            </a:r>
            <a:endParaRPr lang="zh-CN" altLang="en-US" sz="2600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3"/>
          <p:cNvGrpSpPr/>
          <p:nvPr/>
        </p:nvGrpSpPr>
        <p:grpSpPr bwMode="auto">
          <a:xfrm>
            <a:off x="214282" y="71414"/>
            <a:ext cx="8686800" cy="3200400"/>
            <a:chOff x="96" y="2688"/>
            <a:chExt cx="5520" cy="1632"/>
          </a:xfrm>
        </p:grpSpPr>
        <p:pic>
          <p:nvPicPr>
            <p:cNvPr id="48131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" y="2688"/>
              <a:ext cx="5520" cy="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2" name="Rectangle 5"/>
            <p:cNvSpPr>
              <a:spLocks noChangeArrowheads="1"/>
            </p:cNvSpPr>
            <p:nvPr/>
          </p:nvSpPr>
          <p:spPr bwMode="auto">
            <a:xfrm>
              <a:off x="192" y="2784"/>
              <a:ext cx="725" cy="235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>
              <a:outerShdw sy="50000" kx="2453608" rotWithShape="0">
                <a:srgbClr val="808080">
                  <a:alpha val="50000"/>
                </a:srgbClr>
              </a:outerShdw>
            </a:effectLst>
          </p:spPr>
          <p:txBody>
            <a:bodyPr wrap="none" lIns="92075" tIns="46038" rIns="92075" bIns="46038">
              <a:spAutoFit/>
            </a:bodyPr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30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例题</a:t>
              </a:r>
              <a:r>
                <a:rPr kumimoji="1" lang="en-US" altLang="zh-CN" sz="30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28596" y="3643314"/>
            <a:ext cx="8039735" cy="1851029"/>
            <a:chOff x="428596" y="3643314"/>
            <a:chExt cx="8039735" cy="1851029"/>
          </a:xfrm>
        </p:grpSpPr>
        <p:sp>
          <p:nvSpPr>
            <p:cNvPr id="100" name="文本框 99"/>
            <p:cNvSpPr txBox="1"/>
            <p:nvPr/>
          </p:nvSpPr>
          <p:spPr>
            <a:xfrm>
              <a:off x="428596" y="4214818"/>
              <a:ext cx="8039735" cy="12795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indent="0" fontAlgn="auto">
                <a:lnSpc>
                  <a:spcPts val="3600"/>
                </a:lnSpc>
              </a:pP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某反应在温度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500K</a:t>
              </a:r>
              <a:r>
                <a:rPr 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时的活化能为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100kJ</a:t>
              </a:r>
              <a:r>
                <a:rPr lang="en-US" sz="26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•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mol</a:t>
              </a:r>
              <a:r>
                <a:rPr lang="en-US" sz="26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，使用催化剂后（温度不变）的活化能为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60kJ</a:t>
              </a:r>
              <a:r>
                <a:rPr lang="en-US" sz="26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•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mol</a:t>
              </a:r>
              <a:r>
                <a:rPr lang="en-US" sz="26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-1</a:t>
              </a:r>
              <a:r>
                <a:rPr 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，使用催化剂后的反应速率增大到原来的多少倍？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(1500)</a:t>
              </a:r>
              <a:endPara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indent="0" fontAlgn="auto">
                <a:lnSpc>
                  <a:spcPts val="3600"/>
                </a:lnSpc>
              </a:pPr>
              <a:endParaRPr lang="en-US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0"/>
              <a:endParaRPr lang="en-US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28662" y="3643314"/>
              <a:ext cx="114967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30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例题</a:t>
              </a:r>
              <a:r>
                <a:rPr kumimoji="1" lang="en-US" altLang="zh-CN" sz="30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828800" y="152400"/>
            <a:ext cx="4876800" cy="533400"/>
          </a:xfrm>
          <a:prstGeom prst="rect">
            <a:avLst/>
          </a:prstGeom>
          <a:gradFill rotWithShape="1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3-3     </a:t>
            </a:r>
            <a:r>
              <a:rPr lang="zh-CN" altLang="en-US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反应历程简介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914400"/>
            <a:ext cx="8686800" cy="957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楷体_GB2312" pitchFamily="49" charset="-122"/>
              </a:rPr>
              <a:t>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化学反应就反应机理</a:t>
            </a:r>
            <a:r>
              <a:rPr kumimoji="1" lang="en-US" altLang="zh-CN" sz="2600" b="1" smtClean="0">
                <a:solidFill>
                  <a:srgbClr val="000000"/>
                </a:solidFill>
                <a:latin typeface="楷体_GB2312" pitchFamily="49" charset="-122"/>
              </a:rPr>
              <a:t>(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化学反应的微观过程</a:t>
            </a:r>
            <a:r>
              <a:rPr kumimoji="1" lang="en-US" altLang="zh-CN" sz="2600" b="1" smtClean="0">
                <a:solidFill>
                  <a:srgbClr val="000000"/>
                </a:solidFill>
                <a:latin typeface="楷体_GB2312" pitchFamily="49" charset="-122"/>
              </a:rPr>
              <a:t>)</a:t>
            </a:r>
            <a:r>
              <a:rPr kumimoji="1"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来分可分为两种：</a:t>
            </a:r>
          </a:p>
        </p:txBody>
      </p:sp>
      <p:grpSp>
        <p:nvGrpSpPr>
          <p:cNvPr id="2" name="组合 7"/>
          <p:cNvGrpSpPr/>
          <p:nvPr/>
        </p:nvGrpSpPr>
        <p:grpSpPr bwMode="auto">
          <a:xfrm>
            <a:off x="228600" y="1981200"/>
            <a:ext cx="8458200" cy="2168525"/>
            <a:chOff x="228600" y="1981200"/>
            <a:chExt cx="8458200" cy="2169064"/>
          </a:xfrm>
        </p:grpSpPr>
        <p:sp>
          <p:nvSpPr>
            <p:cNvPr id="49158" name="Rectangle 7"/>
            <p:cNvSpPr>
              <a:spLocks noChangeArrowheads="1"/>
            </p:cNvSpPr>
            <p:nvPr/>
          </p:nvSpPr>
          <p:spPr bwMode="auto">
            <a:xfrm>
              <a:off x="228600" y="1981200"/>
              <a:ext cx="8458200" cy="1015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    1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、元反应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反应物一步就直接转变为产物的反应，机理中的每步反应都是一个（基）元反应。</a:t>
              </a:r>
              <a:r>
                <a:rPr kumimoji="1" lang="zh-CN" altLang="en-US" sz="30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如： </a:t>
              </a:r>
            </a:p>
          </p:txBody>
        </p:sp>
        <p:sp>
          <p:nvSpPr>
            <p:cNvPr id="49159" name="Rectangle 9"/>
            <p:cNvSpPr>
              <a:spLocks noChangeArrowheads="1"/>
            </p:cNvSpPr>
            <p:nvPr/>
          </p:nvSpPr>
          <p:spPr bwMode="auto">
            <a:xfrm>
              <a:off x="1219200" y="2971800"/>
              <a:ext cx="5943600" cy="1178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2NO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2NO + O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NO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+ CO →NO + CO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800" y="4495800"/>
            <a:ext cx="549275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这类数量少的反应速率方程式符合：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"/>
          <p:cNvGrpSpPr/>
          <p:nvPr/>
        </p:nvGrpSpPr>
        <p:grpSpPr bwMode="auto">
          <a:xfrm>
            <a:off x="304800" y="152400"/>
            <a:ext cx="8610600" cy="4267200"/>
            <a:chOff x="304800" y="685800"/>
            <a:chExt cx="8610600" cy="3886200"/>
          </a:xfrm>
        </p:grpSpPr>
        <p:sp>
          <p:nvSpPr>
            <p:cNvPr id="50179" name="Rectangle 4"/>
            <p:cNvSpPr>
              <a:spLocks noChangeArrowheads="1"/>
            </p:cNvSpPr>
            <p:nvPr/>
          </p:nvSpPr>
          <p:spPr bwMode="auto">
            <a:xfrm>
              <a:off x="304800" y="685800"/>
              <a:ext cx="8610600" cy="956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楷体_GB2312" pitchFamily="49" charset="-122"/>
                </a:rPr>
                <a:t>质量作用定律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在一定温度下，其反应速率与各反应物浓度幂的乘积成正比，也就是：</a:t>
              </a:r>
            </a:p>
          </p:txBody>
        </p:sp>
        <p:sp>
          <p:nvSpPr>
            <p:cNvPr id="50180" name="Rectangle 5"/>
            <p:cNvSpPr>
              <a:spLocks noChangeArrowheads="1"/>
            </p:cNvSpPr>
            <p:nvPr/>
          </p:nvSpPr>
          <p:spPr bwMode="auto">
            <a:xfrm>
              <a:off x="685800" y="1752600"/>
              <a:ext cx="7620000" cy="19082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对于反应：      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aA + bB → cC + dD</a:t>
              </a:r>
            </a:p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∝{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(A) }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a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{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(B) }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</a:p>
            <a:p>
              <a:pPr algn="ctr"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r = </a:t>
              </a:r>
              <a:r>
                <a:rPr kumimoji="1" lang="en-US" altLang="zh-CN" sz="30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k </a:t>
              </a: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{</a:t>
              </a:r>
              <a:r>
                <a:rPr kumimoji="1" lang="en-US" altLang="zh-CN" sz="30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(A) }</a:t>
              </a:r>
              <a:r>
                <a:rPr kumimoji="1" lang="en-US" altLang="zh-CN" sz="3000" b="1" baseline="30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a </a:t>
              </a: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{</a:t>
              </a:r>
              <a:r>
                <a:rPr kumimoji="1" lang="en-US" altLang="zh-CN" sz="30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(B) }</a:t>
              </a:r>
              <a:r>
                <a:rPr kumimoji="1" lang="en-US" altLang="zh-CN" sz="3000" b="1" baseline="30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0181" name="Text Box 6"/>
            <p:cNvSpPr txBox="1">
              <a:spLocks noChangeArrowheads="1"/>
            </p:cNvSpPr>
            <p:nvPr/>
          </p:nvSpPr>
          <p:spPr bwMode="auto">
            <a:xfrm>
              <a:off x="457200" y="3657600"/>
              <a:ext cx="83058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i="1" smtClean="0">
                  <a:solidFill>
                    <a:srgbClr val="000000"/>
                  </a:solidFill>
                </a:rPr>
                <a:t>         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注：质量作用定律只适用元反应，即元反应的反应分子数就是它的反应级数。</a:t>
              </a:r>
              <a:endParaRPr lang="zh-CN" altLang="en-US" sz="2600" smtClean="0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/>
        </p:nvGrpSpPr>
        <p:grpSpPr bwMode="auto">
          <a:xfrm>
            <a:off x="381000" y="152400"/>
            <a:ext cx="8610600" cy="1625600"/>
            <a:chOff x="381000" y="152400"/>
            <a:chExt cx="8610600" cy="1625263"/>
          </a:xfrm>
        </p:grpSpPr>
        <p:sp>
          <p:nvSpPr>
            <p:cNvPr id="51205" name="Rectangle 7"/>
            <p:cNvSpPr>
              <a:spLocks noChangeArrowheads="1"/>
            </p:cNvSpPr>
            <p:nvPr/>
          </p:nvSpPr>
          <p:spPr bwMode="auto">
            <a:xfrm>
              <a:off x="533400" y="152400"/>
              <a:ext cx="3733800" cy="5048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大多数化学反应属于：</a:t>
              </a:r>
            </a:p>
          </p:txBody>
        </p:sp>
        <p:sp>
          <p:nvSpPr>
            <p:cNvPr id="51206" name="Rectangle 8"/>
            <p:cNvSpPr>
              <a:spLocks noChangeArrowheads="1"/>
            </p:cNvSpPr>
            <p:nvPr/>
          </p:nvSpPr>
          <p:spPr bwMode="auto">
            <a:xfrm>
              <a:off x="381000" y="762000"/>
              <a:ext cx="8610600" cy="1015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     2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、复合反应（非元反应）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：反应物经过若干步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若干个基元反应步骤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才转变为产物。</a:t>
              </a:r>
            </a:p>
          </p:txBody>
        </p:sp>
      </p:grp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676400" y="1905000"/>
            <a:ext cx="5638800" cy="1692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如　 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2NO + 2H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→ N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+ 2H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①  2NO + 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→N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+ 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②  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+ 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→ 2H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676400" y="3581400"/>
            <a:ext cx="5715000" cy="1692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又如    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+ I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(g) → 2HI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　　         ① 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(g) → 2I(g)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② H</a:t>
            </a:r>
            <a:r>
              <a:rPr kumimoji="1" lang="en-US" altLang="zh-CN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+ 2I(g) → 2HI(g)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"/>
          <p:cNvGrpSpPr/>
          <p:nvPr/>
        </p:nvGrpSpPr>
        <p:grpSpPr bwMode="auto">
          <a:xfrm>
            <a:off x="533400" y="228600"/>
            <a:ext cx="8153400" cy="2311400"/>
            <a:chOff x="762000" y="304800"/>
            <a:chExt cx="8153400" cy="2311400"/>
          </a:xfrm>
        </p:grpSpPr>
        <p:sp>
          <p:nvSpPr>
            <p:cNvPr id="52232" name="Rectangle 8"/>
            <p:cNvSpPr>
              <a:spLocks noChangeArrowheads="1"/>
            </p:cNvSpPr>
            <p:nvPr/>
          </p:nvSpPr>
          <p:spPr bwMode="auto">
            <a:xfrm>
              <a:off x="762000" y="304800"/>
              <a:ext cx="8153400" cy="488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复合反应的速率方程式就不符合质量作用定律，如：</a:t>
              </a:r>
            </a:p>
          </p:txBody>
        </p:sp>
        <p:sp>
          <p:nvSpPr>
            <p:cNvPr id="52233" name="Rectangle 9"/>
            <p:cNvSpPr>
              <a:spLocks noChangeArrowheads="1"/>
            </p:cNvSpPr>
            <p:nvPr/>
          </p:nvSpPr>
          <p:spPr bwMode="auto">
            <a:xfrm>
              <a:off x="914400" y="990600"/>
              <a:ext cx="8001000" cy="488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Br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+ 3KI → C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+ 2KBr + KI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2234" name="Rectangle 5"/>
            <p:cNvSpPr>
              <a:spLocks noChangeArrowheads="1"/>
            </p:cNvSpPr>
            <p:nvPr/>
          </p:nvSpPr>
          <p:spPr bwMode="auto">
            <a:xfrm>
              <a:off x="1828800" y="1524000"/>
              <a:ext cx="6248400" cy="1092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实验测得       </a:t>
              </a: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r = </a:t>
              </a:r>
              <a:r>
                <a:rPr kumimoji="1" lang="en-US" altLang="zh-CN" sz="2600" b="1" i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k c</a:t>
              </a:r>
              <a:r>
                <a:rPr kumimoji="1" lang="en-US" altLang="zh-CN" sz="2600" b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(C</a:t>
              </a:r>
              <a:r>
                <a:rPr kumimoji="1" lang="en-US" altLang="zh-CN" sz="2600" b="1" baseline="-25000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sz="2600" b="1" baseline="-25000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600" b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Br</a:t>
              </a:r>
              <a:r>
                <a:rPr kumimoji="1" lang="en-US" altLang="zh-CN" sz="2600" b="1" baseline="-25000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600" b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) · </a:t>
              </a:r>
              <a:r>
                <a:rPr kumimoji="1" lang="en-US" altLang="zh-CN" sz="2600" b="1" i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600" b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(KI)</a:t>
              </a:r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219200" y="2743200"/>
            <a:ext cx="6400800" cy="554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3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ts val="36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600" smtClean="0">
                <a:solidFill>
                  <a:srgbClr val="000000"/>
                </a:solidFill>
              </a:rPr>
              <a:t>而不是 </a:t>
            </a:r>
            <a:r>
              <a:rPr lang="zh-CN" altLang="en-US" sz="2600" smtClean="0">
                <a:solidFill>
                  <a:srgbClr val="000000"/>
                </a:solidFill>
                <a:cs typeface="Times New Roman" panose="02020603050405020304" pitchFamily="18" charset="0"/>
              </a:rPr>
              <a:t>     </a:t>
            </a:r>
            <a:r>
              <a:rPr lang="en-US" altLang="zh-CN" sz="2600" smtClean="0">
                <a:solidFill>
                  <a:srgbClr val="000000"/>
                </a:solidFill>
                <a:cs typeface="Times New Roman" panose="02020603050405020304" pitchFamily="18" charset="0"/>
              </a:rPr>
              <a:t>r </a:t>
            </a:r>
            <a:r>
              <a:rPr lang="en-US" altLang="zh-CN" sz="2600" smtClean="0">
                <a:solidFill>
                  <a:srgbClr val="000000"/>
                </a:solidFill>
              </a:rPr>
              <a:t>= </a:t>
            </a:r>
            <a:r>
              <a:rPr lang="en-US" altLang="zh-CN" sz="2600" i="1" smtClean="0">
                <a:solidFill>
                  <a:srgbClr val="000000"/>
                </a:solidFill>
              </a:rPr>
              <a:t>k </a:t>
            </a:r>
            <a:r>
              <a:rPr lang="en-US" altLang="zh-CN" sz="2600" smtClean="0">
                <a:solidFill>
                  <a:srgbClr val="000000"/>
                </a:solidFill>
              </a:rPr>
              <a:t>{</a:t>
            </a:r>
            <a:r>
              <a:rPr lang="en-US" altLang="zh-CN" sz="2600" i="1" smtClean="0">
                <a:solidFill>
                  <a:srgbClr val="000000"/>
                </a:solidFill>
              </a:rPr>
              <a:t>c</a:t>
            </a:r>
            <a:r>
              <a:rPr lang="en-US" altLang="zh-CN" sz="2600" smtClean="0">
                <a:solidFill>
                  <a:srgbClr val="000000"/>
                </a:solidFill>
              </a:rPr>
              <a:t>(C</a:t>
            </a:r>
            <a:r>
              <a:rPr lang="en-US" altLang="zh-CN" sz="2600" baseline="-25000" smtClean="0">
                <a:solidFill>
                  <a:srgbClr val="000000"/>
                </a:solidFill>
              </a:rPr>
              <a:t>2</a:t>
            </a:r>
            <a:r>
              <a:rPr lang="en-US" altLang="zh-CN" sz="2600" smtClean="0">
                <a:solidFill>
                  <a:srgbClr val="000000"/>
                </a:solidFill>
              </a:rPr>
              <a:t>H</a:t>
            </a:r>
            <a:r>
              <a:rPr lang="en-US" altLang="zh-CN" sz="2600" baseline="-25000" smtClean="0">
                <a:solidFill>
                  <a:srgbClr val="000000"/>
                </a:solidFill>
              </a:rPr>
              <a:t>4</a:t>
            </a:r>
            <a:r>
              <a:rPr lang="en-US" altLang="zh-CN" sz="2600" smtClean="0">
                <a:solidFill>
                  <a:srgbClr val="000000"/>
                </a:solidFill>
              </a:rPr>
              <a:t>Br</a:t>
            </a:r>
            <a:r>
              <a:rPr lang="en-US" altLang="zh-CN" sz="2600" baseline="-25000" smtClean="0">
                <a:solidFill>
                  <a:srgbClr val="000000"/>
                </a:solidFill>
              </a:rPr>
              <a:t>2</a:t>
            </a:r>
            <a:r>
              <a:rPr lang="en-US" altLang="zh-CN" sz="2600" smtClean="0">
                <a:solidFill>
                  <a:srgbClr val="000000"/>
                </a:solidFill>
              </a:rPr>
              <a:t>)} · {</a:t>
            </a:r>
            <a:r>
              <a:rPr lang="en-US" altLang="zh-CN" sz="2600" i="1" smtClean="0">
                <a:solidFill>
                  <a:srgbClr val="000000"/>
                </a:solidFill>
              </a:rPr>
              <a:t>c</a:t>
            </a:r>
            <a:r>
              <a:rPr lang="en-US" altLang="zh-CN" sz="2600" smtClean="0">
                <a:solidFill>
                  <a:srgbClr val="000000"/>
                </a:solidFill>
              </a:rPr>
              <a:t>(KI)}</a:t>
            </a:r>
            <a:r>
              <a:rPr lang="en-US" altLang="zh-CN" sz="2600" baseline="30000" smtClean="0">
                <a:solidFill>
                  <a:srgbClr val="000000"/>
                </a:solidFill>
              </a:rPr>
              <a:t>3</a:t>
            </a:r>
            <a:endParaRPr lang="en-US" altLang="zh-CN" sz="2600" smtClean="0">
              <a:solidFill>
                <a:srgbClr val="000000"/>
              </a:solidFill>
            </a:endParaRPr>
          </a:p>
        </p:txBody>
      </p:sp>
      <p:grpSp>
        <p:nvGrpSpPr>
          <p:cNvPr id="3" name="组合 12"/>
          <p:cNvGrpSpPr/>
          <p:nvPr/>
        </p:nvGrpSpPr>
        <p:grpSpPr bwMode="auto">
          <a:xfrm>
            <a:off x="533400" y="3352800"/>
            <a:ext cx="8382000" cy="2762933"/>
            <a:chOff x="533400" y="3352800"/>
            <a:chExt cx="8382000" cy="2762873"/>
          </a:xfrm>
        </p:grpSpPr>
        <p:sp>
          <p:nvSpPr>
            <p:cNvPr id="52229" name="Rectangle 7"/>
            <p:cNvSpPr>
              <a:spLocks noChangeArrowheads="1"/>
            </p:cNvSpPr>
            <p:nvPr/>
          </p:nvSpPr>
          <p:spPr bwMode="auto">
            <a:xfrm>
              <a:off x="609600" y="3352800"/>
              <a:ext cx="8001000" cy="5127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为什么？因为反应实际上可分三步进行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52230" name="Text Box 8"/>
            <p:cNvSpPr txBox="1">
              <a:spLocks noChangeArrowheads="1"/>
            </p:cNvSpPr>
            <p:nvPr/>
          </p:nvSpPr>
          <p:spPr bwMode="auto">
            <a:xfrm>
              <a:off x="533400" y="3962400"/>
              <a:ext cx="8382000" cy="1596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3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000000"/>
                  </a:solidFill>
                </a:rPr>
                <a:t>         ① C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H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4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Br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+KI→C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2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H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4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+KBr+I+Br (</a:t>
              </a:r>
              <a:r>
                <a:rPr lang="zh-CN" altLang="en-US" sz="2600" smtClean="0">
                  <a:solidFill>
                    <a:srgbClr val="000000"/>
                  </a:solidFill>
                </a:rPr>
                <a:t>慢反应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)</a:t>
              </a:r>
            </a:p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000000"/>
                  </a:solidFill>
                </a:rPr>
                <a:t>         ② KI + Br → I + KBr</a:t>
              </a:r>
            </a:p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2600" smtClean="0">
                  <a:solidFill>
                    <a:srgbClr val="000000"/>
                  </a:solidFill>
                </a:rPr>
                <a:t>         ③ KI + 2I → KI</a:t>
              </a:r>
              <a:r>
                <a:rPr lang="en-US" altLang="zh-CN" sz="2600" baseline="-25000" smtClean="0">
                  <a:solidFill>
                    <a:srgbClr val="000000"/>
                  </a:solidFill>
                </a:rPr>
                <a:t>3</a:t>
              </a:r>
              <a:r>
                <a:rPr lang="en-US" altLang="zh-CN" sz="2600" smtClean="0">
                  <a:solidFill>
                    <a:srgbClr val="000000"/>
                  </a:solidFill>
                </a:rPr>
                <a:t>        </a:t>
              </a:r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609600" y="5562600"/>
              <a:ext cx="8153400" cy="5530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其中①反应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慢反应决定了整个反应的反应速率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7" name="Rectangle 9"/>
          <p:cNvSpPr>
            <a:spLocks noChangeArrowheads="1"/>
          </p:cNvSpPr>
          <p:nvPr/>
        </p:nvSpPr>
        <p:spPr bwMode="auto">
          <a:xfrm>
            <a:off x="228600" y="228600"/>
            <a:ext cx="8229600" cy="974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36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注：写反应速率方程式时，溶剂、纯固体、纯液体不列人速率方程中。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04800" y="1371600"/>
            <a:ext cx="83058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通过反应机理，可以推导出相对简单的实验速率方程式</a:t>
            </a:r>
            <a:r>
              <a:rPr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速控步骤</a:t>
            </a:r>
            <a:r>
              <a:rPr lang="en-US" altLang="zh-CN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平衡假设和稳态近似法</a:t>
            </a:r>
            <a:r>
              <a:rPr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来推导（</a:t>
            </a:r>
            <a:r>
              <a:rPr lang="zh-CN" altLang="en-US" sz="2600" b="1" i="1" smtClean="0">
                <a:solidFill>
                  <a:srgbClr val="0000FF"/>
                </a:solidFill>
                <a:latin typeface="Times New Roman" panose="02020603050405020304" pitchFamily="18" charset="0"/>
              </a:rPr>
              <a:t>速率方程表达式中不能用中间物来表示</a:t>
            </a:r>
            <a:r>
              <a:rPr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）。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57200" y="3048000"/>
            <a:ext cx="8001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304800"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  总结：</a:t>
            </a:r>
            <a:r>
              <a:rPr lang="en-US" altLang="zh-CN" sz="2600" b="1" smtClean="0">
                <a:solidFill>
                  <a:srgbClr val="C00000"/>
                </a:solidFill>
                <a:latin typeface="楷体_GB2312" pitchFamily="49" charset="-122"/>
              </a:rPr>
              <a:t>1</a:t>
            </a:r>
            <a:r>
              <a:rPr lang="zh-CN" altLang="en-US" sz="2600" b="1" smtClean="0">
                <a:solidFill>
                  <a:srgbClr val="C00000"/>
                </a:solidFill>
                <a:latin typeface="楷体_GB2312" pitchFamily="49" charset="-122"/>
              </a:rPr>
              <a:t>）</a:t>
            </a:r>
            <a:r>
              <a:rPr lang="zh-CN" altLang="en-US" sz="2600" b="1" smtClean="0">
                <a:solidFill>
                  <a:srgbClr val="0000FF"/>
                </a:solidFill>
                <a:latin typeface="楷体_GB2312" pitchFamily="49" charset="-122"/>
              </a:rPr>
              <a:t>中间物只出现在一个元反应中时</a:t>
            </a:r>
            <a:r>
              <a:rPr lang="en-US" altLang="zh-CN" sz="2600" b="1" smtClean="0">
                <a:solidFill>
                  <a:srgbClr val="0000FF"/>
                </a:solidFill>
                <a:latin typeface="楷体_GB2312" pitchFamily="49" charset="-122"/>
              </a:rPr>
              <a:t>(</a:t>
            </a:r>
            <a:r>
              <a:rPr lang="zh-CN" altLang="en-US" sz="2600" b="1" smtClean="0">
                <a:solidFill>
                  <a:srgbClr val="0000FF"/>
                </a:solidFill>
                <a:latin typeface="楷体_GB2312" pitchFamily="49" charset="-122"/>
              </a:rPr>
              <a:t>慢反应</a:t>
            </a:r>
            <a:r>
              <a:rPr lang="en-US" altLang="zh-CN" sz="2600" b="1" smtClean="0">
                <a:solidFill>
                  <a:srgbClr val="0000FF"/>
                </a:solidFill>
                <a:latin typeface="楷体_GB2312" pitchFamily="49" charset="-122"/>
              </a:rPr>
              <a:t>—</a:t>
            </a:r>
            <a:r>
              <a:rPr lang="zh-CN" altLang="en-US" sz="2600" b="1" smtClean="0">
                <a:solidFill>
                  <a:srgbClr val="0000FF"/>
                </a:solidFill>
                <a:latin typeface="楷体_GB2312" pitchFamily="49" charset="-122"/>
              </a:rPr>
              <a:t>速控步不算</a:t>
            </a:r>
            <a:r>
              <a:rPr lang="en-US" altLang="zh-CN" sz="2600" b="1" smtClean="0">
                <a:solidFill>
                  <a:srgbClr val="0000FF"/>
                </a:solidFill>
                <a:latin typeface="楷体_GB2312" pitchFamily="49" charset="-122"/>
              </a:rPr>
              <a:t>)</a:t>
            </a:r>
            <a:r>
              <a:rPr lang="zh-CN" altLang="en-US" sz="2600" b="1" smtClean="0">
                <a:solidFill>
                  <a:srgbClr val="0000FF"/>
                </a:solidFill>
                <a:latin typeface="楷体_GB2312" pitchFamily="49" charset="-122"/>
              </a:rPr>
              <a:t>，要考虑逆反应；</a:t>
            </a:r>
            <a:r>
              <a:rPr lang="en-US" altLang="zh-CN" sz="2600" b="1" smtClean="0">
                <a:solidFill>
                  <a:srgbClr val="C00000"/>
                </a:solidFill>
                <a:latin typeface="楷体_GB2312" pitchFamily="49" charset="-122"/>
              </a:rPr>
              <a:t>2</a:t>
            </a:r>
            <a:r>
              <a:rPr lang="zh-CN" altLang="en-US" sz="2600" b="1" smtClean="0">
                <a:solidFill>
                  <a:srgbClr val="C00000"/>
                </a:solidFill>
                <a:latin typeface="楷体_GB2312" pitchFamily="49" charset="-122"/>
              </a:rPr>
              <a:t>）</a:t>
            </a:r>
            <a:r>
              <a:rPr lang="zh-CN" altLang="en-US" sz="2600" b="1" smtClean="0">
                <a:solidFill>
                  <a:srgbClr val="0000FF"/>
                </a:solidFill>
                <a:latin typeface="楷体_GB2312" pitchFamily="49" charset="-122"/>
              </a:rPr>
              <a:t>若中间物出现在二个或多个元反应中，则不用考虑逆反应。</a:t>
            </a:r>
            <a:endParaRPr lang="zh-CN" altLang="pt-BR" sz="2600" b="1" smtClean="0">
              <a:solidFill>
                <a:srgbClr val="0000FF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7" grpId="0" animBg="1"/>
      <p:bldP spid="8" grpId="0" animBg="1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1"/>
          <p:cNvGraphicFramePr>
            <a:graphicFrameLocks noChangeAspect="1"/>
          </p:cNvGraphicFramePr>
          <p:nvPr/>
        </p:nvGraphicFramePr>
        <p:xfrm>
          <a:off x="2209800" y="685800"/>
          <a:ext cx="5181600" cy="1295400"/>
        </p:xfrm>
        <a:graphic>
          <a:graphicData uri="http://schemas.openxmlformats.org/presentationml/2006/ole">
            <p:oleObj spid="_x0000_s59393" r:id="rId3" imgW="2669760" imgH="581400" progId="">
              <p:embed/>
            </p:oleObj>
          </a:graphicData>
        </a:graphic>
      </p:graphicFrame>
      <p:sp>
        <p:nvSpPr>
          <p:cNvPr id="13315" name="矩形 5"/>
          <p:cNvSpPr>
            <a:spLocks noChangeArrowheads="1"/>
          </p:cNvSpPr>
          <p:nvPr/>
        </p:nvSpPr>
        <p:spPr bwMode="auto">
          <a:xfrm>
            <a:off x="304800" y="1524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304800"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pt-BR" sz="2600" b="1" smtClean="0">
                <a:solidFill>
                  <a:srgbClr val="000000"/>
                </a:solidFill>
                <a:latin typeface="楷体_GB2312" pitchFamily="49" charset="-122"/>
              </a:rPr>
              <a:t>二氧化氮被臭氧氧化生成五氧化二氮</a:t>
            </a:r>
            <a:r>
              <a:rPr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的</a:t>
            </a:r>
            <a:r>
              <a:rPr lang="zh-CN" altLang="pt-BR" sz="2600" b="1" smtClean="0">
                <a:solidFill>
                  <a:srgbClr val="000000"/>
                </a:solidFill>
                <a:latin typeface="楷体_GB2312" pitchFamily="49" charset="-122"/>
              </a:rPr>
              <a:t>反应机理如下：</a:t>
            </a:r>
          </a:p>
        </p:txBody>
      </p:sp>
      <p:sp>
        <p:nvSpPr>
          <p:cNvPr id="13316" name="矩形 6"/>
          <p:cNvSpPr>
            <a:spLocks noChangeArrowheads="1"/>
          </p:cNvSpPr>
          <p:nvPr/>
        </p:nvSpPr>
        <p:spPr bwMode="auto">
          <a:xfrm>
            <a:off x="457200" y="2057400"/>
            <a:ext cx="8305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304800"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写出（</a:t>
            </a:r>
            <a:r>
              <a:rPr lang="pt-BR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）总反应方程式</a:t>
            </a:r>
            <a:r>
              <a:rPr lang="zh-CN" altLang="en-US" sz="2600" b="1" u="sng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</a:t>
            </a: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；总反应的速率方程式</a:t>
            </a:r>
            <a:r>
              <a:rPr lang="zh-CN" altLang="en-US" sz="2600" b="1" u="sng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</a:t>
            </a: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；中间产物为</a:t>
            </a:r>
            <a:r>
              <a:rPr lang="zh-CN" altLang="pt-BR" sz="2600" b="1" u="sng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  <a:p>
            <a:pPr indent="30480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（</a:t>
            </a:r>
            <a:r>
              <a:rPr lang="pt-BR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）假设反应机理</a:t>
            </a:r>
            <a:r>
              <a:rPr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pt-BR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是速控步骤，则速率方程式可表示为</a:t>
            </a:r>
            <a:r>
              <a:rPr lang="zh-CN" altLang="en-US" sz="2600" b="1" u="sng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</a:t>
            </a:r>
            <a:r>
              <a:rPr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600" b="1" u="sng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</a:t>
            </a:r>
            <a:r>
              <a:rPr lang="zh-CN" altLang="pt-BR" sz="2600" b="1" u="sng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                           </a:t>
            </a:r>
            <a:r>
              <a:rPr lang="zh-CN" altLang="pt-BR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ChangeArrowheads="1"/>
          </p:cNvSpPr>
          <p:nvPr/>
        </p:nvSpPr>
        <p:spPr bwMode="auto">
          <a:xfrm>
            <a:off x="228600" y="762000"/>
            <a:ext cx="34290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3-4-1    </a:t>
            </a:r>
            <a:r>
              <a:rPr kumimoji="1" lang="zh-CN" altLang="en-US" sz="26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分子碰撞理论</a:t>
            </a:r>
          </a:p>
        </p:txBody>
      </p:sp>
      <p:grpSp>
        <p:nvGrpSpPr>
          <p:cNvPr id="2" name="组合 8"/>
          <p:cNvGrpSpPr/>
          <p:nvPr/>
        </p:nvGrpSpPr>
        <p:grpSpPr bwMode="auto">
          <a:xfrm>
            <a:off x="457200" y="1447800"/>
            <a:ext cx="8229600" cy="4251325"/>
            <a:chOff x="457200" y="1600200"/>
            <a:chExt cx="8229600" cy="4250969"/>
          </a:xfrm>
        </p:grpSpPr>
        <p:sp>
          <p:nvSpPr>
            <p:cNvPr id="54277" name="Rectangle 3"/>
            <p:cNvSpPr>
              <a:spLocks noChangeArrowheads="1"/>
            </p:cNvSpPr>
            <p:nvPr/>
          </p:nvSpPr>
          <p:spPr bwMode="auto">
            <a:xfrm>
              <a:off x="533400" y="3276600"/>
              <a:ext cx="8153400" cy="14360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2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、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一定，反应物分子的能量并不相同（有高低）。所以他们之间并不是每一次碰撞都能发生反应（绝大多数碰撞是无效的弹性碰撞，不能发生反应）。    </a:t>
              </a:r>
            </a:p>
          </p:txBody>
        </p:sp>
        <p:sp>
          <p:nvSpPr>
            <p:cNvPr id="54278" name="Rectangle 4"/>
            <p:cNvSpPr>
              <a:spLocks noChangeArrowheads="1"/>
            </p:cNvSpPr>
            <p:nvPr/>
          </p:nvSpPr>
          <p:spPr bwMode="auto">
            <a:xfrm>
              <a:off x="457200" y="2209800"/>
              <a:ext cx="79248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1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、反应物分子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或原子、离子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之间必须相互碰撞，才有可能发生化学反应。</a:t>
              </a:r>
            </a:p>
          </p:txBody>
        </p:sp>
        <p:sp>
          <p:nvSpPr>
            <p:cNvPr id="54279" name="Rectangle 5"/>
            <p:cNvSpPr>
              <a:spLocks noChangeArrowheads="1"/>
            </p:cNvSpPr>
            <p:nvPr/>
          </p:nvSpPr>
          <p:spPr bwMode="auto">
            <a:xfrm>
              <a:off x="685800" y="4876800"/>
              <a:ext cx="79248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3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、只有少数或极少数分子碰撞时能发生反应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对应的名称分别叫有效碰撞、活化分子</a:t>
              </a:r>
            </a:p>
          </p:txBody>
        </p:sp>
        <p:sp>
          <p:nvSpPr>
            <p:cNvPr id="39944" name="Rectangle 7"/>
            <p:cNvSpPr>
              <a:spLocks noChangeArrowheads="1"/>
            </p:cNvSpPr>
            <p:nvPr/>
          </p:nvSpPr>
          <p:spPr bwMode="auto">
            <a:xfrm>
              <a:off x="457200" y="1600200"/>
              <a:ext cx="8001000" cy="5127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</a:ln>
            <a:effectLst>
              <a:outerShdw sy="50000" kx="2453608" rotWithShape="0">
                <a:srgbClr val="808080">
                  <a:alpha val="50000"/>
                </a:srgbClr>
              </a:outerShdw>
            </a:effectLst>
          </p:spPr>
          <p:txBody>
            <a:bodyPr lIns="92075" tIns="46038" rIns="92075" bIns="46038">
              <a:spAutoFit/>
            </a:bodyPr>
            <a:lstStyle/>
            <a:p>
              <a:pPr eaLnBrk="0" fontAlgn="base" hangingPunct="0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1918</a:t>
              </a:r>
              <a:r>
                <a:rPr kumimoji="1" lang="zh-CN" altLang="en-US" sz="2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年，</a:t>
              </a:r>
              <a:r>
                <a:rPr kumimoji="1" lang="en-US" altLang="zh-CN" sz="2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Lewis</a:t>
              </a:r>
              <a:r>
                <a:rPr kumimoji="1" lang="zh-CN" altLang="en-US" sz="2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运用分子运动论的成果，提出此理论：</a:t>
              </a:r>
            </a:p>
          </p:txBody>
        </p:sp>
      </p:grpSp>
      <p:sp>
        <p:nvSpPr>
          <p:cNvPr id="54276" name="矩形 7"/>
          <p:cNvSpPr>
            <a:spLocks noChangeArrowheads="1"/>
          </p:cNvSpPr>
          <p:nvPr/>
        </p:nvSpPr>
        <p:spPr bwMode="auto">
          <a:xfrm>
            <a:off x="1219200" y="152400"/>
            <a:ext cx="69723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smtClean="0">
                <a:solidFill>
                  <a:srgbClr val="990000"/>
                </a:solidFill>
                <a:latin typeface="Times New Roman" panose="02020603050405020304" pitchFamily="18" charset="0"/>
              </a:rPr>
              <a:t>3-4</a:t>
            </a:r>
            <a:r>
              <a:rPr lang="en-US" altLang="zh-CN" sz="2800" b="1" smtClean="0">
                <a:solidFill>
                  <a:srgbClr val="990000"/>
                </a:solidFill>
                <a:latin typeface="楷体_GB2312" pitchFamily="49" charset="-122"/>
              </a:rPr>
              <a:t>   </a:t>
            </a:r>
            <a:r>
              <a:rPr lang="zh-CN" altLang="en-US" sz="2800" b="1" smtClean="0">
                <a:solidFill>
                  <a:srgbClr val="990000"/>
                </a:solidFill>
                <a:latin typeface="楷体_GB2312" pitchFamily="49" charset="-122"/>
              </a:rPr>
              <a:t>反应速率两理论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</a:rPr>
              <a:t>(</a:t>
            </a:r>
            <a:r>
              <a:rPr lang="zh-CN" altLang="en-US" sz="2800" b="1" smtClean="0">
                <a:solidFill>
                  <a:srgbClr val="000000"/>
                </a:solidFill>
                <a:latin typeface="楷体_GB2312" pitchFamily="49" charset="-122"/>
              </a:rPr>
              <a:t>适合元反应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</a:rPr>
              <a:t>)</a:t>
            </a:r>
            <a:endParaRPr lang="en-US" altLang="zh-CN" sz="28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3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6" grpId="0" animBg="1"/>
      <p:bldP spid="5427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5" name="Rectangle 5"/>
          <p:cNvSpPr>
            <a:spLocks noChangeArrowheads="1"/>
          </p:cNvSpPr>
          <p:nvPr/>
        </p:nvSpPr>
        <p:spPr bwMode="auto">
          <a:xfrm>
            <a:off x="228600" y="228600"/>
            <a:ext cx="8382000" cy="1343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4</a:t>
            </a:r>
            <a:r>
              <a:rPr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、理论还进一步指出，反应物分子除必须有足够的最低能量外，还要按一定的方向相互碰撞，才能发生有效碰撞。</a:t>
            </a:r>
          </a:p>
        </p:txBody>
      </p:sp>
      <p:grpSp>
        <p:nvGrpSpPr>
          <p:cNvPr id="2" name="组合 8"/>
          <p:cNvGrpSpPr/>
          <p:nvPr/>
        </p:nvGrpSpPr>
        <p:grpSpPr bwMode="auto">
          <a:xfrm>
            <a:off x="152400" y="1752600"/>
            <a:ext cx="8458200" cy="3119438"/>
            <a:chOff x="152400" y="1752600"/>
            <a:chExt cx="8458200" cy="3121260"/>
          </a:xfrm>
        </p:grpSpPr>
        <p:sp>
          <p:nvSpPr>
            <p:cNvPr id="55300" name="Rectangle 6"/>
            <p:cNvSpPr>
              <a:spLocks noChangeArrowheads="1"/>
            </p:cNvSpPr>
            <p:nvPr/>
          </p:nvSpPr>
          <p:spPr bwMode="auto">
            <a:xfrm>
              <a:off x="152400" y="1752600"/>
              <a:ext cx="8458200" cy="1015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后来，活化能被定义为：活化分子具有的平均能量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(E </a:t>
              </a:r>
              <a:r>
                <a:rPr kumimoji="1" lang="en-US" altLang="zh-CN" sz="2600" b="1" baseline="30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)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与反应物分子的平均能量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(E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之差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：（见图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3-5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）</a:t>
              </a:r>
              <a:endPara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01" name="Rectangle 7"/>
            <p:cNvSpPr>
              <a:spLocks noChangeArrowheads="1"/>
            </p:cNvSpPr>
            <p:nvPr/>
          </p:nvSpPr>
          <p:spPr bwMode="auto">
            <a:xfrm>
              <a:off x="2590800" y="3048000"/>
              <a:ext cx="3810000" cy="549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3000" b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a </a:t>
              </a: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= E </a:t>
              </a:r>
              <a:r>
                <a:rPr kumimoji="1" lang="en-US" altLang="zh-CN" sz="3000" b="1" baseline="30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*</a:t>
              </a:r>
              <a:r>
                <a:rPr kumimoji="1" lang="en-US" altLang="zh-CN" sz="30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 - E</a:t>
              </a:r>
              <a:r>
                <a:rPr kumimoji="1" lang="en-US" altLang="zh-CN" sz="3000" b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5302" name="Rectangle 8"/>
            <p:cNvSpPr>
              <a:spLocks noChangeArrowheads="1"/>
            </p:cNvSpPr>
            <p:nvPr/>
          </p:nvSpPr>
          <p:spPr bwMode="auto">
            <a:xfrm>
              <a:off x="875643" y="3734617"/>
              <a:ext cx="7350090" cy="11392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值一般通过实验来测定，</a:t>
              </a:r>
              <a:endPara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注：</a:t>
              </a:r>
              <a:r>
                <a:rPr kumimoji="1" lang="en-US" altLang="zh-CN" sz="28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E </a:t>
              </a:r>
              <a:r>
                <a:rPr kumimoji="1" lang="en-US" altLang="zh-CN" sz="2800" b="1" baseline="30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*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不是</a:t>
              </a:r>
              <a:r>
                <a:rPr kumimoji="1" lang="en-US" altLang="zh-CN" sz="24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400" b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活化分子的最低能量（图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3-5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）</a:t>
              </a:r>
              <a:endParaRPr kumimoji="1" lang="zh-CN" altLang="en-US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ChangeArrowheads="1"/>
          </p:cNvSpPr>
          <p:nvPr/>
        </p:nvSpPr>
        <p:spPr bwMode="auto">
          <a:xfrm>
            <a:off x="457200" y="838200"/>
            <a:ext cx="8305800" cy="18970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化学反应不是通过反应物分子之间简单碰撞就能完成的，而是要经过一个中间的</a:t>
            </a:r>
            <a:r>
              <a:rPr kumimoji="1" lang="zh-CN" altLang="en-US" sz="2600" b="1" i="1" smtClean="0">
                <a:solidFill>
                  <a:srgbClr val="C00000"/>
                </a:solidFill>
                <a:latin typeface="Times New Roman" panose="02020603050405020304" pitchFamily="18" charset="0"/>
              </a:rPr>
              <a:t>过渡状态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transit state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），即首先形成一种</a:t>
            </a:r>
            <a:r>
              <a:rPr kumimoji="1" lang="zh-CN" altLang="en-US" sz="2600" b="1" i="1" smtClean="0">
                <a:solidFill>
                  <a:srgbClr val="C00000"/>
                </a:solidFill>
                <a:latin typeface="Times New Roman" panose="02020603050405020304" pitchFamily="18" charset="0"/>
              </a:rPr>
              <a:t>活化配合物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(activated complex)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，然后再分解为产物。</a:t>
            </a:r>
          </a:p>
        </p:txBody>
      </p:sp>
      <p:sp>
        <p:nvSpPr>
          <p:cNvPr id="336899" name="Rectangle 3"/>
          <p:cNvSpPr>
            <a:spLocks noChangeArrowheads="1"/>
          </p:cNvSpPr>
          <p:nvPr/>
        </p:nvSpPr>
        <p:spPr bwMode="auto">
          <a:xfrm>
            <a:off x="1828800" y="2819400"/>
            <a:ext cx="5486400" cy="554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000" b="1" smtClean="0">
                <a:solidFill>
                  <a:srgbClr val="0000FF"/>
                </a:solidFill>
                <a:latin typeface="Times New Roman" panose="02020603050405020304" pitchFamily="18" charset="0"/>
              </a:rPr>
              <a:t>A + BC →[A</a:t>
            </a:r>
            <a:r>
              <a:rPr kumimoji="1" lang="en-US" altLang="zh-CN" sz="3000" b="1" baseline="30000" smtClean="0">
                <a:solidFill>
                  <a:srgbClr val="0000FF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3000" b="1" smtClean="0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3000" b="1" baseline="300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kumimoji="1" lang="en-US" altLang="zh-CN" sz="3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3000" b="1" smtClean="0">
                <a:solidFill>
                  <a:srgbClr val="0000FF"/>
                </a:solidFill>
                <a:latin typeface="Times New Roman" panose="02020603050405020304" pitchFamily="18" charset="0"/>
              </a:rPr>
              <a:t>] →AB + C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52400" y="152400"/>
            <a:ext cx="6400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3-4-2     </a:t>
            </a:r>
            <a:r>
              <a:rPr kumimoji="1" lang="zh-CN" altLang="en-US" sz="26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过渡态理论（活化配合物理论）</a:t>
            </a:r>
          </a:p>
        </p:txBody>
      </p:sp>
      <p:sp>
        <p:nvSpPr>
          <p:cNvPr id="56325" name="矩形 4"/>
          <p:cNvSpPr>
            <a:spLocks noChangeArrowheads="1"/>
          </p:cNvSpPr>
          <p:nvPr/>
        </p:nvSpPr>
        <p:spPr bwMode="auto">
          <a:xfrm>
            <a:off x="685800" y="3886200"/>
            <a:ext cx="80010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脚踩两只船的女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男友？</a:t>
            </a:r>
            <a:r>
              <a:rPr kumimoji="1" lang="en-US" altLang="zh-CN" sz="2600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t>have a foot on both camps or boats(a two-timer).</a:t>
            </a:r>
            <a:endParaRPr kumimoji="1" lang="zh-CN" altLang="en-US" sz="3000" b="1" smtClean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3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3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8" grpId="0" animBg="1"/>
      <p:bldP spid="336899" grpId="0" animBg="1"/>
      <p:bldP spid="17" grpId="0"/>
      <p:bldP spid="563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5"/>
          <p:cNvGrpSpPr/>
          <p:nvPr/>
        </p:nvGrpSpPr>
        <p:grpSpPr bwMode="auto">
          <a:xfrm>
            <a:off x="838200" y="4114800"/>
            <a:ext cx="7772400" cy="1846263"/>
            <a:chOff x="1143000" y="4191000"/>
            <a:chExt cx="7772400" cy="1846263"/>
          </a:xfrm>
        </p:grpSpPr>
        <p:sp>
          <p:nvSpPr>
            <p:cNvPr id="14361" name="Rectangle 18"/>
            <p:cNvSpPr>
              <a:spLocks noChangeArrowheads="1"/>
            </p:cNvSpPr>
            <p:nvPr/>
          </p:nvSpPr>
          <p:spPr bwMode="auto">
            <a:xfrm>
              <a:off x="1600200" y="4191000"/>
              <a:ext cx="4572000" cy="519113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可逆反应： </a:t>
              </a:r>
              <a:r>
                <a:rPr kumimoji="1" lang="zh-CN" altLang="en-US" sz="28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∆</a:t>
              </a:r>
              <a:r>
                <a:rPr kumimoji="1" lang="en-US" altLang="zh-CN" sz="2800" b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r </a:t>
              </a:r>
              <a:r>
                <a:rPr kumimoji="1" lang="en-US" altLang="zh-CN" sz="28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sz="2800" b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m </a:t>
              </a:r>
              <a:r>
                <a:rPr kumimoji="1" lang="en-US" altLang="zh-CN" sz="28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= </a:t>
              </a:r>
              <a:r>
                <a:rPr kumimoji="1" lang="en-US" altLang="zh-CN" sz="28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zh-CN" altLang="en-US" sz="2800" b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正</a:t>
              </a:r>
              <a:r>
                <a:rPr kumimoji="1" lang="en-US" altLang="zh-CN" sz="2800" b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800" b="1" i="1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zh-CN" altLang="en-US" sz="2800" b="1" baseline="-2500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逆</a:t>
              </a:r>
            </a:p>
          </p:txBody>
        </p:sp>
        <p:sp>
          <p:nvSpPr>
            <p:cNvPr id="14362" name="Rectangle 19"/>
            <p:cNvSpPr>
              <a:spLocks noChangeArrowheads="1"/>
            </p:cNvSpPr>
            <p:nvPr/>
          </p:nvSpPr>
          <p:spPr bwMode="auto">
            <a:xfrm>
              <a:off x="1143000" y="4953000"/>
              <a:ext cx="7772400" cy="1084263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正反应：     吸热 ∆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&gt; 0,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　   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zh-CN" altLang="en-US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正</a:t>
              </a:r>
              <a:r>
                <a:rPr kumimoji="1" lang="en-US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&gt;</a:t>
              </a:r>
              <a:r>
                <a:rPr kumimoji="1" lang="en-US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zh-CN" altLang="en-US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逆</a:t>
              </a:r>
              <a:endParaRPr kumimoji="1" lang="zh-CN" altLang="en-US" sz="2600" b="1" baseline="-250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　　　　    放热 ∆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 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&lt; 0,       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zh-CN" altLang="en-US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正</a:t>
              </a:r>
              <a:r>
                <a:rPr kumimoji="1" lang="en-US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＜ </a:t>
              </a:r>
              <a:r>
                <a:rPr kumimoji="1" lang="en-US" altLang="zh-CN" sz="2600" b="1" i="1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zh-CN" altLang="en-US" sz="2600" b="1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逆</a:t>
              </a:r>
            </a:p>
          </p:txBody>
        </p:sp>
      </p:grpSp>
      <p:grpSp>
        <p:nvGrpSpPr>
          <p:cNvPr id="3" name="Group 25"/>
          <p:cNvGrpSpPr/>
          <p:nvPr/>
        </p:nvGrpSpPr>
        <p:grpSpPr bwMode="auto">
          <a:xfrm>
            <a:off x="152400" y="228600"/>
            <a:ext cx="8799513" cy="3613150"/>
            <a:chOff x="0" y="192"/>
            <a:chExt cx="5543" cy="2276"/>
          </a:xfrm>
        </p:grpSpPr>
        <p:grpSp>
          <p:nvGrpSpPr>
            <p:cNvPr id="14341" name="Group 24"/>
            <p:cNvGrpSpPr/>
            <p:nvPr/>
          </p:nvGrpSpPr>
          <p:grpSpPr bwMode="auto">
            <a:xfrm>
              <a:off x="0" y="192"/>
              <a:ext cx="5543" cy="2137"/>
              <a:chOff x="0" y="192"/>
              <a:chExt cx="5543" cy="2137"/>
            </a:xfrm>
          </p:grpSpPr>
          <p:grpSp>
            <p:nvGrpSpPr>
              <p:cNvPr id="14343" name="Group 2"/>
              <p:cNvGrpSpPr/>
              <p:nvPr/>
            </p:nvGrpSpPr>
            <p:grpSpPr bwMode="auto">
              <a:xfrm>
                <a:off x="0" y="192"/>
                <a:ext cx="5472" cy="2137"/>
                <a:chOff x="2812" y="618"/>
                <a:chExt cx="2971" cy="2688"/>
              </a:xfrm>
            </p:grpSpPr>
            <p:grpSp>
              <p:nvGrpSpPr>
                <p:cNvPr id="14347" name="Group 3"/>
                <p:cNvGrpSpPr/>
                <p:nvPr/>
              </p:nvGrpSpPr>
              <p:grpSpPr bwMode="auto">
                <a:xfrm>
                  <a:off x="2812" y="618"/>
                  <a:ext cx="2971" cy="2404"/>
                  <a:chOff x="2812" y="618"/>
                  <a:chExt cx="2971" cy="2404"/>
                </a:xfrm>
              </p:grpSpPr>
              <p:graphicFrame>
                <p:nvGraphicFramePr>
                  <p:cNvPr id="14338" name="Object 4"/>
                  <p:cNvGraphicFramePr>
                    <a:graphicFrameLocks noChangeAspect="1"/>
                  </p:cNvGraphicFramePr>
                  <p:nvPr/>
                </p:nvGraphicFramePr>
                <p:xfrm>
                  <a:off x="3070" y="618"/>
                  <a:ext cx="2533" cy="2404"/>
                </p:xfrm>
                <a:graphic>
                  <a:graphicData uri="http://schemas.openxmlformats.org/presentationml/2006/ole">
                    <p:oleObj spid="_x0000_s67585" name="位图图像" r:id="rId3" imgW="1752381" imgH="1419048" progId="PBrush">
                      <p:embed/>
                    </p:oleObj>
                  </a:graphicData>
                </a:graphic>
              </p:graphicFrame>
              <p:sp>
                <p:nvSpPr>
                  <p:cNvPr id="14349" name="Line 5"/>
                  <p:cNvSpPr>
                    <a:spLocks noChangeShapeType="1"/>
                  </p:cNvSpPr>
                  <p:nvPr/>
                </p:nvSpPr>
                <p:spPr bwMode="auto">
                  <a:xfrm>
                    <a:off x="3244" y="2977"/>
                    <a:ext cx="240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kumimoji="1" lang="zh-CN" altLang="en-US" sz="3000" b="1" smtClean="0">
                      <a:solidFill>
                        <a:srgbClr val="99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350" name="Line 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220" y="618"/>
                    <a:ext cx="0" cy="235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kumimoji="1" lang="zh-CN" altLang="en-US" sz="3000" b="1" smtClean="0">
                      <a:solidFill>
                        <a:srgbClr val="99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351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3311" y="788"/>
                    <a:ext cx="0" cy="141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kumimoji="1" lang="zh-CN" altLang="en-US" sz="3000" b="1" smtClean="0">
                      <a:solidFill>
                        <a:srgbClr val="99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352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5376" y="800"/>
                    <a:ext cx="0" cy="204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kumimoji="1" lang="zh-CN" altLang="en-US" sz="3000" b="1" smtClean="0">
                      <a:solidFill>
                        <a:srgbClr val="99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353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4060" y="2239"/>
                    <a:ext cx="0" cy="60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kumimoji="1" lang="zh-CN" altLang="en-US" sz="3000" b="1" smtClean="0">
                      <a:solidFill>
                        <a:srgbClr val="99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354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08" y="2116"/>
                    <a:ext cx="317" cy="3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just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lang="zh-CN" altLang="zh-CN" sz="2600" smtClean="0">
                      <a:solidFill>
                        <a:srgbClr val="0000FF"/>
                      </a:solidFill>
                    </a:endParaRPr>
                  </a:p>
                </p:txBody>
              </p:sp>
              <p:sp>
                <p:nvSpPr>
                  <p:cNvPr id="14355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36" y="665"/>
                    <a:ext cx="317" cy="3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just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lang="zh-CN" altLang="zh-CN" sz="2600" smtClean="0">
                      <a:solidFill>
                        <a:srgbClr val="0000FF"/>
                      </a:solidFill>
                    </a:endParaRPr>
                  </a:p>
                </p:txBody>
              </p:sp>
              <p:sp>
                <p:nvSpPr>
                  <p:cNvPr id="14356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421" y="2614"/>
                    <a:ext cx="362" cy="3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just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lang="zh-CN" altLang="zh-CN" sz="2600" smtClean="0">
                      <a:solidFill>
                        <a:srgbClr val="0000FF"/>
                      </a:solidFill>
                    </a:endParaRPr>
                  </a:p>
                </p:txBody>
              </p:sp>
              <p:sp>
                <p:nvSpPr>
                  <p:cNvPr id="14357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9" y="1077"/>
                    <a:ext cx="862" cy="3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just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sz="2600" i="1" smtClean="0">
                        <a:solidFill>
                          <a:srgbClr val="0000FF"/>
                        </a:solidFill>
                        <a:latin typeface="楷体_GB2312" pitchFamily="49" charset="-122"/>
                      </a:rPr>
                      <a:t>E</a:t>
                    </a:r>
                    <a:r>
                      <a:rPr lang="zh-CN" altLang="en-US" sz="2600" baseline="-25000" smtClean="0">
                        <a:solidFill>
                          <a:srgbClr val="0000FF"/>
                        </a:solidFill>
                        <a:latin typeface="楷体_GB2312" pitchFamily="49" charset="-122"/>
                      </a:rPr>
                      <a:t>正</a:t>
                    </a:r>
                  </a:p>
                </p:txBody>
              </p:sp>
              <p:sp>
                <p:nvSpPr>
                  <p:cNvPr id="14358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5" y="1480"/>
                    <a:ext cx="862" cy="3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just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sz="2600" i="1" smtClean="0">
                        <a:solidFill>
                          <a:srgbClr val="0000FF"/>
                        </a:solidFill>
                        <a:latin typeface="楷体_GB2312" pitchFamily="49" charset="-122"/>
                      </a:rPr>
                      <a:t>      E</a:t>
                    </a:r>
                    <a:r>
                      <a:rPr lang="zh-CN" altLang="en-US" sz="2600" baseline="-25000" smtClean="0">
                        <a:solidFill>
                          <a:srgbClr val="0000FF"/>
                        </a:solidFill>
                        <a:latin typeface="楷体_GB2312" pitchFamily="49" charset="-122"/>
                      </a:rPr>
                      <a:t>逆</a:t>
                    </a:r>
                  </a:p>
                </p:txBody>
              </p:sp>
              <p:sp>
                <p:nvSpPr>
                  <p:cNvPr id="14359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22" y="2341"/>
                    <a:ext cx="952" cy="3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just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sz="2600" smtClean="0">
                        <a:solidFill>
                          <a:srgbClr val="FF0000"/>
                        </a:solidFill>
                        <a:ea typeface="幼圆" panose="02010509060101010101" pitchFamily="49" charset="-122"/>
                      </a:rPr>
                      <a:t>∆</a:t>
                    </a:r>
                    <a:r>
                      <a:rPr lang="en-US" altLang="zh-CN" sz="2600" baseline="-25000" smtClean="0">
                        <a:solidFill>
                          <a:srgbClr val="FF0000"/>
                        </a:solidFill>
                        <a:ea typeface="幼圆" panose="02010509060101010101" pitchFamily="49" charset="-122"/>
                      </a:rPr>
                      <a:t>r </a:t>
                    </a:r>
                    <a:r>
                      <a:rPr lang="en-US" altLang="zh-CN" sz="2600" i="1" smtClean="0">
                        <a:solidFill>
                          <a:srgbClr val="FF0000"/>
                        </a:solidFill>
                        <a:ea typeface="幼圆" panose="02010509060101010101" pitchFamily="49" charset="-122"/>
                      </a:rPr>
                      <a:t>H </a:t>
                    </a:r>
                    <a:r>
                      <a:rPr lang="en-US" altLang="zh-CN" sz="2600" baseline="-25000" smtClean="0">
                        <a:solidFill>
                          <a:srgbClr val="FF0000"/>
                        </a:solidFill>
                        <a:ea typeface="幼圆" panose="02010509060101010101" pitchFamily="49" charset="-122"/>
                      </a:rPr>
                      <a:t>m</a:t>
                    </a:r>
                  </a:p>
                </p:txBody>
              </p:sp>
              <p:sp>
                <p:nvSpPr>
                  <p:cNvPr id="14360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12" y="1174"/>
                    <a:ext cx="408" cy="38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kumimoji="1" sz="3000" b="1">
                        <a:solidFill>
                          <a:srgbClr val="99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just"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sz="2600" smtClean="0">
                        <a:solidFill>
                          <a:srgbClr val="000000"/>
                        </a:solidFill>
                        <a:ea typeface="幼圆" panose="02010509060101010101" pitchFamily="49" charset="-122"/>
                      </a:rPr>
                      <a:t>     </a:t>
                    </a:r>
                    <a:r>
                      <a:rPr lang="en-US" altLang="zh-CN" sz="2600" smtClean="0">
                        <a:solidFill>
                          <a:srgbClr val="0000FF"/>
                        </a:solidFill>
                        <a:ea typeface="幼圆" panose="02010509060101010101" pitchFamily="49" charset="-122"/>
                      </a:rPr>
                      <a:t> </a:t>
                    </a:r>
                    <a:r>
                      <a:rPr lang="en-US" altLang="zh-CN" sz="2600" smtClean="0">
                        <a:solidFill>
                          <a:srgbClr val="0000FF"/>
                        </a:solidFill>
                        <a:latin typeface="楷体_GB2312" pitchFamily="49" charset="-122"/>
                      </a:rPr>
                      <a:t>E</a:t>
                    </a:r>
                  </a:p>
                </p:txBody>
              </p:sp>
            </p:grpSp>
            <p:sp>
              <p:nvSpPr>
                <p:cNvPr id="1434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151" y="2919"/>
                  <a:ext cx="1316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kumimoji="1" sz="3000" b="1">
                      <a:solidFill>
                        <a:srgbClr val="990000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600" smtClean="0">
                      <a:solidFill>
                        <a:srgbClr val="0000FF"/>
                      </a:solidFill>
                      <a:ea typeface="幼圆" panose="02010509060101010101" pitchFamily="49" charset="-122"/>
                    </a:rPr>
                    <a:t>              </a:t>
                  </a:r>
                  <a:endParaRPr lang="en-US" altLang="zh-CN" sz="2600" smtClean="0">
                    <a:solidFill>
                      <a:srgbClr val="0000FF"/>
                    </a:solidFill>
                  </a:endParaRPr>
                </a:p>
              </p:txBody>
            </p:sp>
          </p:grpSp>
          <p:sp>
            <p:nvSpPr>
              <p:cNvPr id="14344" name="Rectangle 20"/>
              <p:cNvSpPr>
                <a:spLocks noChangeArrowheads="1"/>
              </p:cNvSpPr>
              <p:nvPr/>
            </p:nvSpPr>
            <p:spPr bwMode="auto">
              <a:xfrm>
                <a:off x="4800" y="1680"/>
                <a:ext cx="743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600" b="1" smtClean="0">
                    <a:solidFill>
                      <a:srgbClr val="0000FF"/>
                    </a:solidFill>
                    <a:latin typeface="楷体_GB2312" pitchFamily="49" charset="-122"/>
                  </a:rPr>
                  <a:t>生成物</a:t>
                </a:r>
              </a:p>
            </p:txBody>
          </p:sp>
          <p:sp>
            <p:nvSpPr>
              <p:cNvPr id="14345" name="Rectangle 21"/>
              <p:cNvSpPr>
                <a:spLocks noChangeArrowheads="1"/>
              </p:cNvSpPr>
              <p:nvPr/>
            </p:nvSpPr>
            <p:spPr bwMode="auto">
              <a:xfrm>
                <a:off x="816" y="1584"/>
                <a:ext cx="743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600" b="1" smtClean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反应物</a:t>
                </a:r>
              </a:p>
            </p:txBody>
          </p:sp>
          <p:sp>
            <p:nvSpPr>
              <p:cNvPr id="14346" name="Rectangle 22"/>
              <p:cNvSpPr>
                <a:spLocks noChangeArrowheads="1"/>
              </p:cNvSpPr>
              <p:nvPr/>
            </p:nvSpPr>
            <p:spPr bwMode="auto">
              <a:xfrm>
                <a:off x="2880" y="336"/>
                <a:ext cx="743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600" b="1" smtClean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过渡态</a:t>
                </a:r>
              </a:p>
            </p:txBody>
          </p:sp>
        </p:grpSp>
        <p:sp>
          <p:nvSpPr>
            <p:cNvPr id="14342" name="Rectangle 23"/>
            <p:cNvSpPr>
              <a:spLocks noChangeArrowheads="1"/>
            </p:cNvSpPr>
            <p:nvPr/>
          </p:nvSpPr>
          <p:spPr bwMode="auto">
            <a:xfrm>
              <a:off x="2304" y="2160"/>
              <a:ext cx="95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FF"/>
                  </a:solidFill>
                  <a:latin typeface="Times New Roman" panose="02020603050405020304" pitchFamily="18" charset="0"/>
                </a:rPr>
                <a:t>反应进程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91" name="Rectangle 7"/>
          <p:cNvSpPr>
            <a:spLocks noChangeArrowheads="1"/>
          </p:cNvSpPr>
          <p:nvPr/>
        </p:nvSpPr>
        <p:spPr bwMode="auto">
          <a:xfrm>
            <a:off x="1066800" y="4953000"/>
            <a:ext cx="3170238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smtClean="0">
                <a:solidFill>
                  <a:srgbClr val="000000"/>
                </a:solidFill>
                <a:latin typeface="楷体_GB2312" pitchFamily="49" charset="-122"/>
              </a:rPr>
              <a:t>催化剂的最主要特征</a:t>
            </a:r>
          </a:p>
        </p:txBody>
      </p:sp>
      <p:grpSp>
        <p:nvGrpSpPr>
          <p:cNvPr id="2" name="组合 7"/>
          <p:cNvGrpSpPr/>
          <p:nvPr/>
        </p:nvGrpSpPr>
        <p:grpSpPr bwMode="auto">
          <a:xfrm>
            <a:off x="228600" y="914400"/>
            <a:ext cx="8686800" cy="3911600"/>
            <a:chOff x="228600" y="914400"/>
            <a:chExt cx="8686800" cy="3639771"/>
          </a:xfrm>
        </p:grpSpPr>
        <p:sp>
          <p:nvSpPr>
            <p:cNvPr id="57349" name="Rectangle 5"/>
            <p:cNvSpPr>
              <a:spLocks noChangeArrowheads="1"/>
            </p:cNvSpPr>
            <p:nvPr/>
          </p:nvSpPr>
          <p:spPr bwMode="auto">
            <a:xfrm>
              <a:off x="228600" y="914400"/>
              <a:ext cx="8686800" cy="890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sz="2600" b="1" i="1" smtClean="0">
                  <a:solidFill>
                    <a:srgbClr val="C00000"/>
                  </a:solidFill>
                  <a:latin typeface="楷体_GB2312" pitchFamily="49" charset="-122"/>
                </a:rPr>
                <a:t>催化剂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: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少量存在就能显著改变反应速率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,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而本身反应前后组成、质量和化学性质基本不变的物质。分为：</a:t>
              </a:r>
            </a:p>
          </p:txBody>
        </p:sp>
        <p:sp>
          <p:nvSpPr>
            <p:cNvPr id="57350" name="Rectangle 6"/>
            <p:cNvSpPr>
              <a:spLocks noChangeArrowheads="1"/>
            </p:cNvSpPr>
            <p:nvPr/>
          </p:nvSpPr>
          <p:spPr bwMode="auto">
            <a:xfrm>
              <a:off x="304800" y="1905000"/>
              <a:ext cx="83058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）正催化剂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能加快反应速率的催化剂；通常在工业生产、实验室中使用的多。 </a:t>
              </a:r>
            </a:p>
          </p:txBody>
        </p:sp>
        <p:sp>
          <p:nvSpPr>
            <p:cNvPr id="57351" name="Rectangle 8"/>
            <p:cNvSpPr>
              <a:spLocks noChangeArrowheads="1"/>
            </p:cNvSpPr>
            <p:nvPr/>
          </p:nvSpPr>
          <p:spPr bwMode="auto">
            <a:xfrm>
              <a:off x="457200" y="4038600"/>
              <a:ext cx="8413750" cy="515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通常所说的催化剂是指正催化剂。</a:t>
              </a:r>
            </a:p>
          </p:txBody>
        </p:sp>
        <p:sp>
          <p:nvSpPr>
            <p:cNvPr id="57352" name="Rectangle 9"/>
            <p:cNvSpPr>
              <a:spLocks noChangeArrowheads="1"/>
            </p:cNvSpPr>
            <p:nvPr/>
          </p:nvSpPr>
          <p:spPr bwMode="auto">
            <a:xfrm>
              <a:off x="381000" y="3048000"/>
              <a:ext cx="8229600" cy="974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ts val="36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ii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）负催化剂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能减缓反应速率的催化剂。如</a:t>
              </a:r>
              <a:r>
                <a:rPr kumimoji="1" lang="en-US" altLang="zh-CN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: </a:t>
              </a:r>
              <a:r>
                <a:rPr kumimoji="1" lang="zh-CN" altLang="en-US" sz="2600" b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防止橡胶、塑料老化的防老剂。</a:t>
              </a:r>
            </a:p>
          </p:txBody>
        </p:sp>
      </p:grp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04800" y="228600"/>
            <a:ext cx="7162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3-2-3      </a:t>
            </a:r>
            <a:r>
              <a:rPr kumimoji="1" lang="zh-CN" altLang="en-US" sz="2800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催化剂对化学反应速率的影响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3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91" grpId="0" animBg="1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228600" y="152400"/>
            <a:ext cx="8763000" cy="147796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ts val="36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</a:rPr>
              <a:t> 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/>
              </a:rPr>
              <a:t>能与反应物形成一种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anose="02020603050405020304"/>
              </a:rPr>
              <a:t>活化配合物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/>
              </a:rPr>
              <a:t>，使活化能降低，也就是说</a:t>
            </a:r>
            <a:r>
              <a:rPr kumimoji="1" lang="zh-CN" altLang="en-US" sz="2400" b="1" i="1" dirty="0">
                <a:solidFill>
                  <a:srgbClr val="C00000"/>
                </a:solidFill>
                <a:latin typeface="Times New Roman" panose="02020603050405020304"/>
              </a:rPr>
              <a:t>催化剂参与了反应，改变了反应途径</a:t>
            </a:r>
            <a:r>
              <a:rPr kumimoji="1" lang="en-US" altLang="zh-CN" sz="2400" b="1" i="1" dirty="0">
                <a:solidFill>
                  <a:srgbClr val="C00000"/>
                </a:solidFill>
                <a:latin typeface="Times New Roman" panose="02020603050405020304"/>
              </a:rPr>
              <a:t>(</a:t>
            </a:r>
            <a:r>
              <a:rPr kumimoji="1" lang="zh-CN" altLang="en-US" sz="2400" b="1" i="1" dirty="0">
                <a:solidFill>
                  <a:srgbClr val="C00000"/>
                </a:solidFill>
                <a:latin typeface="Times New Roman" panose="02020603050405020304"/>
              </a:rPr>
              <a:t>机理</a:t>
            </a:r>
            <a:r>
              <a:rPr kumimoji="1" lang="en-US" altLang="zh-CN" sz="2400" b="1" i="1" dirty="0">
                <a:solidFill>
                  <a:srgbClr val="C00000"/>
                </a:solidFill>
                <a:latin typeface="Times New Roman" panose="02020603050405020304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/>
              </a:rPr>
              <a:t>。这就是催化剂能显著增大反应速率（包括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</a:rPr>
              <a:t>v</a:t>
            </a:r>
            <a:r>
              <a:rPr kumimoji="1" lang="zh-CN" altLang="en-US" sz="2400" b="1" baseline="-25000" dirty="0">
                <a:solidFill>
                  <a:srgbClr val="000000"/>
                </a:solidFill>
                <a:latin typeface="Times New Roman" panose="02020603050405020304"/>
              </a:rPr>
              <a:t>正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</a:rPr>
              <a:t>v</a:t>
            </a:r>
            <a:r>
              <a:rPr kumimoji="1" lang="zh-CN" altLang="en-US" sz="2400" b="1" baseline="-25000" dirty="0">
                <a:solidFill>
                  <a:srgbClr val="000000"/>
                </a:solidFill>
                <a:latin typeface="Times New Roman" panose="02020603050405020304"/>
              </a:rPr>
              <a:t>逆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/>
              </a:rPr>
              <a:t>）的原因，例子见图片。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304800" y="1905000"/>
            <a:ext cx="8610600" cy="3792538"/>
            <a:chOff x="2865" y="482"/>
            <a:chExt cx="2883" cy="3503"/>
          </a:xfrm>
        </p:grpSpPr>
        <p:sp>
          <p:nvSpPr>
            <p:cNvPr id="58372" name="Line 6"/>
            <p:cNvSpPr>
              <a:spLocks noChangeShapeType="1"/>
            </p:cNvSpPr>
            <p:nvPr/>
          </p:nvSpPr>
          <p:spPr bwMode="auto">
            <a:xfrm>
              <a:off x="4604" y="1706"/>
              <a:ext cx="771" cy="1633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3000" b="1" smtClean="0">
                <a:solidFill>
                  <a:srgbClr val="99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373" name="Line 7"/>
            <p:cNvSpPr>
              <a:spLocks noChangeShapeType="1"/>
            </p:cNvSpPr>
            <p:nvPr/>
          </p:nvSpPr>
          <p:spPr bwMode="auto">
            <a:xfrm>
              <a:off x="4241" y="3339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3000" b="1" smtClean="0">
                <a:solidFill>
                  <a:srgbClr val="99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8374" name="Group 8"/>
            <p:cNvGrpSpPr/>
            <p:nvPr/>
          </p:nvGrpSpPr>
          <p:grpSpPr bwMode="auto">
            <a:xfrm>
              <a:off x="2865" y="482"/>
              <a:ext cx="2883" cy="3503"/>
              <a:chOff x="2865" y="482"/>
              <a:chExt cx="2883" cy="3503"/>
            </a:xfrm>
          </p:grpSpPr>
          <p:sp>
            <p:nvSpPr>
              <p:cNvPr id="58375" name="Line 9"/>
              <p:cNvSpPr>
                <a:spLocks noChangeShapeType="1"/>
              </p:cNvSpPr>
              <p:nvPr/>
            </p:nvSpPr>
            <p:spPr bwMode="auto">
              <a:xfrm>
                <a:off x="4604" y="845"/>
                <a:ext cx="771" cy="249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76" name="Line 10"/>
              <p:cNvSpPr>
                <a:spLocks noChangeShapeType="1"/>
              </p:cNvSpPr>
              <p:nvPr/>
            </p:nvSpPr>
            <p:spPr bwMode="auto">
              <a:xfrm>
                <a:off x="3696" y="1706"/>
                <a:ext cx="9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77" name="Line 11"/>
              <p:cNvSpPr>
                <a:spLocks noChangeShapeType="1"/>
              </p:cNvSpPr>
              <p:nvPr/>
            </p:nvSpPr>
            <p:spPr bwMode="auto">
              <a:xfrm>
                <a:off x="3379" y="890"/>
                <a:ext cx="12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78" name="Line 12"/>
              <p:cNvSpPr>
                <a:spLocks noChangeShapeType="1"/>
              </p:cNvSpPr>
              <p:nvPr/>
            </p:nvSpPr>
            <p:spPr bwMode="auto">
              <a:xfrm>
                <a:off x="3470" y="2432"/>
                <a:ext cx="11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79" name="Line 13"/>
              <p:cNvSpPr>
                <a:spLocks noChangeShapeType="1"/>
              </p:cNvSpPr>
              <p:nvPr/>
            </p:nvSpPr>
            <p:spPr bwMode="auto">
              <a:xfrm>
                <a:off x="4377" y="2432"/>
                <a:ext cx="0" cy="9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80" name="Line 14"/>
              <p:cNvSpPr>
                <a:spLocks noChangeShapeType="1"/>
              </p:cNvSpPr>
              <p:nvPr/>
            </p:nvSpPr>
            <p:spPr bwMode="auto">
              <a:xfrm>
                <a:off x="3742" y="1706"/>
                <a:ext cx="0" cy="7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81" name="Line 15"/>
              <p:cNvSpPr>
                <a:spLocks noChangeShapeType="1"/>
              </p:cNvSpPr>
              <p:nvPr/>
            </p:nvSpPr>
            <p:spPr bwMode="auto">
              <a:xfrm>
                <a:off x="3470" y="890"/>
                <a:ext cx="0" cy="15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82" name="Line 16"/>
              <p:cNvSpPr>
                <a:spLocks noChangeShapeType="1"/>
              </p:cNvSpPr>
              <p:nvPr/>
            </p:nvSpPr>
            <p:spPr bwMode="auto">
              <a:xfrm>
                <a:off x="3243" y="3642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83" name="Line 17"/>
              <p:cNvSpPr>
                <a:spLocks noChangeShapeType="1"/>
              </p:cNvSpPr>
              <p:nvPr/>
            </p:nvSpPr>
            <p:spPr bwMode="auto">
              <a:xfrm flipV="1">
                <a:off x="3243" y="651"/>
                <a:ext cx="0" cy="29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84" name="Text Box 18"/>
              <p:cNvSpPr txBox="1">
                <a:spLocks noChangeArrowheads="1"/>
              </p:cNvSpPr>
              <p:nvPr/>
            </p:nvSpPr>
            <p:spPr bwMode="auto">
              <a:xfrm>
                <a:off x="3503" y="482"/>
                <a:ext cx="2245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200" smtClean="0">
                    <a:solidFill>
                      <a:srgbClr val="FF0000"/>
                    </a:solidFill>
                  </a:rPr>
                  <a:t>非催化活化配合物</a:t>
                </a:r>
              </a:p>
            </p:txBody>
          </p:sp>
          <p:sp>
            <p:nvSpPr>
              <p:cNvPr id="58385" name="Text Box 19"/>
              <p:cNvSpPr txBox="1">
                <a:spLocks noChangeArrowheads="1"/>
              </p:cNvSpPr>
              <p:nvPr/>
            </p:nvSpPr>
            <p:spPr bwMode="auto">
              <a:xfrm>
                <a:off x="3763" y="1357"/>
                <a:ext cx="1973" cy="3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200" smtClean="0">
                    <a:solidFill>
                      <a:srgbClr val="3333FF"/>
                    </a:solidFill>
                  </a:rPr>
                  <a:t>催化活化配合物</a:t>
                </a:r>
              </a:p>
            </p:txBody>
          </p:sp>
          <p:sp>
            <p:nvSpPr>
              <p:cNvPr id="58386" name="Text Box 20"/>
              <p:cNvSpPr txBox="1">
                <a:spLocks noChangeArrowheads="1"/>
              </p:cNvSpPr>
              <p:nvPr/>
            </p:nvSpPr>
            <p:spPr bwMode="auto">
              <a:xfrm>
                <a:off x="4757" y="3269"/>
                <a:ext cx="907" cy="3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200" smtClean="0">
                    <a:solidFill>
                      <a:srgbClr val="000000"/>
                    </a:solidFill>
                  </a:rPr>
                  <a:t>生成物</a:t>
                </a:r>
              </a:p>
            </p:txBody>
          </p:sp>
          <p:sp>
            <p:nvSpPr>
              <p:cNvPr id="58387" name="Text Box 21"/>
              <p:cNvSpPr txBox="1">
                <a:spLocks noChangeArrowheads="1"/>
              </p:cNvSpPr>
              <p:nvPr/>
            </p:nvSpPr>
            <p:spPr bwMode="auto">
              <a:xfrm>
                <a:off x="4219" y="3590"/>
                <a:ext cx="1361" cy="3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200" smtClean="0">
                    <a:solidFill>
                      <a:srgbClr val="000000"/>
                    </a:solidFill>
                  </a:rPr>
                  <a:t>反应进程</a:t>
                </a:r>
              </a:p>
            </p:txBody>
          </p:sp>
          <p:sp>
            <p:nvSpPr>
              <p:cNvPr id="58388" name="Text Box 22"/>
              <p:cNvSpPr txBox="1">
                <a:spLocks noChangeArrowheads="1"/>
              </p:cNvSpPr>
              <p:nvPr/>
            </p:nvSpPr>
            <p:spPr bwMode="auto">
              <a:xfrm>
                <a:off x="2865" y="846"/>
                <a:ext cx="273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smtClean="0">
                    <a:solidFill>
                      <a:srgbClr val="000000"/>
                    </a:solidFill>
                    <a:ea typeface="幼圆" panose="02010509060101010101" pitchFamily="49" charset="-122"/>
                  </a:rPr>
                  <a:t>E</a:t>
                </a:r>
              </a:p>
            </p:txBody>
          </p:sp>
          <p:sp>
            <p:nvSpPr>
              <p:cNvPr id="58389" name="Text Box 23"/>
              <p:cNvSpPr txBox="1">
                <a:spLocks noChangeArrowheads="1"/>
              </p:cNvSpPr>
              <p:nvPr/>
            </p:nvSpPr>
            <p:spPr bwMode="auto">
              <a:xfrm>
                <a:off x="3446" y="1071"/>
                <a:ext cx="453" cy="3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200" i="1" smtClean="0">
                    <a:solidFill>
                      <a:srgbClr val="000000"/>
                    </a:solidFill>
                    <a:ea typeface="幼圆" panose="02010509060101010101" pitchFamily="49" charset="-122"/>
                  </a:rPr>
                  <a:t>E</a:t>
                </a:r>
                <a:r>
                  <a:rPr lang="en-US" altLang="zh-CN" sz="2200" baseline="-25000" smtClean="0">
                    <a:solidFill>
                      <a:srgbClr val="000000"/>
                    </a:solidFill>
                    <a:ea typeface="幼圆" panose="02010509060101010101" pitchFamily="49" charset="-122"/>
                  </a:rPr>
                  <a:t>b</a:t>
                </a:r>
              </a:p>
            </p:txBody>
          </p:sp>
          <p:sp>
            <p:nvSpPr>
              <p:cNvPr id="58390" name="Text Box 24"/>
              <p:cNvSpPr txBox="1">
                <a:spLocks noChangeArrowheads="1"/>
              </p:cNvSpPr>
              <p:nvPr/>
            </p:nvSpPr>
            <p:spPr bwMode="auto">
              <a:xfrm>
                <a:off x="3515" y="1893"/>
                <a:ext cx="544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200" i="1" smtClean="0">
                    <a:solidFill>
                      <a:srgbClr val="000000"/>
                    </a:solidFill>
                    <a:ea typeface="幼圆" panose="02010509060101010101" pitchFamily="49" charset="-122"/>
                  </a:rPr>
                  <a:t>E </a:t>
                </a:r>
                <a:r>
                  <a:rPr lang="en-US" altLang="zh-CN" sz="2200" baseline="-25000" smtClean="0">
                    <a:solidFill>
                      <a:srgbClr val="000000"/>
                    </a:solidFill>
                    <a:ea typeface="幼圆" panose="02010509060101010101" pitchFamily="49" charset="-122"/>
                  </a:rPr>
                  <a:t>b</a:t>
                </a:r>
                <a:r>
                  <a:rPr lang="en-US" altLang="zh-CN" sz="2200" smtClean="0">
                    <a:solidFill>
                      <a:srgbClr val="000000"/>
                    </a:solidFill>
                    <a:ea typeface="幼圆" panose="02010509060101010101" pitchFamily="49" charset="-122"/>
                    <a:sym typeface="Symbol" panose="05050102010706020507" pitchFamily="18" charset="2"/>
                  </a:rPr>
                  <a:t></a:t>
                </a:r>
                <a:endParaRPr lang="en-US" altLang="zh-CN" sz="2200" baseline="30000" smtClean="0">
                  <a:solidFill>
                    <a:srgbClr val="000000"/>
                  </a:solidFill>
                  <a:ea typeface="幼圆" panose="02010509060101010101" pitchFamily="49" charset="-122"/>
                </a:endParaRPr>
              </a:p>
            </p:txBody>
          </p:sp>
          <p:sp>
            <p:nvSpPr>
              <p:cNvPr id="58391" name="Text Box 25"/>
              <p:cNvSpPr txBox="1">
                <a:spLocks noChangeArrowheads="1"/>
              </p:cNvSpPr>
              <p:nvPr/>
            </p:nvSpPr>
            <p:spPr bwMode="auto">
              <a:xfrm>
                <a:off x="4059" y="2658"/>
                <a:ext cx="771" cy="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600" smtClean="0">
                    <a:solidFill>
                      <a:srgbClr val="FF0000"/>
                    </a:solidFill>
                    <a:ea typeface="幼圆" panose="02010509060101010101" pitchFamily="49" charset="-122"/>
                  </a:rPr>
                  <a:t>∆</a:t>
                </a:r>
                <a:r>
                  <a:rPr lang="en-US" altLang="zh-CN" sz="3600" baseline="-25000" smtClean="0">
                    <a:solidFill>
                      <a:srgbClr val="FF0000"/>
                    </a:solidFill>
                    <a:ea typeface="幼圆" panose="02010509060101010101" pitchFamily="49" charset="-122"/>
                  </a:rPr>
                  <a:t>r</a:t>
                </a:r>
                <a:r>
                  <a:rPr lang="en-US" altLang="zh-CN" sz="3600" i="1" smtClean="0">
                    <a:solidFill>
                      <a:srgbClr val="FF0000"/>
                    </a:solidFill>
                    <a:ea typeface="幼圆" panose="02010509060101010101" pitchFamily="49" charset="-122"/>
                  </a:rPr>
                  <a:t>H</a:t>
                </a:r>
                <a:r>
                  <a:rPr lang="en-US" altLang="zh-CN" sz="3600" baseline="-25000" smtClean="0">
                    <a:solidFill>
                      <a:srgbClr val="FF0000"/>
                    </a:solidFill>
                    <a:ea typeface="幼圆" panose="02010509060101010101" pitchFamily="49" charset="-122"/>
                  </a:rPr>
                  <a:t>m</a:t>
                </a:r>
              </a:p>
            </p:txBody>
          </p:sp>
          <p:sp>
            <p:nvSpPr>
              <p:cNvPr id="58392" name="Line 26"/>
              <p:cNvSpPr>
                <a:spLocks noChangeShapeType="1"/>
              </p:cNvSpPr>
              <p:nvPr/>
            </p:nvSpPr>
            <p:spPr bwMode="auto">
              <a:xfrm flipV="1">
                <a:off x="3787" y="845"/>
                <a:ext cx="817" cy="158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393" name="Text Box 27"/>
              <p:cNvSpPr txBox="1">
                <a:spLocks noChangeArrowheads="1"/>
              </p:cNvSpPr>
              <p:nvPr/>
            </p:nvSpPr>
            <p:spPr bwMode="auto">
              <a:xfrm>
                <a:off x="3322" y="2362"/>
                <a:ext cx="998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3000" b="1">
                    <a:solidFill>
                      <a:srgbClr val="99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200" smtClean="0">
                    <a:solidFill>
                      <a:srgbClr val="000000"/>
                    </a:solidFill>
                  </a:rPr>
                  <a:t>反应物</a:t>
                </a:r>
              </a:p>
            </p:txBody>
          </p:sp>
          <p:sp>
            <p:nvSpPr>
              <p:cNvPr id="58394" name="Line 28"/>
              <p:cNvSpPr>
                <a:spLocks noChangeShapeType="1"/>
              </p:cNvSpPr>
              <p:nvPr/>
            </p:nvSpPr>
            <p:spPr bwMode="auto">
              <a:xfrm flipV="1">
                <a:off x="3787" y="1706"/>
                <a:ext cx="817" cy="726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3000" b="1" smtClean="0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4" name="组合 4"/>
          <p:cNvGrpSpPr/>
          <p:nvPr/>
        </p:nvGrpSpPr>
        <p:grpSpPr bwMode="auto">
          <a:xfrm>
            <a:off x="990600" y="304800"/>
            <a:ext cx="5715000" cy="1617663"/>
            <a:chOff x="990600" y="304800"/>
            <a:chExt cx="5715000" cy="1617663"/>
          </a:xfrm>
        </p:grpSpPr>
        <p:sp>
          <p:nvSpPr>
            <p:cNvPr id="46084" name="Text Box 5"/>
            <p:cNvSpPr txBox="1">
              <a:spLocks noChangeArrowheads="1"/>
            </p:cNvSpPr>
            <p:nvPr/>
          </p:nvSpPr>
          <p:spPr bwMode="auto">
            <a:xfrm>
              <a:off x="990600" y="304800"/>
              <a:ext cx="5473700" cy="43021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>
              <a:outerShdw sy="50000" kx="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fontAlgn="base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影响反应速率的其他因素</a:t>
              </a:r>
            </a:p>
          </p:txBody>
        </p:sp>
        <p:sp>
          <p:nvSpPr>
            <p:cNvPr id="59397" name="Rectangle 6"/>
            <p:cNvSpPr>
              <a:spLocks noChangeArrowheads="1"/>
            </p:cNvSpPr>
            <p:nvPr/>
          </p:nvSpPr>
          <p:spPr bwMode="auto">
            <a:xfrm>
              <a:off x="2133600" y="838200"/>
              <a:ext cx="4572000" cy="10842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光、高能射线、超声波、</a:t>
              </a: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smtClean="0">
                  <a:solidFill>
                    <a:srgbClr val="000000"/>
                  </a:solidFill>
                  <a:latin typeface="楷体_GB2312" pitchFamily="49" charset="-122"/>
                </a:rPr>
                <a:t>电场、磁场等。</a:t>
              </a:r>
            </a:p>
          </p:txBody>
        </p:sp>
      </p:grpSp>
      <p:sp>
        <p:nvSpPr>
          <p:cNvPr id="59395" name="Rectangle 7"/>
          <p:cNvSpPr>
            <a:spLocks noChangeArrowheads="1"/>
          </p:cNvSpPr>
          <p:nvPr/>
        </p:nvSpPr>
        <p:spPr bwMode="auto">
          <a:xfrm>
            <a:off x="533400" y="3048000"/>
            <a:ext cx="7696200" cy="1508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smtClean="0">
                <a:solidFill>
                  <a:srgbClr val="0000FF"/>
                </a:solidFill>
                <a:latin typeface="Times New Roman" panose="02020603050405020304" pitchFamily="18" charset="0"/>
              </a:rPr>
              <a:t>本章习题</a:t>
            </a:r>
            <a:r>
              <a:rPr kumimoji="1" lang="en-US" altLang="zh-CN" sz="3200" b="1" smtClean="0">
                <a:solidFill>
                  <a:srgbClr val="0000FF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3200" b="1" baseline="-25000" smtClean="0">
                <a:solidFill>
                  <a:srgbClr val="0000FF"/>
                </a:solidFill>
                <a:latin typeface="Times New Roman" panose="02020603050405020304" pitchFamily="18" charset="0"/>
              </a:rPr>
              <a:t>62-64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9</a:t>
            </a:r>
            <a:r>
              <a:rPr kumimoji="1" lang="zh-CN" altLang="en-US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10</a:t>
            </a:r>
            <a:r>
              <a:rPr kumimoji="1" lang="en-US" altLang="zh-CN" sz="3200" b="1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3200" b="1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可以不作图</a:t>
            </a:r>
            <a:r>
              <a:rPr kumimoji="1" lang="zh-CN" altLang="en-US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4000" b="1" i="1" smtClean="0">
                <a:solidFill>
                  <a:srgbClr val="990000"/>
                </a:solidFill>
                <a:latin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c7477e1-a898-498a-9c3f-d2a355de1178"/>
  <p:tag name="COMMONDATA" val="eyJoZGlkIjoiNGQ3Y2FkMzBhOWQzYzNlMDlhNTg0YjExZjlmYTdlOT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sy="50000" kx="2453608" rotWithShape="0">
            <a:srgbClr val="808080">
              <a:alpha val="50000"/>
            </a:srgbClr>
          </a:outerShdw>
        </a:effectLst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000" b="1" i="0" u="none" strike="noStrike" cap="none" normalizeH="0" baseline="0" smtClean="0">
            <a:ln>
              <a:noFill/>
            </a:ln>
            <a:solidFill>
              <a:srgbClr val="9900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sy="50000" kx="2453608" rotWithShape="0">
            <a:srgbClr val="808080">
              <a:alpha val="50000"/>
            </a:srgbClr>
          </a:outerShdw>
        </a:effectLst>
      </a:spPr>
      <a:bodyPr vert="horz" wrap="square" lIns="92075" tIns="46038" rIns="92075" bIns="46038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000" b="1" i="0" u="none" strike="noStrike" cap="none" normalizeH="0" baseline="0" smtClean="0">
            <a:ln>
              <a:noFill/>
            </a:ln>
            <a:solidFill>
              <a:srgbClr val="9900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2757</Words>
  <Application>WPS 演示</Application>
  <PresentationFormat>全屏显示(4:3)</PresentationFormat>
  <Paragraphs>204</Paragraphs>
  <Slides>46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50" baseType="lpstr">
      <vt:lpstr>Office 主题</vt:lpstr>
      <vt:lpstr>1_默认设计模板</vt:lpstr>
      <vt:lpstr>CS ChemDraw Drawing</vt:lpstr>
      <vt:lpstr>位图图像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Windows User</cp:lastModifiedBy>
  <cp:revision>17</cp:revision>
  <dcterms:created xsi:type="dcterms:W3CDTF">2020-09-28T03:02:00Z</dcterms:created>
  <dcterms:modified xsi:type="dcterms:W3CDTF">2023-10-09T09:18:25Z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5D01C5AA358147DEA5F0455A2A3B2549</vt:lpwstr>
  </property>
  <property fmtid="{D5CDD505-2E9C-101B-9397-08002B2CF9AE}" pid="3" name="KSOProductBuildVer">
    <vt:lpwstr>2052-11.1.0.14036</vt:lpwstr>
  </property>
</Properties>
</file>