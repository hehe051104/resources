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2"/>
  </p:notesMasterIdLst>
  <p:handoutMasterIdLst>
    <p:handoutMasterId r:id="rId93"/>
  </p:handoutMasterIdLst>
  <p:sldIdLst>
    <p:sldId id="258" r:id="rId2"/>
    <p:sldId id="261" r:id="rId3"/>
    <p:sldId id="262" r:id="rId4"/>
    <p:sldId id="358" r:id="rId5"/>
    <p:sldId id="259" r:id="rId6"/>
    <p:sldId id="260" r:id="rId7"/>
    <p:sldId id="359" r:id="rId8"/>
    <p:sldId id="401" r:id="rId9"/>
    <p:sldId id="265" r:id="rId10"/>
    <p:sldId id="256" r:id="rId11"/>
    <p:sldId id="257" r:id="rId12"/>
    <p:sldId id="342" r:id="rId13"/>
    <p:sldId id="269" r:id="rId14"/>
    <p:sldId id="360" r:id="rId15"/>
    <p:sldId id="270" r:id="rId16"/>
    <p:sldId id="271" r:id="rId17"/>
    <p:sldId id="343" r:id="rId18"/>
    <p:sldId id="357" r:id="rId19"/>
    <p:sldId id="397" r:id="rId20"/>
    <p:sldId id="398" r:id="rId21"/>
    <p:sldId id="399" r:id="rId22"/>
    <p:sldId id="273" r:id="rId23"/>
    <p:sldId id="344" r:id="rId24"/>
    <p:sldId id="277" r:id="rId25"/>
    <p:sldId id="345" r:id="rId26"/>
    <p:sldId id="278" r:id="rId27"/>
    <p:sldId id="346" r:id="rId28"/>
    <p:sldId id="276" r:id="rId29"/>
    <p:sldId id="279" r:id="rId30"/>
    <p:sldId id="280" r:id="rId31"/>
    <p:sldId id="274" r:id="rId32"/>
    <p:sldId id="355" r:id="rId33"/>
    <p:sldId id="296" r:id="rId34"/>
    <p:sldId id="480" r:id="rId35"/>
    <p:sldId id="281" r:id="rId36"/>
    <p:sldId id="286" r:id="rId37"/>
    <p:sldId id="362" r:id="rId38"/>
    <p:sldId id="287" r:id="rId39"/>
    <p:sldId id="288" r:id="rId40"/>
    <p:sldId id="289" r:id="rId41"/>
    <p:sldId id="299" r:id="rId42"/>
    <p:sldId id="300" r:id="rId43"/>
    <p:sldId id="301" r:id="rId44"/>
    <p:sldId id="290" r:id="rId45"/>
    <p:sldId id="291" r:id="rId46"/>
    <p:sldId id="292" r:id="rId47"/>
    <p:sldId id="403" r:id="rId48"/>
    <p:sldId id="325" r:id="rId49"/>
    <p:sldId id="363" r:id="rId50"/>
    <p:sldId id="364" r:id="rId51"/>
    <p:sldId id="365" r:id="rId52"/>
    <p:sldId id="366" r:id="rId53"/>
    <p:sldId id="367" r:id="rId54"/>
    <p:sldId id="368" r:id="rId55"/>
    <p:sldId id="369" r:id="rId56"/>
    <p:sldId id="370" r:id="rId57"/>
    <p:sldId id="371" r:id="rId58"/>
    <p:sldId id="402" r:id="rId59"/>
    <p:sldId id="372" r:id="rId60"/>
    <p:sldId id="373" r:id="rId61"/>
    <p:sldId id="374" r:id="rId62"/>
    <p:sldId id="375" r:id="rId63"/>
    <p:sldId id="376" r:id="rId64"/>
    <p:sldId id="377" r:id="rId65"/>
    <p:sldId id="378" r:id="rId66"/>
    <p:sldId id="400" r:id="rId67"/>
    <p:sldId id="379" r:id="rId68"/>
    <p:sldId id="380" r:id="rId69"/>
    <p:sldId id="381" r:id="rId70"/>
    <p:sldId id="382" r:id="rId71"/>
    <p:sldId id="337" r:id="rId72"/>
    <p:sldId id="338" r:id="rId73"/>
    <p:sldId id="388" r:id="rId74"/>
    <p:sldId id="534" r:id="rId75"/>
    <p:sldId id="390" r:id="rId76"/>
    <p:sldId id="391" r:id="rId77"/>
    <p:sldId id="392" r:id="rId78"/>
    <p:sldId id="393" r:id="rId79"/>
    <p:sldId id="394" r:id="rId80"/>
    <p:sldId id="395" r:id="rId81"/>
    <p:sldId id="404" r:id="rId82"/>
    <p:sldId id="535" r:id="rId83"/>
    <p:sldId id="536" r:id="rId84"/>
    <p:sldId id="383" r:id="rId85"/>
    <p:sldId id="384" r:id="rId86"/>
    <p:sldId id="385" r:id="rId87"/>
    <p:sldId id="386" r:id="rId88"/>
    <p:sldId id="387" r:id="rId89"/>
    <p:sldId id="405" r:id="rId90"/>
    <p:sldId id="341" r:id="rId91"/>
  </p:sldIdLst>
  <p:sldSz cx="9144000" cy="6858000" type="screen4x3"/>
  <p:notesSz cx="6858000" cy="9144000"/>
  <p:custDataLst>
    <p:tags r:id="rId94"/>
  </p:custDataLst>
  <p:defaultTextStyle>
    <a:defPPr>
      <a:defRPr lang="zh-CN"/>
    </a:defPPr>
    <a:lvl1pPr marL="0" lvl="0"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1pPr>
    <a:lvl2pPr marL="457200" lvl="1"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2pPr>
    <a:lvl3pPr marL="914400" lvl="2"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3pPr>
    <a:lvl4pPr marL="1371600" lvl="3"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4pPr>
    <a:lvl5pPr marL="1828800" lvl="4"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5pPr>
    <a:lvl6pPr marL="2286000" lvl="5"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6pPr>
    <a:lvl7pPr marL="2743200" lvl="6"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7pPr>
    <a:lvl8pPr marL="3200400" lvl="7"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8pPr>
    <a:lvl9pPr marL="3657600" lvl="8"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FF9900"/>
    <a:srgbClr val="FF99FF"/>
    <a:srgbClr val="CC3300"/>
    <a:srgbClr val="339933"/>
    <a:srgbClr val="00FF99"/>
    <a:srgbClr val="0066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100"/>
    <p:restoredTop sz="94660"/>
  </p:normalViewPr>
  <p:slideViewPr>
    <p:cSldViewPr showGuides="1">
      <p:cViewPr varScale="1">
        <p:scale>
          <a:sx n="123" d="100"/>
          <a:sy n="123" d="100"/>
        </p:scale>
        <p:origin x="-1680" y="-38"/>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handoutMaster" Target="handoutMasters/handoutMaster1.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4"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5" Type="http://schemas.openxmlformats.org/officeDocument/2006/relationships/image" Target="../media/image78.wmf"/><Relationship Id="rId4" Type="http://schemas.openxmlformats.org/officeDocument/2006/relationships/image" Target="../media/image7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i="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69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i="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i="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buNone/>
              </a:pPr>
              <a:t>‹#›</a:t>
            </a:fld>
            <a:endParaRPr lang="en-US" altLang="zh-CN" sz="1200" b="0" i="0" dirty="0">
              <a:solidFill>
                <a:schemeClr val="tx1"/>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i="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i="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0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i="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buNone/>
              </a:pPr>
              <a:t>‹#›</a:t>
            </a:fld>
            <a:endParaRPr lang="en-US" altLang="zh-CN" sz="1200" b="0" i="0" dirty="0">
              <a:solidFill>
                <a:schemeClr val="tx1"/>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3427" name="Rectangle 2"/>
          <p:cNvSpPr>
            <a:spLocks noGrp="1" noRot="1" noChangeAspect="1" noTextEdit="1"/>
          </p:cNvSpPr>
          <p:nvPr>
            <p:ph type="sldImg"/>
          </p:nvPr>
        </p:nvSpPr>
        <p:spPr/>
      </p:sp>
      <p:sp>
        <p:nvSpPr>
          <p:cNvPr id="10342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4451" name="Rectangle 2"/>
          <p:cNvSpPr>
            <a:spLocks noGrp="1" noRot="1" noChangeAspect="1" noTextEdit="1"/>
          </p:cNvSpPr>
          <p:nvPr>
            <p:ph type="sldImg"/>
          </p:nvPr>
        </p:nvSpPr>
        <p:spPr/>
      </p:sp>
      <p:sp>
        <p:nvSpPr>
          <p:cNvPr id="10445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noRot="1" noChangeAspect="1" noTextEdit="1"/>
          </p:cNvSpPr>
          <p:nvPr>
            <p:ph type="sldImg"/>
          </p:nvPr>
        </p:nvSpPr>
        <p:spPr/>
      </p:sp>
      <p:sp>
        <p:nvSpPr>
          <p:cNvPr id="10650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8547" name="Rectangle 2"/>
          <p:cNvSpPr>
            <a:spLocks noGrp="1" noRot="1" noChangeAspect="1" noTextEdit="1"/>
          </p:cNvSpPr>
          <p:nvPr>
            <p:ph type="sldImg"/>
          </p:nvPr>
        </p:nvSpPr>
        <p:spPr/>
      </p:sp>
      <p:sp>
        <p:nvSpPr>
          <p:cNvPr id="10854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10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9571" name="Rectangle 2"/>
          <p:cNvSpPr>
            <a:spLocks noGrp="1" noRot="1" noChangeAspect="1" noTextEdit="1"/>
          </p:cNvSpPr>
          <p:nvPr>
            <p:ph type="sldImg"/>
          </p:nvPr>
        </p:nvSpPr>
        <p:spPr/>
      </p:sp>
      <p:sp>
        <p:nvSpPr>
          <p:cNvPr id="1095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11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0595" name="Rectangle 2"/>
          <p:cNvSpPr>
            <a:spLocks noGrp="1" noRot="1" noChangeAspect="1" noTextEdit="1"/>
          </p:cNvSpPr>
          <p:nvPr>
            <p:ph type="sldImg"/>
          </p:nvPr>
        </p:nvSpPr>
        <p:spPr/>
      </p:sp>
      <p:sp>
        <p:nvSpPr>
          <p:cNvPr id="11059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13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1619" name="Rectangle 2"/>
          <p:cNvSpPr>
            <a:spLocks noGrp="1" noRot="1" noChangeAspect="1" noTextEdit="1"/>
          </p:cNvSpPr>
          <p:nvPr>
            <p:ph type="sldImg"/>
          </p:nvPr>
        </p:nvSpPr>
        <p:spPr/>
      </p:sp>
      <p:sp>
        <p:nvSpPr>
          <p:cNvPr id="11162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15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16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3667" name="Rectangle 2"/>
          <p:cNvSpPr>
            <a:spLocks noGrp="1" noRot="1" noChangeAspect="1" noTextEdit="1"/>
          </p:cNvSpPr>
          <p:nvPr>
            <p:ph type="sldImg"/>
          </p:nvPr>
        </p:nvSpPr>
        <p:spPr/>
      </p:sp>
      <p:sp>
        <p:nvSpPr>
          <p:cNvPr id="11366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22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4691" name="Rectangle 2"/>
          <p:cNvSpPr>
            <a:spLocks noGrp="1" noRot="1" noChangeAspect="1" noTextEdit="1"/>
          </p:cNvSpPr>
          <p:nvPr>
            <p:ph type="sldImg"/>
          </p:nvPr>
        </p:nvSpPr>
        <p:spPr/>
      </p:sp>
      <p:sp>
        <p:nvSpPr>
          <p:cNvPr id="11469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24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5715" name="Rectangle 2"/>
          <p:cNvSpPr>
            <a:spLocks noGrp="1" noRot="1" noChangeAspect="1" noTextEdit="1"/>
          </p:cNvSpPr>
          <p:nvPr>
            <p:ph type="sldImg"/>
          </p:nvPr>
        </p:nvSpPr>
        <p:spPr/>
      </p:sp>
      <p:sp>
        <p:nvSpPr>
          <p:cNvPr id="11571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26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6739" name="Rectangle 2"/>
          <p:cNvSpPr>
            <a:spLocks noGrp="1" noRot="1" noChangeAspect="1" noTextEdit="1"/>
          </p:cNvSpPr>
          <p:nvPr>
            <p:ph type="sldImg"/>
          </p:nvPr>
        </p:nvSpPr>
        <p:spPr/>
      </p:sp>
      <p:sp>
        <p:nvSpPr>
          <p:cNvPr id="11674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28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7763" name="Rectangle 2"/>
          <p:cNvSpPr>
            <a:spLocks noGrp="1" noRot="1" noChangeAspect="1" noTextEdit="1"/>
          </p:cNvSpPr>
          <p:nvPr>
            <p:ph type="sldImg"/>
          </p:nvPr>
        </p:nvSpPr>
        <p:spPr/>
      </p:sp>
      <p:sp>
        <p:nvSpPr>
          <p:cNvPr id="11776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29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8787" name="Rectangle 2"/>
          <p:cNvSpPr>
            <a:spLocks noGrp="1" noRot="1" noChangeAspect="1" noTextEdit="1"/>
          </p:cNvSpPr>
          <p:nvPr>
            <p:ph type="sldImg"/>
          </p:nvPr>
        </p:nvSpPr>
        <p:spPr/>
      </p:sp>
      <p:sp>
        <p:nvSpPr>
          <p:cNvPr id="11878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0835" name="Rectangle 2"/>
          <p:cNvSpPr>
            <a:spLocks noGrp="1" noRot="1" noChangeAspect="1" noTextEdit="1"/>
          </p:cNvSpPr>
          <p:nvPr>
            <p:ph type="sldImg"/>
          </p:nvPr>
        </p:nvSpPr>
        <p:spPr/>
      </p:sp>
      <p:sp>
        <p:nvSpPr>
          <p:cNvPr id="12083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1859" name="Rectangle 2"/>
          <p:cNvSpPr>
            <a:spLocks noGrp="1" noRot="1" noChangeAspect="1" noTextEdit="1"/>
          </p:cNvSpPr>
          <p:nvPr>
            <p:ph type="sldImg"/>
          </p:nvPr>
        </p:nvSpPr>
        <p:spPr/>
      </p:sp>
      <p:sp>
        <p:nvSpPr>
          <p:cNvPr id="12186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2883" name="Rectangle 2"/>
          <p:cNvSpPr>
            <a:spLocks noGrp="1" noRot="1" noChangeAspect="1" noTextEdit="1"/>
          </p:cNvSpPr>
          <p:nvPr>
            <p:ph type="sldImg"/>
          </p:nvPr>
        </p:nvSpPr>
        <p:spPr/>
      </p:sp>
      <p:sp>
        <p:nvSpPr>
          <p:cNvPr id="12288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3907" name="Rectangle 2"/>
          <p:cNvSpPr>
            <a:spLocks noGrp="1" noRot="1" noChangeAspect="1" noTextEdit="1"/>
          </p:cNvSpPr>
          <p:nvPr>
            <p:ph type="sldImg"/>
          </p:nvPr>
        </p:nvSpPr>
        <p:spPr/>
      </p:sp>
      <p:sp>
        <p:nvSpPr>
          <p:cNvPr id="12390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4931" name="Rectangle 2"/>
          <p:cNvSpPr>
            <a:spLocks noGrp="1" noRot="1" noChangeAspect="1" noTextEdit="1"/>
          </p:cNvSpPr>
          <p:nvPr>
            <p:ph type="sldImg"/>
          </p:nvPr>
        </p:nvSpPr>
        <p:spPr/>
      </p:sp>
      <p:sp>
        <p:nvSpPr>
          <p:cNvPr id="12493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39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5955" name="Rectangle 2"/>
          <p:cNvSpPr>
            <a:spLocks noGrp="1" noRot="1" noChangeAspect="1" noTextEdit="1"/>
          </p:cNvSpPr>
          <p:nvPr>
            <p:ph type="sldImg"/>
          </p:nvPr>
        </p:nvSpPr>
        <p:spPr/>
      </p:sp>
      <p:sp>
        <p:nvSpPr>
          <p:cNvPr id="12595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6979" name="Rectangle 2"/>
          <p:cNvSpPr>
            <a:spLocks noGrp="1" noRot="1" noChangeAspect="1" noTextEdit="1"/>
          </p:cNvSpPr>
          <p:nvPr>
            <p:ph type="sldImg"/>
          </p:nvPr>
        </p:nvSpPr>
        <p:spPr/>
      </p:sp>
      <p:sp>
        <p:nvSpPr>
          <p:cNvPr id="12698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8003" name="Rectangle 2"/>
          <p:cNvSpPr>
            <a:spLocks noGrp="1" noRot="1" noChangeAspect="1" noTextEdit="1"/>
          </p:cNvSpPr>
          <p:nvPr>
            <p:ph type="sldImg"/>
          </p:nvPr>
        </p:nvSpPr>
        <p:spPr/>
      </p:sp>
      <p:sp>
        <p:nvSpPr>
          <p:cNvPr id="12800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9027" name="Rectangle 2"/>
          <p:cNvSpPr>
            <a:spLocks noGrp="1" noRot="1" noChangeAspect="1" noTextEdit="1"/>
          </p:cNvSpPr>
          <p:nvPr>
            <p:ph type="sldImg"/>
          </p:nvPr>
        </p:nvSpPr>
        <p:spPr/>
      </p:sp>
      <p:sp>
        <p:nvSpPr>
          <p:cNvPr id="12902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0051" name="Rectangle 2"/>
          <p:cNvSpPr>
            <a:spLocks noGrp="1" noRot="1" noChangeAspect="1" noTextEdit="1"/>
          </p:cNvSpPr>
          <p:nvPr>
            <p:ph type="sldImg"/>
          </p:nvPr>
        </p:nvSpPr>
        <p:spPr/>
      </p:sp>
      <p:sp>
        <p:nvSpPr>
          <p:cNvPr id="13005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1075" name="Rectangle 2"/>
          <p:cNvSpPr>
            <a:spLocks noGrp="1" noRot="1" noChangeAspect="1" noTextEdit="1"/>
          </p:cNvSpPr>
          <p:nvPr>
            <p:ph type="sldImg"/>
          </p:nvPr>
        </p:nvSpPr>
        <p:spPr/>
      </p:sp>
      <p:sp>
        <p:nvSpPr>
          <p:cNvPr id="13107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2099" name="Rectangle 2"/>
          <p:cNvSpPr>
            <a:spLocks noGrp="1" noRot="1" noChangeAspect="1" noTextEdit="1"/>
          </p:cNvSpPr>
          <p:nvPr>
            <p:ph type="sldImg"/>
          </p:nvPr>
        </p:nvSpPr>
        <p:spPr/>
      </p:sp>
      <p:sp>
        <p:nvSpPr>
          <p:cNvPr id="13210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3123" name="Rectangle 2"/>
          <p:cNvSpPr>
            <a:spLocks noGrp="1" noRot="1" noChangeAspect="1" noTextEdit="1"/>
          </p:cNvSpPr>
          <p:nvPr>
            <p:ph type="sldImg"/>
          </p:nvPr>
        </p:nvSpPr>
        <p:spPr/>
      </p:sp>
      <p:sp>
        <p:nvSpPr>
          <p:cNvPr id="13312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48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4147" name="Rectangle 2"/>
          <p:cNvSpPr>
            <a:spLocks noGrp="1" noRot="1" noChangeAspect="1" noTextEdit="1"/>
          </p:cNvSpPr>
          <p:nvPr>
            <p:ph type="sldImg"/>
          </p:nvPr>
        </p:nvSpPr>
        <p:spPr/>
      </p:sp>
      <p:sp>
        <p:nvSpPr>
          <p:cNvPr id="13414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50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5171" name="Rectangle 2"/>
          <p:cNvSpPr>
            <a:spLocks noGrp="1" noRot="1" noChangeAspect="1" noTextEdit="1"/>
          </p:cNvSpPr>
          <p:nvPr>
            <p:ph type="sldImg"/>
          </p:nvPr>
        </p:nvSpPr>
        <p:spPr/>
      </p:sp>
      <p:sp>
        <p:nvSpPr>
          <p:cNvPr id="135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51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6195" name="Rectangle 2"/>
          <p:cNvSpPr>
            <a:spLocks noGrp="1" noRot="1" noChangeAspect="1" noTextEdit="1"/>
          </p:cNvSpPr>
          <p:nvPr>
            <p:ph type="sldImg"/>
          </p:nvPr>
        </p:nvSpPr>
        <p:spPr/>
      </p:sp>
      <p:sp>
        <p:nvSpPr>
          <p:cNvPr id="13619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52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noRot="1" noChangeAspect="1" noTextEdit="1"/>
          </p:cNvSpPr>
          <p:nvPr>
            <p:ph type="sldImg"/>
          </p:nvPr>
        </p:nvSpPr>
        <p:spPr/>
      </p:sp>
      <p:sp>
        <p:nvSpPr>
          <p:cNvPr id="13722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55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8243" name="Rectangle 2"/>
          <p:cNvSpPr>
            <a:spLocks noGrp="1" noRot="1" noChangeAspect="1" noTextEdit="1"/>
          </p:cNvSpPr>
          <p:nvPr>
            <p:ph type="sldImg"/>
          </p:nvPr>
        </p:nvSpPr>
        <p:spPr/>
      </p:sp>
      <p:sp>
        <p:nvSpPr>
          <p:cNvPr id="13824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57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9267" name="Rectangle 2"/>
          <p:cNvSpPr>
            <a:spLocks noGrp="1" noRot="1" noChangeAspect="1" noTextEdit="1"/>
          </p:cNvSpPr>
          <p:nvPr>
            <p:ph type="sldImg"/>
          </p:nvPr>
        </p:nvSpPr>
        <p:spPr/>
      </p:sp>
      <p:sp>
        <p:nvSpPr>
          <p:cNvPr id="13926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0291" name="Rectangle 2"/>
          <p:cNvSpPr>
            <a:spLocks noGrp="1" noRot="1" noChangeAspect="1" noTextEdit="1"/>
          </p:cNvSpPr>
          <p:nvPr>
            <p:ph type="sldImg"/>
          </p:nvPr>
        </p:nvSpPr>
        <p:spPr/>
      </p:sp>
      <p:sp>
        <p:nvSpPr>
          <p:cNvPr id="14029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1315" name="Rectangle 2"/>
          <p:cNvSpPr>
            <a:spLocks noGrp="1" noRot="1" noChangeAspect="1" noTextEdit="1"/>
          </p:cNvSpPr>
          <p:nvPr>
            <p:ph type="sldImg"/>
          </p:nvPr>
        </p:nvSpPr>
        <p:spPr/>
      </p:sp>
      <p:sp>
        <p:nvSpPr>
          <p:cNvPr id="14131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2339" name="Rectangle 2"/>
          <p:cNvSpPr>
            <a:spLocks noGrp="1" noRot="1" noChangeAspect="1" noTextEdit="1"/>
          </p:cNvSpPr>
          <p:nvPr>
            <p:ph type="sldImg"/>
          </p:nvPr>
        </p:nvSpPr>
        <p:spPr/>
      </p:sp>
      <p:sp>
        <p:nvSpPr>
          <p:cNvPr id="14234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3363" name="Rectangle 2"/>
          <p:cNvSpPr>
            <a:spLocks noGrp="1" noRot="1" noChangeAspect="1" noTextEdit="1"/>
          </p:cNvSpPr>
          <p:nvPr>
            <p:ph type="sldImg"/>
          </p:nvPr>
        </p:nvSpPr>
        <p:spPr/>
      </p:sp>
      <p:sp>
        <p:nvSpPr>
          <p:cNvPr id="14336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4387" name="Rectangle 2"/>
          <p:cNvSpPr>
            <a:spLocks noGrp="1" noRot="1" noChangeAspect="1" noTextEdit="1"/>
          </p:cNvSpPr>
          <p:nvPr>
            <p:ph type="sldImg"/>
          </p:nvPr>
        </p:nvSpPr>
        <p:spPr/>
      </p:sp>
      <p:sp>
        <p:nvSpPr>
          <p:cNvPr id="14438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5411" name="Rectangle 2"/>
          <p:cNvSpPr>
            <a:spLocks noGrp="1" noRot="1" noChangeAspect="1" noTextEdit="1"/>
          </p:cNvSpPr>
          <p:nvPr>
            <p:ph type="sldImg"/>
          </p:nvPr>
        </p:nvSpPr>
        <p:spPr/>
      </p:sp>
      <p:sp>
        <p:nvSpPr>
          <p:cNvPr id="14541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69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6435" name="Rectangle 2"/>
          <p:cNvSpPr>
            <a:spLocks noGrp="1" noRot="1" noChangeAspect="1" noTextEdit="1"/>
          </p:cNvSpPr>
          <p:nvPr>
            <p:ph type="sldImg"/>
          </p:nvPr>
        </p:nvSpPr>
        <p:spPr/>
      </p:sp>
      <p:sp>
        <p:nvSpPr>
          <p:cNvPr id="14643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70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7459" name="Rectangle 2"/>
          <p:cNvSpPr>
            <a:spLocks noGrp="1" noRot="1" noChangeAspect="1" noTextEdit="1"/>
          </p:cNvSpPr>
          <p:nvPr>
            <p:ph type="sldImg"/>
          </p:nvPr>
        </p:nvSpPr>
        <p:spPr/>
      </p:sp>
      <p:sp>
        <p:nvSpPr>
          <p:cNvPr id="14746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71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8483" name="Rectangle 2"/>
          <p:cNvSpPr>
            <a:spLocks noGrp="1" noRot="1" noChangeAspect="1" noTextEdit="1"/>
          </p:cNvSpPr>
          <p:nvPr>
            <p:ph type="sldImg"/>
          </p:nvPr>
        </p:nvSpPr>
        <p:spPr/>
      </p:sp>
      <p:sp>
        <p:nvSpPr>
          <p:cNvPr id="14848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72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9507" name="Rectangle 2"/>
          <p:cNvSpPr>
            <a:spLocks noGrp="1" noRot="1" noChangeAspect="1" noTextEdit="1"/>
          </p:cNvSpPr>
          <p:nvPr>
            <p:ph type="sldImg"/>
          </p:nvPr>
        </p:nvSpPr>
        <p:spPr/>
      </p:sp>
      <p:sp>
        <p:nvSpPr>
          <p:cNvPr id="14950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76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0531" name="Rectangle 2"/>
          <p:cNvSpPr>
            <a:spLocks noGrp="1" noRot="1" noChangeAspect="1" noTextEdit="1"/>
          </p:cNvSpPr>
          <p:nvPr>
            <p:ph type="sldImg"/>
          </p:nvPr>
        </p:nvSpPr>
        <p:spPr/>
      </p:sp>
      <p:sp>
        <p:nvSpPr>
          <p:cNvPr id="15053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77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1555" name="Rectangle 2"/>
          <p:cNvSpPr>
            <a:spLocks noGrp="1" noRot="1" noChangeAspect="1" noTextEdit="1"/>
          </p:cNvSpPr>
          <p:nvPr>
            <p:ph type="sldImg"/>
          </p:nvPr>
        </p:nvSpPr>
        <p:spPr/>
      </p:sp>
      <p:sp>
        <p:nvSpPr>
          <p:cNvPr id="15155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79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2579" name="Rectangle 2"/>
          <p:cNvSpPr>
            <a:spLocks noGrp="1" noRot="1" noChangeAspect="1" noTextEdit="1"/>
          </p:cNvSpPr>
          <p:nvPr>
            <p:ph type="sldImg"/>
          </p:nvPr>
        </p:nvSpPr>
        <p:spPr/>
      </p:sp>
      <p:sp>
        <p:nvSpPr>
          <p:cNvPr id="15258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80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3603" name="Rectangle 2"/>
          <p:cNvSpPr>
            <a:spLocks noGrp="1" noRot="1" noChangeAspect="1" noTextEdit="1"/>
          </p:cNvSpPr>
          <p:nvPr>
            <p:ph type="sldImg"/>
          </p:nvPr>
        </p:nvSpPr>
        <p:spPr/>
      </p:sp>
      <p:sp>
        <p:nvSpPr>
          <p:cNvPr id="15360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headEnd/>
            <a:tailEnd/>
          </a:ln>
        </p:spPr>
        <p:txBody>
          <a:bodyPr/>
          <a:lstStyle/>
          <a:p>
            <a:fld id="{10005585-C8E9-43B1-BDFF-4D180E6B8D29}" type="slidenum">
              <a:rPr lang="en-US" altLang="zh-CN" smtClean="0"/>
              <a:pPr/>
              <a:t>82</a:t>
            </a:fld>
            <a:endParaRPr lang="en-US" altLang="zh-CN" smtClean="0"/>
          </a:p>
        </p:txBody>
      </p:sp>
      <p:sp>
        <p:nvSpPr>
          <p:cNvPr id="171011" name="Rectangle 2"/>
          <p:cNvSpPr>
            <a:spLocks noGrp="1" noRot="1" noChangeAspect="1" noChangeArrowheads="1" noTextEdit="1"/>
          </p:cNvSpPr>
          <p:nvPr>
            <p:ph type="sldImg" idx="4294967295"/>
          </p:nvPr>
        </p:nvSpPr>
        <p:spPr>
          <a:ln/>
        </p:spPr>
      </p:sp>
      <p:sp>
        <p:nvSpPr>
          <p:cNvPr id="171012"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headEnd/>
            <a:tailEnd/>
          </a:ln>
        </p:spPr>
        <p:txBody>
          <a:bodyPr/>
          <a:lstStyle/>
          <a:p>
            <a:fld id="{86641F93-401B-48CC-9E8E-48E586D98E3D}" type="slidenum">
              <a:rPr lang="en-US" altLang="zh-CN" smtClean="0"/>
              <a:pPr/>
              <a:t>83</a:t>
            </a:fld>
            <a:endParaRPr lang="en-US" altLang="zh-CN" smtClean="0"/>
          </a:p>
        </p:txBody>
      </p:sp>
      <p:sp>
        <p:nvSpPr>
          <p:cNvPr id="172035" name="Rectangle 2"/>
          <p:cNvSpPr>
            <a:spLocks noGrp="1" noRot="1" noChangeAspect="1" noChangeArrowheads="1" noTextEdit="1"/>
          </p:cNvSpPr>
          <p:nvPr>
            <p:ph type="sldImg" idx="4294967295"/>
          </p:nvPr>
        </p:nvSpPr>
        <p:spPr>
          <a:ln/>
        </p:spPr>
      </p:sp>
      <p:sp>
        <p:nvSpPr>
          <p:cNvPr id="172036" name="Rectangle 3"/>
          <p:cNvSpPr>
            <a:spLocks noGrp="1" noChangeArrowheads="1"/>
          </p:cNvSpPr>
          <p:nvPr>
            <p:ph type="body" idx="4294967295"/>
          </p:nvPr>
        </p:nvSpPr>
        <p:spPr/>
        <p:txBody>
          <a:bodyPr>
            <a:prstTxWarp prst="textNoShape">
              <a:avLst/>
            </a:prstTxWarp>
          </a:bodyPr>
          <a:lstStyle/>
          <a:p>
            <a:pPr eaLnBrk="1" hangingPunct="1"/>
            <a:endParaRPr lang="zh-CN" altLang="zh-CN"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TextEdit="1"/>
          </p:cNvSpPr>
          <p:nvPr>
            <p:ph type="sldImg"/>
          </p:nvPr>
        </p:nvSpPr>
        <p:spPr/>
      </p:sp>
      <p:sp>
        <p:nvSpPr>
          <p:cNvPr id="154627" name="Rectangle 3"/>
          <p:cNvSpPr>
            <a:spLocks noGrp="1"/>
          </p:cNvSpPr>
          <p:nvPr>
            <p:ph type="body" idx="1"/>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TextEdit="1"/>
          </p:cNvSpPr>
          <p:nvPr>
            <p:ph type="sldImg"/>
          </p:nvPr>
        </p:nvSpPr>
        <p:spPr/>
      </p:sp>
      <p:sp>
        <p:nvSpPr>
          <p:cNvPr id="155651" name="Rectangle 3"/>
          <p:cNvSpPr>
            <a:spLocks noGrp="1"/>
          </p:cNvSpPr>
          <p:nvPr>
            <p:ph type="body" idx="1"/>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87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6675" name="Rectangle 2"/>
          <p:cNvSpPr>
            <a:spLocks noGrp="1" noRot="1" noChangeAspect="1" noTextEdit="1"/>
          </p:cNvSpPr>
          <p:nvPr>
            <p:ph type="sldImg"/>
          </p:nvPr>
        </p:nvSpPr>
        <p:spPr/>
      </p:sp>
      <p:sp>
        <p:nvSpPr>
          <p:cNvPr id="15667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t>90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7699" name="Rectangle 2"/>
          <p:cNvSpPr>
            <a:spLocks noGrp="1" noRot="1" noChangeAspect="1" noTextEdit="1"/>
          </p:cNvSpPr>
          <p:nvPr>
            <p:ph type="sldImg"/>
          </p:nvPr>
        </p:nvSpPr>
        <p:spPr/>
      </p:sp>
      <p:sp>
        <p:nvSpPr>
          <p:cNvPr id="15770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03225"/>
            <a:ext cx="2057400" cy="5722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03225"/>
            <a:ext cx="6019800" cy="572293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457200" y="403225"/>
            <a:ext cx="8229600" cy="572293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oleObject" Target="../embeddings/oleObject2.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 Target="../slides/slide1.xml"/><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 Target="../slides/slide29.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427288" y="301625"/>
            <a:ext cx="6467475" cy="6248400"/>
          </a:xfrm>
          <a:prstGeom prst="rect">
            <a:avLst/>
          </a:prstGeom>
          <a:solidFill>
            <a:srgbClr val="EDEEE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grpSp>
        <p:nvGrpSpPr>
          <p:cNvPr id="1030" name="Group 3"/>
          <p:cNvGrpSpPr/>
          <p:nvPr userDrawn="1"/>
        </p:nvGrpSpPr>
        <p:grpSpPr>
          <a:xfrm>
            <a:off x="2189163" y="914400"/>
            <a:ext cx="6958012" cy="76200"/>
            <a:chOff x="1920" y="849"/>
            <a:chExt cx="4992" cy="63"/>
          </a:xfrm>
        </p:grpSpPr>
        <p:sp>
          <p:nvSpPr>
            <p:cNvPr id="5124" name="Rectangle 4"/>
            <p:cNvSpPr>
              <a:spLocks noChangeArrowheads="1"/>
            </p:cNvSpPr>
            <p:nvPr/>
          </p:nvSpPr>
          <p:spPr bwMode="auto">
            <a:xfrm>
              <a:off x="1920" y="849"/>
              <a:ext cx="4992" cy="49"/>
            </a:xfrm>
            <a:prstGeom prst="rect">
              <a:avLst/>
            </a:prstGeom>
            <a:gradFill rotWithShape="1">
              <a:gsLst>
                <a:gs pos="0">
                  <a:srgbClr val="8488C4"/>
                </a:gs>
                <a:gs pos="26500">
                  <a:srgbClr val="D4DEFF"/>
                </a:gs>
                <a:gs pos="41500">
                  <a:srgbClr val="D4DEFF"/>
                </a:gs>
                <a:gs pos="50000">
                  <a:srgbClr val="96AB94"/>
                </a:gs>
                <a:gs pos="58500">
                  <a:srgbClr val="D4DEFF"/>
                </a:gs>
                <a:gs pos="73500">
                  <a:srgbClr val="D4DEFF"/>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1" u="none" strike="noStrike" kern="1200" cap="none" spc="0" normalizeH="0" baseline="0" noProof="0">
                <a:ln>
                  <a:noFill/>
                </a:ln>
                <a:solidFill>
                  <a:srgbClr val="00FF00"/>
                </a:solidFill>
                <a:effectLst/>
                <a:uLnTx/>
                <a:uFillTx/>
                <a:latin typeface="Times New Roman" panose="02020603050405020304" pitchFamily="18" charset="0"/>
                <a:ea typeface="楷体_GB2312" pitchFamily="49" charset="-122"/>
                <a:cs typeface="+mn-cs"/>
              </a:endParaRPr>
            </a:p>
          </p:txBody>
        </p:sp>
        <p:sp>
          <p:nvSpPr>
            <p:cNvPr id="5125" name="Rectangle 5"/>
            <p:cNvSpPr>
              <a:spLocks noChangeArrowheads="1"/>
            </p:cNvSpPr>
            <p:nvPr/>
          </p:nvSpPr>
          <p:spPr bwMode="white">
            <a:xfrm>
              <a:off x="1920" y="864"/>
              <a:ext cx="4992" cy="48"/>
            </a:xfrm>
            <a:prstGeom prst="rect">
              <a:avLst/>
            </a:prstGeom>
            <a:gradFill rotWithShape="1">
              <a:gsLst>
                <a:gs pos="0">
                  <a:srgbClr val="8488C4"/>
                </a:gs>
                <a:gs pos="26500">
                  <a:srgbClr val="D4DEFF">
                    <a:alpha val="68730"/>
                  </a:srgbClr>
                </a:gs>
                <a:gs pos="41500">
                  <a:srgbClr val="D4DEFF">
                    <a:alpha val="51030"/>
                  </a:srgbClr>
                </a:gs>
                <a:gs pos="50000">
                  <a:srgbClr val="96AB94">
                    <a:alpha val="41000"/>
                  </a:srgbClr>
                </a:gs>
                <a:gs pos="58500">
                  <a:srgbClr val="D4DEFF">
                    <a:alpha val="51030"/>
                  </a:srgbClr>
                </a:gs>
                <a:gs pos="73500">
                  <a:srgbClr val="D4DEFF">
                    <a:alpha val="68730"/>
                  </a:srgbClr>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1" i="1" u="none" strike="noStrike" kern="1200" cap="none" spc="0" normalizeH="0" baseline="0" noProof="0">
                <a:ln>
                  <a:noFill/>
                </a:ln>
                <a:solidFill>
                  <a:srgbClr val="00FF00"/>
                </a:solidFill>
                <a:effectLst/>
                <a:uLnTx/>
                <a:uFillTx/>
                <a:latin typeface="Times New Roman" panose="02020603050405020304" pitchFamily="18" charset="0"/>
                <a:ea typeface="楷体_GB2312" pitchFamily="49" charset="-122"/>
                <a:cs typeface="+mn-cs"/>
              </a:endParaRPr>
            </a:p>
          </p:txBody>
        </p:sp>
      </p:grpSp>
      <p:grpSp>
        <p:nvGrpSpPr>
          <p:cNvPr id="1031" name="Group 6"/>
          <p:cNvGrpSpPr/>
          <p:nvPr userDrawn="1"/>
        </p:nvGrpSpPr>
        <p:grpSpPr>
          <a:xfrm>
            <a:off x="0" y="-1587"/>
            <a:ext cx="9155113" cy="6858000"/>
            <a:chOff x="0" y="-1"/>
            <a:chExt cx="6925" cy="4320"/>
          </a:xfrm>
        </p:grpSpPr>
        <p:sp>
          <p:nvSpPr>
            <p:cNvPr id="5127" name="Rectangle 7"/>
            <p:cNvSpPr>
              <a:spLocks noChangeArrowheads="1"/>
            </p:cNvSpPr>
            <p:nvPr/>
          </p:nvSpPr>
          <p:spPr bwMode="auto">
            <a:xfrm>
              <a:off x="0" y="188"/>
              <a:ext cx="1637" cy="3936"/>
            </a:xfrm>
            <a:prstGeom prst="rect">
              <a:avLst/>
            </a:prstGeom>
            <a:solidFill>
              <a:srgbClr val="EDEEE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grpSp>
          <p:nvGrpSpPr>
            <p:cNvPr id="1035" name="Group 8"/>
            <p:cNvGrpSpPr/>
            <p:nvPr userDrawn="1"/>
          </p:nvGrpSpPr>
          <p:grpSpPr>
            <a:xfrm>
              <a:off x="0" y="-1"/>
              <a:ext cx="6925" cy="4320"/>
              <a:chOff x="0" y="-1"/>
              <a:chExt cx="6925" cy="4320"/>
            </a:xfrm>
          </p:grpSpPr>
          <p:sp>
            <p:nvSpPr>
              <p:cNvPr id="5129" name="Rectangle 9"/>
              <p:cNvSpPr>
                <a:spLocks noChangeArrowheads="1"/>
              </p:cNvSpPr>
              <p:nvPr/>
            </p:nvSpPr>
            <p:spPr bwMode="blackWhite">
              <a:xfrm>
                <a:off x="11" y="4138"/>
                <a:ext cx="6914" cy="181"/>
              </a:xfrm>
              <a:prstGeom prst="rect">
                <a:avLst/>
              </a:prstGeom>
              <a:solidFill>
                <a:srgbClr val="D7E5ED"/>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30" name="Rectangle 10"/>
              <p:cNvSpPr>
                <a:spLocks noChangeArrowheads="1"/>
              </p:cNvSpPr>
              <p:nvPr/>
            </p:nvSpPr>
            <p:spPr bwMode="blackWhite">
              <a:xfrm>
                <a:off x="0" y="-1"/>
                <a:ext cx="6914" cy="181"/>
              </a:xfrm>
              <a:prstGeom prst="rect">
                <a:avLst/>
              </a:prstGeom>
              <a:solidFill>
                <a:srgbClr val="D7E5ED"/>
              </a:solidFill>
              <a:ln w="9525">
                <a:noFill/>
                <a:miter lim="800000"/>
              </a:ln>
            </p:spPr>
            <p:txBody>
              <a:bodyPr wrap="none" lIns="92075" tIns="0" rIns="92075" bIns="46037"/>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1"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Department of Material and Engineering, Soochow University</a:t>
                </a:r>
              </a:p>
            </p:txBody>
          </p:sp>
          <p:sp>
            <p:nvSpPr>
              <p:cNvPr id="1038" name="Rectangle 11"/>
              <p:cNvSpPr/>
              <p:nvPr userDrawn="1"/>
            </p:nvSpPr>
            <p:spPr>
              <a:xfrm rot="5400000">
                <a:off x="4669" y="2068"/>
                <a:ext cx="4320" cy="181"/>
              </a:xfrm>
              <a:prstGeom prst="rect">
                <a:avLst/>
              </a:prstGeom>
              <a:solidFill>
                <a:srgbClr val="D7E5ED"/>
              </a:solidFill>
              <a:ln w="9525">
                <a:noFill/>
              </a:ln>
            </p:spPr>
            <p:txBody>
              <a:bodyPr rot="10800000" vert="eaVert"/>
              <a:lstStyle/>
              <a:p>
                <a:pPr lvl="0" algn="l" eaLnBrk="1" hangingPunct="1">
                  <a:buNone/>
                </a:pPr>
                <a:endParaRPr lang="zh-CN" altLang="zh-CN" b="0" i="0" dirty="0">
                  <a:solidFill>
                    <a:schemeClr val="tx1"/>
                  </a:solidFill>
                  <a:latin typeface="Times New Roman" panose="02020603050405020304" pitchFamily="18" charset="0"/>
                  <a:ea typeface="宋体" panose="02010600030101010101" pitchFamily="2" charset="-122"/>
                </a:endParaRPr>
              </a:p>
            </p:txBody>
          </p:sp>
          <p:sp>
            <p:nvSpPr>
              <p:cNvPr id="1039" name="Rectangle 12"/>
              <p:cNvSpPr/>
              <p:nvPr userDrawn="1"/>
            </p:nvSpPr>
            <p:spPr>
              <a:xfrm rot="5400000">
                <a:off x="6735" y="-1"/>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algn="l" eaLnBrk="1" hangingPunct="1">
                  <a:buNone/>
                </a:pPr>
                <a:endParaRPr lang="zh-CN" altLang="zh-CN" b="0" i="0" dirty="0">
                  <a:solidFill>
                    <a:schemeClr val="tx1"/>
                  </a:solidFill>
                  <a:latin typeface="Times New Roman" panose="02020603050405020304" pitchFamily="18" charset="0"/>
                  <a:ea typeface="宋体" panose="02010600030101010101" pitchFamily="2" charset="-122"/>
                </a:endParaRPr>
              </a:p>
            </p:txBody>
          </p:sp>
          <p:sp>
            <p:nvSpPr>
              <p:cNvPr id="1040" name="Rectangle 13"/>
              <p:cNvSpPr/>
              <p:nvPr userDrawn="1"/>
            </p:nvSpPr>
            <p:spPr>
              <a:xfrm rot="5400000">
                <a:off x="-425" y="2068"/>
                <a:ext cx="4320" cy="181"/>
              </a:xfrm>
              <a:prstGeom prst="rect">
                <a:avLst/>
              </a:prstGeom>
              <a:solidFill>
                <a:srgbClr val="D7E5ED"/>
              </a:solidFill>
              <a:ln w="9525">
                <a:noFill/>
              </a:ln>
            </p:spPr>
            <p:txBody>
              <a:bodyPr rot="10800000" vert="eaVert"/>
              <a:lstStyle/>
              <a:p>
                <a:pPr lvl="0" algn="l" eaLnBrk="1" hangingPunct="1">
                  <a:buNone/>
                </a:pPr>
                <a:endParaRPr lang="zh-CN" altLang="zh-CN" b="0" i="0" dirty="0">
                  <a:solidFill>
                    <a:schemeClr val="tx1"/>
                  </a:solidFill>
                  <a:latin typeface="Times New Roman" panose="02020603050405020304" pitchFamily="18" charset="0"/>
                  <a:ea typeface="宋体" panose="02010600030101010101" pitchFamily="2" charset="-122"/>
                </a:endParaRPr>
              </a:p>
            </p:txBody>
          </p:sp>
          <p:sp>
            <p:nvSpPr>
              <p:cNvPr id="1041" name="Rectangle 14"/>
              <p:cNvSpPr/>
              <p:nvPr userDrawn="1"/>
            </p:nvSpPr>
            <p:spPr>
              <a:xfrm rot="5400000">
                <a:off x="1656" y="4138"/>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algn="l" eaLnBrk="1" hangingPunct="1">
                  <a:buNone/>
                </a:pPr>
                <a:endParaRPr lang="zh-CN" altLang="zh-CN" b="0" i="0" dirty="0">
                  <a:solidFill>
                    <a:schemeClr val="tx1"/>
                  </a:solidFill>
                  <a:latin typeface="Times New Roman" panose="02020603050405020304" pitchFamily="18" charset="0"/>
                  <a:ea typeface="宋体" panose="02010600030101010101" pitchFamily="2" charset="-122"/>
                </a:endParaRPr>
              </a:p>
            </p:txBody>
          </p:sp>
          <p:sp>
            <p:nvSpPr>
              <p:cNvPr id="1042" name="Rectangle 15"/>
              <p:cNvSpPr/>
              <p:nvPr userDrawn="1"/>
            </p:nvSpPr>
            <p:spPr>
              <a:xfrm rot="5400000">
                <a:off x="1656" y="-1"/>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algn="l" eaLnBrk="1" hangingPunct="1">
                  <a:buNone/>
                </a:pPr>
                <a:endParaRPr lang="zh-CN" altLang="zh-CN" b="0" i="0" dirty="0">
                  <a:solidFill>
                    <a:schemeClr val="tx1"/>
                  </a:solidFill>
                  <a:latin typeface="Times New Roman" panose="02020603050405020304" pitchFamily="18" charset="0"/>
                  <a:ea typeface="宋体" panose="02010600030101010101" pitchFamily="2" charset="-122"/>
                </a:endParaRPr>
              </a:p>
            </p:txBody>
          </p:sp>
          <p:sp>
            <p:nvSpPr>
              <p:cNvPr id="1043" name="Rectangle 16"/>
              <p:cNvSpPr/>
              <p:nvPr userDrawn="1"/>
            </p:nvSpPr>
            <p:spPr>
              <a:xfrm rot="5400000">
                <a:off x="6735" y="4138"/>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algn="l" eaLnBrk="1" hangingPunct="1">
                  <a:buNone/>
                </a:pPr>
                <a:endParaRPr lang="zh-CN" altLang="zh-CN" b="0" i="0" dirty="0">
                  <a:solidFill>
                    <a:schemeClr val="tx1"/>
                  </a:solidFill>
                  <a:latin typeface="Times New Roman" panose="02020603050405020304" pitchFamily="18" charset="0"/>
                  <a:ea typeface="宋体" panose="02010600030101010101" pitchFamily="2" charset="-122"/>
                </a:endParaRPr>
              </a:p>
            </p:txBody>
          </p:sp>
        </p:grpSp>
      </p:grpSp>
      <p:sp>
        <p:nvSpPr>
          <p:cNvPr id="5137" name="Rectangle 17"/>
          <p:cNvSpPr>
            <a:spLocks noGrp="1" noChangeArrowheads="1"/>
          </p:cNvSpPr>
          <p:nvPr>
            <p:ph type="title"/>
          </p:nvPr>
        </p:nvSpPr>
        <p:spPr bwMode="auto">
          <a:xfrm>
            <a:off x="2533650" y="403225"/>
            <a:ext cx="4856163" cy="504825"/>
          </a:xfrm>
          <a:prstGeom prst="rect">
            <a:avLst/>
          </a:prstGeom>
          <a:noFill/>
          <a:ln w="9525">
            <a:noFill/>
            <a:miter lim="800000"/>
          </a:ln>
          <a:effectLst/>
        </p:spPr>
        <p:txBody>
          <a:bodyPr vert="horz" wrap="square" lIns="91440" tIns="45720" rIns="91440" bIns="45720" numCol="1" anchor="ctr" anchorCtr="0" compatLnSpc="1"/>
          <a:lstStyle/>
          <a:p>
            <a:pPr lvl="0"/>
            <a:endParaRPr lang="zh-CN" altLang="zh-CN" smtClean="0"/>
          </a:p>
        </p:txBody>
      </p:sp>
      <p:graphicFrame>
        <p:nvGraphicFramePr>
          <p:cNvPr id="1026" name="Object 18">
            <a:hlinkClick r:id="rId15" action="ppaction://hlinksldjump"/>
          </p:cNvPr>
          <p:cNvGraphicFramePr>
            <a:graphicFrameLocks/>
          </p:cNvGraphicFramePr>
          <p:nvPr userDrawn="1"/>
        </p:nvGraphicFramePr>
        <p:xfrm>
          <a:off x="309563" y="-42862"/>
          <a:ext cx="790575" cy="377825"/>
        </p:xfrm>
        <a:graphic>
          <a:graphicData uri="http://schemas.openxmlformats.org/presentationml/2006/ole">
            <p:oleObj spid="_x0000_s3076" r:id="rId16" imgW="527713" imgH="251725" progId="">
              <p:embed/>
            </p:oleObj>
          </a:graphicData>
        </a:graphic>
      </p:graphicFrame>
      <p:graphicFrame>
        <p:nvGraphicFramePr>
          <p:cNvPr id="1027" name="Object 19">
            <a:hlinkClick r:id="rId17" action="ppaction://hlinksldjump"/>
          </p:cNvPr>
          <p:cNvGraphicFramePr>
            <a:graphicFrameLocks/>
          </p:cNvGraphicFramePr>
          <p:nvPr userDrawn="1"/>
        </p:nvGraphicFramePr>
        <p:xfrm>
          <a:off x="1146175" y="-42862"/>
          <a:ext cx="796925" cy="377825"/>
        </p:xfrm>
        <a:graphic>
          <a:graphicData uri="http://schemas.openxmlformats.org/presentationml/2006/ole">
            <p:oleObj spid="_x0000_s3077" r:id="rId18" imgW="527713" imgH="250209" progId="">
              <p:embed/>
            </p:oleObj>
          </a:graphicData>
        </a:graphic>
      </p:graphicFrame>
      <p:sp>
        <p:nvSpPr>
          <p:cNvPr id="5140" name="Rectangle 20"/>
          <p:cNvSpPr>
            <a:spLocks noChangeArrowheads="1"/>
          </p:cNvSpPr>
          <p:nvPr/>
        </p:nvSpPr>
        <p:spPr bwMode="auto">
          <a:xfrm>
            <a:off x="447675" y="593725"/>
            <a:ext cx="1441450" cy="762000"/>
          </a:xfrm>
          <a:prstGeom prst="rect">
            <a:avLst/>
          </a:prstGeom>
          <a:noFill/>
          <a:ln w="9525">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200" b="1" i="1" u="none" strike="noStrike" kern="1200" cap="none" spc="0" normalizeH="0" baseline="0" noProof="0">
                <a:ln>
                  <a:noFill/>
                </a:ln>
                <a:solidFill>
                  <a:srgbClr val="FF0000"/>
                </a:solidFill>
                <a:effectLst/>
                <a:uLnTx/>
                <a:uFillTx/>
                <a:latin typeface="隶书" panose="02010509060101010101" pitchFamily="49" charset="-122"/>
                <a:ea typeface="隶书" panose="02010509060101010101" pitchFamily="49" charset="-122"/>
                <a:cs typeface="+mn-cs"/>
              </a:rPr>
              <a:t>Inorganic</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200" b="1" i="1" u="none" strike="noStrike" kern="1200" cap="none" spc="0" normalizeH="0" baseline="0" noProof="0">
                <a:ln>
                  <a:noFill/>
                </a:ln>
                <a:solidFill>
                  <a:srgbClr val="FF0000"/>
                </a:solidFill>
                <a:effectLst/>
                <a:uLnTx/>
                <a:uFillTx/>
                <a:latin typeface="隶书" panose="02010509060101010101" pitchFamily="49" charset="-122"/>
                <a:ea typeface="隶书" panose="02010509060101010101" pitchFamily="49" charset="-122"/>
                <a:cs typeface="+mn-cs"/>
              </a:rPr>
              <a:t>chemistry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2400" b="1" i="1">
          <a:solidFill>
            <a:srgbClr val="FF3300"/>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2400" b="1" i="1">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2.xml"/><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4.png"/><Relationship Id="rId9"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8.bin"/><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en.wikipedia.org/wiki/CCTV_New_Year's_Gala" TargetMode="External"/><Relationship Id="rId3" Type="http://schemas.openxmlformats.org/officeDocument/2006/relationships/hyperlink" Target="http://en.wikipedia.org/wiki/Mexican_American" TargetMode="External"/><Relationship Id="rId7" Type="http://schemas.openxmlformats.org/officeDocument/2006/relationships/hyperlink" Target="http://en.wikipedia.org/wiki/Simplified_Chinese_characters" TargetMode="External"/><Relationship Id="rId2" Type="http://schemas.openxmlformats.org/officeDocument/2006/relationships/hyperlink" Target="http://en.wikipedia.org/wiki/Danish_people" TargetMode="External"/><Relationship Id="rId1" Type="http://schemas.openxmlformats.org/officeDocument/2006/relationships/slideLayout" Target="../slideLayouts/slideLayout2.xml"/><Relationship Id="rId6" Type="http://schemas.openxmlformats.org/officeDocument/2006/relationships/hyperlink" Target="http://en.wikipedia.org/wiki/Taiwan" TargetMode="External"/><Relationship Id="rId5" Type="http://schemas.openxmlformats.org/officeDocument/2006/relationships/hyperlink" Target="http://en.wikipedia.org/wiki/Taipei" TargetMode="External"/><Relationship Id="rId4" Type="http://schemas.openxmlformats.org/officeDocument/2006/relationships/image" Target="../media/image22.jpeg"/><Relationship Id="rId9" Type="http://schemas.openxmlformats.org/officeDocument/2006/relationships/image" Target="../media/image23.jpeg"/></Relationships>
</file>

<file path=ppt/slides/_rels/slide19.xml.rels><?xml version="1.0" encoding="UTF-8" standalone="yes"?>
<Relationships xmlns="http://schemas.openxmlformats.org/package/2006/relationships"><Relationship Id="rId8" Type="http://schemas.openxmlformats.org/officeDocument/2006/relationships/hyperlink" Target="http://baike.sogou.com/lemma/ShowInnerLink.htm?lemmaId=177439" TargetMode="External"/><Relationship Id="rId13" Type="http://schemas.openxmlformats.org/officeDocument/2006/relationships/hyperlink" Target="http://baike.sogou.com/lemma/ShowInnerLink.htm?lemmaId=6846" TargetMode="External"/><Relationship Id="rId18" Type="http://schemas.openxmlformats.org/officeDocument/2006/relationships/hyperlink" Target="https://en.wikipedia.org/wiki/Chinese_American" TargetMode="External"/><Relationship Id="rId3" Type="http://schemas.openxmlformats.org/officeDocument/2006/relationships/hyperlink" Target="http://baike.sogou.com/lemma/ShowInnerLink.htm?lemmaId=76585763" TargetMode="External"/><Relationship Id="rId7" Type="http://schemas.openxmlformats.org/officeDocument/2006/relationships/hyperlink" Target="http://baike.sogou.com/lemma/ShowInnerLink.htm?lemmaId=7721779" TargetMode="External"/><Relationship Id="rId12" Type="http://schemas.openxmlformats.org/officeDocument/2006/relationships/hyperlink" Target="http://baike.sogou.com/lemma/ShowInnerLink.htm?lemmaId=64533511" TargetMode="External"/><Relationship Id="rId17" Type="http://schemas.openxmlformats.org/officeDocument/2006/relationships/hyperlink" Target="https://en.wikipedia.org/wiki/Native_Hawaiian" TargetMode="External"/><Relationship Id="rId2" Type="http://schemas.openxmlformats.org/officeDocument/2006/relationships/image" Target="../media/image24.jpeg"/><Relationship Id="rId16" Type="http://schemas.openxmlformats.org/officeDocument/2006/relationships/hyperlink" Target="http://baike.sogou.com/lemma/ShowInnerLink.htm?lemmaId=176599" TargetMode="External"/><Relationship Id="rId1" Type="http://schemas.openxmlformats.org/officeDocument/2006/relationships/slideLayout" Target="../slideLayouts/slideLayout2.xml"/><Relationship Id="rId6" Type="http://schemas.openxmlformats.org/officeDocument/2006/relationships/hyperlink" Target="http://baike.sogou.com/lemma/ShowInnerLink.htm?lemmaId=64898905" TargetMode="External"/><Relationship Id="rId11" Type="http://schemas.openxmlformats.org/officeDocument/2006/relationships/hyperlink" Target="http://baike.sogou.com/lemma/ShowInnerLink.htm?lemmaId=255541" TargetMode="External"/><Relationship Id="rId5" Type="http://schemas.openxmlformats.org/officeDocument/2006/relationships/hyperlink" Target="http://baike.sogou.com/lemma/ShowInnerLink.htm?lemmaId=522014" TargetMode="External"/><Relationship Id="rId15" Type="http://schemas.openxmlformats.org/officeDocument/2006/relationships/hyperlink" Target="http://baike.sogou.com/lemma/ShowInnerLink.htm?lemmaId=64678166" TargetMode="External"/><Relationship Id="rId10" Type="http://schemas.openxmlformats.org/officeDocument/2006/relationships/hyperlink" Target="http://baike.sogou.com/lemma/ShowInnerLink.htm?lemmaId=43026" TargetMode="External"/><Relationship Id="rId4" Type="http://schemas.openxmlformats.org/officeDocument/2006/relationships/hyperlink" Target="http://baike.sogou.com/lemma/ShowInnerLink.htm?lemmaId=42763" TargetMode="External"/><Relationship Id="rId9" Type="http://schemas.openxmlformats.org/officeDocument/2006/relationships/hyperlink" Target="http://baike.sogou.com/lemma/ShowInnerLink.htm?lemmaId=1850208" TargetMode="External"/><Relationship Id="rId14" Type="http://schemas.openxmlformats.org/officeDocument/2006/relationships/hyperlink" Target="http://baike.sogou.com/lemma/ShowInnerLink.htm?lemmaId=43138"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en.wikipedia.org/wiki/Hollywood_Hill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en.wikipedia.org/wiki/The_Matrix_Reloaded" TargetMode="External"/><Relationship Id="rId3" Type="http://schemas.openxmlformats.org/officeDocument/2006/relationships/hyperlink" Target="https://en.wikipedia.org/wiki/Jeep_Grand_Cherokee" TargetMode="External"/><Relationship Id="rId7" Type="http://schemas.openxmlformats.org/officeDocument/2006/relationships/hyperlink" Target="https://en.wikipedia.org/wiki/The_Matrix_sequels" TargetMode="External"/><Relationship Id="rId2" Type="http://schemas.openxmlformats.org/officeDocument/2006/relationships/hyperlink" Target="https://en.wikipedia.org/wiki/Jennifer_Syme" TargetMode="External"/><Relationship Id="rId1" Type="http://schemas.openxmlformats.org/officeDocument/2006/relationships/slideLayout" Target="../slideLayouts/slideLayout2.xml"/><Relationship Id="rId6" Type="http://schemas.openxmlformats.org/officeDocument/2006/relationships/hyperlink" Target="https://en.wikipedia.org/wiki/Leukemia" TargetMode="External"/><Relationship Id="rId5" Type="http://schemas.openxmlformats.org/officeDocument/2006/relationships/hyperlink" Target="https://en.wikipedia.org/wiki/Westwood_Village_Memorial_Park_Cemetery" TargetMode="External"/><Relationship Id="rId4" Type="http://schemas.openxmlformats.org/officeDocument/2006/relationships/hyperlink" Target="https://en.wikipedia.org/wiki/Keanu_Reeves" TargetMode="External"/><Relationship Id="rId9" Type="http://schemas.openxmlformats.org/officeDocument/2006/relationships/hyperlink" Target="https://en.wikipedia.org/wiki/The_Matrix_Revolutions"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oleObject" Target="../embeddings/oleObject12.bin"/></Relationships>
</file>

<file path=ppt/slides/_rels/slide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2.xml"/><Relationship Id="rId7" Type="http://schemas.openxmlformats.org/officeDocument/2006/relationships/image" Target="../media/image27.png"/><Relationship Id="rId2" Type="http://schemas.openxmlformats.org/officeDocument/2006/relationships/video" Target="file:///C:\Documents%20and%20Settings\Administrator\&#26700;&#38754;\gaojiao\electro\download\sp++.avi" TargetMode="External"/><Relationship Id="rId1" Type="http://schemas.openxmlformats.org/officeDocument/2006/relationships/video" Target="file:///C:\Documents%20and%20Settings\Administrator\&#26700;&#38754;\gaojiao\electro\download\CH4+.avi" TargetMode="External"/><Relationship Id="rId6" Type="http://schemas.microsoft.com/office/2007/relationships/media" Target="file:///C:\Documents%20and%20Settings\Administrator\&#26700;&#38754;\gaojiao\electro\download\sp++.avi" TargetMode="External"/><Relationship Id="rId5" Type="http://schemas.openxmlformats.org/officeDocument/2006/relationships/image" Target="../media/image26.png"/><Relationship Id="rId4" Type="http://schemas.microsoft.com/office/2007/relationships/media" Target="file:///C:\Documents%20and%20Settings\Administrator\&#26700;&#38754;\gaojiao\electro\download\CH4+.avi" TargetMode="External"/><Relationship Id="rId9"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media" Target="file:///C:\Documents%20and%20Settings\Administrator\&#26700;&#38754;\gaojiao\electro\download\jl-sp2.avi" TargetMode="External"/><Relationship Id="rId2" Type="http://schemas.openxmlformats.org/officeDocument/2006/relationships/slideLayout" Target="../slideLayouts/slideLayout2.xml"/><Relationship Id="rId1" Type="http://schemas.openxmlformats.org/officeDocument/2006/relationships/video" Target="file:///C:\Documents%20and%20Settings\Administrator\&#26700;&#38754;\gaojiao\electro\download\jl-sp2.avi" TargetMode="Externa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ideo" Target="file:///C:\Documents%20and%20Settings\Administrator\&#26700;&#38754;\gaojiao\electro\download\lan-sp.avi" TargetMode="External"/><Relationship Id="rId5" Type="http://schemas.openxmlformats.org/officeDocument/2006/relationships/image" Target="../media/image34.png"/><Relationship Id="rId4" Type="http://schemas.microsoft.com/office/2007/relationships/media" Target="file:///C:\Documents%20and%20Settings\Administrator\&#26700;&#38754;\gaojiao\electro\download\lan-sp.avi"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5.bin"/><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6.bin"/><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63.jpeg"/><Relationship Id="rId3" Type="http://schemas.openxmlformats.org/officeDocument/2006/relationships/notesSlide" Target="../notesSlides/notesSlide24.xml"/><Relationship Id="rId7" Type="http://schemas.openxmlformats.org/officeDocument/2006/relationships/image" Target="../media/image62.jpeg"/><Relationship Id="rId12"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61.jpeg"/><Relationship Id="rId11" Type="http://schemas.openxmlformats.org/officeDocument/2006/relationships/oleObject" Target="../embeddings/oleObject20.bin"/><Relationship Id="rId5" Type="http://schemas.openxmlformats.org/officeDocument/2006/relationships/image" Target="../media/image60.jpeg"/><Relationship Id="rId10" Type="http://schemas.openxmlformats.org/officeDocument/2006/relationships/oleObject" Target="../embeddings/oleObject19.bin"/><Relationship Id="rId4" Type="http://schemas.openxmlformats.org/officeDocument/2006/relationships/oleObject" Target="../embeddings/oleObject17.bin"/><Relationship Id="rId9" Type="http://schemas.openxmlformats.org/officeDocument/2006/relationships/oleObject" Target="../embeddings/oleObject18.bin"/></Relationships>
</file>

<file path=ppt/slides/_rels/slide4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notesSlide" Target="../notesSlides/notesSlide33.xml"/><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oleObject" Target="../embeddings/oleObject26.bin"/><Relationship Id="rId9" Type="http://schemas.openxmlformats.org/officeDocument/2006/relationships/oleObject" Target="../embeddings/oleObject31.bin"/></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8.jpeg"/></Relationships>
</file>

<file path=ppt/slides/_rels/slide66.xml.rels><?xml version="1.0" encoding="UTF-8" standalone="yes"?>
<Relationships xmlns="http://schemas.openxmlformats.org/package/2006/relationships"><Relationship Id="rId3" Type="http://schemas.openxmlformats.org/officeDocument/2006/relationships/hyperlink" Target="https://baike.baidu.com/item/%E9%94%82" TargetMode="External"/><Relationship Id="rId2" Type="http://schemas.openxmlformats.org/officeDocument/2006/relationships/hyperlink" Target="https://baike.baidu.com/item/%E9%93%8D" TargetMode="External"/><Relationship Id="rId1" Type="http://schemas.openxmlformats.org/officeDocument/2006/relationships/slideLayout" Target="../slideLayouts/slideLayout2.xml"/><Relationship Id="rId6" Type="http://schemas.openxmlformats.org/officeDocument/2006/relationships/hyperlink" Target="https://baike.baidu.com/item/%E9%93%AF" TargetMode="External"/><Relationship Id="rId5" Type="http://schemas.openxmlformats.org/officeDocument/2006/relationships/hyperlink" Target="https://baike.baidu.com/item/%E9%93%B7" TargetMode="External"/><Relationship Id="rId4" Type="http://schemas.openxmlformats.org/officeDocument/2006/relationships/hyperlink" Target="https://baike.baidu.com/item/%E9%93%8C" TargetMode="Externa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vmlDrawing" Target="../drawings/vmlDrawing13.vml"/><Relationship Id="rId4" Type="http://schemas.openxmlformats.org/officeDocument/2006/relationships/oleObject" Target="../embeddings/oleObject32.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vmlDrawing" Target="../drawings/vmlDrawing14.vml"/><Relationship Id="rId4" Type="http://schemas.openxmlformats.org/officeDocument/2006/relationships/oleObject" Target="../embeddings/oleObject33.bin"/></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vmlDrawing" Target="../drawings/vmlDrawing15.vml"/><Relationship Id="rId4" Type="http://schemas.openxmlformats.org/officeDocument/2006/relationships/oleObject" Target="../embeddings/oleObject34.bin"/></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16.vml"/></Relationships>
</file>

<file path=ppt/slides/_rels/slide79.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oleObject" Target="../embeddings/oleObject36.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228600"/>
            <a:ext cx="7620000" cy="504825"/>
          </a:xfrm>
          <a:solidFill>
            <a:schemeClr val="accent5"/>
          </a:soli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000" b="1" i="0" u="none" strike="noStrike" kern="0" cap="none" spc="0" normalizeH="0" baseline="0" noProof="0" dirty="0" smtClean="0">
                <a:ln>
                  <a:noFill/>
                </a:ln>
                <a:solidFill>
                  <a:srgbClr val="FF3300"/>
                </a:solidFill>
                <a:effectLst/>
                <a:uLnTx/>
                <a:uFillTx/>
                <a:latin typeface="+mj-lt"/>
                <a:ea typeface="楷体_GB2312" pitchFamily="49" charset="-122"/>
                <a:cs typeface="+mj-cs"/>
              </a:rPr>
              <a:t>第九章  分子结构     </a:t>
            </a:r>
            <a:r>
              <a:rPr kumimoji="0" lang="en-US" altLang="zh-CN" sz="2400" b="1" i="0" u="none" strike="noStrike" kern="0" cap="none" spc="0" normalizeH="0" baseline="0" noProof="0" dirty="0" smtClean="0">
                <a:ln>
                  <a:noFill/>
                </a:ln>
                <a:solidFill>
                  <a:schemeClr val="tx1"/>
                </a:solidFill>
                <a:effectLst/>
                <a:uLnTx/>
                <a:uFillTx/>
                <a:latin typeface="+mj-lt"/>
                <a:ea typeface="楷体_GB2312" pitchFamily="49" charset="-122"/>
                <a:cs typeface="+mj-cs"/>
              </a:rPr>
              <a:t>(</a:t>
            </a:r>
            <a:r>
              <a:rPr kumimoji="1" lang="en-US" altLang="zh-CN" sz="2400" b="1" i="0" u="none" strike="noStrike" kern="0" cap="none" spc="0" normalizeH="0" baseline="0" noProof="0" dirty="0" smtClean="0">
                <a:ln>
                  <a:noFill/>
                </a:ln>
                <a:solidFill>
                  <a:schemeClr val="tx1"/>
                </a:solidFill>
                <a:effectLst/>
                <a:uLnTx/>
                <a:uFillTx/>
                <a:latin typeface="+mj-lt"/>
                <a:ea typeface="+mj-ea"/>
                <a:cs typeface="+mj-cs"/>
              </a:rPr>
              <a:t>Structure  of  Molecules)</a:t>
            </a:r>
          </a:p>
        </p:txBody>
      </p:sp>
      <p:grpSp>
        <p:nvGrpSpPr>
          <p:cNvPr id="32771" name="组合 5"/>
          <p:cNvGrpSpPr/>
          <p:nvPr/>
        </p:nvGrpSpPr>
        <p:grpSpPr>
          <a:xfrm>
            <a:off x="152400" y="1143000"/>
            <a:ext cx="8534400" cy="4873625"/>
            <a:chOff x="381000" y="1036638"/>
            <a:chExt cx="8534400" cy="4874154"/>
          </a:xfrm>
        </p:grpSpPr>
        <p:sp>
          <p:nvSpPr>
            <p:cNvPr id="32772" name="Rectangle 9"/>
            <p:cNvSpPr/>
            <p:nvPr/>
          </p:nvSpPr>
          <p:spPr>
            <a:xfrm>
              <a:off x="381000" y="1036638"/>
              <a:ext cx="8077200" cy="1434239"/>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在自然界里，人们通常所遇到的物质，除稀有气体外，都不是以单原子分子的形式存在，而是以原子之间相互结合而成的分子或晶体</a:t>
              </a:r>
              <a:r>
                <a:rPr lang="en-US" altLang="zh-CN" sz="2600" i="0" dirty="0">
                  <a:solidFill>
                    <a:schemeClr val="tx1"/>
                  </a:solidFill>
                  <a:latin typeface="Arial" panose="020B0604020202020204" pitchFamily="34" charset="0"/>
                </a:rPr>
                <a:t>——</a:t>
              </a:r>
              <a:r>
                <a:rPr lang="zh-CN" altLang="en-US" sz="2600" i="0" dirty="0">
                  <a:solidFill>
                    <a:schemeClr val="tx1"/>
                  </a:solidFill>
                  <a:latin typeface="楷体_GB2312" pitchFamily="49" charset="-122"/>
                </a:rPr>
                <a:t>化学键。</a:t>
              </a:r>
            </a:p>
          </p:txBody>
        </p:sp>
        <p:sp>
          <p:nvSpPr>
            <p:cNvPr id="32773" name="Text Box 13"/>
            <p:cNvSpPr txBox="1"/>
            <p:nvPr/>
          </p:nvSpPr>
          <p:spPr>
            <a:xfrm>
              <a:off x="2819400" y="3094193"/>
              <a:ext cx="2971800" cy="488950"/>
            </a:xfrm>
            <a:prstGeom prst="rect">
              <a:avLst/>
            </a:prstGeom>
            <a:solidFill>
              <a:srgbClr val="FF99CC"/>
            </a:solidFill>
            <a:ln w="12700">
              <a:noFill/>
            </a:ln>
          </p:spPr>
          <p:txBody>
            <a:bodyPr>
              <a:spAutoFit/>
            </a:bodyPr>
            <a:lstStyle/>
            <a:p>
              <a:pPr eaLnBrk="0" hangingPunct="0">
                <a:spcBef>
                  <a:spcPct val="50000"/>
                </a:spcBef>
              </a:pPr>
              <a:r>
                <a:rPr lang="zh-CN" altLang="en-US" sz="2600" i="0" dirty="0">
                  <a:solidFill>
                    <a:schemeClr val="tx1"/>
                  </a:solidFill>
                  <a:latin typeface="Times New Roman" panose="02020603050405020304" pitchFamily="18" charset="0"/>
                </a:rPr>
                <a:t>什么是化学键？</a:t>
              </a:r>
            </a:p>
          </p:txBody>
        </p:sp>
        <p:sp>
          <p:nvSpPr>
            <p:cNvPr id="32774" name="Text Box 14"/>
            <p:cNvSpPr txBox="1"/>
            <p:nvPr/>
          </p:nvSpPr>
          <p:spPr>
            <a:xfrm>
              <a:off x="533400" y="3551428"/>
              <a:ext cx="8382000" cy="2359364"/>
            </a:xfrm>
            <a:prstGeom prst="rect">
              <a:avLst/>
            </a:prstGeom>
            <a:noFill/>
            <a:ln w="12700">
              <a:noFill/>
            </a:ln>
          </p:spPr>
          <p:txBody>
            <a:bodyPr>
              <a:spAutoFit/>
            </a:bodyPr>
            <a:lstStyle/>
            <a:p>
              <a:pPr algn="just" eaLnBrk="0" hangingPunct="0">
                <a:lnSpc>
                  <a:spcPts val="3600"/>
                </a:lnSpc>
                <a:spcBef>
                  <a:spcPct val="50000"/>
                </a:spcBef>
              </a:pPr>
              <a:r>
                <a:rPr lang="en-US" altLang="zh-CN" sz="2600" b="0" i="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Pauling L</a:t>
              </a:r>
              <a:r>
                <a:rPr lang="zh-CN" altLang="en-US" sz="2600" i="0" dirty="0">
                  <a:solidFill>
                    <a:schemeClr val="tx1"/>
                  </a:solidFill>
                  <a:latin typeface="Times New Roman" panose="02020603050405020304" pitchFamily="18" charset="0"/>
                </a:rPr>
                <a:t>在</a:t>
              </a:r>
              <a:r>
                <a:rPr lang="en-US" altLang="zh-CN" sz="2600" i="0" dirty="0">
                  <a:solidFill>
                    <a:schemeClr val="tx1"/>
                  </a:solidFill>
                  <a:latin typeface="Times New Roman" panose="02020603050405020304" pitchFamily="18" charset="0"/>
                </a:rPr>
                <a:t>《The Nature of The </a:t>
              </a:r>
              <a:r>
                <a:rPr lang="en-US" altLang="zh-CN" sz="2600" dirty="0">
                  <a:solidFill>
                    <a:schemeClr val="tx1"/>
                  </a:solidFill>
                  <a:latin typeface="Times New Roman" panose="02020603050405020304" pitchFamily="18" charset="0"/>
                </a:rPr>
                <a:t>Chemical Bond</a:t>
              </a:r>
              <a:r>
                <a:rPr lang="en-US" altLang="zh-CN" sz="2600" i="0" dirty="0">
                  <a:solidFill>
                    <a:schemeClr val="tx1"/>
                  </a:solidFill>
                  <a:latin typeface="Times New Roman" panose="02020603050405020304" pitchFamily="18" charset="0"/>
                </a:rPr>
                <a:t>》(not James bond 007)</a:t>
              </a:r>
              <a:r>
                <a:rPr lang="zh-CN" altLang="en-US" sz="2600" i="0" dirty="0">
                  <a:solidFill>
                    <a:schemeClr val="tx1"/>
                  </a:solidFill>
                  <a:latin typeface="Times New Roman" panose="02020603050405020304" pitchFamily="18" charset="0"/>
                </a:rPr>
                <a:t>中提出的化学键定义：</a:t>
              </a:r>
              <a:r>
                <a:rPr lang="zh-CN" altLang="en-US" sz="2600" dirty="0">
                  <a:solidFill>
                    <a:srgbClr val="0000FF"/>
                  </a:solidFill>
                  <a:latin typeface="Times New Roman" panose="02020603050405020304" pitchFamily="18" charset="0"/>
                </a:rPr>
                <a:t>如果两个原子（或原子团）之间的作用力强得足以形成足够稳定的、可被化学家看作独立分子物种的聚集体，它们之间就存在化学键。</a:t>
              </a: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55" name="组合 44"/>
          <p:cNvGrpSpPr/>
          <p:nvPr/>
        </p:nvGrpSpPr>
        <p:grpSpPr>
          <a:xfrm>
            <a:off x="228600" y="228600"/>
            <a:ext cx="8458200" cy="6454775"/>
            <a:chOff x="228600" y="76200"/>
            <a:chExt cx="8458200" cy="6455308"/>
          </a:xfrm>
        </p:grpSpPr>
        <p:sp>
          <p:nvSpPr>
            <p:cNvPr id="2056" name="Rectangle 13"/>
            <p:cNvSpPr/>
            <p:nvPr/>
          </p:nvSpPr>
          <p:spPr>
            <a:xfrm>
              <a:off x="685432" y="76200"/>
              <a:ext cx="8001368" cy="1092607"/>
            </a:xfrm>
            <a:prstGeom prst="rect">
              <a:avLst/>
            </a:prstGeom>
            <a:noFill/>
            <a:ln w="9525">
              <a:noFill/>
            </a:ln>
          </p:spPr>
          <p:txBody>
            <a:bodyPr>
              <a:spAutoFit/>
            </a:bodyPr>
            <a:lstStyle/>
            <a:p>
              <a:pPr algn="l" eaLnBrk="0" hangingPunct="0">
                <a:lnSpc>
                  <a:spcPct val="125000"/>
                </a:lnSpc>
                <a:spcBef>
                  <a:spcPct val="50000"/>
                </a:spcBef>
              </a:pPr>
              <a:r>
                <a:rPr lang="en-US" altLang="zh-CN" sz="2600" i="0" dirty="0">
                  <a:solidFill>
                    <a:schemeClr val="tx1"/>
                  </a:solidFill>
                  <a:latin typeface="Arial" panose="020B0604020202020204" pitchFamily="34" charset="0"/>
                </a:rPr>
                <a:t>       </a:t>
              </a:r>
              <a:r>
                <a:rPr lang="zh-CN" altLang="en-US" sz="2600" i="0" dirty="0">
                  <a:solidFill>
                    <a:schemeClr val="tx1"/>
                  </a:solidFill>
                  <a:latin typeface="Arial" panose="020B0604020202020204" pitchFamily="34" charset="0"/>
                </a:rPr>
                <a:t>简单地说，化学键是指分子</a:t>
              </a:r>
              <a:r>
                <a:rPr lang="en-US" altLang="zh-CN" sz="2600" i="0" dirty="0">
                  <a:solidFill>
                    <a:schemeClr val="tx1"/>
                  </a:solidFill>
                  <a:latin typeface="Arial" panose="020B0604020202020204" pitchFamily="34" charset="0"/>
                </a:rPr>
                <a:t>(</a:t>
              </a:r>
              <a:r>
                <a:rPr lang="zh-CN" altLang="en-US" sz="2600" i="0" dirty="0">
                  <a:solidFill>
                    <a:schemeClr val="tx1"/>
                  </a:solidFill>
                  <a:latin typeface="Arial" panose="020B0604020202020204" pitchFamily="34" charset="0"/>
                </a:rPr>
                <a:t>或晶体</a:t>
              </a:r>
              <a:r>
                <a:rPr lang="en-US" altLang="zh-CN" sz="2600" i="0" dirty="0">
                  <a:solidFill>
                    <a:schemeClr val="tx1"/>
                  </a:solidFill>
                  <a:latin typeface="Arial" panose="020B0604020202020204" pitchFamily="34" charset="0"/>
                </a:rPr>
                <a:t>)</a:t>
              </a:r>
              <a:r>
                <a:rPr lang="zh-CN" altLang="en-US" sz="2600" i="0" dirty="0">
                  <a:solidFill>
                    <a:schemeClr val="tx1"/>
                  </a:solidFill>
                  <a:latin typeface="Arial" panose="020B0604020202020204" pitchFamily="34" charset="0"/>
                </a:rPr>
                <a:t>内部相邻原子</a:t>
              </a:r>
              <a:r>
                <a:rPr lang="en-US" altLang="zh-CN" sz="2600" i="0" dirty="0">
                  <a:solidFill>
                    <a:schemeClr val="tx1"/>
                  </a:solidFill>
                  <a:latin typeface="Arial" panose="020B0604020202020204" pitchFamily="34" charset="0"/>
                </a:rPr>
                <a:t>(</a:t>
              </a:r>
              <a:r>
                <a:rPr lang="zh-CN" altLang="en-US" sz="2600" i="0" dirty="0">
                  <a:solidFill>
                    <a:schemeClr val="tx1"/>
                  </a:solidFill>
                  <a:latin typeface="Arial" panose="020B0604020202020204" pitchFamily="34" charset="0"/>
                </a:rPr>
                <a:t>或离子</a:t>
              </a:r>
              <a:r>
                <a:rPr lang="en-US" altLang="zh-CN" sz="2600" i="0" dirty="0">
                  <a:solidFill>
                    <a:schemeClr val="tx1"/>
                  </a:solidFill>
                  <a:latin typeface="Arial" panose="020B0604020202020204" pitchFamily="34" charset="0"/>
                </a:rPr>
                <a:t>)</a:t>
              </a:r>
              <a:r>
                <a:rPr lang="zh-CN" altLang="en-US" sz="2600" i="0" dirty="0">
                  <a:solidFill>
                    <a:schemeClr val="tx1"/>
                  </a:solidFill>
                  <a:latin typeface="Arial" panose="020B0604020202020204" pitchFamily="34" charset="0"/>
                </a:rPr>
                <a:t>之间的强相互作用力。</a:t>
              </a:r>
            </a:p>
          </p:txBody>
        </p:sp>
        <p:pic>
          <p:nvPicPr>
            <p:cNvPr id="2057" name="Picture 14" descr="Pauling1"/>
            <p:cNvPicPr>
              <a:picLocks noChangeAspect="1"/>
            </p:cNvPicPr>
            <p:nvPr/>
          </p:nvPicPr>
          <p:blipFill>
            <a:blip r:embed="rId4"/>
            <a:stretch>
              <a:fillRect/>
            </a:stretch>
          </p:blipFill>
          <p:spPr>
            <a:xfrm>
              <a:off x="6553200" y="3200400"/>
              <a:ext cx="2120900" cy="1676400"/>
            </a:xfrm>
            <a:prstGeom prst="rect">
              <a:avLst/>
            </a:prstGeom>
            <a:noFill/>
            <a:ln w="9525">
              <a:noFill/>
            </a:ln>
          </p:spPr>
        </p:pic>
        <p:sp>
          <p:nvSpPr>
            <p:cNvPr id="2058" name="Rectangle 15"/>
            <p:cNvSpPr/>
            <p:nvPr/>
          </p:nvSpPr>
          <p:spPr>
            <a:xfrm>
              <a:off x="6858000" y="5105400"/>
              <a:ext cx="1649811" cy="492443"/>
            </a:xfrm>
            <a:prstGeom prst="rect">
              <a:avLst/>
            </a:prstGeom>
            <a:noFill/>
            <a:ln w="9525">
              <a:noFill/>
            </a:ln>
          </p:spPr>
          <p:txBody>
            <a:bodyPr wrap="none">
              <a:spAutoFit/>
            </a:bodyPr>
            <a:lstStyle/>
            <a:p>
              <a:pPr algn="l"/>
              <a:r>
                <a:rPr lang="en-US" altLang="zh-CN" sz="2600" dirty="0">
                  <a:solidFill>
                    <a:schemeClr val="tx1"/>
                  </a:solidFill>
                  <a:latin typeface="Times New Roman" panose="02020603050405020304" pitchFamily="18" charset="0"/>
                </a:rPr>
                <a:t>L. Pauling</a:t>
              </a:r>
            </a:p>
          </p:txBody>
        </p:sp>
        <p:grpSp>
          <p:nvGrpSpPr>
            <p:cNvPr id="2059" name="Group 50"/>
            <p:cNvGrpSpPr/>
            <p:nvPr/>
          </p:nvGrpSpPr>
          <p:grpSpPr>
            <a:xfrm>
              <a:off x="228600" y="1295400"/>
              <a:ext cx="7620000" cy="5236108"/>
              <a:chOff x="308" y="914"/>
              <a:chExt cx="4140" cy="3108"/>
            </a:xfrm>
          </p:grpSpPr>
          <p:sp>
            <p:nvSpPr>
              <p:cNvPr id="2060" name="Rectangle 51"/>
              <p:cNvSpPr/>
              <p:nvPr/>
            </p:nvSpPr>
            <p:spPr>
              <a:xfrm>
                <a:off x="308" y="1955"/>
                <a:ext cx="290"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化学键</a:t>
                </a:r>
              </a:p>
            </p:txBody>
          </p:sp>
          <p:sp>
            <p:nvSpPr>
              <p:cNvPr id="2061" name="Rectangle 55"/>
              <p:cNvSpPr/>
              <p:nvPr/>
            </p:nvSpPr>
            <p:spPr>
              <a:xfrm>
                <a:off x="841" y="2251"/>
                <a:ext cx="406"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共价键</a:t>
                </a:r>
              </a:p>
            </p:txBody>
          </p:sp>
          <p:sp>
            <p:nvSpPr>
              <p:cNvPr id="2062" name="Rectangle 56"/>
              <p:cNvSpPr/>
              <p:nvPr/>
            </p:nvSpPr>
            <p:spPr>
              <a:xfrm>
                <a:off x="864" y="3181"/>
                <a:ext cx="428"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金</a:t>
                </a:r>
              </a:p>
              <a:p>
                <a:pPr algn="l" eaLnBrk="0" hangingPunct="0"/>
                <a:r>
                  <a:rPr lang="zh-CN" altLang="en-US" sz="2600" i="0" dirty="0">
                    <a:solidFill>
                      <a:schemeClr val="tx1"/>
                    </a:solidFill>
                    <a:latin typeface="楷体_GB2312" pitchFamily="49" charset="-122"/>
                  </a:rPr>
                  <a:t>属</a:t>
                </a:r>
              </a:p>
              <a:p>
                <a:pPr algn="l" eaLnBrk="0" hangingPunct="0"/>
                <a:r>
                  <a:rPr lang="zh-CN" altLang="en-US" sz="2600" i="0" dirty="0">
                    <a:solidFill>
                      <a:schemeClr val="tx1"/>
                    </a:solidFill>
                    <a:latin typeface="楷体_GB2312" pitchFamily="49" charset="-122"/>
                  </a:rPr>
                  <a:t>键</a:t>
                </a:r>
              </a:p>
            </p:txBody>
          </p:sp>
          <p:sp>
            <p:nvSpPr>
              <p:cNvPr id="2063" name="Rectangle 61"/>
              <p:cNvSpPr/>
              <p:nvPr/>
            </p:nvSpPr>
            <p:spPr>
              <a:xfrm>
                <a:off x="805" y="914"/>
                <a:ext cx="331"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离</a:t>
                </a:r>
                <a:endParaRPr lang="en-US" altLang="zh-CN" sz="2600" i="0" dirty="0">
                  <a:solidFill>
                    <a:schemeClr val="tx1"/>
                  </a:solidFill>
                  <a:latin typeface="楷体_GB2312" pitchFamily="49" charset="-122"/>
                </a:endParaRPr>
              </a:p>
              <a:p>
                <a:pPr algn="l" eaLnBrk="0" hangingPunct="0"/>
                <a:r>
                  <a:rPr lang="zh-CN" altLang="en-US" sz="2600" i="0" dirty="0">
                    <a:solidFill>
                      <a:schemeClr val="tx1"/>
                    </a:solidFill>
                    <a:latin typeface="楷体_GB2312" pitchFamily="49" charset="-122"/>
                  </a:rPr>
                  <a:t>子</a:t>
                </a:r>
                <a:endParaRPr lang="en-US" altLang="zh-CN" sz="2600" i="0" dirty="0">
                  <a:solidFill>
                    <a:schemeClr val="tx1"/>
                  </a:solidFill>
                  <a:latin typeface="楷体_GB2312" pitchFamily="49" charset="-122"/>
                </a:endParaRPr>
              </a:p>
              <a:p>
                <a:pPr algn="l" eaLnBrk="0" hangingPunct="0"/>
                <a:r>
                  <a:rPr lang="zh-CN" altLang="en-US" sz="2600" i="0" dirty="0">
                    <a:solidFill>
                      <a:schemeClr val="tx1"/>
                    </a:solidFill>
                    <a:latin typeface="楷体_GB2312" pitchFamily="49" charset="-122"/>
                  </a:rPr>
                  <a:t>键    </a:t>
                </a:r>
              </a:p>
            </p:txBody>
          </p:sp>
          <p:sp>
            <p:nvSpPr>
              <p:cNvPr id="2064" name="Rectangle 65"/>
              <p:cNvSpPr/>
              <p:nvPr/>
            </p:nvSpPr>
            <p:spPr>
              <a:xfrm>
                <a:off x="1202" y="1616"/>
                <a:ext cx="528"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双原子共价键</a:t>
                </a:r>
              </a:p>
            </p:txBody>
          </p:sp>
          <p:sp>
            <p:nvSpPr>
              <p:cNvPr id="2065" name="Rectangle 66"/>
              <p:cNvSpPr/>
              <p:nvPr/>
            </p:nvSpPr>
            <p:spPr>
              <a:xfrm>
                <a:off x="1202" y="2614"/>
                <a:ext cx="528"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多原子共价键</a:t>
                </a:r>
              </a:p>
            </p:txBody>
          </p:sp>
          <p:sp>
            <p:nvSpPr>
              <p:cNvPr id="2066" name="Rectangle 67"/>
              <p:cNvSpPr/>
              <p:nvPr/>
            </p:nvSpPr>
            <p:spPr>
              <a:xfrm>
                <a:off x="1791" y="1253"/>
                <a:ext cx="1180" cy="841"/>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电子对键</a:t>
                </a:r>
              </a:p>
              <a:p>
                <a:pPr algn="l" eaLnBrk="0" hangingPunct="0"/>
                <a:r>
                  <a:rPr lang="zh-CN" altLang="en-US" sz="2600" i="0" dirty="0">
                    <a:solidFill>
                      <a:schemeClr val="tx1"/>
                    </a:solidFill>
                    <a:latin typeface="楷体_GB2312" pitchFamily="49" charset="-122"/>
                  </a:rPr>
                  <a:t>（单、双、</a:t>
                </a:r>
              </a:p>
              <a:p>
                <a:pPr algn="l" eaLnBrk="0" hangingPunct="0"/>
                <a:r>
                  <a:rPr lang="zh-CN" altLang="en-US" sz="2600" i="0" dirty="0">
                    <a:solidFill>
                      <a:schemeClr val="tx1"/>
                    </a:solidFill>
                    <a:latin typeface="楷体_GB2312" pitchFamily="49" charset="-122"/>
                  </a:rPr>
                  <a:t>叁键）</a:t>
                </a:r>
              </a:p>
            </p:txBody>
          </p:sp>
          <p:sp>
            <p:nvSpPr>
              <p:cNvPr id="2067" name="Rectangle 68"/>
              <p:cNvSpPr/>
              <p:nvPr/>
            </p:nvSpPr>
            <p:spPr>
              <a:xfrm>
                <a:off x="1840" y="2045"/>
                <a:ext cx="828" cy="320"/>
              </a:xfrm>
              <a:prstGeom prst="rect">
                <a:avLst/>
              </a:prstGeom>
              <a:noFill/>
              <a:ln w="12700">
                <a:noFill/>
              </a:ln>
            </p:spPr>
            <p:txBody>
              <a:bodyPr wrap="none">
                <a:spAutoFit/>
              </a:bodyPr>
              <a:lstStyle/>
              <a:p>
                <a:pPr algn="l" eaLnBrk="0" hangingPunct="0"/>
                <a:r>
                  <a:rPr lang="zh-CN" altLang="en-US" sz="2600" i="0" dirty="0">
                    <a:solidFill>
                      <a:schemeClr val="tx1"/>
                    </a:solidFill>
                    <a:latin typeface="楷体_GB2312" pitchFamily="49" charset="-122"/>
                  </a:rPr>
                  <a:t>单电子键</a:t>
                </a:r>
              </a:p>
            </p:txBody>
          </p:sp>
          <p:sp>
            <p:nvSpPr>
              <p:cNvPr id="2068" name="Rectangle 69"/>
              <p:cNvSpPr/>
              <p:nvPr/>
            </p:nvSpPr>
            <p:spPr>
              <a:xfrm>
                <a:off x="1881" y="2450"/>
                <a:ext cx="828" cy="320"/>
              </a:xfrm>
              <a:prstGeom prst="rect">
                <a:avLst/>
              </a:prstGeom>
              <a:noFill/>
              <a:ln w="12700">
                <a:noFill/>
              </a:ln>
            </p:spPr>
            <p:txBody>
              <a:bodyPr wrap="none">
                <a:spAutoFit/>
              </a:bodyPr>
              <a:lstStyle/>
              <a:p>
                <a:pPr algn="l" eaLnBrk="0" hangingPunct="0"/>
                <a:r>
                  <a:rPr lang="zh-CN" altLang="en-US" sz="2600" i="0" dirty="0">
                    <a:solidFill>
                      <a:schemeClr val="tx1"/>
                    </a:solidFill>
                    <a:latin typeface="楷体_GB2312" pitchFamily="49" charset="-122"/>
                  </a:rPr>
                  <a:t>三电子键</a:t>
                </a:r>
              </a:p>
            </p:txBody>
          </p:sp>
          <p:sp>
            <p:nvSpPr>
              <p:cNvPr id="2069" name="Rectangle 70"/>
              <p:cNvSpPr/>
              <p:nvPr/>
            </p:nvSpPr>
            <p:spPr>
              <a:xfrm>
                <a:off x="1840" y="2748"/>
                <a:ext cx="828" cy="320"/>
              </a:xfrm>
              <a:prstGeom prst="rect">
                <a:avLst/>
              </a:prstGeom>
              <a:noFill/>
              <a:ln w="12700">
                <a:noFill/>
              </a:ln>
            </p:spPr>
            <p:txBody>
              <a:bodyPr wrap="none">
                <a:spAutoFit/>
              </a:bodyPr>
              <a:lstStyle/>
              <a:p>
                <a:pPr algn="l" eaLnBrk="0" hangingPunct="0"/>
                <a:r>
                  <a:rPr lang="zh-CN" altLang="en-US" sz="2600" dirty="0">
                    <a:solidFill>
                      <a:schemeClr val="tx1"/>
                    </a:solidFill>
                    <a:latin typeface="楷体_GB2312" pitchFamily="49" charset="-122"/>
                  </a:rPr>
                  <a:t>共轭</a:t>
                </a:r>
                <a:r>
                  <a:rPr lang="en-US" altLang="zh-CN" sz="2600" dirty="0">
                    <a:solidFill>
                      <a:schemeClr val="tx1"/>
                    </a:solidFill>
                    <a:latin typeface="楷体_GB2312" pitchFamily="49" charset="-122"/>
                    <a:cs typeface="Times New Roman" panose="02020603050405020304" pitchFamily="18" charset="0"/>
                  </a:rPr>
                  <a:t>π</a:t>
                </a:r>
                <a:r>
                  <a:rPr lang="zh-CN" altLang="en-US" sz="2600" dirty="0">
                    <a:solidFill>
                      <a:schemeClr val="tx1"/>
                    </a:solidFill>
                    <a:latin typeface="楷体_GB2312" pitchFamily="49" charset="-122"/>
                  </a:rPr>
                  <a:t>键</a:t>
                </a:r>
              </a:p>
            </p:txBody>
          </p:sp>
          <p:sp>
            <p:nvSpPr>
              <p:cNvPr id="2070" name="Rectangle 71"/>
              <p:cNvSpPr/>
              <p:nvPr/>
            </p:nvSpPr>
            <p:spPr>
              <a:xfrm>
                <a:off x="1881" y="3095"/>
                <a:ext cx="828" cy="320"/>
              </a:xfrm>
              <a:prstGeom prst="rect">
                <a:avLst/>
              </a:prstGeom>
              <a:noFill/>
              <a:ln w="12700">
                <a:noFill/>
              </a:ln>
            </p:spPr>
            <p:txBody>
              <a:bodyPr wrap="none">
                <a:spAutoFit/>
              </a:bodyPr>
              <a:lstStyle/>
              <a:p>
                <a:pPr algn="l" eaLnBrk="0" hangingPunct="0"/>
                <a:r>
                  <a:rPr lang="zh-CN" altLang="en-US" sz="2600" dirty="0">
                    <a:solidFill>
                      <a:schemeClr val="tx1"/>
                    </a:solidFill>
                    <a:latin typeface="楷体_GB2312" pitchFamily="49" charset="-122"/>
                  </a:rPr>
                  <a:t>多中心键</a:t>
                </a:r>
              </a:p>
            </p:txBody>
          </p:sp>
          <p:sp>
            <p:nvSpPr>
              <p:cNvPr id="2071" name="Rectangle 73"/>
              <p:cNvSpPr/>
              <p:nvPr/>
            </p:nvSpPr>
            <p:spPr>
              <a:xfrm>
                <a:off x="2835" y="1298"/>
                <a:ext cx="1613" cy="292"/>
              </a:xfrm>
              <a:prstGeom prst="rect">
                <a:avLst/>
              </a:prstGeom>
              <a:noFill/>
              <a:ln w="12700">
                <a:noFill/>
              </a:ln>
            </p:spPr>
            <p:txBody>
              <a:bodyPr>
                <a:spAutoFit/>
              </a:bodyPr>
              <a:lstStyle/>
              <a:p>
                <a:pPr algn="l" eaLnBrk="0" hangingPunct="0"/>
                <a:r>
                  <a:rPr lang="zh-CN" altLang="en-US" sz="2600" i="0" dirty="0">
                    <a:solidFill>
                      <a:schemeClr val="tx1"/>
                    </a:solidFill>
                    <a:latin typeface="楷体_GB2312" pitchFamily="49" charset="-122"/>
                  </a:rPr>
                  <a:t>极性键   配位键</a:t>
                </a:r>
              </a:p>
            </p:txBody>
          </p:sp>
          <p:sp>
            <p:nvSpPr>
              <p:cNvPr id="2072" name="Rectangle 74"/>
              <p:cNvSpPr/>
              <p:nvPr/>
            </p:nvSpPr>
            <p:spPr>
              <a:xfrm>
                <a:off x="2751" y="1638"/>
                <a:ext cx="828" cy="320"/>
              </a:xfrm>
              <a:prstGeom prst="rect">
                <a:avLst/>
              </a:prstGeom>
              <a:noFill/>
              <a:ln w="12700">
                <a:noFill/>
              </a:ln>
            </p:spPr>
            <p:txBody>
              <a:bodyPr wrap="none">
                <a:spAutoFit/>
              </a:bodyPr>
              <a:lstStyle/>
              <a:p>
                <a:pPr algn="l" eaLnBrk="0" hangingPunct="0"/>
                <a:r>
                  <a:rPr lang="zh-CN" altLang="en-US" sz="2600" i="0" dirty="0">
                    <a:solidFill>
                      <a:schemeClr val="tx1"/>
                    </a:solidFill>
                    <a:latin typeface="楷体_GB2312" pitchFamily="49" charset="-122"/>
                  </a:rPr>
                  <a:t>非极性键</a:t>
                </a:r>
              </a:p>
            </p:txBody>
          </p:sp>
        </p:grpSp>
        <p:graphicFrame>
          <p:nvGraphicFramePr>
            <p:cNvPr id="2050" name="Object 39"/>
            <p:cNvGraphicFramePr>
              <a:graphicFrameLocks/>
            </p:cNvGraphicFramePr>
            <p:nvPr/>
          </p:nvGraphicFramePr>
          <p:xfrm>
            <a:off x="1600200" y="2895600"/>
            <a:ext cx="407691" cy="2438400"/>
          </p:xfrm>
          <a:graphic>
            <a:graphicData uri="http://schemas.openxmlformats.org/presentationml/2006/ole">
              <p:oleObj spid="_x0000_s4101" r:id="rId5" imgW="250893" imgH="1488734" progId="">
                <p:embed/>
              </p:oleObj>
            </a:graphicData>
          </a:graphic>
        </p:graphicFrame>
        <p:graphicFrame>
          <p:nvGraphicFramePr>
            <p:cNvPr id="2051" name="Object 3"/>
            <p:cNvGraphicFramePr>
              <a:graphicFrameLocks/>
            </p:cNvGraphicFramePr>
            <p:nvPr/>
          </p:nvGraphicFramePr>
          <p:xfrm>
            <a:off x="2667000" y="2133600"/>
            <a:ext cx="267547" cy="1600200"/>
          </p:xfrm>
          <a:graphic>
            <a:graphicData uri="http://schemas.openxmlformats.org/presentationml/2006/ole">
              <p:oleObj spid="_x0000_s4100" r:id="rId6" imgW="250893" imgH="1488734" progId="">
                <p:embed/>
              </p:oleObj>
            </a:graphicData>
          </a:graphic>
        </p:graphicFrame>
        <p:graphicFrame>
          <p:nvGraphicFramePr>
            <p:cNvPr id="2052" name="Object 41"/>
            <p:cNvGraphicFramePr>
              <a:graphicFrameLocks/>
            </p:cNvGraphicFramePr>
            <p:nvPr/>
          </p:nvGraphicFramePr>
          <p:xfrm>
            <a:off x="2819400" y="4114800"/>
            <a:ext cx="228600" cy="1367258"/>
          </p:xfrm>
          <a:graphic>
            <a:graphicData uri="http://schemas.openxmlformats.org/presentationml/2006/ole">
              <p:oleObj spid="_x0000_s4099" r:id="rId7" imgW="250893" imgH="1488734" progId="">
                <p:embed/>
              </p:oleObj>
            </a:graphicData>
          </a:graphic>
        </p:graphicFrame>
        <p:graphicFrame>
          <p:nvGraphicFramePr>
            <p:cNvPr id="2053" name="Object 42"/>
            <p:cNvGraphicFramePr>
              <a:graphicFrameLocks/>
            </p:cNvGraphicFramePr>
            <p:nvPr/>
          </p:nvGraphicFramePr>
          <p:xfrm>
            <a:off x="4648200" y="2057400"/>
            <a:ext cx="152884" cy="914400"/>
          </p:xfrm>
          <a:graphic>
            <a:graphicData uri="http://schemas.openxmlformats.org/presentationml/2006/ole">
              <p:oleObj spid="_x0000_s4098" r:id="rId8" imgW="250893" imgH="1488734" progId="">
                <p:embed/>
              </p:oleObj>
            </a:graphicData>
          </a:graphic>
        </p:graphicFrame>
        <p:graphicFrame>
          <p:nvGraphicFramePr>
            <p:cNvPr id="2054" name="Object 43"/>
            <p:cNvGraphicFramePr>
              <a:graphicFrameLocks/>
            </p:cNvGraphicFramePr>
            <p:nvPr/>
          </p:nvGraphicFramePr>
          <p:xfrm>
            <a:off x="609600" y="1828800"/>
            <a:ext cx="662498" cy="3962400"/>
          </p:xfrm>
          <a:graphic>
            <a:graphicData uri="http://schemas.openxmlformats.org/presentationml/2006/ole">
              <p:oleObj spid="_x0000_s4097" r:id="rId9" imgW="250893" imgH="1488734" progId="">
                <p:embed/>
              </p:oleObj>
            </a:graphicData>
          </a:graphic>
        </p:graphicFrame>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076" name="Text Box 13"/>
          <p:cNvSpPr txBox="1"/>
          <p:nvPr/>
        </p:nvSpPr>
        <p:spPr>
          <a:xfrm>
            <a:off x="1981200" y="76200"/>
            <a:ext cx="4495800" cy="512763"/>
          </a:xfrm>
          <a:prstGeom prst="rect">
            <a:avLst/>
          </a:prstGeom>
          <a:solidFill>
            <a:srgbClr val="FF99CC"/>
          </a:solidFill>
          <a:ln w="12700">
            <a:noFill/>
          </a:ln>
        </p:spPr>
        <p:txBody>
          <a:bodyPr>
            <a:spAutoFit/>
          </a:bodyPr>
          <a:lstStyle/>
          <a:p>
            <a:pPr eaLnBrk="0" hangingPunct="0">
              <a:lnSpc>
                <a:spcPts val="3600"/>
              </a:lnSpc>
              <a:spcBef>
                <a:spcPct val="50000"/>
              </a:spcBef>
            </a:pPr>
            <a:r>
              <a:rPr lang="zh-CN" altLang="en-US" sz="2600" dirty="0">
                <a:solidFill>
                  <a:schemeClr val="tx1"/>
                </a:solidFill>
                <a:latin typeface="Times New Roman" panose="02020603050405020304" pitchFamily="18" charset="0"/>
              </a:rPr>
              <a:t>共价键理论的发展</a:t>
            </a:r>
          </a:p>
        </p:txBody>
      </p:sp>
      <p:sp>
        <p:nvSpPr>
          <p:cNvPr id="3077" name="Rectangle 14"/>
          <p:cNvSpPr/>
          <p:nvPr/>
        </p:nvSpPr>
        <p:spPr>
          <a:xfrm>
            <a:off x="2514600" y="838200"/>
            <a:ext cx="6172200" cy="2400300"/>
          </a:xfrm>
          <a:prstGeom prst="rect">
            <a:avLst/>
          </a:prstGeom>
          <a:noFill/>
          <a:ln w="9525">
            <a:noFill/>
          </a:ln>
        </p:spPr>
        <p:txBody>
          <a:bodyPr>
            <a:spAutoFit/>
          </a:bodyPr>
          <a:lstStyle/>
          <a:p>
            <a:pPr algn="l">
              <a:lnSpc>
                <a:spcPts val="3600"/>
              </a:lnSpc>
              <a:spcAft>
                <a:spcPct val="20000"/>
              </a:spcAft>
            </a:pPr>
            <a:r>
              <a:rPr lang="en-US" altLang="zh-CN" sz="2600" i="0" dirty="0">
                <a:solidFill>
                  <a:schemeClr val="tx1"/>
                </a:solidFill>
                <a:latin typeface="Times New Roman" panose="02020603050405020304" pitchFamily="18" charset="0"/>
              </a:rPr>
              <a:t>         1916 </a:t>
            </a:r>
            <a:r>
              <a:rPr lang="zh-CN" altLang="en-US" sz="2600" i="0" dirty="0">
                <a:solidFill>
                  <a:schemeClr val="tx1"/>
                </a:solidFill>
                <a:latin typeface="Times New Roman" panose="02020603050405020304" pitchFamily="18" charset="0"/>
              </a:rPr>
              <a:t>年，</a:t>
            </a:r>
            <a:r>
              <a:rPr lang="en-US" altLang="zh-CN" sz="2600" dirty="0">
                <a:solidFill>
                  <a:schemeClr val="tx1"/>
                </a:solidFill>
                <a:latin typeface="Times New Roman" panose="02020603050405020304" pitchFamily="18" charset="0"/>
                <a:ea typeface="宋体" panose="02010600030101010101" pitchFamily="2" charset="-122"/>
              </a:rPr>
              <a:t>G. N</a:t>
            </a:r>
            <a:r>
              <a:rPr lang="en-US" altLang="zh-CN" sz="2600" i="0" dirty="0">
                <a:solidFill>
                  <a:schemeClr val="tx1"/>
                </a:solidFill>
                <a:latin typeface="Times New Roman" panose="02020603050405020304" pitchFamily="18" charset="0"/>
                <a:ea typeface="宋体" panose="02010600030101010101" pitchFamily="2" charset="-122"/>
              </a:rPr>
              <a:t>.</a:t>
            </a:r>
            <a:r>
              <a:rPr lang="en-US" altLang="zh-CN" sz="2600" b="0" i="0" dirty="0">
                <a:solidFill>
                  <a:schemeClr val="tx1"/>
                </a:solidFill>
                <a:latin typeface="Arial" panose="020B0604020202020204" pitchFamily="34" charset="0"/>
                <a:ea typeface="宋体" panose="02010600030101010101" pitchFamily="2" charset="-122"/>
              </a:rPr>
              <a:t> </a:t>
            </a:r>
            <a:r>
              <a:rPr lang="en-US" altLang="zh-CN" sz="2600" i="0" dirty="0">
                <a:solidFill>
                  <a:schemeClr val="tx1"/>
                </a:solidFill>
                <a:latin typeface="Times New Roman" panose="02020603050405020304" pitchFamily="18" charset="0"/>
              </a:rPr>
              <a:t>Lewis </a:t>
            </a:r>
            <a:r>
              <a:rPr lang="zh-CN" altLang="en-US" sz="2600" i="0" dirty="0">
                <a:solidFill>
                  <a:schemeClr val="tx1"/>
                </a:solidFill>
                <a:latin typeface="Times New Roman" panose="02020603050405020304" pitchFamily="18" charset="0"/>
              </a:rPr>
              <a:t>提出共价键理论：分子中的原子都有形成稀有气体电子结构的趋势</a:t>
            </a:r>
            <a:r>
              <a:rPr lang="zh-CN" altLang="en-US" sz="2600" i="0" dirty="0">
                <a:solidFill>
                  <a:srgbClr val="0000FF"/>
                </a:solidFill>
                <a:latin typeface="Times New Roman" panose="02020603050405020304" pitchFamily="18" charset="0"/>
              </a:rPr>
              <a:t>（即</a:t>
            </a:r>
            <a:r>
              <a:rPr lang="zh-CN" altLang="en-US" sz="2600" dirty="0">
                <a:solidFill>
                  <a:srgbClr val="0000FF"/>
                </a:solidFill>
                <a:latin typeface="Times New Roman" panose="02020603050405020304" pitchFamily="18" charset="0"/>
              </a:rPr>
              <a:t>“八隅律”</a:t>
            </a:r>
            <a:r>
              <a:rPr lang="en-US" altLang="zh-CN" sz="2600" dirty="0">
                <a:solidFill>
                  <a:srgbClr val="0000FF"/>
                </a:solidFill>
                <a:latin typeface="Times New Roman" panose="02020603050405020304" pitchFamily="18" charset="0"/>
              </a:rPr>
              <a:t>(octet rule)</a:t>
            </a:r>
            <a:r>
              <a:rPr lang="zh-CN" altLang="en-US" sz="2600" dirty="0">
                <a:solidFill>
                  <a:srgbClr val="0000FF"/>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而这种稳定性可以通过</a:t>
            </a:r>
            <a:r>
              <a:rPr lang="zh-CN" altLang="en-US" sz="2600" dirty="0">
                <a:solidFill>
                  <a:srgbClr val="0000FF"/>
                </a:solidFill>
                <a:latin typeface="Times New Roman" panose="02020603050405020304" pitchFamily="18" charset="0"/>
              </a:rPr>
              <a:t>共用电子对</a:t>
            </a:r>
            <a:r>
              <a:rPr lang="zh-CN" altLang="en-US" sz="2600" i="0" dirty="0">
                <a:solidFill>
                  <a:schemeClr val="tx1"/>
                </a:solidFill>
                <a:latin typeface="Times New Roman" panose="02020603050405020304" pitchFamily="18" charset="0"/>
              </a:rPr>
              <a:t>来实现而不通过离子键来完成。</a:t>
            </a:r>
          </a:p>
        </p:txBody>
      </p:sp>
      <p:pic>
        <p:nvPicPr>
          <p:cNvPr id="3078" name="Picture 15" descr="1"/>
          <p:cNvPicPr>
            <a:picLocks noChangeAspect="1"/>
          </p:cNvPicPr>
          <p:nvPr/>
        </p:nvPicPr>
        <p:blipFill>
          <a:blip r:embed="rId4"/>
          <a:stretch>
            <a:fillRect/>
          </a:stretch>
        </p:blipFill>
        <p:spPr>
          <a:xfrm>
            <a:off x="0" y="609600"/>
            <a:ext cx="2438400" cy="2514600"/>
          </a:xfrm>
          <a:prstGeom prst="rect">
            <a:avLst/>
          </a:prstGeom>
          <a:noFill/>
          <a:ln w="12700">
            <a:noFill/>
          </a:ln>
        </p:spPr>
      </p:pic>
      <p:grpSp>
        <p:nvGrpSpPr>
          <p:cNvPr id="3079" name="Group 16"/>
          <p:cNvGrpSpPr/>
          <p:nvPr/>
        </p:nvGrpSpPr>
        <p:grpSpPr>
          <a:xfrm>
            <a:off x="0" y="3429000"/>
            <a:ext cx="8888413" cy="1073150"/>
            <a:chOff x="48" y="2015"/>
            <a:chExt cx="5599" cy="676"/>
          </a:xfrm>
        </p:grpSpPr>
        <p:sp>
          <p:nvSpPr>
            <p:cNvPr id="3082" name="Text Box 17"/>
            <p:cNvSpPr txBox="1"/>
            <p:nvPr/>
          </p:nvSpPr>
          <p:spPr>
            <a:xfrm>
              <a:off x="48" y="2077"/>
              <a:ext cx="5599" cy="614"/>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例如   </a:t>
              </a:r>
              <a:r>
                <a:rPr lang="en-US" altLang="zh-CN" sz="2600" i="0" dirty="0">
                  <a:solidFill>
                    <a:schemeClr val="tx1"/>
                  </a:solidFill>
                  <a:latin typeface="Times New Roman" panose="02020603050405020304" pitchFamily="18" charset="0"/>
                </a:rPr>
                <a:t>H    +    H  = H  H    </a:t>
              </a:r>
              <a:r>
                <a:rPr lang="zh-CN" altLang="en-US" sz="2600" i="0" dirty="0">
                  <a:solidFill>
                    <a:schemeClr val="tx1"/>
                  </a:solidFill>
                  <a:latin typeface="Times New Roman" panose="02020603050405020304" pitchFamily="18" charset="0"/>
                </a:rPr>
                <a:t>通过共用一对电子，每个 </a:t>
              </a:r>
              <a:r>
                <a:rPr lang="en-US" altLang="zh-CN" sz="2600" i="0" dirty="0">
                  <a:solidFill>
                    <a:schemeClr val="tx1"/>
                  </a:solidFill>
                  <a:latin typeface="Times New Roman" panose="02020603050405020304" pitchFamily="18" charset="0"/>
                </a:rPr>
                <a:t>H </a:t>
              </a:r>
              <a:r>
                <a:rPr lang="zh-CN" altLang="en-US" sz="2600" i="0" dirty="0">
                  <a:solidFill>
                    <a:schemeClr val="tx1"/>
                  </a:solidFill>
                  <a:latin typeface="Times New Roman" panose="02020603050405020304" pitchFamily="18" charset="0"/>
                </a:rPr>
                <a:t>均成为  </a:t>
              </a:r>
              <a:r>
                <a:rPr lang="en-US" altLang="zh-CN" sz="2600" i="0" dirty="0">
                  <a:solidFill>
                    <a:schemeClr val="tx1"/>
                  </a:solidFill>
                  <a:latin typeface="Times New Roman" panose="02020603050405020304" pitchFamily="18" charset="0"/>
                </a:rPr>
                <a:t>He  </a:t>
              </a:r>
              <a:r>
                <a:rPr lang="zh-CN" altLang="en-US" sz="2600" i="0" dirty="0">
                  <a:solidFill>
                    <a:schemeClr val="tx1"/>
                  </a:solidFill>
                  <a:latin typeface="Times New Roman" panose="02020603050405020304" pitchFamily="18" charset="0"/>
                </a:rPr>
                <a:t>的电子构型，形成一个共价键</a:t>
              </a:r>
              <a:r>
                <a:rPr lang="en-US" altLang="zh-CN" sz="2600" i="0" dirty="0">
                  <a:solidFill>
                    <a:schemeClr val="tx1"/>
                  </a:solidFill>
                  <a:latin typeface="Times New Roman" panose="02020603050405020304" pitchFamily="18" charset="0"/>
                </a:rPr>
                <a:t>——Lewis</a:t>
              </a:r>
              <a:r>
                <a:rPr lang="zh-CN" altLang="en-US" sz="2600" i="0" dirty="0">
                  <a:solidFill>
                    <a:schemeClr val="tx1"/>
                  </a:solidFill>
                  <a:latin typeface="Times New Roman" panose="02020603050405020304" pitchFamily="18" charset="0"/>
                </a:rPr>
                <a:t>结构式</a:t>
              </a:r>
            </a:p>
          </p:txBody>
        </p:sp>
        <p:grpSp>
          <p:nvGrpSpPr>
            <p:cNvPr id="3083" name="Group 18"/>
            <p:cNvGrpSpPr/>
            <p:nvPr/>
          </p:nvGrpSpPr>
          <p:grpSpPr>
            <a:xfrm>
              <a:off x="1238" y="2015"/>
              <a:ext cx="1288" cy="439"/>
              <a:chOff x="1238" y="2015"/>
              <a:chExt cx="1288" cy="439"/>
            </a:xfrm>
          </p:grpSpPr>
          <p:grpSp>
            <p:nvGrpSpPr>
              <p:cNvPr id="3084" name="Group 19"/>
              <p:cNvGrpSpPr/>
              <p:nvPr/>
            </p:nvGrpSpPr>
            <p:grpSpPr>
              <a:xfrm>
                <a:off x="2336" y="2034"/>
                <a:ext cx="190" cy="420"/>
                <a:chOff x="2924" y="1888"/>
                <a:chExt cx="190" cy="420"/>
              </a:xfrm>
            </p:grpSpPr>
            <p:sp>
              <p:nvSpPr>
                <p:cNvPr id="3087" name="Rectangle 20"/>
                <p:cNvSpPr/>
                <p:nvPr/>
              </p:nvSpPr>
              <p:spPr>
                <a:xfrm>
                  <a:off x="2924" y="1982"/>
                  <a:ext cx="190" cy="326"/>
                </a:xfrm>
                <a:prstGeom prst="rect">
                  <a:avLst/>
                </a:prstGeom>
                <a:noFill/>
                <a:ln w="9525">
                  <a:noFill/>
                </a:ln>
              </p:spPr>
              <p:txBody>
                <a:bodyPr wrap="none">
                  <a:spAutoFit/>
                </a:bodyPr>
                <a:lstStyle/>
                <a:p>
                  <a:pPr algn="l">
                    <a:lnSpc>
                      <a:spcPts val="3600"/>
                    </a:lnSpc>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3088" name="Rectangle 21"/>
                <p:cNvSpPr/>
                <p:nvPr/>
              </p:nvSpPr>
              <p:spPr>
                <a:xfrm>
                  <a:off x="2924" y="1888"/>
                  <a:ext cx="190" cy="326"/>
                </a:xfrm>
                <a:prstGeom prst="rect">
                  <a:avLst/>
                </a:prstGeom>
                <a:noFill/>
                <a:ln w="9525">
                  <a:noFill/>
                </a:ln>
              </p:spPr>
              <p:txBody>
                <a:bodyPr wrap="none">
                  <a:spAutoFit/>
                </a:bodyPr>
                <a:lstStyle/>
                <a:p>
                  <a:pPr algn="l">
                    <a:lnSpc>
                      <a:spcPts val="3600"/>
                    </a:lnSpc>
                  </a:pPr>
                  <a:r>
                    <a:rPr lang="en-US" altLang="zh-CN" sz="2600" i="0" dirty="0">
                      <a:solidFill>
                        <a:schemeClr val="tx1"/>
                      </a:solidFill>
                      <a:latin typeface="Times New Roman" panose="02020603050405020304" pitchFamily="18" charset="0"/>
                      <a:ea typeface="宋体" panose="02010600030101010101" pitchFamily="2" charset="-122"/>
                    </a:rPr>
                    <a:t>•</a:t>
                  </a:r>
                </a:p>
              </p:txBody>
            </p:sp>
          </p:grpSp>
          <p:sp>
            <p:nvSpPr>
              <p:cNvPr id="3085" name="Rectangle 22"/>
              <p:cNvSpPr/>
              <p:nvPr/>
            </p:nvSpPr>
            <p:spPr>
              <a:xfrm>
                <a:off x="1238" y="2015"/>
                <a:ext cx="190" cy="326"/>
              </a:xfrm>
              <a:prstGeom prst="rect">
                <a:avLst/>
              </a:prstGeom>
              <a:noFill/>
              <a:ln w="9525">
                <a:noFill/>
              </a:ln>
            </p:spPr>
            <p:txBody>
              <a:bodyPr wrap="none">
                <a:spAutoFit/>
              </a:bodyPr>
              <a:lstStyle/>
              <a:p>
                <a:pPr algn="l">
                  <a:lnSpc>
                    <a:spcPts val="3600"/>
                  </a:lnSpc>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3086" name="Rectangle 23"/>
              <p:cNvSpPr/>
              <p:nvPr/>
            </p:nvSpPr>
            <p:spPr>
              <a:xfrm>
                <a:off x="1613" y="2112"/>
                <a:ext cx="190" cy="326"/>
              </a:xfrm>
              <a:prstGeom prst="rect">
                <a:avLst/>
              </a:prstGeom>
              <a:noFill/>
              <a:ln w="9525">
                <a:noFill/>
              </a:ln>
            </p:spPr>
            <p:txBody>
              <a:bodyPr wrap="none">
                <a:spAutoFit/>
              </a:bodyPr>
              <a:lstStyle/>
              <a:p>
                <a:pPr algn="l">
                  <a:lnSpc>
                    <a:spcPts val="3600"/>
                  </a:lnSpc>
                </a:pPr>
                <a:r>
                  <a:rPr lang="en-US" altLang="zh-CN" sz="2600" i="0" dirty="0">
                    <a:solidFill>
                      <a:schemeClr val="tx1"/>
                    </a:solidFill>
                    <a:latin typeface="Times New Roman" panose="02020603050405020304" pitchFamily="18" charset="0"/>
                    <a:ea typeface="宋体" panose="02010600030101010101" pitchFamily="2" charset="-122"/>
                  </a:rPr>
                  <a:t>•</a:t>
                </a:r>
              </a:p>
            </p:txBody>
          </p:sp>
        </p:grpSp>
      </p:grpSp>
      <p:grpSp>
        <p:nvGrpSpPr>
          <p:cNvPr id="3080" name="Group 27"/>
          <p:cNvGrpSpPr/>
          <p:nvPr/>
        </p:nvGrpSpPr>
        <p:grpSpPr>
          <a:xfrm>
            <a:off x="2209800" y="4648200"/>
            <a:ext cx="4291013" cy="1085850"/>
            <a:chOff x="3813" y="3184"/>
            <a:chExt cx="1983" cy="684"/>
          </a:xfrm>
        </p:grpSpPr>
        <p:graphicFrame>
          <p:nvGraphicFramePr>
            <p:cNvPr id="3074" name="Object 28"/>
            <p:cNvGraphicFramePr>
              <a:graphicFrameLocks/>
            </p:cNvGraphicFramePr>
            <p:nvPr/>
          </p:nvGraphicFramePr>
          <p:xfrm>
            <a:off x="5010" y="3184"/>
            <a:ext cx="786" cy="684"/>
          </p:xfrm>
          <a:graphic>
            <a:graphicData uri="http://schemas.openxmlformats.org/presentationml/2006/ole">
              <p:oleObj spid="_x0000_s20481" r:id="rId5" imgW="514350" imgH="447675" progId="">
                <p:embed/>
              </p:oleObj>
            </a:graphicData>
          </a:graphic>
        </p:graphicFrame>
        <p:sp>
          <p:nvSpPr>
            <p:cNvPr id="3081" name="Text Box 29"/>
            <p:cNvSpPr txBox="1"/>
            <p:nvPr/>
          </p:nvSpPr>
          <p:spPr>
            <a:xfrm>
              <a:off x="3813" y="3280"/>
              <a:ext cx="368" cy="326"/>
            </a:xfrm>
            <a:prstGeom prst="rect">
              <a:avLst/>
            </a:prstGeom>
            <a:noFill/>
            <a:ln w="28575">
              <a:noFill/>
            </a:ln>
          </p:spPr>
          <p:txBody>
            <a:bodyPr wrap="none" anchor="ctr" anchorCtr="0">
              <a:spAutoFit/>
            </a:bodyPr>
            <a:lstStyle/>
            <a:p>
              <a:pPr algn="l">
                <a:lnSpc>
                  <a:spcPts val="3600"/>
                </a:lnSpc>
              </a:pPr>
              <a:r>
                <a:rPr lang="en-US" altLang="zh-CN" sz="2600" i="0" dirty="0">
                  <a:solidFill>
                    <a:schemeClr val="tx1"/>
                  </a:solidFill>
                  <a:latin typeface="Times New Roman" panose="02020603050405020304" pitchFamily="18" charset="0"/>
                </a:rPr>
                <a:t>NH</a:t>
              </a:r>
              <a:r>
                <a:rPr lang="en-US" altLang="zh-CN" sz="2600" i="0" baseline="-25000" dirty="0">
                  <a:solidFill>
                    <a:schemeClr val="tx1"/>
                  </a:solidFill>
                  <a:latin typeface="Times New Roman" panose="02020603050405020304" pitchFamily="18" charset="0"/>
                </a:rPr>
                <a:t>3</a:t>
              </a:r>
              <a:endParaRPr lang="en-US" altLang="zh-CN" sz="2600" i="0" dirty="0">
                <a:solidFill>
                  <a:schemeClr val="tx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794" name="组合 5"/>
          <p:cNvGrpSpPr/>
          <p:nvPr/>
        </p:nvGrpSpPr>
        <p:grpSpPr>
          <a:xfrm>
            <a:off x="304800" y="228600"/>
            <a:ext cx="8534400" cy="3632200"/>
            <a:chOff x="304800" y="228600"/>
            <a:chExt cx="8534400" cy="3632410"/>
          </a:xfrm>
        </p:grpSpPr>
        <p:sp>
          <p:nvSpPr>
            <p:cNvPr id="33795" name="Rectangle 16"/>
            <p:cNvSpPr/>
            <p:nvPr/>
          </p:nvSpPr>
          <p:spPr>
            <a:xfrm>
              <a:off x="381000" y="1981200"/>
              <a:ext cx="8382000" cy="1879810"/>
            </a:xfrm>
            <a:prstGeom prst="rect">
              <a:avLst/>
            </a:prstGeom>
            <a:solidFill>
              <a:schemeClr val="bg1"/>
            </a:solidFill>
            <a:ln w="9525">
              <a:noFill/>
            </a:ln>
          </p:spPr>
          <p:txBody>
            <a:bodyPr anchor="ctr" anchorCtr="0">
              <a:spAutoFit/>
            </a:bodyPr>
            <a:lstStyle/>
            <a:p>
              <a:pPr algn="l">
                <a:lnSpc>
                  <a:spcPts val="3600"/>
                </a:lnSpc>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本章是在原子结构理论的基础上，介绍分子结构的基本理论，其中着重阐述</a:t>
              </a:r>
              <a:r>
                <a:rPr lang="zh-CN" altLang="en-US" sz="2600" dirty="0">
                  <a:solidFill>
                    <a:srgbClr val="0000FF"/>
                  </a:solidFill>
                  <a:latin typeface="楷体_GB2312" pitchFamily="49" charset="-122"/>
                </a:rPr>
                <a:t>价键理论（包括杂化轨道理论）、</a:t>
              </a:r>
              <a:r>
                <a:rPr lang="en-US" altLang="zh-CN" sz="2600" dirty="0">
                  <a:solidFill>
                    <a:srgbClr val="0000FF"/>
                  </a:solidFill>
                  <a:latin typeface="Times New Roman" panose="02020603050405020304" pitchFamily="18" charset="0"/>
                </a:rPr>
                <a:t>VSEPR</a:t>
              </a:r>
              <a:r>
                <a:rPr lang="zh-CN" altLang="en-US" sz="2600" dirty="0">
                  <a:solidFill>
                    <a:srgbClr val="0000FF"/>
                  </a:solidFill>
                  <a:latin typeface="楷体_GB2312" pitchFamily="49" charset="-122"/>
                </a:rPr>
                <a:t>理论；对分子间作用力与氢键</a:t>
              </a:r>
              <a:r>
                <a:rPr lang="zh-CN" altLang="en-US" sz="2600" i="0" dirty="0">
                  <a:solidFill>
                    <a:schemeClr val="tx1"/>
                  </a:solidFill>
                  <a:latin typeface="楷体_GB2312" pitchFamily="49" charset="-122"/>
                </a:rPr>
                <a:t>也作进一步的介绍。 </a:t>
              </a:r>
            </a:p>
          </p:txBody>
        </p:sp>
        <p:sp>
          <p:nvSpPr>
            <p:cNvPr id="33796" name="Text Box 19"/>
            <p:cNvSpPr txBox="1"/>
            <p:nvPr/>
          </p:nvSpPr>
          <p:spPr>
            <a:xfrm>
              <a:off x="304800" y="228600"/>
              <a:ext cx="8534400" cy="1436034"/>
            </a:xfrm>
            <a:prstGeom prst="rect">
              <a:avLst/>
            </a:prstGeom>
            <a:solidFill>
              <a:schemeClr val="bg1"/>
            </a:solidFill>
            <a:ln w="9525">
              <a:noFill/>
            </a:ln>
          </p:spPr>
          <p:txBody>
            <a:bodyPr>
              <a:spAutoFit/>
            </a:bodyPr>
            <a:lstStyle/>
            <a:p>
              <a:pPr algn="l">
                <a:lnSpc>
                  <a:spcPts val="3600"/>
                </a:lnSpc>
                <a:spcAft>
                  <a:spcPct val="40000"/>
                </a:spcAft>
              </a:pPr>
              <a:r>
                <a:rPr lang="en-US" altLang="zh-CN" sz="2600" i="0" dirty="0">
                  <a:solidFill>
                    <a:schemeClr val="tx1"/>
                  </a:solidFill>
                  <a:latin typeface="Times New Roman" panose="02020603050405020304" pitchFamily="18" charset="0"/>
                </a:rPr>
                <a:t>         1927</a:t>
              </a:r>
              <a:r>
                <a:rPr lang="zh-CN" altLang="en-US" sz="2600" i="0" dirty="0">
                  <a:solidFill>
                    <a:schemeClr val="tx1"/>
                  </a:solidFill>
                  <a:latin typeface="Times New Roman" panose="02020603050405020304" pitchFamily="18" charset="0"/>
                </a:rPr>
                <a:t>年，德国化学家</a:t>
              </a:r>
              <a:r>
                <a:rPr lang="en-US" altLang="zh-CN" sz="2600" i="0" dirty="0">
                  <a:solidFill>
                    <a:schemeClr val="tx1"/>
                  </a:solidFill>
                  <a:latin typeface="Times New Roman" panose="02020603050405020304" pitchFamily="18" charset="0"/>
                </a:rPr>
                <a:t>W. Heitler </a:t>
              </a:r>
              <a:r>
                <a:rPr lang="zh-CN" altLang="en-US" sz="2600" i="0" dirty="0">
                  <a:solidFill>
                    <a:schemeClr val="tx1"/>
                  </a:solidFill>
                  <a:latin typeface="Times New Roman" panose="02020603050405020304" pitchFamily="18" charset="0"/>
                </a:rPr>
                <a:t>和 </a:t>
              </a:r>
              <a:r>
                <a:rPr lang="en-US" altLang="zh-CN" sz="2600" i="0" dirty="0">
                  <a:solidFill>
                    <a:schemeClr val="tx1"/>
                  </a:solidFill>
                  <a:latin typeface="Times New Roman" panose="02020603050405020304" pitchFamily="18" charset="0"/>
                </a:rPr>
                <a:t>F. London  </a:t>
              </a:r>
              <a:r>
                <a:rPr lang="zh-CN" altLang="en-US" sz="2600" i="0" dirty="0">
                  <a:solidFill>
                    <a:schemeClr val="tx1"/>
                  </a:solidFill>
                  <a:latin typeface="Times New Roman" panose="02020603050405020304" pitchFamily="18" charset="0"/>
                </a:rPr>
                <a:t>用量子力学处理氢气分子  </a:t>
              </a:r>
              <a:r>
                <a:rPr lang="en-US" altLang="zh-CN" sz="2600" i="0" dirty="0">
                  <a:solidFill>
                    <a:schemeClr val="tx1"/>
                  </a:solidFill>
                  <a:latin typeface="Times New Roman" panose="02020603050405020304" pitchFamily="18" charset="0"/>
                </a:rPr>
                <a:t>H</a:t>
              </a:r>
              <a:r>
                <a:rPr lang="en-US" altLang="zh-CN" sz="2600" i="0" baseline="-25000" dirty="0">
                  <a:solidFill>
                    <a:schemeClr val="tx1"/>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，揭示了共价键的本质，使共价键理论从经典的  </a:t>
              </a:r>
              <a:r>
                <a:rPr lang="en-US" altLang="zh-CN" sz="2600" i="0" dirty="0">
                  <a:solidFill>
                    <a:schemeClr val="tx1"/>
                  </a:solidFill>
                  <a:latin typeface="Times New Roman" panose="02020603050405020304" pitchFamily="18" charset="0"/>
                </a:rPr>
                <a:t>Lewis  </a:t>
              </a:r>
              <a:r>
                <a:rPr lang="zh-CN" altLang="en-US" sz="2600" i="0" dirty="0">
                  <a:solidFill>
                    <a:schemeClr val="tx1"/>
                  </a:solidFill>
                  <a:latin typeface="Times New Roman" panose="02020603050405020304" pitchFamily="18" charset="0"/>
                </a:rPr>
                <a:t>理论发展到今天的现代价键理论。</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4818" name="组合 5"/>
          <p:cNvGrpSpPr/>
          <p:nvPr/>
        </p:nvGrpSpPr>
        <p:grpSpPr>
          <a:xfrm>
            <a:off x="228600" y="228600"/>
            <a:ext cx="8610600" cy="2241550"/>
            <a:chOff x="152400" y="457200"/>
            <a:chExt cx="8610600" cy="2240816"/>
          </a:xfrm>
        </p:grpSpPr>
        <p:sp>
          <p:nvSpPr>
            <p:cNvPr id="34819" name="Rectangle 12"/>
            <p:cNvSpPr/>
            <p:nvPr/>
          </p:nvSpPr>
          <p:spPr>
            <a:xfrm>
              <a:off x="2743200" y="457200"/>
              <a:ext cx="3200400" cy="542008"/>
            </a:xfrm>
            <a:prstGeom prst="rect">
              <a:avLst/>
            </a:prstGeom>
            <a:noFill/>
            <a:ln w="9525">
              <a:noFill/>
            </a:ln>
          </p:spPr>
          <p:txBody>
            <a:bodyPr anchor="ctr" anchorCtr="0">
              <a:spAutoFit/>
            </a:bodyPr>
            <a:lstStyle/>
            <a:p>
              <a:pPr algn="l">
                <a:lnSpc>
                  <a:spcPts val="4000"/>
                </a:lnSpc>
              </a:pPr>
              <a:r>
                <a:rPr lang="en-US" altLang="zh-CN" sz="3000" dirty="0">
                  <a:solidFill>
                    <a:srgbClr val="FF0000"/>
                  </a:solidFill>
                  <a:latin typeface="楷体_GB2312" pitchFamily="49" charset="-122"/>
                </a:rPr>
                <a:t>    </a:t>
              </a:r>
              <a:r>
                <a:rPr lang="zh-CN" altLang="en-US" sz="3000" dirty="0">
                  <a:solidFill>
                    <a:srgbClr val="FF0000"/>
                  </a:solidFill>
                  <a:latin typeface="楷体_GB2312" pitchFamily="49" charset="-122"/>
                </a:rPr>
                <a:t>本章要求：</a:t>
              </a:r>
              <a:r>
                <a:rPr lang="zh-CN" altLang="en-US" sz="3000" i="0" dirty="0">
                  <a:solidFill>
                    <a:srgbClr val="FF0000"/>
                  </a:solidFill>
                  <a:latin typeface="楷体_GB2312" pitchFamily="49" charset="-122"/>
                </a:rPr>
                <a:t> </a:t>
              </a:r>
            </a:p>
          </p:txBody>
        </p:sp>
        <p:sp>
          <p:nvSpPr>
            <p:cNvPr id="34820" name="Rectangle 13"/>
            <p:cNvSpPr/>
            <p:nvPr/>
          </p:nvSpPr>
          <p:spPr>
            <a:xfrm>
              <a:off x="152400" y="1066800"/>
              <a:ext cx="8610600" cy="1631216"/>
            </a:xfrm>
            <a:prstGeom prst="rect">
              <a:avLst/>
            </a:prstGeom>
            <a:noFill/>
            <a:ln w="9525">
              <a:noFill/>
            </a:ln>
          </p:spPr>
          <p:txBody>
            <a:bodyPr anchor="ctr" anchorCtr="0">
              <a:spAutoFit/>
            </a:bodyPr>
            <a:lstStyle/>
            <a:p>
              <a:pPr algn="l">
                <a:lnSpc>
                  <a:spcPts val="4000"/>
                </a:lnSpc>
              </a:pPr>
              <a:r>
                <a:rPr lang="en-US" altLang="zh-CN" sz="3000" i="0" dirty="0">
                  <a:solidFill>
                    <a:schemeClr val="tx1"/>
                  </a:solidFill>
                  <a:latin typeface="Times New Roman" panose="02020603050405020304" pitchFamily="18" charset="0"/>
                </a:rPr>
                <a:t>         1</a:t>
              </a:r>
              <a:r>
                <a:rPr lang="zh-CN" altLang="en-US" sz="3000" i="0" dirty="0">
                  <a:solidFill>
                    <a:schemeClr val="tx1"/>
                  </a:solidFill>
                  <a:latin typeface="Times New Roman" panose="02020603050405020304" pitchFamily="18" charset="0"/>
                </a:rPr>
                <a:t>、掌握价健理论</a:t>
              </a:r>
              <a:r>
                <a:rPr lang="en-US" altLang="zh-CN" sz="3000" i="0" dirty="0">
                  <a:solidFill>
                    <a:schemeClr val="tx1"/>
                  </a:solidFill>
                  <a:latin typeface="Times New Roman" panose="02020603050405020304" pitchFamily="18" charset="0"/>
                </a:rPr>
                <a:t>(VB)</a:t>
              </a:r>
              <a:r>
                <a:rPr lang="zh-CN" altLang="en-US" sz="3000" i="0" dirty="0">
                  <a:solidFill>
                    <a:schemeClr val="tx1"/>
                  </a:solidFill>
                  <a:latin typeface="Times New Roman" panose="02020603050405020304" pitchFamily="18" charset="0"/>
                </a:rPr>
                <a:t>（包括杂化轨道理论）</a:t>
              </a:r>
            </a:p>
            <a:p>
              <a:pPr algn="l">
                <a:lnSpc>
                  <a:spcPts val="4000"/>
                </a:lnSpc>
              </a:pPr>
              <a:r>
                <a:rPr lang="zh-CN" altLang="en-US" sz="3000" i="0" dirty="0">
                  <a:solidFill>
                    <a:schemeClr val="tx1"/>
                  </a:solidFill>
                  <a:latin typeface="Times New Roman" panose="02020603050405020304" pitchFamily="18" charset="0"/>
                </a:rPr>
                <a:t>         </a:t>
              </a:r>
              <a:r>
                <a:rPr lang="en-US" altLang="zh-CN" sz="3000" i="0" dirty="0">
                  <a:solidFill>
                    <a:schemeClr val="tx1"/>
                  </a:solidFill>
                  <a:latin typeface="Times New Roman" panose="02020603050405020304" pitchFamily="18" charset="0"/>
                </a:rPr>
                <a:t>2</a:t>
              </a:r>
              <a:r>
                <a:rPr lang="zh-CN" altLang="en-US" sz="3000" i="0" dirty="0">
                  <a:solidFill>
                    <a:schemeClr val="tx1"/>
                  </a:solidFill>
                  <a:latin typeface="Times New Roman" panose="02020603050405020304" pitchFamily="18" charset="0"/>
                </a:rPr>
                <a:t>、掌握价层电子对互斥理论（</a:t>
              </a:r>
              <a:r>
                <a:rPr lang="en-US" altLang="zh-CN" sz="3000" i="0" dirty="0">
                  <a:solidFill>
                    <a:schemeClr val="tx1"/>
                  </a:solidFill>
                  <a:latin typeface="Times New Roman" panose="02020603050405020304" pitchFamily="18" charset="0"/>
                </a:rPr>
                <a:t>VSEPR</a:t>
              </a:r>
              <a:r>
                <a:rPr lang="zh-CN" altLang="en-US" sz="3000" i="0" dirty="0">
                  <a:solidFill>
                    <a:schemeClr val="tx1"/>
                  </a:solidFill>
                  <a:latin typeface="Times New Roman" panose="02020603050405020304" pitchFamily="18" charset="0"/>
                </a:rPr>
                <a:t>）</a:t>
              </a:r>
            </a:p>
            <a:p>
              <a:pPr algn="l">
                <a:lnSpc>
                  <a:spcPts val="4000"/>
                </a:lnSpc>
              </a:pPr>
              <a:r>
                <a:rPr lang="zh-CN" altLang="en-US" sz="3000" i="0" dirty="0">
                  <a:solidFill>
                    <a:schemeClr val="tx1"/>
                  </a:solidFill>
                  <a:latin typeface="Times New Roman" panose="02020603050405020304" pitchFamily="18" charset="0"/>
                </a:rPr>
                <a:t>         </a:t>
              </a:r>
              <a:r>
                <a:rPr lang="en-US" altLang="zh-CN" sz="3000" i="0" dirty="0">
                  <a:solidFill>
                    <a:schemeClr val="tx1"/>
                  </a:solidFill>
                  <a:latin typeface="Times New Roman" panose="02020603050405020304" pitchFamily="18" charset="0"/>
                </a:rPr>
                <a:t>3</a:t>
              </a:r>
              <a:r>
                <a:rPr lang="zh-CN" altLang="en-US" sz="3000" i="0" dirty="0">
                  <a:solidFill>
                    <a:schemeClr val="tx1"/>
                  </a:solidFill>
                  <a:latin typeface="Times New Roman" panose="02020603050405020304" pitchFamily="18" charset="0"/>
                </a:rPr>
                <a:t>、掌握分子间作用力与氢键</a:t>
              </a: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53" name="Rectangle 13"/>
          <p:cNvSpPr/>
          <p:nvPr/>
        </p:nvSpPr>
        <p:spPr>
          <a:xfrm>
            <a:off x="685800" y="76200"/>
            <a:ext cx="7391400" cy="523875"/>
          </a:xfrm>
          <a:prstGeom prst="rect">
            <a:avLst/>
          </a:prstGeom>
          <a:gradFill rotWithShape="1">
            <a:gsLst>
              <a:gs pos="0">
                <a:srgbClr val="475E00"/>
              </a:gs>
              <a:gs pos="50000">
                <a:srgbClr val="99CC00"/>
              </a:gs>
              <a:gs pos="100000">
                <a:srgbClr val="475E00"/>
              </a:gs>
            </a:gsLst>
            <a:lin ang="5400000" scaled="1"/>
            <a:tileRect/>
          </a:gradFill>
          <a:ln w="9525">
            <a:noFill/>
          </a:ln>
        </p:spPr>
        <p:txBody>
          <a:bodyPr anchor="ctr" anchorCtr="0">
            <a:spAutoFit/>
          </a:bodyPr>
          <a:lstStyle/>
          <a:p>
            <a:r>
              <a:rPr lang="en-US" altLang="zh-CN" sz="2800" i="0" dirty="0">
                <a:solidFill>
                  <a:srgbClr val="FF0066"/>
                </a:solidFill>
                <a:latin typeface="Times New Roman" panose="02020603050405020304" pitchFamily="18" charset="0"/>
              </a:rPr>
              <a:t>§9.1     </a:t>
            </a:r>
            <a:r>
              <a:rPr lang="zh-CN" altLang="en-US" sz="2800" i="0" dirty="0">
                <a:solidFill>
                  <a:srgbClr val="FF0066"/>
                </a:solidFill>
                <a:latin typeface="Times New Roman" panose="02020603050405020304" pitchFamily="18" charset="0"/>
              </a:rPr>
              <a:t>价健理论</a:t>
            </a:r>
            <a:r>
              <a:rPr lang="zh-CN" altLang="en-US" sz="2800" dirty="0">
                <a:solidFill>
                  <a:schemeClr val="tx1"/>
                </a:solidFill>
                <a:latin typeface="Times New Roman" panose="02020603050405020304" pitchFamily="18" charset="0"/>
              </a:rPr>
              <a:t>（</a:t>
            </a:r>
            <a:r>
              <a:rPr lang="en-US" altLang="zh-CN" sz="2800" dirty="0">
                <a:solidFill>
                  <a:schemeClr val="tx1"/>
                </a:solidFill>
                <a:latin typeface="Times New Roman" panose="02020603050405020304" pitchFamily="18" charset="0"/>
                <a:ea typeface="宋体" panose="02010600030101010101" pitchFamily="2" charset="-122"/>
              </a:rPr>
              <a:t>Valence Bond Theory</a:t>
            </a:r>
            <a:r>
              <a:rPr lang="en-US" altLang="zh-CN" sz="2800" b="0" dirty="0">
                <a:solidFill>
                  <a:schemeClr val="tx1"/>
                </a:solidFill>
                <a:latin typeface="Times New Roman" panose="02020603050405020304" pitchFamily="18" charset="0"/>
                <a:ea typeface="宋体" panose="02010600030101010101" pitchFamily="2" charset="-122"/>
              </a:rPr>
              <a:t> )</a:t>
            </a:r>
          </a:p>
        </p:txBody>
      </p:sp>
      <p:grpSp>
        <p:nvGrpSpPr>
          <p:cNvPr id="2" name="组合 7"/>
          <p:cNvGrpSpPr/>
          <p:nvPr/>
        </p:nvGrpSpPr>
        <p:grpSpPr>
          <a:xfrm>
            <a:off x="228600" y="1447800"/>
            <a:ext cx="8685213" cy="4953000"/>
            <a:chOff x="304800" y="1676400"/>
            <a:chExt cx="8532813" cy="4953000"/>
          </a:xfrm>
        </p:grpSpPr>
        <p:sp>
          <p:nvSpPr>
            <p:cNvPr id="4104" name="Text Box 15"/>
            <p:cNvSpPr txBox="1"/>
            <p:nvPr/>
          </p:nvSpPr>
          <p:spPr>
            <a:xfrm>
              <a:off x="304800" y="1676400"/>
              <a:ext cx="8458200" cy="1436034"/>
            </a:xfrm>
            <a:prstGeom prst="rect">
              <a:avLst/>
            </a:prstGeom>
            <a:noFill/>
            <a:ln w="9525">
              <a:noFill/>
            </a:ln>
          </p:spPr>
          <p:txBody>
            <a:bodyPr>
              <a:spAutoFit/>
            </a:bodyPr>
            <a:lstStyle/>
            <a:p>
              <a:pPr algn="l">
                <a:lnSpc>
                  <a:spcPts val="3600"/>
                </a:lnSpc>
                <a:spcAft>
                  <a:spcPct val="25000"/>
                </a:spcAft>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量子力学计算表明，两个具有 </a:t>
              </a:r>
              <a:r>
                <a:rPr lang="en-US" altLang="zh-CN" sz="2600" i="0" dirty="0">
                  <a:solidFill>
                    <a:schemeClr val="tx1"/>
                  </a:solidFill>
                  <a:latin typeface="Times New Roman" panose="02020603050405020304" pitchFamily="18" charset="0"/>
                </a:rPr>
                <a:t>1s</a:t>
              </a:r>
              <a:r>
                <a:rPr lang="en-US" altLang="zh-CN" sz="2600" i="0" baseline="30000" dirty="0">
                  <a:solidFill>
                    <a:schemeClr val="tx1"/>
                  </a:solidFill>
                  <a:latin typeface="Times New Roman" panose="02020603050405020304" pitchFamily="18" charset="0"/>
                </a:rPr>
                <a:t>1</a:t>
              </a:r>
              <a:r>
                <a:rPr lang="en-US" altLang="zh-CN" sz="2600" i="0" dirty="0">
                  <a:solidFill>
                    <a:schemeClr val="tx1"/>
                  </a:solidFill>
                  <a:latin typeface="Times New Roman" panose="02020603050405020304" pitchFamily="18" charset="0"/>
                </a:rPr>
                <a:t> </a:t>
              </a:r>
              <a:r>
                <a:rPr lang="zh-CN" altLang="zh-CN" sz="2600" i="0" dirty="0">
                  <a:solidFill>
                    <a:schemeClr val="tx1"/>
                  </a:solidFill>
                  <a:latin typeface="Times New Roman" panose="02020603050405020304" pitchFamily="18" charset="0"/>
                </a:rPr>
                <a:t>电子构型的 </a:t>
              </a:r>
              <a:r>
                <a:rPr lang="en-US" altLang="zh-CN" sz="2600" i="0" dirty="0">
                  <a:solidFill>
                    <a:schemeClr val="tx1"/>
                  </a:solidFill>
                  <a:latin typeface="Times New Roman" panose="02020603050405020304" pitchFamily="18" charset="0"/>
                </a:rPr>
                <a:t>H </a:t>
              </a:r>
              <a:r>
                <a:rPr lang="zh-CN" altLang="en-US" sz="2600" i="0" dirty="0">
                  <a:solidFill>
                    <a:schemeClr val="tx1"/>
                  </a:solidFill>
                  <a:latin typeface="Times New Roman" panose="02020603050405020304" pitchFamily="18" charset="0"/>
                </a:rPr>
                <a:t>彼此靠近时， 两个 </a:t>
              </a:r>
              <a:r>
                <a:rPr lang="en-US" altLang="zh-CN" sz="2600" i="0" dirty="0">
                  <a:solidFill>
                    <a:schemeClr val="tx1"/>
                  </a:solidFill>
                  <a:latin typeface="Times New Roman" panose="02020603050405020304" pitchFamily="18" charset="0"/>
                </a:rPr>
                <a:t>1s </a:t>
              </a:r>
              <a:r>
                <a:rPr lang="zh-CN" altLang="en-US" sz="2600" i="0" dirty="0">
                  <a:solidFill>
                    <a:schemeClr val="tx1"/>
                  </a:solidFill>
                  <a:latin typeface="Times New Roman" panose="02020603050405020304" pitchFamily="18" charset="0"/>
                </a:rPr>
                <a:t>电子以自旋相反的方式形成了一个密度相对大的电子云（负电性），</a:t>
              </a:r>
              <a:r>
                <a:rPr lang="zh-CN" altLang="en-US" sz="2600" b="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从而使体系的能量降低。</a:t>
              </a:r>
            </a:p>
          </p:txBody>
        </p:sp>
        <p:grpSp>
          <p:nvGrpSpPr>
            <p:cNvPr id="4105" name="Group 89"/>
            <p:cNvGrpSpPr/>
            <p:nvPr/>
          </p:nvGrpSpPr>
          <p:grpSpPr>
            <a:xfrm>
              <a:off x="379412" y="3124199"/>
              <a:ext cx="8458201" cy="3505201"/>
              <a:chOff x="239" y="1968"/>
              <a:chExt cx="5328" cy="2208"/>
            </a:xfrm>
          </p:grpSpPr>
          <p:sp>
            <p:nvSpPr>
              <p:cNvPr id="4106" name="Rectangle 87"/>
              <p:cNvSpPr/>
              <p:nvPr/>
            </p:nvSpPr>
            <p:spPr>
              <a:xfrm>
                <a:off x="239" y="1968"/>
                <a:ext cx="5328" cy="931"/>
              </a:xfrm>
              <a:prstGeom prst="rect">
                <a:avLst/>
              </a:prstGeom>
              <a:solidFill>
                <a:schemeClr val="bg1"/>
              </a:solid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从电子云的观点可认为 </a:t>
                </a:r>
                <a:r>
                  <a:rPr lang="en-US" altLang="zh-CN" sz="2600" i="0" dirty="0">
                    <a:solidFill>
                      <a:schemeClr val="tx1"/>
                    </a:solidFill>
                    <a:latin typeface="Times New Roman" panose="02020603050405020304" pitchFamily="18" charset="0"/>
                  </a:rPr>
                  <a:t>H </a:t>
                </a:r>
                <a:r>
                  <a:rPr lang="zh-CN" altLang="en-US" sz="2600" i="0" dirty="0">
                    <a:solidFill>
                      <a:schemeClr val="tx1"/>
                    </a:solidFill>
                    <a:latin typeface="Times New Roman" panose="02020603050405020304" pitchFamily="18" charset="0"/>
                  </a:rPr>
                  <a:t>的 </a:t>
                </a:r>
                <a:r>
                  <a:rPr lang="en-US" altLang="zh-CN" sz="2600" i="0" dirty="0">
                    <a:solidFill>
                      <a:schemeClr val="tx1"/>
                    </a:solidFill>
                    <a:latin typeface="Times New Roman" panose="02020603050405020304" pitchFamily="18" charset="0"/>
                  </a:rPr>
                  <a:t>1s </a:t>
                </a:r>
                <a:r>
                  <a:rPr lang="zh-CN" altLang="zh-CN" sz="2600" i="0" dirty="0">
                    <a:solidFill>
                      <a:schemeClr val="tx1"/>
                    </a:solidFill>
                    <a:latin typeface="Times New Roman" panose="02020603050405020304" pitchFamily="18" charset="0"/>
                  </a:rPr>
                  <a:t>轨道在两核间重叠，使电子在两核间出现的几率大，形成负电区</a:t>
                </a:r>
                <a:r>
                  <a:rPr lang="zh-CN" altLang="en-US" sz="2600" i="0" dirty="0">
                    <a:solidFill>
                      <a:schemeClr val="tx1"/>
                    </a:solidFill>
                    <a:latin typeface="Times New Roman" panose="02020603050405020304" pitchFamily="18" charset="0"/>
                  </a:rPr>
                  <a:t>，把带正电的</a:t>
                </a:r>
                <a:r>
                  <a:rPr lang="zh-CN" altLang="zh-CN" sz="2600" i="0" dirty="0">
                    <a:solidFill>
                      <a:schemeClr val="tx1"/>
                    </a:solidFill>
                    <a:latin typeface="Times New Roman" panose="02020603050405020304" pitchFamily="18" charset="0"/>
                  </a:rPr>
                  <a:t>两核吸引</a:t>
                </a:r>
                <a:r>
                  <a:rPr lang="zh-CN" altLang="en-US" sz="2600" i="0" dirty="0">
                    <a:solidFill>
                      <a:schemeClr val="tx1"/>
                    </a:solidFill>
                    <a:latin typeface="Times New Roman" panose="02020603050405020304" pitchFamily="18" charset="0"/>
                  </a:rPr>
                  <a:t>一起。</a:t>
                </a:r>
              </a:p>
            </p:txBody>
          </p:sp>
          <p:graphicFrame>
            <p:nvGraphicFramePr>
              <p:cNvPr id="4098" name="Object 88"/>
              <p:cNvGraphicFramePr>
                <a:graphicFrameLocks/>
              </p:cNvGraphicFramePr>
              <p:nvPr/>
            </p:nvGraphicFramePr>
            <p:xfrm>
              <a:off x="1560" y="2928"/>
              <a:ext cx="2280" cy="1248"/>
            </p:xfrm>
            <a:graphic>
              <a:graphicData uri="http://schemas.openxmlformats.org/presentationml/2006/ole">
                <p:oleObj spid="_x0000_s22529" r:id="rId4" imgW="1905266" imgH="1095528" progId="PBrush">
                  <p:embed/>
                </p:oleObj>
              </a:graphicData>
            </a:graphic>
          </p:graphicFrame>
        </p:grpSp>
      </p:grpSp>
      <p:grpSp>
        <p:nvGrpSpPr>
          <p:cNvPr id="4" name="组合 9"/>
          <p:cNvGrpSpPr/>
          <p:nvPr/>
        </p:nvGrpSpPr>
        <p:grpSpPr>
          <a:xfrm>
            <a:off x="76200" y="685800"/>
            <a:ext cx="7519988" cy="692150"/>
            <a:chOff x="76200" y="685800"/>
            <a:chExt cx="6855289" cy="692497"/>
          </a:xfrm>
        </p:grpSpPr>
        <p:sp>
          <p:nvSpPr>
            <p:cNvPr id="4102" name="Rectangle 14"/>
            <p:cNvSpPr/>
            <p:nvPr/>
          </p:nvSpPr>
          <p:spPr>
            <a:xfrm>
              <a:off x="76200" y="685800"/>
              <a:ext cx="5791200" cy="692497"/>
            </a:xfrm>
            <a:prstGeom prst="rect">
              <a:avLst/>
            </a:prstGeom>
            <a:noFill/>
            <a:ln w="9525">
              <a:noFill/>
            </a:ln>
          </p:spPr>
          <p:txBody>
            <a:bodyPr>
              <a:spAutoFit/>
            </a:bodyPr>
            <a:lstStyle/>
            <a:p>
              <a:pPr algn="l">
                <a:lnSpc>
                  <a:spcPct val="150000"/>
                </a:lnSpc>
              </a:pPr>
              <a:r>
                <a:rPr lang="en-US" altLang="zh-CN" sz="2600" i="0" dirty="0">
                  <a:solidFill>
                    <a:srgbClr val="CC3300"/>
                  </a:solidFill>
                  <a:latin typeface="Times New Roman" panose="02020603050405020304" pitchFamily="18" charset="0"/>
                </a:rPr>
                <a:t> </a:t>
              </a:r>
              <a:r>
                <a:rPr lang="zh-CN" altLang="en-US" sz="2600" i="0" dirty="0">
                  <a:solidFill>
                    <a:srgbClr val="CC3300"/>
                  </a:solidFill>
                  <a:latin typeface="Times New Roman" panose="02020603050405020304" pitchFamily="18" charset="0"/>
                </a:rPr>
                <a:t>一、 价键理论（</a:t>
              </a:r>
              <a:r>
                <a:rPr lang="en-US" altLang="zh-CN" sz="2600" i="0" dirty="0">
                  <a:solidFill>
                    <a:srgbClr val="CC3300"/>
                  </a:solidFill>
                  <a:latin typeface="Times New Roman" panose="02020603050405020304" pitchFamily="18" charset="0"/>
                </a:rPr>
                <a:t>VB</a:t>
              </a:r>
              <a:r>
                <a:rPr lang="zh-CN" altLang="en-US" sz="2600" i="0" dirty="0">
                  <a:solidFill>
                    <a:srgbClr val="CC3300"/>
                  </a:solidFill>
                  <a:latin typeface="Times New Roman" panose="02020603050405020304" pitchFamily="18" charset="0"/>
                </a:rPr>
                <a:t>）的基本观点</a:t>
              </a:r>
            </a:p>
          </p:txBody>
        </p:sp>
        <p:sp>
          <p:nvSpPr>
            <p:cNvPr id="4103" name="Rectangle 15"/>
            <p:cNvSpPr/>
            <p:nvPr/>
          </p:nvSpPr>
          <p:spPr>
            <a:xfrm>
              <a:off x="4799345" y="762000"/>
              <a:ext cx="2132144" cy="492443"/>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rPr>
                <a:t>L. Pauling</a:t>
              </a:r>
              <a:r>
                <a:rPr lang="zh-CN" altLang="en-US" sz="2600" i="0" dirty="0">
                  <a:solidFill>
                    <a:schemeClr val="tx1"/>
                  </a:solidFill>
                  <a:latin typeface="Times New Roman" panose="02020603050405020304" pitchFamily="18" charset="0"/>
                </a:rPr>
                <a:t>提出</a:t>
              </a:r>
              <a:endParaRPr lang="en-US" altLang="zh-CN" sz="2600" i="0" dirty="0">
                <a:solidFill>
                  <a:schemeClr val="tx1"/>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53"/>
                                        </p:tgtEl>
                                        <p:attrNameLst>
                                          <p:attrName>style.visibility</p:attrName>
                                        </p:attrNameLst>
                                      </p:cBhvr>
                                      <p:to>
                                        <p:strVal val="visible"/>
                                      </p:to>
                                    </p:set>
                                    <p:anim calcmode="lin" valueType="num">
                                      <p:cBhvr additive="base">
                                        <p:cTn id="7" dur="500" fill="hold"/>
                                        <p:tgtEl>
                                          <p:spTgt spid="10253"/>
                                        </p:tgtEl>
                                        <p:attrNameLst>
                                          <p:attrName>ppt_x</p:attrName>
                                        </p:attrNameLst>
                                      </p:cBhvr>
                                      <p:tavLst>
                                        <p:tav tm="0">
                                          <p:val>
                                            <p:strVal val="#ppt_x"/>
                                          </p:val>
                                        </p:tav>
                                        <p:tav tm="100000">
                                          <p:val>
                                            <p:strVal val="#ppt_x"/>
                                          </p:val>
                                        </p:tav>
                                      </p:tavLst>
                                    </p:anim>
                                    <p:anim calcmode="lin" valueType="num">
                                      <p:cBhvr additive="base">
                                        <p:cTn id="8" dur="500" fill="hold"/>
                                        <p:tgtEl>
                                          <p:spTgt spid="102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8"/>
          <p:cNvSpPr/>
          <p:nvPr/>
        </p:nvSpPr>
        <p:spPr>
          <a:xfrm>
            <a:off x="609600" y="457200"/>
            <a:ext cx="7467600" cy="3262313"/>
          </a:xfrm>
          <a:prstGeom prst="rect">
            <a:avLst/>
          </a:prstGeom>
          <a:solidFill>
            <a:schemeClr val="bg1"/>
          </a:solidFill>
          <a:ln w="9525" cap="flat" cmpd="sng">
            <a:solidFill>
              <a:srgbClr val="FF00FF"/>
            </a:solidFill>
            <a:prstDash val="solid"/>
            <a:miter/>
            <a:headEnd type="none" w="med" len="med"/>
            <a:tailEnd type="none" w="med" len="med"/>
          </a:ln>
        </p:spPr>
        <p:txBody>
          <a:bodyPr>
            <a:spAutoFit/>
          </a:bodyPr>
          <a:lstStyle/>
          <a:p>
            <a:pPr algn="l">
              <a:lnSpc>
                <a:spcPts val="3600"/>
              </a:lnSpc>
              <a:spcBef>
                <a:spcPct val="50000"/>
              </a:spcBef>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所以，</a:t>
            </a:r>
            <a:r>
              <a:rPr lang="en-US" altLang="zh-CN" sz="2600" i="0" dirty="0">
                <a:solidFill>
                  <a:schemeClr val="tx1"/>
                </a:solidFill>
                <a:latin typeface="Times New Roman" panose="02020603050405020304" pitchFamily="18" charset="0"/>
              </a:rPr>
              <a:t>VB</a:t>
            </a:r>
            <a:r>
              <a:rPr lang="zh-CN" altLang="en-US" sz="2600" i="0" dirty="0">
                <a:solidFill>
                  <a:schemeClr val="tx1"/>
                </a:solidFill>
                <a:latin typeface="楷体_GB2312" pitchFamily="49" charset="-122"/>
              </a:rPr>
              <a:t>的基本要点是</a:t>
            </a:r>
            <a:r>
              <a:rPr lang="en-US" altLang="zh-CN" sz="2600" i="0" dirty="0">
                <a:solidFill>
                  <a:schemeClr val="tx1"/>
                </a:solidFill>
                <a:latin typeface="楷体_GB2312" pitchFamily="49" charset="-122"/>
                <a:sym typeface="Wingdings" panose="05000000000000000000" pitchFamily="2" charset="2"/>
              </a:rPr>
              <a:t>: </a:t>
            </a:r>
          </a:p>
          <a:p>
            <a:pPr algn="l">
              <a:lnSpc>
                <a:spcPts val="3600"/>
              </a:lnSpc>
              <a:spcBef>
                <a:spcPct val="50000"/>
              </a:spcBef>
            </a:pPr>
            <a:r>
              <a:rPr lang="en-US" altLang="en-US" sz="2600" i="0" dirty="0">
                <a:solidFill>
                  <a:schemeClr val="tx1"/>
                </a:solidFill>
                <a:latin typeface="Times New Roman" panose="02020603050405020304" pitchFamily="18" charset="0"/>
                <a:sym typeface="Wingdings" panose="05000000000000000000" pitchFamily="2" charset="2"/>
              </a:rPr>
              <a:t>        </a:t>
            </a:r>
            <a:r>
              <a:rPr lang="en-US" altLang="en-US" sz="2600" i="0" dirty="0">
                <a:solidFill>
                  <a:srgbClr val="C00000"/>
                </a:solidFill>
                <a:latin typeface="Times New Roman" panose="02020603050405020304" pitchFamily="18" charset="0"/>
                <a:sym typeface="Wingdings" panose="05000000000000000000" pitchFamily="2" charset="2"/>
              </a:rPr>
              <a:t>①</a:t>
            </a:r>
            <a:r>
              <a:rPr lang="zh-CN" altLang="en-US" sz="2600" i="0" dirty="0">
                <a:solidFill>
                  <a:schemeClr val="tx1"/>
                </a:solidFill>
                <a:latin typeface="楷体_GB2312" pitchFamily="49" charset="-122"/>
              </a:rPr>
              <a:t>键合双方各提供</a:t>
            </a:r>
            <a:r>
              <a:rPr lang="zh-CN" altLang="en-US" sz="2600" dirty="0">
                <a:solidFill>
                  <a:srgbClr val="0000FF"/>
                </a:solidFill>
                <a:latin typeface="楷体_GB2312" pitchFamily="49" charset="-122"/>
              </a:rPr>
              <a:t>自旋方向相反的未成对电子</a:t>
            </a:r>
            <a:r>
              <a:rPr lang="en-US" altLang="zh-CN" sz="2600" i="0" dirty="0">
                <a:solidFill>
                  <a:schemeClr val="tx1"/>
                </a:solidFill>
                <a:latin typeface="楷体_GB2312" pitchFamily="49" charset="-122"/>
              </a:rPr>
              <a:t>; </a:t>
            </a:r>
            <a:r>
              <a:rPr lang="en-US" altLang="en-US" sz="2600" i="0" dirty="0">
                <a:solidFill>
                  <a:schemeClr val="tx1"/>
                </a:solidFill>
                <a:latin typeface="Times New Roman" panose="02020603050405020304" pitchFamily="18" charset="0"/>
              </a:rPr>
              <a:t> </a:t>
            </a:r>
          </a:p>
          <a:p>
            <a:pPr algn="l">
              <a:lnSpc>
                <a:spcPts val="3600"/>
              </a:lnSpc>
              <a:spcBef>
                <a:spcPct val="50000"/>
              </a:spcBef>
            </a:pPr>
            <a:r>
              <a:rPr lang="en-US" altLang="en-US" sz="2600" i="0" dirty="0">
                <a:solidFill>
                  <a:schemeClr val="tx1"/>
                </a:solidFill>
                <a:latin typeface="Times New Roman" panose="02020603050405020304" pitchFamily="18" charset="0"/>
              </a:rPr>
              <a:t>        </a:t>
            </a:r>
            <a:r>
              <a:rPr lang="en-US" altLang="en-US" sz="2600" i="0" dirty="0">
                <a:solidFill>
                  <a:srgbClr val="C00000"/>
                </a:solidFill>
                <a:latin typeface="Times New Roman" panose="02020603050405020304" pitchFamily="18" charset="0"/>
              </a:rPr>
              <a:t>②</a:t>
            </a:r>
            <a:r>
              <a:rPr lang="zh-CN" altLang="en-US" sz="2600" i="0" dirty="0">
                <a:solidFill>
                  <a:schemeClr val="tx1"/>
                </a:solidFill>
                <a:latin typeface="楷体_GB2312" pitchFamily="49" charset="-122"/>
              </a:rPr>
              <a:t>键合双方原子轨道在</a:t>
            </a:r>
            <a:r>
              <a:rPr lang="zh-CN" altLang="en-US" sz="2600" dirty="0">
                <a:solidFill>
                  <a:srgbClr val="0000FF"/>
                </a:solidFill>
                <a:latin typeface="楷体_GB2312" pitchFamily="49" charset="-122"/>
              </a:rPr>
              <a:t>对称性一致</a:t>
            </a:r>
            <a:r>
              <a:rPr lang="zh-CN" altLang="en-US" sz="2600" i="0" dirty="0">
                <a:solidFill>
                  <a:schemeClr val="tx1"/>
                </a:solidFill>
                <a:latin typeface="楷体_GB2312" pitchFamily="49" charset="-122"/>
              </a:rPr>
              <a:t>的条件下，应尽可能最大程度地重叠</a:t>
            </a:r>
            <a:r>
              <a:rPr lang="en-US" altLang="zh-CN" sz="2600" i="0" dirty="0">
                <a:solidFill>
                  <a:schemeClr val="tx1"/>
                </a:solidFill>
                <a:latin typeface="楷体_GB2312" pitchFamily="49" charset="-122"/>
              </a:rPr>
              <a:t>,</a:t>
            </a:r>
            <a:r>
              <a:rPr lang="zh-CN" altLang="en-US" sz="2600" i="0" dirty="0">
                <a:solidFill>
                  <a:schemeClr val="tx1"/>
                </a:solidFill>
                <a:latin typeface="楷体_GB2312" pitchFamily="49" charset="-122"/>
              </a:rPr>
              <a:t>重叠程度越大，形成的共价键越稳定！</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4" name="组合 45"/>
          <p:cNvGrpSpPr/>
          <p:nvPr/>
        </p:nvGrpSpPr>
        <p:grpSpPr>
          <a:xfrm>
            <a:off x="381000" y="228600"/>
            <a:ext cx="7772400" cy="4191000"/>
            <a:chOff x="685800" y="2590800"/>
            <a:chExt cx="7772400" cy="4191000"/>
          </a:xfrm>
        </p:grpSpPr>
        <p:grpSp>
          <p:nvGrpSpPr>
            <p:cNvPr id="5125" name="Group 95"/>
            <p:cNvGrpSpPr/>
            <p:nvPr/>
          </p:nvGrpSpPr>
          <p:grpSpPr>
            <a:xfrm>
              <a:off x="685800" y="2590800"/>
              <a:ext cx="7772400" cy="2209800"/>
              <a:chOff x="384" y="240"/>
              <a:chExt cx="4896" cy="1392"/>
            </a:xfrm>
          </p:grpSpPr>
          <p:grpSp>
            <p:nvGrpSpPr>
              <p:cNvPr id="5133" name="Group 9"/>
              <p:cNvGrpSpPr/>
              <p:nvPr/>
            </p:nvGrpSpPr>
            <p:grpSpPr>
              <a:xfrm>
                <a:off x="384" y="290"/>
                <a:ext cx="3692" cy="710"/>
                <a:chOff x="284" y="1590"/>
                <a:chExt cx="4708" cy="1074"/>
              </a:xfrm>
            </p:grpSpPr>
            <p:sp>
              <p:nvSpPr>
                <p:cNvPr id="5144" name="Text Box 10"/>
                <p:cNvSpPr txBox="1"/>
                <p:nvPr/>
              </p:nvSpPr>
              <p:spPr>
                <a:xfrm flipH="1">
                  <a:off x="2902" y="2155"/>
                  <a:ext cx="384" cy="436"/>
                </a:xfrm>
                <a:prstGeom prst="rect">
                  <a:avLst/>
                </a:prstGeom>
                <a:solidFill>
                  <a:schemeClr val="bg1"/>
                </a:solidFill>
                <a:ln w="9525">
                  <a:noFill/>
                </a:ln>
              </p:spPr>
              <p:txBody>
                <a:bodyPr>
                  <a:spAutoFit/>
                </a:bodyPr>
                <a:lstStyle/>
                <a:p>
                  <a:pPr algn="l">
                    <a:spcBef>
                      <a:spcPct val="50000"/>
                    </a:spcBef>
                  </a:pPr>
                  <a:r>
                    <a:rPr lang="en-US" altLang="zh-CN" dirty="0">
                      <a:solidFill>
                        <a:srgbClr val="C00000"/>
                      </a:solidFill>
                      <a:latin typeface="Times New Roman" panose="02020603050405020304" pitchFamily="18" charset="0"/>
                      <a:ea typeface="宋体" panose="02010600030101010101" pitchFamily="2" charset="-122"/>
                    </a:rPr>
                    <a:t>P</a:t>
                  </a:r>
                  <a:r>
                    <a:rPr lang="en-US" altLang="zh-CN" baseline="-25000" dirty="0">
                      <a:solidFill>
                        <a:srgbClr val="C00000"/>
                      </a:solidFill>
                      <a:latin typeface="Times New Roman" panose="02020603050405020304" pitchFamily="18" charset="0"/>
                      <a:ea typeface="宋体" panose="02010600030101010101" pitchFamily="2" charset="-122"/>
                    </a:rPr>
                    <a:t>z</a:t>
                  </a:r>
                  <a:endParaRPr lang="en-US" altLang="zh-CN" dirty="0">
                    <a:solidFill>
                      <a:srgbClr val="C00000"/>
                    </a:solidFill>
                    <a:latin typeface="Times New Roman" panose="02020603050405020304" pitchFamily="18" charset="0"/>
                    <a:ea typeface="宋体" panose="02010600030101010101" pitchFamily="2" charset="-122"/>
                  </a:endParaRPr>
                </a:p>
              </p:txBody>
            </p:sp>
            <p:sp>
              <p:nvSpPr>
                <p:cNvPr id="5145" name="Text Box 11"/>
                <p:cNvSpPr txBox="1"/>
                <p:nvPr/>
              </p:nvSpPr>
              <p:spPr>
                <a:xfrm>
                  <a:off x="2304" y="1879"/>
                  <a:ext cx="240" cy="785"/>
                </a:xfrm>
                <a:prstGeom prst="rect">
                  <a:avLst/>
                </a:prstGeom>
                <a:solidFill>
                  <a:schemeClr val="bg1"/>
                </a:solidFill>
                <a:ln w="9525">
                  <a:noFill/>
                </a:ln>
              </p:spPr>
              <p:txBody>
                <a:bodyPr>
                  <a:spAutoFit/>
                </a:bodyPr>
                <a:lstStyle/>
                <a:p>
                  <a:pPr algn="l">
                    <a:spcBef>
                      <a:spcPct val="50000"/>
                    </a:spcBef>
                  </a:pPr>
                  <a:r>
                    <a:rPr lang="en-US" altLang="zh-CN" dirty="0">
                      <a:solidFill>
                        <a:srgbClr val="C00000"/>
                      </a:solidFill>
                      <a:latin typeface="Times New Roman" panose="02020603050405020304" pitchFamily="18" charset="0"/>
                      <a:ea typeface="宋体" panose="02010600030101010101" pitchFamily="2" charset="-122"/>
                    </a:rPr>
                    <a:t>z </a:t>
                  </a:r>
                </a:p>
              </p:txBody>
            </p:sp>
            <p:sp>
              <p:nvSpPr>
                <p:cNvPr id="5146" name="Text Box 12"/>
                <p:cNvSpPr txBox="1"/>
                <p:nvPr/>
              </p:nvSpPr>
              <p:spPr>
                <a:xfrm>
                  <a:off x="284" y="2166"/>
                  <a:ext cx="480" cy="436"/>
                </a:xfrm>
                <a:prstGeom prst="rect">
                  <a:avLst/>
                </a:prstGeom>
                <a:solidFill>
                  <a:schemeClr val="bg1"/>
                </a:solidFill>
                <a:ln w="9525">
                  <a:noFill/>
                </a:ln>
              </p:spPr>
              <p:txBody>
                <a:bodyPr>
                  <a:spAutoFit/>
                </a:bodyPr>
                <a:lstStyle/>
                <a:p>
                  <a:pPr algn="l">
                    <a:spcBef>
                      <a:spcPct val="50000"/>
                    </a:spcBef>
                  </a:pPr>
                  <a:r>
                    <a:rPr lang="en-US" altLang="zh-CN" dirty="0">
                      <a:solidFill>
                        <a:srgbClr val="C00000"/>
                      </a:solidFill>
                      <a:latin typeface="Times New Roman" panose="02020603050405020304" pitchFamily="18" charset="0"/>
                      <a:ea typeface="宋体" panose="02010600030101010101" pitchFamily="2" charset="-122"/>
                    </a:rPr>
                    <a:t>P</a:t>
                  </a:r>
                  <a:r>
                    <a:rPr lang="en-US" altLang="zh-CN" baseline="-25000" dirty="0">
                      <a:solidFill>
                        <a:srgbClr val="C00000"/>
                      </a:solidFill>
                      <a:latin typeface="Times New Roman" panose="02020603050405020304" pitchFamily="18" charset="0"/>
                      <a:ea typeface="宋体" panose="02010600030101010101" pitchFamily="2" charset="-122"/>
                    </a:rPr>
                    <a:t>z</a:t>
                  </a:r>
                  <a:endParaRPr lang="en-US" altLang="zh-CN" dirty="0">
                    <a:solidFill>
                      <a:srgbClr val="C00000"/>
                    </a:solidFill>
                    <a:latin typeface="Times New Roman" panose="02020603050405020304" pitchFamily="18" charset="0"/>
                    <a:ea typeface="宋体" panose="02010600030101010101" pitchFamily="2" charset="-122"/>
                  </a:endParaRPr>
                </a:p>
              </p:txBody>
            </p:sp>
            <p:grpSp>
              <p:nvGrpSpPr>
                <p:cNvPr id="5147" name="Group 13"/>
                <p:cNvGrpSpPr/>
                <p:nvPr/>
              </p:nvGrpSpPr>
              <p:grpSpPr>
                <a:xfrm>
                  <a:off x="380" y="1590"/>
                  <a:ext cx="1924" cy="912"/>
                  <a:chOff x="380" y="1200"/>
                  <a:chExt cx="1924" cy="912"/>
                </a:xfrm>
              </p:grpSpPr>
              <p:sp>
                <p:nvSpPr>
                  <p:cNvPr id="5156" name="Line 14"/>
                  <p:cNvSpPr/>
                  <p:nvPr/>
                </p:nvSpPr>
                <p:spPr>
                  <a:xfrm>
                    <a:off x="380" y="1649"/>
                    <a:ext cx="1924" cy="0"/>
                  </a:xfrm>
                  <a:prstGeom prst="line">
                    <a:avLst/>
                  </a:prstGeom>
                  <a:ln w="9525" cap="flat" cmpd="sng">
                    <a:solidFill>
                      <a:schemeClr val="tx1"/>
                    </a:solidFill>
                    <a:prstDash val="solid"/>
                    <a:headEnd type="none" w="med" len="med"/>
                    <a:tailEnd type="triangle" w="med" len="med"/>
                  </a:ln>
                </p:spPr>
              </p:sp>
              <p:sp>
                <p:nvSpPr>
                  <p:cNvPr id="5157" name="Oval 15"/>
                  <p:cNvSpPr/>
                  <p:nvPr/>
                </p:nvSpPr>
                <p:spPr>
                  <a:xfrm>
                    <a:off x="526" y="1273"/>
                    <a:ext cx="764" cy="751"/>
                  </a:xfrm>
                  <a:prstGeom prst="ellipse">
                    <a:avLst/>
                  </a:prstGeom>
                  <a:solidFill>
                    <a:schemeClr val="bg1">
                      <a:alpha val="50195"/>
                    </a:schemeClr>
                  </a:solidFill>
                  <a:ln w="9525" cap="flat" cmpd="sng">
                    <a:solidFill>
                      <a:schemeClr val="tx1"/>
                    </a:solidFill>
                    <a:prstDash val="solid"/>
                    <a:headEnd type="none" w="med" len="med"/>
                    <a:tailEnd type="none" w="med" len="med"/>
                  </a:ln>
                </p:spPr>
                <p:txBody>
                  <a:bodyPr wrap="none" anchor="ctr" anchorCtr="0"/>
                  <a:lstStyle/>
                  <a:p>
                    <a:endParaRPr lang="zh-CN" altLang="en-US" dirty="0">
                      <a:solidFill>
                        <a:srgbClr val="C00000"/>
                      </a:solidFill>
                      <a:latin typeface="Times New Roman" panose="02020603050405020304" pitchFamily="18" charset="0"/>
                    </a:endParaRPr>
                  </a:p>
                </p:txBody>
              </p:sp>
              <p:sp>
                <p:nvSpPr>
                  <p:cNvPr id="5158" name="Oval 16"/>
                  <p:cNvSpPr/>
                  <p:nvPr/>
                </p:nvSpPr>
                <p:spPr>
                  <a:xfrm>
                    <a:off x="1301" y="1273"/>
                    <a:ext cx="761" cy="751"/>
                  </a:xfrm>
                  <a:prstGeom prst="ellipse">
                    <a:avLst/>
                  </a:prstGeom>
                  <a:solidFill>
                    <a:schemeClr val="bg1">
                      <a:alpha val="50195"/>
                    </a:schemeClr>
                  </a:solidFill>
                  <a:ln w="9525" cap="flat" cmpd="sng">
                    <a:solidFill>
                      <a:schemeClr val="tx1"/>
                    </a:solidFill>
                    <a:prstDash val="solid"/>
                    <a:headEnd type="none" w="med" len="med"/>
                    <a:tailEnd type="none" w="med" len="med"/>
                  </a:ln>
                </p:spPr>
                <p:txBody>
                  <a:bodyPr wrap="none" anchor="ctr" anchorCtr="0"/>
                  <a:lstStyle/>
                  <a:p>
                    <a:endParaRPr lang="zh-CN" altLang="en-US" dirty="0">
                      <a:solidFill>
                        <a:srgbClr val="C00000"/>
                      </a:solidFill>
                      <a:latin typeface="Times New Roman" panose="02020603050405020304" pitchFamily="18" charset="0"/>
                    </a:endParaRPr>
                  </a:p>
                </p:txBody>
              </p:sp>
              <p:sp>
                <p:nvSpPr>
                  <p:cNvPr id="5159" name="Line 17"/>
                  <p:cNvSpPr/>
                  <p:nvPr/>
                </p:nvSpPr>
                <p:spPr>
                  <a:xfrm flipH="1" flipV="1">
                    <a:off x="1295" y="1200"/>
                    <a:ext cx="0" cy="912"/>
                  </a:xfrm>
                  <a:prstGeom prst="line">
                    <a:avLst/>
                  </a:prstGeom>
                  <a:ln w="9525" cap="flat" cmpd="sng">
                    <a:solidFill>
                      <a:schemeClr val="tx1"/>
                    </a:solidFill>
                    <a:prstDash val="solid"/>
                    <a:headEnd type="none" w="med" len="med"/>
                    <a:tailEnd type="triangle" w="med" len="med"/>
                  </a:ln>
                </p:spPr>
              </p:sp>
              <p:sp>
                <p:nvSpPr>
                  <p:cNvPr id="5160" name="Text Box 18"/>
                  <p:cNvSpPr txBox="1"/>
                  <p:nvPr/>
                </p:nvSpPr>
                <p:spPr>
                  <a:xfrm>
                    <a:off x="1574" y="1336"/>
                    <a:ext cx="188" cy="437"/>
                  </a:xfrm>
                  <a:prstGeom prst="rect">
                    <a:avLst/>
                  </a:prstGeom>
                  <a:noFill/>
                  <a:ln w="9525">
                    <a:noFill/>
                  </a:ln>
                </p:spPr>
                <p:txBody>
                  <a:bodyPr>
                    <a:spAutoFit/>
                  </a:bodyPr>
                  <a:lstStyle/>
                  <a:p>
                    <a:pPr algn="l">
                      <a:spcBef>
                        <a:spcPct val="50000"/>
                      </a:spcBef>
                    </a:pPr>
                    <a:r>
                      <a:rPr lang="en-US" altLang="zh-CN" dirty="0">
                        <a:solidFill>
                          <a:srgbClr val="C00000"/>
                        </a:solidFill>
                        <a:latin typeface="Times New Roman" panose="02020603050405020304" pitchFamily="18" charset="0"/>
                        <a:ea typeface="宋体" panose="02010600030101010101" pitchFamily="2" charset="-122"/>
                      </a:rPr>
                      <a:t>+</a:t>
                    </a:r>
                  </a:p>
                </p:txBody>
              </p:sp>
              <p:sp>
                <p:nvSpPr>
                  <p:cNvPr id="5161" name="Line 19"/>
                  <p:cNvSpPr/>
                  <p:nvPr/>
                </p:nvSpPr>
                <p:spPr>
                  <a:xfrm>
                    <a:off x="864" y="1488"/>
                    <a:ext cx="96" cy="0"/>
                  </a:xfrm>
                  <a:prstGeom prst="line">
                    <a:avLst/>
                  </a:prstGeom>
                  <a:ln w="19050" cap="flat" cmpd="sng">
                    <a:solidFill>
                      <a:schemeClr val="tx2"/>
                    </a:solidFill>
                    <a:prstDash val="solid"/>
                    <a:headEnd type="none" w="med" len="med"/>
                    <a:tailEnd type="none" w="med" len="med"/>
                  </a:ln>
                </p:spPr>
              </p:sp>
            </p:grpSp>
            <p:grpSp>
              <p:nvGrpSpPr>
                <p:cNvPr id="5148" name="Group 20"/>
                <p:cNvGrpSpPr/>
                <p:nvPr/>
              </p:nvGrpSpPr>
              <p:grpSpPr>
                <a:xfrm flipH="1">
                  <a:off x="3068" y="1590"/>
                  <a:ext cx="1924" cy="912"/>
                  <a:chOff x="2588" y="1200"/>
                  <a:chExt cx="1924" cy="912"/>
                </a:xfrm>
              </p:grpSpPr>
              <p:sp>
                <p:nvSpPr>
                  <p:cNvPr id="5150" name="Line 21"/>
                  <p:cNvSpPr/>
                  <p:nvPr/>
                </p:nvSpPr>
                <p:spPr>
                  <a:xfrm>
                    <a:off x="2588" y="1649"/>
                    <a:ext cx="1924" cy="0"/>
                  </a:xfrm>
                  <a:prstGeom prst="line">
                    <a:avLst/>
                  </a:prstGeom>
                  <a:ln w="9525" cap="flat" cmpd="sng">
                    <a:solidFill>
                      <a:schemeClr val="tx1"/>
                    </a:solidFill>
                    <a:prstDash val="solid"/>
                    <a:headEnd type="none" w="med" len="med"/>
                    <a:tailEnd type="triangle" w="med" len="med"/>
                  </a:ln>
                </p:spPr>
              </p:sp>
              <p:sp>
                <p:nvSpPr>
                  <p:cNvPr id="5151" name="Oval 22"/>
                  <p:cNvSpPr/>
                  <p:nvPr/>
                </p:nvSpPr>
                <p:spPr>
                  <a:xfrm>
                    <a:off x="2734" y="1273"/>
                    <a:ext cx="764" cy="751"/>
                  </a:xfrm>
                  <a:prstGeom prst="ellipse">
                    <a:avLst/>
                  </a:prstGeom>
                  <a:solidFill>
                    <a:schemeClr val="bg1">
                      <a:alpha val="50195"/>
                    </a:schemeClr>
                  </a:solidFill>
                  <a:ln w="9525" cap="flat" cmpd="sng">
                    <a:solidFill>
                      <a:schemeClr val="tx1"/>
                    </a:solidFill>
                    <a:prstDash val="solid"/>
                    <a:headEnd type="none" w="med" len="med"/>
                    <a:tailEnd type="none" w="med" len="med"/>
                  </a:ln>
                </p:spPr>
                <p:txBody>
                  <a:bodyPr wrap="none" anchor="ctr" anchorCtr="0"/>
                  <a:lstStyle/>
                  <a:p>
                    <a:endParaRPr lang="zh-CN" altLang="en-US" dirty="0">
                      <a:solidFill>
                        <a:srgbClr val="C00000"/>
                      </a:solidFill>
                      <a:latin typeface="Times New Roman" panose="02020603050405020304" pitchFamily="18" charset="0"/>
                    </a:endParaRPr>
                  </a:p>
                </p:txBody>
              </p:sp>
              <p:sp>
                <p:nvSpPr>
                  <p:cNvPr id="5152" name="Oval 23"/>
                  <p:cNvSpPr/>
                  <p:nvPr/>
                </p:nvSpPr>
                <p:spPr>
                  <a:xfrm>
                    <a:off x="3509" y="1273"/>
                    <a:ext cx="761" cy="751"/>
                  </a:xfrm>
                  <a:prstGeom prst="ellipse">
                    <a:avLst/>
                  </a:prstGeom>
                  <a:solidFill>
                    <a:schemeClr val="bg1">
                      <a:alpha val="50195"/>
                    </a:schemeClr>
                  </a:solidFill>
                  <a:ln w="9525" cap="flat" cmpd="sng">
                    <a:solidFill>
                      <a:schemeClr val="tx1"/>
                    </a:solidFill>
                    <a:prstDash val="solid"/>
                    <a:headEnd type="none" w="med" len="med"/>
                    <a:tailEnd type="none" w="med" len="med"/>
                  </a:ln>
                </p:spPr>
                <p:txBody>
                  <a:bodyPr wrap="none" anchor="ctr" anchorCtr="0"/>
                  <a:lstStyle/>
                  <a:p>
                    <a:endParaRPr lang="zh-CN" altLang="zh-CN" dirty="0">
                      <a:solidFill>
                        <a:srgbClr val="C00000"/>
                      </a:solidFill>
                      <a:latin typeface="Times New Roman" panose="02020603050405020304" pitchFamily="18" charset="0"/>
                      <a:ea typeface="宋体" panose="02010600030101010101" pitchFamily="2" charset="-122"/>
                    </a:endParaRPr>
                  </a:p>
                </p:txBody>
              </p:sp>
              <p:sp>
                <p:nvSpPr>
                  <p:cNvPr id="5153" name="Line 24"/>
                  <p:cNvSpPr/>
                  <p:nvPr/>
                </p:nvSpPr>
                <p:spPr>
                  <a:xfrm flipH="1" flipV="1">
                    <a:off x="3503" y="1200"/>
                    <a:ext cx="0" cy="912"/>
                  </a:xfrm>
                  <a:prstGeom prst="line">
                    <a:avLst/>
                  </a:prstGeom>
                  <a:ln w="9525" cap="flat" cmpd="sng">
                    <a:solidFill>
                      <a:schemeClr val="tx1"/>
                    </a:solidFill>
                    <a:prstDash val="solid"/>
                    <a:headEnd type="none" w="med" len="med"/>
                    <a:tailEnd type="triangle" w="med" len="med"/>
                  </a:ln>
                </p:spPr>
              </p:sp>
              <p:sp>
                <p:nvSpPr>
                  <p:cNvPr id="5154" name="Text Box 25"/>
                  <p:cNvSpPr txBox="1"/>
                  <p:nvPr/>
                </p:nvSpPr>
                <p:spPr>
                  <a:xfrm>
                    <a:off x="3783" y="1336"/>
                    <a:ext cx="186" cy="437"/>
                  </a:xfrm>
                  <a:prstGeom prst="rect">
                    <a:avLst/>
                  </a:prstGeom>
                  <a:noFill/>
                  <a:ln w="9525">
                    <a:noFill/>
                  </a:ln>
                </p:spPr>
                <p:txBody>
                  <a:bodyPr>
                    <a:spAutoFit/>
                  </a:bodyPr>
                  <a:lstStyle/>
                  <a:p>
                    <a:pPr algn="l">
                      <a:spcBef>
                        <a:spcPct val="50000"/>
                      </a:spcBef>
                    </a:pPr>
                    <a:endParaRPr lang="zh-CN" altLang="zh-CN" dirty="0">
                      <a:solidFill>
                        <a:srgbClr val="C00000"/>
                      </a:solidFill>
                      <a:latin typeface="Times New Roman" panose="02020603050405020304" pitchFamily="18" charset="0"/>
                      <a:ea typeface="宋体" panose="02010600030101010101" pitchFamily="2" charset="-122"/>
                    </a:endParaRPr>
                  </a:p>
                </p:txBody>
              </p:sp>
              <p:sp>
                <p:nvSpPr>
                  <p:cNvPr id="5155" name="Line 26"/>
                  <p:cNvSpPr/>
                  <p:nvPr/>
                </p:nvSpPr>
                <p:spPr>
                  <a:xfrm>
                    <a:off x="3072" y="1488"/>
                    <a:ext cx="96" cy="0"/>
                  </a:xfrm>
                  <a:prstGeom prst="line">
                    <a:avLst/>
                  </a:prstGeom>
                  <a:ln w="19050" cap="flat" cmpd="sng">
                    <a:solidFill>
                      <a:schemeClr val="tx2"/>
                    </a:solidFill>
                    <a:prstDash val="solid"/>
                    <a:headEnd type="none" w="med" len="med"/>
                    <a:tailEnd type="none" w="med" len="med"/>
                  </a:ln>
                </p:spPr>
              </p:sp>
            </p:grpSp>
            <p:sp>
              <p:nvSpPr>
                <p:cNvPr id="5149" name="Text Box 27"/>
                <p:cNvSpPr txBox="1"/>
                <p:nvPr/>
              </p:nvSpPr>
              <p:spPr>
                <a:xfrm>
                  <a:off x="2832" y="1879"/>
                  <a:ext cx="240" cy="437"/>
                </a:xfrm>
                <a:prstGeom prst="rect">
                  <a:avLst/>
                </a:prstGeom>
                <a:noFill/>
                <a:ln w="9525">
                  <a:noFill/>
                </a:ln>
              </p:spPr>
              <p:txBody>
                <a:bodyPr>
                  <a:spAutoFit/>
                </a:bodyPr>
                <a:lstStyle/>
                <a:p>
                  <a:pPr algn="l">
                    <a:spcBef>
                      <a:spcPct val="50000"/>
                    </a:spcBef>
                  </a:pPr>
                  <a:r>
                    <a:rPr lang="en-US" altLang="zh-CN" dirty="0">
                      <a:solidFill>
                        <a:srgbClr val="C00000"/>
                      </a:solidFill>
                      <a:latin typeface="Times New Roman" panose="02020603050405020304" pitchFamily="18" charset="0"/>
                      <a:ea typeface="宋体" panose="02010600030101010101" pitchFamily="2" charset="-122"/>
                    </a:rPr>
                    <a:t>z</a:t>
                  </a:r>
                </a:p>
              </p:txBody>
            </p:sp>
          </p:grpSp>
          <p:grpSp>
            <p:nvGrpSpPr>
              <p:cNvPr id="5134" name="Group 28"/>
              <p:cNvGrpSpPr/>
              <p:nvPr/>
            </p:nvGrpSpPr>
            <p:grpSpPr>
              <a:xfrm>
                <a:off x="1296" y="1008"/>
                <a:ext cx="3984" cy="624"/>
                <a:chOff x="768" y="2934"/>
                <a:chExt cx="4848" cy="906"/>
              </a:xfrm>
            </p:grpSpPr>
            <p:grpSp>
              <p:nvGrpSpPr>
                <p:cNvPr id="5137" name="Group 29"/>
                <p:cNvGrpSpPr/>
                <p:nvPr/>
              </p:nvGrpSpPr>
              <p:grpSpPr>
                <a:xfrm>
                  <a:off x="2064" y="2934"/>
                  <a:ext cx="3552" cy="906"/>
                  <a:chOff x="576" y="2544"/>
                  <a:chExt cx="3552" cy="906"/>
                </a:xfrm>
              </p:grpSpPr>
              <p:graphicFrame>
                <p:nvGraphicFramePr>
                  <p:cNvPr id="5123" name="Object 30"/>
                  <p:cNvGraphicFramePr>
                    <a:graphicFrameLocks/>
                  </p:cNvGraphicFramePr>
                  <p:nvPr/>
                </p:nvGraphicFramePr>
                <p:xfrm>
                  <a:off x="768" y="2544"/>
                  <a:ext cx="3120" cy="906"/>
                </p:xfrm>
                <a:graphic>
                  <a:graphicData uri="http://schemas.openxmlformats.org/presentationml/2006/ole">
                    <p:oleObj spid="_x0000_s27650" r:id="rId3" imgW="2876190" imgH="857143" progId="PBrush">
                      <p:embed/>
                    </p:oleObj>
                  </a:graphicData>
                </a:graphic>
              </p:graphicFrame>
              <p:sp>
                <p:nvSpPr>
                  <p:cNvPr id="5139" name="Line 31"/>
                  <p:cNvSpPr/>
                  <p:nvPr/>
                </p:nvSpPr>
                <p:spPr>
                  <a:xfrm>
                    <a:off x="576" y="2987"/>
                    <a:ext cx="3552" cy="0"/>
                  </a:xfrm>
                  <a:prstGeom prst="line">
                    <a:avLst/>
                  </a:prstGeom>
                  <a:ln w="19050" cap="flat" cmpd="sng">
                    <a:solidFill>
                      <a:schemeClr val="tx2"/>
                    </a:solidFill>
                    <a:prstDash val="solid"/>
                    <a:headEnd type="none" w="med" len="med"/>
                    <a:tailEnd type="none" w="med" len="med"/>
                  </a:ln>
                </p:spPr>
              </p:sp>
              <p:sp>
                <p:nvSpPr>
                  <p:cNvPr id="5140" name="Text Box 32"/>
                  <p:cNvSpPr txBox="1"/>
                  <p:nvPr/>
                </p:nvSpPr>
                <p:spPr>
                  <a:xfrm flipH="1">
                    <a:off x="1874" y="2599"/>
                    <a:ext cx="274" cy="422"/>
                  </a:xfrm>
                  <a:prstGeom prst="rect">
                    <a:avLst/>
                  </a:prstGeom>
                  <a:noFill/>
                  <a:ln w="28575">
                    <a:noFill/>
                  </a:ln>
                </p:spPr>
                <p:txBody>
                  <a:bodyPr wrap="none" anchor="ctr" anchorCtr="0">
                    <a:spAutoFit/>
                  </a:bodyPr>
                  <a:lstStyle/>
                  <a:p>
                    <a:r>
                      <a:rPr lang="en-US" altLang="zh-CN" dirty="0">
                        <a:solidFill>
                          <a:srgbClr val="C00000"/>
                        </a:solidFill>
                        <a:latin typeface="Times New Roman" panose="02020603050405020304" pitchFamily="18" charset="0"/>
                        <a:ea typeface="宋体" panose="02010600030101010101" pitchFamily="2" charset="-122"/>
                      </a:rPr>
                      <a:t>+</a:t>
                    </a:r>
                  </a:p>
                </p:txBody>
              </p:sp>
              <p:sp>
                <p:nvSpPr>
                  <p:cNvPr id="5141" name="Line 33"/>
                  <p:cNvSpPr/>
                  <p:nvPr/>
                </p:nvSpPr>
                <p:spPr>
                  <a:xfrm flipH="1">
                    <a:off x="1152" y="2832"/>
                    <a:ext cx="123" cy="1"/>
                  </a:xfrm>
                  <a:prstGeom prst="line">
                    <a:avLst/>
                  </a:prstGeom>
                  <a:ln w="19050" cap="flat" cmpd="sng">
                    <a:solidFill>
                      <a:schemeClr val="tx2"/>
                    </a:solidFill>
                    <a:prstDash val="solid"/>
                    <a:headEnd type="none" w="med" len="med"/>
                    <a:tailEnd type="none" w="med" len="med"/>
                  </a:ln>
                </p:spPr>
              </p:sp>
              <p:sp>
                <p:nvSpPr>
                  <p:cNvPr id="5142" name="Text Box 34"/>
                  <p:cNvSpPr txBox="1"/>
                  <p:nvPr/>
                </p:nvSpPr>
                <p:spPr>
                  <a:xfrm>
                    <a:off x="2450" y="2604"/>
                    <a:ext cx="274" cy="422"/>
                  </a:xfrm>
                  <a:prstGeom prst="rect">
                    <a:avLst/>
                  </a:prstGeom>
                  <a:noFill/>
                  <a:ln w="28575">
                    <a:noFill/>
                  </a:ln>
                </p:spPr>
                <p:txBody>
                  <a:bodyPr wrap="none" anchor="ctr" anchorCtr="0">
                    <a:spAutoFit/>
                  </a:bodyPr>
                  <a:lstStyle/>
                  <a:p>
                    <a:r>
                      <a:rPr lang="en-US" altLang="zh-CN" dirty="0">
                        <a:solidFill>
                          <a:srgbClr val="C00000"/>
                        </a:solidFill>
                        <a:latin typeface="Times New Roman" panose="02020603050405020304" pitchFamily="18" charset="0"/>
                        <a:ea typeface="宋体" panose="02010600030101010101" pitchFamily="2" charset="-122"/>
                      </a:rPr>
                      <a:t>+</a:t>
                    </a:r>
                  </a:p>
                </p:txBody>
              </p:sp>
              <p:sp>
                <p:nvSpPr>
                  <p:cNvPr id="5143" name="Line 35"/>
                  <p:cNvSpPr/>
                  <p:nvPr/>
                </p:nvSpPr>
                <p:spPr>
                  <a:xfrm>
                    <a:off x="3319" y="2806"/>
                    <a:ext cx="96" cy="0"/>
                  </a:xfrm>
                  <a:prstGeom prst="line">
                    <a:avLst/>
                  </a:prstGeom>
                  <a:ln w="19050" cap="flat" cmpd="sng">
                    <a:solidFill>
                      <a:schemeClr val="tx2"/>
                    </a:solidFill>
                    <a:prstDash val="solid"/>
                    <a:headEnd type="none" w="med" len="med"/>
                    <a:tailEnd type="none" w="med" len="med"/>
                  </a:ln>
                </p:spPr>
              </p:sp>
            </p:grpSp>
            <p:sp>
              <p:nvSpPr>
                <p:cNvPr id="5138" name="Line 36"/>
                <p:cNvSpPr/>
                <p:nvPr/>
              </p:nvSpPr>
              <p:spPr>
                <a:xfrm>
                  <a:off x="768" y="3366"/>
                  <a:ext cx="816" cy="0"/>
                </a:xfrm>
                <a:prstGeom prst="line">
                  <a:avLst/>
                </a:prstGeom>
                <a:ln w="28575" cap="flat" cmpd="sng">
                  <a:solidFill>
                    <a:schemeClr val="tx2"/>
                  </a:solidFill>
                  <a:prstDash val="solid"/>
                  <a:headEnd type="none" w="med" len="med"/>
                  <a:tailEnd type="triangle" w="med" len="med"/>
                </a:ln>
              </p:spPr>
            </p:sp>
          </p:grpSp>
          <p:sp>
            <p:nvSpPr>
              <p:cNvPr id="5135" name="Rectangle 37"/>
              <p:cNvSpPr/>
              <p:nvPr/>
            </p:nvSpPr>
            <p:spPr>
              <a:xfrm>
                <a:off x="2160" y="240"/>
                <a:ext cx="225" cy="288"/>
              </a:xfrm>
              <a:prstGeom prst="rect">
                <a:avLst/>
              </a:prstGeom>
              <a:noFill/>
              <a:ln w="9525">
                <a:noFill/>
              </a:ln>
            </p:spPr>
            <p:txBody>
              <a:bodyPr wrap="none">
                <a:spAutoFit/>
              </a:bodyPr>
              <a:lstStyle/>
              <a:p>
                <a:pPr algn="l">
                  <a:spcBef>
                    <a:spcPct val="50000"/>
                  </a:spcBef>
                </a:pPr>
                <a:r>
                  <a:rPr lang="en-US" altLang="zh-CN" dirty="0">
                    <a:solidFill>
                      <a:srgbClr val="C00000"/>
                    </a:solidFill>
                    <a:latin typeface="Times New Roman" panose="02020603050405020304" pitchFamily="18" charset="0"/>
                    <a:ea typeface="宋体" panose="02010600030101010101" pitchFamily="2" charset="-122"/>
                  </a:rPr>
                  <a:t>+</a:t>
                </a:r>
                <a:endParaRPr lang="en-US" altLang="zh-CN" baseline="-25000" dirty="0">
                  <a:solidFill>
                    <a:srgbClr val="C00000"/>
                  </a:solidFill>
                  <a:latin typeface="Times New Roman" panose="02020603050405020304" pitchFamily="18" charset="0"/>
                  <a:ea typeface="宋体" panose="02010600030101010101" pitchFamily="2" charset="-122"/>
                </a:endParaRPr>
              </a:p>
            </p:txBody>
          </p:sp>
          <p:sp>
            <p:nvSpPr>
              <p:cNvPr id="5136" name="Rectangle 41"/>
              <p:cNvSpPr/>
              <p:nvPr/>
            </p:nvSpPr>
            <p:spPr>
              <a:xfrm>
                <a:off x="2928" y="432"/>
                <a:ext cx="200" cy="231"/>
              </a:xfrm>
              <a:prstGeom prst="rect">
                <a:avLst/>
              </a:prstGeom>
              <a:noFill/>
              <a:ln w="9525">
                <a:noFill/>
              </a:ln>
            </p:spPr>
            <p:txBody>
              <a:bodyPr>
                <a:spAutoFit/>
              </a:bodyPr>
              <a:lstStyle/>
              <a:p>
                <a:pPr algn="l"/>
                <a:r>
                  <a:rPr lang="en-US" altLang="zh-CN" sz="1800" dirty="0">
                    <a:solidFill>
                      <a:srgbClr val="C00000"/>
                    </a:solidFill>
                    <a:latin typeface="Arial" panose="020B0604020202020204" pitchFamily="34" charset="0"/>
                    <a:ea typeface="宋体" panose="02010600030101010101" pitchFamily="2" charset="-122"/>
                  </a:rPr>
                  <a:t>+</a:t>
                </a:r>
              </a:p>
            </p:txBody>
          </p:sp>
        </p:grpSp>
        <p:grpSp>
          <p:nvGrpSpPr>
            <p:cNvPr id="5126" name="组合 35"/>
            <p:cNvGrpSpPr/>
            <p:nvPr/>
          </p:nvGrpSpPr>
          <p:grpSpPr>
            <a:xfrm>
              <a:off x="1371953" y="4572000"/>
              <a:ext cx="3581047" cy="2209800"/>
              <a:chOff x="6401153" y="4114137"/>
              <a:chExt cx="3581047" cy="2209800"/>
            </a:xfrm>
          </p:grpSpPr>
          <p:sp>
            <p:nvSpPr>
              <p:cNvPr id="5127" name="Text Box 43"/>
              <p:cNvSpPr txBox="1"/>
              <p:nvPr/>
            </p:nvSpPr>
            <p:spPr>
              <a:xfrm>
                <a:off x="9144000" y="4571337"/>
                <a:ext cx="838200" cy="1555750"/>
              </a:xfrm>
              <a:prstGeom prst="rect">
                <a:avLst/>
              </a:prstGeom>
              <a:solidFill>
                <a:schemeClr val="bg1"/>
              </a:solidFill>
              <a:ln w="9525">
                <a:noFill/>
              </a:ln>
            </p:spPr>
            <p:txBody>
              <a:bodyPr>
                <a:spAutoFit/>
              </a:bodyPr>
              <a:lstStyle/>
              <a:p>
                <a:pPr algn="l">
                  <a:spcBef>
                    <a:spcPct val="50000"/>
                  </a:spcBef>
                </a:pPr>
                <a:r>
                  <a:rPr lang="en-US" altLang="zh-CN" sz="9600" i="0" dirty="0">
                    <a:solidFill>
                      <a:srgbClr val="FF3300"/>
                    </a:solidFill>
                    <a:latin typeface="Arial" panose="020B0604020202020204" pitchFamily="34" charset="0"/>
                    <a:ea typeface="宋体" panose="02010600030101010101" pitchFamily="2" charset="-122"/>
                  </a:rPr>
                  <a:t>X</a:t>
                </a:r>
                <a:endParaRPr lang="en-US" altLang="zh-CN" sz="9600" i="0" dirty="0">
                  <a:solidFill>
                    <a:schemeClr val="tx1"/>
                  </a:solidFill>
                  <a:latin typeface="Times New Roman" panose="02020603050405020304" pitchFamily="18" charset="0"/>
                  <a:ea typeface="宋体" panose="02010600030101010101" pitchFamily="2" charset="-122"/>
                </a:endParaRPr>
              </a:p>
            </p:txBody>
          </p:sp>
          <p:grpSp>
            <p:nvGrpSpPr>
              <p:cNvPr id="5128" name="Group 44"/>
              <p:cNvGrpSpPr/>
              <p:nvPr/>
            </p:nvGrpSpPr>
            <p:grpSpPr>
              <a:xfrm>
                <a:off x="6401153" y="4114137"/>
                <a:ext cx="2735792" cy="2209800"/>
                <a:chOff x="3821" y="680"/>
                <a:chExt cx="1551" cy="1150"/>
              </a:xfrm>
            </p:grpSpPr>
            <p:graphicFrame>
              <p:nvGraphicFramePr>
                <p:cNvPr id="5122" name="Object 46"/>
                <p:cNvGraphicFramePr>
                  <a:graphicFrameLocks/>
                </p:cNvGraphicFramePr>
                <p:nvPr/>
              </p:nvGraphicFramePr>
              <p:xfrm>
                <a:off x="3821" y="680"/>
                <a:ext cx="1551" cy="1150"/>
              </p:xfrm>
              <a:graphic>
                <a:graphicData uri="http://schemas.openxmlformats.org/presentationml/2006/ole">
                  <p:oleObj spid="_x0000_s27649" r:id="rId4" imgW="2029108" imgH="1504762" progId="PBrush">
                    <p:embed/>
                  </p:oleObj>
                </a:graphicData>
              </a:graphic>
            </p:graphicFrame>
            <p:sp>
              <p:nvSpPr>
                <p:cNvPr id="5129" name="Text Box 48"/>
                <p:cNvSpPr txBox="1"/>
                <p:nvPr/>
              </p:nvSpPr>
              <p:spPr>
                <a:xfrm>
                  <a:off x="4882" y="889"/>
                  <a:ext cx="202" cy="237"/>
                </a:xfrm>
                <a:prstGeom prst="rect">
                  <a:avLst/>
                </a:prstGeom>
                <a:noFill/>
                <a:ln w="28575">
                  <a:noFill/>
                </a:ln>
              </p:spPr>
              <p:txBody>
                <a:bodyPr wrap="none" anchor="ctr" anchorCtr="0">
                  <a:spAutoFit/>
                </a:bodyPr>
                <a:lstStyle/>
                <a:p>
                  <a:r>
                    <a:rPr lang="en-US" altLang="zh-CN" b="0" i="0" dirty="0">
                      <a:solidFill>
                        <a:schemeClr val="tx2"/>
                      </a:solidFill>
                      <a:latin typeface="Times New Roman" panose="02020603050405020304" pitchFamily="18" charset="0"/>
                      <a:ea typeface="宋体" panose="02010600030101010101" pitchFamily="2" charset="-122"/>
                    </a:rPr>
                    <a:t>+</a:t>
                  </a:r>
                </a:p>
              </p:txBody>
            </p:sp>
            <p:sp>
              <p:nvSpPr>
                <p:cNvPr id="5130" name="Line 49"/>
                <p:cNvSpPr/>
                <p:nvPr/>
              </p:nvSpPr>
              <p:spPr>
                <a:xfrm>
                  <a:off x="4922" y="1562"/>
                  <a:ext cx="96" cy="0"/>
                </a:xfrm>
                <a:prstGeom prst="line">
                  <a:avLst/>
                </a:prstGeom>
                <a:ln w="19050" cap="flat" cmpd="sng">
                  <a:solidFill>
                    <a:schemeClr val="tx2"/>
                  </a:solidFill>
                  <a:prstDash val="solid"/>
                  <a:headEnd type="none" w="med" len="med"/>
                  <a:tailEnd type="none" w="med" len="med"/>
                </a:ln>
              </p:spPr>
            </p:sp>
            <p:sp>
              <p:nvSpPr>
                <p:cNvPr id="5131" name="Text Box 50"/>
                <p:cNvSpPr txBox="1"/>
                <p:nvPr/>
              </p:nvSpPr>
              <p:spPr>
                <a:xfrm>
                  <a:off x="4497" y="1070"/>
                  <a:ext cx="288" cy="238"/>
                </a:xfrm>
                <a:prstGeom prst="rect">
                  <a:avLst/>
                </a:prstGeom>
                <a:noFill/>
                <a:ln w="28575">
                  <a:noFill/>
                </a:ln>
              </p:spPr>
              <p:txBody>
                <a:bodyPr anchor="ctr" anchorCtr="0">
                  <a:spAutoFit/>
                </a:bodyPr>
                <a:lstStyle/>
                <a:p>
                  <a:r>
                    <a:rPr lang="en-US" altLang="zh-CN" b="0" i="0" dirty="0">
                      <a:solidFill>
                        <a:schemeClr val="tx2"/>
                      </a:solidFill>
                      <a:latin typeface="Times New Roman" panose="02020603050405020304" pitchFamily="18" charset="0"/>
                      <a:ea typeface="宋体" panose="02010600030101010101" pitchFamily="2" charset="-122"/>
                    </a:rPr>
                    <a:t>+</a:t>
                  </a:r>
                </a:p>
              </p:txBody>
            </p:sp>
            <p:sp>
              <p:nvSpPr>
                <p:cNvPr id="5132" name="Line 51"/>
                <p:cNvSpPr/>
                <p:nvPr/>
              </p:nvSpPr>
              <p:spPr>
                <a:xfrm>
                  <a:off x="4032" y="1200"/>
                  <a:ext cx="96" cy="0"/>
                </a:xfrm>
                <a:prstGeom prst="line">
                  <a:avLst/>
                </a:prstGeom>
                <a:ln w="19050" cap="flat" cmpd="sng">
                  <a:solidFill>
                    <a:schemeClr val="tx2"/>
                  </a:solidFill>
                  <a:prstDash val="solid"/>
                  <a:headEnd type="none" w="med" len="med"/>
                  <a:tailEnd type="none" w="med" len="med"/>
                </a:ln>
              </p:spPr>
            </p:sp>
          </p:grpSp>
        </p:gr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80" name="Rectangle 20"/>
          <p:cNvSpPr/>
          <p:nvPr/>
        </p:nvSpPr>
        <p:spPr>
          <a:xfrm>
            <a:off x="0" y="0"/>
            <a:ext cx="3352800" cy="692150"/>
          </a:xfrm>
          <a:prstGeom prst="rect">
            <a:avLst/>
          </a:prstGeom>
          <a:noFill/>
          <a:ln w="9525">
            <a:noFill/>
          </a:ln>
        </p:spPr>
        <p:txBody>
          <a:bodyPr>
            <a:spAutoFit/>
          </a:bodyPr>
          <a:lstStyle/>
          <a:p>
            <a:pPr algn="l">
              <a:lnSpc>
                <a:spcPct val="150000"/>
              </a:lnSpc>
            </a:pPr>
            <a:r>
              <a:rPr lang="en-US" altLang="zh-CN" sz="2600" i="0" dirty="0">
                <a:solidFill>
                  <a:srgbClr val="C00000"/>
                </a:solidFill>
                <a:latin typeface="Times New Roman" panose="02020603050405020304" pitchFamily="18" charset="0"/>
              </a:rPr>
              <a:t> </a:t>
            </a:r>
            <a:r>
              <a:rPr lang="zh-CN" altLang="en-US" sz="2600" i="0" dirty="0">
                <a:solidFill>
                  <a:srgbClr val="C00000"/>
                </a:solidFill>
                <a:latin typeface="Times New Roman" panose="02020603050405020304" pitchFamily="18" charset="0"/>
              </a:rPr>
              <a:t>二、共价键的特征</a:t>
            </a:r>
          </a:p>
        </p:txBody>
      </p:sp>
      <p:sp>
        <p:nvSpPr>
          <p:cNvPr id="15381" name="Rectangle 21"/>
          <p:cNvSpPr/>
          <p:nvPr/>
        </p:nvSpPr>
        <p:spPr>
          <a:xfrm>
            <a:off x="152400" y="685800"/>
            <a:ext cx="4648200" cy="488950"/>
          </a:xfrm>
          <a:prstGeom prst="rect">
            <a:avLst/>
          </a:prstGeom>
          <a:noFill/>
          <a:ln w="9525">
            <a:noFill/>
          </a:ln>
        </p:spPr>
        <p:txBody>
          <a:bodyPr anchor="ctr" anchorCtr="0">
            <a:spAutoFit/>
          </a:bodyPr>
          <a:lstStyle/>
          <a:p>
            <a:pPr algn="l"/>
            <a:r>
              <a:rPr lang="en-US" altLang="zh-CN" sz="2600" i="0" dirty="0">
                <a:solidFill>
                  <a:srgbClr val="0000FF"/>
                </a:solidFill>
                <a:latin typeface="Times New Roman" panose="02020603050405020304" pitchFamily="18" charset="0"/>
              </a:rPr>
              <a:t>1</a:t>
            </a:r>
            <a:r>
              <a:rPr lang="zh-CN" altLang="en-US" sz="2600" i="0" dirty="0">
                <a:solidFill>
                  <a:srgbClr val="0000FF"/>
                </a:solidFill>
                <a:latin typeface="Times New Roman" panose="02020603050405020304" pitchFamily="18" charset="0"/>
              </a:rPr>
              <a:t>．共价键的饱和性和方向性</a:t>
            </a:r>
            <a:r>
              <a:rPr lang="zh-CN" altLang="en-US" sz="2600" b="0" i="0" dirty="0">
                <a:solidFill>
                  <a:srgbClr val="0000FF"/>
                </a:solidFill>
                <a:latin typeface="Times New Roman" panose="02020603050405020304" pitchFamily="18" charset="0"/>
              </a:rPr>
              <a:t> </a:t>
            </a:r>
          </a:p>
        </p:txBody>
      </p:sp>
      <p:grpSp>
        <p:nvGrpSpPr>
          <p:cNvPr id="2" name="组合 16"/>
          <p:cNvGrpSpPr/>
          <p:nvPr/>
        </p:nvGrpSpPr>
        <p:grpSpPr>
          <a:xfrm>
            <a:off x="152400" y="1295400"/>
            <a:ext cx="8763000" cy="1614488"/>
            <a:chOff x="152400" y="1371600"/>
            <a:chExt cx="8763000" cy="3014669"/>
          </a:xfrm>
        </p:grpSpPr>
        <p:sp>
          <p:nvSpPr>
            <p:cNvPr id="36872" name="Text Box 22"/>
            <p:cNvSpPr txBox="1"/>
            <p:nvPr/>
          </p:nvSpPr>
          <p:spPr>
            <a:xfrm>
              <a:off x="152400" y="1371600"/>
              <a:ext cx="8763000" cy="1819907"/>
            </a:xfrm>
            <a:prstGeom prst="rect">
              <a:avLst/>
            </a:prstGeom>
            <a:noFill/>
            <a:ln w="28575" cap="flat" cmpd="sng">
              <a:solidFill>
                <a:srgbClr val="FF6600"/>
              </a:solidFill>
              <a:prstDash val="solid"/>
              <a:miter/>
              <a:headEnd type="none" w="med" len="med"/>
              <a:tailEnd type="none" w="med" len="med"/>
            </a:ln>
          </p:spPr>
          <p:txBody>
            <a:bodyPr>
              <a:spAutoFit/>
            </a:bodyPr>
            <a:lstStyle/>
            <a:p>
              <a:pPr algn="l">
                <a:lnSpc>
                  <a:spcPts val="3600"/>
                </a:lnSpc>
              </a:pPr>
              <a:r>
                <a:rPr lang="zh-CN" altLang="en-US" sz="2600" i="0" dirty="0">
                  <a:solidFill>
                    <a:schemeClr val="tx1"/>
                  </a:solidFill>
                  <a:latin typeface="楷体_GB2312" pitchFamily="49" charset="-122"/>
                </a:rPr>
                <a:t>    有几个未成对电子，只能和几个自旋方向相反的电子成键</a:t>
              </a:r>
              <a:r>
                <a:rPr lang="en-US" altLang="zh-CN" sz="2600" i="0" dirty="0">
                  <a:solidFill>
                    <a:schemeClr val="tx1"/>
                  </a:solidFill>
                  <a:latin typeface="Arial" panose="020B0604020202020204" pitchFamily="34" charset="0"/>
                </a:rPr>
                <a:t>——</a:t>
              </a:r>
              <a:r>
                <a:rPr lang="zh-CN" altLang="en-US" sz="2600" dirty="0">
                  <a:solidFill>
                    <a:srgbClr val="0000FF"/>
                  </a:solidFill>
                  <a:latin typeface="Times New Roman" panose="02020603050405020304" pitchFamily="18" charset="0"/>
                </a:rPr>
                <a:t>共价键的饱和性</a:t>
              </a:r>
              <a:endParaRPr lang="zh-CN" altLang="en-US" sz="2600" dirty="0">
                <a:solidFill>
                  <a:schemeClr val="tx1"/>
                </a:solidFill>
                <a:latin typeface="Times New Roman" panose="02020603050405020304" pitchFamily="18" charset="0"/>
              </a:endParaRPr>
            </a:p>
          </p:txBody>
        </p:sp>
        <p:sp>
          <p:nvSpPr>
            <p:cNvPr id="36873" name="Line 23"/>
            <p:cNvSpPr/>
            <p:nvPr/>
          </p:nvSpPr>
          <p:spPr>
            <a:xfrm>
              <a:off x="2365375" y="2703513"/>
              <a:ext cx="444500" cy="0"/>
            </a:xfrm>
            <a:prstGeom prst="line">
              <a:avLst/>
            </a:prstGeom>
            <a:ln w="28575" cap="flat" cmpd="sng">
              <a:solidFill>
                <a:srgbClr val="FFFFFF"/>
              </a:solidFill>
              <a:prstDash val="solid"/>
              <a:headEnd type="none" w="med" len="med"/>
              <a:tailEnd type="none" w="med" len="med"/>
            </a:ln>
          </p:spPr>
        </p:sp>
        <p:sp>
          <p:nvSpPr>
            <p:cNvPr id="36874" name="Line 24"/>
            <p:cNvSpPr/>
            <p:nvPr/>
          </p:nvSpPr>
          <p:spPr>
            <a:xfrm>
              <a:off x="4421188" y="2763838"/>
              <a:ext cx="444500" cy="0"/>
            </a:xfrm>
            <a:prstGeom prst="line">
              <a:avLst/>
            </a:prstGeom>
            <a:ln w="28575" cap="flat" cmpd="sng">
              <a:solidFill>
                <a:srgbClr val="FFFFFF"/>
              </a:solidFill>
              <a:prstDash val="solid"/>
              <a:headEnd type="none" w="med" len="med"/>
              <a:tailEnd type="none" w="med" len="med"/>
            </a:ln>
          </p:spPr>
        </p:sp>
        <p:sp>
          <p:nvSpPr>
            <p:cNvPr id="36875" name="Line 25"/>
            <p:cNvSpPr/>
            <p:nvPr/>
          </p:nvSpPr>
          <p:spPr>
            <a:xfrm>
              <a:off x="5051425" y="2763838"/>
              <a:ext cx="444500" cy="0"/>
            </a:xfrm>
            <a:prstGeom prst="line">
              <a:avLst/>
            </a:prstGeom>
            <a:ln w="28575" cap="flat" cmpd="sng">
              <a:solidFill>
                <a:srgbClr val="FFFFFF"/>
              </a:solidFill>
              <a:prstDash val="solid"/>
              <a:headEnd type="none" w="med" len="med"/>
              <a:tailEnd type="none" w="med" len="med"/>
            </a:ln>
          </p:spPr>
        </p:sp>
        <p:sp>
          <p:nvSpPr>
            <p:cNvPr id="36876" name="Line 26"/>
            <p:cNvSpPr/>
            <p:nvPr/>
          </p:nvSpPr>
          <p:spPr>
            <a:xfrm>
              <a:off x="6975475" y="2768600"/>
              <a:ext cx="263525" cy="0"/>
            </a:xfrm>
            <a:prstGeom prst="line">
              <a:avLst/>
            </a:prstGeom>
            <a:ln w="28575" cap="flat" cmpd="sng">
              <a:solidFill>
                <a:srgbClr val="FFFFFF"/>
              </a:solidFill>
              <a:prstDash val="solid"/>
              <a:headEnd type="none" w="med" len="med"/>
              <a:tailEnd type="none" w="med" len="med"/>
            </a:ln>
          </p:spPr>
        </p:sp>
        <p:sp>
          <p:nvSpPr>
            <p:cNvPr id="36877" name="Line 27"/>
            <p:cNvSpPr/>
            <p:nvPr/>
          </p:nvSpPr>
          <p:spPr>
            <a:xfrm>
              <a:off x="6975475" y="2827338"/>
              <a:ext cx="263525" cy="0"/>
            </a:xfrm>
            <a:prstGeom prst="line">
              <a:avLst/>
            </a:prstGeom>
            <a:ln w="28575" cap="flat" cmpd="sng">
              <a:solidFill>
                <a:srgbClr val="FFFFFF"/>
              </a:solidFill>
              <a:prstDash val="solid"/>
              <a:headEnd type="none" w="med" len="med"/>
              <a:tailEnd type="none" w="med" len="med"/>
            </a:ln>
          </p:spPr>
        </p:sp>
        <p:sp>
          <p:nvSpPr>
            <p:cNvPr id="36878" name="Line 28"/>
            <p:cNvSpPr/>
            <p:nvPr/>
          </p:nvSpPr>
          <p:spPr>
            <a:xfrm>
              <a:off x="6975475" y="2695575"/>
              <a:ext cx="263525" cy="0"/>
            </a:xfrm>
            <a:prstGeom prst="line">
              <a:avLst/>
            </a:prstGeom>
            <a:ln w="28575" cap="flat" cmpd="sng">
              <a:solidFill>
                <a:srgbClr val="FFFFFF"/>
              </a:solidFill>
              <a:prstDash val="solid"/>
              <a:headEnd type="none" w="med" len="med"/>
              <a:tailEnd type="none" w="med" len="med"/>
            </a:ln>
          </p:spPr>
        </p:sp>
        <p:grpSp>
          <p:nvGrpSpPr>
            <p:cNvPr id="36879" name="Group 29"/>
            <p:cNvGrpSpPr/>
            <p:nvPr/>
          </p:nvGrpSpPr>
          <p:grpSpPr>
            <a:xfrm>
              <a:off x="762000" y="3363917"/>
              <a:ext cx="6799263" cy="1022352"/>
              <a:chOff x="528" y="1447"/>
              <a:chExt cx="4283" cy="644"/>
            </a:xfrm>
          </p:grpSpPr>
          <p:sp>
            <p:nvSpPr>
              <p:cNvPr id="36880" name="Text Box 30"/>
              <p:cNvSpPr txBox="1"/>
              <p:nvPr/>
            </p:nvSpPr>
            <p:spPr>
              <a:xfrm>
                <a:off x="1440" y="1447"/>
                <a:ext cx="1215" cy="608"/>
              </a:xfrm>
              <a:prstGeom prst="rect">
                <a:avLst/>
              </a:prstGeom>
              <a:noFill/>
              <a:ln w="28575">
                <a:noFill/>
              </a:ln>
            </p:spPr>
            <p:txBody>
              <a:bodyPr>
                <a:spAutoFit/>
              </a:bodyPr>
              <a:lstStyle/>
              <a:p>
                <a:pPr>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36881" name="Text Box 31"/>
              <p:cNvSpPr txBox="1"/>
              <p:nvPr/>
            </p:nvSpPr>
            <p:spPr>
              <a:xfrm>
                <a:off x="528" y="1488"/>
                <a:ext cx="749" cy="603"/>
              </a:xfrm>
              <a:prstGeom prst="rect">
                <a:avLst/>
              </a:prstGeom>
              <a:noFill/>
              <a:ln w="0">
                <a:noFill/>
              </a:ln>
            </p:spPr>
            <p:txBody>
              <a:bodyPr wrap="none">
                <a:spAutoFit/>
              </a:bodyPr>
              <a:lstStyle/>
              <a:p>
                <a:pPr eaLnBrk="0" hangingPunct="0">
                  <a:lnSpc>
                    <a:spcPts val="3600"/>
                  </a:lnSpc>
                </a:pPr>
                <a:r>
                  <a:rPr lang="zh-CN" altLang="en-US" sz="2600" i="0" dirty="0">
                    <a:solidFill>
                      <a:schemeClr val="tx1"/>
                    </a:solidFill>
                    <a:latin typeface="Times New Roman" panose="02020603050405020304" pitchFamily="18" charset="0"/>
                  </a:rPr>
                  <a:t>例如：</a:t>
                </a:r>
              </a:p>
            </p:txBody>
          </p:sp>
          <p:sp>
            <p:nvSpPr>
              <p:cNvPr id="36882" name="Rectangle 32"/>
              <p:cNvSpPr/>
              <p:nvPr/>
            </p:nvSpPr>
            <p:spPr>
              <a:xfrm>
                <a:off x="2784" y="1447"/>
                <a:ext cx="1062" cy="608"/>
              </a:xfrm>
              <a:prstGeom prst="rect">
                <a:avLst/>
              </a:prstGeom>
              <a:noFill/>
              <a:ln w="28575">
                <a:noFill/>
              </a:ln>
            </p:spPr>
            <p:txBody>
              <a:bodyPr>
                <a:spAutoFit/>
              </a:bodyPr>
              <a:lstStyle/>
              <a:p>
                <a:pPr>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ea typeface="宋体" panose="02010600030101010101" pitchFamily="2" charset="-122"/>
                  </a:rPr>
                  <a:t>O</a:t>
                </a:r>
                <a:r>
                  <a:rPr lang="en-US" altLang="zh-CN"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ea typeface="宋体" panose="02010600030101010101" pitchFamily="2" charset="-122"/>
                  </a:rPr>
                  <a:t>H</a:t>
                </a:r>
              </a:p>
            </p:txBody>
          </p:sp>
          <p:sp>
            <p:nvSpPr>
              <p:cNvPr id="36883" name="Rectangle 33"/>
              <p:cNvSpPr/>
              <p:nvPr/>
            </p:nvSpPr>
            <p:spPr>
              <a:xfrm>
                <a:off x="4272" y="1447"/>
                <a:ext cx="539" cy="608"/>
              </a:xfrm>
              <a:prstGeom prst="rect">
                <a:avLst/>
              </a:prstGeom>
              <a:noFill/>
              <a:ln w="28575">
                <a:noFill/>
              </a:ln>
            </p:spPr>
            <p:txBody>
              <a:bodyPr>
                <a:spAutoFit/>
              </a:bodyPr>
              <a:lstStyle/>
              <a:p>
                <a:pPr>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N</a:t>
                </a:r>
                <a:r>
                  <a:rPr lang="en-US" altLang="zh-CN"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ea typeface="宋体" panose="02010600030101010101" pitchFamily="2" charset="-122"/>
                  </a:rPr>
                  <a:t>N</a:t>
                </a:r>
              </a:p>
            </p:txBody>
          </p:sp>
        </p:grpSp>
      </p:grpSp>
      <p:grpSp>
        <p:nvGrpSpPr>
          <p:cNvPr id="4" name="组合 19"/>
          <p:cNvGrpSpPr/>
          <p:nvPr/>
        </p:nvGrpSpPr>
        <p:grpSpPr>
          <a:xfrm>
            <a:off x="228600" y="3276600"/>
            <a:ext cx="8610600" cy="2854325"/>
            <a:chOff x="304800" y="3810000"/>
            <a:chExt cx="8610600" cy="2519082"/>
          </a:xfrm>
        </p:grpSpPr>
        <p:sp>
          <p:nvSpPr>
            <p:cNvPr id="36870" name="Rectangle 28"/>
            <p:cNvSpPr/>
            <p:nvPr/>
          </p:nvSpPr>
          <p:spPr>
            <a:xfrm>
              <a:off x="304800" y="3810000"/>
              <a:ext cx="8610600" cy="1710875"/>
            </a:xfrm>
            <a:prstGeom prst="rect">
              <a:avLst/>
            </a:prstGeom>
            <a:noFill/>
            <a:ln w="9525">
              <a:noFill/>
            </a:ln>
          </p:spPr>
          <p:txBody>
            <a:bodyPr anchor="ctr" anchorCtr="0">
              <a:spAutoFit/>
            </a:bodyPr>
            <a:lstStyle/>
            <a:p>
              <a:pPr algn="l">
                <a:lnSpc>
                  <a:spcPts val="3600"/>
                </a:lnSpc>
              </a:pPr>
              <a:r>
                <a:rPr lang="en-US" altLang="zh-CN" sz="2600" dirty="0">
                  <a:solidFill>
                    <a:srgbClr val="CC3300"/>
                  </a:solidFill>
                  <a:latin typeface="Times New Roman" panose="02020603050405020304" pitchFamily="18" charset="0"/>
                  <a:cs typeface="Times New Roman" panose="02020603050405020304" pitchFamily="18" charset="0"/>
                </a:rPr>
                <a:t>        </a:t>
              </a:r>
              <a:r>
                <a:rPr lang="zh-CN" altLang="en-US" sz="2600" dirty="0">
                  <a:solidFill>
                    <a:srgbClr val="CC3300"/>
                  </a:solidFill>
                  <a:latin typeface="Times New Roman" panose="02020603050405020304" pitchFamily="18" charset="0"/>
                  <a:cs typeface="Times New Roman" panose="02020603050405020304" pitchFamily="18" charset="0"/>
                </a:rPr>
                <a:t>注意：</a:t>
              </a:r>
              <a:r>
                <a:rPr lang="zh-CN" altLang="en-US" sz="2600" i="0" dirty="0">
                  <a:solidFill>
                    <a:schemeClr val="tx1"/>
                  </a:solidFill>
                  <a:latin typeface="Times New Roman" panose="02020603050405020304" pitchFamily="18" charset="0"/>
                  <a:cs typeface="Times New Roman" panose="02020603050405020304" pitchFamily="18" charset="0"/>
                </a:rPr>
                <a:t>有些原子中本来是成对的价电子，在特定条件下也有可能被拆开成为单电子而参与成键的。</a:t>
              </a:r>
              <a:endParaRPr lang="en-US" altLang="zh-CN" sz="2600" i="0" dirty="0">
                <a:solidFill>
                  <a:schemeClr val="tx1"/>
                </a:solidFill>
                <a:latin typeface="Times New Roman" panose="02020603050405020304" pitchFamily="18" charset="0"/>
                <a:cs typeface="Times New Roman" panose="02020603050405020304" pitchFamily="18" charset="0"/>
              </a:endParaRPr>
            </a:p>
            <a:p>
              <a:pPr algn="l">
                <a:lnSpc>
                  <a:spcPts val="3600"/>
                </a:lnSpc>
              </a:pPr>
              <a:r>
                <a:rPr lang="en-US" altLang="zh-CN" sz="2600" i="0" dirty="0">
                  <a:solidFill>
                    <a:schemeClr val="tx1"/>
                  </a:solidFill>
                  <a:latin typeface="Times New Roman" panose="02020603050405020304" pitchFamily="18" charset="0"/>
                  <a:cs typeface="Times New Roman" panose="02020603050405020304" pitchFamily="18" charset="0"/>
                </a:rPr>
                <a:t>        </a:t>
              </a:r>
              <a:r>
                <a:rPr lang="zh-CN" altLang="en-US" sz="2600" i="0" dirty="0">
                  <a:solidFill>
                    <a:schemeClr val="tx1"/>
                  </a:solidFill>
                  <a:latin typeface="Times New Roman" panose="02020603050405020304" pitchFamily="18" charset="0"/>
                  <a:cs typeface="Times New Roman" panose="02020603050405020304" pitchFamily="18" charset="0"/>
                </a:rPr>
                <a:t>例如，硫原子</a:t>
              </a:r>
              <a:r>
                <a:rPr lang="en-US" altLang="zh-CN" sz="2600" i="0" dirty="0">
                  <a:solidFill>
                    <a:schemeClr val="tx1"/>
                  </a:solidFill>
                  <a:latin typeface="Times New Roman" panose="02020603050405020304" pitchFamily="18" charset="0"/>
                  <a:cs typeface="Times New Roman" panose="02020603050405020304" pitchFamily="18" charset="0"/>
                </a:rPr>
                <a:t>(1 s</a:t>
              </a:r>
              <a:r>
                <a:rPr lang="en-US" altLang="zh-CN" sz="2600" i="0" baseline="30000" dirty="0">
                  <a:solidFill>
                    <a:schemeClr val="tx1"/>
                  </a:solidFill>
                  <a:latin typeface="Times New Roman" panose="02020603050405020304" pitchFamily="18" charset="0"/>
                  <a:cs typeface="Times New Roman" panose="02020603050405020304" pitchFamily="18" charset="0"/>
                </a:rPr>
                <a:t>2</a:t>
              </a:r>
              <a:r>
                <a:rPr lang="en-US" altLang="zh-CN" sz="2600" i="0" dirty="0">
                  <a:solidFill>
                    <a:schemeClr val="tx1"/>
                  </a:solidFill>
                  <a:latin typeface="Times New Roman" panose="02020603050405020304" pitchFamily="18" charset="0"/>
                  <a:cs typeface="Times New Roman" panose="02020603050405020304" pitchFamily="18" charset="0"/>
                </a:rPr>
                <a:t>2s</a:t>
              </a:r>
              <a:r>
                <a:rPr lang="en-US" altLang="zh-CN" sz="2600" i="0" baseline="30000" dirty="0">
                  <a:solidFill>
                    <a:schemeClr val="tx1"/>
                  </a:solidFill>
                  <a:latin typeface="Times New Roman" panose="02020603050405020304" pitchFamily="18" charset="0"/>
                  <a:cs typeface="Times New Roman" panose="02020603050405020304" pitchFamily="18" charset="0"/>
                </a:rPr>
                <a:t>2</a:t>
              </a:r>
              <a:r>
                <a:rPr lang="en-US" altLang="zh-CN" sz="2600" i="0" dirty="0">
                  <a:solidFill>
                    <a:schemeClr val="tx1"/>
                  </a:solidFill>
                  <a:latin typeface="Times New Roman" panose="02020603050405020304" pitchFamily="18" charset="0"/>
                  <a:cs typeface="Times New Roman" panose="02020603050405020304" pitchFamily="18" charset="0"/>
                </a:rPr>
                <a:t>2p</a:t>
              </a:r>
              <a:r>
                <a:rPr lang="en-US" altLang="zh-CN" sz="2600" i="0" baseline="30000" dirty="0">
                  <a:solidFill>
                    <a:schemeClr val="tx1"/>
                  </a:solidFill>
                  <a:latin typeface="Times New Roman" panose="02020603050405020304" pitchFamily="18" charset="0"/>
                  <a:cs typeface="Times New Roman" panose="02020603050405020304" pitchFamily="18" charset="0"/>
                </a:rPr>
                <a:t>6</a:t>
              </a:r>
              <a:r>
                <a:rPr lang="en-US" altLang="zh-CN" sz="2600" i="0" dirty="0">
                  <a:solidFill>
                    <a:schemeClr val="tx1"/>
                  </a:solidFill>
                  <a:latin typeface="Times New Roman" panose="02020603050405020304" pitchFamily="18" charset="0"/>
                  <a:cs typeface="Times New Roman" panose="02020603050405020304" pitchFamily="18" charset="0"/>
                </a:rPr>
                <a:t>3s</a:t>
              </a:r>
              <a:r>
                <a:rPr lang="en-US" altLang="zh-CN" sz="2600" i="0" baseline="30000" dirty="0">
                  <a:solidFill>
                    <a:schemeClr val="tx1"/>
                  </a:solidFill>
                  <a:latin typeface="Times New Roman" panose="02020603050405020304" pitchFamily="18" charset="0"/>
                  <a:cs typeface="Times New Roman" panose="02020603050405020304" pitchFamily="18" charset="0"/>
                </a:rPr>
                <a:t>2</a:t>
              </a:r>
              <a:r>
                <a:rPr lang="en-US" altLang="zh-CN" sz="2600" i="0" dirty="0">
                  <a:solidFill>
                    <a:schemeClr val="tx1"/>
                  </a:solidFill>
                  <a:latin typeface="Times New Roman" panose="02020603050405020304" pitchFamily="18" charset="0"/>
                  <a:cs typeface="Times New Roman" panose="02020603050405020304" pitchFamily="18" charset="0"/>
                </a:rPr>
                <a:t>3p</a:t>
              </a:r>
              <a:r>
                <a:rPr lang="en-US" altLang="zh-CN" sz="2600" i="0" baseline="30000" dirty="0">
                  <a:solidFill>
                    <a:schemeClr val="tx1"/>
                  </a:solidFill>
                  <a:latin typeface="Times New Roman" panose="02020603050405020304" pitchFamily="18" charset="0"/>
                  <a:cs typeface="Times New Roman" panose="02020603050405020304" pitchFamily="18" charset="0"/>
                </a:rPr>
                <a:t>4</a:t>
              </a:r>
              <a:r>
                <a:rPr lang="en-US" altLang="zh-CN" sz="2600" i="0" dirty="0">
                  <a:solidFill>
                    <a:schemeClr val="tx1"/>
                  </a:solidFill>
                  <a:latin typeface="Times New Roman" panose="02020603050405020304" pitchFamily="18" charset="0"/>
                  <a:cs typeface="Times New Roman" panose="02020603050405020304" pitchFamily="18" charset="0"/>
                </a:rPr>
                <a:t>)</a:t>
              </a:r>
              <a:r>
                <a:rPr lang="zh-CN" altLang="en-US" sz="2600" i="0" dirty="0">
                  <a:solidFill>
                    <a:schemeClr val="tx1"/>
                  </a:solidFill>
                  <a:latin typeface="Times New Roman" panose="02020603050405020304" pitchFamily="18" charset="0"/>
                  <a:cs typeface="Times New Roman" panose="02020603050405020304" pitchFamily="18" charset="0"/>
                </a:rPr>
                <a:t>的价层中原来只有两个未成对电子：</a:t>
              </a:r>
              <a:endParaRPr lang="zh-CN" altLang="en-US" sz="2600" i="0" dirty="0">
                <a:solidFill>
                  <a:schemeClr val="tx1"/>
                </a:solidFill>
                <a:latin typeface="Times New Roman" panose="02020603050405020304" pitchFamily="18" charset="0"/>
                <a:ea typeface="Times New Roman" panose="02020603050405020304" pitchFamily="18" charset="0"/>
              </a:endParaRPr>
            </a:p>
          </p:txBody>
        </p:sp>
        <p:pic>
          <p:nvPicPr>
            <p:cNvPr id="36871" name="Picture 27" descr="HWOCRTEMP_ROC40"/>
            <p:cNvPicPr>
              <a:picLocks noChangeAspect="1"/>
            </p:cNvPicPr>
            <p:nvPr/>
          </p:nvPicPr>
          <p:blipFill>
            <a:blip r:embed="rId3"/>
            <a:stretch>
              <a:fillRect/>
            </a:stretch>
          </p:blipFill>
          <p:spPr>
            <a:xfrm>
              <a:off x="2133600" y="5490882"/>
              <a:ext cx="4951413" cy="838200"/>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380"/>
                                        </p:tgtEl>
                                        <p:attrNameLst>
                                          <p:attrName>style.visibility</p:attrName>
                                        </p:attrNameLst>
                                      </p:cBhvr>
                                      <p:to>
                                        <p:strVal val="visible"/>
                                      </p:to>
                                    </p:set>
                                    <p:animEffect transition="in" filter="checkerboard(across)">
                                      <p:cBhvr>
                                        <p:cTn id="7" dur="1000"/>
                                        <p:tgtEl>
                                          <p:spTgt spid="1538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381"/>
                                        </p:tgtEl>
                                        <p:attrNameLst>
                                          <p:attrName>style.visibility</p:attrName>
                                        </p:attrNameLst>
                                      </p:cBhvr>
                                      <p:to>
                                        <p:strVal val="visible"/>
                                      </p:to>
                                    </p:set>
                                    <p:animEffect transition="in" filter="checkerboard(across)">
                                      <p:cBhvr>
                                        <p:cTn id="12" dur="1000"/>
                                        <p:tgtEl>
                                          <p:spTgt spid="153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0" grpId="0"/>
      <p:bldP spid="15381"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890" name="Group 37"/>
          <p:cNvGrpSpPr/>
          <p:nvPr/>
        </p:nvGrpSpPr>
        <p:grpSpPr>
          <a:xfrm>
            <a:off x="76200" y="304800"/>
            <a:ext cx="8991600" cy="4114800"/>
            <a:chOff x="48" y="1536"/>
            <a:chExt cx="5664" cy="2592"/>
          </a:xfrm>
        </p:grpSpPr>
        <p:sp>
          <p:nvSpPr>
            <p:cNvPr id="37891" name="Rectangle 31"/>
            <p:cNvSpPr/>
            <p:nvPr/>
          </p:nvSpPr>
          <p:spPr>
            <a:xfrm>
              <a:off x="240" y="1536"/>
              <a:ext cx="5424" cy="603"/>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楷体_GB2312" pitchFamily="49" charset="-122"/>
                  <a:cs typeface="Times New Roman" panose="02020603050405020304" pitchFamily="18" charset="0"/>
                </a:rPr>
                <a:t>    </a:t>
              </a:r>
              <a:r>
                <a:rPr lang="zh-CN" altLang="en-US" sz="2600" i="0" dirty="0">
                  <a:solidFill>
                    <a:schemeClr val="tx1"/>
                  </a:solidFill>
                  <a:latin typeface="楷体_GB2312" pitchFamily="49" charset="-122"/>
                  <a:cs typeface="Times New Roman" panose="02020603050405020304" pitchFamily="18" charset="0"/>
                </a:rPr>
                <a:t>当遇电负性大的</a:t>
              </a:r>
              <a:r>
                <a:rPr lang="en-US" altLang="zh-CN" sz="2600" i="0" dirty="0">
                  <a:solidFill>
                    <a:schemeClr val="tx1"/>
                  </a:solidFill>
                  <a:latin typeface="楷体_GB2312" pitchFamily="49" charset="-122"/>
                  <a:cs typeface="Times New Roman" panose="02020603050405020304" pitchFamily="18" charset="0"/>
                </a:rPr>
                <a:t>F</a:t>
              </a:r>
              <a:r>
                <a:rPr lang="zh-CN" altLang="en-US" sz="2600" i="0" dirty="0">
                  <a:solidFill>
                    <a:schemeClr val="tx1"/>
                  </a:solidFill>
                  <a:latin typeface="楷体_GB2312" pitchFamily="49" charset="-122"/>
                  <a:cs typeface="Times New Roman" panose="02020603050405020304" pitchFamily="18" charset="0"/>
                </a:rPr>
                <a:t>原子时，价电子对可以拆开，使未成对电子数增至</a:t>
              </a:r>
              <a:r>
                <a:rPr lang="en-US" altLang="zh-CN" sz="2600" i="0" dirty="0">
                  <a:solidFill>
                    <a:schemeClr val="tx1"/>
                  </a:solidFill>
                  <a:latin typeface="楷体_GB2312" pitchFamily="49" charset="-122"/>
                  <a:cs typeface="Times New Roman" panose="02020603050405020304" pitchFamily="18" charset="0"/>
                </a:rPr>
                <a:t>6</a:t>
              </a:r>
              <a:r>
                <a:rPr lang="zh-CN" altLang="en-US" sz="2600" i="0" dirty="0">
                  <a:solidFill>
                    <a:schemeClr val="tx1"/>
                  </a:solidFill>
                  <a:latin typeface="楷体_GB2312" pitchFamily="49" charset="-122"/>
                  <a:cs typeface="Times New Roman" panose="02020603050405020304" pitchFamily="18" charset="0"/>
                </a:rPr>
                <a:t>个：</a:t>
              </a:r>
              <a:endParaRPr lang="zh-CN" altLang="en-US" sz="2600" i="0" dirty="0">
                <a:solidFill>
                  <a:schemeClr val="tx1"/>
                </a:solidFill>
                <a:latin typeface="楷体_GB2312" pitchFamily="49" charset="-122"/>
                <a:ea typeface="Times New Roman" panose="02020603050405020304" pitchFamily="18" charset="0"/>
              </a:endParaRPr>
            </a:p>
          </p:txBody>
        </p:sp>
        <p:sp>
          <p:nvSpPr>
            <p:cNvPr id="37892" name="Rectangle 34"/>
            <p:cNvSpPr/>
            <p:nvPr/>
          </p:nvSpPr>
          <p:spPr>
            <a:xfrm>
              <a:off x="48" y="2784"/>
              <a:ext cx="5664" cy="614"/>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cs typeface="Times New Roman" panose="02020603050405020304" pitchFamily="18" charset="0"/>
                </a:rPr>
                <a:t>        </a:t>
              </a:r>
              <a:r>
                <a:rPr lang="zh-CN" altLang="en-US" sz="2600" i="0" dirty="0">
                  <a:solidFill>
                    <a:schemeClr val="tx1"/>
                  </a:solidFill>
                  <a:latin typeface="Times New Roman" panose="02020603050405020304" pitchFamily="18" charset="0"/>
                  <a:cs typeface="Times New Roman" panose="02020603050405020304" pitchFamily="18" charset="0"/>
                </a:rPr>
                <a:t>从而可与</a:t>
              </a:r>
              <a:r>
                <a:rPr lang="en-US" altLang="zh-CN" sz="2600" i="0" dirty="0">
                  <a:solidFill>
                    <a:schemeClr val="tx1"/>
                  </a:solidFill>
                  <a:latin typeface="Times New Roman" panose="02020603050405020304" pitchFamily="18" charset="0"/>
                  <a:cs typeface="Times New Roman" panose="02020603050405020304" pitchFamily="18" charset="0"/>
                </a:rPr>
                <a:t>6</a:t>
              </a:r>
              <a:r>
                <a:rPr lang="zh-CN" altLang="en-US" sz="2600" i="0" dirty="0">
                  <a:solidFill>
                    <a:schemeClr val="tx1"/>
                  </a:solidFill>
                  <a:latin typeface="Times New Roman" panose="02020603050405020304" pitchFamily="18" charset="0"/>
                  <a:cs typeface="Times New Roman" panose="02020603050405020304" pitchFamily="18" charset="0"/>
                </a:rPr>
                <a:t>个</a:t>
              </a:r>
              <a:r>
                <a:rPr lang="en-US" altLang="zh-CN" sz="2600" i="0" dirty="0">
                  <a:solidFill>
                    <a:schemeClr val="tx1"/>
                  </a:solidFill>
                  <a:latin typeface="Times New Roman" panose="02020603050405020304" pitchFamily="18" charset="0"/>
                  <a:cs typeface="Times New Roman" panose="02020603050405020304" pitchFamily="18" charset="0"/>
                </a:rPr>
                <a:t>F</a:t>
              </a:r>
              <a:r>
                <a:rPr lang="zh-CN" altLang="en-US" sz="2600" i="0" dirty="0">
                  <a:solidFill>
                    <a:schemeClr val="tx1"/>
                  </a:solidFill>
                  <a:latin typeface="Times New Roman" panose="02020603050405020304" pitchFamily="18" charset="0"/>
                  <a:cs typeface="Times New Roman" panose="02020603050405020304" pitchFamily="18" charset="0"/>
                </a:rPr>
                <a:t>原子的未成对电子配对成键，形成</a:t>
              </a:r>
              <a:r>
                <a:rPr lang="en-US" altLang="zh-CN" sz="2600" i="0" dirty="0">
                  <a:solidFill>
                    <a:schemeClr val="tx1"/>
                  </a:solidFill>
                  <a:latin typeface="Times New Roman" panose="02020603050405020304" pitchFamily="18" charset="0"/>
                  <a:cs typeface="Times New Roman" panose="02020603050405020304" pitchFamily="18" charset="0"/>
                </a:rPr>
                <a:t>SF</a:t>
              </a:r>
              <a:r>
                <a:rPr lang="en-US" altLang="zh-CN" sz="2600" i="0" baseline="-30000" dirty="0">
                  <a:solidFill>
                    <a:schemeClr val="tx1"/>
                  </a:solidFill>
                  <a:latin typeface="Times New Roman" panose="02020603050405020304" pitchFamily="18" charset="0"/>
                  <a:cs typeface="Times New Roman" panose="02020603050405020304" pitchFamily="18" charset="0"/>
                </a:rPr>
                <a:t>6</a:t>
              </a:r>
              <a:r>
                <a:rPr lang="zh-CN" altLang="en-US" sz="2600" i="0" dirty="0">
                  <a:solidFill>
                    <a:schemeClr val="tx1"/>
                  </a:solidFill>
                  <a:latin typeface="Times New Roman" panose="02020603050405020304" pitchFamily="18" charset="0"/>
                  <a:cs typeface="Times New Roman" panose="02020603050405020304" pitchFamily="18" charset="0"/>
                </a:rPr>
                <a:t>分子：</a:t>
              </a:r>
              <a:endParaRPr lang="zh-CN" altLang="en-US" sz="2600" i="0" dirty="0">
                <a:solidFill>
                  <a:schemeClr val="tx1"/>
                </a:solidFill>
                <a:latin typeface="Times New Roman" panose="02020603050405020304" pitchFamily="18" charset="0"/>
                <a:ea typeface="Times New Roman" panose="02020603050405020304" pitchFamily="18" charset="0"/>
              </a:endParaRPr>
            </a:p>
          </p:txBody>
        </p:sp>
        <p:pic>
          <p:nvPicPr>
            <p:cNvPr id="37893" name="Picture 35" descr="HWOCRTEMP_ROC60"/>
            <p:cNvPicPr>
              <a:picLocks noChangeAspect="1"/>
            </p:cNvPicPr>
            <p:nvPr/>
          </p:nvPicPr>
          <p:blipFill>
            <a:blip r:embed="rId3"/>
            <a:stretch>
              <a:fillRect/>
            </a:stretch>
          </p:blipFill>
          <p:spPr>
            <a:xfrm>
              <a:off x="960" y="3264"/>
              <a:ext cx="3744" cy="864"/>
            </a:xfrm>
            <a:prstGeom prst="rect">
              <a:avLst/>
            </a:prstGeom>
            <a:noFill/>
            <a:ln w="9525">
              <a:noFill/>
            </a:ln>
          </p:spPr>
        </p:pic>
        <p:pic>
          <p:nvPicPr>
            <p:cNvPr id="37894" name="Picture 36" descr="HWOCRTEMP_ROC50"/>
            <p:cNvPicPr>
              <a:picLocks noChangeAspect="1"/>
            </p:cNvPicPr>
            <p:nvPr/>
          </p:nvPicPr>
          <p:blipFill>
            <a:blip r:embed="rId4"/>
            <a:stretch>
              <a:fillRect/>
            </a:stretch>
          </p:blipFill>
          <p:spPr>
            <a:xfrm>
              <a:off x="576" y="2160"/>
              <a:ext cx="4080" cy="576"/>
            </a:xfrm>
            <a:prstGeom prst="rect">
              <a:avLst/>
            </a:prstGeom>
            <a:noFill/>
            <a:ln w="9525">
              <a:noFill/>
            </a:ln>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12"/>
          <p:cNvSpPr/>
          <p:nvPr/>
        </p:nvSpPr>
        <p:spPr>
          <a:xfrm>
            <a:off x="152400" y="152400"/>
            <a:ext cx="8763000" cy="1436688"/>
          </a:xfrm>
          <a:prstGeom prst="rect">
            <a:avLst/>
          </a:prstGeom>
          <a:solidFill>
            <a:schemeClr val="bg1"/>
          </a:solidFill>
          <a:ln w="9525" cap="flat" cmpd="sng">
            <a:solidFill>
              <a:srgbClr val="CC3300"/>
            </a:solidFill>
            <a:prstDash val="solid"/>
            <a:miter/>
            <a:headEnd type="none" w="med" len="med"/>
            <a:tailEnd type="none" w="med" len="med"/>
          </a:ln>
        </p:spPr>
        <p:txBody>
          <a:bodyPr>
            <a:spAutoFit/>
          </a:bodyPr>
          <a:lstStyle/>
          <a:p>
            <a:pPr algn="l">
              <a:lnSpc>
                <a:spcPts val="3600"/>
              </a:lnSpc>
            </a:pPr>
            <a:r>
              <a:rPr lang="en-US" altLang="zh-CN" sz="2600" i="0" dirty="0">
                <a:solidFill>
                  <a:srgbClr val="0000FF"/>
                </a:solidFill>
                <a:latin typeface="Times New Roman" panose="02020603050405020304" pitchFamily="18" charset="0"/>
              </a:rPr>
              <a:t>        </a:t>
            </a:r>
            <a:r>
              <a:rPr lang="zh-CN" altLang="en-US" sz="2600" i="0" dirty="0">
                <a:solidFill>
                  <a:srgbClr val="0000FF"/>
                </a:solidFill>
                <a:latin typeface="Times New Roman" panose="02020603050405020304" pitchFamily="18" charset="0"/>
              </a:rPr>
              <a:t>共价键的方向性</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形成共价键时，成键电子的原子轨道</a:t>
            </a:r>
            <a:r>
              <a:rPr lang="en-US" altLang="zh-CN" sz="2600" i="0" dirty="0">
                <a:solidFill>
                  <a:schemeClr val="tx1"/>
                </a:solidFill>
                <a:latin typeface="Times New Roman" panose="02020603050405020304" pitchFamily="18" charset="0"/>
              </a:rPr>
              <a:t>(s,p,d,f)</a:t>
            </a:r>
            <a:r>
              <a:rPr lang="zh-CN" altLang="en-US" sz="2600" i="0" dirty="0">
                <a:solidFill>
                  <a:schemeClr val="tx1"/>
                </a:solidFill>
                <a:latin typeface="Times New Roman" panose="02020603050405020304" pitchFamily="18" charset="0"/>
              </a:rPr>
              <a:t>只有沿着一定的空间伸展方向进行重叠，才能实现最大限度的重叠。例如：</a:t>
            </a:r>
            <a:r>
              <a:rPr lang="en-US" altLang="zh-CN" sz="2600" i="0" dirty="0">
                <a:solidFill>
                  <a:schemeClr val="tx1"/>
                </a:solidFill>
                <a:latin typeface="Times New Roman" panose="02020603050405020304" pitchFamily="18" charset="0"/>
              </a:rPr>
              <a:t>HCl</a:t>
            </a:r>
          </a:p>
        </p:txBody>
      </p:sp>
      <p:pic>
        <p:nvPicPr>
          <p:cNvPr id="38915" name="Picture 41" descr="tu7-3"/>
          <p:cNvPicPr>
            <a:picLocks noChangeAspect="1"/>
          </p:cNvPicPr>
          <p:nvPr/>
        </p:nvPicPr>
        <p:blipFill>
          <a:blip r:embed="rId3"/>
          <a:stretch>
            <a:fillRect/>
          </a:stretch>
        </p:blipFill>
        <p:spPr>
          <a:xfrm>
            <a:off x="2209800" y="1981200"/>
            <a:ext cx="4418013" cy="2590800"/>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9938" name="Picture 6"/>
          <p:cNvPicPr>
            <a:picLocks noChangeAspect="1"/>
          </p:cNvPicPr>
          <p:nvPr/>
        </p:nvPicPr>
        <p:blipFill>
          <a:blip r:embed="rId2"/>
          <a:stretch>
            <a:fillRect/>
          </a:stretch>
        </p:blipFill>
        <p:spPr>
          <a:xfrm>
            <a:off x="914400" y="3124200"/>
            <a:ext cx="7620000" cy="3505200"/>
          </a:xfrm>
          <a:prstGeom prst="rect">
            <a:avLst/>
          </a:prstGeom>
          <a:noFill/>
          <a:ln w="9525">
            <a:noFill/>
          </a:ln>
        </p:spPr>
      </p:pic>
      <p:pic>
        <p:nvPicPr>
          <p:cNvPr id="39939" name="Picture 13"/>
          <p:cNvPicPr>
            <a:picLocks noChangeAspect="1"/>
          </p:cNvPicPr>
          <p:nvPr/>
        </p:nvPicPr>
        <p:blipFill>
          <a:blip r:embed="rId3"/>
          <a:stretch>
            <a:fillRect/>
          </a:stretch>
        </p:blipFill>
        <p:spPr>
          <a:xfrm>
            <a:off x="1219200" y="0"/>
            <a:ext cx="6781800" cy="3124200"/>
          </a:xfrm>
          <a:prstGeom prst="rect">
            <a:avLst/>
          </a:prstGeom>
          <a:noFill/>
          <a:ln w="9525">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20" name="Rectangle 8"/>
          <p:cNvSpPr/>
          <p:nvPr/>
        </p:nvSpPr>
        <p:spPr>
          <a:xfrm>
            <a:off x="0" y="0"/>
            <a:ext cx="3962400" cy="692150"/>
          </a:xfrm>
          <a:prstGeom prst="rect">
            <a:avLst/>
          </a:prstGeom>
          <a:noFill/>
          <a:ln w="9525">
            <a:noFill/>
          </a:ln>
        </p:spPr>
        <p:txBody>
          <a:bodyPr>
            <a:spAutoFit/>
          </a:bodyPr>
          <a:lstStyle/>
          <a:p>
            <a:pPr algn="l">
              <a:lnSpc>
                <a:spcPct val="150000"/>
              </a:lnSpc>
            </a:pPr>
            <a:r>
              <a:rPr lang="en-US" altLang="zh-CN" sz="2600" i="0" dirty="0">
                <a:solidFill>
                  <a:srgbClr val="CC3300"/>
                </a:solidFill>
                <a:latin typeface="Times New Roman" panose="02020603050405020304" pitchFamily="18" charset="0"/>
              </a:rPr>
              <a:t> </a:t>
            </a:r>
            <a:r>
              <a:rPr lang="zh-CN" altLang="en-US" sz="2600" i="0" dirty="0">
                <a:solidFill>
                  <a:srgbClr val="CC3300"/>
                </a:solidFill>
                <a:latin typeface="Times New Roman" panose="02020603050405020304" pitchFamily="18" charset="0"/>
              </a:rPr>
              <a:t>三、 共价键的键型</a:t>
            </a:r>
            <a:r>
              <a:rPr lang="zh-CN" altLang="en-US" sz="2600" b="0" i="0" dirty="0">
                <a:solidFill>
                  <a:srgbClr val="CC3300"/>
                </a:solidFill>
                <a:latin typeface="Times New Roman" panose="02020603050405020304" pitchFamily="18" charset="0"/>
              </a:rPr>
              <a:t> </a:t>
            </a:r>
          </a:p>
        </p:txBody>
      </p:sp>
      <p:grpSp>
        <p:nvGrpSpPr>
          <p:cNvPr id="2" name="组合 9"/>
          <p:cNvGrpSpPr/>
          <p:nvPr/>
        </p:nvGrpSpPr>
        <p:grpSpPr>
          <a:xfrm>
            <a:off x="457200" y="914400"/>
            <a:ext cx="8382000" cy="2514600"/>
            <a:chOff x="457200" y="914400"/>
            <a:chExt cx="8382000" cy="2514600"/>
          </a:xfrm>
        </p:grpSpPr>
        <p:sp>
          <p:nvSpPr>
            <p:cNvPr id="40964" name="Rectangle 9"/>
            <p:cNvSpPr/>
            <p:nvPr/>
          </p:nvSpPr>
          <p:spPr>
            <a:xfrm>
              <a:off x="609600" y="914400"/>
              <a:ext cx="8229600" cy="488950"/>
            </a:xfrm>
            <a:prstGeom prst="rect">
              <a:avLst/>
            </a:prstGeom>
            <a:noFill/>
            <a:ln w="9525">
              <a:noFill/>
            </a:ln>
          </p:spPr>
          <p:txBody>
            <a:bodyPr anchor="ctr" anchorCtr="0">
              <a:spAutoFit/>
            </a:bodyPr>
            <a:lstStyle/>
            <a:p>
              <a:pPr algn="l"/>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共价键按</a:t>
              </a:r>
              <a:r>
                <a:rPr lang="zh-CN" altLang="en-US" sz="2600" dirty="0">
                  <a:solidFill>
                    <a:srgbClr val="0000FF"/>
                  </a:solidFill>
                  <a:latin typeface="楷体_GB2312" pitchFamily="49" charset="-122"/>
                </a:rPr>
                <a:t>是否有极性</a:t>
              </a:r>
              <a:r>
                <a:rPr lang="zh-CN" altLang="en-US" sz="2600" i="0" dirty="0">
                  <a:solidFill>
                    <a:schemeClr val="tx1"/>
                  </a:solidFill>
                  <a:latin typeface="楷体_GB2312" pitchFamily="49" charset="-122"/>
                </a:rPr>
                <a:t>，可分为：</a:t>
              </a:r>
            </a:p>
          </p:txBody>
        </p:sp>
        <p:pic>
          <p:nvPicPr>
            <p:cNvPr id="40965" name="Picture 10" descr="HWOCRTEMP_ROC90"/>
            <p:cNvPicPr>
              <a:picLocks noChangeAspect="1"/>
            </p:cNvPicPr>
            <p:nvPr/>
          </p:nvPicPr>
          <p:blipFill>
            <a:blip r:embed="rId3"/>
            <a:stretch>
              <a:fillRect/>
            </a:stretch>
          </p:blipFill>
          <p:spPr>
            <a:xfrm>
              <a:off x="457200" y="1676400"/>
              <a:ext cx="8229600" cy="1752600"/>
            </a:xfrm>
            <a:prstGeom prst="rect">
              <a:avLst/>
            </a:prstGeom>
            <a:solidFill>
              <a:srgbClr val="FFCC99"/>
            </a:solid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920"/>
                                        </p:tgtEl>
                                        <p:attrNameLst>
                                          <p:attrName>style.visibility</p:attrName>
                                        </p:attrNameLst>
                                      </p:cBhvr>
                                      <p:to>
                                        <p:strVal val="visible"/>
                                      </p:to>
                                    </p:set>
                                    <p:animEffect transition="in" filter="checkerboard(across)">
                                      <p:cBhvr>
                                        <p:cTn id="7" dur="500"/>
                                        <p:tgtEl>
                                          <p:spTgt spid="389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
          <p:cNvGrpSpPr/>
          <p:nvPr/>
        </p:nvGrpSpPr>
        <p:grpSpPr>
          <a:xfrm>
            <a:off x="454025" y="228600"/>
            <a:ext cx="7837488" cy="2159000"/>
            <a:chOff x="248770" y="3048000"/>
            <a:chExt cx="8915400" cy="2158663"/>
          </a:xfrm>
        </p:grpSpPr>
        <p:sp>
          <p:nvSpPr>
            <p:cNvPr id="41988" name="Rectangle 11"/>
            <p:cNvSpPr/>
            <p:nvPr/>
          </p:nvSpPr>
          <p:spPr>
            <a:xfrm>
              <a:off x="685800" y="3048000"/>
              <a:ext cx="7311294" cy="492443"/>
            </a:xfrm>
            <a:prstGeom prst="rect">
              <a:avLst/>
            </a:prstGeom>
            <a:noFill/>
            <a:ln w="9525">
              <a:noFill/>
            </a:ln>
          </p:spPr>
          <p:txBody>
            <a:bodyPr wrap="none" anchor="ctr" anchorCtr="0">
              <a:spAutoFit/>
            </a:bodyPr>
            <a:lstStyle/>
            <a:p>
              <a:pPr algn="l">
                <a:lnSpc>
                  <a:spcPts val="3600"/>
                </a:lnSpc>
              </a:pPr>
              <a:r>
                <a:rPr lang="zh-CN" altLang="en-US" sz="2600" i="0" dirty="0">
                  <a:solidFill>
                    <a:schemeClr val="tx1"/>
                  </a:solidFill>
                  <a:latin typeface="楷体_GB2312" pitchFamily="49" charset="-122"/>
                </a:rPr>
                <a:t>而根据</a:t>
              </a:r>
              <a:r>
                <a:rPr lang="zh-CN" altLang="en-US" sz="2600" i="0" dirty="0">
                  <a:solidFill>
                    <a:srgbClr val="0000FF"/>
                  </a:solidFill>
                  <a:latin typeface="楷体_GB2312" pitchFamily="49" charset="-122"/>
                </a:rPr>
                <a:t>原子轨道的重叠方向不同</a:t>
              </a:r>
              <a:r>
                <a:rPr lang="zh-CN" altLang="en-US" sz="2600" i="0" dirty="0">
                  <a:solidFill>
                    <a:schemeClr val="tx1"/>
                  </a:solidFill>
                  <a:latin typeface="楷体_GB2312" pitchFamily="49" charset="-122"/>
                </a:rPr>
                <a:t>进行分类： </a:t>
              </a:r>
            </a:p>
          </p:txBody>
        </p:sp>
        <p:sp>
          <p:nvSpPr>
            <p:cNvPr id="41989" name="Rectangle 12"/>
            <p:cNvSpPr/>
            <p:nvPr/>
          </p:nvSpPr>
          <p:spPr>
            <a:xfrm>
              <a:off x="248770" y="4191000"/>
              <a:ext cx="8915400" cy="1015663"/>
            </a:xfrm>
            <a:prstGeom prst="rect">
              <a:avLst/>
            </a:prstGeom>
            <a:noFill/>
            <a:ln w="9525">
              <a:noFill/>
            </a:ln>
          </p:spPr>
          <p:txBody>
            <a:bodyPr anchor="ctr" anchorCtr="0">
              <a:spAutoFit/>
            </a:bodyPr>
            <a:lstStyle/>
            <a:p>
              <a:pPr indent="304800"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两个原子轨道沿着核间连线的方向进行同号重叠而形成的键称为</a:t>
              </a:r>
              <a:r>
                <a:rPr lang="zh-CN" altLang="en-US" sz="2600" i="0" dirty="0">
                  <a:solidFill>
                    <a:schemeClr val="tx1"/>
                  </a:solidFill>
                  <a:latin typeface="Times New Roman" panose="02020603050405020304" pitchFamily="18" charset="0"/>
                  <a:sym typeface="Symbol" panose="05050102010706020507" pitchFamily="18" charset="2"/>
                </a:rPr>
                <a:t></a:t>
              </a:r>
              <a:r>
                <a:rPr lang="zh-CN" altLang="en-US" sz="2600" i="0" dirty="0">
                  <a:solidFill>
                    <a:schemeClr val="tx1"/>
                  </a:solidFill>
                  <a:latin typeface="Times New Roman" panose="02020603050405020304" pitchFamily="18" charset="0"/>
                </a:rPr>
                <a:t>键</a:t>
              </a:r>
              <a:r>
                <a:rPr lang="en-US" altLang="zh-CN" sz="2600" i="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“头碰头” 重叠</a:t>
              </a:r>
              <a:endParaRPr lang="zh-CN" altLang="en-US" sz="2600" i="0" dirty="0">
                <a:solidFill>
                  <a:schemeClr val="tx1"/>
                </a:solidFill>
                <a:latin typeface="Times New Roman" panose="02020603050405020304" pitchFamily="18" charset="0"/>
              </a:endParaRPr>
            </a:p>
          </p:txBody>
        </p:sp>
        <p:sp>
          <p:nvSpPr>
            <p:cNvPr id="41990" name="Rectangle 15"/>
            <p:cNvSpPr/>
            <p:nvPr/>
          </p:nvSpPr>
          <p:spPr>
            <a:xfrm>
              <a:off x="914400" y="3657600"/>
              <a:ext cx="1763978" cy="512704"/>
            </a:xfrm>
            <a:prstGeom prst="rect">
              <a:avLst/>
            </a:prstGeom>
            <a:solidFill>
              <a:srgbClr val="FF99CC"/>
            </a:solidFill>
            <a:ln w="9525">
              <a:noFill/>
            </a:ln>
          </p:spPr>
          <p:txBody>
            <a:bodyPr wrap="none">
              <a:spAutoFit/>
            </a:bodyPr>
            <a:lstStyle/>
            <a:p>
              <a:pPr algn="l">
                <a:lnSpc>
                  <a:spcPts val="3600"/>
                </a:lnSpc>
              </a:pPr>
              <a:r>
                <a:rPr lang="en-US" altLang="zh-CN" sz="2600" b="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σ</a:t>
              </a:r>
              <a:r>
                <a:rPr lang="zh-CN" altLang="en-US" sz="2600" i="0" dirty="0">
                  <a:solidFill>
                    <a:schemeClr val="tx1"/>
                  </a:solidFill>
                  <a:latin typeface="Times New Roman" panose="02020603050405020304" pitchFamily="18" charset="0"/>
                </a:rPr>
                <a:t>键：</a:t>
              </a:r>
            </a:p>
          </p:txBody>
        </p:sp>
      </p:grpSp>
      <p:pic>
        <p:nvPicPr>
          <p:cNvPr id="10" name="Picture 9" descr="fig0315c"/>
          <p:cNvPicPr>
            <a:picLocks noChangeAspect="1"/>
          </p:cNvPicPr>
          <p:nvPr/>
        </p:nvPicPr>
        <p:blipFill>
          <a:blip r:embed="rId2"/>
          <a:stretch>
            <a:fillRect/>
          </a:stretch>
        </p:blipFill>
        <p:spPr>
          <a:xfrm>
            <a:off x="2362200" y="2667000"/>
            <a:ext cx="3657600" cy="2438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Text Box 10"/>
          <p:cNvSpPr>
            <a:spLocks noGrp="1"/>
          </p:cNvSpPr>
          <p:nvPr>
            <p:ph type="title"/>
          </p:nvPr>
        </p:nvSpPr>
        <p:spPr>
          <a:xfrm>
            <a:off x="304800" y="685800"/>
            <a:ext cx="8458200" cy="838200"/>
          </a:xfrm>
        </p:spPr>
        <p:txBody>
          <a:bodyPr vert="horz" wrap="square" lIns="91440" tIns="45720" rIns="91440" bIns="45720" anchor="ctr" anchorCtr="0"/>
          <a:lstStyle/>
          <a:p>
            <a:pPr eaLnBrk="1" hangingPunct="1">
              <a:lnSpc>
                <a:spcPts val="3600"/>
              </a:lnSpc>
              <a:spcBef>
                <a:spcPct val="50000"/>
              </a:spcBef>
            </a:pPr>
            <a:r>
              <a:rPr lang="en-US" altLang="zh-CN" sz="2600" i="0" dirty="0">
                <a:solidFill>
                  <a:schemeClr val="tx1"/>
                </a:solidFill>
                <a:effectLst/>
                <a:ea typeface="楷体_GB2312" pitchFamily="49" charset="-122"/>
              </a:rPr>
              <a:t>        </a:t>
            </a:r>
            <a:r>
              <a:rPr lang="zh-CN" altLang="en-US" sz="2600" i="0" dirty="0">
                <a:solidFill>
                  <a:schemeClr val="tx1"/>
                </a:solidFill>
                <a:effectLst/>
                <a:ea typeface="楷体_GB2312" pitchFamily="49" charset="-122"/>
              </a:rPr>
              <a:t>两个原子轨道沿着</a:t>
            </a:r>
            <a:r>
              <a:rPr lang="zh-CN" altLang="en-US" sz="2600" i="0" dirty="0">
                <a:solidFill>
                  <a:schemeClr val="tx1"/>
                </a:solidFill>
                <a:effectLst/>
              </a:rPr>
              <a:t>核间连线且</a:t>
            </a:r>
            <a:r>
              <a:rPr lang="zh-CN" altLang="en-US" sz="2600" i="0" dirty="0">
                <a:solidFill>
                  <a:schemeClr val="tx1"/>
                </a:solidFill>
                <a:effectLst/>
                <a:ea typeface="楷体_GB2312" pitchFamily="49" charset="-122"/>
              </a:rPr>
              <a:t>相互平行而进行同号重叠形成的键称为</a:t>
            </a:r>
            <a:r>
              <a:rPr lang="zh-CN" altLang="en-US" sz="2600" i="0" dirty="0">
                <a:solidFill>
                  <a:schemeClr val="tx1"/>
                </a:solidFill>
                <a:effectLst/>
                <a:ea typeface="楷体_GB2312" pitchFamily="49" charset="-122"/>
                <a:sym typeface="Symbol" panose="05050102010706020507" pitchFamily="18" charset="2"/>
              </a:rPr>
              <a:t></a:t>
            </a:r>
            <a:r>
              <a:rPr lang="zh-CN" altLang="en-US" sz="2600" i="0" dirty="0">
                <a:solidFill>
                  <a:schemeClr val="tx1"/>
                </a:solidFill>
                <a:effectLst/>
                <a:ea typeface="楷体_GB2312" pitchFamily="49" charset="-122"/>
              </a:rPr>
              <a:t>键</a:t>
            </a:r>
            <a:r>
              <a:rPr lang="en-US" altLang="zh-CN" sz="2600" i="0" dirty="0">
                <a:solidFill>
                  <a:schemeClr val="tx1"/>
                </a:solidFill>
                <a:effectLst/>
                <a:ea typeface="楷体_GB2312" pitchFamily="49" charset="-122"/>
              </a:rPr>
              <a:t>——</a:t>
            </a:r>
            <a:r>
              <a:rPr lang="zh-CN" altLang="en-US" sz="2600" i="0" dirty="0">
                <a:solidFill>
                  <a:schemeClr val="tx1"/>
                </a:solidFill>
                <a:effectLst/>
                <a:ea typeface="楷体_GB2312" pitchFamily="49" charset="-122"/>
              </a:rPr>
              <a:t>“肩并肩”重叠。</a:t>
            </a:r>
          </a:p>
        </p:txBody>
      </p:sp>
      <p:sp>
        <p:nvSpPr>
          <p:cNvPr id="43011" name="Rectangle 11"/>
          <p:cNvSpPr/>
          <p:nvPr/>
        </p:nvSpPr>
        <p:spPr>
          <a:xfrm>
            <a:off x="152400" y="76200"/>
            <a:ext cx="1676400" cy="488950"/>
          </a:xfrm>
          <a:prstGeom prst="rect">
            <a:avLst/>
          </a:prstGeom>
          <a:solidFill>
            <a:srgbClr val="FF99CC"/>
          </a:solidFill>
          <a:ln w="9525">
            <a:noFill/>
          </a:ln>
        </p:spPr>
        <p:txBody>
          <a:bodyPr>
            <a:spAutoFit/>
          </a:bodyPr>
          <a:lstStyle/>
          <a:p>
            <a:pPr algn="l"/>
            <a:r>
              <a:rPr lang="en-US" altLang="zh-CN" sz="2600" i="0" dirty="0">
                <a:solidFill>
                  <a:schemeClr val="tx1"/>
                </a:solidFill>
                <a:latin typeface="Arial" panose="020B0604020202020204" pitchFamily="34" charset="0"/>
                <a:ea typeface="宋体" panose="02010600030101010101" pitchFamily="2" charset="-122"/>
                <a:sym typeface="Symbol" panose="05050102010706020507" pitchFamily="18" charset="2"/>
              </a:rPr>
              <a:t>2</a:t>
            </a:r>
            <a:r>
              <a:rPr lang="zh-CN" altLang="en-US" sz="2600" i="0" dirty="0">
                <a:solidFill>
                  <a:schemeClr val="tx1"/>
                </a:solidFill>
                <a:latin typeface="Arial" panose="020B0604020202020204" pitchFamily="34" charset="0"/>
                <a:ea typeface="宋体" panose="02010600030101010101" pitchFamily="2" charset="-122"/>
                <a:sym typeface="Symbol" panose="05050102010706020507" pitchFamily="18" charset="2"/>
              </a:rPr>
              <a:t>、 </a:t>
            </a:r>
            <a:r>
              <a:rPr lang="zh-CN" altLang="en-US" sz="2600" i="0" dirty="0">
                <a:solidFill>
                  <a:schemeClr val="tx1"/>
                </a:solidFill>
                <a:latin typeface="Arial" panose="020B0604020202020204" pitchFamily="34" charset="0"/>
                <a:ea typeface="宋体" panose="02010600030101010101" pitchFamily="2" charset="-122"/>
              </a:rPr>
              <a:t>键</a:t>
            </a:r>
            <a:endParaRPr lang="zh-CN" altLang="en-US" sz="2600" b="0" i="0" dirty="0">
              <a:solidFill>
                <a:schemeClr val="tx1"/>
              </a:solidFill>
              <a:latin typeface="Arial" panose="020B0604020202020204" pitchFamily="34" charset="0"/>
              <a:ea typeface="宋体" panose="02010600030101010101" pitchFamily="2" charset="-122"/>
            </a:endParaRPr>
          </a:p>
        </p:txBody>
      </p:sp>
      <p:grpSp>
        <p:nvGrpSpPr>
          <p:cNvPr id="43012" name="组合 6"/>
          <p:cNvGrpSpPr/>
          <p:nvPr/>
        </p:nvGrpSpPr>
        <p:grpSpPr>
          <a:xfrm>
            <a:off x="1143000" y="1905000"/>
            <a:ext cx="6699250" cy="2362200"/>
            <a:chOff x="1066800" y="2362200"/>
            <a:chExt cx="6699688" cy="2362200"/>
          </a:xfrm>
        </p:grpSpPr>
        <p:pic>
          <p:nvPicPr>
            <p:cNvPr id="40972" name="Picture 12" descr="slide0519_image257"/>
            <p:cNvPicPr>
              <a:picLocks noChangeAspect="1" noChangeArrowheads="1"/>
            </p:cNvPicPr>
            <p:nvPr/>
          </p:nvPicPr>
          <p:blipFill>
            <a:blip r:embed="rId3"/>
            <a:srcRect/>
            <a:stretch>
              <a:fillRect/>
            </a:stretch>
          </p:blipFill>
          <p:spPr bwMode="auto">
            <a:xfrm>
              <a:off x="5943919" y="2362200"/>
              <a:ext cx="1822569" cy="2362200"/>
            </a:xfrm>
            <a:prstGeom prst="rect">
              <a:avLst/>
            </a:prstGeom>
            <a:noFill/>
            <a:effectLst>
              <a:outerShdw dist="107763" dir="13500000" algn="ctr" rotWithShape="0">
                <a:srgbClr val="808080"/>
              </a:outerShdw>
            </a:effectLst>
          </p:spPr>
        </p:pic>
        <p:pic>
          <p:nvPicPr>
            <p:cNvPr id="43014" name="Picture 13" descr="tu7-6"/>
            <p:cNvPicPr>
              <a:picLocks noChangeAspect="1"/>
            </p:cNvPicPr>
            <p:nvPr/>
          </p:nvPicPr>
          <p:blipFill>
            <a:blip r:embed="rId4"/>
            <a:stretch>
              <a:fillRect/>
            </a:stretch>
          </p:blipFill>
          <p:spPr>
            <a:xfrm>
              <a:off x="1066800" y="2362200"/>
              <a:ext cx="3791607" cy="2362200"/>
            </a:xfrm>
            <a:prstGeom prst="rect">
              <a:avLst/>
            </a:prstGeom>
            <a:noFill/>
            <a:ln w="9525">
              <a:noFill/>
            </a:ln>
          </p:spPr>
        </p:pic>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10"/>
          <p:cNvSpPr/>
          <p:nvPr/>
        </p:nvSpPr>
        <p:spPr>
          <a:xfrm>
            <a:off x="228600" y="152400"/>
            <a:ext cx="8382000" cy="534988"/>
          </a:xfrm>
          <a:prstGeom prst="rect">
            <a:avLst/>
          </a:prstGeom>
          <a:solidFill>
            <a:schemeClr val="bg1"/>
          </a:solidFill>
          <a:ln w="9525">
            <a:noFill/>
          </a:ln>
        </p:spPr>
        <p:txBody>
          <a:bodyPr anchor="ctr" anchorCtr="0">
            <a:spAutoFit/>
          </a:bodyPr>
          <a:lstStyle/>
          <a:p>
            <a:pPr>
              <a:lnSpc>
                <a:spcPct val="120000"/>
              </a:lnSpc>
            </a:pPr>
            <a:r>
              <a:rPr lang="en-US" altLang="zh-CN" i="0" dirty="0">
                <a:solidFill>
                  <a:schemeClr val="tx1"/>
                </a:solidFill>
                <a:latin typeface="Times New Roman" panose="02020603050405020304" pitchFamily="18" charset="0"/>
              </a:rPr>
              <a:t>N</a:t>
            </a:r>
            <a:r>
              <a:rPr lang="en-US" altLang="zh-CN" i="0" baseline="-25000" dirty="0">
                <a:solidFill>
                  <a:schemeClr val="tx1"/>
                </a:solidFill>
                <a:latin typeface="Times New Roman" panose="02020603050405020304" pitchFamily="18" charset="0"/>
              </a:rPr>
              <a:t>2</a:t>
            </a:r>
            <a:r>
              <a:rPr lang="zh-CN" altLang="en-US" i="0" dirty="0">
                <a:solidFill>
                  <a:schemeClr val="tx1"/>
                </a:solidFill>
                <a:latin typeface="Times New Roman" panose="02020603050405020304" pitchFamily="18" charset="0"/>
              </a:rPr>
              <a:t>分子内</a:t>
            </a:r>
            <a:r>
              <a:rPr lang="en-US" altLang="zh-CN" i="0" dirty="0">
                <a:solidFill>
                  <a:schemeClr val="tx1"/>
                </a:solidFill>
                <a:latin typeface="Times New Roman" panose="02020603050405020304" pitchFamily="18" charset="0"/>
              </a:rPr>
              <a:t>N</a:t>
            </a:r>
            <a:r>
              <a:rPr lang="zh-CN" altLang="en-US" i="0" dirty="0">
                <a:solidFill>
                  <a:schemeClr val="tx1"/>
                </a:solidFill>
                <a:latin typeface="Times New Roman" panose="02020603050405020304" pitchFamily="18" charset="0"/>
              </a:rPr>
              <a:t>原子之间就有一个</a:t>
            </a:r>
            <a:r>
              <a:rPr lang="en-US" altLang="zh-CN" i="0" dirty="0">
                <a:solidFill>
                  <a:schemeClr val="tx1"/>
                </a:solidFill>
                <a:latin typeface="Times New Roman" panose="02020603050405020304" pitchFamily="18" charset="0"/>
              </a:rPr>
              <a:t>σ(sigma)</a:t>
            </a:r>
            <a:r>
              <a:rPr lang="zh-CN" altLang="en-US" i="0" dirty="0">
                <a:solidFill>
                  <a:schemeClr val="tx1"/>
                </a:solidFill>
                <a:latin typeface="Times New Roman" panose="02020603050405020304" pitchFamily="18" charset="0"/>
              </a:rPr>
              <a:t>键和两个</a:t>
            </a:r>
            <a:r>
              <a:rPr lang="en-US" altLang="zh-CN" i="0" dirty="0">
                <a:solidFill>
                  <a:schemeClr val="tx1"/>
                </a:solidFill>
                <a:latin typeface="Times New Roman" panose="02020603050405020304" pitchFamily="18" charset="0"/>
              </a:rPr>
              <a:t>π</a:t>
            </a:r>
            <a:r>
              <a:rPr lang="zh-CN" altLang="en-US" i="0" dirty="0">
                <a:solidFill>
                  <a:schemeClr val="tx1"/>
                </a:solidFill>
                <a:latin typeface="Times New Roman" panose="02020603050405020304" pitchFamily="18" charset="0"/>
              </a:rPr>
              <a:t>键：</a:t>
            </a:r>
            <a:endParaRPr lang="el-GR" altLang="zh-CN" i="0" dirty="0">
              <a:solidFill>
                <a:schemeClr val="tx1"/>
              </a:solidFill>
              <a:latin typeface="Times New Roman" panose="02020603050405020304" pitchFamily="18" charset="0"/>
            </a:endParaRPr>
          </a:p>
        </p:txBody>
      </p:sp>
      <p:pic>
        <p:nvPicPr>
          <p:cNvPr id="44035" name="Picture 11" descr="HWOCRTEMP_ROC120"/>
          <p:cNvPicPr>
            <a:picLocks noChangeAspect="1"/>
          </p:cNvPicPr>
          <p:nvPr/>
        </p:nvPicPr>
        <p:blipFill>
          <a:blip r:embed="rId3"/>
          <a:stretch>
            <a:fillRect/>
          </a:stretch>
        </p:blipFill>
        <p:spPr>
          <a:xfrm>
            <a:off x="1295400" y="990600"/>
            <a:ext cx="2590800" cy="2209800"/>
          </a:xfrm>
          <a:prstGeom prst="rect">
            <a:avLst/>
          </a:prstGeom>
          <a:noFill/>
          <a:ln w="9525">
            <a:noFill/>
          </a:ln>
        </p:spPr>
      </p:pic>
      <p:pic>
        <p:nvPicPr>
          <p:cNvPr id="44036" name="Picture 12"/>
          <p:cNvPicPr>
            <a:picLocks noChangeAspect="1"/>
          </p:cNvPicPr>
          <p:nvPr/>
        </p:nvPicPr>
        <p:blipFill>
          <a:blip r:embed="rId4"/>
          <a:stretch>
            <a:fillRect/>
          </a:stretch>
        </p:blipFill>
        <p:spPr>
          <a:xfrm>
            <a:off x="4267200" y="762000"/>
            <a:ext cx="4343400" cy="2971800"/>
          </a:xfrm>
          <a:prstGeom prst="rect">
            <a:avLst/>
          </a:prstGeom>
          <a:noFill/>
          <a:ln w="9525">
            <a:noFill/>
          </a:ln>
        </p:spPr>
      </p:pic>
      <p:sp>
        <p:nvSpPr>
          <p:cNvPr id="44037" name="矩形 6"/>
          <p:cNvSpPr/>
          <p:nvPr/>
        </p:nvSpPr>
        <p:spPr>
          <a:xfrm>
            <a:off x="1295400" y="3962400"/>
            <a:ext cx="5768975" cy="461963"/>
          </a:xfrm>
          <a:prstGeom prst="rect">
            <a:avLst/>
          </a:prstGeom>
          <a:noFill/>
          <a:ln w="9525">
            <a:noFill/>
          </a:ln>
        </p:spPr>
        <p:txBody>
          <a:bodyPr wrap="none">
            <a:spAutoFit/>
          </a:bodyPr>
          <a:lstStyle/>
          <a:p>
            <a:r>
              <a:rPr lang="zh-CN" altLang="en-US" i="0" dirty="0">
                <a:solidFill>
                  <a:srgbClr val="0000FF"/>
                </a:solidFill>
                <a:latin typeface="Times New Roman" panose="02020603050405020304" pitchFamily="18" charset="0"/>
              </a:rPr>
              <a:t>可以把</a:t>
            </a:r>
            <a:r>
              <a:rPr lang="en-US" altLang="zh-CN" i="0" dirty="0">
                <a:solidFill>
                  <a:srgbClr val="0000FF"/>
                </a:solidFill>
                <a:latin typeface="Times New Roman" panose="02020603050405020304" pitchFamily="18" charset="0"/>
              </a:rPr>
              <a:t>N</a:t>
            </a:r>
            <a:r>
              <a:rPr lang="en-US" altLang="zh-CN" i="0" baseline="-25000" dirty="0">
                <a:solidFill>
                  <a:srgbClr val="0000FF"/>
                </a:solidFill>
                <a:latin typeface="Times New Roman" panose="02020603050405020304" pitchFamily="18" charset="0"/>
              </a:rPr>
              <a:t>2</a:t>
            </a:r>
            <a:r>
              <a:rPr lang="zh-CN" altLang="en-US" i="0" dirty="0">
                <a:solidFill>
                  <a:srgbClr val="0000FF"/>
                </a:solidFill>
                <a:latin typeface="Times New Roman" panose="02020603050405020304" pitchFamily="18" charset="0"/>
              </a:rPr>
              <a:t>分子这类键的分析看作一种规律</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2" name="Rectangle 4"/>
          <p:cNvSpPr/>
          <p:nvPr/>
        </p:nvSpPr>
        <p:spPr>
          <a:xfrm>
            <a:off x="609600" y="152400"/>
            <a:ext cx="7467600" cy="549275"/>
          </a:xfrm>
          <a:prstGeom prst="rect">
            <a:avLst/>
          </a:prstGeom>
          <a:gradFill rotWithShape="1">
            <a:gsLst>
              <a:gs pos="0">
                <a:srgbClr val="475E00"/>
              </a:gs>
              <a:gs pos="50000">
                <a:srgbClr val="99CC00"/>
              </a:gs>
              <a:gs pos="100000">
                <a:srgbClr val="475E00"/>
              </a:gs>
            </a:gsLst>
            <a:lin ang="5400000" scaled="1"/>
            <a:tileRect/>
          </a:gradFill>
          <a:ln w="9525">
            <a:noFill/>
          </a:ln>
        </p:spPr>
        <p:txBody>
          <a:bodyPr anchor="ctr" anchorCtr="0">
            <a:spAutoFit/>
          </a:bodyPr>
          <a:lstStyle/>
          <a:p>
            <a:pPr algn="l"/>
            <a:r>
              <a:rPr lang="en-US" altLang="zh-CN" sz="3000" i="0" dirty="0">
                <a:solidFill>
                  <a:srgbClr val="FF0066"/>
                </a:solidFill>
                <a:latin typeface="Times New Roman" panose="02020603050405020304" pitchFamily="18" charset="0"/>
              </a:rPr>
              <a:t>    §9.2    </a:t>
            </a:r>
            <a:r>
              <a:rPr lang="zh-CN" altLang="en-US" sz="3000" i="0" dirty="0">
                <a:solidFill>
                  <a:srgbClr val="FF0066"/>
                </a:solidFill>
                <a:latin typeface="Times New Roman" panose="02020603050405020304" pitchFamily="18" charset="0"/>
              </a:rPr>
              <a:t>杂化轨道理论（</a:t>
            </a:r>
            <a:r>
              <a:rPr lang="en-US" altLang="zh-CN" sz="3000" dirty="0">
                <a:solidFill>
                  <a:srgbClr val="FF0066"/>
                </a:solidFill>
                <a:latin typeface="Times New Roman" panose="02020603050405020304" pitchFamily="18" charset="0"/>
              </a:rPr>
              <a:t>hybrid orbital</a:t>
            </a:r>
            <a:r>
              <a:rPr lang="en-US" altLang="zh-CN" sz="3000" i="0" dirty="0">
                <a:solidFill>
                  <a:srgbClr val="FF0066"/>
                </a:solidFill>
                <a:latin typeface="Times New Roman" panose="02020603050405020304" pitchFamily="18" charset="0"/>
              </a:rPr>
              <a:t> </a:t>
            </a:r>
            <a:r>
              <a:rPr lang="zh-CN" altLang="en-US" sz="3000" i="0" dirty="0">
                <a:solidFill>
                  <a:srgbClr val="FF0066"/>
                </a:solidFill>
                <a:latin typeface="Times New Roman" panose="02020603050405020304" pitchFamily="18" charset="0"/>
              </a:rPr>
              <a:t>）</a:t>
            </a:r>
          </a:p>
        </p:txBody>
      </p:sp>
      <p:grpSp>
        <p:nvGrpSpPr>
          <p:cNvPr id="2" name="组合 9"/>
          <p:cNvGrpSpPr/>
          <p:nvPr/>
        </p:nvGrpSpPr>
        <p:grpSpPr>
          <a:xfrm>
            <a:off x="304800" y="838200"/>
            <a:ext cx="8534400" cy="4779963"/>
            <a:chOff x="304800" y="990600"/>
            <a:chExt cx="8534400" cy="4779904"/>
          </a:xfrm>
        </p:grpSpPr>
        <p:sp>
          <p:nvSpPr>
            <p:cNvPr id="45060" name="Rectangle 5"/>
            <p:cNvSpPr/>
            <p:nvPr/>
          </p:nvSpPr>
          <p:spPr>
            <a:xfrm>
              <a:off x="533400" y="990600"/>
              <a:ext cx="3276600" cy="512704"/>
            </a:xfrm>
            <a:prstGeom prst="rect">
              <a:avLst/>
            </a:prstGeom>
            <a:noFill/>
            <a:ln w="12700">
              <a:noFill/>
            </a:ln>
          </p:spPr>
          <p:txBody>
            <a:bodyPr>
              <a:spAutoFit/>
            </a:bodyPr>
            <a:lstStyle/>
            <a:p>
              <a:pPr algn="l" eaLnBrk="0" hangingPunct="0">
                <a:lnSpc>
                  <a:spcPts val="3600"/>
                </a:lnSpc>
              </a:pPr>
              <a:r>
                <a:rPr lang="zh-CN" altLang="en-US" sz="2600" i="0" dirty="0">
                  <a:solidFill>
                    <a:srgbClr val="CC3300"/>
                  </a:solidFill>
                  <a:latin typeface="Times New Roman" panose="02020603050405020304" pitchFamily="18" charset="0"/>
                </a:rPr>
                <a:t>一、  基本要点</a:t>
              </a:r>
            </a:p>
          </p:txBody>
        </p:sp>
        <p:sp>
          <p:nvSpPr>
            <p:cNvPr id="45061" name="Text Box 6"/>
            <p:cNvSpPr txBox="1"/>
            <p:nvPr/>
          </p:nvSpPr>
          <p:spPr>
            <a:xfrm>
              <a:off x="533400" y="1676400"/>
              <a:ext cx="8305800" cy="494815"/>
            </a:xfrm>
            <a:prstGeom prst="rect">
              <a:avLst/>
            </a:prstGeom>
            <a:noFill/>
            <a:ln w="9525">
              <a:noFill/>
            </a:ln>
          </p:spPr>
          <p:txBody>
            <a:bodyPr>
              <a:spAutoFit/>
            </a:bodyPr>
            <a:lstStyle/>
            <a:p>
              <a:pPr marL="457200" indent="-457200" algn="l">
                <a:lnSpc>
                  <a:spcPts val="3600"/>
                </a:lnSpc>
                <a:spcBef>
                  <a:spcPct val="50000"/>
                </a:spcBef>
              </a:pPr>
              <a:r>
                <a:rPr lang="en-US" altLang="zh-CN" sz="2600" i="0" dirty="0">
                  <a:solidFill>
                    <a:schemeClr val="tx1"/>
                  </a:solidFill>
                  <a:latin typeface="楷体_GB2312" pitchFamily="49" charset="-122"/>
                </a:rPr>
                <a:t>     </a:t>
              </a:r>
            </a:p>
          </p:txBody>
        </p:sp>
        <p:sp>
          <p:nvSpPr>
            <p:cNvPr id="45062" name="Rectangle 7"/>
            <p:cNvSpPr/>
            <p:nvPr/>
          </p:nvSpPr>
          <p:spPr>
            <a:xfrm>
              <a:off x="304800" y="3352800"/>
              <a:ext cx="8458200" cy="956480"/>
            </a:xfrm>
            <a:prstGeom prst="rect">
              <a:avLst/>
            </a:prstGeom>
            <a:noFill/>
            <a:ln w="9525">
              <a:noFill/>
            </a:ln>
          </p:spPr>
          <p:txBody>
            <a:bodyPr>
              <a:spAutoFit/>
            </a:bodyPr>
            <a:lstStyle/>
            <a:p>
              <a:pPr algn="l">
                <a:lnSpc>
                  <a:spcPts val="3600"/>
                </a:lnSpc>
                <a:spcBef>
                  <a:spcPct val="50000"/>
                </a:spcBef>
              </a:pPr>
              <a:r>
                <a:rPr lang="en-US" altLang="zh-CN" sz="2600" i="0" dirty="0">
                  <a:solidFill>
                    <a:schemeClr val="tx1"/>
                  </a:solidFill>
                  <a:latin typeface="楷体_GB2312" pitchFamily="49" charset="-122"/>
                </a:rPr>
                <a:t>    ●  </a:t>
              </a:r>
              <a:r>
                <a:rPr lang="zh-CN" altLang="en-US" sz="2600" i="0" dirty="0">
                  <a:solidFill>
                    <a:schemeClr val="tx1"/>
                  </a:solidFill>
                  <a:latin typeface="楷体_GB2312" pitchFamily="49" charset="-122"/>
                </a:rPr>
                <a:t>杂化后轨道的成分、伸展方向、形状和能量发生改变。</a:t>
              </a:r>
            </a:p>
          </p:txBody>
        </p:sp>
        <p:sp>
          <p:nvSpPr>
            <p:cNvPr id="45063" name="Rectangle 8"/>
            <p:cNvSpPr/>
            <p:nvPr/>
          </p:nvSpPr>
          <p:spPr>
            <a:xfrm>
              <a:off x="990600" y="2667000"/>
              <a:ext cx="6408738" cy="494815"/>
            </a:xfrm>
            <a:prstGeom prst="rect">
              <a:avLst/>
            </a:prstGeom>
            <a:noFill/>
            <a:ln w="9525">
              <a:noFill/>
            </a:ln>
          </p:spPr>
          <p:txBody>
            <a:bodyPr>
              <a:spAutoFit/>
            </a:bodyPr>
            <a:lstStyle/>
            <a:p>
              <a:pPr algn="l">
                <a:lnSpc>
                  <a:spcPts val="3600"/>
                </a:lnSpc>
                <a:spcBef>
                  <a:spcPct val="50000"/>
                </a:spcBef>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杂化前后轨道数目不变；</a:t>
              </a:r>
            </a:p>
          </p:txBody>
        </p:sp>
        <p:sp>
          <p:nvSpPr>
            <p:cNvPr id="45064" name="Rectangle 9"/>
            <p:cNvSpPr/>
            <p:nvPr/>
          </p:nvSpPr>
          <p:spPr>
            <a:xfrm>
              <a:off x="1143000" y="4495800"/>
              <a:ext cx="4800600" cy="512704"/>
            </a:xfrm>
            <a:prstGeom prst="rect">
              <a:avLst/>
            </a:prstGeom>
            <a:solidFill>
              <a:schemeClr val="bg1"/>
            </a:solidFill>
            <a:ln w="12700">
              <a:noFill/>
            </a:ln>
          </p:spPr>
          <p:txBody>
            <a:bodyPr>
              <a:spAutoFit/>
            </a:bodyPr>
            <a:lstStyle/>
            <a:p>
              <a:pPr algn="l" eaLnBrk="0" hangingPunct="0">
                <a:lnSpc>
                  <a:spcPts val="3600"/>
                </a:lnSpc>
              </a:pPr>
              <a:r>
                <a:rPr lang="zh-CN" altLang="en-US" sz="2600" i="0" dirty="0">
                  <a:solidFill>
                    <a:schemeClr val="tx1"/>
                  </a:solidFill>
                  <a:latin typeface="楷体_GB2312" pitchFamily="49" charset="-122"/>
                </a:rPr>
                <a:t>总之，杂化后的轨道</a:t>
              </a:r>
              <a:r>
                <a:rPr lang="zh-CN" altLang="en-US" sz="2600" i="0" dirty="0">
                  <a:solidFill>
                    <a:schemeClr val="tx1"/>
                  </a:solidFill>
                  <a:latin typeface="Times New Roman" panose="02020603050405020304" pitchFamily="18" charset="0"/>
                </a:rPr>
                <a:t>变了</a:t>
              </a:r>
              <a:r>
                <a:rPr lang="en-US" altLang="zh-CN" sz="2600" i="0" dirty="0">
                  <a:solidFill>
                    <a:schemeClr val="tx1"/>
                  </a:solidFill>
                  <a:latin typeface="Times New Roman" panose="02020603050405020304" pitchFamily="18" charset="0"/>
                </a:rPr>
                <a:t>.</a:t>
              </a:r>
            </a:p>
          </p:txBody>
        </p:sp>
        <p:sp>
          <p:nvSpPr>
            <p:cNvPr id="45065" name="Rectangle 11"/>
            <p:cNvSpPr/>
            <p:nvPr/>
          </p:nvSpPr>
          <p:spPr>
            <a:xfrm>
              <a:off x="1371600" y="5257800"/>
              <a:ext cx="5638800" cy="512704"/>
            </a:xfrm>
            <a:prstGeom prst="rect">
              <a:avLst/>
            </a:prstGeom>
            <a:solidFill>
              <a:srgbClr val="FF99CC"/>
            </a:solidFill>
            <a:ln w="12700" cap="sq" cmpd="sng">
              <a:solidFill>
                <a:srgbClr val="66FF66"/>
              </a:solidFill>
              <a:prstDash val="solid"/>
              <a:miter/>
              <a:headEnd type="none" w="sm" len="sm"/>
              <a:tailEnd type="none" w="sm" len="sm"/>
            </a:ln>
          </p:spPr>
          <p:txBody>
            <a:bodyPr>
              <a:spAutoFit/>
            </a:bodyPr>
            <a:lstStyle/>
            <a:p>
              <a:pPr eaLnBrk="0" hangingPunct="0">
                <a:lnSpc>
                  <a:spcPts val="3600"/>
                </a:lnSpc>
              </a:pPr>
              <a:r>
                <a:rPr lang="zh-CN" altLang="en-US" sz="2600" i="0" dirty="0">
                  <a:solidFill>
                    <a:schemeClr val="tx1"/>
                  </a:solidFill>
                  <a:latin typeface="Times New Roman" panose="02020603050405020304" pitchFamily="18" charset="0"/>
                </a:rPr>
                <a:t>结果当然是更有利于成键！</a:t>
              </a:r>
            </a:p>
          </p:txBody>
        </p:sp>
        <p:sp>
          <p:nvSpPr>
            <p:cNvPr id="45066" name="Rectangle 12"/>
            <p:cNvSpPr/>
            <p:nvPr/>
          </p:nvSpPr>
          <p:spPr>
            <a:xfrm>
              <a:off x="304800" y="1600200"/>
              <a:ext cx="8153400" cy="974369"/>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  </a:t>
              </a:r>
              <a:r>
                <a:rPr lang="zh-CN" altLang="en-US" sz="2600" i="0" dirty="0">
                  <a:solidFill>
                    <a:schemeClr val="tx1"/>
                  </a:solidFill>
                  <a:latin typeface="Times New Roman" panose="02020603050405020304" pitchFamily="18" charset="0"/>
                </a:rPr>
                <a:t>成键时，能级相近的价电子轨道相混杂，形成新的价电子轨  道</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杂化轨道；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 calcmode="lin" valueType="num">
                                      <p:cBhvr additive="base">
                                        <p:cTn id="7" dur="1000" fill="hold"/>
                                        <p:tgtEl>
                                          <p:spTgt spid="196612"/>
                                        </p:tgtEl>
                                        <p:attrNameLst>
                                          <p:attrName>ppt_x</p:attrName>
                                        </p:attrNameLst>
                                      </p:cBhvr>
                                      <p:tavLst>
                                        <p:tav tm="0">
                                          <p:val>
                                            <p:strVal val="#ppt_x"/>
                                          </p:val>
                                        </p:tav>
                                        <p:tav tm="100000">
                                          <p:val>
                                            <p:strVal val="#ppt_x"/>
                                          </p:val>
                                        </p:tav>
                                      </p:tavLst>
                                    </p:anim>
                                    <p:anim calcmode="lin" valueType="num">
                                      <p:cBhvr additive="base">
                                        <p:cTn id="8" dur="1000" fill="hold"/>
                                        <p:tgtEl>
                                          <p:spTgt spid="1966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4"/>
          <p:cNvSpPr/>
          <p:nvPr/>
        </p:nvSpPr>
        <p:spPr>
          <a:xfrm>
            <a:off x="152400" y="1066800"/>
            <a:ext cx="6858000" cy="762000"/>
          </a:xfrm>
          <a:prstGeom prst="rect">
            <a:avLst/>
          </a:prstGeom>
          <a:noFill/>
          <a:ln w="9525">
            <a:noFill/>
          </a:ln>
        </p:spPr>
        <p:txBody>
          <a:bodyPr anchor="ctr" anchorCtr="0">
            <a:spAutoFit/>
          </a:bodyPr>
          <a:lstStyle/>
          <a:p>
            <a:pPr algn="l"/>
            <a:r>
              <a:rPr lang="en-US" altLang="zh-CN" sz="2200" i="0" dirty="0">
                <a:solidFill>
                  <a:schemeClr val="tx1"/>
                </a:solidFill>
                <a:latin typeface="Times New Roman" panose="02020603050405020304" pitchFamily="18" charset="0"/>
              </a:rPr>
              <a:t>       Her mother is of </a:t>
            </a:r>
            <a:r>
              <a:rPr lang="en-US" altLang="zh-CN" sz="2200" i="0" dirty="0">
                <a:solidFill>
                  <a:schemeClr val="tx1"/>
                </a:solidFill>
                <a:latin typeface="Times New Roman" panose="02020603050405020304" pitchFamily="18" charset="0"/>
                <a:hlinkClick r:id="rId2" tooltip="Danish people"/>
              </a:rPr>
              <a:t>Danish</a:t>
            </a:r>
            <a:r>
              <a:rPr lang="en-US" altLang="zh-CN" sz="2200" i="0" dirty="0">
                <a:solidFill>
                  <a:schemeClr val="tx1"/>
                </a:solidFill>
                <a:latin typeface="Times New Roman" panose="02020603050405020304" pitchFamily="18" charset="0"/>
              </a:rPr>
              <a:t> and French Canadian  descent and her father is </a:t>
            </a:r>
            <a:r>
              <a:rPr lang="en-US" altLang="zh-CN" sz="2200" i="0" u="sng" dirty="0">
                <a:solidFill>
                  <a:schemeClr val="tx1"/>
                </a:solidFill>
                <a:latin typeface="Times New Roman" panose="02020603050405020304" pitchFamily="18" charset="0"/>
                <a:hlinkClick r:id="rId3" tooltip="Mexican American"/>
              </a:rPr>
              <a:t>Mexican American</a:t>
            </a:r>
            <a:r>
              <a:rPr lang="en-US" altLang="zh-CN" sz="2200" i="0" u="sng" dirty="0">
                <a:solidFill>
                  <a:schemeClr val="tx1"/>
                </a:solidFill>
                <a:latin typeface="Times New Roman" panose="02020603050405020304" pitchFamily="18" charset="0"/>
              </a:rPr>
              <a:t>.</a:t>
            </a:r>
            <a:r>
              <a:rPr lang="en-US" altLang="zh-CN" sz="2200" dirty="0">
                <a:solidFill>
                  <a:schemeClr val="tx1"/>
                </a:solidFill>
                <a:latin typeface="Times New Roman" panose="02020603050405020304" pitchFamily="18" charset="0"/>
              </a:rPr>
              <a:t> </a:t>
            </a:r>
          </a:p>
        </p:txBody>
      </p:sp>
      <p:sp>
        <p:nvSpPr>
          <p:cNvPr id="46083" name="Rectangle 5"/>
          <p:cNvSpPr/>
          <p:nvPr/>
        </p:nvSpPr>
        <p:spPr>
          <a:xfrm>
            <a:off x="152400" y="152400"/>
            <a:ext cx="1905000" cy="385763"/>
          </a:xfrm>
          <a:prstGeom prst="rect">
            <a:avLst/>
          </a:prstGeom>
          <a:noFill/>
          <a:ln w="9525">
            <a:noFill/>
          </a:ln>
        </p:spPr>
        <p:txBody>
          <a:bodyPr lIns="0" tIns="0" rIns="0" bIns="15870" anchor="ctr" anchorCtr="0">
            <a:spAutoFit/>
          </a:bodyPr>
          <a:lstStyle/>
          <a:p>
            <a:pPr algn="l"/>
            <a:r>
              <a:rPr lang="en-US" altLang="zh-CN" dirty="0">
                <a:solidFill>
                  <a:schemeClr val="tx1"/>
                </a:solidFill>
                <a:latin typeface="Times New Roman" panose="02020603050405020304" pitchFamily="18" charset="0"/>
              </a:rPr>
              <a:t>Jessica Alba</a:t>
            </a:r>
            <a:endParaRPr lang="en-US" altLang="zh-CN" dirty="0">
              <a:solidFill>
                <a:schemeClr val="tx1"/>
              </a:solidFill>
              <a:latin typeface="Arial" panose="020B0604020202020204" pitchFamily="34" charset="0"/>
              <a:ea typeface="宋体" panose="02010600030101010101" pitchFamily="2" charset="-122"/>
            </a:endParaRPr>
          </a:p>
        </p:txBody>
      </p:sp>
      <p:sp>
        <p:nvSpPr>
          <p:cNvPr id="46084" name="Rectangle 6"/>
          <p:cNvSpPr/>
          <p:nvPr/>
        </p:nvSpPr>
        <p:spPr>
          <a:xfrm>
            <a:off x="457200" y="533400"/>
            <a:ext cx="6705600" cy="457200"/>
          </a:xfrm>
          <a:prstGeom prst="rect">
            <a:avLst/>
          </a:prstGeom>
          <a:noFill/>
          <a:ln w="9525">
            <a:noFill/>
          </a:ln>
        </p:spPr>
        <p:txBody>
          <a:bodyPr anchor="ctr" anchorCtr="0">
            <a:spAutoFit/>
          </a:bodyPr>
          <a:lstStyle/>
          <a:p>
            <a:pPr algn="l"/>
            <a:r>
              <a:rPr lang="en-US" altLang="zh-CN" i="0" dirty="0">
                <a:solidFill>
                  <a:schemeClr val="tx1"/>
                </a:solidFill>
                <a:latin typeface="Times New Roman" panose="02020603050405020304" pitchFamily="18" charset="0"/>
              </a:rPr>
              <a:t>  is an American model, television and film actress</a:t>
            </a:r>
            <a:r>
              <a:rPr lang="en-US" altLang="zh-CN" dirty="0">
                <a:solidFill>
                  <a:schemeClr val="tx1"/>
                </a:solidFill>
                <a:latin typeface="Times New Roman" panose="02020603050405020304" pitchFamily="18" charset="0"/>
              </a:rPr>
              <a:t> </a:t>
            </a:r>
          </a:p>
        </p:txBody>
      </p:sp>
      <p:pic>
        <p:nvPicPr>
          <p:cNvPr id="46085" name="Picture 8"/>
          <p:cNvPicPr>
            <a:picLocks noChangeAspect="1"/>
          </p:cNvPicPr>
          <p:nvPr/>
        </p:nvPicPr>
        <p:blipFill>
          <a:blip r:embed="rId4"/>
          <a:stretch>
            <a:fillRect/>
          </a:stretch>
        </p:blipFill>
        <p:spPr>
          <a:xfrm>
            <a:off x="7467600" y="152400"/>
            <a:ext cx="1524000" cy="2209800"/>
          </a:xfrm>
          <a:prstGeom prst="rect">
            <a:avLst/>
          </a:prstGeom>
          <a:noFill/>
          <a:ln w="9525">
            <a:noFill/>
          </a:ln>
        </p:spPr>
      </p:pic>
      <p:sp>
        <p:nvSpPr>
          <p:cNvPr id="46086" name="Rectangle 9"/>
          <p:cNvSpPr/>
          <p:nvPr/>
        </p:nvSpPr>
        <p:spPr>
          <a:xfrm>
            <a:off x="152400" y="2057400"/>
            <a:ext cx="7010400" cy="1200150"/>
          </a:xfrm>
          <a:prstGeom prst="rect">
            <a:avLst/>
          </a:prstGeom>
          <a:solidFill>
            <a:srgbClr val="FFFFFF"/>
          </a:solidFill>
          <a:ln w="9525">
            <a:noFill/>
          </a:ln>
        </p:spPr>
        <p:txBody>
          <a:bodyPr anchor="ctr" anchorCtr="0">
            <a:spAutoFit/>
          </a:bodyPr>
          <a:lstStyle/>
          <a:p>
            <a:pPr algn="l"/>
            <a:r>
              <a:rPr lang="en-US" altLang="zh-CN" dirty="0">
                <a:solidFill>
                  <a:schemeClr val="tx1"/>
                </a:solidFill>
                <a:latin typeface="Times New Roman" panose="02020603050405020304" pitchFamily="18" charset="0"/>
              </a:rPr>
              <a:t>        Fei Xiang</a:t>
            </a:r>
            <a:r>
              <a:rPr lang="en-US" altLang="zh-CN" i="0" dirty="0">
                <a:solidFill>
                  <a:schemeClr val="tx1"/>
                </a:solidFill>
                <a:latin typeface="Times New Roman" panose="02020603050405020304" pitchFamily="18" charset="0"/>
              </a:rPr>
              <a:t> (born Kris Phillips on December 24, 1960 in </a:t>
            </a:r>
            <a:r>
              <a:rPr lang="en-US" altLang="zh-CN" i="0" dirty="0">
                <a:solidFill>
                  <a:schemeClr val="tx1"/>
                </a:solidFill>
                <a:latin typeface="Times New Roman" panose="02020603050405020304" pitchFamily="18" charset="0"/>
                <a:hlinkClick r:id="rId5" tooltip="Taipei"/>
              </a:rPr>
              <a:t>Taipei</a:t>
            </a:r>
            <a:r>
              <a:rPr lang="en-US" altLang="zh-CN" i="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hlinkClick r:id="rId6" tooltip="Taiwan"/>
              </a:rPr>
              <a:t>Taiwan</a:t>
            </a:r>
            <a:r>
              <a:rPr lang="en-US" altLang="zh-CN" i="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hlinkClick r:id="rId7" tooltip="Simplified Chinese characters"/>
              </a:rPr>
              <a:t>simplified Chinese</a:t>
            </a:r>
            <a:r>
              <a:rPr lang="en-US" altLang="zh-CN" i="0" dirty="0">
                <a:solidFill>
                  <a:schemeClr val="tx1"/>
                </a:solidFill>
                <a:latin typeface="Times New Roman" panose="02020603050405020304" pitchFamily="18" charset="0"/>
              </a:rPr>
              <a:t>: </a:t>
            </a:r>
            <a:r>
              <a:rPr lang="zh-CN" altLang="en-US" i="0" dirty="0">
                <a:solidFill>
                  <a:schemeClr val="tx1"/>
                </a:solidFill>
                <a:latin typeface="Times New Roman" panose="02020603050405020304" pitchFamily="18" charset="0"/>
              </a:rPr>
              <a:t>费翔</a:t>
            </a:r>
            <a:r>
              <a:rPr lang="zh-CN" altLang="en-US"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rPr>
              <a:t>Born to an American father and a Chinese mother</a:t>
            </a:r>
            <a:r>
              <a:rPr lang="en-US" altLang="zh-CN" dirty="0">
                <a:solidFill>
                  <a:schemeClr val="tx1"/>
                </a:solidFill>
                <a:latin typeface="Times New Roman" panose="02020603050405020304" pitchFamily="18" charset="0"/>
              </a:rPr>
              <a:t> </a:t>
            </a:r>
          </a:p>
        </p:txBody>
      </p:sp>
      <p:sp>
        <p:nvSpPr>
          <p:cNvPr id="46087" name="Rectangle 10"/>
          <p:cNvSpPr/>
          <p:nvPr/>
        </p:nvSpPr>
        <p:spPr>
          <a:xfrm>
            <a:off x="228600" y="3200400"/>
            <a:ext cx="6477000" cy="3140075"/>
          </a:xfrm>
          <a:prstGeom prst="rect">
            <a:avLst/>
          </a:prstGeom>
          <a:solidFill>
            <a:srgbClr val="FFFFFF"/>
          </a:solidFill>
          <a:ln w="9525">
            <a:noFill/>
          </a:ln>
        </p:spPr>
        <p:txBody>
          <a:bodyPr anchor="ctr" anchorCtr="0">
            <a:spAutoFit/>
          </a:bodyPr>
          <a:lstStyle/>
          <a:p>
            <a:pPr algn="l"/>
            <a:r>
              <a:rPr lang="en-US" altLang="zh-CN" sz="2200" i="0" dirty="0">
                <a:solidFill>
                  <a:schemeClr val="tx1"/>
                </a:solidFill>
                <a:latin typeface="Times New Roman" panose="02020603050405020304" pitchFamily="18" charset="0"/>
              </a:rPr>
              <a:t>         In late 1986, Fei Xiang became the first Taiwan pop singer to cross the Strait and perform in mainland China. His rise to fame on mainland China came almost instantaneously from his performance on the 1987</a:t>
            </a:r>
            <a:r>
              <a:rPr lang="en-US" altLang="zh-CN" sz="2200" i="0" dirty="0">
                <a:solidFill>
                  <a:schemeClr val="tx1"/>
                </a:solidFill>
                <a:latin typeface="Times New Roman" panose="02020603050405020304" pitchFamily="18" charset="0"/>
                <a:hlinkClick r:id="rId8" tooltip="CCTV New Year's Gala"/>
              </a:rPr>
              <a:t>CCTV New Year's Gala</a:t>
            </a:r>
            <a:r>
              <a:rPr lang="en-US" altLang="zh-CN" sz="2200" i="0" dirty="0">
                <a:solidFill>
                  <a:schemeClr val="tx1"/>
                </a:solidFill>
                <a:latin typeface="Times New Roman" panose="02020603050405020304" pitchFamily="18" charset="0"/>
              </a:rPr>
              <a:t>, </a:t>
            </a:r>
            <a:r>
              <a:rPr lang="en-US" altLang="zh-CN" sz="2200" dirty="0">
                <a:solidFill>
                  <a:schemeClr val="tx1"/>
                </a:solidFill>
                <a:latin typeface="Times New Roman" panose="02020603050405020304" pitchFamily="18" charset="0"/>
              </a:rPr>
              <a:t> </a:t>
            </a:r>
            <a:r>
              <a:rPr lang="en-US" altLang="zh-CN" sz="2200" i="0" dirty="0">
                <a:solidFill>
                  <a:schemeClr val="tx1"/>
                </a:solidFill>
                <a:latin typeface="Times New Roman" panose="02020603050405020304" pitchFamily="18" charset="0"/>
              </a:rPr>
              <a:t> </a:t>
            </a:r>
          </a:p>
          <a:p>
            <a:pPr algn="l"/>
            <a:r>
              <a:rPr lang="en-US" altLang="zh-CN" sz="2200" i="0" dirty="0">
                <a:solidFill>
                  <a:schemeClr val="tx1"/>
                </a:solidFill>
                <a:latin typeface="Times New Roman" panose="02020603050405020304" pitchFamily="18" charset="0"/>
              </a:rPr>
              <a:t>an action that was met with great protest by the Taiwan government. The two songs he performed on the Gala, </a:t>
            </a:r>
            <a:r>
              <a:rPr lang="en-US" altLang="zh-CN" sz="2200" dirty="0">
                <a:solidFill>
                  <a:schemeClr val="tx1"/>
                </a:solidFill>
                <a:latin typeface="Times New Roman" panose="02020603050405020304" pitchFamily="18" charset="0"/>
              </a:rPr>
              <a:t>Winter Fire</a:t>
            </a:r>
            <a:r>
              <a:rPr lang="en-US" altLang="zh-CN" sz="2200" i="0" dirty="0">
                <a:solidFill>
                  <a:schemeClr val="tx1"/>
                </a:solidFill>
                <a:latin typeface="Times New Roman" panose="02020603050405020304" pitchFamily="18" charset="0"/>
              </a:rPr>
              <a:t> and </a:t>
            </a:r>
            <a:r>
              <a:rPr lang="en-US" altLang="zh-CN" sz="2200" dirty="0">
                <a:solidFill>
                  <a:schemeClr val="tx1"/>
                </a:solidFill>
                <a:latin typeface="Times New Roman" panose="02020603050405020304" pitchFamily="18" charset="0"/>
              </a:rPr>
              <a:t>Clouds of My Homeland</a:t>
            </a:r>
            <a:r>
              <a:rPr lang="en-US" altLang="zh-CN" sz="2200" i="0" dirty="0">
                <a:solidFill>
                  <a:schemeClr val="tx1"/>
                </a:solidFill>
                <a:latin typeface="Times New Roman" panose="02020603050405020304" pitchFamily="18" charset="0"/>
              </a:rPr>
              <a:t> became two smash hits.</a:t>
            </a:r>
            <a:r>
              <a:rPr lang="en-US" altLang="zh-CN" sz="2200" dirty="0">
                <a:solidFill>
                  <a:schemeClr val="tx1"/>
                </a:solidFill>
                <a:latin typeface="Times New Roman" panose="02020603050405020304" pitchFamily="18" charset="0"/>
              </a:rPr>
              <a:t> </a:t>
            </a:r>
          </a:p>
        </p:txBody>
      </p:sp>
      <p:pic>
        <p:nvPicPr>
          <p:cNvPr id="46088" name="Picture 11"/>
          <p:cNvPicPr>
            <a:picLocks noChangeAspect="1"/>
          </p:cNvPicPr>
          <p:nvPr/>
        </p:nvPicPr>
        <p:blipFill>
          <a:blip r:embed="rId9"/>
          <a:stretch>
            <a:fillRect/>
          </a:stretch>
        </p:blipFill>
        <p:spPr>
          <a:xfrm>
            <a:off x="6934200" y="3124200"/>
            <a:ext cx="1981200" cy="2895600"/>
          </a:xfrm>
          <a:prstGeom prst="rect">
            <a:avLst/>
          </a:prstGeom>
          <a:noFill/>
          <a:ln w="9525">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基努·里维斯"/>
          <p:cNvPicPr>
            <a:picLocks noChangeAspect="1"/>
          </p:cNvPicPr>
          <p:nvPr/>
        </p:nvPicPr>
        <p:blipFill>
          <a:blip r:embed="rId2"/>
          <a:stretch>
            <a:fillRect/>
          </a:stretch>
        </p:blipFill>
        <p:spPr>
          <a:xfrm>
            <a:off x="6934200" y="152400"/>
            <a:ext cx="2143125" cy="2857500"/>
          </a:xfrm>
          <a:prstGeom prst="rect">
            <a:avLst/>
          </a:prstGeom>
          <a:noFill/>
          <a:ln w="9525">
            <a:noFill/>
          </a:ln>
        </p:spPr>
      </p:pic>
      <p:sp>
        <p:nvSpPr>
          <p:cNvPr id="47107" name="矩形 6"/>
          <p:cNvSpPr/>
          <p:nvPr/>
        </p:nvSpPr>
        <p:spPr>
          <a:xfrm>
            <a:off x="152400" y="152400"/>
            <a:ext cx="6781800" cy="2862263"/>
          </a:xfrm>
          <a:prstGeom prst="rect">
            <a:avLst/>
          </a:prstGeom>
          <a:noFill/>
          <a:ln w="9525">
            <a:noFill/>
          </a:ln>
        </p:spPr>
        <p:txBody>
          <a:bodyPr>
            <a:spAutoFit/>
          </a:bodyPr>
          <a:lstStyle/>
          <a:p>
            <a:pPr indent="66675" algn="l" eaLnBrk="0" hangingPunct="0">
              <a:lnSpc>
                <a:spcPts val="3600"/>
              </a:lnSpc>
            </a:pPr>
            <a:r>
              <a:rPr lang="zh-CN" altLang="en-US" sz="2600" i="0" dirty="0">
                <a:solidFill>
                  <a:srgbClr val="333333"/>
                </a:solidFill>
                <a:latin typeface="Arial" panose="020B0604020202020204" pitchFamily="34" charset="0"/>
                <a:cs typeface="Arial" panose="020B0604020202020204" pitchFamily="34" charset="0"/>
              </a:rPr>
              <a:t>      基努</a:t>
            </a:r>
            <a:r>
              <a:rPr lang="zh-CN" altLang="zh-CN" sz="2600" i="0" dirty="0">
                <a:solidFill>
                  <a:srgbClr val="333333"/>
                </a:solidFill>
                <a:latin typeface="Times New Roman" panose="02020603050405020304" pitchFamily="18" charset="0"/>
                <a:ea typeface="Arial" panose="020B0604020202020204" pitchFamily="34" charset="0"/>
              </a:rPr>
              <a:t>·</a:t>
            </a:r>
            <a:r>
              <a:rPr lang="zh-CN" altLang="en-US" sz="2600" i="0" dirty="0">
                <a:solidFill>
                  <a:srgbClr val="3366CC"/>
                </a:solidFill>
                <a:latin typeface="Arial" panose="020B0604020202020204" pitchFamily="34" charset="0"/>
                <a:cs typeface="Arial" panose="020B0604020202020204" pitchFamily="34" charset="0"/>
                <a:hlinkClick r:id="rId3"/>
              </a:rPr>
              <a:t>李维</a:t>
            </a:r>
            <a:r>
              <a:rPr lang="zh-CN" altLang="zh-CN" sz="2600" i="0" dirty="0">
                <a:solidFill>
                  <a:srgbClr val="333333"/>
                </a:solidFill>
                <a:latin typeface="Arial" panose="020B0604020202020204" pitchFamily="34" charset="0"/>
                <a:cs typeface="Arial" panose="020B0604020202020204" pitchFamily="34" charset="0"/>
              </a:rPr>
              <a:t>Keanu</a:t>
            </a:r>
            <a:r>
              <a:rPr lang="en-US" altLang="zh-CN" sz="2800" i="0" dirty="0">
                <a:latin typeface="Times New Roman" panose="02020603050405020304" pitchFamily="18" charset="0"/>
              </a:rPr>
              <a:t> </a:t>
            </a:r>
            <a:r>
              <a:rPr lang="en-US" altLang="zh-CN" sz="2800" i="0" dirty="0">
                <a:solidFill>
                  <a:schemeClr val="tx1"/>
                </a:solidFill>
                <a:latin typeface="Times New Roman" panose="02020603050405020304" pitchFamily="18" charset="0"/>
              </a:rPr>
              <a:t>Charles</a:t>
            </a:r>
            <a:r>
              <a:rPr lang="en-US" altLang="zh-CN" sz="2600" i="0" dirty="0">
                <a:solidFill>
                  <a:srgbClr val="333333"/>
                </a:solidFill>
                <a:latin typeface="Arial" panose="020B0604020202020204" pitchFamily="34" charset="0"/>
                <a:cs typeface="Arial" panose="020B0604020202020204" pitchFamily="34" charset="0"/>
              </a:rPr>
              <a:t> </a:t>
            </a:r>
            <a:r>
              <a:rPr lang="zh-CN" altLang="zh-CN" sz="2600" i="0" dirty="0">
                <a:solidFill>
                  <a:srgbClr val="333333"/>
                </a:solidFill>
                <a:latin typeface="Arial" panose="020B0604020202020204" pitchFamily="34" charset="0"/>
                <a:cs typeface="Arial" panose="020B0604020202020204" pitchFamily="34" charset="0"/>
              </a:rPr>
              <a:t>Reeves</a:t>
            </a:r>
            <a:r>
              <a:rPr lang="zh-CN" altLang="en-US" sz="2600" i="0" dirty="0">
                <a:solidFill>
                  <a:srgbClr val="333333"/>
                </a:solidFill>
                <a:latin typeface="Arial" panose="020B0604020202020204" pitchFamily="34" charset="0"/>
                <a:cs typeface="Arial" panose="020B0604020202020204" pitchFamily="34" charset="0"/>
              </a:rPr>
              <a:t>出生在</a:t>
            </a:r>
            <a:r>
              <a:rPr lang="zh-CN" altLang="en-US" sz="2600" i="0" dirty="0">
                <a:solidFill>
                  <a:srgbClr val="3366CC"/>
                </a:solidFill>
                <a:latin typeface="Arial" panose="020B0604020202020204" pitchFamily="34" charset="0"/>
                <a:cs typeface="Arial" panose="020B0604020202020204" pitchFamily="34" charset="0"/>
                <a:hlinkClick r:id="rId4"/>
              </a:rPr>
              <a:t>黎巴嫩</a:t>
            </a:r>
            <a:r>
              <a:rPr lang="zh-CN" altLang="en-US" sz="2600" i="0" dirty="0">
                <a:solidFill>
                  <a:srgbClr val="333333"/>
                </a:solidFill>
                <a:latin typeface="Arial" panose="020B0604020202020204" pitchFamily="34" charset="0"/>
                <a:cs typeface="Arial" panose="020B0604020202020204" pitchFamily="34" charset="0"/>
              </a:rPr>
              <a:t>首都</a:t>
            </a:r>
            <a:r>
              <a:rPr lang="zh-CN" altLang="en-US" sz="2600" i="0" dirty="0">
                <a:solidFill>
                  <a:srgbClr val="3366CC"/>
                </a:solidFill>
                <a:latin typeface="Arial" panose="020B0604020202020204" pitchFamily="34" charset="0"/>
                <a:cs typeface="Arial" panose="020B0604020202020204" pitchFamily="34" charset="0"/>
                <a:hlinkClick r:id="rId5"/>
              </a:rPr>
              <a:t>贝鲁特</a:t>
            </a:r>
            <a:r>
              <a:rPr lang="zh-CN" altLang="en-US" sz="2600" i="0" dirty="0">
                <a:solidFill>
                  <a:srgbClr val="333333"/>
                </a:solidFill>
                <a:latin typeface="Arial" panose="020B0604020202020204" pitchFamily="34" charset="0"/>
                <a:cs typeface="Arial" panose="020B0604020202020204" pitchFamily="34" charset="0"/>
              </a:rPr>
              <a:t>，</a:t>
            </a:r>
            <a:r>
              <a:rPr lang="zh-CN" altLang="en-US" sz="2600" i="0" dirty="0">
                <a:solidFill>
                  <a:srgbClr val="3366CC"/>
                </a:solidFill>
                <a:latin typeface="Arial" panose="020B0604020202020204" pitchFamily="34" charset="0"/>
                <a:cs typeface="Arial" panose="020B0604020202020204" pitchFamily="34" charset="0"/>
                <a:hlinkClick r:id="rId6"/>
              </a:rPr>
              <a:t>父亲</a:t>
            </a:r>
            <a:r>
              <a:rPr lang="zh-CN" altLang="en-US" sz="2600" i="0" dirty="0">
                <a:solidFill>
                  <a:srgbClr val="333333"/>
                </a:solidFill>
                <a:latin typeface="Arial" panose="020B0604020202020204" pitchFamily="34" charset="0"/>
                <a:cs typeface="Arial" panose="020B0604020202020204" pitchFamily="34" charset="0"/>
              </a:rPr>
              <a:t>山谬</a:t>
            </a:r>
            <a:r>
              <a:rPr lang="zh-CN" altLang="zh-CN" sz="2600" i="0" dirty="0">
                <a:solidFill>
                  <a:srgbClr val="333333"/>
                </a:solidFill>
                <a:latin typeface="Times New Roman" panose="02020603050405020304" pitchFamily="18" charset="0"/>
                <a:ea typeface="Arial" panose="020B0604020202020204" pitchFamily="34" charset="0"/>
              </a:rPr>
              <a:t>·</a:t>
            </a:r>
            <a:r>
              <a:rPr lang="zh-CN" altLang="en-US" sz="2600" i="0" dirty="0">
                <a:solidFill>
                  <a:srgbClr val="333333"/>
                </a:solidFill>
                <a:latin typeface="Arial" panose="020B0604020202020204" pitchFamily="34" charset="0"/>
                <a:cs typeface="Arial" panose="020B0604020202020204" pitchFamily="34" charset="0"/>
              </a:rPr>
              <a:t>里维是美国</a:t>
            </a:r>
            <a:r>
              <a:rPr lang="zh-CN" altLang="en-US" sz="2600" i="0" dirty="0">
                <a:solidFill>
                  <a:srgbClr val="3366CC"/>
                </a:solidFill>
                <a:latin typeface="Arial" panose="020B0604020202020204" pitchFamily="34" charset="0"/>
                <a:cs typeface="Arial" panose="020B0604020202020204" pitchFamily="34" charset="0"/>
                <a:hlinkClick r:id="rId7"/>
              </a:rPr>
              <a:t>地质学家</a:t>
            </a:r>
            <a:r>
              <a:rPr lang="zh-CN" altLang="en-US" sz="2600" i="0" dirty="0">
                <a:solidFill>
                  <a:srgbClr val="333333"/>
                </a:solidFill>
                <a:latin typeface="Arial" panose="020B0604020202020204" pitchFamily="34" charset="0"/>
                <a:cs typeface="Arial" panose="020B0604020202020204" pitchFamily="34" charset="0"/>
              </a:rPr>
              <a:t>，</a:t>
            </a:r>
            <a:r>
              <a:rPr lang="zh-CN" altLang="en-US" sz="2600" i="0" dirty="0">
                <a:solidFill>
                  <a:srgbClr val="3366CC"/>
                </a:solidFill>
                <a:latin typeface="Arial" panose="020B0604020202020204" pitchFamily="34" charset="0"/>
                <a:cs typeface="Arial" panose="020B0604020202020204" pitchFamily="34" charset="0"/>
                <a:hlinkClick r:id="rId8"/>
              </a:rPr>
              <a:t>母亲</a:t>
            </a:r>
            <a:r>
              <a:rPr lang="zh-CN" altLang="en-US" sz="2600" i="0" dirty="0">
                <a:solidFill>
                  <a:srgbClr val="333333"/>
                </a:solidFill>
                <a:latin typeface="Arial" panose="020B0604020202020204" pitchFamily="34" charset="0"/>
                <a:cs typeface="Arial" panose="020B0604020202020204" pitchFamily="34" charset="0"/>
              </a:rPr>
              <a:t>派翠西亚</a:t>
            </a:r>
            <a:r>
              <a:rPr lang="zh-CN" altLang="zh-CN" sz="2600" i="0" dirty="0">
                <a:solidFill>
                  <a:srgbClr val="333333"/>
                </a:solidFill>
                <a:latin typeface="Times New Roman" panose="02020603050405020304" pitchFamily="18" charset="0"/>
                <a:ea typeface="Arial" panose="020B0604020202020204" pitchFamily="34" charset="0"/>
              </a:rPr>
              <a:t>·</a:t>
            </a:r>
            <a:r>
              <a:rPr lang="zh-CN" altLang="en-US" sz="2600" i="0" dirty="0">
                <a:solidFill>
                  <a:srgbClr val="3366CC"/>
                </a:solidFill>
                <a:latin typeface="Arial" panose="020B0604020202020204" pitchFamily="34" charset="0"/>
                <a:cs typeface="Arial" panose="020B0604020202020204" pitchFamily="34" charset="0"/>
                <a:hlinkClick r:id="rId9"/>
              </a:rPr>
              <a:t>泰勒</a:t>
            </a:r>
            <a:r>
              <a:rPr lang="zh-CN" altLang="en-US" sz="2600" i="0" dirty="0">
                <a:solidFill>
                  <a:srgbClr val="333333"/>
                </a:solidFill>
                <a:latin typeface="Arial" panose="020B0604020202020204" pitchFamily="34" charset="0"/>
                <a:cs typeface="Arial" panose="020B0604020202020204" pitchFamily="34" charset="0"/>
              </a:rPr>
              <a:t>是</a:t>
            </a:r>
            <a:r>
              <a:rPr lang="zh-CN" altLang="en-US" sz="2600" i="0" dirty="0">
                <a:solidFill>
                  <a:srgbClr val="3366CC"/>
                </a:solidFill>
                <a:latin typeface="Arial" panose="020B0604020202020204" pitchFamily="34" charset="0"/>
                <a:cs typeface="Arial" panose="020B0604020202020204" pitchFamily="34" charset="0"/>
                <a:hlinkClick r:id="rId10"/>
              </a:rPr>
              <a:t>英国</a:t>
            </a:r>
            <a:r>
              <a:rPr lang="zh-CN" altLang="en-US" sz="2600" i="0" dirty="0">
                <a:solidFill>
                  <a:srgbClr val="333333"/>
                </a:solidFill>
                <a:latin typeface="Arial" panose="020B0604020202020204" pitchFamily="34" charset="0"/>
                <a:cs typeface="Arial" panose="020B0604020202020204" pitchFamily="34" charset="0"/>
              </a:rPr>
              <a:t>的</a:t>
            </a:r>
            <a:r>
              <a:rPr lang="zh-CN" altLang="en-US" sz="2600" i="0" dirty="0">
                <a:solidFill>
                  <a:srgbClr val="3366CC"/>
                </a:solidFill>
                <a:latin typeface="Arial" panose="020B0604020202020204" pitchFamily="34" charset="0"/>
                <a:cs typeface="Arial" panose="020B0604020202020204" pitchFamily="34" charset="0"/>
                <a:hlinkClick r:id="rId11"/>
              </a:rPr>
              <a:t>夜总会</a:t>
            </a:r>
            <a:r>
              <a:rPr lang="zh-CN" altLang="en-US" sz="2600" i="0" dirty="0">
                <a:solidFill>
                  <a:srgbClr val="333333"/>
                </a:solidFill>
                <a:latin typeface="Arial" panose="020B0604020202020204" pitchFamily="34" charset="0"/>
                <a:cs typeface="Arial" panose="020B0604020202020204" pitchFamily="34" charset="0"/>
              </a:rPr>
              <a:t>舞女。他的父亲出生在</a:t>
            </a:r>
            <a:r>
              <a:rPr lang="zh-CN" altLang="en-US" sz="2600" i="0" dirty="0">
                <a:solidFill>
                  <a:srgbClr val="3366CC"/>
                </a:solidFill>
                <a:latin typeface="Arial" panose="020B0604020202020204" pitchFamily="34" charset="0"/>
                <a:cs typeface="Arial" panose="020B0604020202020204" pitchFamily="34" charset="0"/>
                <a:hlinkClick r:id="rId12"/>
              </a:rPr>
              <a:t>夏威夷</a:t>
            </a:r>
            <a:r>
              <a:rPr lang="zh-CN" altLang="en-US" sz="2600" i="0" dirty="0">
                <a:solidFill>
                  <a:srgbClr val="333333"/>
                </a:solidFill>
                <a:latin typeface="Arial" panose="020B0604020202020204" pitchFamily="34" charset="0"/>
                <a:cs typeface="Arial" panose="020B0604020202020204" pitchFamily="34" charset="0"/>
              </a:rPr>
              <a:t>，祖母有</a:t>
            </a:r>
            <a:r>
              <a:rPr lang="zh-CN" altLang="en-US" sz="2600" i="0" dirty="0">
                <a:solidFill>
                  <a:srgbClr val="3366CC"/>
                </a:solidFill>
                <a:latin typeface="Arial" panose="020B0604020202020204" pitchFamily="34" charset="0"/>
                <a:cs typeface="Arial" panose="020B0604020202020204" pitchFamily="34" charset="0"/>
                <a:hlinkClick r:id="rId13"/>
              </a:rPr>
              <a:t>中国</a:t>
            </a:r>
            <a:r>
              <a:rPr lang="zh-CN" altLang="en-US" sz="2600" i="0" dirty="0">
                <a:solidFill>
                  <a:srgbClr val="333333"/>
                </a:solidFill>
                <a:latin typeface="Arial" panose="020B0604020202020204" pitchFamily="34" charset="0"/>
                <a:cs typeface="Arial" panose="020B0604020202020204" pitchFamily="34" charset="0"/>
              </a:rPr>
              <a:t>、夏威夷、</a:t>
            </a:r>
            <a:r>
              <a:rPr lang="zh-CN" altLang="en-US" sz="2600" i="0" dirty="0">
                <a:solidFill>
                  <a:srgbClr val="3366CC"/>
                </a:solidFill>
                <a:latin typeface="Arial" panose="020B0604020202020204" pitchFamily="34" charset="0"/>
                <a:cs typeface="Arial" panose="020B0604020202020204" pitchFamily="34" charset="0"/>
                <a:hlinkClick r:id="rId14"/>
              </a:rPr>
              <a:t>葡萄牙</a:t>
            </a:r>
            <a:r>
              <a:rPr lang="zh-CN" altLang="en-US" sz="2600" i="0" dirty="0">
                <a:solidFill>
                  <a:srgbClr val="3366CC"/>
                </a:solidFill>
                <a:latin typeface="Arial" panose="020B0604020202020204" pitchFamily="34" charset="0"/>
                <a:cs typeface="Arial" panose="020B0604020202020204" pitchFamily="34" charset="0"/>
                <a:hlinkClick r:id="rId15"/>
              </a:rPr>
              <a:t>血统</a:t>
            </a:r>
            <a:r>
              <a:rPr lang="zh-CN" altLang="en-US" sz="2600" i="0" dirty="0">
                <a:solidFill>
                  <a:srgbClr val="333333"/>
                </a:solidFill>
                <a:latin typeface="Arial" panose="020B0604020202020204" pitchFamily="34" charset="0"/>
                <a:cs typeface="Arial" panose="020B0604020202020204" pitchFamily="34" charset="0"/>
              </a:rPr>
              <a:t>，而祖父是</a:t>
            </a:r>
            <a:r>
              <a:rPr lang="zh-CN" altLang="en-US" sz="2600" i="0" dirty="0">
                <a:solidFill>
                  <a:srgbClr val="3366CC"/>
                </a:solidFill>
                <a:latin typeface="Arial" panose="020B0604020202020204" pitchFamily="34" charset="0"/>
                <a:cs typeface="Arial" panose="020B0604020202020204" pitchFamily="34" charset="0"/>
                <a:hlinkClick r:id="rId16"/>
              </a:rPr>
              <a:t>田纳西州</a:t>
            </a:r>
            <a:r>
              <a:rPr lang="zh-CN" altLang="en-US" sz="2600" i="0" dirty="0">
                <a:solidFill>
                  <a:srgbClr val="333333"/>
                </a:solidFill>
                <a:latin typeface="Arial" panose="020B0604020202020204" pitchFamily="34" charset="0"/>
                <a:cs typeface="Arial" panose="020B0604020202020204" pitchFamily="34" charset="0"/>
              </a:rPr>
              <a:t>出生的爱尔兰裔美国人。</a:t>
            </a:r>
            <a:endParaRPr lang="zh-CN" altLang="en-US" sz="2600" i="0" dirty="0">
              <a:solidFill>
                <a:srgbClr val="3366CC"/>
              </a:solidFill>
              <a:latin typeface="Arial" panose="020B0604020202020204" pitchFamily="34" charset="0"/>
              <a:ea typeface="Arial" panose="020B0604020202020204" pitchFamily="34" charset="0"/>
            </a:endParaRPr>
          </a:p>
        </p:txBody>
      </p:sp>
      <p:sp>
        <p:nvSpPr>
          <p:cNvPr id="47108" name="矩形 7"/>
          <p:cNvSpPr/>
          <p:nvPr/>
        </p:nvSpPr>
        <p:spPr>
          <a:xfrm>
            <a:off x="228600" y="3048000"/>
            <a:ext cx="8915400" cy="1570038"/>
          </a:xfrm>
          <a:prstGeom prst="rect">
            <a:avLst/>
          </a:prstGeom>
          <a:noFill/>
          <a:ln w="9525">
            <a:noFill/>
          </a:ln>
        </p:spPr>
        <p:txBody>
          <a:bodyPr>
            <a:spAutoFit/>
          </a:bodyPr>
          <a:lstStyle/>
          <a:p>
            <a:pPr algn="l"/>
            <a:r>
              <a:rPr lang="en-US" altLang="zh-CN" i="0" dirty="0">
                <a:solidFill>
                  <a:schemeClr val="tx1"/>
                </a:solidFill>
                <a:latin typeface="Times New Roman" panose="02020603050405020304" pitchFamily="18" charset="0"/>
              </a:rPr>
              <a:t>His father, an American from Hawaii, has </a:t>
            </a:r>
            <a:r>
              <a:rPr lang="en-US" altLang="zh-CN" i="0" dirty="0">
                <a:solidFill>
                  <a:schemeClr val="tx1"/>
                </a:solidFill>
                <a:latin typeface="Times New Roman" panose="02020603050405020304" pitchFamily="18" charset="0"/>
                <a:hlinkClick r:id="rId17" tooltip="Native Hawaiian"/>
              </a:rPr>
              <a:t>Native Hawaiian</a:t>
            </a:r>
            <a:r>
              <a:rPr lang="en-US" altLang="zh-CN" i="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hlinkClick r:id="rId18" tooltip="Chinese American"/>
              </a:rPr>
              <a:t>Chinese</a:t>
            </a:r>
            <a:r>
              <a:rPr lang="en-US" altLang="zh-CN" i="0" dirty="0">
                <a:solidFill>
                  <a:schemeClr val="tx1"/>
                </a:solidFill>
                <a:latin typeface="Times New Roman" panose="02020603050405020304" pitchFamily="18" charset="0"/>
              </a:rPr>
              <a:t>, Portuguese, and English ancestry.</a:t>
            </a:r>
            <a:r>
              <a:rPr lang="en-US" altLang="zh-CN" i="0" baseline="3000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rPr>
              <a:t> Reeves has said: "My grandmother is Chinese and Hawaiian, so I was around Chinese art, furniture and cuisine when I was growing up".</a:t>
            </a:r>
            <a:endParaRPr lang="zh-CN" altLang="en-US" dirty="0">
              <a:solidFill>
                <a:schemeClr val="tx1"/>
              </a:solidFill>
              <a:latin typeface="Times New Roman" panose="02020603050405020304" pitchFamily="18" charset="0"/>
            </a:endParaRPr>
          </a:p>
        </p:txBody>
      </p:sp>
      <p:sp>
        <p:nvSpPr>
          <p:cNvPr id="47109" name="矩形 8"/>
          <p:cNvSpPr/>
          <p:nvPr/>
        </p:nvSpPr>
        <p:spPr>
          <a:xfrm>
            <a:off x="304800" y="4724400"/>
            <a:ext cx="8610600" cy="830263"/>
          </a:xfrm>
          <a:prstGeom prst="rect">
            <a:avLst/>
          </a:prstGeom>
          <a:noFill/>
          <a:ln w="9525">
            <a:noFill/>
          </a:ln>
        </p:spPr>
        <p:txBody>
          <a:bodyPr>
            <a:spAutoFit/>
          </a:bodyPr>
          <a:lstStyle/>
          <a:p>
            <a:pPr algn="l"/>
            <a:r>
              <a:rPr lang="en-US" altLang="zh-CN" i="0" dirty="0">
                <a:solidFill>
                  <a:schemeClr val="tx1"/>
                </a:solidFill>
                <a:latin typeface="Times New Roman" panose="02020603050405020304" pitchFamily="18" charset="0"/>
              </a:rPr>
              <a:t>Reeves dreamed of playing hockey for Canada but an injury ended his hopes for a hockey career.</a:t>
            </a:r>
            <a:endParaRPr lang="zh-CN" altLang="en-US"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3"/>
          <p:cNvSpPr/>
          <p:nvPr/>
        </p:nvSpPr>
        <p:spPr>
          <a:xfrm>
            <a:off x="76200" y="152400"/>
            <a:ext cx="8915400" cy="4524375"/>
          </a:xfrm>
          <a:prstGeom prst="rect">
            <a:avLst/>
          </a:prstGeom>
          <a:noFill/>
          <a:ln w="9525">
            <a:noFill/>
          </a:ln>
        </p:spPr>
        <p:txBody>
          <a:bodyPr>
            <a:spAutoFit/>
          </a:bodyPr>
          <a:lstStyle/>
          <a:p>
            <a:pPr algn="l"/>
            <a:r>
              <a:rPr lang="en-US" altLang="zh-CN" i="0" dirty="0">
                <a:solidFill>
                  <a:schemeClr val="tx1"/>
                </a:solidFill>
                <a:latin typeface="Times New Roman" panose="02020603050405020304" pitchFamily="18" charset="0"/>
              </a:rPr>
              <a:t>         In 2014, two stalkers trespassed upon Reeves' </a:t>
            </a:r>
            <a:r>
              <a:rPr lang="en-US" altLang="zh-CN" i="0" dirty="0">
                <a:solidFill>
                  <a:schemeClr val="tx1"/>
                </a:solidFill>
                <a:latin typeface="Times New Roman" panose="02020603050405020304" pitchFamily="18" charset="0"/>
                <a:hlinkClick r:id="rId2" tooltip="Hollywood Hills"/>
              </a:rPr>
              <a:t>Hollywood Hills</a:t>
            </a:r>
            <a:r>
              <a:rPr lang="en-US" altLang="zh-CN" i="0" dirty="0">
                <a:solidFill>
                  <a:schemeClr val="tx1"/>
                </a:solidFill>
                <a:latin typeface="Times New Roman" panose="02020603050405020304" pitchFamily="18" charset="0"/>
              </a:rPr>
              <a:t> home.     On September 12, 2014, Reeves awoke and found a female stalker in his library, who told him that she was there to meet him. While Reeves calmly talked to her, he called 9-1-1 and alerted the police. They arrived, arrested her and took her in for psychological evaluation.       Three days later, a second female stalker made her way into his home through a gate that was left unlocked by a cleaning company. The intruder undressed and took a shower in Reeves' bathroom and then proceeded to swim naked in his swimming pool. The cleaning crew became suspicious and alerted Reeves, who was not at home. He then notified the police and the stalker was remanded.</a:t>
            </a:r>
            <a:endParaRPr lang="zh-CN" altLang="en-US"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3"/>
          <p:cNvSpPr/>
          <p:nvPr/>
        </p:nvSpPr>
        <p:spPr>
          <a:xfrm>
            <a:off x="76200" y="76200"/>
            <a:ext cx="8915400" cy="2678113"/>
          </a:xfrm>
          <a:prstGeom prst="rect">
            <a:avLst/>
          </a:prstGeom>
          <a:noFill/>
          <a:ln w="9525">
            <a:noFill/>
          </a:ln>
        </p:spPr>
        <p:txBody>
          <a:bodyPr>
            <a:spAutoFit/>
          </a:bodyPr>
          <a:lstStyle/>
          <a:p>
            <a:pPr algn="l"/>
            <a:r>
              <a:rPr lang="en-US" altLang="zh-CN" i="0" dirty="0">
                <a:solidFill>
                  <a:schemeClr val="tx1"/>
                </a:solidFill>
                <a:latin typeface="Times New Roman" panose="02020603050405020304" pitchFamily="18" charset="0"/>
              </a:rPr>
              <a:t>        On the morning of April 2, 2001, </a:t>
            </a:r>
            <a:r>
              <a:rPr lang="en-US" altLang="zh-CN" i="0" dirty="0">
                <a:solidFill>
                  <a:schemeClr val="tx1"/>
                </a:solidFill>
                <a:latin typeface="Times New Roman" panose="02020603050405020304" pitchFamily="18" charset="0"/>
                <a:hlinkClick r:id="rId2" tooltip="Jennifer Syme"/>
              </a:rPr>
              <a:t>Jennifer</a:t>
            </a:r>
            <a:r>
              <a:rPr lang="en-US" altLang="zh-CN" i="0" dirty="0">
                <a:solidFill>
                  <a:schemeClr val="tx1"/>
                </a:solidFill>
                <a:latin typeface="Times New Roman" panose="02020603050405020304" pitchFamily="18" charset="0"/>
              </a:rPr>
              <a:t> Syme drove her 1999 </a:t>
            </a:r>
            <a:r>
              <a:rPr lang="en-US" altLang="zh-CN" i="0" dirty="0">
                <a:solidFill>
                  <a:schemeClr val="tx1"/>
                </a:solidFill>
                <a:latin typeface="Times New Roman" panose="02020603050405020304" pitchFamily="18" charset="0"/>
                <a:hlinkClick r:id="rId3" tooltip="Jeep Grand Cherokee"/>
              </a:rPr>
              <a:t>Jeep Grand Cherokee</a:t>
            </a:r>
            <a:r>
              <a:rPr lang="en-US" altLang="zh-CN" i="0" dirty="0">
                <a:solidFill>
                  <a:schemeClr val="tx1"/>
                </a:solidFill>
                <a:latin typeface="Times New Roman" panose="02020603050405020304" pitchFamily="18" charset="0"/>
              </a:rPr>
              <a:t> into a row of parked cars on Cahuenga Boulevard in Los Angeles. She was partially ejected from the vehicle and died instantly.     Syme was 28 years old.</a:t>
            </a:r>
            <a:r>
              <a:rPr lang="en-US" altLang="zh-CN" i="0" baseline="3000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rPr>
              <a:t>  Syme is buried next to her daughter, Ava Archer Reeves (stillborn in December 1999), whose father is the actor </a:t>
            </a:r>
            <a:r>
              <a:rPr lang="en-US" altLang="zh-CN" i="0" dirty="0">
                <a:solidFill>
                  <a:schemeClr val="tx1"/>
                </a:solidFill>
                <a:latin typeface="Times New Roman" panose="02020603050405020304" pitchFamily="18" charset="0"/>
                <a:hlinkClick r:id="rId4" tooltip="Keanu Reeves"/>
              </a:rPr>
              <a:t>Keanu Reeves</a:t>
            </a:r>
            <a:r>
              <a:rPr lang="en-US" altLang="zh-CN" i="0" dirty="0">
                <a:solidFill>
                  <a:schemeClr val="tx1"/>
                </a:solidFill>
                <a:latin typeface="Times New Roman" panose="02020603050405020304" pitchFamily="18" charset="0"/>
              </a:rPr>
              <a:t>, in </a:t>
            </a:r>
            <a:r>
              <a:rPr lang="en-US" altLang="zh-CN" i="0" dirty="0">
                <a:solidFill>
                  <a:schemeClr val="tx1"/>
                </a:solidFill>
                <a:latin typeface="Times New Roman" panose="02020603050405020304" pitchFamily="18" charset="0"/>
                <a:hlinkClick r:id="rId5" tooltip="Westwood Village Memorial Park Cemetery"/>
              </a:rPr>
              <a:t>Westwood Village Memorial Park Cemetery</a:t>
            </a:r>
            <a:r>
              <a:rPr lang="en-US" altLang="zh-CN" i="0" dirty="0">
                <a:solidFill>
                  <a:schemeClr val="tx1"/>
                </a:solidFill>
                <a:latin typeface="Times New Roman" panose="02020603050405020304" pitchFamily="18" charset="0"/>
              </a:rPr>
              <a:t> in Los Angeles.</a:t>
            </a:r>
            <a:endParaRPr lang="zh-CN" altLang="en-US" dirty="0">
              <a:solidFill>
                <a:schemeClr val="tx1"/>
              </a:solidFill>
              <a:latin typeface="Times New Roman" panose="02020603050405020304" pitchFamily="18" charset="0"/>
            </a:endParaRPr>
          </a:p>
        </p:txBody>
      </p:sp>
      <p:sp>
        <p:nvSpPr>
          <p:cNvPr id="49155" name="矩形 2"/>
          <p:cNvSpPr/>
          <p:nvPr/>
        </p:nvSpPr>
        <p:spPr>
          <a:xfrm>
            <a:off x="152400" y="2819400"/>
            <a:ext cx="8763000" cy="3046413"/>
          </a:xfrm>
          <a:prstGeom prst="rect">
            <a:avLst/>
          </a:prstGeom>
          <a:noFill/>
          <a:ln w="9525">
            <a:noFill/>
          </a:ln>
        </p:spPr>
        <p:txBody>
          <a:bodyPr>
            <a:spAutoFit/>
          </a:bodyPr>
          <a:lstStyle/>
          <a:p>
            <a:pPr algn="l"/>
            <a:r>
              <a:rPr lang="en-US" altLang="zh-CN" i="0" dirty="0">
                <a:solidFill>
                  <a:schemeClr val="tx1"/>
                </a:solidFill>
                <a:latin typeface="Times New Roman" panose="02020603050405020304" pitchFamily="18" charset="0"/>
              </a:rPr>
              <a:t>         Reeves set up a cancer charity, choosing not to attach his name to the organization; His sister Kim has battled </a:t>
            </a:r>
            <a:r>
              <a:rPr lang="en-US" altLang="zh-CN" i="0" dirty="0">
                <a:solidFill>
                  <a:schemeClr val="tx1"/>
                </a:solidFill>
                <a:latin typeface="Times New Roman" panose="02020603050405020304" pitchFamily="18" charset="0"/>
                <a:hlinkClick r:id="rId6" tooltip="Leukemia"/>
              </a:rPr>
              <a:t>leukemia</a:t>
            </a:r>
            <a:r>
              <a:rPr lang="en-US" altLang="zh-CN" i="0" dirty="0">
                <a:solidFill>
                  <a:schemeClr val="tx1"/>
                </a:solidFill>
                <a:latin typeface="Times New Roman" panose="02020603050405020304" pitchFamily="18" charset="0"/>
              </a:rPr>
              <a:t> for more than a decade.  Reeves is quoted as saying "Money is the last thing I think about. I could live on what I have already made for the next few centuries."It has been reported that Reeves gave approximately US$80 million of his US$114 million earnings of </a:t>
            </a:r>
            <a:r>
              <a:rPr lang="en-US" altLang="zh-CN" dirty="0">
                <a:solidFill>
                  <a:schemeClr val="tx1"/>
                </a:solidFill>
                <a:latin typeface="Times New Roman" panose="02020603050405020304" pitchFamily="18" charset="0"/>
                <a:hlinkClick r:id="rId7" tooltip="The Matrix sequels"/>
              </a:rPr>
              <a:t>The Matrix</a:t>
            </a:r>
            <a:r>
              <a:rPr lang="en-US" altLang="zh-CN" i="0" dirty="0">
                <a:solidFill>
                  <a:schemeClr val="tx1"/>
                </a:solidFill>
                <a:latin typeface="Times New Roman" panose="02020603050405020304" pitchFamily="18" charset="0"/>
              </a:rPr>
              <a:t> sequels, </a:t>
            </a:r>
            <a:r>
              <a:rPr lang="en-US" altLang="zh-CN" dirty="0">
                <a:solidFill>
                  <a:schemeClr val="tx1"/>
                </a:solidFill>
                <a:latin typeface="Times New Roman" panose="02020603050405020304" pitchFamily="18" charset="0"/>
                <a:hlinkClick r:id="rId8" tooltip="The Matrix Reloaded"/>
              </a:rPr>
              <a:t>The Matrix Reloaded</a:t>
            </a:r>
            <a:r>
              <a:rPr lang="en-US" altLang="zh-CN" i="0" dirty="0">
                <a:solidFill>
                  <a:schemeClr val="tx1"/>
                </a:solidFill>
                <a:latin typeface="Times New Roman" panose="02020603050405020304" pitchFamily="18" charset="0"/>
              </a:rPr>
              <a:t> and </a:t>
            </a:r>
            <a:r>
              <a:rPr lang="en-US" altLang="zh-CN" dirty="0">
                <a:solidFill>
                  <a:schemeClr val="tx1"/>
                </a:solidFill>
                <a:latin typeface="Times New Roman" panose="02020603050405020304" pitchFamily="18" charset="0"/>
                <a:hlinkClick r:id="rId9" tooltip="The Matrix Revolutions"/>
              </a:rPr>
              <a:t>The Matrix Revolutions</a:t>
            </a:r>
            <a:r>
              <a:rPr lang="en-US" altLang="zh-CN" i="0" dirty="0">
                <a:solidFill>
                  <a:schemeClr val="tx1"/>
                </a:solidFill>
                <a:latin typeface="Times New Roman" panose="02020603050405020304" pitchFamily="18" charset="0"/>
              </a:rPr>
              <a:t>, to the special effects and makeup staff.</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12" name="Text Box 8"/>
          <p:cNvSpPr txBox="1"/>
          <p:nvPr/>
        </p:nvSpPr>
        <p:spPr>
          <a:xfrm>
            <a:off x="1752600" y="0"/>
            <a:ext cx="3733800" cy="685800"/>
          </a:xfrm>
          <a:prstGeom prst="rect">
            <a:avLst/>
          </a:prstGeom>
          <a:noFill/>
          <a:ln w="12700">
            <a:noFill/>
          </a:ln>
        </p:spPr>
        <p:txBody>
          <a:bodyPr>
            <a:spAutoFit/>
          </a:bodyPr>
          <a:lstStyle/>
          <a:p>
            <a:pPr eaLnBrk="0" hangingPunct="0">
              <a:lnSpc>
                <a:spcPct val="130000"/>
              </a:lnSpc>
            </a:pPr>
            <a:r>
              <a:rPr lang="zh-CN" altLang="en-US" sz="3000" i="0" dirty="0">
                <a:solidFill>
                  <a:srgbClr val="CC3300"/>
                </a:solidFill>
                <a:latin typeface="Times New Roman" panose="02020603050405020304" pitchFamily="18" charset="0"/>
              </a:rPr>
              <a:t>二 、杂化形式</a:t>
            </a:r>
            <a:endParaRPr lang="zh-CN" altLang="en-US" sz="3000" i="0" baseline="30000" dirty="0">
              <a:solidFill>
                <a:srgbClr val="CC3300"/>
              </a:solidFill>
              <a:latin typeface="Times New Roman" panose="02020603050405020304" pitchFamily="18" charset="0"/>
            </a:endParaRPr>
          </a:p>
        </p:txBody>
      </p:sp>
      <p:grpSp>
        <p:nvGrpSpPr>
          <p:cNvPr id="2" name="组合 49"/>
          <p:cNvGrpSpPr/>
          <p:nvPr/>
        </p:nvGrpSpPr>
        <p:grpSpPr>
          <a:xfrm>
            <a:off x="304800" y="762000"/>
            <a:ext cx="8610600" cy="5464175"/>
            <a:chOff x="0" y="762000"/>
            <a:chExt cx="8610600" cy="5464552"/>
          </a:xfrm>
        </p:grpSpPr>
        <p:sp>
          <p:nvSpPr>
            <p:cNvPr id="6149" name="Rectangle 9"/>
            <p:cNvSpPr/>
            <p:nvPr/>
          </p:nvSpPr>
          <p:spPr>
            <a:xfrm>
              <a:off x="0" y="762000"/>
              <a:ext cx="4572000" cy="556563"/>
            </a:xfrm>
            <a:prstGeom prst="rect">
              <a:avLst/>
            </a:prstGeom>
            <a:noFill/>
            <a:ln w="9525">
              <a:noFill/>
            </a:ln>
          </p:spPr>
          <p:txBody>
            <a:bodyPr>
              <a:spAutoFit/>
            </a:bodyPr>
            <a:lstStyle/>
            <a:p>
              <a:pPr algn="l" eaLnBrk="0" hangingPunct="0">
                <a:lnSpc>
                  <a:spcPct val="130000"/>
                </a:lnSpc>
              </a:pPr>
              <a:r>
                <a:rPr lang="en-US" altLang="zh-CN" sz="2600" dirty="0">
                  <a:solidFill>
                    <a:srgbClr val="0000FF"/>
                  </a:solidFill>
                  <a:latin typeface="Times New Roman" panose="02020603050405020304" pitchFamily="18" charset="0"/>
                </a:rPr>
                <a:t>1</a:t>
              </a:r>
              <a:r>
                <a:rPr lang="zh-CN" altLang="en-US" sz="2600" dirty="0">
                  <a:solidFill>
                    <a:srgbClr val="0000FF"/>
                  </a:solidFill>
                  <a:latin typeface="Times New Roman" panose="02020603050405020304" pitchFamily="18" charset="0"/>
                </a:rPr>
                <a:t>、   </a:t>
              </a:r>
              <a:r>
                <a:rPr lang="en-US" altLang="zh-CN" sz="2600" dirty="0">
                  <a:solidFill>
                    <a:srgbClr val="0000FF"/>
                  </a:solidFill>
                  <a:latin typeface="Times New Roman" panose="02020603050405020304" pitchFamily="18" charset="0"/>
                </a:rPr>
                <a:t>sp</a:t>
              </a:r>
              <a:r>
                <a:rPr lang="en-US" altLang="zh-CN" sz="2600" baseline="30000" dirty="0">
                  <a:solidFill>
                    <a:srgbClr val="0000FF"/>
                  </a:solidFill>
                  <a:latin typeface="Times New Roman" panose="02020603050405020304" pitchFamily="18" charset="0"/>
                </a:rPr>
                <a:t>3</a:t>
              </a:r>
              <a:r>
                <a:rPr lang="zh-CN" altLang="en-US" sz="2600" dirty="0">
                  <a:solidFill>
                    <a:srgbClr val="0000FF"/>
                  </a:solidFill>
                  <a:latin typeface="Times New Roman" panose="02020603050405020304" pitchFamily="18" charset="0"/>
                </a:rPr>
                <a:t>杂化  </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以</a:t>
              </a:r>
              <a:r>
                <a:rPr lang="en-US" altLang="zh-CN" sz="2600" dirty="0">
                  <a:solidFill>
                    <a:srgbClr val="0000FF"/>
                  </a:solidFill>
                  <a:latin typeface="Times New Roman" panose="02020603050405020304" pitchFamily="18" charset="0"/>
                </a:rPr>
                <a:t>CH</a:t>
              </a:r>
              <a:r>
                <a:rPr lang="en-US" altLang="zh-CN" sz="2600" baseline="-25000" dirty="0">
                  <a:solidFill>
                    <a:srgbClr val="0000FF"/>
                  </a:solidFill>
                  <a:latin typeface="Times New Roman" panose="02020603050405020304" pitchFamily="18" charset="0"/>
                </a:rPr>
                <a:t>4</a:t>
              </a:r>
              <a:r>
                <a:rPr lang="zh-CN" altLang="en-US" sz="2600" dirty="0">
                  <a:solidFill>
                    <a:srgbClr val="0000FF"/>
                  </a:solidFill>
                  <a:latin typeface="Times New Roman" panose="02020603050405020304" pitchFamily="18" charset="0"/>
                </a:rPr>
                <a:t>为例</a:t>
              </a:r>
              <a:r>
                <a:rPr lang="en-US" altLang="zh-CN" sz="2600" dirty="0">
                  <a:solidFill>
                    <a:srgbClr val="0000FF"/>
                  </a:solidFill>
                  <a:latin typeface="Times New Roman" panose="02020603050405020304" pitchFamily="18" charset="0"/>
                </a:rPr>
                <a:t>)</a:t>
              </a:r>
            </a:p>
          </p:txBody>
        </p:sp>
        <p:grpSp>
          <p:nvGrpSpPr>
            <p:cNvPr id="6150" name="Group 12"/>
            <p:cNvGrpSpPr/>
            <p:nvPr/>
          </p:nvGrpSpPr>
          <p:grpSpPr>
            <a:xfrm>
              <a:off x="6019800" y="1524000"/>
              <a:ext cx="2252663" cy="1401763"/>
              <a:chOff x="2390" y="950"/>
              <a:chExt cx="1210" cy="770"/>
            </a:xfrm>
          </p:grpSpPr>
          <p:sp>
            <p:nvSpPr>
              <p:cNvPr id="6185" name="Rectangle 13"/>
              <p:cNvSpPr/>
              <p:nvPr/>
            </p:nvSpPr>
            <p:spPr>
              <a:xfrm>
                <a:off x="3036" y="950"/>
                <a:ext cx="372" cy="269"/>
              </a:xfrm>
              <a:prstGeom prst="rect">
                <a:avLst/>
              </a:prstGeom>
              <a:solidFill>
                <a:srgbClr val="339966"/>
              </a:solidFill>
              <a:ln w="12700">
                <a:noFill/>
              </a:ln>
            </p:spPr>
            <p:txBody>
              <a:bodyPr>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a:t>
                </a:r>
                <a:r>
                  <a:rPr lang="en-US" altLang="zh-CN" sz="2600" dirty="0">
                    <a:solidFill>
                      <a:schemeClr val="tx1"/>
                    </a:solidFill>
                    <a:latin typeface="Times New Roman" panose="02020603050405020304" pitchFamily="18" charset="0"/>
                    <a:ea typeface="宋体" panose="02010600030101010101" pitchFamily="2" charset="-122"/>
                  </a:rPr>
                  <a:t>p</a:t>
                </a:r>
              </a:p>
            </p:txBody>
          </p:sp>
          <p:sp>
            <p:nvSpPr>
              <p:cNvPr id="6186" name="Oval 14"/>
              <p:cNvSpPr/>
              <p:nvPr/>
            </p:nvSpPr>
            <p:spPr>
              <a:xfrm>
                <a:off x="2709" y="1208"/>
                <a:ext cx="297" cy="273"/>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87" name="Oval 15"/>
              <p:cNvSpPr/>
              <p:nvPr/>
            </p:nvSpPr>
            <p:spPr>
              <a:xfrm>
                <a:off x="2390" y="1447"/>
                <a:ext cx="296" cy="273"/>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88" name="Oval 16"/>
              <p:cNvSpPr/>
              <p:nvPr/>
            </p:nvSpPr>
            <p:spPr>
              <a:xfrm>
                <a:off x="3006" y="1208"/>
                <a:ext cx="297" cy="273"/>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89" name="Oval 17"/>
              <p:cNvSpPr/>
              <p:nvPr/>
            </p:nvSpPr>
            <p:spPr>
              <a:xfrm>
                <a:off x="3303" y="1208"/>
                <a:ext cx="297" cy="273"/>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90" name="Line 18"/>
              <p:cNvSpPr/>
              <p:nvPr/>
            </p:nvSpPr>
            <p:spPr>
              <a:xfrm flipV="1">
                <a:off x="3451" y="1276"/>
                <a:ext cx="0" cy="171"/>
              </a:xfrm>
              <a:prstGeom prst="line">
                <a:avLst/>
              </a:prstGeom>
              <a:ln w="9525" cap="flat" cmpd="sng">
                <a:solidFill>
                  <a:schemeClr val="tx1"/>
                </a:solidFill>
                <a:prstDash val="solid"/>
                <a:headEnd type="none" w="med" len="med"/>
                <a:tailEnd type="triangle" w="med" len="med"/>
              </a:ln>
            </p:spPr>
          </p:sp>
          <p:sp>
            <p:nvSpPr>
              <p:cNvPr id="6191" name="Line 19"/>
              <p:cNvSpPr/>
              <p:nvPr/>
            </p:nvSpPr>
            <p:spPr>
              <a:xfrm flipV="1">
                <a:off x="3154" y="1276"/>
                <a:ext cx="0" cy="171"/>
              </a:xfrm>
              <a:prstGeom prst="line">
                <a:avLst/>
              </a:prstGeom>
              <a:ln w="9525" cap="flat" cmpd="sng">
                <a:solidFill>
                  <a:schemeClr val="tx1"/>
                </a:solidFill>
                <a:prstDash val="solid"/>
                <a:headEnd type="none" w="med" len="med"/>
                <a:tailEnd type="triangle" w="med" len="med"/>
              </a:ln>
            </p:spPr>
          </p:sp>
          <p:sp>
            <p:nvSpPr>
              <p:cNvPr id="6192" name="Line 20"/>
              <p:cNvSpPr/>
              <p:nvPr/>
            </p:nvSpPr>
            <p:spPr>
              <a:xfrm flipV="1">
                <a:off x="2857" y="1276"/>
                <a:ext cx="0" cy="171"/>
              </a:xfrm>
              <a:prstGeom prst="line">
                <a:avLst/>
              </a:prstGeom>
              <a:ln w="9525" cap="flat" cmpd="sng">
                <a:solidFill>
                  <a:schemeClr val="tx1"/>
                </a:solidFill>
                <a:prstDash val="solid"/>
                <a:headEnd type="none" w="med" len="med"/>
                <a:tailEnd type="triangle" w="med" len="med"/>
              </a:ln>
            </p:spPr>
          </p:sp>
          <p:sp>
            <p:nvSpPr>
              <p:cNvPr id="6193" name="Line 21"/>
              <p:cNvSpPr/>
              <p:nvPr/>
            </p:nvSpPr>
            <p:spPr>
              <a:xfrm flipV="1">
                <a:off x="2538" y="1515"/>
                <a:ext cx="0" cy="171"/>
              </a:xfrm>
              <a:prstGeom prst="line">
                <a:avLst/>
              </a:prstGeom>
              <a:ln w="9525" cap="flat" cmpd="sng">
                <a:solidFill>
                  <a:schemeClr val="tx1"/>
                </a:solidFill>
                <a:prstDash val="solid"/>
                <a:headEnd type="none" w="med" len="med"/>
                <a:tailEnd type="triangle" w="med" len="med"/>
              </a:ln>
            </p:spPr>
          </p:sp>
          <p:sp>
            <p:nvSpPr>
              <p:cNvPr id="6194" name="Rectangle 22"/>
              <p:cNvSpPr/>
              <p:nvPr/>
            </p:nvSpPr>
            <p:spPr>
              <a:xfrm>
                <a:off x="2400" y="1207"/>
                <a:ext cx="257" cy="269"/>
              </a:xfrm>
              <a:prstGeom prst="rect">
                <a:avLst/>
              </a:prstGeom>
              <a:solidFill>
                <a:srgbClr val="339966"/>
              </a:solid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a:t>
                </a:r>
                <a:r>
                  <a:rPr lang="en-US" altLang="zh-CN" sz="2600" dirty="0">
                    <a:solidFill>
                      <a:schemeClr val="tx1"/>
                    </a:solidFill>
                    <a:latin typeface="Times New Roman" panose="02020603050405020304" pitchFamily="18" charset="0"/>
                    <a:ea typeface="宋体" panose="02010600030101010101" pitchFamily="2" charset="-122"/>
                  </a:rPr>
                  <a:t>s</a:t>
                </a:r>
              </a:p>
            </p:txBody>
          </p:sp>
        </p:grpSp>
        <p:grpSp>
          <p:nvGrpSpPr>
            <p:cNvPr id="6151" name="Group 113"/>
            <p:cNvGrpSpPr/>
            <p:nvPr/>
          </p:nvGrpSpPr>
          <p:grpSpPr>
            <a:xfrm>
              <a:off x="815975" y="1455738"/>
              <a:ext cx="2192338" cy="1458912"/>
              <a:chOff x="514" y="917"/>
              <a:chExt cx="1381" cy="919"/>
            </a:xfrm>
          </p:grpSpPr>
          <p:sp>
            <p:nvSpPr>
              <p:cNvPr id="6172" name="Oval 23"/>
              <p:cNvSpPr/>
              <p:nvPr/>
            </p:nvSpPr>
            <p:spPr>
              <a:xfrm>
                <a:off x="1548" y="1248"/>
                <a:ext cx="347" cy="31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73" name="Oval 24"/>
              <p:cNvSpPr/>
              <p:nvPr/>
            </p:nvSpPr>
            <p:spPr>
              <a:xfrm>
                <a:off x="1200" y="1248"/>
                <a:ext cx="348" cy="31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74" name="Oval 25"/>
              <p:cNvSpPr/>
              <p:nvPr/>
            </p:nvSpPr>
            <p:spPr>
              <a:xfrm>
                <a:off x="852" y="1248"/>
                <a:ext cx="348" cy="31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75" name="Line 26"/>
              <p:cNvSpPr/>
              <p:nvPr/>
            </p:nvSpPr>
            <p:spPr>
              <a:xfrm flipV="1">
                <a:off x="1025" y="1287"/>
                <a:ext cx="1" cy="197"/>
              </a:xfrm>
              <a:prstGeom prst="line">
                <a:avLst/>
              </a:prstGeom>
              <a:ln w="9525" cap="flat" cmpd="sng">
                <a:solidFill>
                  <a:schemeClr val="tx1"/>
                </a:solidFill>
                <a:prstDash val="solid"/>
                <a:headEnd type="none" w="med" len="med"/>
                <a:tailEnd type="triangle" w="med" len="med"/>
              </a:ln>
            </p:spPr>
          </p:sp>
          <p:sp>
            <p:nvSpPr>
              <p:cNvPr id="6176" name="Line 27"/>
              <p:cNvSpPr/>
              <p:nvPr/>
            </p:nvSpPr>
            <p:spPr>
              <a:xfrm flipV="1">
                <a:off x="1373" y="1287"/>
                <a:ext cx="2" cy="197"/>
              </a:xfrm>
              <a:prstGeom prst="line">
                <a:avLst/>
              </a:prstGeom>
              <a:ln w="9525" cap="flat" cmpd="sng">
                <a:solidFill>
                  <a:schemeClr val="tx1"/>
                </a:solidFill>
                <a:prstDash val="solid"/>
                <a:headEnd type="none" w="med" len="med"/>
                <a:tailEnd type="triangle" w="med" len="med"/>
              </a:ln>
            </p:spPr>
          </p:sp>
          <p:sp>
            <p:nvSpPr>
              <p:cNvPr id="6177" name="Line 28"/>
              <p:cNvSpPr/>
              <p:nvPr/>
            </p:nvSpPr>
            <p:spPr>
              <a:xfrm flipV="1">
                <a:off x="896" y="1560"/>
                <a:ext cx="730" cy="156"/>
              </a:xfrm>
              <a:prstGeom prst="line">
                <a:avLst/>
              </a:prstGeom>
              <a:ln w="38100" cap="flat" cmpd="sng">
                <a:solidFill>
                  <a:srgbClr val="FF3300"/>
                </a:solidFill>
                <a:prstDash val="dash"/>
                <a:headEnd type="none" w="med" len="med"/>
                <a:tailEnd type="triangle" w="med" len="med"/>
              </a:ln>
            </p:spPr>
          </p:sp>
          <p:graphicFrame>
            <p:nvGraphicFramePr>
              <p:cNvPr id="6146" name="Object 29"/>
              <p:cNvGraphicFramePr>
                <a:graphicFrameLocks/>
              </p:cNvGraphicFramePr>
              <p:nvPr/>
            </p:nvGraphicFramePr>
            <p:xfrm>
              <a:off x="732" y="1133"/>
              <a:ext cx="258" cy="427"/>
            </p:xfrm>
            <a:graphic>
              <a:graphicData uri="http://schemas.openxmlformats.org/presentationml/2006/ole">
                <p:oleObj spid="_x0000_s30721" r:id="rId4" imgW="114102" imgH="215526" progId="Equation.3">
                  <p:embed/>
                </p:oleObj>
              </a:graphicData>
            </a:graphic>
          </p:graphicFrame>
          <p:sp>
            <p:nvSpPr>
              <p:cNvPr id="6178" name="Text Box 30"/>
              <p:cNvSpPr txBox="1"/>
              <p:nvPr/>
            </p:nvSpPr>
            <p:spPr>
              <a:xfrm>
                <a:off x="750" y="1208"/>
                <a:ext cx="116" cy="310"/>
              </a:xfrm>
              <a:prstGeom prst="rect">
                <a:avLst/>
              </a:prstGeom>
              <a:noFill/>
              <a:ln w="12700">
                <a:noFill/>
              </a:ln>
            </p:spPr>
            <p:txBody>
              <a:bodyPr wrap="none">
                <a:spAutoFit/>
              </a:bodyPr>
              <a:lstStyle/>
              <a:p>
                <a:pPr algn="l" eaLnBrk="0" hangingPunct="0"/>
                <a:endParaRPr lang="zh-CN" altLang="zh-CN" sz="2600" i="0" dirty="0">
                  <a:solidFill>
                    <a:schemeClr val="tx1"/>
                  </a:solidFill>
                  <a:latin typeface="Times New Roman" panose="02020603050405020304" pitchFamily="18" charset="0"/>
                  <a:ea typeface="宋体" panose="02010600030101010101" pitchFamily="2" charset="-122"/>
                </a:endParaRPr>
              </a:p>
            </p:txBody>
          </p:sp>
          <p:grpSp>
            <p:nvGrpSpPr>
              <p:cNvPr id="6179" name="Group 31"/>
              <p:cNvGrpSpPr/>
              <p:nvPr/>
            </p:nvGrpSpPr>
            <p:grpSpPr>
              <a:xfrm>
                <a:off x="514" y="1235"/>
                <a:ext cx="348" cy="601"/>
                <a:chOff x="864" y="1196"/>
                <a:chExt cx="297" cy="524"/>
              </a:xfrm>
            </p:grpSpPr>
            <p:sp>
              <p:nvSpPr>
                <p:cNvPr id="6181" name="Oval 32"/>
                <p:cNvSpPr/>
                <p:nvPr/>
              </p:nvSpPr>
              <p:spPr>
                <a:xfrm>
                  <a:off x="864" y="1447"/>
                  <a:ext cx="297" cy="27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82" name="Line 33"/>
                <p:cNvSpPr/>
                <p:nvPr/>
              </p:nvSpPr>
              <p:spPr>
                <a:xfrm flipV="1">
                  <a:off x="981" y="1515"/>
                  <a:ext cx="0" cy="171"/>
                </a:xfrm>
                <a:prstGeom prst="line">
                  <a:avLst/>
                </a:prstGeom>
                <a:ln w="9525" cap="flat" cmpd="sng">
                  <a:solidFill>
                    <a:schemeClr val="tx1"/>
                  </a:solidFill>
                  <a:prstDash val="solid"/>
                  <a:headEnd type="none" w="med" len="med"/>
                  <a:tailEnd type="triangle" w="med" len="med"/>
                </a:ln>
              </p:spPr>
            </p:sp>
            <p:sp>
              <p:nvSpPr>
                <p:cNvPr id="6183" name="Line 34"/>
                <p:cNvSpPr/>
                <p:nvPr/>
              </p:nvSpPr>
              <p:spPr>
                <a:xfrm>
                  <a:off x="1056" y="1515"/>
                  <a:ext cx="0" cy="171"/>
                </a:xfrm>
                <a:prstGeom prst="line">
                  <a:avLst/>
                </a:prstGeom>
                <a:ln w="9525" cap="flat" cmpd="sng">
                  <a:solidFill>
                    <a:schemeClr val="tx1"/>
                  </a:solidFill>
                  <a:prstDash val="solid"/>
                  <a:headEnd type="none" w="med" len="med"/>
                  <a:tailEnd type="triangle" w="med" len="med"/>
                </a:ln>
              </p:spPr>
            </p:sp>
            <p:sp>
              <p:nvSpPr>
                <p:cNvPr id="6184" name="Rectangle 35"/>
                <p:cNvSpPr/>
                <p:nvPr/>
              </p:nvSpPr>
              <p:spPr>
                <a:xfrm>
                  <a:off x="864" y="1196"/>
                  <a:ext cx="257" cy="269"/>
                </a:xfrm>
                <a:prstGeom prst="rect">
                  <a:avLst/>
                </a:prstGeom>
                <a:no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2s</a:t>
                  </a:r>
                </a:p>
              </p:txBody>
            </p:sp>
          </p:grpSp>
          <p:sp>
            <p:nvSpPr>
              <p:cNvPr id="6180" name="Rectangle 36"/>
              <p:cNvSpPr/>
              <p:nvPr/>
            </p:nvSpPr>
            <p:spPr>
              <a:xfrm>
                <a:off x="1244" y="917"/>
                <a:ext cx="324" cy="309"/>
              </a:xfrm>
              <a:prstGeom prst="rect">
                <a:avLst/>
              </a:prstGeom>
              <a:no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a:t>
                </a:r>
                <a:r>
                  <a:rPr lang="en-US" altLang="zh-CN" sz="2600" dirty="0">
                    <a:solidFill>
                      <a:schemeClr val="tx1"/>
                    </a:solidFill>
                    <a:latin typeface="Times New Roman" panose="02020603050405020304" pitchFamily="18" charset="0"/>
                    <a:ea typeface="宋体" panose="02010600030101010101" pitchFamily="2" charset="-122"/>
                  </a:rPr>
                  <a:t>p</a:t>
                </a:r>
              </a:p>
            </p:txBody>
          </p:sp>
        </p:grpSp>
        <p:grpSp>
          <p:nvGrpSpPr>
            <p:cNvPr id="6152" name="Group 37"/>
            <p:cNvGrpSpPr/>
            <p:nvPr/>
          </p:nvGrpSpPr>
          <p:grpSpPr>
            <a:xfrm>
              <a:off x="5715000" y="3124200"/>
              <a:ext cx="2211388" cy="1016000"/>
              <a:chOff x="3948" y="1091"/>
              <a:chExt cx="1188" cy="561"/>
            </a:xfrm>
          </p:grpSpPr>
          <p:sp>
            <p:nvSpPr>
              <p:cNvPr id="6163" name="Oval 38"/>
              <p:cNvSpPr/>
              <p:nvPr/>
            </p:nvSpPr>
            <p:spPr>
              <a:xfrm>
                <a:off x="4542" y="1346"/>
                <a:ext cx="297" cy="306"/>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64" name="Oval 39"/>
              <p:cNvSpPr/>
              <p:nvPr/>
            </p:nvSpPr>
            <p:spPr>
              <a:xfrm>
                <a:off x="4245" y="1346"/>
                <a:ext cx="297" cy="306"/>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65" name="Oval 40"/>
              <p:cNvSpPr/>
              <p:nvPr/>
            </p:nvSpPr>
            <p:spPr>
              <a:xfrm>
                <a:off x="4839" y="1346"/>
                <a:ext cx="297" cy="306"/>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66" name="Oval 41"/>
              <p:cNvSpPr/>
              <p:nvPr/>
            </p:nvSpPr>
            <p:spPr>
              <a:xfrm>
                <a:off x="3948" y="1346"/>
                <a:ext cx="297" cy="306"/>
              </a:xfrm>
              <a:prstGeom prst="ellipse">
                <a:avLst/>
              </a:prstGeom>
              <a:solidFill>
                <a:srgbClr val="339966"/>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6167" name="Line 42"/>
              <p:cNvSpPr/>
              <p:nvPr/>
            </p:nvSpPr>
            <p:spPr>
              <a:xfrm flipV="1">
                <a:off x="4988" y="1426"/>
                <a:ext cx="1" cy="192"/>
              </a:xfrm>
              <a:prstGeom prst="line">
                <a:avLst/>
              </a:prstGeom>
              <a:ln w="9525" cap="flat" cmpd="sng">
                <a:solidFill>
                  <a:schemeClr val="tx1"/>
                </a:solidFill>
                <a:prstDash val="solid"/>
                <a:headEnd type="none" w="med" len="med"/>
                <a:tailEnd type="triangle" w="med" len="med"/>
              </a:ln>
            </p:spPr>
          </p:sp>
          <p:sp>
            <p:nvSpPr>
              <p:cNvPr id="6168" name="Line 43"/>
              <p:cNvSpPr/>
              <p:nvPr/>
            </p:nvSpPr>
            <p:spPr>
              <a:xfrm flipV="1">
                <a:off x="4394" y="1426"/>
                <a:ext cx="1" cy="192"/>
              </a:xfrm>
              <a:prstGeom prst="line">
                <a:avLst/>
              </a:prstGeom>
              <a:ln w="9525" cap="flat" cmpd="sng">
                <a:solidFill>
                  <a:schemeClr val="tx1"/>
                </a:solidFill>
                <a:prstDash val="solid"/>
                <a:headEnd type="none" w="med" len="med"/>
                <a:tailEnd type="triangle" w="med" len="med"/>
              </a:ln>
            </p:spPr>
          </p:sp>
          <p:sp>
            <p:nvSpPr>
              <p:cNvPr id="6169" name="Line 44"/>
              <p:cNvSpPr/>
              <p:nvPr/>
            </p:nvSpPr>
            <p:spPr>
              <a:xfrm flipV="1">
                <a:off x="4097" y="1426"/>
                <a:ext cx="1" cy="192"/>
              </a:xfrm>
              <a:prstGeom prst="line">
                <a:avLst/>
              </a:prstGeom>
              <a:ln w="9525" cap="flat" cmpd="sng">
                <a:solidFill>
                  <a:schemeClr val="tx1"/>
                </a:solidFill>
                <a:prstDash val="solid"/>
                <a:headEnd type="none" w="med" len="med"/>
                <a:tailEnd type="triangle" w="med" len="med"/>
              </a:ln>
            </p:spPr>
          </p:sp>
          <p:sp>
            <p:nvSpPr>
              <p:cNvPr id="6170" name="Line 45"/>
              <p:cNvSpPr/>
              <p:nvPr/>
            </p:nvSpPr>
            <p:spPr>
              <a:xfrm flipV="1">
                <a:off x="4691" y="1426"/>
                <a:ext cx="1" cy="192"/>
              </a:xfrm>
              <a:prstGeom prst="line">
                <a:avLst/>
              </a:prstGeom>
              <a:ln w="9525" cap="flat" cmpd="sng">
                <a:solidFill>
                  <a:schemeClr val="tx1"/>
                </a:solidFill>
                <a:prstDash val="solid"/>
                <a:headEnd type="none" w="med" len="med"/>
                <a:tailEnd type="triangle" w="med" len="med"/>
              </a:ln>
            </p:spPr>
          </p:sp>
          <p:sp>
            <p:nvSpPr>
              <p:cNvPr id="6171" name="Rectangle 46"/>
              <p:cNvSpPr/>
              <p:nvPr/>
            </p:nvSpPr>
            <p:spPr>
              <a:xfrm>
                <a:off x="4370" y="1091"/>
                <a:ext cx="401" cy="270"/>
              </a:xfrm>
              <a:prstGeom prst="rect">
                <a:avLst/>
              </a:prstGeom>
              <a:solidFill>
                <a:srgbClr val="339966"/>
              </a:solidFill>
              <a:ln w="12700">
                <a:noFill/>
              </a:ln>
            </p:spPr>
            <p:txBody>
              <a:bodyPr>
                <a:spAutoFit/>
              </a:bodyPr>
              <a:lstStyle/>
              <a:p>
                <a:pPr algn="l" eaLnBrk="0" hangingPunct="0"/>
                <a:r>
                  <a:rPr lang="en-US" altLang="zh-CN" sz="2600" dirty="0">
                    <a:solidFill>
                      <a:schemeClr val="tx1"/>
                    </a:solidFill>
                    <a:latin typeface="Times New Roman" panose="02020603050405020304" pitchFamily="18" charset="0"/>
                    <a:ea typeface="宋体" panose="02010600030101010101" pitchFamily="2" charset="-122"/>
                  </a:rPr>
                  <a:t>sp</a:t>
                </a:r>
                <a:r>
                  <a:rPr lang="en-US" altLang="zh-CN" sz="2600" i="0" baseline="30000" dirty="0">
                    <a:solidFill>
                      <a:schemeClr val="tx1"/>
                    </a:solidFill>
                    <a:latin typeface="Times New Roman" panose="02020603050405020304" pitchFamily="18" charset="0"/>
                    <a:ea typeface="宋体" panose="02010600030101010101" pitchFamily="2" charset="-122"/>
                  </a:rPr>
                  <a:t>3</a:t>
                </a:r>
              </a:p>
            </p:txBody>
          </p:sp>
        </p:grpSp>
        <p:sp>
          <p:nvSpPr>
            <p:cNvPr id="6153" name="Text Box 47"/>
            <p:cNvSpPr txBox="1"/>
            <p:nvPr/>
          </p:nvSpPr>
          <p:spPr>
            <a:xfrm>
              <a:off x="5105400" y="4495800"/>
              <a:ext cx="3505200" cy="492443"/>
            </a:xfrm>
            <a:prstGeom prst="rect">
              <a:avLst/>
            </a:prstGeom>
            <a:noFill/>
            <a:ln w="9525">
              <a:noFill/>
            </a:ln>
          </p:spPr>
          <p:txBody>
            <a:bodyPr>
              <a:spAutoFit/>
            </a:bodyPr>
            <a:lstStyle/>
            <a:p>
              <a:pPr>
                <a:spcBef>
                  <a:spcPct val="50000"/>
                </a:spcBef>
              </a:pPr>
              <a:r>
                <a:rPr lang="zh-CN" altLang="en-US" sz="2600" dirty="0">
                  <a:solidFill>
                    <a:schemeClr val="tx1"/>
                  </a:solidFill>
                  <a:latin typeface="Times New Roman" panose="02020603050405020304" pitchFamily="18" charset="0"/>
                </a:rPr>
                <a:t>四个 </a:t>
              </a:r>
              <a:r>
                <a:rPr lang="en-US" altLang="zh-CN" sz="2600" dirty="0">
                  <a:solidFill>
                    <a:schemeClr val="tx1"/>
                  </a:solidFill>
                  <a:latin typeface="Times New Roman" panose="02020603050405020304" pitchFamily="18" charset="0"/>
                </a:rPr>
                <a:t>sp</a:t>
              </a:r>
              <a:r>
                <a:rPr lang="en-US" altLang="zh-CN" sz="2600" baseline="30000" dirty="0">
                  <a:solidFill>
                    <a:schemeClr val="tx1"/>
                  </a:solidFill>
                  <a:latin typeface="Times New Roman" panose="02020603050405020304" pitchFamily="18" charset="0"/>
                </a:rPr>
                <a:t>3 </a:t>
              </a:r>
              <a:r>
                <a:rPr lang="zh-CN" altLang="en-US" sz="2600" dirty="0">
                  <a:solidFill>
                    <a:schemeClr val="tx1"/>
                  </a:solidFill>
                  <a:latin typeface="Times New Roman" panose="02020603050405020304" pitchFamily="18" charset="0"/>
                </a:rPr>
                <a:t>杂化轨道</a:t>
              </a:r>
            </a:p>
          </p:txBody>
        </p:sp>
        <p:grpSp>
          <p:nvGrpSpPr>
            <p:cNvPr id="6154" name="Group 114"/>
            <p:cNvGrpSpPr/>
            <p:nvPr/>
          </p:nvGrpSpPr>
          <p:grpSpPr>
            <a:xfrm>
              <a:off x="3352800" y="1752600"/>
              <a:ext cx="2133600" cy="533400"/>
              <a:chOff x="2112" y="1104"/>
              <a:chExt cx="1344" cy="336"/>
            </a:xfrm>
          </p:grpSpPr>
          <p:sp>
            <p:nvSpPr>
              <p:cNvPr id="6161" name="Line 48"/>
              <p:cNvSpPr/>
              <p:nvPr/>
            </p:nvSpPr>
            <p:spPr>
              <a:xfrm>
                <a:off x="2112" y="1440"/>
                <a:ext cx="1344" cy="0"/>
              </a:xfrm>
              <a:prstGeom prst="line">
                <a:avLst/>
              </a:prstGeom>
              <a:ln w="9525" cap="flat" cmpd="sng">
                <a:solidFill>
                  <a:schemeClr val="tx1"/>
                </a:solidFill>
                <a:prstDash val="solid"/>
                <a:headEnd type="none" w="med" len="med"/>
                <a:tailEnd type="triangle" w="med" len="med"/>
              </a:ln>
            </p:spPr>
          </p:sp>
          <p:sp>
            <p:nvSpPr>
              <p:cNvPr id="6162" name="Rectangle 49"/>
              <p:cNvSpPr/>
              <p:nvPr/>
            </p:nvSpPr>
            <p:spPr>
              <a:xfrm>
                <a:off x="2352" y="1104"/>
                <a:ext cx="732" cy="310"/>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激发</a:t>
                </a:r>
              </a:p>
            </p:txBody>
          </p:sp>
        </p:grpSp>
        <p:grpSp>
          <p:nvGrpSpPr>
            <p:cNvPr id="6155" name="Group 115"/>
            <p:cNvGrpSpPr/>
            <p:nvPr/>
          </p:nvGrpSpPr>
          <p:grpSpPr>
            <a:xfrm>
              <a:off x="3429000" y="3200400"/>
              <a:ext cx="2133600" cy="609600"/>
              <a:chOff x="2160" y="2016"/>
              <a:chExt cx="1344" cy="384"/>
            </a:xfrm>
          </p:grpSpPr>
          <p:sp>
            <p:nvSpPr>
              <p:cNvPr id="6159" name="Rectangle 50"/>
              <p:cNvSpPr/>
              <p:nvPr/>
            </p:nvSpPr>
            <p:spPr>
              <a:xfrm>
                <a:off x="2544" y="2016"/>
                <a:ext cx="664" cy="310"/>
              </a:xfrm>
              <a:prstGeom prst="rect">
                <a:avLst/>
              </a:prstGeom>
              <a:noFill/>
              <a:ln w="9525">
                <a:noFill/>
              </a:ln>
            </p:spPr>
            <p:txBody>
              <a:bodyPr>
                <a:spAutoFit/>
              </a:bodyPr>
              <a:lstStyle/>
              <a:p>
                <a:pPr algn="l" eaLnBrk="0" hangingPunct="0"/>
                <a:r>
                  <a:rPr lang="zh-CN" altLang="en-US" sz="2600" i="0" dirty="0">
                    <a:solidFill>
                      <a:schemeClr val="tx1"/>
                    </a:solidFill>
                    <a:latin typeface="Times New Roman" panose="02020603050405020304" pitchFamily="18" charset="0"/>
                  </a:rPr>
                  <a:t>杂化</a:t>
                </a:r>
              </a:p>
            </p:txBody>
          </p:sp>
          <p:sp>
            <p:nvSpPr>
              <p:cNvPr id="6160" name="Line 51"/>
              <p:cNvSpPr/>
              <p:nvPr/>
            </p:nvSpPr>
            <p:spPr>
              <a:xfrm>
                <a:off x="2160" y="2400"/>
                <a:ext cx="1344" cy="0"/>
              </a:xfrm>
              <a:prstGeom prst="line">
                <a:avLst/>
              </a:prstGeom>
              <a:ln w="9525" cap="flat" cmpd="sng">
                <a:solidFill>
                  <a:schemeClr val="tx1"/>
                </a:solidFill>
                <a:prstDash val="solid"/>
                <a:headEnd type="none" w="med" len="med"/>
                <a:tailEnd type="triangle" w="med" len="med"/>
              </a:ln>
            </p:spPr>
          </p:sp>
        </p:grpSp>
        <p:sp>
          <p:nvSpPr>
            <p:cNvPr id="6156" name="Rectangle 62"/>
            <p:cNvSpPr/>
            <p:nvPr/>
          </p:nvSpPr>
          <p:spPr>
            <a:xfrm>
              <a:off x="0" y="1676400"/>
              <a:ext cx="685800" cy="492443"/>
            </a:xfrm>
            <a:prstGeom prst="rect">
              <a:avLst/>
            </a:prstGeom>
            <a:solidFill>
              <a:srgbClr val="00CCFF"/>
            </a:solidFill>
            <a:ln w="9525">
              <a:noFill/>
            </a:ln>
          </p:spPr>
          <p:txBody>
            <a:bodyPr>
              <a:spAutoFit/>
            </a:bodyPr>
            <a:lstStyle/>
            <a:p>
              <a:pPr algn="l"/>
              <a:r>
                <a:rPr lang="en-US" altLang="zh-CN" sz="2600" dirty="0">
                  <a:solidFill>
                    <a:schemeClr val="tx1"/>
                  </a:solidFill>
                  <a:latin typeface="Times New Roman" panose="02020603050405020304" pitchFamily="18" charset="0"/>
                  <a:ea typeface="宋体" panose="02010600030101010101" pitchFamily="2" charset="-122"/>
                </a:rPr>
                <a:t>C</a:t>
              </a:r>
            </a:p>
          </p:txBody>
        </p:sp>
        <p:sp>
          <p:nvSpPr>
            <p:cNvPr id="6157" name="Rectangle 105"/>
            <p:cNvSpPr/>
            <p:nvPr/>
          </p:nvSpPr>
          <p:spPr>
            <a:xfrm>
              <a:off x="228600" y="3048000"/>
              <a:ext cx="3243196" cy="492443"/>
            </a:xfrm>
            <a:prstGeom prst="rect">
              <a:avLst/>
            </a:prstGeom>
            <a:noFill/>
            <a:ln w="9525">
              <a:noFill/>
            </a:ln>
          </p:spPr>
          <p:txBody>
            <a:bodyPr wrap="none">
              <a:spAutoFit/>
            </a:bodyPr>
            <a:lstStyle/>
            <a:p>
              <a:pPr algn="l" eaLnBrk="0" hangingPunct="0"/>
              <a:r>
                <a:rPr lang="zh-CN" altLang="en-US" sz="2600" dirty="0">
                  <a:solidFill>
                    <a:schemeClr val="tx1"/>
                  </a:solidFill>
                  <a:latin typeface="Times New Roman" panose="02020603050405020304" pitchFamily="18" charset="0"/>
                </a:rPr>
                <a:t>一个</a:t>
              </a:r>
              <a:r>
                <a:rPr lang="en-US" altLang="zh-CN" sz="2600" dirty="0">
                  <a:solidFill>
                    <a:schemeClr val="tx1"/>
                  </a:solidFill>
                  <a:latin typeface="Times New Roman" panose="02020603050405020304" pitchFamily="18" charset="0"/>
                </a:rPr>
                <a:t>2s</a:t>
              </a:r>
              <a:r>
                <a:rPr lang="zh-CN" altLang="en-US" sz="2600" dirty="0">
                  <a:solidFill>
                    <a:schemeClr val="tx1"/>
                  </a:solidFill>
                  <a:latin typeface="Times New Roman" panose="02020603050405020304" pitchFamily="18" charset="0"/>
                </a:rPr>
                <a:t>、三个 </a:t>
              </a:r>
              <a:r>
                <a:rPr lang="en-US" altLang="zh-CN" sz="2600" dirty="0">
                  <a:solidFill>
                    <a:schemeClr val="tx1"/>
                  </a:solidFill>
                  <a:latin typeface="Times New Roman" panose="02020603050405020304" pitchFamily="18" charset="0"/>
                </a:rPr>
                <a:t>2p</a:t>
              </a:r>
              <a:r>
                <a:rPr lang="zh-CN" altLang="en-US" sz="2600" dirty="0">
                  <a:solidFill>
                    <a:schemeClr val="tx1"/>
                  </a:solidFill>
                  <a:latin typeface="Times New Roman" panose="02020603050405020304" pitchFamily="18" charset="0"/>
                </a:rPr>
                <a:t>轨道</a:t>
              </a:r>
            </a:p>
          </p:txBody>
        </p:sp>
        <p:sp>
          <p:nvSpPr>
            <p:cNvPr id="6158" name="Rectangle 107"/>
            <p:cNvSpPr/>
            <p:nvPr/>
          </p:nvSpPr>
          <p:spPr>
            <a:xfrm>
              <a:off x="2590800" y="5334000"/>
              <a:ext cx="2864887" cy="892552"/>
            </a:xfrm>
            <a:prstGeom prst="rect">
              <a:avLst/>
            </a:prstGeom>
            <a:solidFill>
              <a:srgbClr val="FF99FF"/>
            </a:solidFill>
            <a:ln w="9525">
              <a:noFill/>
            </a:ln>
          </p:spPr>
          <p:txBody>
            <a:bodyPr wrap="none">
              <a:spAutoFit/>
            </a:bodyPr>
            <a:lstStyle/>
            <a:p>
              <a:r>
                <a:rPr lang="zh-CN" altLang="en-US" sz="2600" dirty="0">
                  <a:solidFill>
                    <a:schemeClr val="tx1"/>
                  </a:solidFill>
                  <a:latin typeface="Times New Roman" panose="02020603050405020304" pitchFamily="18" charset="0"/>
                </a:rPr>
                <a:t>每个杂化轨道成分</a:t>
              </a:r>
            </a:p>
            <a:p>
              <a:r>
                <a:rPr lang="zh-CN" altLang="en-US" sz="260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1/4 s+3/4 p</a:t>
              </a:r>
              <a:r>
                <a:rPr lang="zh-CN" altLang="en-US" sz="2600" dirty="0">
                  <a:solidFill>
                    <a:schemeClr val="tx1"/>
                  </a:solidFill>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7112"/>
                                        </p:tgtEl>
                                        <p:attrNameLst>
                                          <p:attrName>style.visibility</p:attrName>
                                        </p:attrNameLst>
                                      </p:cBhvr>
                                      <p:to>
                                        <p:strVal val="visible"/>
                                      </p:to>
                                    </p:set>
                                    <p:animEffect transition="in" filter="diamond(in)">
                                      <p:cBhvr>
                                        <p:cTn id="7" dur="500"/>
                                        <p:tgtEl>
                                          <p:spTgt spid="471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7636" name="CH4+.avi">
            <a:hlinkClick r:id="" action="ppaction://media"/>
          </p:cNvPr>
          <p:cNvPicPr>
            <a:picLocks noRot="1" noChangeAspect="1"/>
          </p:cNvPicPr>
          <p:nvPr>
            <a:videoFile r:link="rId1"/>
            <p:extLst>
              <p:ext uri="{DAA4B4D4-6D71-4841-9C94-3DE7FCFB9230}">
                <p14:media xmlns="" xmlns:p14="http://schemas.microsoft.com/office/powerpoint/2010/main" r:link="rId4"/>
              </p:ext>
            </p:extLst>
          </p:nvPr>
        </p:nvPicPr>
        <p:blipFill>
          <a:blip r:embed="rId5"/>
          <a:srcRect l="29225" t="19452" r="21033" b="22194"/>
          <a:stretch>
            <a:fillRect/>
          </a:stretch>
        </p:blipFill>
        <p:spPr>
          <a:xfrm>
            <a:off x="0" y="0"/>
            <a:ext cx="3657600" cy="2438400"/>
          </a:xfrm>
          <a:prstGeom prst="rect">
            <a:avLst/>
          </a:prstGeom>
          <a:noFill/>
          <a:ln w="9525">
            <a:noFill/>
          </a:ln>
        </p:spPr>
      </p:pic>
      <p:pic>
        <p:nvPicPr>
          <p:cNvPr id="197637" name="sp++.avi">
            <a:hlinkClick r:id="" action="ppaction://media"/>
          </p:cNvPr>
          <p:cNvPicPr>
            <a:picLocks noRot="1" noChangeAspect="1"/>
          </p:cNvPicPr>
          <p:nvPr>
            <a:videoFile r:link="rId2"/>
            <p:extLst>
              <p:ext uri="{DAA4B4D4-6D71-4841-9C94-3DE7FCFB9230}">
                <p14:media xmlns="" xmlns:p14="http://schemas.microsoft.com/office/powerpoint/2010/main" r:link="rId6"/>
              </p:ext>
            </p:extLst>
          </p:nvPr>
        </p:nvPicPr>
        <p:blipFill>
          <a:blip r:embed="rId7"/>
          <a:stretch>
            <a:fillRect/>
          </a:stretch>
        </p:blipFill>
        <p:spPr>
          <a:xfrm>
            <a:off x="5334000" y="3352800"/>
            <a:ext cx="3810000" cy="3352800"/>
          </a:xfrm>
          <a:prstGeom prst="rect">
            <a:avLst/>
          </a:prstGeom>
          <a:solidFill>
            <a:schemeClr val="bg1"/>
          </a:solidFill>
          <a:ln w="9525">
            <a:noFill/>
          </a:ln>
        </p:spPr>
      </p:pic>
      <p:sp>
        <p:nvSpPr>
          <p:cNvPr id="50180" name="Rectangle 6"/>
          <p:cNvSpPr/>
          <p:nvPr/>
        </p:nvSpPr>
        <p:spPr>
          <a:xfrm>
            <a:off x="3657600" y="5715000"/>
            <a:ext cx="1447800" cy="892175"/>
          </a:xfrm>
          <a:prstGeom prst="rect">
            <a:avLst/>
          </a:prstGeom>
          <a:noFill/>
          <a:ln w="9525">
            <a:noFill/>
          </a:ln>
        </p:spPr>
        <p:txBody>
          <a:bodyPr wrap="none">
            <a:spAutoFit/>
          </a:bodyPr>
          <a:lstStyle/>
          <a:p>
            <a:r>
              <a:rPr lang="zh-CN" altLang="en-US" sz="2600" dirty="0">
                <a:solidFill>
                  <a:schemeClr val="tx1"/>
                </a:solidFill>
                <a:latin typeface="Times New Roman" panose="02020603050405020304" pitchFamily="18" charset="0"/>
              </a:rPr>
              <a:t>键角</a:t>
            </a:r>
            <a:r>
              <a:rPr lang="en-US" altLang="zh-CN" sz="2600" dirty="0">
                <a:solidFill>
                  <a:schemeClr val="tx1"/>
                </a:solidFill>
                <a:latin typeface="Times New Roman" panose="02020603050405020304" pitchFamily="18" charset="0"/>
              </a:rPr>
              <a:t>=</a:t>
            </a:r>
          </a:p>
          <a:p>
            <a:r>
              <a:rPr lang="en-US" altLang="zh-CN" sz="2600" dirty="0">
                <a:solidFill>
                  <a:schemeClr val="tx1"/>
                </a:solidFill>
                <a:latin typeface="Times New Roman" panose="02020603050405020304" pitchFamily="18" charset="0"/>
              </a:rPr>
              <a:t>109°28′</a:t>
            </a:r>
          </a:p>
        </p:txBody>
      </p:sp>
      <p:pic>
        <p:nvPicPr>
          <p:cNvPr id="50181" name="Picture 8" descr="snap"/>
          <p:cNvPicPr>
            <a:picLocks noChangeAspect="1"/>
          </p:cNvPicPr>
          <p:nvPr/>
        </p:nvPicPr>
        <p:blipFill>
          <a:blip r:embed="rId8"/>
          <a:srcRect b="11111"/>
          <a:stretch>
            <a:fillRect/>
          </a:stretch>
        </p:blipFill>
        <p:spPr>
          <a:xfrm>
            <a:off x="0" y="3581400"/>
            <a:ext cx="3614738" cy="2984500"/>
          </a:xfrm>
          <a:prstGeom prst="rect">
            <a:avLst/>
          </a:prstGeom>
          <a:noFill/>
          <a:ln w="9525">
            <a:noFill/>
          </a:ln>
        </p:spPr>
      </p:pic>
      <p:sp>
        <p:nvSpPr>
          <p:cNvPr id="50182" name="AutoShape 9"/>
          <p:cNvSpPr/>
          <p:nvPr/>
        </p:nvSpPr>
        <p:spPr>
          <a:xfrm>
            <a:off x="3733800" y="685800"/>
            <a:ext cx="1143000" cy="865188"/>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sp>
        <p:nvSpPr>
          <p:cNvPr id="50183" name="AutoShape 10"/>
          <p:cNvSpPr/>
          <p:nvPr/>
        </p:nvSpPr>
        <p:spPr>
          <a:xfrm rot="5378313">
            <a:off x="5803900" y="2578100"/>
            <a:ext cx="990600" cy="7112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sp>
        <p:nvSpPr>
          <p:cNvPr id="50184" name="Rectangle 11"/>
          <p:cNvSpPr/>
          <p:nvPr/>
        </p:nvSpPr>
        <p:spPr>
          <a:xfrm>
            <a:off x="3657600" y="3886200"/>
            <a:ext cx="1524000" cy="1679575"/>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CH</a:t>
            </a:r>
            <a:r>
              <a:rPr lang="en-US" altLang="zh-CN" sz="2600" i="0" baseline="-25000" dirty="0">
                <a:solidFill>
                  <a:schemeClr val="tx1"/>
                </a:solidFill>
                <a:latin typeface="Times New Roman" panose="02020603050405020304" pitchFamily="18" charset="0"/>
              </a:rPr>
              <a:t>4</a:t>
            </a:r>
            <a:r>
              <a:rPr lang="zh-CN" altLang="en-US" sz="2600" i="0" dirty="0">
                <a:solidFill>
                  <a:schemeClr val="tx1"/>
                </a:solidFill>
                <a:latin typeface="Times New Roman" panose="02020603050405020304" pitchFamily="18" charset="0"/>
              </a:rPr>
              <a:t>中共价键形成</a:t>
            </a:r>
            <a:r>
              <a:rPr lang="zh-CN" altLang="en-US" sz="2600" dirty="0">
                <a:solidFill>
                  <a:schemeClr val="tx1"/>
                </a:solidFill>
                <a:latin typeface="Times New Roman" panose="02020603050405020304" pitchFamily="18" charset="0"/>
              </a:rPr>
              <a:t>四面体</a:t>
            </a:r>
            <a:r>
              <a:rPr lang="zh-CN" altLang="en-US" sz="2600" i="0" dirty="0">
                <a:solidFill>
                  <a:schemeClr val="tx1"/>
                </a:solidFill>
                <a:latin typeface="Times New Roman" panose="02020603050405020304" pitchFamily="18" charset="0"/>
              </a:rPr>
              <a:t>构型</a:t>
            </a:r>
          </a:p>
        </p:txBody>
      </p:sp>
      <p:sp>
        <p:nvSpPr>
          <p:cNvPr id="50185" name="Rectangle 12"/>
          <p:cNvSpPr/>
          <p:nvPr/>
        </p:nvSpPr>
        <p:spPr>
          <a:xfrm>
            <a:off x="0" y="2590800"/>
            <a:ext cx="3733800" cy="885825"/>
          </a:xfrm>
          <a:prstGeom prst="rect">
            <a:avLst/>
          </a:prstGeom>
          <a:noFill/>
          <a:ln w="9525">
            <a:noFill/>
          </a:ln>
        </p:spPr>
        <p:txBody>
          <a:bodyPr>
            <a:spAutoFit/>
          </a:bodyPr>
          <a:lstStyle/>
          <a:p>
            <a:pPr algn="l" eaLnBrk="0" hangingPunct="0"/>
            <a:r>
              <a:rPr lang="zh-CN" altLang="en-US" sz="2600" i="0" dirty="0">
                <a:solidFill>
                  <a:schemeClr val="tx1"/>
                </a:solidFill>
                <a:latin typeface="Times New Roman" panose="02020603050405020304" pitchFamily="18" charset="0"/>
              </a:rPr>
              <a:t>碳原子的结构（最外层三个</a:t>
            </a:r>
            <a:r>
              <a:rPr lang="en-US" altLang="zh-CN" sz="2600" i="0" dirty="0">
                <a:solidFill>
                  <a:schemeClr val="tx1"/>
                </a:solidFill>
                <a:latin typeface="Times New Roman" panose="02020603050405020304" pitchFamily="18" charset="0"/>
              </a:rPr>
              <a:t>p</a:t>
            </a:r>
            <a:r>
              <a:rPr lang="zh-CN" altLang="en-US" sz="2600" i="0" dirty="0">
                <a:solidFill>
                  <a:schemeClr val="tx1"/>
                </a:solidFill>
                <a:latin typeface="Times New Roman" panose="02020603050405020304" pitchFamily="18" charset="0"/>
              </a:rPr>
              <a:t>轨道应相互垂直）</a:t>
            </a:r>
          </a:p>
        </p:txBody>
      </p:sp>
      <p:pic>
        <p:nvPicPr>
          <p:cNvPr id="50186" name="Picture 13"/>
          <p:cNvPicPr>
            <a:picLocks noChangeAspect="1"/>
          </p:cNvPicPr>
          <p:nvPr/>
        </p:nvPicPr>
        <p:blipFill>
          <a:blip r:embed="rId9"/>
          <a:stretch>
            <a:fillRect/>
          </a:stretch>
        </p:blipFill>
        <p:spPr>
          <a:xfrm>
            <a:off x="4953000" y="0"/>
            <a:ext cx="4191000" cy="2438400"/>
          </a:xfrm>
          <a:prstGeom prst="rect">
            <a:avLst/>
          </a:prstGeom>
          <a:noFill/>
          <a:ln w="9525">
            <a:noFill/>
          </a:ln>
        </p:spPr>
      </p:pic>
      <p:sp>
        <p:nvSpPr>
          <p:cNvPr id="50187" name="Rectangle 14"/>
          <p:cNvSpPr/>
          <p:nvPr/>
        </p:nvSpPr>
        <p:spPr>
          <a:xfrm>
            <a:off x="6934200" y="2590800"/>
            <a:ext cx="1524000" cy="492125"/>
          </a:xfrm>
          <a:prstGeom prst="rect">
            <a:avLst/>
          </a:prstGeom>
          <a:noFill/>
          <a:ln w="9525">
            <a:noFill/>
          </a:ln>
        </p:spPr>
        <p:txBody>
          <a:bodyPr wrap="none">
            <a:spAutoFit/>
          </a:bodyPr>
          <a:lstStyle/>
          <a:p>
            <a:pPr eaLnBrk="0" hangingPunct="0"/>
            <a:r>
              <a:rPr lang="zh-CN" altLang="en-US" sz="2600" i="0" dirty="0">
                <a:solidFill>
                  <a:schemeClr val="tx1"/>
                </a:solidFill>
                <a:latin typeface="Times New Roman" panose="02020603050405020304" pitchFamily="18" charset="0"/>
              </a:rPr>
              <a:t>杂化轨道</a:t>
            </a:r>
          </a:p>
        </p:txBody>
      </p:sp>
    </p:spTree>
  </p:cSld>
  <p:clrMapOvr>
    <a:masterClrMapping/>
  </p:clrMapOvr>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197636"/>
                </p:tgtEl>
              </p:cMediaNode>
            </p:video>
            <p:video>
              <p:cMediaNode>
                <p:cTn id="3" fill="hold" display="0">
                  <p:stCondLst>
                    <p:cond delay="indefinite"/>
                  </p:stCondLst>
                  <p:endCondLst>
                    <p:cond evt="onNext" delay="0">
                      <p:tgtEl>
                        <p:sldTgt/>
                      </p:tgtEl>
                    </p:cond>
                    <p:cond evt="onPrev" delay="0">
                      <p:tgtEl>
                        <p:sldTgt/>
                      </p:tgtEl>
                    </p:cond>
                  </p:endCondLst>
                </p:cTn>
                <p:tgtEl>
                  <p:spTgt spid="197637"/>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1202" name="组合 43"/>
          <p:cNvGrpSpPr/>
          <p:nvPr/>
        </p:nvGrpSpPr>
        <p:grpSpPr>
          <a:xfrm>
            <a:off x="0" y="0"/>
            <a:ext cx="8647113" cy="6073775"/>
            <a:chOff x="0" y="0"/>
            <a:chExt cx="8647113" cy="6074152"/>
          </a:xfrm>
        </p:grpSpPr>
        <p:sp>
          <p:nvSpPr>
            <p:cNvPr id="51203" name="Rectangle 2"/>
            <p:cNvSpPr/>
            <p:nvPr/>
          </p:nvSpPr>
          <p:spPr>
            <a:xfrm>
              <a:off x="0" y="0"/>
              <a:ext cx="4953000" cy="612475"/>
            </a:xfrm>
            <a:prstGeom prst="rect">
              <a:avLst/>
            </a:prstGeom>
            <a:noFill/>
            <a:ln w="9525">
              <a:noFill/>
            </a:ln>
          </p:spPr>
          <p:txBody>
            <a:bodyPr>
              <a:spAutoFit/>
            </a:bodyPr>
            <a:lstStyle/>
            <a:p>
              <a:pPr algn="l" eaLnBrk="0" hangingPunct="0">
                <a:lnSpc>
                  <a:spcPct val="130000"/>
                </a:lnSpc>
              </a:pPr>
              <a:r>
                <a:rPr lang="en-US" altLang="zh-CN" sz="2600" dirty="0">
                  <a:solidFill>
                    <a:srgbClr val="0000FF"/>
                  </a:solidFill>
                  <a:latin typeface="Times New Roman" panose="02020603050405020304" pitchFamily="18" charset="0"/>
                </a:rPr>
                <a:t>2</a:t>
              </a:r>
              <a:r>
                <a:rPr lang="zh-CN" altLang="en-US" sz="2600" dirty="0">
                  <a:solidFill>
                    <a:srgbClr val="0000FF"/>
                  </a:solidFill>
                  <a:latin typeface="Times New Roman" panose="02020603050405020304" pitchFamily="18" charset="0"/>
                </a:rPr>
                <a:t>、 </a:t>
              </a:r>
              <a:r>
                <a:rPr lang="en-US" altLang="zh-CN" sz="2600" dirty="0">
                  <a:solidFill>
                    <a:srgbClr val="0000FF"/>
                  </a:solidFill>
                  <a:latin typeface="Times New Roman" panose="02020603050405020304" pitchFamily="18" charset="0"/>
                </a:rPr>
                <a:t>sp</a:t>
              </a:r>
              <a:r>
                <a:rPr lang="en-US" altLang="zh-CN" sz="2600" baseline="30000" dirty="0">
                  <a:solidFill>
                    <a:srgbClr val="0000FF"/>
                  </a:solidFill>
                  <a:latin typeface="Times New Roman" panose="02020603050405020304" pitchFamily="18" charset="0"/>
                </a:rPr>
                <a:t>2</a:t>
              </a:r>
              <a:r>
                <a:rPr lang="zh-CN" altLang="en-US" sz="2600" dirty="0">
                  <a:solidFill>
                    <a:srgbClr val="0000FF"/>
                  </a:solidFill>
                  <a:latin typeface="Times New Roman" panose="02020603050405020304" pitchFamily="18" charset="0"/>
                </a:rPr>
                <a:t>杂化  </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以</a:t>
              </a:r>
              <a:r>
                <a:rPr lang="en-US" altLang="zh-CN" sz="2600" dirty="0">
                  <a:solidFill>
                    <a:srgbClr val="0000FF"/>
                  </a:solidFill>
                  <a:latin typeface="Times New Roman" panose="02020603050405020304" pitchFamily="18" charset="0"/>
                </a:rPr>
                <a:t>BCl</a:t>
              </a:r>
              <a:r>
                <a:rPr lang="en-US" altLang="zh-CN" sz="2600" baseline="-25000" dirty="0">
                  <a:solidFill>
                    <a:srgbClr val="0000FF"/>
                  </a:solidFill>
                  <a:latin typeface="Times New Roman" panose="02020603050405020304" pitchFamily="18" charset="0"/>
                </a:rPr>
                <a:t>3</a:t>
              </a:r>
              <a:r>
                <a:rPr lang="zh-CN" altLang="en-US" sz="2600" dirty="0">
                  <a:solidFill>
                    <a:srgbClr val="0000FF"/>
                  </a:solidFill>
                  <a:latin typeface="Times New Roman" panose="02020603050405020304" pitchFamily="18" charset="0"/>
                </a:rPr>
                <a:t>为例</a:t>
              </a:r>
              <a:r>
                <a:rPr lang="en-US" altLang="zh-CN" sz="2600" dirty="0">
                  <a:solidFill>
                    <a:srgbClr val="0000FF"/>
                  </a:solidFill>
                  <a:latin typeface="Times New Roman" panose="02020603050405020304" pitchFamily="18" charset="0"/>
                </a:rPr>
                <a:t>)</a:t>
              </a:r>
              <a:endParaRPr lang="en-US" altLang="zh-CN" sz="2600" baseline="-25000" dirty="0">
                <a:solidFill>
                  <a:srgbClr val="0000FF"/>
                </a:solidFill>
                <a:latin typeface="Times New Roman" panose="02020603050405020304" pitchFamily="18" charset="0"/>
              </a:endParaRPr>
            </a:p>
          </p:txBody>
        </p:sp>
        <p:grpSp>
          <p:nvGrpSpPr>
            <p:cNvPr id="51204" name="Group 58"/>
            <p:cNvGrpSpPr/>
            <p:nvPr/>
          </p:nvGrpSpPr>
          <p:grpSpPr>
            <a:xfrm>
              <a:off x="838200" y="990600"/>
              <a:ext cx="2389188" cy="1452563"/>
              <a:chOff x="528" y="624"/>
              <a:chExt cx="1505" cy="915"/>
            </a:xfrm>
          </p:grpSpPr>
          <p:grpSp>
            <p:nvGrpSpPr>
              <p:cNvPr id="51234" name="Group 56"/>
              <p:cNvGrpSpPr/>
              <p:nvPr/>
            </p:nvGrpSpPr>
            <p:grpSpPr>
              <a:xfrm>
                <a:off x="528" y="912"/>
                <a:ext cx="1505" cy="627"/>
                <a:chOff x="56" y="1346"/>
                <a:chExt cx="1505" cy="627"/>
              </a:xfrm>
            </p:grpSpPr>
            <p:sp>
              <p:nvSpPr>
                <p:cNvPr id="51236" name="Oval 6"/>
                <p:cNvSpPr/>
                <p:nvPr/>
              </p:nvSpPr>
              <p:spPr>
                <a:xfrm>
                  <a:off x="133" y="1639"/>
                  <a:ext cx="395" cy="33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37" name="Oval 7"/>
                <p:cNvSpPr/>
                <p:nvPr/>
              </p:nvSpPr>
              <p:spPr>
                <a:xfrm>
                  <a:off x="1168" y="1346"/>
                  <a:ext cx="393" cy="33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38" name="Oval 8"/>
                <p:cNvSpPr/>
                <p:nvPr/>
              </p:nvSpPr>
              <p:spPr>
                <a:xfrm>
                  <a:off x="773" y="1346"/>
                  <a:ext cx="395" cy="33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39" name="Oval 9"/>
                <p:cNvSpPr/>
                <p:nvPr/>
              </p:nvSpPr>
              <p:spPr>
                <a:xfrm>
                  <a:off x="380" y="1346"/>
                  <a:ext cx="393" cy="33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40" name="Line 10"/>
                <p:cNvSpPr/>
                <p:nvPr/>
              </p:nvSpPr>
              <p:spPr>
                <a:xfrm flipV="1">
                  <a:off x="281" y="1723"/>
                  <a:ext cx="0" cy="208"/>
                </a:xfrm>
                <a:prstGeom prst="line">
                  <a:avLst/>
                </a:prstGeom>
                <a:ln w="9525" cap="flat" cmpd="sng">
                  <a:solidFill>
                    <a:schemeClr val="tx1"/>
                  </a:solidFill>
                  <a:prstDash val="solid"/>
                  <a:headEnd type="none" w="med" len="med"/>
                  <a:tailEnd type="triangle" w="med" len="med"/>
                </a:ln>
              </p:spPr>
            </p:sp>
            <p:sp>
              <p:nvSpPr>
                <p:cNvPr id="51241" name="Line 11"/>
                <p:cNvSpPr/>
                <p:nvPr/>
              </p:nvSpPr>
              <p:spPr>
                <a:xfrm>
                  <a:off x="380" y="1723"/>
                  <a:ext cx="0" cy="208"/>
                </a:xfrm>
                <a:prstGeom prst="line">
                  <a:avLst/>
                </a:prstGeom>
                <a:ln w="9525" cap="flat" cmpd="sng">
                  <a:solidFill>
                    <a:schemeClr val="tx1"/>
                  </a:solidFill>
                  <a:prstDash val="solid"/>
                  <a:headEnd type="none" w="med" len="med"/>
                  <a:tailEnd type="triangle" w="med" len="med"/>
                </a:ln>
              </p:spPr>
            </p:sp>
            <p:sp>
              <p:nvSpPr>
                <p:cNvPr id="51242" name="Line 12"/>
                <p:cNvSpPr/>
                <p:nvPr/>
              </p:nvSpPr>
              <p:spPr>
                <a:xfrm flipV="1">
                  <a:off x="576" y="1388"/>
                  <a:ext cx="0" cy="209"/>
                </a:xfrm>
                <a:prstGeom prst="line">
                  <a:avLst/>
                </a:prstGeom>
                <a:ln w="9525" cap="flat" cmpd="sng">
                  <a:solidFill>
                    <a:schemeClr val="tx1"/>
                  </a:solidFill>
                  <a:prstDash val="solid"/>
                  <a:headEnd type="none" w="med" len="med"/>
                  <a:tailEnd type="triangle" w="med" len="med"/>
                </a:ln>
              </p:spPr>
            </p:sp>
            <p:sp>
              <p:nvSpPr>
                <p:cNvPr id="51243" name="Line 13"/>
                <p:cNvSpPr/>
                <p:nvPr/>
              </p:nvSpPr>
              <p:spPr>
                <a:xfrm flipV="1">
                  <a:off x="625" y="1700"/>
                  <a:ext cx="333" cy="104"/>
                </a:xfrm>
                <a:prstGeom prst="line">
                  <a:avLst/>
                </a:prstGeom>
                <a:ln w="38100" cap="flat" cmpd="sng">
                  <a:solidFill>
                    <a:srgbClr val="FF3300"/>
                  </a:solidFill>
                  <a:prstDash val="dash"/>
                  <a:headEnd type="none" w="med" len="med"/>
                  <a:tailEnd type="triangle" w="med" len="med"/>
                </a:ln>
              </p:spPr>
            </p:sp>
            <p:sp>
              <p:nvSpPr>
                <p:cNvPr id="51244" name="Rectangle 14"/>
                <p:cNvSpPr/>
                <p:nvPr/>
              </p:nvSpPr>
              <p:spPr>
                <a:xfrm>
                  <a:off x="56" y="1359"/>
                  <a:ext cx="301" cy="308"/>
                </a:xfrm>
                <a:prstGeom prst="rect">
                  <a:avLst/>
                </a:prstGeom>
                <a:no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2s</a:t>
                  </a:r>
                </a:p>
              </p:txBody>
            </p:sp>
          </p:grpSp>
          <p:sp>
            <p:nvSpPr>
              <p:cNvPr id="51235" name="Rectangle 15"/>
              <p:cNvSpPr/>
              <p:nvPr/>
            </p:nvSpPr>
            <p:spPr>
              <a:xfrm>
                <a:off x="960" y="624"/>
                <a:ext cx="806" cy="308"/>
              </a:xfrm>
              <a:prstGeom prst="rect">
                <a:avLst/>
              </a:prstGeom>
              <a:noFill/>
              <a:ln w="12700">
                <a:noFill/>
              </a:ln>
            </p:spPr>
            <p:txBody>
              <a:bodyPr>
                <a:spAutoFit/>
              </a:bodyPr>
              <a:lstStyle/>
              <a:p>
                <a:pPr eaLnBrk="0" hangingPunct="0"/>
                <a:r>
                  <a:rPr lang="en-US" altLang="zh-CN" sz="2600" i="0" dirty="0">
                    <a:solidFill>
                      <a:schemeClr val="tx1"/>
                    </a:solidFill>
                    <a:latin typeface="Times New Roman" panose="02020603050405020304" pitchFamily="18" charset="0"/>
                    <a:ea typeface="宋体" panose="02010600030101010101" pitchFamily="2" charset="-122"/>
                  </a:rPr>
                  <a:t>2p</a:t>
                </a:r>
              </a:p>
            </p:txBody>
          </p:sp>
        </p:grpSp>
        <p:grpSp>
          <p:nvGrpSpPr>
            <p:cNvPr id="51205" name="Group 16"/>
            <p:cNvGrpSpPr/>
            <p:nvPr/>
          </p:nvGrpSpPr>
          <p:grpSpPr>
            <a:xfrm>
              <a:off x="5638800" y="1143000"/>
              <a:ext cx="2405063" cy="1427163"/>
              <a:chOff x="2094" y="768"/>
              <a:chExt cx="1309" cy="828"/>
            </a:xfrm>
          </p:grpSpPr>
          <p:sp>
            <p:nvSpPr>
              <p:cNvPr id="51225" name="Oval 17"/>
              <p:cNvSpPr/>
              <p:nvPr/>
            </p:nvSpPr>
            <p:spPr>
              <a:xfrm>
                <a:off x="2382" y="1018"/>
                <a:ext cx="340"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26" name="Oval 18"/>
              <p:cNvSpPr/>
              <p:nvPr/>
            </p:nvSpPr>
            <p:spPr>
              <a:xfrm>
                <a:off x="2212" y="1288"/>
                <a:ext cx="340"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27" name="Oval 19"/>
              <p:cNvSpPr/>
              <p:nvPr/>
            </p:nvSpPr>
            <p:spPr>
              <a:xfrm>
                <a:off x="2722" y="1018"/>
                <a:ext cx="341"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28" name="Oval 20"/>
              <p:cNvSpPr/>
              <p:nvPr/>
            </p:nvSpPr>
            <p:spPr>
              <a:xfrm>
                <a:off x="3063" y="1018"/>
                <a:ext cx="340"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29" name="Line 21"/>
              <p:cNvSpPr/>
              <p:nvPr/>
            </p:nvSpPr>
            <p:spPr>
              <a:xfrm flipV="1">
                <a:off x="2892" y="1095"/>
                <a:ext cx="0" cy="193"/>
              </a:xfrm>
              <a:prstGeom prst="line">
                <a:avLst/>
              </a:prstGeom>
              <a:ln w="9525" cap="flat" cmpd="sng">
                <a:solidFill>
                  <a:schemeClr val="tx1"/>
                </a:solidFill>
                <a:prstDash val="solid"/>
                <a:headEnd type="none" w="med" len="med"/>
                <a:tailEnd type="triangle" w="med" len="med"/>
              </a:ln>
            </p:spPr>
          </p:sp>
          <p:sp>
            <p:nvSpPr>
              <p:cNvPr id="51230" name="Line 22"/>
              <p:cNvSpPr/>
              <p:nvPr/>
            </p:nvSpPr>
            <p:spPr>
              <a:xfrm flipV="1">
                <a:off x="2552" y="1095"/>
                <a:ext cx="0" cy="193"/>
              </a:xfrm>
              <a:prstGeom prst="line">
                <a:avLst/>
              </a:prstGeom>
              <a:ln w="9525" cap="flat" cmpd="sng">
                <a:solidFill>
                  <a:schemeClr val="tx1"/>
                </a:solidFill>
                <a:prstDash val="solid"/>
                <a:headEnd type="none" w="med" len="med"/>
                <a:tailEnd type="triangle" w="med" len="med"/>
              </a:ln>
            </p:spPr>
          </p:sp>
          <p:sp>
            <p:nvSpPr>
              <p:cNvPr id="51231" name="Line 23"/>
              <p:cNvSpPr/>
              <p:nvPr/>
            </p:nvSpPr>
            <p:spPr>
              <a:xfrm flipV="1">
                <a:off x="2400" y="1346"/>
                <a:ext cx="0" cy="192"/>
              </a:xfrm>
              <a:prstGeom prst="line">
                <a:avLst/>
              </a:prstGeom>
              <a:ln w="9525" cap="flat" cmpd="sng">
                <a:solidFill>
                  <a:schemeClr val="tx1"/>
                </a:solidFill>
                <a:prstDash val="solid"/>
                <a:headEnd type="none" w="med" len="med"/>
                <a:tailEnd type="triangle" w="med" len="med"/>
              </a:ln>
            </p:spPr>
          </p:sp>
          <p:sp>
            <p:nvSpPr>
              <p:cNvPr id="51232" name="Rectangle 24"/>
              <p:cNvSpPr/>
              <p:nvPr/>
            </p:nvSpPr>
            <p:spPr>
              <a:xfrm>
                <a:off x="2094" y="1068"/>
                <a:ext cx="260" cy="284"/>
              </a:xfrm>
              <a:prstGeom prst="rect">
                <a:avLst/>
              </a:prstGeom>
              <a:no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2s</a:t>
                </a:r>
              </a:p>
            </p:txBody>
          </p:sp>
          <p:sp>
            <p:nvSpPr>
              <p:cNvPr id="51233" name="Rectangle 25"/>
              <p:cNvSpPr/>
              <p:nvPr/>
            </p:nvSpPr>
            <p:spPr>
              <a:xfrm>
                <a:off x="2784" y="768"/>
                <a:ext cx="336" cy="284"/>
              </a:xfrm>
              <a:prstGeom prst="rect">
                <a:avLst/>
              </a:prstGeom>
              <a:noFill/>
              <a:ln w="12700">
                <a:noFill/>
              </a:ln>
            </p:spPr>
            <p:txBody>
              <a:bodyPr>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2p</a:t>
                </a:r>
              </a:p>
            </p:txBody>
          </p:sp>
        </p:grpSp>
        <p:grpSp>
          <p:nvGrpSpPr>
            <p:cNvPr id="51206" name="Group 26"/>
            <p:cNvGrpSpPr/>
            <p:nvPr/>
          </p:nvGrpSpPr>
          <p:grpSpPr>
            <a:xfrm>
              <a:off x="5867400" y="3124200"/>
              <a:ext cx="2422525" cy="1038225"/>
              <a:chOff x="3913" y="917"/>
              <a:chExt cx="1319" cy="602"/>
            </a:xfrm>
          </p:grpSpPr>
          <p:sp>
            <p:nvSpPr>
              <p:cNvPr id="51217" name="Oval 27"/>
              <p:cNvSpPr/>
              <p:nvPr/>
            </p:nvSpPr>
            <p:spPr>
              <a:xfrm>
                <a:off x="4594" y="1211"/>
                <a:ext cx="340"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18" name="Oval 28"/>
              <p:cNvSpPr/>
              <p:nvPr/>
            </p:nvSpPr>
            <p:spPr>
              <a:xfrm>
                <a:off x="4254" y="1211"/>
                <a:ext cx="340"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19" name="Oval 29"/>
              <p:cNvSpPr/>
              <p:nvPr/>
            </p:nvSpPr>
            <p:spPr>
              <a:xfrm>
                <a:off x="4892" y="999"/>
                <a:ext cx="340"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20" name="Oval 30"/>
              <p:cNvSpPr/>
              <p:nvPr/>
            </p:nvSpPr>
            <p:spPr>
              <a:xfrm>
                <a:off x="3913" y="1211"/>
                <a:ext cx="341" cy="30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1221" name="Line 31"/>
              <p:cNvSpPr/>
              <p:nvPr/>
            </p:nvSpPr>
            <p:spPr>
              <a:xfrm flipV="1">
                <a:off x="4424" y="1288"/>
                <a:ext cx="1" cy="192"/>
              </a:xfrm>
              <a:prstGeom prst="line">
                <a:avLst/>
              </a:prstGeom>
              <a:ln w="9525" cap="flat" cmpd="sng">
                <a:solidFill>
                  <a:schemeClr val="tx1"/>
                </a:solidFill>
                <a:prstDash val="solid"/>
                <a:headEnd type="none" w="med" len="med"/>
                <a:tailEnd type="triangle" w="med" len="med"/>
              </a:ln>
            </p:spPr>
          </p:sp>
          <p:sp>
            <p:nvSpPr>
              <p:cNvPr id="51222" name="Line 32"/>
              <p:cNvSpPr/>
              <p:nvPr/>
            </p:nvSpPr>
            <p:spPr>
              <a:xfrm flipV="1">
                <a:off x="4083" y="1288"/>
                <a:ext cx="1" cy="192"/>
              </a:xfrm>
              <a:prstGeom prst="line">
                <a:avLst/>
              </a:prstGeom>
              <a:ln w="9525" cap="flat" cmpd="sng">
                <a:solidFill>
                  <a:schemeClr val="tx1"/>
                </a:solidFill>
                <a:prstDash val="solid"/>
                <a:headEnd type="none" w="med" len="med"/>
                <a:tailEnd type="triangle" w="med" len="med"/>
              </a:ln>
            </p:spPr>
          </p:sp>
          <p:sp>
            <p:nvSpPr>
              <p:cNvPr id="51223" name="Line 33"/>
              <p:cNvSpPr/>
              <p:nvPr/>
            </p:nvSpPr>
            <p:spPr>
              <a:xfrm flipV="1">
                <a:off x="4764" y="1288"/>
                <a:ext cx="1" cy="192"/>
              </a:xfrm>
              <a:prstGeom prst="line">
                <a:avLst/>
              </a:prstGeom>
              <a:ln w="9525" cap="flat" cmpd="sng">
                <a:solidFill>
                  <a:schemeClr val="tx1"/>
                </a:solidFill>
                <a:prstDash val="solid"/>
                <a:headEnd type="none" w="med" len="med"/>
                <a:tailEnd type="triangle" w="med" len="med"/>
              </a:ln>
            </p:spPr>
          </p:sp>
          <p:sp>
            <p:nvSpPr>
              <p:cNvPr id="51224" name="Rectangle 34"/>
              <p:cNvSpPr/>
              <p:nvPr/>
            </p:nvSpPr>
            <p:spPr>
              <a:xfrm>
                <a:off x="4272" y="917"/>
                <a:ext cx="333" cy="286"/>
              </a:xfrm>
              <a:prstGeom prst="rect">
                <a:avLst/>
              </a:prstGeom>
              <a:no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sp</a:t>
                </a:r>
                <a:r>
                  <a:rPr lang="en-US" altLang="zh-CN" sz="2600" i="0" baseline="30000" dirty="0">
                    <a:solidFill>
                      <a:schemeClr val="tx1"/>
                    </a:solidFill>
                    <a:latin typeface="Times New Roman" panose="02020603050405020304" pitchFamily="18" charset="0"/>
                    <a:ea typeface="宋体" panose="02010600030101010101" pitchFamily="2" charset="-122"/>
                  </a:rPr>
                  <a:t>2</a:t>
                </a:r>
              </a:p>
            </p:txBody>
          </p:sp>
        </p:grpSp>
        <p:sp>
          <p:nvSpPr>
            <p:cNvPr id="51207" name="Text Box 35"/>
            <p:cNvSpPr txBox="1"/>
            <p:nvPr/>
          </p:nvSpPr>
          <p:spPr>
            <a:xfrm>
              <a:off x="5410200" y="4495800"/>
              <a:ext cx="3236913" cy="488950"/>
            </a:xfrm>
            <a:prstGeom prst="rect">
              <a:avLst/>
            </a:prstGeom>
            <a:noFill/>
            <a:ln w="9525">
              <a:noFill/>
            </a:ln>
          </p:spPr>
          <p:txBody>
            <a:bodyPr>
              <a:spAutoFit/>
            </a:bodyPr>
            <a:lstStyle/>
            <a:p>
              <a:pPr algn="l" eaLnBrk="0" hangingPunct="0">
                <a:spcBef>
                  <a:spcPct val="50000"/>
                </a:spcBef>
              </a:pPr>
              <a:r>
                <a:rPr lang="zh-CN" altLang="en-US" sz="2600" dirty="0">
                  <a:solidFill>
                    <a:schemeClr val="tx1"/>
                  </a:solidFill>
                  <a:latin typeface="楷体_GB2312" pitchFamily="49" charset="-122"/>
                </a:rPr>
                <a:t>三个 </a:t>
              </a:r>
              <a:r>
                <a:rPr lang="en-US" altLang="zh-CN" sz="2600" dirty="0">
                  <a:solidFill>
                    <a:schemeClr val="tx1"/>
                  </a:solidFill>
                  <a:latin typeface="Times New Roman" panose="02020603050405020304" pitchFamily="18" charset="0"/>
                </a:rPr>
                <a:t>sp</a:t>
              </a:r>
              <a:r>
                <a:rPr lang="en-US" altLang="zh-CN" sz="2600" baseline="30000" dirty="0">
                  <a:solidFill>
                    <a:schemeClr val="tx1"/>
                  </a:solidFill>
                  <a:latin typeface="Times New Roman" panose="02020603050405020304" pitchFamily="18" charset="0"/>
                </a:rPr>
                <a:t>2</a:t>
              </a:r>
              <a:r>
                <a:rPr lang="en-US" altLang="zh-CN" sz="2600" baseline="30000" dirty="0">
                  <a:solidFill>
                    <a:schemeClr val="tx1"/>
                  </a:solidFill>
                  <a:latin typeface="楷体_GB2312" pitchFamily="49" charset="-122"/>
                </a:rPr>
                <a:t> </a:t>
              </a:r>
              <a:r>
                <a:rPr lang="zh-CN" altLang="en-US" sz="2600" dirty="0">
                  <a:solidFill>
                    <a:schemeClr val="tx1"/>
                  </a:solidFill>
                  <a:latin typeface="楷体_GB2312" pitchFamily="49" charset="-122"/>
                </a:rPr>
                <a:t>杂化轨道</a:t>
              </a:r>
            </a:p>
          </p:txBody>
        </p:sp>
        <p:grpSp>
          <p:nvGrpSpPr>
            <p:cNvPr id="51208" name="Group 36"/>
            <p:cNvGrpSpPr/>
            <p:nvPr/>
          </p:nvGrpSpPr>
          <p:grpSpPr>
            <a:xfrm>
              <a:off x="3276600" y="1676400"/>
              <a:ext cx="2133600" cy="488950"/>
              <a:chOff x="1632" y="1344"/>
              <a:chExt cx="528" cy="283"/>
            </a:xfrm>
          </p:grpSpPr>
          <p:sp>
            <p:nvSpPr>
              <p:cNvPr id="51215" name="Line 37"/>
              <p:cNvSpPr/>
              <p:nvPr/>
            </p:nvSpPr>
            <p:spPr>
              <a:xfrm>
                <a:off x="1728" y="1344"/>
                <a:ext cx="383" cy="0"/>
              </a:xfrm>
              <a:prstGeom prst="line">
                <a:avLst/>
              </a:prstGeom>
              <a:ln w="9525" cap="flat" cmpd="sng">
                <a:solidFill>
                  <a:schemeClr val="tx1"/>
                </a:solidFill>
                <a:prstDash val="solid"/>
                <a:headEnd type="none" w="med" len="med"/>
                <a:tailEnd type="triangle" w="med" len="med"/>
              </a:ln>
            </p:spPr>
          </p:sp>
          <p:sp>
            <p:nvSpPr>
              <p:cNvPr id="51216" name="Rectangle 38"/>
              <p:cNvSpPr/>
              <p:nvPr/>
            </p:nvSpPr>
            <p:spPr>
              <a:xfrm>
                <a:off x="1632" y="1344"/>
                <a:ext cx="528" cy="283"/>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激发</a:t>
                </a:r>
              </a:p>
            </p:txBody>
          </p:sp>
        </p:grpSp>
        <p:grpSp>
          <p:nvGrpSpPr>
            <p:cNvPr id="51209" name="Group 57"/>
            <p:cNvGrpSpPr/>
            <p:nvPr/>
          </p:nvGrpSpPr>
          <p:grpSpPr>
            <a:xfrm>
              <a:off x="3733800" y="3200400"/>
              <a:ext cx="1600200" cy="762000"/>
              <a:chOff x="1776" y="2496"/>
              <a:chExt cx="1008" cy="480"/>
            </a:xfrm>
          </p:grpSpPr>
          <p:sp>
            <p:nvSpPr>
              <p:cNvPr id="51213" name="Line 39"/>
              <p:cNvSpPr/>
              <p:nvPr/>
            </p:nvSpPr>
            <p:spPr>
              <a:xfrm>
                <a:off x="1776" y="2976"/>
                <a:ext cx="1008" cy="0"/>
              </a:xfrm>
              <a:prstGeom prst="line">
                <a:avLst/>
              </a:prstGeom>
              <a:ln w="9525" cap="flat" cmpd="sng">
                <a:solidFill>
                  <a:schemeClr val="tx1"/>
                </a:solidFill>
                <a:prstDash val="solid"/>
                <a:headEnd type="none" w="med" len="med"/>
                <a:tailEnd type="triangle" w="med" len="med"/>
              </a:ln>
            </p:spPr>
          </p:sp>
          <p:sp>
            <p:nvSpPr>
              <p:cNvPr id="51214" name="Rectangle 40"/>
              <p:cNvSpPr/>
              <p:nvPr/>
            </p:nvSpPr>
            <p:spPr>
              <a:xfrm>
                <a:off x="1920" y="2496"/>
                <a:ext cx="672" cy="308"/>
              </a:xfrm>
              <a:prstGeom prst="rect">
                <a:avLst/>
              </a:prstGeom>
              <a:noFill/>
              <a:ln w="9525">
                <a:noFill/>
              </a:ln>
            </p:spPr>
            <p:txBody>
              <a:bodyPr>
                <a:spAutoFit/>
              </a:bodyPr>
              <a:lstStyle/>
              <a:p>
                <a:pPr algn="l" eaLnBrk="0" hangingPunct="0"/>
                <a:r>
                  <a:rPr lang="zh-CN" altLang="en-US" sz="2600" i="0" dirty="0">
                    <a:solidFill>
                      <a:schemeClr val="tx1"/>
                    </a:solidFill>
                    <a:latin typeface="Times New Roman" panose="02020603050405020304" pitchFamily="18" charset="0"/>
                  </a:rPr>
                  <a:t>杂化</a:t>
                </a:r>
              </a:p>
            </p:txBody>
          </p:sp>
        </p:grpSp>
        <p:sp>
          <p:nvSpPr>
            <p:cNvPr id="51210" name="Rectangle 51"/>
            <p:cNvSpPr/>
            <p:nvPr/>
          </p:nvSpPr>
          <p:spPr>
            <a:xfrm>
              <a:off x="0" y="914400"/>
              <a:ext cx="838200" cy="492443"/>
            </a:xfrm>
            <a:prstGeom prst="rect">
              <a:avLst/>
            </a:prstGeom>
            <a:solidFill>
              <a:srgbClr val="FF99CC"/>
            </a:solidFill>
            <a:ln w="9525">
              <a:noFill/>
            </a:ln>
          </p:spPr>
          <p:txBody>
            <a:bodyPr>
              <a:spAutoFit/>
            </a:bodyPr>
            <a:lstStyle/>
            <a:p>
              <a:r>
                <a:rPr lang="en-US" altLang="zh-CN" sz="2600" dirty="0">
                  <a:solidFill>
                    <a:schemeClr val="tx1"/>
                  </a:solidFill>
                  <a:latin typeface="Times New Roman" panose="02020603050405020304" pitchFamily="18" charset="0"/>
                  <a:ea typeface="宋体" panose="02010600030101010101" pitchFamily="2" charset="-122"/>
                </a:rPr>
                <a:t>B</a:t>
              </a:r>
            </a:p>
          </p:txBody>
        </p:sp>
        <p:sp>
          <p:nvSpPr>
            <p:cNvPr id="51211" name="Rectangle 52"/>
            <p:cNvSpPr/>
            <p:nvPr/>
          </p:nvSpPr>
          <p:spPr>
            <a:xfrm>
              <a:off x="2514600" y="5181600"/>
              <a:ext cx="2864887" cy="892552"/>
            </a:xfrm>
            <a:prstGeom prst="rect">
              <a:avLst/>
            </a:prstGeom>
            <a:solidFill>
              <a:srgbClr val="FF99FF"/>
            </a:solidFill>
            <a:ln w="9525">
              <a:noFill/>
            </a:ln>
          </p:spPr>
          <p:txBody>
            <a:bodyPr wrap="none">
              <a:spAutoFit/>
            </a:bodyPr>
            <a:lstStyle/>
            <a:p>
              <a:r>
                <a:rPr lang="zh-CN" altLang="en-US" sz="2600" dirty="0">
                  <a:solidFill>
                    <a:schemeClr val="tx1"/>
                  </a:solidFill>
                  <a:latin typeface="Times New Roman" panose="02020603050405020304" pitchFamily="18" charset="0"/>
                </a:rPr>
                <a:t>每个杂化轨道成分</a:t>
              </a:r>
            </a:p>
            <a:p>
              <a:r>
                <a:rPr lang="zh-CN" altLang="en-US" sz="260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1/3 s+2/3 p</a:t>
              </a:r>
              <a:r>
                <a:rPr lang="zh-CN" altLang="en-US" sz="2600" dirty="0">
                  <a:solidFill>
                    <a:schemeClr val="tx1"/>
                  </a:solidFill>
                  <a:latin typeface="Times New Roman" panose="02020603050405020304" pitchFamily="18" charset="0"/>
                </a:rPr>
                <a:t>）</a:t>
              </a:r>
            </a:p>
          </p:txBody>
        </p:sp>
        <p:sp>
          <p:nvSpPr>
            <p:cNvPr id="51212" name="Rectangle 59"/>
            <p:cNvSpPr/>
            <p:nvPr/>
          </p:nvSpPr>
          <p:spPr>
            <a:xfrm>
              <a:off x="152400" y="2667000"/>
              <a:ext cx="3243196" cy="492443"/>
            </a:xfrm>
            <a:prstGeom prst="rect">
              <a:avLst/>
            </a:prstGeom>
            <a:noFill/>
            <a:ln w="9525">
              <a:noFill/>
            </a:ln>
          </p:spPr>
          <p:txBody>
            <a:bodyPr wrap="none">
              <a:spAutoFit/>
            </a:bodyPr>
            <a:lstStyle/>
            <a:p>
              <a:pPr algn="l" eaLnBrk="0" hangingPunct="0"/>
              <a:r>
                <a:rPr lang="zh-CN" altLang="en-US" sz="2600" dirty="0">
                  <a:solidFill>
                    <a:schemeClr val="tx1"/>
                  </a:solidFill>
                  <a:latin typeface="Times New Roman" panose="02020603050405020304" pitchFamily="18" charset="0"/>
                </a:rPr>
                <a:t>一个</a:t>
              </a:r>
              <a:r>
                <a:rPr lang="en-US" altLang="zh-CN" sz="2600" dirty="0">
                  <a:solidFill>
                    <a:schemeClr val="tx1"/>
                  </a:solidFill>
                  <a:latin typeface="Times New Roman" panose="02020603050405020304" pitchFamily="18" charset="0"/>
                </a:rPr>
                <a:t>2s</a:t>
              </a:r>
              <a:r>
                <a:rPr lang="zh-CN" altLang="en-US" sz="2600" dirty="0">
                  <a:solidFill>
                    <a:schemeClr val="tx1"/>
                  </a:solidFill>
                  <a:latin typeface="Times New Roman" panose="02020603050405020304" pitchFamily="18" charset="0"/>
                </a:rPr>
                <a:t>、三个 </a:t>
              </a:r>
              <a:r>
                <a:rPr lang="en-US" altLang="zh-CN" sz="2600" dirty="0">
                  <a:solidFill>
                    <a:schemeClr val="tx1"/>
                  </a:solidFill>
                  <a:latin typeface="Times New Roman" panose="02020603050405020304" pitchFamily="18" charset="0"/>
                </a:rPr>
                <a:t>2p</a:t>
              </a:r>
              <a:r>
                <a:rPr lang="zh-CN" altLang="en-US" sz="2600" dirty="0">
                  <a:solidFill>
                    <a:schemeClr val="tx1"/>
                  </a:solidFill>
                  <a:latin typeface="Times New Roman" panose="02020603050405020304" pitchFamily="18" charset="0"/>
                </a:rPr>
                <a:t>轨道</a:t>
              </a: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8660" name="jl-sp2.avi">
            <a:hlinkClick r:id="" action="ppaction://media"/>
          </p:cNvPr>
          <p:cNvPicPr>
            <a:picLocks noRot="1" noChangeAspect="1"/>
          </p:cNvPicPr>
          <p:nvPr>
            <a:videoFile r:link="rId1"/>
            <p:extLst>
              <p:ext uri="{DAA4B4D4-6D71-4841-9C94-3DE7FCFB9230}">
                <p14:media xmlns="" xmlns:p14="http://schemas.microsoft.com/office/powerpoint/2010/main" r:link="rId3"/>
              </p:ext>
            </p:extLst>
          </p:nvPr>
        </p:nvPicPr>
        <p:blipFill>
          <a:blip r:embed="rId4"/>
          <a:srcRect l="19437" t="14972" r="15366" b="20778"/>
          <a:stretch>
            <a:fillRect/>
          </a:stretch>
        </p:blipFill>
        <p:spPr>
          <a:xfrm>
            <a:off x="5715000" y="3276600"/>
            <a:ext cx="3429000" cy="3429000"/>
          </a:xfrm>
          <a:prstGeom prst="rect">
            <a:avLst/>
          </a:prstGeom>
          <a:noFill/>
          <a:ln w="9525">
            <a:noFill/>
          </a:ln>
        </p:spPr>
      </p:pic>
      <p:sp>
        <p:nvSpPr>
          <p:cNvPr id="52227" name="AutoShape 5"/>
          <p:cNvSpPr/>
          <p:nvPr/>
        </p:nvSpPr>
        <p:spPr>
          <a:xfrm rot="-352199">
            <a:off x="8048625" y="2438400"/>
            <a:ext cx="762000" cy="914400"/>
          </a:xfrm>
          <a:prstGeom prst="curvedLeftArrow">
            <a:avLst>
              <a:gd name="adj1" fmla="val 24000"/>
              <a:gd name="adj2" fmla="val 48000"/>
              <a:gd name="adj3" fmla="val 33333"/>
            </a:avLst>
          </a:prstGeom>
          <a:solidFill>
            <a:srgbClr val="FF6600"/>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2228" name="AutoShape 6"/>
          <p:cNvSpPr/>
          <p:nvPr/>
        </p:nvSpPr>
        <p:spPr>
          <a:xfrm rot="10800000">
            <a:off x="4267200" y="3657600"/>
            <a:ext cx="1143000" cy="4572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2229" name="AutoShape 7"/>
          <p:cNvSpPr/>
          <p:nvPr/>
        </p:nvSpPr>
        <p:spPr>
          <a:xfrm>
            <a:off x="3962400" y="838200"/>
            <a:ext cx="1600200" cy="6858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sp>
        <p:nvSpPr>
          <p:cNvPr id="52230" name="Rectangle 8"/>
          <p:cNvSpPr/>
          <p:nvPr/>
        </p:nvSpPr>
        <p:spPr>
          <a:xfrm>
            <a:off x="3962400" y="4191000"/>
            <a:ext cx="1752600" cy="1679575"/>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 BCl</a:t>
            </a:r>
            <a:r>
              <a:rPr lang="en-US" altLang="zh-CN" sz="2600" i="0" baseline="-25000" dirty="0">
                <a:solidFill>
                  <a:schemeClr val="tx1"/>
                </a:solidFill>
                <a:latin typeface="Times New Roman" panose="02020603050405020304" pitchFamily="18" charset="0"/>
              </a:rPr>
              <a:t>3  </a:t>
            </a:r>
            <a:r>
              <a:rPr lang="zh-CN" altLang="en-US" sz="2600" i="0" dirty="0">
                <a:solidFill>
                  <a:schemeClr val="tx1"/>
                </a:solidFill>
                <a:latin typeface="Times New Roman" panose="02020603050405020304" pitchFamily="18" charset="0"/>
              </a:rPr>
              <a:t>三个共价键形成</a:t>
            </a:r>
            <a:r>
              <a:rPr lang="zh-CN" altLang="en-US" sz="2600" dirty="0">
                <a:solidFill>
                  <a:schemeClr val="tx1"/>
                </a:solidFill>
                <a:latin typeface="Times New Roman" panose="02020603050405020304" pitchFamily="18" charset="0"/>
              </a:rPr>
              <a:t>正三角</a:t>
            </a:r>
            <a:r>
              <a:rPr lang="zh-CN" altLang="en-US" sz="2600" i="0" dirty="0">
                <a:solidFill>
                  <a:schemeClr val="tx1"/>
                </a:solidFill>
                <a:latin typeface="Times New Roman" panose="02020603050405020304" pitchFamily="18" charset="0"/>
              </a:rPr>
              <a:t>构型</a:t>
            </a:r>
          </a:p>
        </p:txBody>
      </p:sp>
      <p:pic>
        <p:nvPicPr>
          <p:cNvPr id="52231" name="Picture 9"/>
          <p:cNvPicPr>
            <a:picLocks noChangeAspect="1"/>
          </p:cNvPicPr>
          <p:nvPr/>
        </p:nvPicPr>
        <p:blipFill>
          <a:blip r:embed="rId5"/>
          <a:srcRect l="59375"/>
          <a:stretch>
            <a:fillRect/>
          </a:stretch>
        </p:blipFill>
        <p:spPr>
          <a:xfrm>
            <a:off x="5715000" y="152400"/>
            <a:ext cx="3200400" cy="2270125"/>
          </a:xfrm>
          <a:prstGeom prst="rect">
            <a:avLst/>
          </a:prstGeom>
          <a:noFill/>
          <a:ln w="9525">
            <a:noFill/>
          </a:ln>
        </p:spPr>
      </p:pic>
      <p:pic>
        <p:nvPicPr>
          <p:cNvPr id="52232" name="Picture 10"/>
          <p:cNvPicPr>
            <a:picLocks noChangeAspect="1"/>
          </p:cNvPicPr>
          <p:nvPr/>
        </p:nvPicPr>
        <p:blipFill>
          <a:blip r:embed="rId5"/>
          <a:srcRect r="62492"/>
          <a:stretch>
            <a:fillRect/>
          </a:stretch>
        </p:blipFill>
        <p:spPr>
          <a:xfrm>
            <a:off x="381000" y="0"/>
            <a:ext cx="3352800" cy="2590800"/>
          </a:xfrm>
          <a:prstGeom prst="rect">
            <a:avLst/>
          </a:prstGeom>
          <a:solidFill>
            <a:srgbClr val="FF9900"/>
          </a:solidFill>
          <a:ln w="9525">
            <a:noFill/>
          </a:ln>
        </p:spPr>
      </p:pic>
      <p:sp>
        <p:nvSpPr>
          <p:cNvPr id="52233" name="Rectangle 11"/>
          <p:cNvSpPr/>
          <p:nvPr/>
        </p:nvSpPr>
        <p:spPr>
          <a:xfrm>
            <a:off x="609600" y="2743200"/>
            <a:ext cx="3124200" cy="469900"/>
          </a:xfrm>
          <a:prstGeom prst="rect">
            <a:avLst/>
          </a:prstGeom>
          <a:noFill/>
          <a:ln w="9525">
            <a:noFill/>
          </a:ln>
        </p:spPr>
        <p:txBody>
          <a:bodyPr>
            <a:spAutoFit/>
          </a:bodyPr>
          <a:lstStyle/>
          <a:p>
            <a:pPr eaLnBrk="0" hangingPunct="0">
              <a:lnSpc>
                <a:spcPct val="95000"/>
              </a:lnSpc>
              <a:spcBef>
                <a:spcPct val="50000"/>
              </a:spcBef>
            </a:pPr>
            <a:r>
              <a:rPr lang="zh-CN" altLang="en-US" sz="2600" i="0" dirty="0">
                <a:solidFill>
                  <a:schemeClr val="tx1"/>
                </a:solidFill>
                <a:latin typeface="Times New Roman" panose="02020603050405020304" pitchFamily="18" charset="0"/>
              </a:rPr>
              <a:t>基态硼原子的结构</a:t>
            </a:r>
          </a:p>
        </p:txBody>
      </p:sp>
      <p:sp>
        <p:nvSpPr>
          <p:cNvPr id="52234" name="Rectangle 12"/>
          <p:cNvSpPr/>
          <p:nvPr/>
        </p:nvSpPr>
        <p:spPr>
          <a:xfrm>
            <a:off x="5638800" y="2514600"/>
            <a:ext cx="2286000" cy="492125"/>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杂化轨道</a:t>
            </a:r>
          </a:p>
        </p:txBody>
      </p:sp>
      <p:pic>
        <p:nvPicPr>
          <p:cNvPr id="52235" name="Picture 13"/>
          <p:cNvPicPr>
            <a:picLocks noChangeAspect="1"/>
          </p:cNvPicPr>
          <p:nvPr/>
        </p:nvPicPr>
        <p:blipFill>
          <a:blip r:embed="rId6"/>
          <a:stretch>
            <a:fillRect/>
          </a:stretch>
        </p:blipFill>
        <p:spPr>
          <a:xfrm>
            <a:off x="152400" y="3429000"/>
            <a:ext cx="3810000" cy="3124200"/>
          </a:xfrm>
          <a:prstGeom prst="rect">
            <a:avLst/>
          </a:prstGeom>
          <a:noFill/>
          <a:ln w="9525">
            <a:noFill/>
          </a:ln>
        </p:spPr>
      </p:pic>
      <p:sp>
        <p:nvSpPr>
          <p:cNvPr id="52236" name="Rectangle 14"/>
          <p:cNvSpPr/>
          <p:nvPr/>
        </p:nvSpPr>
        <p:spPr>
          <a:xfrm>
            <a:off x="3962400" y="5943600"/>
            <a:ext cx="1881188" cy="492125"/>
          </a:xfrm>
          <a:prstGeom prst="rect">
            <a:avLst/>
          </a:prstGeom>
          <a:noFill/>
          <a:ln w="9525">
            <a:noFill/>
          </a:ln>
        </p:spPr>
        <p:txBody>
          <a:bodyPr wrap="none">
            <a:spAutoFit/>
          </a:bodyPr>
          <a:lstStyle/>
          <a:p>
            <a:r>
              <a:rPr lang="zh-CN" altLang="en-US" sz="2600" dirty="0">
                <a:solidFill>
                  <a:schemeClr val="tx1"/>
                </a:solidFill>
                <a:latin typeface="Times New Roman" panose="02020603050405020304" pitchFamily="18" charset="0"/>
              </a:rPr>
              <a:t>键角</a:t>
            </a:r>
            <a:r>
              <a:rPr lang="en-US" altLang="zh-CN" sz="2600" dirty="0">
                <a:solidFill>
                  <a:schemeClr val="tx1"/>
                </a:solidFill>
                <a:latin typeface="Times New Roman" panose="02020603050405020304" pitchFamily="18" charset="0"/>
              </a:rPr>
              <a:t>=120°</a:t>
            </a:r>
          </a:p>
        </p:txBody>
      </p:sp>
    </p:spTree>
  </p:cSld>
  <p:clrMapOvr>
    <a:masterClrMapping/>
  </p:clrMapOvr>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198660"/>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3250" name="组合 39"/>
          <p:cNvGrpSpPr/>
          <p:nvPr/>
        </p:nvGrpSpPr>
        <p:grpSpPr>
          <a:xfrm>
            <a:off x="0" y="152400"/>
            <a:ext cx="8570913" cy="5997575"/>
            <a:chOff x="0" y="152400"/>
            <a:chExt cx="8570913" cy="5997952"/>
          </a:xfrm>
        </p:grpSpPr>
        <p:sp>
          <p:nvSpPr>
            <p:cNvPr id="53251" name="Rectangle 2"/>
            <p:cNvSpPr/>
            <p:nvPr/>
          </p:nvSpPr>
          <p:spPr>
            <a:xfrm>
              <a:off x="0" y="152400"/>
              <a:ext cx="4495800" cy="612475"/>
            </a:xfrm>
            <a:prstGeom prst="rect">
              <a:avLst/>
            </a:prstGeom>
            <a:noFill/>
            <a:ln w="9525">
              <a:noFill/>
            </a:ln>
          </p:spPr>
          <p:txBody>
            <a:bodyPr>
              <a:spAutoFit/>
            </a:bodyPr>
            <a:lstStyle/>
            <a:p>
              <a:pPr algn="l" eaLnBrk="0" hangingPunct="0">
                <a:lnSpc>
                  <a:spcPct val="130000"/>
                </a:lnSpc>
              </a:pPr>
              <a:r>
                <a:rPr lang="en-US" altLang="zh-CN" sz="2600" i="0" dirty="0">
                  <a:solidFill>
                    <a:srgbClr val="0000FF"/>
                  </a:solidFill>
                  <a:latin typeface="Times New Roman" panose="02020603050405020304" pitchFamily="18" charset="0"/>
                </a:rPr>
                <a:t>3</a:t>
              </a:r>
              <a:r>
                <a:rPr lang="zh-CN" altLang="en-US" sz="2600" i="0" dirty="0">
                  <a:solidFill>
                    <a:srgbClr val="0000FF"/>
                  </a:solidFill>
                  <a:latin typeface="Times New Roman" panose="02020603050405020304" pitchFamily="18" charset="0"/>
                </a:rPr>
                <a:t>、 </a:t>
              </a:r>
              <a:r>
                <a:rPr lang="en-US" altLang="zh-CN" sz="2600" i="0" dirty="0">
                  <a:solidFill>
                    <a:srgbClr val="0000FF"/>
                  </a:solidFill>
                  <a:latin typeface="Times New Roman" panose="02020603050405020304" pitchFamily="18" charset="0"/>
                </a:rPr>
                <a:t>sp</a:t>
              </a:r>
              <a:r>
                <a:rPr lang="zh-CN" altLang="en-US" sz="2600" i="0" dirty="0">
                  <a:solidFill>
                    <a:srgbClr val="0000FF"/>
                  </a:solidFill>
                  <a:latin typeface="Times New Roman" panose="02020603050405020304" pitchFamily="18" charset="0"/>
                </a:rPr>
                <a:t>杂化 </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以</a:t>
              </a:r>
              <a:r>
                <a:rPr lang="en-US" altLang="zh-CN" sz="2600" dirty="0">
                  <a:solidFill>
                    <a:srgbClr val="0000FF"/>
                  </a:solidFill>
                  <a:latin typeface="Times New Roman" panose="02020603050405020304" pitchFamily="18" charset="0"/>
                </a:rPr>
                <a:t>BeH</a:t>
              </a:r>
              <a:r>
                <a:rPr lang="en-US" altLang="zh-CN" sz="2600" baseline="-25000" dirty="0">
                  <a:solidFill>
                    <a:srgbClr val="0000FF"/>
                  </a:solidFill>
                  <a:latin typeface="Times New Roman" panose="02020603050405020304" pitchFamily="18" charset="0"/>
                </a:rPr>
                <a:t>2 </a:t>
              </a:r>
              <a:r>
                <a:rPr lang="zh-CN" altLang="en-US" sz="2600" dirty="0">
                  <a:solidFill>
                    <a:srgbClr val="0000FF"/>
                  </a:solidFill>
                  <a:latin typeface="Times New Roman" panose="02020603050405020304" pitchFamily="18" charset="0"/>
                </a:rPr>
                <a:t>为例</a:t>
              </a:r>
              <a:r>
                <a:rPr lang="en-US" altLang="zh-CN" sz="2600" dirty="0">
                  <a:solidFill>
                    <a:srgbClr val="0000FF"/>
                  </a:solidFill>
                  <a:latin typeface="Times New Roman" panose="02020603050405020304" pitchFamily="18" charset="0"/>
                </a:rPr>
                <a:t>)</a:t>
              </a:r>
            </a:p>
          </p:txBody>
        </p:sp>
        <p:grpSp>
          <p:nvGrpSpPr>
            <p:cNvPr id="53252" name="Group 68"/>
            <p:cNvGrpSpPr/>
            <p:nvPr/>
          </p:nvGrpSpPr>
          <p:grpSpPr>
            <a:xfrm>
              <a:off x="1219200" y="1066800"/>
              <a:ext cx="2389188" cy="1606550"/>
              <a:chOff x="768" y="672"/>
              <a:chExt cx="1505" cy="1012"/>
            </a:xfrm>
          </p:grpSpPr>
          <p:sp>
            <p:nvSpPr>
              <p:cNvPr id="53280" name="Oval 6"/>
              <p:cNvSpPr/>
              <p:nvPr/>
            </p:nvSpPr>
            <p:spPr>
              <a:xfrm>
                <a:off x="845" y="1326"/>
                <a:ext cx="395" cy="358"/>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81" name="Oval 7"/>
              <p:cNvSpPr/>
              <p:nvPr/>
            </p:nvSpPr>
            <p:spPr>
              <a:xfrm>
                <a:off x="1880" y="1011"/>
                <a:ext cx="393"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82" name="Oval 8"/>
              <p:cNvSpPr/>
              <p:nvPr/>
            </p:nvSpPr>
            <p:spPr>
              <a:xfrm>
                <a:off x="1485" y="1011"/>
                <a:ext cx="395"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83" name="Oval 9"/>
              <p:cNvSpPr/>
              <p:nvPr/>
            </p:nvSpPr>
            <p:spPr>
              <a:xfrm>
                <a:off x="1092" y="1011"/>
                <a:ext cx="393"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84" name="Line 10"/>
              <p:cNvSpPr/>
              <p:nvPr/>
            </p:nvSpPr>
            <p:spPr>
              <a:xfrm flipV="1">
                <a:off x="993" y="1415"/>
                <a:ext cx="0" cy="224"/>
              </a:xfrm>
              <a:prstGeom prst="line">
                <a:avLst/>
              </a:prstGeom>
              <a:ln w="9525" cap="flat" cmpd="sng">
                <a:solidFill>
                  <a:schemeClr val="tx1"/>
                </a:solidFill>
                <a:prstDash val="solid"/>
                <a:headEnd type="none" w="med" len="med"/>
                <a:tailEnd type="triangle" w="med" len="med"/>
              </a:ln>
            </p:spPr>
          </p:sp>
          <p:sp>
            <p:nvSpPr>
              <p:cNvPr id="53285" name="Line 11"/>
              <p:cNvSpPr/>
              <p:nvPr/>
            </p:nvSpPr>
            <p:spPr>
              <a:xfrm>
                <a:off x="1092" y="1415"/>
                <a:ext cx="0" cy="224"/>
              </a:xfrm>
              <a:prstGeom prst="line">
                <a:avLst/>
              </a:prstGeom>
              <a:ln w="9525" cap="flat" cmpd="sng">
                <a:solidFill>
                  <a:schemeClr val="tx1"/>
                </a:solidFill>
                <a:prstDash val="solid"/>
                <a:headEnd type="none" w="med" len="med"/>
                <a:tailEnd type="triangle" w="med" len="med"/>
              </a:ln>
            </p:spPr>
          </p:sp>
          <p:sp>
            <p:nvSpPr>
              <p:cNvPr id="53286" name="Line 13"/>
              <p:cNvSpPr/>
              <p:nvPr/>
            </p:nvSpPr>
            <p:spPr>
              <a:xfrm flipV="1">
                <a:off x="1152" y="1392"/>
                <a:ext cx="333" cy="112"/>
              </a:xfrm>
              <a:prstGeom prst="line">
                <a:avLst/>
              </a:prstGeom>
              <a:ln w="38100" cap="flat" cmpd="sng">
                <a:solidFill>
                  <a:srgbClr val="FF3300"/>
                </a:solidFill>
                <a:prstDash val="dash"/>
                <a:headEnd type="none" w="med" len="med"/>
                <a:tailEnd type="triangle" w="med" len="med"/>
              </a:ln>
            </p:spPr>
          </p:sp>
          <p:sp>
            <p:nvSpPr>
              <p:cNvPr id="53287" name="Rectangle 14"/>
              <p:cNvSpPr/>
              <p:nvPr/>
            </p:nvSpPr>
            <p:spPr>
              <a:xfrm>
                <a:off x="768" y="1030"/>
                <a:ext cx="301" cy="308"/>
              </a:xfrm>
              <a:prstGeom prst="rect">
                <a:avLst/>
              </a:prstGeom>
              <a:solidFill>
                <a:schemeClr val="bg1"/>
              </a:solid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2s</a:t>
                </a:r>
              </a:p>
            </p:txBody>
          </p:sp>
          <p:sp>
            <p:nvSpPr>
              <p:cNvPr id="53288" name="Rectangle 15"/>
              <p:cNvSpPr/>
              <p:nvPr/>
            </p:nvSpPr>
            <p:spPr>
              <a:xfrm>
                <a:off x="1584" y="672"/>
                <a:ext cx="382" cy="308"/>
              </a:xfrm>
              <a:prstGeom prst="rect">
                <a:avLst/>
              </a:prstGeom>
              <a:solidFill>
                <a:schemeClr val="bg1"/>
              </a:solidFill>
              <a:ln w="12700">
                <a:noFill/>
              </a:ln>
            </p:spPr>
            <p:txBody>
              <a:bodyPr>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2p</a:t>
                </a:r>
              </a:p>
            </p:txBody>
          </p:sp>
        </p:grpSp>
        <p:grpSp>
          <p:nvGrpSpPr>
            <p:cNvPr id="53253" name="Group 67"/>
            <p:cNvGrpSpPr/>
            <p:nvPr/>
          </p:nvGrpSpPr>
          <p:grpSpPr>
            <a:xfrm>
              <a:off x="5867400" y="990600"/>
              <a:ext cx="2405063" cy="1682750"/>
              <a:chOff x="3696" y="624"/>
              <a:chExt cx="1515" cy="1060"/>
            </a:xfrm>
          </p:grpSpPr>
          <p:sp>
            <p:nvSpPr>
              <p:cNvPr id="53272" name="Oval 17"/>
              <p:cNvSpPr/>
              <p:nvPr/>
            </p:nvSpPr>
            <p:spPr>
              <a:xfrm>
                <a:off x="4029" y="1011"/>
                <a:ext cx="394"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73" name="Oval 18"/>
              <p:cNvSpPr/>
              <p:nvPr/>
            </p:nvSpPr>
            <p:spPr>
              <a:xfrm>
                <a:off x="3833" y="1325"/>
                <a:ext cx="393"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74" name="Oval 19"/>
              <p:cNvSpPr/>
              <p:nvPr/>
            </p:nvSpPr>
            <p:spPr>
              <a:xfrm>
                <a:off x="4423" y="1011"/>
                <a:ext cx="394"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75" name="Oval 20"/>
              <p:cNvSpPr/>
              <p:nvPr/>
            </p:nvSpPr>
            <p:spPr>
              <a:xfrm>
                <a:off x="4817" y="1011"/>
                <a:ext cx="394"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76" name="Line 22"/>
              <p:cNvSpPr/>
              <p:nvPr/>
            </p:nvSpPr>
            <p:spPr>
              <a:xfrm flipV="1">
                <a:off x="4226" y="1101"/>
                <a:ext cx="0" cy="224"/>
              </a:xfrm>
              <a:prstGeom prst="line">
                <a:avLst/>
              </a:prstGeom>
              <a:ln w="9525" cap="flat" cmpd="sng">
                <a:solidFill>
                  <a:schemeClr val="tx1"/>
                </a:solidFill>
                <a:prstDash val="solid"/>
                <a:headEnd type="none" w="med" len="med"/>
                <a:tailEnd type="triangle" w="med" len="med"/>
              </a:ln>
            </p:spPr>
          </p:sp>
          <p:sp>
            <p:nvSpPr>
              <p:cNvPr id="53277" name="Line 23"/>
              <p:cNvSpPr/>
              <p:nvPr/>
            </p:nvSpPr>
            <p:spPr>
              <a:xfrm flipV="1">
                <a:off x="4050" y="1393"/>
                <a:ext cx="0" cy="223"/>
              </a:xfrm>
              <a:prstGeom prst="line">
                <a:avLst/>
              </a:prstGeom>
              <a:ln w="9525" cap="flat" cmpd="sng">
                <a:solidFill>
                  <a:schemeClr val="tx1"/>
                </a:solidFill>
                <a:prstDash val="solid"/>
                <a:headEnd type="none" w="med" len="med"/>
                <a:tailEnd type="triangle" w="med" len="med"/>
              </a:ln>
            </p:spPr>
          </p:sp>
          <p:sp>
            <p:nvSpPr>
              <p:cNvPr id="53278" name="Rectangle 24"/>
              <p:cNvSpPr/>
              <p:nvPr/>
            </p:nvSpPr>
            <p:spPr>
              <a:xfrm>
                <a:off x="3696" y="960"/>
                <a:ext cx="301" cy="308"/>
              </a:xfrm>
              <a:prstGeom prst="rect">
                <a:avLst/>
              </a:prstGeom>
              <a:solidFill>
                <a:schemeClr val="bg1"/>
              </a:solid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2s</a:t>
                </a:r>
              </a:p>
            </p:txBody>
          </p:sp>
          <p:sp>
            <p:nvSpPr>
              <p:cNvPr id="53279" name="Rectangle 25"/>
              <p:cNvSpPr/>
              <p:nvPr/>
            </p:nvSpPr>
            <p:spPr>
              <a:xfrm>
                <a:off x="4512" y="624"/>
                <a:ext cx="388" cy="309"/>
              </a:xfrm>
              <a:prstGeom prst="rect">
                <a:avLst/>
              </a:prstGeom>
              <a:solidFill>
                <a:schemeClr val="bg1"/>
              </a:solidFill>
              <a:ln w="12700">
                <a:noFill/>
              </a:ln>
            </p:spPr>
            <p:txBody>
              <a:bodyPr>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2p</a:t>
                </a:r>
              </a:p>
            </p:txBody>
          </p:sp>
        </p:grpSp>
        <p:grpSp>
          <p:nvGrpSpPr>
            <p:cNvPr id="53254" name="Group 65"/>
            <p:cNvGrpSpPr/>
            <p:nvPr/>
          </p:nvGrpSpPr>
          <p:grpSpPr>
            <a:xfrm>
              <a:off x="5638800" y="3505200"/>
              <a:ext cx="2452688" cy="1108075"/>
              <a:chOff x="3552" y="2208"/>
              <a:chExt cx="1545" cy="698"/>
            </a:xfrm>
          </p:grpSpPr>
          <p:sp>
            <p:nvSpPr>
              <p:cNvPr id="53265" name="Oval 27"/>
              <p:cNvSpPr/>
              <p:nvPr/>
            </p:nvSpPr>
            <p:spPr>
              <a:xfrm>
                <a:off x="4320" y="2304"/>
                <a:ext cx="393"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66" name="Oval 28"/>
              <p:cNvSpPr/>
              <p:nvPr/>
            </p:nvSpPr>
            <p:spPr>
              <a:xfrm>
                <a:off x="3947" y="2547"/>
                <a:ext cx="393"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67" name="Oval 29"/>
              <p:cNvSpPr/>
              <p:nvPr/>
            </p:nvSpPr>
            <p:spPr>
              <a:xfrm>
                <a:off x="4704" y="2304"/>
                <a:ext cx="393"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68" name="Oval 30"/>
              <p:cNvSpPr/>
              <p:nvPr/>
            </p:nvSpPr>
            <p:spPr>
              <a:xfrm>
                <a:off x="3552" y="2547"/>
                <a:ext cx="395" cy="359"/>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3269" name="Line 31"/>
              <p:cNvSpPr/>
              <p:nvPr/>
            </p:nvSpPr>
            <p:spPr>
              <a:xfrm flipV="1">
                <a:off x="4143" y="2637"/>
                <a:ext cx="1" cy="224"/>
              </a:xfrm>
              <a:prstGeom prst="line">
                <a:avLst/>
              </a:prstGeom>
              <a:ln w="9525" cap="flat" cmpd="sng">
                <a:solidFill>
                  <a:schemeClr val="tx1"/>
                </a:solidFill>
                <a:prstDash val="solid"/>
                <a:headEnd type="none" w="med" len="med"/>
                <a:tailEnd type="triangle" w="med" len="med"/>
              </a:ln>
            </p:spPr>
          </p:sp>
          <p:sp>
            <p:nvSpPr>
              <p:cNvPr id="53270" name="Line 32"/>
              <p:cNvSpPr/>
              <p:nvPr/>
            </p:nvSpPr>
            <p:spPr>
              <a:xfrm flipV="1">
                <a:off x="3749" y="2637"/>
                <a:ext cx="1" cy="224"/>
              </a:xfrm>
              <a:prstGeom prst="line">
                <a:avLst/>
              </a:prstGeom>
              <a:ln w="9525" cap="flat" cmpd="sng">
                <a:solidFill>
                  <a:schemeClr val="tx1"/>
                </a:solidFill>
                <a:prstDash val="solid"/>
                <a:headEnd type="none" w="med" len="med"/>
                <a:tailEnd type="triangle" w="med" len="med"/>
              </a:ln>
            </p:spPr>
          </p:sp>
          <p:sp>
            <p:nvSpPr>
              <p:cNvPr id="53271" name="Rectangle 34"/>
              <p:cNvSpPr/>
              <p:nvPr/>
            </p:nvSpPr>
            <p:spPr>
              <a:xfrm>
                <a:off x="3967" y="2208"/>
                <a:ext cx="313" cy="308"/>
              </a:xfrm>
              <a:prstGeom prst="rect">
                <a:avLst/>
              </a:prstGeom>
              <a:solidFill>
                <a:schemeClr val="bg1"/>
              </a:solid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sp</a:t>
                </a:r>
                <a:endParaRPr lang="en-US" altLang="zh-CN" sz="2600" i="0" baseline="30000" dirty="0">
                  <a:solidFill>
                    <a:schemeClr val="tx1"/>
                  </a:solidFill>
                  <a:latin typeface="Times New Roman" panose="02020603050405020304" pitchFamily="18" charset="0"/>
                  <a:ea typeface="宋体" panose="02010600030101010101" pitchFamily="2" charset="-122"/>
                </a:endParaRPr>
              </a:p>
            </p:txBody>
          </p:sp>
        </p:grpSp>
        <p:sp>
          <p:nvSpPr>
            <p:cNvPr id="53255" name="Text Box 35"/>
            <p:cNvSpPr txBox="1"/>
            <p:nvPr/>
          </p:nvSpPr>
          <p:spPr>
            <a:xfrm>
              <a:off x="5334000" y="4876800"/>
              <a:ext cx="3236913" cy="488950"/>
            </a:xfrm>
            <a:prstGeom prst="rect">
              <a:avLst/>
            </a:prstGeom>
            <a:solidFill>
              <a:schemeClr val="bg1"/>
            </a:solidFill>
            <a:ln w="9525">
              <a:noFill/>
            </a:ln>
          </p:spPr>
          <p:txBody>
            <a:bodyPr>
              <a:spAutoFit/>
            </a:bodyPr>
            <a:lstStyle/>
            <a:p>
              <a:pPr algn="l" eaLnBrk="0" hangingPunct="0">
                <a:spcBef>
                  <a:spcPct val="50000"/>
                </a:spcBef>
              </a:pPr>
              <a:r>
                <a:rPr lang="zh-CN" altLang="en-US" sz="2600" dirty="0">
                  <a:solidFill>
                    <a:schemeClr val="tx1"/>
                  </a:solidFill>
                  <a:latin typeface="楷体_GB2312" pitchFamily="49" charset="-122"/>
                </a:rPr>
                <a:t>二个 </a:t>
              </a:r>
              <a:r>
                <a:rPr lang="en-US" altLang="zh-CN" sz="2600" dirty="0">
                  <a:solidFill>
                    <a:schemeClr val="tx1"/>
                  </a:solidFill>
                  <a:latin typeface="Times New Roman" panose="02020603050405020304" pitchFamily="18" charset="0"/>
                </a:rPr>
                <a:t>sp</a:t>
              </a:r>
              <a:r>
                <a:rPr lang="en-US" altLang="zh-CN" sz="2600" baseline="30000" dirty="0">
                  <a:solidFill>
                    <a:schemeClr val="tx1"/>
                  </a:solidFill>
                  <a:latin typeface="楷体_GB2312" pitchFamily="49" charset="-122"/>
                </a:rPr>
                <a:t> </a:t>
              </a:r>
              <a:r>
                <a:rPr lang="zh-CN" altLang="en-US" sz="2600" dirty="0">
                  <a:solidFill>
                    <a:schemeClr val="tx1"/>
                  </a:solidFill>
                  <a:latin typeface="楷体_GB2312" pitchFamily="49" charset="-122"/>
                </a:rPr>
                <a:t>杂化轨道</a:t>
              </a:r>
            </a:p>
          </p:txBody>
        </p:sp>
        <p:grpSp>
          <p:nvGrpSpPr>
            <p:cNvPr id="53256" name="Group 61"/>
            <p:cNvGrpSpPr/>
            <p:nvPr/>
          </p:nvGrpSpPr>
          <p:grpSpPr>
            <a:xfrm>
              <a:off x="3962400" y="1524000"/>
              <a:ext cx="1828800" cy="609600"/>
              <a:chOff x="1248" y="1920"/>
              <a:chExt cx="1152" cy="384"/>
            </a:xfrm>
          </p:grpSpPr>
          <p:sp>
            <p:nvSpPr>
              <p:cNvPr id="53263" name="Line 37"/>
              <p:cNvSpPr/>
              <p:nvPr/>
            </p:nvSpPr>
            <p:spPr>
              <a:xfrm>
                <a:off x="1296" y="2304"/>
                <a:ext cx="836" cy="0"/>
              </a:xfrm>
              <a:prstGeom prst="line">
                <a:avLst/>
              </a:prstGeom>
              <a:ln w="9525" cap="flat" cmpd="sng">
                <a:solidFill>
                  <a:schemeClr val="tx1"/>
                </a:solidFill>
                <a:prstDash val="solid"/>
                <a:headEnd type="none" w="med" len="med"/>
                <a:tailEnd type="triangle" w="med" len="med"/>
              </a:ln>
            </p:spPr>
          </p:sp>
          <p:sp>
            <p:nvSpPr>
              <p:cNvPr id="53264" name="Rectangle 38"/>
              <p:cNvSpPr/>
              <p:nvPr/>
            </p:nvSpPr>
            <p:spPr>
              <a:xfrm>
                <a:off x="1248" y="1920"/>
                <a:ext cx="1152" cy="308"/>
              </a:xfrm>
              <a:prstGeom prst="rect">
                <a:avLst/>
              </a:prstGeom>
              <a:solidFill>
                <a:schemeClr val="bg1"/>
              </a:solid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激发</a:t>
                </a:r>
              </a:p>
            </p:txBody>
          </p:sp>
        </p:grpSp>
        <p:grpSp>
          <p:nvGrpSpPr>
            <p:cNvPr id="53257" name="Group 60"/>
            <p:cNvGrpSpPr/>
            <p:nvPr/>
          </p:nvGrpSpPr>
          <p:grpSpPr>
            <a:xfrm>
              <a:off x="3200400" y="3962400"/>
              <a:ext cx="1905000" cy="533400"/>
              <a:chOff x="2832" y="2400"/>
              <a:chExt cx="912" cy="384"/>
            </a:xfrm>
          </p:grpSpPr>
          <p:sp>
            <p:nvSpPr>
              <p:cNvPr id="53261" name="Line 39"/>
              <p:cNvSpPr/>
              <p:nvPr/>
            </p:nvSpPr>
            <p:spPr>
              <a:xfrm flipV="1">
                <a:off x="2832" y="2784"/>
                <a:ext cx="912" cy="0"/>
              </a:xfrm>
              <a:prstGeom prst="line">
                <a:avLst/>
              </a:prstGeom>
              <a:ln w="9525" cap="flat" cmpd="sng">
                <a:solidFill>
                  <a:schemeClr val="tx1"/>
                </a:solidFill>
                <a:prstDash val="solid"/>
                <a:headEnd type="none" w="med" len="med"/>
                <a:tailEnd type="triangle" w="med" len="med"/>
              </a:ln>
            </p:spPr>
          </p:sp>
          <p:sp>
            <p:nvSpPr>
              <p:cNvPr id="53262" name="Rectangle 40"/>
              <p:cNvSpPr/>
              <p:nvPr/>
            </p:nvSpPr>
            <p:spPr>
              <a:xfrm>
                <a:off x="2928" y="2400"/>
                <a:ext cx="666" cy="352"/>
              </a:xfrm>
              <a:prstGeom prst="rect">
                <a:avLst/>
              </a:prstGeom>
              <a:solidFill>
                <a:schemeClr val="bg1"/>
              </a:solid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杂化</a:t>
                </a:r>
              </a:p>
            </p:txBody>
          </p:sp>
        </p:grpSp>
        <p:sp>
          <p:nvSpPr>
            <p:cNvPr id="53258" name="Rectangle 58"/>
            <p:cNvSpPr/>
            <p:nvPr/>
          </p:nvSpPr>
          <p:spPr>
            <a:xfrm>
              <a:off x="2133600" y="5257800"/>
              <a:ext cx="2864887" cy="892552"/>
            </a:xfrm>
            <a:prstGeom prst="rect">
              <a:avLst/>
            </a:prstGeom>
            <a:solidFill>
              <a:srgbClr val="FF99FF"/>
            </a:solidFill>
            <a:ln w="9525">
              <a:noFill/>
            </a:ln>
          </p:spPr>
          <p:txBody>
            <a:bodyPr wrap="none">
              <a:spAutoFit/>
            </a:bodyPr>
            <a:lstStyle/>
            <a:p>
              <a:r>
                <a:rPr lang="zh-CN" altLang="en-US" sz="2600" dirty="0">
                  <a:solidFill>
                    <a:schemeClr val="tx1"/>
                  </a:solidFill>
                  <a:latin typeface="Times New Roman" panose="02020603050405020304" pitchFamily="18" charset="0"/>
                </a:rPr>
                <a:t>每个杂化轨道成分</a:t>
              </a:r>
            </a:p>
            <a:p>
              <a:r>
                <a:rPr lang="zh-CN" altLang="en-US" sz="260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1/2 s+1/2 p</a:t>
              </a:r>
              <a:r>
                <a:rPr lang="zh-CN" altLang="en-US" sz="2600" dirty="0">
                  <a:solidFill>
                    <a:schemeClr val="tx1"/>
                  </a:solidFill>
                  <a:latin typeface="Times New Roman" panose="02020603050405020304" pitchFamily="18" charset="0"/>
                </a:rPr>
                <a:t>）</a:t>
              </a:r>
            </a:p>
          </p:txBody>
        </p:sp>
        <p:sp>
          <p:nvSpPr>
            <p:cNvPr id="53259" name="Rectangle 63"/>
            <p:cNvSpPr/>
            <p:nvPr/>
          </p:nvSpPr>
          <p:spPr>
            <a:xfrm>
              <a:off x="152400" y="990600"/>
              <a:ext cx="554960" cy="492443"/>
            </a:xfrm>
            <a:prstGeom prst="rect">
              <a:avLst/>
            </a:prstGeom>
            <a:solidFill>
              <a:srgbClr val="FF99CC"/>
            </a:solidFill>
            <a:ln w="9525">
              <a:noFill/>
            </a:ln>
          </p:spPr>
          <p:txBody>
            <a:bodyPr wrap="none">
              <a:spAutoFit/>
            </a:bodyPr>
            <a:lstStyle/>
            <a:p>
              <a:r>
                <a:rPr lang="en-US" altLang="zh-CN" sz="2600" dirty="0">
                  <a:solidFill>
                    <a:schemeClr val="tx1"/>
                  </a:solidFill>
                  <a:latin typeface="Times New Roman" panose="02020603050405020304" pitchFamily="18" charset="0"/>
                </a:rPr>
                <a:t>Be</a:t>
              </a:r>
            </a:p>
          </p:txBody>
        </p:sp>
        <p:sp>
          <p:nvSpPr>
            <p:cNvPr id="53260" name="Rectangle 64"/>
            <p:cNvSpPr/>
            <p:nvPr/>
          </p:nvSpPr>
          <p:spPr>
            <a:xfrm>
              <a:off x="990600" y="2819400"/>
              <a:ext cx="3243196" cy="492443"/>
            </a:xfrm>
            <a:prstGeom prst="rect">
              <a:avLst/>
            </a:prstGeom>
            <a:noFill/>
            <a:ln w="9525">
              <a:noFill/>
            </a:ln>
          </p:spPr>
          <p:txBody>
            <a:bodyPr wrap="none">
              <a:spAutoFit/>
            </a:bodyPr>
            <a:lstStyle/>
            <a:p>
              <a:pPr algn="l" eaLnBrk="0" hangingPunct="0"/>
              <a:r>
                <a:rPr lang="zh-CN" altLang="en-US" sz="2600" dirty="0">
                  <a:solidFill>
                    <a:schemeClr val="tx1"/>
                  </a:solidFill>
                  <a:latin typeface="Times New Roman" panose="02020603050405020304" pitchFamily="18" charset="0"/>
                </a:rPr>
                <a:t>一个</a:t>
              </a:r>
              <a:r>
                <a:rPr lang="en-US" altLang="zh-CN" sz="2600" dirty="0">
                  <a:solidFill>
                    <a:schemeClr val="tx1"/>
                  </a:solidFill>
                  <a:latin typeface="Times New Roman" panose="02020603050405020304" pitchFamily="18" charset="0"/>
                </a:rPr>
                <a:t>2s</a:t>
              </a:r>
              <a:r>
                <a:rPr lang="zh-CN" altLang="en-US" sz="2600" dirty="0">
                  <a:solidFill>
                    <a:schemeClr val="tx1"/>
                  </a:solidFill>
                  <a:latin typeface="Times New Roman" panose="02020603050405020304" pitchFamily="18" charset="0"/>
                </a:rPr>
                <a:t>、三个 </a:t>
              </a:r>
              <a:r>
                <a:rPr lang="en-US" altLang="zh-CN" sz="2600" dirty="0">
                  <a:solidFill>
                    <a:schemeClr val="tx1"/>
                  </a:solidFill>
                  <a:latin typeface="Times New Roman" panose="02020603050405020304" pitchFamily="18" charset="0"/>
                </a:rPr>
                <a:t>2p</a:t>
              </a:r>
              <a:r>
                <a:rPr lang="zh-CN" altLang="en-US" sz="2600" dirty="0">
                  <a:solidFill>
                    <a:schemeClr val="tx1"/>
                  </a:solidFill>
                  <a:latin typeface="Times New Roman" panose="02020603050405020304" pitchFamily="18" charset="0"/>
                </a:rPr>
                <a:t>轨道</a:t>
              </a: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4274" name="Picture 5"/>
          <p:cNvPicPr>
            <a:picLocks noChangeAspect="1"/>
          </p:cNvPicPr>
          <p:nvPr/>
        </p:nvPicPr>
        <p:blipFill>
          <a:blip r:embed="rId3"/>
          <a:srcRect l="42592" r="25926" b="14815"/>
          <a:stretch>
            <a:fillRect/>
          </a:stretch>
        </p:blipFill>
        <p:spPr>
          <a:xfrm>
            <a:off x="5715000" y="3200400"/>
            <a:ext cx="3276600" cy="3352800"/>
          </a:xfrm>
          <a:prstGeom prst="rect">
            <a:avLst/>
          </a:prstGeom>
          <a:noFill/>
          <a:ln w="9525">
            <a:noFill/>
          </a:ln>
        </p:spPr>
      </p:pic>
      <p:sp>
        <p:nvSpPr>
          <p:cNvPr id="54275" name="AutoShape 6"/>
          <p:cNvSpPr/>
          <p:nvPr/>
        </p:nvSpPr>
        <p:spPr>
          <a:xfrm rot="-587998">
            <a:off x="8382000" y="2286000"/>
            <a:ext cx="479425" cy="1130300"/>
          </a:xfrm>
          <a:prstGeom prst="curvedLeftArrow">
            <a:avLst>
              <a:gd name="adj1" fmla="val 47152"/>
              <a:gd name="adj2" fmla="val 94304"/>
              <a:gd name="adj3" fmla="val 33333"/>
            </a:avLst>
          </a:prstGeom>
          <a:solidFill>
            <a:srgbClr val="FF6600"/>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solidFill>
                <a:schemeClr val="tx1"/>
              </a:solidFill>
              <a:latin typeface="Times New Roman" panose="02020603050405020304" pitchFamily="18" charset="0"/>
            </a:endParaRPr>
          </a:p>
        </p:txBody>
      </p:sp>
      <p:sp>
        <p:nvSpPr>
          <p:cNvPr id="54276" name="AutoShape 7"/>
          <p:cNvSpPr/>
          <p:nvPr/>
        </p:nvSpPr>
        <p:spPr>
          <a:xfrm>
            <a:off x="3962400" y="914400"/>
            <a:ext cx="1714500" cy="5334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grpSp>
        <p:nvGrpSpPr>
          <p:cNvPr id="54277" name="Group 8"/>
          <p:cNvGrpSpPr/>
          <p:nvPr/>
        </p:nvGrpSpPr>
        <p:grpSpPr>
          <a:xfrm>
            <a:off x="3810000" y="3352800"/>
            <a:ext cx="1947863" cy="885825"/>
            <a:chOff x="2832" y="2736"/>
            <a:chExt cx="1227" cy="558"/>
          </a:xfrm>
        </p:grpSpPr>
        <p:sp>
          <p:nvSpPr>
            <p:cNvPr id="54287" name="AutoShape 9"/>
            <p:cNvSpPr/>
            <p:nvPr/>
          </p:nvSpPr>
          <p:spPr>
            <a:xfrm rot="10800000">
              <a:off x="2832" y="2736"/>
              <a:ext cx="1227" cy="558"/>
            </a:xfrm>
            <a:custGeom>
              <a:avLst/>
              <a:gdLst>
                <a:gd name="txL" fmla="*/ 3380 w 21600"/>
                <a:gd name="txT" fmla="*/ 5419 h 21600"/>
                <a:gd name="txR" fmla="*/ 18907 w 21600"/>
                <a:gd name="txB" fmla="*/ 16181 h 21600"/>
              </a:gdLst>
              <a:ahLst/>
              <a:cxnLst>
                <a:cxn ang="17694720">
                  <a:pos x="0" y="0"/>
                </a:cxn>
                <a:cxn ang="11796480">
                  <a:pos x="0" y="0"/>
                </a:cxn>
                <a:cxn ang="589824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sp>
          <p:nvSpPr>
            <p:cNvPr id="54288" name="Text Box 10"/>
            <p:cNvSpPr txBox="1"/>
            <p:nvPr/>
          </p:nvSpPr>
          <p:spPr>
            <a:xfrm>
              <a:off x="2934" y="2845"/>
              <a:ext cx="1099" cy="310"/>
            </a:xfrm>
            <a:prstGeom prst="rect">
              <a:avLst/>
            </a:prstGeom>
            <a:noFill/>
            <a:ln w="12700">
              <a:noFill/>
            </a:ln>
          </p:spPr>
          <p:txBody>
            <a:bodyPr wrap="none">
              <a:spAutoFit/>
            </a:bodyPr>
            <a:lstStyle/>
            <a:p>
              <a:pPr algn="l" eaLnBrk="0" hangingPunct="0"/>
              <a:r>
                <a:rPr lang="en-US" altLang="zh-CN" sz="2600" i="0" dirty="0">
                  <a:solidFill>
                    <a:schemeClr val="tx1"/>
                  </a:solidFill>
                  <a:latin typeface="Times New Roman" panose="02020603050405020304" pitchFamily="18" charset="0"/>
                  <a:ea typeface="宋体" panose="02010600030101010101" pitchFamily="2" charset="-122"/>
                </a:rPr>
                <a:t>H</a:t>
              </a:r>
              <a:r>
                <a:rPr lang="zh-CN" altLang="en-US" sz="2600" i="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Be</a:t>
              </a:r>
              <a:r>
                <a:rPr lang="zh-CN" altLang="en-US" sz="2600" i="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H</a:t>
              </a:r>
            </a:p>
          </p:txBody>
        </p:sp>
      </p:grpSp>
      <p:pic>
        <p:nvPicPr>
          <p:cNvPr id="54278" name="Picture 11"/>
          <p:cNvPicPr>
            <a:picLocks noChangeAspect="1"/>
          </p:cNvPicPr>
          <p:nvPr/>
        </p:nvPicPr>
        <p:blipFill>
          <a:blip r:embed="rId3"/>
          <a:srcRect t="26892" r="78464" b="37520"/>
          <a:stretch>
            <a:fillRect/>
          </a:stretch>
        </p:blipFill>
        <p:spPr>
          <a:xfrm>
            <a:off x="152400" y="0"/>
            <a:ext cx="3505200" cy="2286000"/>
          </a:xfrm>
          <a:prstGeom prst="rect">
            <a:avLst/>
          </a:prstGeom>
          <a:noFill/>
          <a:ln w="9525">
            <a:noFill/>
          </a:ln>
        </p:spPr>
      </p:pic>
      <p:grpSp>
        <p:nvGrpSpPr>
          <p:cNvPr id="54279" name="Group 12"/>
          <p:cNvGrpSpPr/>
          <p:nvPr/>
        </p:nvGrpSpPr>
        <p:grpSpPr>
          <a:xfrm>
            <a:off x="5943600" y="0"/>
            <a:ext cx="2962275" cy="2438400"/>
            <a:chOff x="4080" y="1680"/>
            <a:chExt cx="660" cy="1070"/>
          </a:xfrm>
        </p:grpSpPr>
        <p:pic>
          <p:nvPicPr>
            <p:cNvPr id="54285" name="Picture 13"/>
            <p:cNvPicPr>
              <a:picLocks noChangeAspect="1"/>
            </p:cNvPicPr>
            <p:nvPr/>
          </p:nvPicPr>
          <p:blipFill>
            <a:blip r:embed="rId3"/>
            <a:srcRect l="27777" t="51743" r="55556" b="7408"/>
            <a:stretch>
              <a:fillRect/>
            </a:stretch>
          </p:blipFill>
          <p:spPr>
            <a:xfrm>
              <a:off x="4080" y="2131"/>
              <a:ext cx="658" cy="619"/>
            </a:xfrm>
            <a:prstGeom prst="rect">
              <a:avLst/>
            </a:prstGeom>
            <a:noFill/>
            <a:ln w="9525">
              <a:noFill/>
            </a:ln>
          </p:spPr>
        </p:pic>
        <p:pic>
          <p:nvPicPr>
            <p:cNvPr id="54286" name="Picture 14"/>
            <p:cNvPicPr>
              <a:picLocks noChangeAspect="1"/>
            </p:cNvPicPr>
            <p:nvPr/>
          </p:nvPicPr>
          <p:blipFill>
            <a:blip r:embed="rId3"/>
            <a:srcRect l="27777" r="55556" b="67320"/>
            <a:stretch>
              <a:fillRect/>
            </a:stretch>
          </p:blipFill>
          <p:spPr>
            <a:xfrm>
              <a:off x="4080" y="1680"/>
              <a:ext cx="660" cy="496"/>
            </a:xfrm>
            <a:prstGeom prst="rect">
              <a:avLst/>
            </a:prstGeom>
            <a:noFill/>
            <a:ln w="9525">
              <a:noFill/>
            </a:ln>
          </p:spPr>
        </p:pic>
      </p:grpSp>
      <p:sp>
        <p:nvSpPr>
          <p:cNvPr id="54280" name="Rectangle 15"/>
          <p:cNvSpPr/>
          <p:nvPr/>
        </p:nvSpPr>
        <p:spPr>
          <a:xfrm>
            <a:off x="685800" y="2362200"/>
            <a:ext cx="2384425" cy="885825"/>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基态铍</a:t>
            </a:r>
          </a:p>
          <a:p>
            <a:pPr eaLnBrk="0" hangingPunct="0"/>
            <a:r>
              <a:rPr lang="zh-CN" altLang="en-US" sz="2600" i="0" dirty="0">
                <a:solidFill>
                  <a:schemeClr val="tx1"/>
                </a:solidFill>
                <a:latin typeface="Times New Roman" panose="02020603050405020304" pitchFamily="18" charset="0"/>
              </a:rPr>
              <a:t>原子的结构</a:t>
            </a:r>
          </a:p>
        </p:txBody>
      </p:sp>
      <p:sp>
        <p:nvSpPr>
          <p:cNvPr id="54281" name="Rectangle 16"/>
          <p:cNvSpPr/>
          <p:nvPr/>
        </p:nvSpPr>
        <p:spPr>
          <a:xfrm>
            <a:off x="4038600" y="4191000"/>
            <a:ext cx="1752600" cy="1679575"/>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 BeH</a:t>
            </a:r>
            <a:r>
              <a:rPr lang="en-US" altLang="zh-CN" sz="2600" i="0" baseline="-25000" dirty="0">
                <a:solidFill>
                  <a:schemeClr val="tx1"/>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中二个共价键的形成</a:t>
            </a:r>
            <a:r>
              <a:rPr lang="zh-CN" altLang="en-US" sz="2600" dirty="0">
                <a:solidFill>
                  <a:schemeClr val="tx1"/>
                </a:solidFill>
                <a:latin typeface="Times New Roman" panose="02020603050405020304" pitchFamily="18" charset="0"/>
              </a:rPr>
              <a:t>直线</a:t>
            </a:r>
            <a:r>
              <a:rPr lang="zh-CN" altLang="en-US" sz="2600" i="0" dirty="0">
                <a:solidFill>
                  <a:schemeClr val="tx1"/>
                </a:solidFill>
                <a:latin typeface="Times New Roman" panose="02020603050405020304" pitchFamily="18" charset="0"/>
              </a:rPr>
              <a:t>构型</a:t>
            </a:r>
          </a:p>
        </p:txBody>
      </p:sp>
      <p:sp>
        <p:nvSpPr>
          <p:cNvPr id="54282" name="Rectangle 17"/>
          <p:cNvSpPr/>
          <p:nvPr/>
        </p:nvSpPr>
        <p:spPr>
          <a:xfrm>
            <a:off x="6248400" y="2667000"/>
            <a:ext cx="1524000" cy="492125"/>
          </a:xfrm>
          <a:prstGeom prst="rect">
            <a:avLst/>
          </a:prstGeom>
          <a:noFill/>
          <a:ln w="9525">
            <a:noFill/>
          </a:ln>
        </p:spPr>
        <p:txBody>
          <a:bodyPr wrap="none">
            <a:spAutoFit/>
          </a:bodyPr>
          <a:lstStyle/>
          <a:p>
            <a:pPr eaLnBrk="0" hangingPunct="0"/>
            <a:r>
              <a:rPr lang="zh-CN" altLang="en-US" sz="2600" i="0" dirty="0">
                <a:solidFill>
                  <a:schemeClr val="tx1"/>
                </a:solidFill>
                <a:latin typeface="Times New Roman" panose="02020603050405020304" pitchFamily="18" charset="0"/>
              </a:rPr>
              <a:t>杂化轨道</a:t>
            </a:r>
          </a:p>
        </p:txBody>
      </p:sp>
      <p:pic>
        <p:nvPicPr>
          <p:cNvPr id="199698" name="lan-sp.avi">
            <a:hlinkClick r:id="" action="ppaction://media"/>
          </p:cNvPr>
          <p:cNvPicPr>
            <a:picLocks noRot="1" noChangeAspect="1"/>
          </p:cNvPicPr>
          <p:nvPr>
            <a:videoFile r:link="rId1"/>
            <p:extLst>
              <p:ext uri="{DAA4B4D4-6D71-4841-9C94-3DE7FCFB9230}">
                <p14:media xmlns="" xmlns:p14="http://schemas.microsoft.com/office/powerpoint/2010/main" r:link="rId4"/>
              </p:ext>
            </p:extLst>
          </p:nvPr>
        </p:nvPicPr>
        <p:blipFill>
          <a:blip r:embed="rId5"/>
          <a:srcRect l="6238" r="9802"/>
          <a:stretch>
            <a:fillRect/>
          </a:stretch>
        </p:blipFill>
        <p:spPr>
          <a:xfrm>
            <a:off x="152400" y="3429000"/>
            <a:ext cx="3657600" cy="3200400"/>
          </a:xfrm>
          <a:prstGeom prst="rect">
            <a:avLst/>
          </a:prstGeom>
          <a:noFill/>
          <a:ln w="9525">
            <a:noFill/>
          </a:ln>
        </p:spPr>
      </p:pic>
      <p:sp>
        <p:nvSpPr>
          <p:cNvPr id="54284" name="Rectangle 19"/>
          <p:cNvSpPr/>
          <p:nvPr/>
        </p:nvSpPr>
        <p:spPr>
          <a:xfrm>
            <a:off x="3962400" y="5943600"/>
            <a:ext cx="1881188" cy="492125"/>
          </a:xfrm>
          <a:prstGeom prst="rect">
            <a:avLst/>
          </a:prstGeom>
          <a:noFill/>
          <a:ln w="9525">
            <a:noFill/>
          </a:ln>
        </p:spPr>
        <p:txBody>
          <a:bodyPr wrap="none">
            <a:spAutoFit/>
          </a:bodyPr>
          <a:lstStyle/>
          <a:p>
            <a:r>
              <a:rPr lang="zh-CN" altLang="en-US" sz="2600" dirty="0">
                <a:solidFill>
                  <a:schemeClr val="tx1"/>
                </a:solidFill>
                <a:latin typeface="Times New Roman" panose="02020603050405020304" pitchFamily="18" charset="0"/>
              </a:rPr>
              <a:t>键角</a:t>
            </a:r>
            <a:r>
              <a:rPr lang="en-US" altLang="zh-CN" sz="2600" dirty="0">
                <a:solidFill>
                  <a:schemeClr val="tx1"/>
                </a:solidFill>
                <a:latin typeface="Times New Roman" panose="02020603050405020304" pitchFamily="18" charset="0"/>
              </a:rPr>
              <a:t>=180°</a:t>
            </a:r>
          </a:p>
        </p:txBody>
      </p:sp>
    </p:spTree>
  </p:cSld>
  <p:clrMapOvr>
    <a:masterClrMapping/>
  </p:clrMapOvr>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199698"/>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172" name="组合 65"/>
          <p:cNvGrpSpPr/>
          <p:nvPr/>
        </p:nvGrpSpPr>
        <p:grpSpPr>
          <a:xfrm>
            <a:off x="0" y="76200"/>
            <a:ext cx="9144000" cy="6019800"/>
            <a:chOff x="0" y="609600"/>
            <a:chExt cx="9144000" cy="6019800"/>
          </a:xfrm>
        </p:grpSpPr>
        <p:sp>
          <p:nvSpPr>
            <p:cNvPr id="7173" name="Rectangle 3"/>
            <p:cNvSpPr/>
            <p:nvPr/>
          </p:nvSpPr>
          <p:spPr>
            <a:xfrm>
              <a:off x="152400" y="1066800"/>
              <a:ext cx="8991600" cy="1436034"/>
            </a:xfrm>
            <a:prstGeom prst="rect">
              <a:avLst/>
            </a:prstGeom>
            <a:solidFill>
              <a:srgbClr val="FFCC99"/>
            </a:solidFill>
            <a:ln w="9525">
              <a:noFill/>
            </a:ln>
          </p:spPr>
          <p:txBody>
            <a:bodyPr>
              <a:spAutoFit/>
            </a:bodyPr>
            <a:lstStyle/>
            <a:p>
              <a:pPr algn="l">
                <a:lnSpc>
                  <a:spcPts val="3600"/>
                </a:lnSpc>
              </a:pPr>
              <a:r>
                <a:rPr lang="en-US" altLang="zh-CN" sz="2600" dirty="0">
                  <a:solidFill>
                    <a:schemeClr val="tx1"/>
                  </a:solidFill>
                  <a:latin typeface="Times New Roman" panose="02020603050405020304" pitchFamily="18" charset="0"/>
                </a:rPr>
                <a:t>sp</a:t>
              </a:r>
              <a:r>
                <a:rPr lang="en-US" altLang="zh-CN" sz="2600" baseline="30000" dirty="0">
                  <a:solidFill>
                    <a:schemeClr val="tx1"/>
                  </a:solidFill>
                  <a:latin typeface="Times New Roman" panose="02020603050405020304" pitchFamily="18" charset="0"/>
                </a:rPr>
                <a:t>3</a:t>
              </a:r>
              <a:r>
                <a:rPr lang="zh-CN" altLang="en-US" sz="2600" dirty="0">
                  <a:solidFill>
                    <a:schemeClr val="tx1"/>
                  </a:solidFill>
                  <a:latin typeface="Times New Roman" panose="02020603050405020304" pitchFamily="18" charset="0"/>
                </a:rPr>
                <a:t>杂化                                     </a:t>
              </a:r>
              <a:r>
                <a:rPr lang="en-US" altLang="zh-CN" sz="2600" dirty="0">
                  <a:solidFill>
                    <a:schemeClr val="tx1"/>
                  </a:solidFill>
                  <a:latin typeface="Times New Roman" panose="02020603050405020304" pitchFamily="18" charset="0"/>
                </a:rPr>
                <a:t>CCl</a:t>
              </a:r>
              <a:r>
                <a:rPr lang="en-US" altLang="zh-CN" sz="2600" baseline="-25000" dirty="0">
                  <a:solidFill>
                    <a:schemeClr val="tx1"/>
                  </a:solidFill>
                  <a:latin typeface="Times New Roman" panose="02020603050405020304" pitchFamily="18" charset="0"/>
                </a:rPr>
                <a:t>4</a:t>
              </a:r>
              <a:r>
                <a:rPr lang="zh-CN" altLang="en-US" sz="2600" dirty="0">
                  <a:solidFill>
                    <a:schemeClr val="tx1"/>
                  </a:solidFill>
                  <a:latin typeface="Times New Roman" panose="02020603050405020304" pitchFamily="18" charset="0"/>
                </a:rPr>
                <a:t>、烷烃 （</a:t>
              </a:r>
              <a:r>
                <a:rPr lang="en-US" altLang="zh-CN" sz="2600" dirty="0">
                  <a:solidFill>
                    <a:schemeClr val="tx1"/>
                  </a:solidFill>
                  <a:latin typeface="Times New Roman" panose="02020603050405020304" pitchFamily="18" charset="0"/>
                </a:rPr>
                <a:t>SO</a:t>
              </a:r>
              <a:r>
                <a:rPr lang="en-US" altLang="zh-CN" sz="2600" baseline="-25000" dirty="0">
                  <a:solidFill>
                    <a:schemeClr val="tx1"/>
                  </a:solidFill>
                  <a:latin typeface="Times New Roman" panose="02020603050405020304" pitchFamily="18" charset="0"/>
                </a:rPr>
                <a:t>4</a:t>
              </a:r>
              <a:r>
                <a:rPr lang="en-US" altLang="zh-CN" sz="2600" baseline="30000" dirty="0">
                  <a:solidFill>
                    <a:schemeClr val="tx1"/>
                  </a:solidFill>
                  <a:latin typeface="Times New Roman" panose="02020603050405020304" pitchFamily="18" charset="0"/>
                </a:rPr>
                <a:t>2-</a:t>
              </a:r>
              <a:r>
                <a:rPr lang="zh-CN" altLang="en-US" sz="260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PO</a:t>
              </a:r>
              <a:r>
                <a:rPr lang="en-US" altLang="zh-CN" sz="2600" baseline="-25000" dirty="0">
                  <a:solidFill>
                    <a:schemeClr val="tx1"/>
                  </a:solidFill>
                  <a:latin typeface="Times New Roman" panose="02020603050405020304" pitchFamily="18" charset="0"/>
                </a:rPr>
                <a:t>4</a:t>
              </a:r>
              <a:r>
                <a:rPr lang="en-US" altLang="zh-CN" sz="2600" baseline="30000" dirty="0">
                  <a:solidFill>
                    <a:schemeClr val="tx1"/>
                  </a:solidFill>
                  <a:latin typeface="Times New Roman" panose="02020603050405020304" pitchFamily="18" charset="0"/>
                </a:rPr>
                <a:t>3</a:t>
              </a:r>
              <a:r>
                <a:rPr lang="zh-CN" altLang="en-US" sz="2600" dirty="0">
                  <a:solidFill>
                    <a:schemeClr val="tx1"/>
                  </a:solidFill>
                  <a:latin typeface="Times New Roman" panose="02020603050405020304" pitchFamily="18" charset="0"/>
                </a:rPr>
                <a:t>等）          </a:t>
              </a:r>
            </a:p>
            <a:p>
              <a:pPr algn="l">
                <a:lnSpc>
                  <a:spcPts val="3600"/>
                </a:lnSpc>
              </a:pPr>
              <a:r>
                <a:rPr lang="en-US" altLang="zh-CN" sz="2600" dirty="0">
                  <a:solidFill>
                    <a:schemeClr val="tx1"/>
                  </a:solidFill>
                  <a:latin typeface="Times New Roman" panose="02020603050405020304" pitchFamily="18" charset="0"/>
                </a:rPr>
                <a:t>sp</a:t>
              </a:r>
              <a:r>
                <a:rPr lang="en-US" altLang="zh-CN" sz="2600" baseline="30000" dirty="0">
                  <a:solidFill>
                    <a:schemeClr val="tx1"/>
                  </a:solidFill>
                  <a:latin typeface="Times New Roman" panose="02020603050405020304" pitchFamily="18" charset="0"/>
                </a:rPr>
                <a:t>2</a:t>
              </a:r>
              <a:r>
                <a:rPr lang="zh-CN" altLang="en-US" sz="2600" dirty="0">
                  <a:solidFill>
                    <a:schemeClr val="tx1"/>
                  </a:solidFill>
                  <a:latin typeface="Times New Roman" panose="02020603050405020304" pitchFamily="18" charset="0"/>
                </a:rPr>
                <a:t>杂化                                  </a:t>
              </a:r>
              <a:r>
                <a:rPr lang="en-US" altLang="zh-CN" sz="2600" dirty="0">
                  <a:solidFill>
                    <a:schemeClr val="tx1"/>
                  </a:solidFill>
                  <a:latin typeface="Times New Roman" panose="02020603050405020304" pitchFamily="18" charset="0"/>
                </a:rPr>
                <a:t>SO</a:t>
              </a:r>
              <a:r>
                <a:rPr lang="en-US" altLang="zh-CN" sz="2600" baseline="-25000" dirty="0">
                  <a:solidFill>
                    <a:schemeClr val="tx1"/>
                  </a:solidFill>
                  <a:latin typeface="Times New Roman" panose="02020603050405020304" pitchFamily="18" charset="0"/>
                </a:rPr>
                <a:t>3</a:t>
              </a:r>
              <a:r>
                <a:rPr lang="zh-CN" altLang="en-US" sz="2600" dirty="0">
                  <a:solidFill>
                    <a:schemeClr val="tx1"/>
                  </a:solidFill>
                  <a:latin typeface="Times New Roman" panose="02020603050405020304" pitchFamily="18" charset="0"/>
                </a:rPr>
                <a:t>、烯烃、苯（</a:t>
              </a:r>
              <a:r>
                <a:rPr lang="en-US" altLang="zh-CN" sz="2600" dirty="0">
                  <a:solidFill>
                    <a:schemeClr val="tx1"/>
                  </a:solidFill>
                  <a:latin typeface="Times New Roman" panose="02020603050405020304" pitchFamily="18" charset="0"/>
                </a:rPr>
                <a:t>CO</a:t>
              </a:r>
              <a:r>
                <a:rPr lang="en-US" altLang="zh-CN" sz="2600" baseline="-25000" dirty="0">
                  <a:solidFill>
                    <a:schemeClr val="tx1"/>
                  </a:solidFill>
                  <a:latin typeface="Times New Roman" panose="02020603050405020304" pitchFamily="18" charset="0"/>
                </a:rPr>
                <a:t>3</a:t>
              </a:r>
              <a:r>
                <a:rPr lang="en-US" altLang="zh-CN" sz="2600" baseline="30000" dirty="0">
                  <a:solidFill>
                    <a:schemeClr val="tx1"/>
                  </a:solidFill>
                  <a:latin typeface="Times New Roman" panose="02020603050405020304" pitchFamily="18" charset="0"/>
                </a:rPr>
                <a:t>2-</a:t>
              </a:r>
              <a:r>
                <a:rPr lang="zh-CN" altLang="en-US" sz="260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NO</a:t>
              </a:r>
              <a:r>
                <a:rPr lang="en-US" altLang="zh-CN" sz="2600" baseline="-25000" dirty="0">
                  <a:solidFill>
                    <a:schemeClr val="tx1"/>
                  </a:solidFill>
                  <a:latin typeface="Times New Roman" panose="02020603050405020304" pitchFamily="18" charset="0"/>
                </a:rPr>
                <a:t>3</a:t>
              </a:r>
              <a:r>
                <a:rPr lang="en-US" altLang="zh-CN" sz="2600" baseline="3000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等）          </a:t>
              </a:r>
            </a:p>
            <a:p>
              <a:pPr algn="l">
                <a:lnSpc>
                  <a:spcPts val="3600"/>
                </a:lnSpc>
              </a:pPr>
              <a:r>
                <a:rPr lang="en-US" altLang="zh-CN" sz="2600" dirty="0">
                  <a:solidFill>
                    <a:schemeClr val="tx1"/>
                  </a:solidFill>
                  <a:latin typeface="Times New Roman" panose="02020603050405020304" pitchFamily="18" charset="0"/>
                </a:rPr>
                <a:t>sp</a:t>
              </a:r>
              <a:r>
                <a:rPr lang="zh-CN" altLang="en-US" sz="2600" dirty="0">
                  <a:solidFill>
                    <a:schemeClr val="tx1"/>
                  </a:solidFill>
                  <a:latin typeface="Times New Roman" panose="02020603050405020304" pitchFamily="18" charset="0"/>
                </a:rPr>
                <a:t>杂化                                       </a:t>
              </a:r>
              <a:r>
                <a:rPr lang="en-US" altLang="zh-CN" sz="2600" dirty="0">
                  <a:solidFill>
                    <a:schemeClr val="tx1"/>
                  </a:solidFill>
                  <a:latin typeface="Times New Roman" panose="02020603050405020304" pitchFamily="18" charset="0"/>
                </a:rPr>
                <a:t>CS</a:t>
              </a:r>
              <a:r>
                <a:rPr lang="en-US" altLang="zh-CN" sz="2600" baseline="-25000" dirty="0">
                  <a:solidFill>
                    <a:schemeClr val="tx1"/>
                  </a:solidFill>
                  <a:latin typeface="Times New Roman" panose="02020603050405020304" pitchFamily="18" charset="0"/>
                </a:rPr>
                <a:t>2</a:t>
              </a:r>
              <a:r>
                <a:rPr lang="zh-CN" altLang="en-US" sz="260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CO</a:t>
              </a:r>
              <a:r>
                <a:rPr lang="en-US" altLang="zh-CN" sz="2600" baseline="-25000" dirty="0">
                  <a:solidFill>
                    <a:schemeClr val="tx1"/>
                  </a:solidFill>
                  <a:latin typeface="Times New Roman" panose="02020603050405020304" pitchFamily="18" charset="0"/>
                </a:rPr>
                <a:t>2</a:t>
              </a:r>
              <a:r>
                <a:rPr lang="zh-CN" altLang="en-US" sz="2600" dirty="0">
                  <a:solidFill>
                    <a:schemeClr val="tx1"/>
                  </a:solidFill>
                  <a:latin typeface="Times New Roman" panose="02020603050405020304" pitchFamily="18" charset="0"/>
                </a:rPr>
                <a:t>、炔烃等</a:t>
              </a:r>
            </a:p>
          </p:txBody>
        </p:sp>
        <p:sp>
          <p:nvSpPr>
            <p:cNvPr id="7174" name="Rectangle 4"/>
            <p:cNvSpPr/>
            <p:nvPr/>
          </p:nvSpPr>
          <p:spPr>
            <a:xfrm>
              <a:off x="0" y="609600"/>
              <a:ext cx="9144000" cy="512704"/>
            </a:xfrm>
            <a:prstGeom prst="rect">
              <a:avLst/>
            </a:prstGeom>
            <a:noFill/>
            <a:ln w="9525">
              <a:noFill/>
            </a:ln>
          </p:spPr>
          <p:txBody>
            <a:bodyPr>
              <a:spAutoFit/>
            </a:bodyPr>
            <a:lstStyle/>
            <a:p>
              <a:pPr algn="l" eaLnBrk="0" hangingPunct="0">
                <a:lnSpc>
                  <a:spcPts val="3600"/>
                </a:lnSpc>
              </a:pPr>
              <a:r>
                <a:rPr lang="en-US" altLang="zh-CN" sz="2600" dirty="0">
                  <a:solidFill>
                    <a:schemeClr val="tx1"/>
                  </a:solidFill>
                  <a:latin typeface="Times New Roman" panose="02020603050405020304" pitchFamily="18" charset="0"/>
                  <a:cs typeface="Times New Roman" panose="02020603050405020304" pitchFamily="18" charset="0"/>
                </a:rPr>
                <a:t>  </a:t>
              </a:r>
              <a:r>
                <a:rPr lang="zh-CN" altLang="el-GR" sz="2600" dirty="0">
                  <a:solidFill>
                    <a:schemeClr val="tx1"/>
                  </a:solidFill>
                  <a:latin typeface="Times New Roman" panose="02020603050405020304" pitchFamily="18" charset="0"/>
                  <a:cs typeface="Times New Roman" panose="02020603050405020304" pitchFamily="18" charset="0"/>
                </a:rPr>
                <a:t>杂化方式</a:t>
              </a:r>
              <a:r>
                <a:rPr lang="zh-CN" altLang="en-US" sz="2600" dirty="0">
                  <a:solidFill>
                    <a:schemeClr val="tx1"/>
                  </a:solidFill>
                  <a:latin typeface="Times New Roman" panose="02020603050405020304" pitchFamily="18" charset="0"/>
                  <a:cs typeface="Times New Roman" panose="02020603050405020304" pitchFamily="18" charset="0"/>
                </a:rPr>
                <a:t>                                                        例子</a:t>
              </a:r>
              <a:endParaRPr lang="zh-CN" altLang="en-US" sz="2600" dirty="0">
                <a:solidFill>
                  <a:schemeClr val="tx1"/>
                </a:solidFill>
                <a:latin typeface="Times New Roman" panose="02020603050405020304" pitchFamily="18" charset="0"/>
                <a:ea typeface="Times New Roman" panose="02020603050405020304" pitchFamily="18" charset="0"/>
              </a:endParaRPr>
            </a:p>
          </p:txBody>
        </p:sp>
        <p:sp>
          <p:nvSpPr>
            <p:cNvPr id="7175" name="Rectangle 7"/>
            <p:cNvSpPr/>
            <p:nvPr/>
          </p:nvSpPr>
          <p:spPr>
            <a:xfrm>
              <a:off x="228600" y="2514600"/>
              <a:ext cx="7010400" cy="512704"/>
            </a:xfrm>
            <a:prstGeom prst="rect">
              <a:avLst/>
            </a:prstGeom>
            <a:noFill/>
            <a:ln w="9525">
              <a:noFill/>
            </a:ln>
          </p:spPr>
          <p:txBody>
            <a:bodyPr>
              <a:spAutoFit/>
            </a:bodyPr>
            <a:lstStyle/>
            <a:p>
              <a:pPr algn="l">
                <a:lnSpc>
                  <a:spcPts val="3600"/>
                </a:lnSpc>
                <a:spcBef>
                  <a:spcPct val="50000"/>
                </a:spcBef>
              </a:pPr>
              <a:r>
                <a:rPr lang="zh-CN" altLang="en-US" sz="2600" i="0" dirty="0">
                  <a:solidFill>
                    <a:schemeClr val="tx1"/>
                  </a:solidFill>
                  <a:latin typeface="Times New Roman" panose="02020603050405020304" pitchFamily="18" charset="0"/>
                </a:rPr>
                <a:t>二氧化碳分子     直线形      </a:t>
              </a:r>
              <a:r>
                <a:rPr lang="en-US" altLang="zh-CN" sz="2600" i="0" dirty="0">
                  <a:solidFill>
                    <a:schemeClr val="tx1"/>
                  </a:solidFill>
                  <a:latin typeface="Times New Roman" panose="02020603050405020304" pitchFamily="18" charset="0"/>
                </a:rPr>
                <a:t>O            C            O</a:t>
              </a:r>
            </a:p>
          </p:txBody>
        </p:sp>
        <p:grpSp>
          <p:nvGrpSpPr>
            <p:cNvPr id="7176" name="Group 8"/>
            <p:cNvGrpSpPr/>
            <p:nvPr/>
          </p:nvGrpSpPr>
          <p:grpSpPr>
            <a:xfrm>
              <a:off x="4648200" y="2743200"/>
              <a:ext cx="1905000" cy="93663"/>
              <a:chOff x="2448" y="218"/>
              <a:chExt cx="1200" cy="59"/>
            </a:xfrm>
          </p:grpSpPr>
          <p:sp>
            <p:nvSpPr>
              <p:cNvPr id="7230" name="Line 9"/>
              <p:cNvSpPr/>
              <p:nvPr/>
            </p:nvSpPr>
            <p:spPr>
              <a:xfrm>
                <a:off x="3168" y="218"/>
                <a:ext cx="480" cy="0"/>
              </a:xfrm>
              <a:prstGeom prst="line">
                <a:avLst/>
              </a:prstGeom>
              <a:ln w="9525" cap="flat" cmpd="sng">
                <a:solidFill>
                  <a:schemeClr val="tx1"/>
                </a:solidFill>
                <a:prstDash val="solid"/>
                <a:headEnd type="none" w="med" len="med"/>
                <a:tailEnd type="none" w="med" len="med"/>
              </a:ln>
            </p:spPr>
          </p:sp>
          <p:sp>
            <p:nvSpPr>
              <p:cNvPr id="7231" name="Line 10"/>
              <p:cNvSpPr/>
              <p:nvPr/>
            </p:nvSpPr>
            <p:spPr>
              <a:xfrm>
                <a:off x="3168" y="266"/>
                <a:ext cx="480" cy="0"/>
              </a:xfrm>
              <a:prstGeom prst="line">
                <a:avLst/>
              </a:prstGeom>
              <a:ln w="9525" cap="flat" cmpd="sng">
                <a:solidFill>
                  <a:schemeClr val="tx1"/>
                </a:solidFill>
                <a:prstDash val="solid"/>
                <a:headEnd type="none" w="med" len="med"/>
                <a:tailEnd type="none" w="med" len="med"/>
              </a:ln>
            </p:spPr>
          </p:sp>
          <p:sp>
            <p:nvSpPr>
              <p:cNvPr id="7232" name="Line 11"/>
              <p:cNvSpPr/>
              <p:nvPr/>
            </p:nvSpPr>
            <p:spPr>
              <a:xfrm>
                <a:off x="2448" y="229"/>
                <a:ext cx="480" cy="0"/>
              </a:xfrm>
              <a:prstGeom prst="line">
                <a:avLst/>
              </a:prstGeom>
              <a:ln w="9525" cap="flat" cmpd="sng">
                <a:solidFill>
                  <a:schemeClr val="tx1"/>
                </a:solidFill>
                <a:prstDash val="solid"/>
                <a:headEnd type="none" w="med" len="med"/>
                <a:tailEnd type="none" w="med" len="med"/>
              </a:ln>
            </p:spPr>
          </p:sp>
          <p:sp>
            <p:nvSpPr>
              <p:cNvPr id="7233" name="Line 12"/>
              <p:cNvSpPr/>
              <p:nvPr/>
            </p:nvSpPr>
            <p:spPr>
              <a:xfrm>
                <a:off x="2448" y="277"/>
                <a:ext cx="480" cy="0"/>
              </a:xfrm>
              <a:prstGeom prst="line">
                <a:avLst/>
              </a:prstGeom>
              <a:ln w="9525" cap="flat" cmpd="sng">
                <a:solidFill>
                  <a:schemeClr val="tx1"/>
                </a:solidFill>
                <a:prstDash val="solid"/>
                <a:headEnd type="none" w="med" len="med"/>
                <a:tailEnd type="none" w="med" len="med"/>
              </a:ln>
            </p:spPr>
          </p:sp>
        </p:grpSp>
        <p:graphicFrame>
          <p:nvGraphicFramePr>
            <p:cNvPr id="7170" name="Object 17"/>
            <p:cNvGraphicFramePr>
              <a:graphicFrameLocks/>
            </p:cNvGraphicFramePr>
            <p:nvPr/>
          </p:nvGraphicFramePr>
          <p:xfrm>
            <a:off x="5334000" y="5105400"/>
            <a:ext cx="3200400" cy="1524000"/>
          </p:xfrm>
          <a:graphic>
            <a:graphicData uri="http://schemas.openxmlformats.org/presentationml/2006/ole">
              <p:oleObj spid="_x0000_s51202" r:id="rId4" imgW="1266825" imgH="581025" progId="">
                <p:embed/>
              </p:oleObj>
            </a:graphicData>
          </a:graphic>
        </p:graphicFrame>
        <p:sp>
          <p:nvSpPr>
            <p:cNvPr id="7177" name="Rectangle 18"/>
            <p:cNvSpPr/>
            <p:nvPr/>
          </p:nvSpPr>
          <p:spPr>
            <a:xfrm>
              <a:off x="990600" y="5689600"/>
              <a:ext cx="4371710" cy="553998"/>
            </a:xfrm>
            <a:prstGeom prst="rect">
              <a:avLst/>
            </a:prstGeom>
            <a:noFill/>
            <a:ln w="9525">
              <a:noFill/>
            </a:ln>
          </p:spPr>
          <p:txBody>
            <a:bodyPr wrap="none">
              <a:spAutoFit/>
            </a:bodyPr>
            <a:lstStyle/>
            <a:p>
              <a:pPr algn="l">
                <a:lnSpc>
                  <a:spcPts val="3600"/>
                </a:lnSpc>
                <a:spcBef>
                  <a:spcPct val="50000"/>
                </a:spcBef>
              </a:pPr>
              <a:r>
                <a:rPr lang="zh-CN" altLang="zh-CN" sz="2600" i="0" dirty="0">
                  <a:solidFill>
                    <a:schemeClr val="tx1"/>
                  </a:solidFill>
                  <a:latin typeface="Times New Roman" panose="02020603050405020304" pitchFamily="18" charset="0"/>
                  <a:ea typeface="宋体" panose="02010600030101010101" pitchFamily="2" charset="-122"/>
                </a:rPr>
                <a:t> </a:t>
              </a:r>
              <a:r>
                <a:rPr lang="zh-CN" altLang="zh-CN" sz="2600" i="0" dirty="0">
                  <a:solidFill>
                    <a:schemeClr val="tx1"/>
                  </a:solidFill>
                  <a:latin typeface="Times New Roman" panose="02020603050405020304" pitchFamily="18" charset="0"/>
                </a:rPr>
                <a:t>乙烯     </a:t>
              </a:r>
              <a:r>
                <a:rPr lang="en-US" altLang="zh-CN" sz="2600" i="0" dirty="0">
                  <a:solidFill>
                    <a:schemeClr val="tx1"/>
                  </a:solidFill>
                  <a:latin typeface="Times New Roman" panose="02020603050405020304" pitchFamily="18" charset="0"/>
                </a:rPr>
                <a:t>HCH  </a:t>
              </a:r>
              <a:r>
                <a:rPr lang="zh-CN" altLang="en-US" sz="2600" i="0" dirty="0">
                  <a:solidFill>
                    <a:schemeClr val="tx1"/>
                  </a:solidFill>
                  <a:latin typeface="Times New Roman" panose="02020603050405020304" pitchFamily="18" charset="0"/>
                </a:rPr>
                <a:t>键角为 </a:t>
              </a:r>
              <a:r>
                <a:rPr lang="zh-CN" altLang="zh-CN" sz="2600" i="0" dirty="0">
                  <a:solidFill>
                    <a:schemeClr val="tx1"/>
                  </a:solidFill>
                  <a:latin typeface="Times New Roman" panose="02020603050405020304" pitchFamily="18" charset="0"/>
                </a:rPr>
                <a:t> 120 °</a:t>
              </a:r>
              <a:endParaRPr lang="en-US" altLang="zh-CN" sz="2600" i="0" dirty="0">
                <a:solidFill>
                  <a:schemeClr val="tx1"/>
                </a:solidFill>
                <a:latin typeface="Times New Roman" panose="02020603050405020304" pitchFamily="18" charset="0"/>
              </a:endParaRPr>
            </a:p>
          </p:txBody>
        </p:sp>
        <p:grpSp>
          <p:nvGrpSpPr>
            <p:cNvPr id="7178" name="Group 21"/>
            <p:cNvGrpSpPr/>
            <p:nvPr/>
          </p:nvGrpSpPr>
          <p:grpSpPr>
            <a:xfrm>
              <a:off x="5638800" y="3124200"/>
              <a:ext cx="2971800" cy="1798638"/>
              <a:chOff x="3600" y="1699"/>
              <a:chExt cx="1968" cy="1037"/>
            </a:xfrm>
          </p:grpSpPr>
          <p:grpSp>
            <p:nvGrpSpPr>
              <p:cNvPr id="7219" name="Group 22"/>
              <p:cNvGrpSpPr/>
              <p:nvPr/>
            </p:nvGrpSpPr>
            <p:grpSpPr>
              <a:xfrm>
                <a:off x="4044" y="1699"/>
                <a:ext cx="1029" cy="989"/>
                <a:chOff x="4044" y="1507"/>
                <a:chExt cx="1029" cy="989"/>
              </a:xfrm>
            </p:grpSpPr>
            <p:sp>
              <p:nvSpPr>
                <p:cNvPr id="7220" name="Oval 23"/>
                <p:cNvSpPr/>
                <p:nvPr/>
              </p:nvSpPr>
              <p:spPr>
                <a:xfrm>
                  <a:off x="4044" y="1507"/>
                  <a:ext cx="537" cy="495"/>
                </a:xfrm>
                <a:prstGeom prst="ellipse">
                  <a:avLst/>
                </a:prstGeom>
                <a:noFill/>
                <a:ln w="9525" cap="flat" cmpd="sng">
                  <a:solidFill>
                    <a:schemeClr val="tx1"/>
                  </a:solidFill>
                  <a:prstDash val="solid"/>
                  <a:headEnd type="none" w="med" len="med"/>
                  <a:tailEnd type="none" w="med" len="med"/>
                </a:ln>
              </p:spPr>
              <p:txBody>
                <a:bodyPr wrap="none" anchor="ctr" anchorCtr="0"/>
                <a:lstStyle/>
                <a:p>
                  <a:pPr>
                    <a:lnSpc>
                      <a:spcPts val="3600"/>
                    </a:lnSpc>
                  </a:pPr>
                  <a:endParaRPr lang="zh-CN" altLang="en-US" sz="2600" dirty="0">
                    <a:solidFill>
                      <a:schemeClr val="tx1"/>
                    </a:solidFill>
                    <a:latin typeface="Times New Roman" panose="02020603050405020304" pitchFamily="18" charset="0"/>
                  </a:endParaRPr>
                </a:p>
              </p:txBody>
            </p:sp>
            <p:sp>
              <p:nvSpPr>
                <p:cNvPr id="7221" name="Oval 24"/>
                <p:cNvSpPr/>
                <p:nvPr/>
              </p:nvSpPr>
              <p:spPr>
                <a:xfrm>
                  <a:off x="4044" y="2002"/>
                  <a:ext cx="537" cy="494"/>
                </a:xfrm>
                <a:prstGeom prst="ellipse">
                  <a:avLst/>
                </a:prstGeom>
                <a:solidFill>
                  <a:schemeClr val="folHlink">
                    <a:alpha val="50195"/>
                  </a:schemeClr>
                </a:solidFill>
                <a:ln w="9525" cap="flat" cmpd="sng">
                  <a:solidFill>
                    <a:schemeClr val="tx1"/>
                  </a:solidFill>
                  <a:prstDash val="solid"/>
                  <a:headEnd type="none" w="med" len="med"/>
                  <a:tailEnd type="none" w="med" len="med"/>
                </a:ln>
              </p:spPr>
              <p:txBody>
                <a:bodyPr wrap="none" anchor="ctr" anchorCtr="0"/>
                <a:lstStyle/>
                <a:p>
                  <a:pPr>
                    <a:lnSpc>
                      <a:spcPts val="3600"/>
                    </a:lnSpc>
                  </a:pPr>
                  <a:endParaRPr lang="zh-CN" altLang="en-US" sz="2600" dirty="0">
                    <a:solidFill>
                      <a:schemeClr val="tx1"/>
                    </a:solidFill>
                    <a:latin typeface="Times New Roman" panose="02020603050405020304" pitchFamily="18" charset="0"/>
                  </a:endParaRPr>
                </a:p>
              </p:txBody>
            </p:sp>
            <p:sp>
              <p:nvSpPr>
                <p:cNvPr id="7222" name="Text Box 25"/>
                <p:cNvSpPr txBox="1"/>
                <p:nvPr/>
              </p:nvSpPr>
              <p:spPr>
                <a:xfrm>
                  <a:off x="4232" y="2098"/>
                  <a:ext cx="196" cy="319"/>
                </a:xfrm>
                <a:prstGeom prst="rect">
                  <a:avLst/>
                </a:prstGeom>
                <a:noFill/>
                <a:ln w="9525">
                  <a:noFill/>
                </a:ln>
              </p:spPr>
              <p:txBody>
                <a:bodyPr wrap="none" anchor="ctr" anchorCtr="0">
                  <a:spAutoFit/>
                </a:bodyPr>
                <a:lstStyle/>
                <a:p>
                  <a:pPr eaLnBrk="0" hangingPunct="0">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7223" name="Text Box 26"/>
                <p:cNvSpPr txBox="1"/>
                <p:nvPr/>
              </p:nvSpPr>
              <p:spPr>
                <a:xfrm>
                  <a:off x="4196" y="1618"/>
                  <a:ext cx="249" cy="319"/>
                </a:xfrm>
                <a:prstGeom prst="rect">
                  <a:avLst/>
                </a:prstGeom>
                <a:noFill/>
                <a:ln w="9525">
                  <a:noFill/>
                </a:ln>
              </p:spPr>
              <p:txBody>
                <a:bodyPr wrap="none" anchor="ctr" anchorCtr="0">
                  <a:spAutoFit/>
                </a:bodyPr>
                <a:lstStyle/>
                <a:p>
                  <a:pPr eaLnBrk="0" hangingPunct="0">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7224" name="Oval 27"/>
                <p:cNvSpPr/>
                <p:nvPr/>
              </p:nvSpPr>
              <p:spPr>
                <a:xfrm>
                  <a:off x="4536" y="2002"/>
                  <a:ext cx="537" cy="494"/>
                </a:xfrm>
                <a:prstGeom prst="ellipse">
                  <a:avLst/>
                </a:prstGeom>
                <a:solidFill>
                  <a:schemeClr val="folHlink">
                    <a:alpha val="50195"/>
                  </a:schemeClr>
                </a:solidFill>
                <a:ln w="9525" cap="flat" cmpd="sng">
                  <a:solidFill>
                    <a:schemeClr val="tx1"/>
                  </a:solidFill>
                  <a:prstDash val="solid"/>
                  <a:headEnd type="none" w="med" len="med"/>
                  <a:tailEnd type="none" w="med" len="med"/>
                </a:ln>
              </p:spPr>
              <p:txBody>
                <a:bodyPr wrap="none" anchor="ctr" anchorCtr="0"/>
                <a:lstStyle/>
                <a:p>
                  <a:pPr>
                    <a:lnSpc>
                      <a:spcPts val="3600"/>
                    </a:lnSpc>
                  </a:pPr>
                  <a:endParaRPr lang="zh-CN" altLang="en-US" sz="2600" dirty="0">
                    <a:solidFill>
                      <a:schemeClr val="tx1"/>
                    </a:solidFill>
                    <a:latin typeface="Times New Roman" panose="02020603050405020304" pitchFamily="18" charset="0"/>
                  </a:endParaRPr>
                </a:p>
              </p:txBody>
            </p:sp>
            <p:sp>
              <p:nvSpPr>
                <p:cNvPr id="7225" name="Oval 28"/>
                <p:cNvSpPr/>
                <p:nvPr/>
              </p:nvSpPr>
              <p:spPr>
                <a:xfrm>
                  <a:off x="4536" y="1507"/>
                  <a:ext cx="537" cy="495"/>
                </a:xfrm>
                <a:prstGeom prst="ellipse">
                  <a:avLst/>
                </a:prstGeom>
                <a:noFill/>
                <a:ln w="9525" cap="flat" cmpd="sng">
                  <a:solidFill>
                    <a:schemeClr val="tx1"/>
                  </a:solidFill>
                  <a:prstDash val="solid"/>
                  <a:headEnd type="none" w="med" len="med"/>
                  <a:tailEnd type="none" w="med" len="med"/>
                </a:ln>
              </p:spPr>
              <p:txBody>
                <a:bodyPr wrap="none" anchor="ctr" anchorCtr="0"/>
                <a:lstStyle/>
                <a:p>
                  <a:pPr>
                    <a:lnSpc>
                      <a:spcPts val="3600"/>
                    </a:lnSpc>
                  </a:pPr>
                  <a:endParaRPr lang="zh-CN" altLang="en-US" sz="2600" dirty="0">
                    <a:solidFill>
                      <a:schemeClr val="tx1"/>
                    </a:solidFill>
                    <a:latin typeface="Times New Roman" panose="02020603050405020304" pitchFamily="18" charset="0"/>
                  </a:endParaRPr>
                </a:p>
              </p:txBody>
            </p:sp>
            <p:sp>
              <p:nvSpPr>
                <p:cNvPr id="7226" name="Text Box 29"/>
                <p:cNvSpPr txBox="1"/>
                <p:nvPr/>
              </p:nvSpPr>
              <p:spPr>
                <a:xfrm>
                  <a:off x="4727" y="2102"/>
                  <a:ext cx="196" cy="319"/>
                </a:xfrm>
                <a:prstGeom prst="rect">
                  <a:avLst/>
                </a:prstGeom>
                <a:noFill/>
                <a:ln w="9525">
                  <a:noFill/>
                </a:ln>
              </p:spPr>
              <p:txBody>
                <a:bodyPr wrap="none" anchor="ctr" anchorCtr="0">
                  <a:spAutoFit/>
                </a:bodyPr>
                <a:lstStyle/>
                <a:p>
                  <a:pPr eaLnBrk="0" hangingPunct="0">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7227" name="Text Box 30"/>
                <p:cNvSpPr txBox="1"/>
                <p:nvPr/>
              </p:nvSpPr>
              <p:spPr>
                <a:xfrm>
                  <a:off x="4687" y="1623"/>
                  <a:ext cx="249" cy="319"/>
                </a:xfrm>
                <a:prstGeom prst="rect">
                  <a:avLst/>
                </a:prstGeom>
                <a:noFill/>
                <a:ln w="9525">
                  <a:noFill/>
                </a:ln>
              </p:spPr>
              <p:txBody>
                <a:bodyPr wrap="none" anchor="ctr" anchorCtr="0">
                  <a:spAutoFit/>
                </a:bodyPr>
                <a:lstStyle/>
                <a:p>
                  <a:pPr eaLnBrk="0" hangingPunct="0">
                    <a:lnSpc>
                      <a:spcPts val="36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7228" name="Oval 31"/>
                <p:cNvSpPr/>
                <p:nvPr/>
              </p:nvSpPr>
              <p:spPr>
                <a:xfrm>
                  <a:off x="4536" y="1672"/>
                  <a:ext cx="45" cy="165"/>
                </a:xfrm>
                <a:prstGeom prst="ellipse">
                  <a:avLst/>
                </a:prstGeom>
                <a:solidFill>
                  <a:schemeClr val="bg2"/>
                </a:solidFill>
                <a:ln w="9525" cap="flat" cmpd="sng">
                  <a:solidFill>
                    <a:schemeClr val="tx1"/>
                  </a:solidFill>
                  <a:prstDash val="solid"/>
                  <a:headEnd type="none" w="med" len="med"/>
                  <a:tailEnd type="none" w="med" len="med"/>
                </a:ln>
              </p:spPr>
              <p:txBody>
                <a:bodyPr wrap="none" anchor="ctr" anchorCtr="0"/>
                <a:lstStyle/>
                <a:p>
                  <a:pPr>
                    <a:lnSpc>
                      <a:spcPts val="3600"/>
                    </a:lnSpc>
                  </a:pPr>
                  <a:endParaRPr lang="zh-CN" altLang="en-US" sz="2600" dirty="0">
                    <a:solidFill>
                      <a:schemeClr val="tx1"/>
                    </a:solidFill>
                    <a:latin typeface="Times New Roman" panose="02020603050405020304" pitchFamily="18" charset="0"/>
                  </a:endParaRPr>
                </a:p>
              </p:txBody>
            </p:sp>
            <p:sp>
              <p:nvSpPr>
                <p:cNvPr id="7229" name="Oval 32"/>
                <p:cNvSpPr/>
                <p:nvPr/>
              </p:nvSpPr>
              <p:spPr>
                <a:xfrm>
                  <a:off x="4536" y="2166"/>
                  <a:ext cx="45" cy="16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nSpc>
                      <a:spcPts val="3600"/>
                    </a:lnSpc>
                  </a:pPr>
                  <a:endParaRPr lang="zh-CN" altLang="en-US" sz="2600" dirty="0">
                    <a:solidFill>
                      <a:schemeClr val="tx1"/>
                    </a:solidFill>
                    <a:latin typeface="Times New Roman" panose="02020603050405020304" pitchFamily="18" charset="0"/>
                  </a:endParaRPr>
                </a:p>
              </p:txBody>
            </p:sp>
          </p:grpSp>
          <p:graphicFrame>
            <p:nvGraphicFramePr>
              <p:cNvPr id="7171" name="Object 33"/>
              <p:cNvGraphicFramePr>
                <a:graphicFrameLocks/>
              </p:cNvGraphicFramePr>
              <p:nvPr/>
            </p:nvGraphicFramePr>
            <p:xfrm>
              <a:off x="3600" y="1721"/>
              <a:ext cx="1968" cy="1015"/>
            </p:xfrm>
            <a:graphic>
              <a:graphicData uri="http://schemas.openxmlformats.org/presentationml/2006/ole">
                <p:oleObj spid="_x0000_s51201" r:id="rId5" imgW="1266825" imgH="581025" progId="">
                  <p:embed/>
                </p:oleObj>
              </a:graphicData>
            </a:graphic>
          </p:graphicFrame>
        </p:grpSp>
        <p:grpSp>
          <p:nvGrpSpPr>
            <p:cNvPr id="7179" name="Group 35"/>
            <p:cNvGrpSpPr>
              <a:grpSpLocks noChangeAspect="1"/>
            </p:cNvGrpSpPr>
            <p:nvPr/>
          </p:nvGrpSpPr>
          <p:grpSpPr>
            <a:xfrm>
              <a:off x="685800" y="3200400"/>
              <a:ext cx="4267200" cy="2420938"/>
              <a:chOff x="432" y="2160"/>
              <a:chExt cx="2688" cy="1429"/>
            </a:xfrm>
          </p:grpSpPr>
          <p:sp>
            <p:nvSpPr>
              <p:cNvPr id="7180" name="AutoShape 34"/>
              <p:cNvSpPr>
                <a:spLocks noChangeAspect="1" noTextEdit="1"/>
              </p:cNvSpPr>
              <p:nvPr/>
            </p:nvSpPr>
            <p:spPr>
              <a:xfrm>
                <a:off x="432" y="2160"/>
                <a:ext cx="2688" cy="1429"/>
              </a:xfrm>
              <a:prstGeom prst="rect">
                <a:avLst/>
              </a:prstGeom>
              <a:noFill/>
              <a:ln w="9525">
                <a:noFill/>
              </a:ln>
            </p:spPr>
            <p:txBody>
              <a:bodyPr/>
              <a:lstStyle/>
              <a:p>
                <a:endParaRPr lang="zh-CN" altLang="en-US"/>
              </a:p>
            </p:txBody>
          </p:sp>
          <p:sp>
            <p:nvSpPr>
              <p:cNvPr id="7181" name="Line 36"/>
              <p:cNvSpPr/>
              <p:nvPr/>
            </p:nvSpPr>
            <p:spPr>
              <a:xfrm flipV="1">
                <a:off x="792" y="2484"/>
                <a:ext cx="1" cy="1044"/>
              </a:xfrm>
              <a:prstGeom prst="line">
                <a:avLst/>
              </a:prstGeom>
              <a:ln w="26988" cap="flat" cmpd="sng">
                <a:solidFill>
                  <a:srgbClr val="000000"/>
                </a:solidFill>
                <a:prstDash val="solid"/>
                <a:headEnd type="none" w="med" len="med"/>
                <a:tailEnd type="none" w="med" len="med"/>
              </a:ln>
            </p:spPr>
          </p:sp>
          <p:sp>
            <p:nvSpPr>
              <p:cNvPr id="7182" name="Rectangle 37"/>
              <p:cNvSpPr/>
              <p:nvPr/>
            </p:nvSpPr>
            <p:spPr>
              <a:xfrm>
                <a:off x="1569" y="2875"/>
                <a:ext cx="140"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C</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183" name="Line 38"/>
              <p:cNvSpPr/>
              <p:nvPr/>
            </p:nvSpPr>
            <p:spPr>
              <a:xfrm>
                <a:off x="1859" y="2989"/>
                <a:ext cx="797" cy="1"/>
              </a:xfrm>
              <a:prstGeom prst="line">
                <a:avLst/>
              </a:prstGeom>
              <a:ln w="26988" cap="flat" cmpd="sng">
                <a:solidFill>
                  <a:srgbClr val="000000"/>
                </a:solidFill>
                <a:prstDash val="solid"/>
                <a:headEnd type="none" w="med" len="med"/>
                <a:tailEnd type="none" w="med" len="med"/>
              </a:ln>
            </p:spPr>
          </p:sp>
          <p:sp>
            <p:nvSpPr>
              <p:cNvPr id="7184" name="Line 39"/>
              <p:cNvSpPr/>
              <p:nvPr/>
            </p:nvSpPr>
            <p:spPr>
              <a:xfrm>
                <a:off x="784" y="2996"/>
                <a:ext cx="715" cy="1"/>
              </a:xfrm>
              <a:prstGeom prst="line">
                <a:avLst/>
              </a:prstGeom>
              <a:ln w="26988" cap="flat" cmpd="sng">
                <a:solidFill>
                  <a:srgbClr val="000000"/>
                </a:solidFill>
                <a:prstDash val="solid"/>
                <a:headEnd type="none" w="med" len="med"/>
                <a:tailEnd type="none" w="med" len="med"/>
              </a:ln>
            </p:spPr>
          </p:sp>
          <p:sp>
            <p:nvSpPr>
              <p:cNvPr id="7185" name="Rectangle 40"/>
              <p:cNvSpPr/>
              <p:nvPr/>
            </p:nvSpPr>
            <p:spPr>
              <a:xfrm>
                <a:off x="2827" y="2865"/>
                <a:ext cx="151"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O</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186" name="Rectangle 41"/>
              <p:cNvSpPr/>
              <p:nvPr/>
            </p:nvSpPr>
            <p:spPr>
              <a:xfrm>
                <a:off x="451" y="2861"/>
                <a:ext cx="151"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O</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187" name="Line 42"/>
              <p:cNvSpPr/>
              <p:nvPr/>
            </p:nvSpPr>
            <p:spPr>
              <a:xfrm flipV="1">
                <a:off x="1810" y="2687"/>
                <a:ext cx="326" cy="255"/>
              </a:xfrm>
              <a:prstGeom prst="line">
                <a:avLst/>
              </a:prstGeom>
              <a:ln w="26988" cap="flat" cmpd="sng">
                <a:solidFill>
                  <a:srgbClr val="000000"/>
                </a:solidFill>
                <a:prstDash val="solid"/>
                <a:headEnd type="none" w="med" len="med"/>
                <a:tailEnd type="none" w="med" len="med"/>
              </a:ln>
            </p:spPr>
          </p:sp>
          <p:sp>
            <p:nvSpPr>
              <p:cNvPr id="7188" name="Line 43"/>
              <p:cNvSpPr/>
              <p:nvPr/>
            </p:nvSpPr>
            <p:spPr>
              <a:xfrm>
                <a:off x="2136" y="2687"/>
                <a:ext cx="458" cy="1"/>
              </a:xfrm>
              <a:prstGeom prst="line">
                <a:avLst/>
              </a:prstGeom>
              <a:ln w="26988" cap="flat" cmpd="sng">
                <a:solidFill>
                  <a:srgbClr val="000000"/>
                </a:solidFill>
                <a:prstDash val="solid"/>
                <a:headEnd type="none" w="med" len="med"/>
                <a:tailEnd type="none" w="med" len="med"/>
              </a:ln>
            </p:spPr>
          </p:sp>
          <p:sp>
            <p:nvSpPr>
              <p:cNvPr id="7189" name="Line 44"/>
              <p:cNvSpPr/>
              <p:nvPr/>
            </p:nvSpPr>
            <p:spPr>
              <a:xfrm>
                <a:off x="2594" y="2687"/>
                <a:ext cx="461" cy="1"/>
              </a:xfrm>
              <a:prstGeom prst="line">
                <a:avLst/>
              </a:prstGeom>
              <a:ln w="26988" cap="flat" cmpd="sng">
                <a:solidFill>
                  <a:srgbClr val="000000"/>
                </a:solidFill>
                <a:prstDash val="solid"/>
                <a:headEnd type="none" w="med" len="med"/>
                <a:tailEnd type="none" w="med" len="med"/>
              </a:ln>
            </p:spPr>
          </p:sp>
          <p:sp>
            <p:nvSpPr>
              <p:cNvPr id="7190" name="Line 45"/>
              <p:cNvSpPr/>
              <p:nvPr/>
            </p:nvSpPr>
            <p:spPr>
              <a:xfrm flipH="1">
                <a:off x="2729" y="2687"/>
                <a:ext cx="326" cy="255"/>
              </a:xfrm>
              <a:prstGeom prst="line">
                <a:avLst/>
              </a:prstGeom>
              <a:ln w="26988" cap="flat" cmpd="sng">
                <a:solidFill>
                  <a:srgbClr val="000000"/>
                </a:solidFill>
                <a:prstDash val="solid"/>
                <a:headEnd type="none" w="med" len="med"/>
                <a:tailEnd type="none" w="med" len="med"/>
              </a:ln>
            </p:spPr>
          </p:sp>
          <p:sp>
            <p:nvSpPr>
              <p:cNvPr id="7191" name="Line 46"/>
              <p:cNvSpPr/>
              <p:nvPr/>
            </p:nvSpPr>
            <p:spPr>
              <a:xfrm flipH="1">
                <a:off x="2405" y="2942"/>
                <a:ext cx="324" cy="255"/>
              </a:xfrm>
              <a:prstGeom prst="line">
                <a:avLst/>
              </a:prstGeom>
              <a:ln w="26988" cap="flat" cmpd="sng">
                <a:solidFill>
                  <a:srgbClr val="000000"/>
                </a:solidFill>
                <a:prstDash val="solid"/>
                <a:headEnd type="none" w="med" len="med"/>
                <a:tailEnd type="none" w="med" len="med"/>
              </a:ln>
            </p:spPr>
          </p:sp>
          <p:sp>
            <p:nvSpPr>
              <p:cNvPr id="7192" name="Line 47"/>
              <p:cNvSpPr/>
              <p:nvPr/>
            </p:nvSpPr>
            <p:spPr>
              <a:xfrm>
                <a:off x="1662" y="2490"/>
                <a:ext cx="1" cy="409"/>
              </a:xfrm>
              <a:prstGeom prst="line">
                <a:avLst/>
              </a:prstGeom>
              <a:ln w="26988" cap="flat" cmpd="sng">
                <a:solidFill>
                  <a:srgbClr val="000000"/>
                </a:solidFill>
                <a:prstDash val="solid"/>
                <a:headEnd type="none" w="med" len="med"/>
                <a:tailEnd type="none" w="med" len="med"/>
              </a:ln>
            </p:spPr>
          </p:sp>
          <p:sp>
            <p:nvSpPr>
              <p:cNvPr id="7193" name="Line 48"/>
              <p:cNvSpPr/>
              <p:nvPr/>
            </p:nvSpPr>
            <p:spPr>
              <a:xfrm>
                <a:off x="797" y="2489"/>
                <a:ext cx="881" cy="1"/>
              </a:xfrm>
              <a:prstGeom prst="line">
                <a:avLst/>
              </a:prstGeom>
              <a:ln w="26988" cap="flat" cmpd="sng">
                <a:solidFill>
                  <a:srgbClr val="000000"/>
                </a:solidFill>
                <a:prstDash val="solid"/>
                <a:headEnd type="none" w="med" len="med"/>
                <a:tailEnd type="none" w="med" len="med"/>
              </a:ln>
            </p:spPr>
          </p:sp>
          <p:sp>
            <p:nvSpPr>
              <p:cNvPr id="7194" name="Line 49"/>
              <p:cNvSpPr/>
              <p:nvPr/>
            </p:nvSpPr>
            <p:spPr>
              <a:xfrm>
                <a:off x="1275" y="3363"/>
                <a:ext cx="413" cy="1"/>
              </a:xfrm>
              <a:prstGeom prst="line">
                <a:avLst/>
              </a:prstGeom>
              <a:ln w="26988" cap="flat" cmpd="sng">
                <a:solidFill>
                  <a:srgbClr val="000000"/>
                </a:solidFill>
                <a:prstDash val="solid"/>
                <a:headEnd type="none" w="med" len="med"/>
                <a:tailEnd type="none" w="med" len="med"/>
              </a:ln>
            </p:spPr>
          </p:sp>
          <p:sp>
            <p:nvSpPr>
              <p:cNvPr id="7195" name="Line 50"/>
              <p:cNvSpPr/>
              <p:nvPr/>
            </p:nvSpPr>
            <p:spPr>
              <a:xfrm>
                <a:off x="1666" y="3086"/>
                <a:ext cx="1" cy="33"/>
              </a:xfrm>
              <a:prstGeom prst="line">
                <a:avLst/>
              </a:prstGeom>
              <a:ln w="26988" cap="flat" cmpd="sng">
                <a:solidFill>
                  <a:srgbClr val="000000"/>
                </a:solidFill>
                <a:prstDash val="solid"/>
                <a:headEnd type="none" w="med" len="med"/>
                <a:tailEnd type="none" w="med" len="med"/>
              </a:ln>
            </p:spPr>
          </p:sp>
          <p:sp>
            <p:nvSpPr>
              <p:cNvPr id="7196" name="Line 51"/>
              <p:cNvSpPr/>
              <p:nvPr/>
            </p:nvSpPr>
            <p:spPr>
              <a:xfrm>
                <a:off x="1666" y="3151"/>
                <a:ext cx="1" cy="32"/>
              </a:xfrm>
              <a:prstGeom prst="line">
                <a:avLst/>
              </a:prstGeom>
              <a:ln w="26988" cap="flat" cmpd="sng">
                <a:solidFill>
                  <a:srgbClr val="000000"/>
                </a:solidFill>
                <a:prstDash val="solid"/>
                <a:headEnd type="none" w="med" len="med"/>
                <a:tailEnd type="none" w="med" len="med"/>
              </a:ln>
            </p:spPr>
          </p:sp>
          <p:sp>
            <p:nvSpPr>
              <p:cNvPr id="7197" name="Line 52"/>
              <p:cNvSpPr/>
              <p:nvPr/>
            </p:nvSpPr>
            <p:spPr>
              <a:xfrm>
                <a:off x="1666" y="3216"/>
                <a:ext cx="1" cy="32"/>
              </a:xfrm>
              <a:prstGeom prst="line">
                <a:avLst/>
              </a:prstGeom>
              <a:ln w="26988" cap="flat" cmpd="sng">
                <a:solidFill>
                  <a:srgbClr val="000000"/>
                </a:solidFill>
                <a:prstDash val="solid"/>
                <a:headEnd type="none" w="med" len="med"/>
                <a:tailEnd type="none" w="med" len="med"/>
              </a:ln>
            </p:spPr>
          </p:sp>
          <p:sp>
            <p:nvSpPr>
              <p:cNvPr id="7198" name="Line 53"/>
              <p:cNvSpPr/>
              <p:nvPr/>
            </p:nvSpPr>
            <p:spPr>
              <a:xfrm>
                <a:off x="1666" y="3280"/>
                <a:ext cx="1" cy="33"/>
              </a:xfrm>
              <a:prstGeom prst="line">
                <a:avLst/>
              </a:prstGeom>
              <a:ln w="26988" cap="flat" cmpd="sng">
                <a:solidFill>
                  <a:srgbClr val="000000"/>
                </a:solidFill>
                <a:prstDash val="solid"/>
                <a:headEnd type="none" w="med" len="med"/>
                <a:tailEnd type="none" w="med" len="med"/>
              </a:ln>
            </p:spPr>
          </p:sp>
          <p:sp>
            <p:nvSpPr>
              <p:cNvPr id="7199" name="Line 54"/>
              <p:cNvSpPr/>
              <p:nvPr/>
            </p:nvSpPr>
            <p:spPr>
              <a:xfrm>
                <a:off x="1666" y="3345"/>
                <a:ext cx="1" cy="34"/>
              </a:xfrm>
              <a:prstGeom prst="line">
                <a:avLst/>
              </a:prstGeom>
              <a:ln w="26988" cap="flat" cmpd="sng">
                <a:solidFill>
                  <a:srgbClr val="000000"/>
                </a:solidFill>
                <a:prstDash val="solid"/>
                <a:headEnd type="none" w="med" len="med"/>
                <a:tailEnd type="none" w="med" len="med"/>
              </a:ln>
            </p:spPr>
          </p:sp>
          <p:sp>
            <p:nvSpPr>
              <p:cNvPr id="7200" name="Line 55"/>
              <p:cNvSpPr/>
              <p:nvPr/>
            </p:nvSpPr>
            <p:spPr>
              <a:xfrm>
                <a:off x="1742" y="3360"/>
                <a:ext cx="460" cy="1"/>
              </a:xfrm>
              <a:prstGeom prst="line">
                <a:avLst/>
              </a:prstGeom>
              <a:ln w="26988" cap="flat" cmpd="sng">
                <a:solidFill>
                  <a:srgbClr val="000000"/>
                </a:solidFill>
                <a:prstDash val="solid"/>
                <a:headEnd type="none" w="med" len="med"/>
                <a:tailEnd type="none" w="med" len="med"/>
              </a:ln>
            </p:spPr>
          </p:sp>
          <p:sp>
            <p:nvSpPr>
              <p:cNvPr id="7201" name="Line 56"/>
              <p:cNvSpPr/>
              <p:nvPr/>
            </p:nvSpPr>
            <p:spPr>
              <a:xfrm flipH="1">
                <a:off x="2195" y="3202"/>
                <a:ext cx="203" cy="158"/>
              </a:xfrm>
              <a:prstGeom prst="line">
                <a:avLst/>
              </a:prstGeom>
              <a:ln w="26988" cap="flat" cmpd="sng">
                <a:solidFill>
                  <a:srgbClr val="000000"/>
                </a:solidFill>
                <a:prstDash val="solid"/>
                <a:headEnd type="none" w="med" len="med"/>
                <a:tailEnd type="none" w="med" len="med"/>
              </a:ln>
            </p:spPr>
          </p:sp>
          <p:sp>
            <p:nvSpPr>
              <p:cNvPr id="7202" name="Line 57"/>
              <p:cNvSpPr/>
              <p:nvPr/>
            </p:nvSpPr>
            <p:spPr>
              <a:xfrm flipH="1">
                <a:off x="1261" y="3129"/>
                <a:ext cx="310" cy="244"/>
              </a:xfrm>
              <a:prstGeom prst="line">
                <a:avLst/>
              </a:prstGeom>
              <a:ln w="26988" cap="flat" cmpd="sng">
                <a:solidFill>
                  <a:srgbClr val="000000"/>
                </a:solidFill>
                <a:prstDash val="solid"/>
                <a:headEnd type="none" w="med" len="med"/>
                <a:tailEnd type="none" w="med" len="med"/>
              </a:ln>
            </p:spPr>
          </p:sp>
          <p:sp>
            <p:nvSpPr>
              <p:cNvPr id="7203" name="Line 58"/>
              <p:cNvSpPr/>
              <p:nvPr/>
            </p:nvSpPr>
            <p:spPr>
              <a:xfrm>
                <a:off x="1664" y="3384"/>
                <a:ext cx="1" cy="146"/>
              </a:xfrm>
              <a:prstGeom prst="line">
                <a:avLst/>
              </a:prstGeom>
              <a:ln w="26988" cap="flat" cmpd="sng">
                <a:solidFill>
                  <a:srgbClr val="000000"/>
                </a:solidFill>
                <a:prstDash val="solid"/>
                <a:headEnd type="none" w="med" len="med"/>
                <a:tailEnd type="none" w="med" len="med"/>
              </a:ln>
            </p:spPr>
          </p:sp>
          <p:sp>
            <p:nvSpPr>
              <p:cNvPr id="7204" name="Rectangle 59"/>
              <p:cNvSpPr/>
              <p:nvPr/>
            </p:nvSpPr>
            <p:spPr>
              <a:xfrm>
                <a:off x="914" y="2174"/>
                <a:ext cx="105"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p</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05" name="Rectangle 60"/>
              <p:cNvSpPr/>
              <p:nvPr/>
            </p:nvSpPr>
            <p:spPr>
              <a:xfrm>
                <a:off x="1052" y="2261"/>
                <a:ext cx="105"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y</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06" name="Rectangle 61"/>
              <p:cNvSpPr/>
              <p:nvPr/>
            </p:nvSpPr>
            <p:spPr>
              <a:xfrm>
                <a:off x="1151" y="2261"/>
                <a:ext cx="53"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07" name="Rectangle 62"/>
              <p:cNvSpPr/>
              <p:nvPr/>
            </p:nvSpPr>
            <p:spPr>
              <a:xfrm>
                <a:off x="1202" y="2174"/>
                <a:ext cx="70"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08" name="Rectangle 63"/>
              <p:cNvSpPr/>
              <p:nvPr/>
            </p:nvSpPr>
            <p:spPr>
              <a:xfrm>
                <a:off x="1294" y="2174"/>
                <a:ext cx="53"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09" name="Rectangle 64"/>
              <p:cNvSpPr/>
              <p:nvPr/>
            </p:nvSpPr>
            <p:spPr>
              <a:xfrm>
                <a:off x="1362" y="2174"/>
                <a:ext cx="105"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p</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0" name="Rectangle 65"/>
              <p:cNvSpPr/>
              <p:nvPr/>
            </p:nvSpPr>
            <p:spPr>
              <a:xfrm>
                <a:off x="1500" y="2261"/>
                <a:ext cx="105"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y</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1" name="Rectangle 66"/>
              <p:cNvSpPr/>
              <p:nvPr/>
            </p:nvSpPr>
            <p:spPr>
              <a:xfrm>
                <a:off x="2241" y="2417"/>
                <a:ext cx="105"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p</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2" name="Rectangle 67"/>
              <p:cNvSpPr/>
              <p:nvPr/>
            </p:nvSpPr>
            <p:spPr>
              <a:xfrm>
                <a:off x="2379" y="2504"/>
                <a:ext cx="93"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z</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3" name="Rectangle 68"/>
              <p:cNvSpPr/>
              <p:nvPr/>
            </p:nvSpPr>
            <p:spPr>
              <a:xfrm>
                <a:off x="2470" y="2417"/>
                <a:ext cx="53"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4" name="Rectangle 69"/>
              <p:cNvSpPr/>
              <p:nvPr/>
            </p:nvSpPr>
            <p:spPr>
              <a:xfrm>
                <a:off x="2539" y="2417"/>
                <a:ext cx="70"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5" name="Rectangle 70"/>
              <p:cNvSpPr/>
              <p:nvPr/>
            </p:nvSpPr>
            <p:spPr>
              <a:xfrm>
                <a:off x="2631" y="2417"/>
                <a:ext cx="53"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6" name="Rectangle 71"/>
              <p:cNvSpPr/>
              <p:nvPr/>
            </p:nvSpPr>
            <p:spPr>
              <a:xfrm>
                <a:off x="2700" y="2417"/>
                <a:ext cx="105"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p</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7" name="Rectangle 72"/>
              <p:cNvSpPr/>
              <p:nvPr/>
            </p:nvSpPr>
            <p:spPr>
              <a:xfrm>
                <a:off x="2837" y="2504"/>
                <a:ext cx="93" cy="273"/>
              </a:xfrm>
              <a:prstGeom prst="rect">
                <a:avLst/>
              </a:prstGeom>
              <a:noFill/>
              <a:ln w="9525">
                <a:noFill/>
              </a:ln>
            </p:spPr>
            <p:txBody>
              <a:bodyPr wrap="none" lIns="0" tIns="0" rIns="0" bIns="0">
                <a:spAutoFit/>
              </a:bodyPr>
              <a:lstStyle/>
              <a:p>
                <a:pPr algn="l">
                  <a:lnSpc>
                    <a:spcPts val="3600"/>
                  </a:lnSpc>
                </a:pPr>
                <a:r>
                  <a:rPr lang="en-US" altLang="zh-CN" sz="2600" b="0" i="0" dirty="0">
                    <a:solidFill>
                      <a:schemeClr val="tx1"/>
                    </a:solidFill>
                    <a:latin typeface="Times New Roman" panose="02020603050405020304" pitchFamily="18" charset="0"/>
                    <a:ea typeface="宋体" panose="02010600030101010101" pitchFamily="2" charset="-122"/>
                  </a:rPr>
                  <a:t>z</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7218" name="Line 73"/>
              <p:cNvSpPr/>
              <p:nvPr/>
            </p:nvSpPr>
            <p:spPr>
              <a:xfrm>
                <a:off x="808" y="3524"/>
                <a:ext cx="880" cy="1"/>
              </a:xfrm>
              <a:prstGeom prst="line">
                <a:avLst/>
              </a:prstGeom>
              <a:ln w="26988" cap="flat" cmpd="sng">
                <a:solidFill>
                  <a:srgbClr val="000000"/>
                </a:solidFill>
                <a:prstDash val="solid"/>
                <a:headEnd type="none" w="med" len="med"/>
                <a:tailEnd type="none" w="med" len="med"/>
              </a:ln>
            </p:spPr>
          </p:sp>
        </p:gr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195" name="组合 41"/>
          <p:cNvGrpSpPr/>
          <p:nvPr/>
        </p:nvGrpSpPr>
        <p:grpSpPr>
          <a:xfrm>
            <a:off x="0" y="228600"/>
            <a:ext cx="8991600" cy="5638800"/>
            <a:chOff x="0" y="228600"/>
            <a:chExt cx="8991600" cy="5638800"/>
          </a:xfrm>
        </p:grpSpPr>
        <p:grpSp>
          <p:nvGrpSpPr>
            <p:cNvPr id="8196" name="组合 37"/>
            <p:cNvGrpSpPr/>
            <p:nvPr/>
          </p:nvGrpSpPr>
          <p:grpSpPr>
            <a:xfrm>
              <a:off x="0" y="228600"/>
              <a:ext cx="8991600" cy="5638800"/>
              <a:chOff x="0" y="304800"/>
              <a:chExt cx="8991600" cy="5638800"/>
            </a:xfrm>
          </p:grpSpPr>
          <p:sp>
            <p:nvSpPr>
              <p:cNvPr id="8199" name="Rectangle 4"/>
              <p:cNvSpPr/>
              <p:nvPr/>
            </p:nvSpPr>
            <p:spPr>
              <a:xfrm>
                <a:off x="381000" y="304800"/>
                <a:ext cx="5484813" cy="892552"/>
              </a:xfrm>
              <a:prstGeom prst="rect">
                <a:avLst/>
              </a:prstGeom>
              <a:noFill/>
              <a:ln w="28575" cap="flat" cmpd="sng">
                <a:solidFill>
                  <a:srgbClr val="FFCC99"/>
                </a:solidFill>
                <a:prstDash val="solid"/>
                <a:miter/>
                <a:headEnd type="none" w="med" len="med"/>
                <a:tailEnd type="none" w="med" len="med"/>
              </a:ln>
            </p:spPr>
            <p:txBody>
              <a:bodyPr>
                <a:spAutoFit/>
              </a:bodyPr>
              <a:lstStyle/>
              <a:p>
                <a:pPr eaLnBrk="0" hangingPunct="0"/>
                <a:r>
                  <a:rPr lang="en-US" altLang="zh-CN" sz="2600" i="0" dirty="0">
                    <a:solidFill>
                      <a:schemeClr val="tx1"/>
                    </a:solidFill>
                    <a:latin typeface="Times New Roman" panose="02020603050405020304" pitchFamily="18" charset="0"/>
                  </a:rPr>
                  <a:t>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r>
                  <a:rPr lang="zh-CN" altLang="en-US" sz="2600" i="0" dirty="0">
                    <a:solidFill>
                      <a:schemeClr val="tx1"/>
                    </a:solidFill>
                    <a:latin typeface="Times New Roman" panose="02020603050405020304" pitchFamily="18" charset="0"/>
                  </a:rPr>
                  <a:t>中</a:t>
                </a:r>
                <a:r>
                  <a:rPr lang="en-US" altLang="zh-CN" sz="2600" i="0" dirty="0">
                    <a:solidFill>
                      <a:schemeClr val="tx1"/>
                    </a:solidFill>
                    <a:latin typeface="Times New Roman" panose="02020603050405020304" pitchFamily="18" charset="0"/>
                  </a:rPr>
                  <a:t>O</a:t>
                </a:r>
                <a:r>
                  <a:rPr lang="zh-CN" altLang="en-US" sz="2600" i="0" dirty="0">
                    <a:solidFill>
                      <a:schemeClr val="tx1"/>
                    </a:solidFill>
                    <a:latin typeface="Times New Roman" panose="02020603050405020304" pitchFamily="18" charset="0"/>
                  </a:rPr>
                  <a:t>原子采取 </a:t>
                </a:r>
                <a:r>
                  <a:rPr lang="en-US" altLang="zh-CN" sz="2600" i="0" dirty="0">
                    <a:solidFill>
                      <a:schemeClr val="tx1"/>
                    </a:solidFill>
                    <a:latin typeface="Times New Roman" panose="02020603050405020304" pitchFamily="18" charset="0"/>
                  </a:rPr>
                  <a:t>sp</a:t>
                </a:r>
                <a:r>
                  <a:rPr lang="en-US" altLang="zh-CN" sz="2600" i="0" baseline="30000" dirty="0">
                    <a:solidFill>
                      <a:schemeClr val="tx1"/>
                    </a:solidFill>
                    <a:latin typeface="Times New Roman" panose="02020603050405020304" pitchFamily="18" charset="0"/>
                  </a:rPr>
                  <a:t>3 </a:t>
                </a:r>
                <a:r>
                  <a:rPr lang="zh-CN" altLang="en-US" sz="2600" i="0" dirty="0">
                    <a:solidFill>
                      <a:schemeClr val="tx1"/>
                    </a:solidFill>
                    <a:latin typeface="Times New Roman" panose="02020603050405020304" pitchFamily="18" charset="0"/>
                  </a:rPr>
                  <a:t>不等性杂化</a:t>
                </a:r>
                <a:r>
                  <a:rPr lang="en-US" altLang="zh-CN" sz="2600" i="0" dirty="0">
                    <a:solidFill>
                      <a:schemeClr val="tx1"/>
                    </a:solidFill>
                    <a:latin typeface="Times New Roman" panose="02020603050405020304" pitchFamily="18" charset="0"/>
                  </a:rPr>
                  <a:t>---nonequivalent hybridization</a:t>
                </a:r>
                <a:endParaRPr lang="zh-CN" altLang="en-US" sz="2600" i="0" dirty="0">
                  <a:solidFill>
                    <a:schemeClr val="tx1"/>
                  </a:solidFill>
                  <a:latin typeface="Times New Roman" panose="02020603050405020304" pitchFamily="18" charset="0"/>
                </a:endParaRPr>
              </a:p>
            </p:txBody>
          </p:sp>
          <p:grpSp>
            <p:nvGrpSpPr>
              <p:cNvPr id="8200" name="Group 5"/>
              <p:cNvGrpSpPr/>
              <p:nvPr/>
            </p:nvGrpSpPr>
            <p:grpSpPr>
              <a:xfrm>
                <a:off x="1433512" y="1371600"/>
                <a:ext cx="2133600" cy="1089025"/>
                <a:chOff x="1104" y="1810"/>
                <a:chExt cx="1344" cy="686"/>
              </a:xfrm>
            </p:grpSpPr>
            <p:sp>
              <p:nvSpPr>
                <p:cNvPr id="8221" name="Oval 6"/>
                <p:cNvSpPr/>
                <p:nvPr/>
              </p:nvSpPr>
              <p:spPr>
                <a:xfrm>
                  <a:off x="1296"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22" name="Oval 7"/>
                <p:cNvSpPr/>
                <p:nvPr/>
              </p:nvSpPr>
              <p:spPr>
                <a:xfrm>
                  <a:off x="1104" y="213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23" name="Oval 8"/>
                <p:cNvSpPr/>
                <p:nvPr/>
              </p:nvSpPr>
              <p:spPr>
                <a:xfrm>
                  <a:off x="1680"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24" name="Oval 9"/>
                <p:cNvSpPr/>
                <p:nvPr/>
              </p:nvSpPr>
              <p:spPr>
                <a:xfrm>
                  <a:off x="2064"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25" name="Line 10"/>
                <p:cNvSpPr/>
                <p:nvPr/>
              </p:nvSpPr>
              <p:spPr>
                <a:xfrm flipV="1">
                  <a:off x="1248" y="2176"/>
                  <a:ext cx="1" cy="229"/>
                </a:xfrm>
                <a:prstGeom prst="line">
                  <a:avLst/>
                </a:prstGeom>
                <a:ln w="9525" cap="flat" cmpd="sng">
                  <a:solidFill>
                    <a:srgbClr val="FF6600"/>
                  </a:solidFill>
                  <a:prstDash val="solid"/>
                  <a:headEnd type="none" w="med" len="med"/>
                  <a:tailEnd type="triangle" w="med" len="med"/>
                </a:ln>
              </p:spPr>
            </p:sp>
            <p:sp>
              <p:nvSpPr>
                <p:cNvPr id="8226" name="Line 11"/>
                <p:cNvSpPr/>
                <p:nvPr/>
              </p:nvSpPr>
              <p:spPr>
                <a:xfrm>
                  <a:off x="1344" y="2176"/>
                  <a:ext cx="1" cy="229"/>
                </a:xfrm>
                <a:prstGeom prst="line">
                  <a:avLst/>
                </a:prstGeom>
                <a:ln w="9525" cap="flat" cmpd="sng">
                  <a:solidFill>
                    <a:srgbClr val="FF6600"/>
                  </a:solidFill>
                  <a:prstDash val="solid"/>
                  <a:headEnd type="none" w="med" len="med"/>
                  <a:tailEnd type="triangle" w="med" len="med"/>
                </a:ln>
              </p:spPr>
            </p:sp>
            <p:sp>
              <p:nvSpPr>
                <p:cNvPr id="8227" name="Line 12"/>
                <p:cNvSpPr/>
                <p:nvPr/>
              </p:nvSpPr>
              <p:spPr>
                <a:xfrm>
                  <a:off x="1536" y="1902"/>
                  <a:ext cx="1" cy="228"/>
                </a:xfrm>
                <a:prstGeom prst="line">
                  <a:avLst/>
                </a:prstGeom>
                <a:ln w="9525" cap="flat" cmpd="sng">
                  <a:solidFill>
                    <a:srgbClr val="FF6600"/>
                  </a:solidFill>
                  <a:prstDash val="solid"/>
                  <a:headEnd type="none" w="med" len="med"/>
                  <a:tailEnd type="triangle" w="med" len="med"/>
                </a:ln>
              </p:spPr>
            </p:sp>
            <p:sp>
              <p:nvSpPr>
                <p:cNvPr id="8228" name="Line 13"/>
                <p:cNvSpPr/>
                <p:nvPr/>
              </p:nvSpPr>
              <p:spPr>
                <a:xfrm flipV="1">
                  <a:off x="2256" y="1902"/>
                  <a:ext cx="1" cy="228"/>
                </a:xfrm>
                <a:prstGeom prst="line">
                  <a:avLst/>
                </a:prstGeom>
                <a:ln w="9525" cap="flat" cmpd="sng">
                  <a:solidFill>
                    <a:schemeClr val="tx1"/>
                  </a:solidFill>
                  <a:prstDash val="solid"/>
                  <a:headEnd type="none" w="med" len="med"/>
                  <a:tailEnd type="triangle" w="med" len="med"/>
                </a:ln>
              </p:spPr>
            </p:sp>
            <p:sp>
              <p:nvSpPr>
                <p:cNvPr id="8229" name="Line 14"/>
                <p:cNvSpPr/>
                <p:nvPr/>
              </p:nvSpPr>
              <p:spPr>
                <a:xfrm flipV="1">
                  <a:off x="1872" y="1902"/>
                  <a:ext cx="1" cy="228"/>
                </a:xfrm>
                <a:prstGeom prst="line">
                  <a:avLst/>
                </a:prstGeom>
                <a:ln w="9525" cap="flat" cmpd="sng">
                  <a:solidFill>
                    <a:schemeClr val="tx1"/>
                  </a:solidFill>
                  <a:prstDash val="solid"/>
                  <a:headEnd type="none" w="med" len="med"/>
                  <a:tailEnd type="triangle" w="med" len="med"/>
                </a:ln>
              </p:spPr>
            </p:sp>
            <p:sp>
              <p:nvSpPr>
                <p:cNvPr id="8230" name="Line 17"/>
                <p:cNvSpPr/>
                <p:nvPr/>
              </p:nvSpPr>
              <p:spPr>
                <a:xfrm flipV="1">
                  <a:off x="1439" y="1883"/>
                  <a:ext cx="1" cy="229"/>
                </a:xfrm>
                <a:prstGeom prst="line">
                  <a:avLst/>
                </a:prstGeom>
                <a:ln w="9525" cap="flat" cmpd="sng">
                  <a:solidFill>
                    <a:srgbClr val="FF6600"/>
                  </a:solidFill>
                  <a:prstDash val="solid"/>
                  <a:headEnd type="none" w="med" len="med"/>
                  <a:tailEnd type="triangle" w="med" len="med"/>
                </a:ln>
              </p:spPr>
            </p:sp>
          </p:grpSp>
          <p:sp>
            <p:nvSpPr>
              <p:cNvPr id="8201" name="AutoShape 18"/>
              <p:cNvSpPr/>
              <p:nvPr/>
            </p:nvSpPr>
            <p:spPr>
              <a:xfrm>
                <a:off x="3733800" y="1295400"/>
                <a:ext cx="1676400" cy="8636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sp>
            <p:nvSpPr>
              <p:cNvPr id="8202" name="Rectangle 19"/>
              <p:cNvSpPr/>
              <p:nvPr/>
            </p:nvSpPr>
            <p:spPr>
              <a:xfrm>
                <a:off x="3962400" y="1524000"/>
                <a:ext cx="1116011" cy="400110"/>
              </a:xfrm>
              <a:prstGeom prst="rect">
                <a:avLst/>
              </a:prstGeom>
              <a:noFill/>
              <a:ln w="9525">
                <a:noFill/>
              </a:ln>
            </p:spPr>
            <p:txBody>
              <a:bodyPr wrap="none">
                <a:spAutoFit/>
              </a:bodyPr>
              <a:lstStyle/>
              <a:p>
                <a:pPr eaLnBrk="0" hangingPunct="0"/>
                <a:r>
                  <a:rPr lang="en-US" altLang="zh-CN" sz="2000" i="0" dirty="0">
                    <a:solidFill>
                      <a:schemeClr val="tx1"/>
                    </a:solidFill>
                    <a:latin typeface="Times New Roman" panose="02020603050405020304" pitchFamily="18" charset="0"/>
                    <a:ea typeface="宋体" panose="02010600030101010101" pitchFamily="2" charset="-122"/>
                  </a:rPr>
                  <a:t>sp</a:t>
                </a:r>
                <a:r>
                  <a:rPr lang="en-US" altLang="zh-CN" sz="2000" i="0" baseline="30000" dirty="0">
                    <a:solidFill>
                      <a:schemeClr val="tx1"/>
                    </a:solidFill>
                    <a:latin typeface="宋体" panose="02010600030101010101" pitchFamily="2" charset="-122"/>
                    <a:ea typeface="宋体" panose="02010600030101010101" pitchFamily="2" charset="-122"/>
                  </a:rPr>
                  <a:t>3 </a:t>
                </a:r>
                <a:r>
                  <a:rPr lang="zh-CN" altLang="en-US" sz="2000" i="0" dirty="0">
                    <a:solidFill>
                      <a:schemeClr val="tx1"/>
                    </a:solidFill>
                    <a:latin typeface="楷体_GB2312" pitchFamily="49" charset="-122"/>
                  </a:rPr>
                  <a:t>杂化</a:t>
                </a:r>
              </a:p>
            </p:txBody>
          </p:sp>
          <p:pic>
            <p:nvPicPr>
              <p:cNvPr id="8203" name="Picture 20" descr="fig0307c"/>
              <p:cNvPicPr>
                <a:picLocks noChangeAspect="1"/>
              </p:cNvPicPr>
              <p:nvPr/>
            </p:nvPicPr>
            <p:blipFill>
              <a:blip r:embed="rId4"/>
              <a:stretch>
                <a:fillRect/>
              </a:stretch>
            </p:blipFill>
            <p:spPr>
              <a:xfrm>
                <a:off x="0" y="3124200"/>
                <a:ext cx="2944813" cy="2455863"/>
              </a:xfrm>
              <a:prstGeom prst="rect">
                <a:avLst/>
              </a:prstGeom>
              <a:noFill/>
              <a:ln w="9525">
                <a:noFill/>
              </a:ln>
            </p:spPr>
          </p:pic>
          <p:grpSp>
            <p:nvGrpSpPr>
              <p:cNvPr id="8204" name="Group 21"/>
              <p:cNvGrpSpPr/>
              <p:nvPr/>
            </p:nvGrpSpPr>
            <p:grpSpPr>
              <a:xfrm>
                <a:off x="5562600" y="1017588"/>
                <a:ext cx="2438400" cy="1065212"/>
                <a:chOff x="3696" y="1505"/>
                <a:chExt cx="1536" cy="671"/>
              </a:xfrm>
            </p:grpSpPr>
            <p:sp>
              <p:nvSpPr>
                <p:cNvPr id="8210" name="Oval 22"/>
                <p:cNvSpPr/>
                <p:nvPr/>
              </p:nvSpPr>
              <p:spPr>
                <a:xfrm>
                  <a:off x="4464"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11" name="Oval 23"/>
                <p:cNvSpPr/>
                <p:nvPr/>
              </p:nvSpPr>
              <p:spPr>
                <a:xfrm>
                  <a:off x="4080"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12" name="Oval 24"/>
                <p:cNvSpPr/>
                <p:nvPr/>
              </p:nvSpPr>
              <p:spPr>
                <a:xfrm>
                  <a:off x="3696"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13" name="Line 25"/>
                <p:cNvSpPr/>
                <p:nvPr/>
              </p:nvSpPr>
              <p:spPr>
                <a:xfrm flipV="1">
                  <a:off x="4224" y="1902"/>
                  <a:ext cx="1" cy="228"/>
                </a:xfrm>
                <a:prstGeom prst="line">
                  <a:avLst/>
                </a:prstGeom>
                <a:ln w="9525" cap="flat" cmpd="sng">
                  <a:solidFill>
                    <a:srgbClr val="FF6600"/>
                  </a:solidFill>
                  <a:prstDash val="solid"/>
                  <a:headEnd type="none" w="med" len="med"/>
                  <a:tailEnd type="triangle" w="med" len="med"/>
                </a:ln>
              </p:spPr>
            </p:sp>
            <p:sp>
              <p:nvSpPr>
                <p:cNvPr id="8214" name="Line 26"/>
                <p:cNvSpPr/>
                <p:nvPr/>
              </p:nvSpPr>
              <p:spPr>
                <a:xfrm flipV="1">
                  <a:off x="3840" y="1902"/>
                  <a:ext cx="1" cy="228"/>
                </a:xfrm>
                <a:prstGeom prst="line">
                  <a:avLst/>
                </a:prstGeom>
                <a:ln w="9525" cap="flat" cmpd="sng">
                  <a:solidFill>
                    <a:srgbClr val="FF6600"/>
                  </a:solidFill>
                  <a:prstDash val="solid"/>
                  <a:headEnd type="none" w="med" len="med"/>
                  <a:tailEnd type="triangle" w="med" len="med"/>
                </a:ln>
              </p:spPr>
            </p:sp>
            <p:sp>
              <p:nvSpPr>
                <p:cNvPr id="8215" name="Line 27"/>
                <p:cNvSpPr/>
                <p:nvPr/>
              </p:nvSpPr>
              <p:spPr>
                <a:xfrm>
                  <a:off x="3936" y="1902"/>
                  <a:ext cx="1" cy="228"/>
                </a:xfrm>
                <a:prstGeom prst="line">
                  <a:avLst/>
                </a:prstGeom>
                <a:ln w="9525" cap="flat" cmpd="sng">
                  <a:solidFill>
                    <a:srgbClr val="FF6600"/>
                  </a:solidFill>
                  <a:prstDash val="solid"/>
                  <a:headEnd type="none" w="med" len="med"/>
                  <a:tailEnd type="triangle" w="med" len="med"/>
                </a:ln>
              </p:spPr>
            </p:sp>
            <p:sp>
              <p:nvSpPr>
                <p:cNvPr id="8216" name="Oval 28"/>
                <p:cNvSpPr/>
                <p:nvPr/>
              </p:nvSpPr>
              <p:spPr>
                <a:xfrm>
                  <a:off x="4848" y="1810"/>
                  <a:ext cx="384" cy="366"/>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217" name="Line 29"/>
                <p:cNvSpPr/>
                <p:nvPr/>
              </p:nvSpPr>
              <p:spPr>
                <a:xfrm flipV="1">
                  <a:off x="5040" y="1902"/>
                  <a:ext cx="1" cy="228"/>
                </a:xfrm>
                <a:prstGeom prst="line">
                  <a:avLst/>
                </a:prstGeom>
                <a:ln w="9525" cap="flat" cmpd="sng">
                  <a:solidFill>
                    <a:schemeClr val="tx1"/>
                  </a:solidFill>
                  <a:prstDash val="solid"/>
                  <a:headEnd type="none" w="med" len="med"/>
                  <a:tailEnd type="triangle" w="med" len="med"/>
                </a:ln>
              </p:spPr>
            </p:sp>
            <p:sp>
              <p:nvSpPr>
                <p:cNvPr id="8218" name="Line 30"/>
                <p:cNvSpPr/>
                <p:nvPr/>
              </p:nvSpPr>
              <p:spPr>
                <a:xfrm flipV="1">
                  <a:off x="4656" y="1902"/>
                  <a:ext cx="1" cy="228"/>
                </a:xfrm>
                <a:prstGeom prst="line">
                  <a:avLst/>
                </a:prstGeom>
                <a:ln w="9525" cap="flat" cmpd="sng">
                  <a:solidFill>
                    <a:schemeClr val="tx1"/>
                  </a:solidFill>
                  <a:prstDash val="solid"/>
                  <a:headEnd type="none" w="med" len="med"/>
                  <a:tailEnd type="triangle" w="med" len="med"/>
                </a:ln>
              </p:spPr>
            </p:sp>
            <p:sp>
              <p:nvSpPr>
                <p:cNvPr id="8219" name="Text Box 31"/>
                <p:cNvSpPr txBox="1"/>
                <p:nvPr/>
              </p:nvSpPr>
              <p:spPr>
                <a:xfrm>
                  <a:off x="4179" y="1505"/>
                  <a:ext cx="351" cy="288"/>
                </a:xfrm>
                <a:prstGeom prst="rect">
                  <a:avLst/>
                </a:prstGeom>
                <a:noFill/>
                <a:ln w="12700">
                  <a:noFill/>
                </a:ln>
              </p:spPr>
              <p:txBody>
                <a:bodyPr wrap="none">
                  <a:spAutoFit/>
                </a:bodyPr>
                <a:lstStyle/>
                <a:p>
                  <a:pPr algn="l" eaLnBrk="0" hangingPunct="0"/>
                  <a:r>
                    <a:rPr lang="en-US" altLang="zh-CN" b="0" i="0" dirty="0">
                      <a:solidFill>
                        <a:schemeClr val="tx1"/>
                      </a:solidFill>
                      <a:latin typeface="Times New Roman" panose="02020603050405020304" pitchFamily="18" charset="0"/>
                      <a:ea typeface="宋体" panose="02010600030101010101" pitchFamily="2" charset="-122"/>
                    </a:rPr>
                    <a:t>sp</a:t>
                  </a:r>
                  <a:r>
                    <a:rPr lang="en-US" altLang="zh-CN" b="0" i="0" baseline="30000" dirty="0">
                      <a:solidFill>
                        <a:schemeClr val="tx1"/>
                      </a:solidFill>
                      <a:latin typeface="Times New Roman" panose="02020603050405020304" pitchFamily="18" charset="0"/>
                      <a:ea typeface="宋体" panose="02010600030101010101" pitchFamily="2" charset="-122"/>
                    </a:rPr>
                    <a:t>3</a:t>
                  </a:r>
                </a:p>
              </p:txBody>
            </p:sp>
            <p:sp>
              <p:nvSpPr>
                <p:cNvPr id="8220" name="Line 32"/>
                <p:cNvSpPr/>
                <p:nvPr/>
              </p:nvSpPr>
              <p:spPr>
                <a:xfrm>
                  <a:off x="4319" y="1920"/>
                  <a:ext cx="1" cy="228"/>
                </a:xfrm>
                <a:prstGeom prst="line">
                  <a:avLst/>
                </a:prstGeom>
                <a:ln w="9525" cap="flat" cmpd="sng">
                  <a:solidFill>
                    <a:srgbClr val="FF6600"/>
                  </a:solidFill>
                  <a:prstDash val="solid"/>
                  <a:headEnd type="none" w="med" len="med"/>
                  <a:tailEnd type="triangle" w="med" len="med"/>
                </a:ln>
              </p:spPr>
            </p:sp>
          </p:grpSp>
          <p:sp>
            <p:nvSpPr>
              <p:cNvPr id="8205" name="Rectangle 33"/>
              <p:cNvSpPr/>
              <p:nvPr/>
            </p:nvSpPr>
            <p:spPr>
              <a:xfrm>
                <a:off x="2895600" y="4343400"/>
                <a:ext cx="2743200" cy="830997"/>
              </a:xfrm>
              <a:prstGeom prst="rect">
                <a:avLst/>
              </a:prstGeom>
              <a:noFill/>
              <a:ln w="9525">
                <a:noFill/>
              </a:ln>
            </p:spPr>
            <p:txBody>
              <a:bodyPr>
                <a:spAutoFit/>
              </a:bodyPr>
              <a:lstStyle/>
              <a:p>
                <a:pPr algn="l" eaLnBrk="0" hangingPunct="0"/>
                <a:r>
                  <a:rPr lang="en-US" altLang="zh-CN" i="0" dirty="0">
                    <a:solidFill>
                      <a:schemeClr val="tx1"/>
                    </a:solidFill>
                    <a:latin typeface="Times New Roman" panose="02020603050405020304" pitchFamily="18" charset="0"/>
                  </a:rPr>
                  <a:t>H</a:t>
                </a:r>
                <a:r>
                  <a:rPr lang="en-US" altLang="zh-CN" i="0" baseline="-25000" dirty="0">
                    <a:solidFill>
                      <a:schemeClr val="tx1"/>
                    </a:solidFill>
                    <a:latin typeface="Times New Roman" panose="02020603050405020304" pitchFamily="18" charset="0"/>
                  </a:rPr>
                  <a:t>2</a:t>
                </a:r>
                <a:r>
                  <a:rPr lang="en-US" altLang="zh-CN" i="0" dirty="0">
                    <a:solidFill>
                      <a:schemeClr val="tx1"/>
                    </a:solidFill>
                    <a:latin typeface="Times New Roman" panose="02020603050405020304" pitchFamily="18" charset="0"/>
                  </a:rPr>
                  <a:t>O</a:t>
                </a:r>
                <a:r>
                  <a:rPr lang="zh-CN" altLang="en-US" i="0" dirty="0">
                    <a:solidFill>
                      <a:schemeClr val="tx1"/>
                    </a:solidFill>
                    <a:latin typeface="Times New Roman" panose="02020603050405020304" pitchFamily="18" charset="0"/>
                  </a:rPr>
                  <a:t>中二个共价键形成</a:t>
                </a:r>
                <a:r>
                  <a:rPr lang="en-US" altLang="zh-CN" i="0" dirty="0">
                    <a:solidFill>
                      <a:schemeClr val="tx1"/>
                    </a:solidFill>
                    <a:latin typeface="Times New Roman" panose="02020603050405020304" pitchFamily="18" charset="0"/>
                  </a:rPr>
                  <a:t>V</a:t>
                </a:r>
                <a:r>
                  <a:rPr lang="zh-CN" altLang="en-US" i="0" dirty="0">
                    <a:solidFill>
                      <a:schemeClr val="tx1"/>
                    </a:solidFill>
                    <a:latin typeface="Times New Roman" panose="02020603050405020304" pitchFamily="18" charset="0"/>
                  </a:rPr>
                  <a:t>型</a:t>
                </a:r>
              </a:p>
            </p:txBody>
          </p:sp>
          <p:sp>
            <p:nvSpPr>
              <p:cNvPr id="8206" name="Rectangle 34"/>
              <p:cNvSpPr/>
              <p:nvPr/>
            </p:nvSpPr>
            <p:spPr>
              <a:xfrm>
                <a:off x="5410200" y="2209800"/>
                <a:ext cx="2044700" cy="457200"/>
              </a:xfrm>
              <a:prstGeom prst="rect">
                <a:avLst/>
              </a:prstGeom>
              <a:noFill/>
              <a:ln w="9525">
                <a:noFill/>
              </a:ln>
            </p:spPr>
            <p:txBody>
              <a:bodyPr>
                <a:spAutoFit/>
              </a:bodyPr>
              <a:lstStyle/>
              <a:p>
                <a:pPr eaLnBrk="0" hangingPunct="0"/>
                <a:r>
                  <a:rPr lang="zh-CN" altLang="en-US" i="0" dirty="0">
                    <a:solidFill>
                      <a:schemeClr val="tx1"/>
                    </a:solidFill>
                    <a:latin typeface="Times New Roman" panose="02020603050405020304" pitchFamily="18" charset="0"/>
                  </a:rPr>
                  <a:t>杂化轨道</a:t>
                </a:r>
              </a:p>
            </p:txBody>
          </p:sp>
          <p:sp>
            <p:nvSpPr>
              <p:cNvPr id="8207" name="Rectangle 35"/>
              <p:cNvSpPr/>
              <p:nvPr/>
            </p:nvSpPr>
            <p:spPr>
              <a:xfrm>
                <a:off x="457200" y="2514600"/>
                <a:ext cx="3306763" cy="457200"/>
              </a:xfrm>
              <a:prstGeom prst="rect">
                <a:avLst/>
              </a:prstGeom>
              <a:noFill/>
              <a:ln w="9525">
                <a:noFill/>
              </a:ln>
            </p:spPr>
            <p:txBody>
              <a:bodyPr>
                <a:spAutoFit/>
              </a:bodyPr>
              <a:lstStyle/>
              <a:p>
                <a:pPr eaLnBrk="0" hangingPunct="0"/>
                <a:r>
                  <a:rPr lang="zh-CN" altLang="en-US" i="0" dirty="0">
                    <a:solidFill>
                      <a:schemeClr val="tx1"/>
                    </a:solidFill>
                    <a:latin typeface="Times New Roman" panose="02020603050405020304" pitchFamily="18" charset="0"/>
                  </a:rPr>
                  <a:t>基态氧原子的 结 构</a:t>
                </a:r>
              </a:p>
            </p:txBody>
          </p:sp>
          <p:sp>
            <p:nvSpPr>
              <p:cNvPr id="8208" name="AutoShape 36"/>
              <p:cNvSpPr/>
              <p:nvPr/>
            </p:nvSpPr>
            <p:spPr>
              <a:xfrm rot="5363504">
                <a:off x="7543800" y="2057400"/>
                <a:ext cx="685800" cy="8382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pic>
            <p:nvPicPr>
              <p:cNvPr id="8209" name="Picture 38"/>
              <p:cNvPicPr>
                <a:picLocks noChangeAspect="1"/>
              </p:cNvPicPr>
              <p:nvPr/>
            </p:nvPicPr>
            <p:blipFill>
              <a:blip r:embed="rId5"/>
              <a:stretch>
                <a:fillRect/>
              </a:stretch>
            </p:blipFill>
            <p:spPr>
              <a:xfrm>
                <a:off x="5715000" y="2971800"/>
                <a:ext cx="3276600" cy="2971800"/>
              </a:xfrm>
              <a:prstGeom prst="rect">
                <a:avLst/>
              </a:prstGeom>
              <a:noFill/>
              <a:ln w="9525">
                <a:noFill/>
              </a:ln>
            </p:spPr>
          </p:pic>
        </p:grpSp>
        <p:graphicFrame>
          <p:nvGraphicFramePr>
            <p:cNvPr id="8194" name="Object 39"/>
            <p:cNvGraphicFramePr>
              <a:graphicFrameLocks/>
            </p:cNvGraphicFramePr>
            <p:nvPr/>
          </p:nvGraphicFramePr>
          <p:xfrm>
            <a:off x="2895600" y="3200400"/>
            <a:ext cx="3283876" cy="609600"/>
          </p:xfrm>
          <a:graphic>
            <a:graphicData uri="http://schemas.openxmlformats.org/presentationml/2006/ole">
              <p:oleObj spid="_x0000_s60417" r:id="rId6" imgW="1827508" imgH="382292" progId="">
                <p:embed/>
              </p:oleObj>
            </a:graphicData>
          </a:graphic>
        </p:graphicFrame>
        <p:sp>
          <p:nvSpPr>
            <p:cNvPr id="8197" name="矩形 39"/>
            <p:cNvSpPr/>
            <p:nvPr/>
          </p:nvSpPr>
          <p:spPr>
            <a:xfrm>
              <a:off x="457200" y="1219200"/>
              <a:ext cx="537327" cy="492443"/>
            </a:xfrm>
            <a:prstGeom prst="rect">
              <a:avLst/>
            </a:prstGeom>
            <a:noFill/>
            <a:ln w="9525">
              <a:noFill/>
            </a:ln>
          </p:spPr>
          <p:txBody>
            <a:bodyPr wrap="none">
              <a:spAutoFit/>
            </a:bodyPr>
            <a:lstStyle/>
            <a:p>
              <a:r>
                <a:rPr lang="en-US" altLang="zh-CN" sz="2600" i="0" dirty="0">
                  <a:solidFill>
                    <a:srgbClr val="000000"/>
                  </a:solidFill>
                  <a:latin typeface="Times New Roman" panose="02020603050405020304" pitchFamily="18" charset="0"/>
                </a:rPr>
                <a:t>2p</a:t>
              </a:r>
              <a:endParaRPr lang="zh-CN" altLang="en-US" dirty="0">
                <a:latin typeface="Times New Roman" panose="02020603050405020304" pitchFamily="18" charset="0"/>
              </a:endParaRPr>
            </a:p>
          </p:txBody>
        </p:sp>
        <p:sp>
          <p:nvSpPr>
            <p:cNvPr id="8198" name="矩形 40"/>
            <p:cNvSpPr/>
            <p:nvPr/>
          </p:nvSpPr>
          <p:spPr>
            <a:xfrm>
              <a:off x="457200" y="1828800"/>
              <a:ext cx="481222" cy="492443"/>
            </a:xfrm>
            <a:prstGeom prst="rect">
              <a:avLst/>
            </a:prstGeom>
            <a:noFill/>
            <a:ln w="9525">
              <a:noFill/>
            </a:ln>
          </p:spPr>
          <p:txBody>
            <a:bodyPr wrap="none">
              <a:spAutoFit/>
            </a:bodyPr>
            <a:lstStyle/>
            <a:p>
              <a:r>
                <a:rPr lang="en-US" altLang="zh-CN" sz="2600" i="0" dirty="0">
                  <a:solidFill>
                    <a:srgbClr val="000000"/>
                  </a:solidFill>
                  <a:latin typeface="Times New Roman" panose="02020603050405020304" pitchFamily="18" charset="0"/>
                </a:rPr>
                <a:t>2s</a:t>
              </a:r>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219" name="组合 33"/>
          <p:cNvGrpSpPr/>
          <p:nvPr/>
        </p:nvGrpSpPr>
        <p:grpSpPr>
          <a:xfrm>
            <a:off x="0" y="152400"/>
            <a:ext cx="9144000" cy="6705600"/>
            <a:chOff x="0" y="152400"/>
            <a:chExt cx="9144000" cy="6705600"/>
          </a:xfrm>
        </p:grpSpPr>
        <p:sp>
          <p:nvSpPr>
            <p:cNvPr id="9220" name="Rectangle 4"/>
            <p:cNvSpPr/>
            <p:nvPr/>
          </p:nvSpPr>
          <p:spPr>
            <a:xfrm>
              <a:off x="228600" y="152400"/>
              <a:ext cx="5016117" cy="492443"/>
            </a:xfrm>
            <a:prstGeom prst="rect">
              <a:avLst/>
            </a:prstGeom>
            <a:noFill/>
            <a:ln w="28575" cap="flat" cmpd="sng">
              <a:solidFill>
                <a:srgbClr val="FFCC99"/>
              </a:solidFill>
              <a:prstDash val="solid"/>
              <a:miter/>
              <a:headEnd type="none" w="med" len="med"/>
              <a:tailEnd type="none" w="med" len="med"/>
            </a:ln>
          </p:spPr>
          <p:txBody>
            <a:bodyPr wrap="none">
              <a:spAutoFit/>
            </a:bodyPr>
            <a:lstStyle/>
            <a:p>
              <a:pPr eaLnBrk="0" hangingPunct="0"/>
              <a:r>
                <a:rPr lang="en-US" altLang="zh-CN" sz="2600" i="0" dirty="0">
                  <a:solidFill>
                    <a:schemeClr val="tx1"/>
                  </a:solidFill>
                  <a:latin typeface="Times New Roman" panose="02020603050405020304" pitchFamily="18" charset="0"/>
                </a:rPr>
                <a:t>NH</a:t>
              </a:r>
              <a:r>
                <a:rPr lang="en-US" altLang="zh-CN" sz="2600" i="0" baseline="-25000" dirty="0">
                  <a:solidFill>
                    <a:schemeClr val="tx1"/>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中</a:t>
              </a:r>
              <a:r>
                <a:rPr lang="en-US" altLang="zh-CN" sz="2600" i="0" dirty="0">
                  <a:solidFill>
                    <a:schemeClr val="tx1"/>
                  </a:solidFill>
                  <a:latin typeface="Times New Roman" panose="02020603050405020304" pitchFamily="18" charset="0"/>
                </a:rPr>
                <a:t>N </a:t>
              </a:r>
              <a:r>
                <a:rPr lang="zh-CN" altLang="en-US" sz="2600" i="0" dirty="0">
                  <a:solidFill>
                    <a:schemeClr val="tx1"/>
                  </a:solidFill>
                  <a:latin typeface="Times New Roman" panose="02020603050405020304" pitchFamily="18" charset="0"/>
                </a:rPr>
                <a:t>原子采取 </a:t>
              </a:r>
              <a:r>
                <a:rPr lang="en-US" altLang="zh-CN" sz="2600" dirty="0">
                  <a:solidFill>
                    <a:schemeClr val="tx1"/>
                  </a:solidFill>
                  <a:latin typeface="Times New Roman" panose="02020603050405020304" pitchFamily="18" charset="0"/>
                </a:rPr>
                <a:t>sp</a:t>
              </a:r>
              <a:r>
                <a:rPr lang="en-US" altLang="zh-CN" sz="2600" i="0" baseline="30000" dirty="0">
                  <a:solidFill>
                    <a:schemeClr val="tx1"/>
                  </a:solidFill>
                  <a:latin typeface="Times New Roman" panose="02020603050405020304" pitchFamily="18" charset="0"/>
                </a:rPr>
                <a:t>3 </a:t>
              </a:r>
              <a:r>
                <a:rPr lang="zh-CN" altLang="en-US" sz="2600" i="0" dirty="0">
                  <a:solidFill>
                    <a:schemeClr val="tx1"/>
                  </a:solidFill>
                  <a:latin typeface="Times New Roman" panose="02020603050405020304" pitchFamily="18" charset="0"/>
                </a:rPr>
                <a:t>不等性杂化</a:t>
              </a:r>
            </a:p>
          </p:txBody>
        </p:sp>
        <p:pic>
          <p:nvPicPr>
            <p:cNvPr id="9221" name="Picture 5" descr="fig0308c"/>
            <p:cNvPicPr>
              <a:picLocks noChangeAspect="1"/>
            </p:cNvPicPr>
            <p:nvPr/>
          </p:nvPicPr>
          <p:blipFill>
            <a:blip r:embed="rId4"/>
            <a:stretch>
              <a:fillRect/>
            </a:stretch>
          </p:blipFill>
          <p:spPr>
            <a:xfrm>
              <a:off x="0" y="3505200"/>
              <a:ext cx="3732213" cy="3352800"/>
            </a:xfrm>
            <a:prstGeom prst="rect">
              <a:avLst/>
            </a:prstGeom>
            <a:noFill/>
            <a:ln w="9525">
              <a:noFill/>
            </a:ln>
          </p:spPr>
        </p:pic>
        <p:grpSp>
          <p:nvGrpSpPr>
            <p:cNvPr id="9222" name="Group 6"/>
            <p:cNvGrpSpPr/>
            <p:nvPr/>
          </p:nvGrpSpPr>
          <p:grpSpPr>
            <a:xfrm>
              <a:off x="3048000" y="1143000"/>
              <a:ext cx="2971800" cy="609600"/>
              <a:chOff x="2160" y="1392"/>
              <a:chExt cx="1536" cy="528"/>
            </a:xfrm>
          </p:grpSpPr>
          <p:sp>
            <p:nvSpPr>
              <p:cNvPr id="9248" name="AutoShape 7"/>
              <p:cNvSpPr/>
              <p:nvPr/>
            </p:nvSpPr>
            <p:spPr>
              <a:xfrm>
                <a:off x="2160" y="1392"/>
                <a:ext cx="1536" cy="528"/>
              </a:xfrm>
              <a:custGeom>
                <a:avLst/>
                <a:gdLst>
                  <a:gd name="txL" fmla="*/ 3375 w 21600"/>
                  <a:gd name="txT" fmla="*/ 5400 h 21600"/>
                  <a:gd name="txR" fmla="*/ 18900 w 21600"/>
                  <a:gd name="txB" fmla="*/ 16200 h 21600"/>
                </a:gdLst>
                <a:ahLst/>
                <a:cxnLst>
                  <a:cxn ang="17694720">
                    <a:pos x="0" y="0"/>
                  </a:cxn>
                  <a:cxn ang="11796480">
                    <a:pos x="0" y="0"/>
                  </a:cxn>
                  <a:cxn ang="589824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9249" name="Rectangle 8"/>
              <p:cNvSpPr/>
              <p:nvPr/>
            </p:nvSpPr>
            <p:spPr>
              <a:xfrm>
                <a:off x="2640" y="1585"/>
                <a:ext cx="529" cy="320"/>
              </a:xfrm>
              <a:prstGeom prst="rect">
                <a:avLst/>
              </a:prstGeom>
              <a:solidFill>
                <a:srgbClr val="FF6600"/>
              </a:solidFill>
              <a:ln w="9525">
                <a:noFill/>
              </a:ln>
            </p:spPr>
            <p:txBody>
              <a:bodyPr lIns="0" tIns="0" rIns="0" bIns="0">
                <a:spAutoFit/>
              </a:bodyPr>
              <a:lstStyle/>
              <a:p>
                <a:pPr algn="l" eaLnBrk="0" hangingPunct="0"/>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r>
                  <a:rPr lang="zh-CN" altLang="en-US" i="0" dirty="0">
                    <a:solidFill>
                      <a:schemeClr val="tx1"/>
                    </a:solidFill>
                    <a:latin typeface="宋体" panose="02010600030101010101" pitchFamily="2" charset="-122"/>
                  </a:rPr>
                  <a:t>杂化</a:t>
                </a:r>
              </a:p>
            </p:txBody>
          </p:sp>
        </p:grpSp>
        <p:grpSp>
          <p:nvGrpSpPr>
            <p:cNvPr id="9223" name="Group 9"/>
            <p:cNvGrpSpPr/>
            <p:nvPr/>
          </p:nvGrpSpPr>
          <p:grpSpPr>
            <a:xfrm>
              <a:off x="533400" y="1143000"/>
              <a:ext cx="2449513" cy="1066800"/>
              <a:chOff x="624" y="1296"/>
              <a:chExt cx="1440" cy="672"/>
            </a:xfrm>
          </p:grpSpPr>
          <p:sp>
            <p:nvSpPr>
              <p:cNvPr id="9239" name="Oval 10"/>
              <p:cNvSpPr/>
              <p:nvPr/>
            </p:nvSpPr>
            <p:spPr>
              <a:xfrm>
                <a:off x="912" y="1296"/>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40" name="Oval 11"/>
              <p:cNvSpPr/>
              <p:nvPr/>
            </p:nvSpPr>
            <p:spPr>
              <a:xfrm>
                <a:off x="1296" y="1296"/>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41" name="Oval 12"/>
              <p:cNvSpPr/>
              <p:nvPr/>
            </p:nvSpPr>
            <p:spPr>
              <a:xfrm>
                <a:off x="1680" y="1296"/>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42" name="Line 13"/>
              <p:cNvSpPr/>
              <p:nvPr/>
            </p:nvSpPr>
            <p:spPr>
              <a:xfrm flipV="1">
                <a:off x="1056" y="1392"/>
                <a:ext cx="1" cy="240"/>
              </a:xfrm>
              <a:prstGeom prst="line">
                <a:avLst/>
              </a:prstGeom>
              <a:ln w="9525" cap="flat" cmpd="sng">
                <a:solidFill>
                  <a:schemeClr val="tx1"/>
                </a:solidFill>
                <a:prstDash val="solid"/>
                <a:headEnd type="none" w="med" len="med"/>
                <a:tailEnd type="triangle" w="med" len="med"/>
              </a:ln>
            </p:spPr>
          </p:sp>
          <p:sp>
            <p:nvSpPr>
              <p:cNvPr id="9243" name="Line 14"/>
              <p:cNvSpPr/>
              <p:nvPr/>
            </p:nvSpPr>
            <p:spPr>
              <a:xfrm flipV="1">
                <a:off x="1872" y="1392"/>
                <a:ext cx="1" cy="240"/>
              </a:xfrm>
              <a:prstGeom prst="line">
                <a:avLst/>
              </a:prstGeom>
              <a:ln w="9525" cap="flat" cmpd="sng">
                <a:solidFill>
                  <a:schemeClr val="tx1"/>
                </a:solidFill>
                <a:prstDash val="solid"/>
                <a:headEnd type="none" w="med" len="med"/>
                <a:tailEnd type="triangle" w="med" len="med"/>
              </a:ln>
            </p:spPr>
          </p:sp>
          <p:sp>
            <p:nvSpPr>
              <p:cNvPr id="9244" name="Line 15"/>
              <p:cNvSpPr/>
              <p:nvPr/>
            </p:nvSpPr>
            <p:spPr>
              <a:xfrm flipV="1">
                <a:off x="1488" y="1392"/>
                <a:ext cx="1" cy="240"/>
              </a:xfrm>
              <a:prstGeom prst="line">
                <a:avLst/>
              </a:prstGeom>
              <a:ln w="9525" cap="flat" cmpd="sng">
                <a:solidFill>
                  <a:schemeClr val="tx1"/>
                </a:solidFill>
                <a:prstDash val="solid"/>
                <a:headEnd type="none" w="med" len="med"/>
                <a:tailEnd type="triangle" w="med" len="med"/>
              </a:ln>
            </p:spPr>
          </p:sp>
          <p:sp>
            <p:nvSpPr>
              <p:cNvPr id="9245" name="Oval 16"/>
              <p:cNvSpPr/>
              <p:nvPr/>
            </p:nvSpPr>
            <p:spPr>
              <a:xfrm>
                <a:off x="624" y="1584"/>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46" name="Line 17"/>
              <p:cNvSpPr/>
              <p:nvPr/>
            </p:nvSpPr>
            <p:spPr>
              <a:xfrm flipV="1">
                <a:off x="768" y="1680"/>
                <a:ext cx="1" cy="240"/>
              </a:xfrm>
              <a:prstGeom prst="line">
                <a:avLst/>
              </a:prstGeom>
              <a:ln w="9525" cap="flat" cmpd="sng">
                <a:solidFill>
                  <a:srgbClr val="FF6600"/>
                </a:solidFill>
                <a:prstDash val="solid"/>
                <a:headEnd type="none" w="med" len="med"/>
                <a:tailEnd type="triangle" w="med" len="med"/>
              </a:ln>
            </p:spPr>
          </p:sp>
          <p:sp>
            <p:nvSpPr>
              <p:cNvPr id="9247" name="Line 18"/>
              <p:cNvSpPr/>
              <p:nvPr/>
            </p:nvSpPr>
            <p:spPr>
              <a:xfrm>
                <a:off x="864" y="1680"/>
                <a:ext cx="1" cy="240"/>
              </a:xfrm>
              <a:prstGeom prst="line">
                <a:avLst/>
              </a:prstGeom>
              <a:ln w="9525" cap="flat" cmpd="sng">
                <a:solidFill>
                  <a:srgbClr val="FF6600"/>
                </a:solidFill>
                <a:prstDash val="solid"/>
                <a:headEnd type="none" w="med" len="med"/>
                <a:tailEnd type="triangle" w="med" len="med"/>
              </a:ln>
            </p:spPr>
          </p:sp>
        </p:grpSp>
        <p:grpSp>
          <p:nvGrpSpPr>
            <p:cNvPr id="9224" name="Group 19"/>
            <p:cNvGrpSpPr/>
            <p:nvPr/>
          </p:nvGrpSpPr>
          <p:grpSpPr>
            <a:xfrm>
              <a:off x="6248400" y="838200"/>
              <a:ext cx="2514600" cy="609600"/>
              <a:chOff x="3696" y="1440"/>
              <a:chExt cx="1536" cy="384"/>
            </a:xfrm>
          </p:grpSpPr>
          <p:sp>
            <p:nvSpPr>
              <p:cNvPr id="9230" name="Oval 20"/>
              <p:cNvSpPr/>
              <p:nvPr/>
            </p:nvSpPr>
            <p:spPr>
              <a:xfrm>
                <a:off x="4848" y="1440"/>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31" name="Oval 21"/>
              <p:cNvSpPr/>
              <p:nvPr/>
            </p:nvSpPr>
            <p:spPr>
              <a:xfrm>
                <a:off x="4464" y="1440"/>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32" name="Oval 22"/>
              <p:cNvSpPr/>
              <p:nvPr/>
            </p:nvSpPr>
            <p:spPr>
              <a:xfrm>
                <a:off x="4080" y="1440"/>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33" name="Oval 23"/>
              <p:cNvSpPr/>
              <p:nvPr/>
            </p:nvSpPr>
            <p:spPr>
              <a:xfrm>
                <a:off x="3696" y="1440"/>
                <a:ext cx="384" cy="384"/>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9234" name="Line 24"/>
              <p:cNvSpPr/>
              <p:nvPr/>
            </p:nvSpPr>
            <p:spPr>
              <a:xfrm flipV="1">
                <a:off x="3840" y="1488"/>
                <a:ext cx="1" cy="240"/>
              </a:xfrm>
              <a:prstGeom prst="line">
                <a:avLst/>
              </a:prstGeom>
              <a:ln w="9525" cap="flat" cmpd="sng">
                <a:solidFill>
                  <a:srgbClr val="FF6600"/>
                </a:solidFill>
                <a:prstDash val="solid"/>
                <a:headEnd type="none" w="med" len="med"/>
                <a:tailEnd type="triangle" w="med" len="med"/>
              </a:ln>
            </p:spPr>
          </p:sp>
          <p:sp>
            <p:nvSpPr>
              <p:cNvPr id="9235" name="Line 25"/>
              <p:cNvSpPr/>
              <p:nvPr/>
            </p:nvSpPr>
            <p:spPr>
              <a:xfrm>
                <a:off x="3936" y="1488"/>
                <a:ext cx="1" cy="240"/>
              </a:xfrm>
              <a:prstGeom prst="line">
                <a:avLst/>
              </a:prstGeom>
              <a:ln w="9525" cap="flat" cmpd="sng">
                <a:solidFill>
                  <a:srgbClr val="FF6600"/>
                </a:solidFill>
                <a:prstDash val="solid"/>
                <a:headEnd type="none" w="med" len="med"/>
                <a:tailEnd type="triangle" w="med" len="med"/>
              </a:ln>
            </p:spPr>
          </p:sp>
          <p:sp>
            <p:nvSpPr>
              <p:cNvPr id="9236" name="Line 26"/>
              <p:cNvSpPr/>
              <p:nvPr/>
            </p:nvSpPr>
            <p:spPr>
              <a:xfrm flipV="1">
                <a:off x="4656" y="1488"/>
                <a:ext cx="1" cy="240"/>
              </a:xfrm>
              <a:prstGeom prst="line">
                <a:avLst/>
              </a:prstGeom>
              <a:ln w="9525" cap="flat" cmpd="sng">
                <a:solidFill>
                  <a:schemeClr val="tx1"/>
                </a:solidFill>
                <a:prstDash val="solid"/>
                <a:headEnd type="none" w="med" len="med"/>
                <a:tailEnd type="triangle" w="med" len="med"/>
              </a:ln>
            </p:spPr>
          </p:sp>
          <p:sp>
            <p:nvSpPr>
              <p:cNvPr id="9237" name="Line 27"/>
              <p:cNvSpPr/>
              <p:nvPr/>
            </p:nvSpPr>
            <p:spPr>
              <a:xfrm flipV="1">
                <a:off x="5040" y="1488"/>
                <a:ext cx="1" cy="240"/>
              </a:xfrm>
              <a:prstGeom prst="line">
                <a:avLst/>
              </a:prstGeom>
              <a:ln w="9525" cap="flat" cmpd="sng">
                <a:solidFill>
                  <a:schemeClr val="tx1"/>
                </a:solidFill>
                <a:prstDash val="solid"/>
                <a:headEnd type="none" w="med" len="med"/>
                <a:tailEnd type="triangle" w="med" len="med"/>
              </a:ln>
            </p:spPr>
          </p:sp>
          <p:sp>
            <p:nvSpPr>
              <p:cNvPr id="9238" name="Line 28"/>
              <p:cNvSpPr/>
              <p:nvPr/>
            </p:nvSpPr>
            <p:spPr>
              <a:xfrm flipV="1">
                <a:off x="4272" y="1488"/>
                <a:ext cx="0" cy="240"/>
              </a:xfrm>
              <a:prstGeom prst="line">
                <a:avLst/>
              </a:prstGeom>
              <a:ln w="9525" cap="flat" cmpd="sng">
                <a:solidFill>
                  <a:schemeClr val="tx1"/>
                </a:solidFill>
                <a:prstDash val="solid"/>
                <a:headEnd type="none" w="med" len="med"/>
                <a:tailEnd type="triangle" w="med" len="med"/>
              </a:ln>
            </p:spPr>
          </p:sp>
        </p:grpSp>
        <p:sp>
          <p:nvSpPr>
            <p:cNvPr id="9225" name="AutoShape 29"/>
            <p:cNvSpPr/>
            <p:nvPr/>
          </p:nvSpPr>
          <p:spPr>
            <a:xfrm rot="5363504">
              <a:off x="7322343" y="1821656"/>
              <a:ext cx="1585913" cy="8382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6600"/>
            </a:solidFill>
            <a:ln w="9525">
              <a:noFill/>
            </a:ln>
          </p:spPr>
          <p:txBody>
            <a:bodyPr wrap="none" anchor="ctr" anchorCtr="0"/>
            <a:lstStyle/>
            <a:p>
              <a:endParaRPr lang="zh-CN" altLang="en-US" dirty="0">
                <a:latin typeface="Times New Roman" panose="02020603050405020304" pitchFamily="18" charset="0"/>
              </a:endParaRPr>
            </a:p>
          </p:txBody>
        </p:sp>
        <p:sp>
          <p:nvSpPr>
            <p:cNvPr id="9226" name="Rectangle 30"/>
            <p:cNvSpPr/>
            <p:nvPr/>
          </p:nvSpPr>
          <p:spPr>
            <a:xfrm>
              <a:off x="228600" y="2209800"/>
              <a:ext cx="3276600" cy="488950"/>
            </a:xfrm>
            <a:prstGeom prst="rect">
              <a:avLst/>
            </a:prstGeom>
            <a:noFill/>
            <a:ln w="9525">
              <a:noFill/>
            </a:ln>
          </p:spPr>
          <p:txBody>
            <a:bodyPr>
              <a:spAutoFit/>
            </a:bodyPr>
            <a:lstStyle/>
            <a:p>
              <a:pPr algn="l" eaLnBrk="0" hangingPunct="0"/>
              <a:r>
                <a:rPr lang="zh-CN" altLang="en-US" sz="2600" i="0" dirty="0">
                  <a:solidFill>
                    <a:schemeClr val="tx1"/>
                  </a:solidFill>
                  <a:latin typeface="Times New Roman" panose="02020603050405020304" pitchFamily="18" charset="0"/>
                </a:rPr>
                <a:t>基态氮原子的 结 构</a:t>
              </a:r>
            </a:p>
          </p:txBody>
        </p:sp>
        <p:sp>
          <p:nvSpPr>
            <p:cNvPr id="9227" name="Rectangle 31"/>
            <p:cNvSpPr/>
            <p:nvPr/>
          </p:nvSpPr>
          <p:spPr>
            <a:xfrm>
              <a:off x="4038600" y="4648200"/>
              <a:ext cx="1371600" cy="1679575"/>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NH</a:t>
              </a:r>
              <a:r>
                <a:rPr lang="en-US" altLang="zh-CN" sz="2600" i="0" baseline="-25000" dirty="0">
                  <a:solidFill>
                    <a:schemeClr val="tx1"/>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中共价键形成三角锥型</a:t>
              </a:r>
            </a:p>
          </p:txBody>
        </p:sp>
        <p:sp>
          <p:nvSpPr>
            <p:cNvPr id="9228" name="Rectangle 32"/>
            <p:cNvSpPr/>
            <p:nvPr/>
          </p:nvSpPr>
          <p:spPr>
            <a:xfrm>
              <a:off x="6172200" y="1905000"/>
              <a:ext cx="1511300" cy="488950"/>
            </a:xfrm>
            <a:prstGeom prst="rect">
              <a:avLst/>
            </a:prstGeom>
            <a:noFill/>
            <a:ln w="9525">
              <a:noFill/>
            </a:ln>
          </p:spPr>
          <p:txBody>
            <a:bodyPr wrap="none">
              <a:spAutoFit/>
            </a:bodyPr>
            <a:lstStyle/>
            <a:p>
              <a:pPr eaLnBrk="0" hangingPunct="0"/>
              <a:r>
                <a:rPr lang="zh-CN" altLang="en-US" sz="2600" i="0" dirty="0">
                  <a:solidFill>
                    <a:schemeClr val="tx1"/>
                  </a:solidFill>
                  <a:latin typeface="Times New Roman" panose="02020603050405020304" pitchFamily="18" charset="0"/>
                </a:rPr>
                <a:t>杂化轨道</a:t>
              </a:r>
            </a:p>
          </p:txBody>
        </p:sp>
        <p:pic>
          <p:nvPicPr>
            <p:cNvPr id="9229" name="Picture 33"/>
            <p:cNvPicPr>
              <a:picLocks noChangeAspect="1"/>
            </p:cNvPicPr>
            <p:nvPr/>
          </p:nvPicPr>
          <p:blipFill>
            <a:blip r:embed="rId5"/>
            <a:stretch>
              <a:fillRect/>
            </a:stretch>
          </p:blipFill>
          <p:spPr>
            <a:xfrm>
              <a:off x="5715000" y="3200400"/>
              <a:ext cx="3429000" cy="3505200"/>
            </a:xfrm>
            <a:prstGeom prst="rect">
              <a:avLst/>
            </a:prstGeom>
            <a:noFill/>
            <a:ln w="9525">
              <a:noFill/>
            </a:ln>
          </p:spPr>
        </p:pic>
        <p:graphicFrame>
          <p:nvGraphicFramePr>
            <p:cNvPr id="9218" name="Object 34"/>
            <p:cNvGraphicFramePr>
              <a:graphicFrameLocks/>
            </p:cNvGraphicFramePr>
            <p:nvPr/>
          </p:nvGraphicFramePr>
          <p:xfrm>
            <a:off x="3048000" y="3581400"/>
            <a:ext cx="3124200" cy="533400"/>
          </p:xfrm>
          <a:graphic>
            <a:graphicData uri="http://schemas.openxmlformats.org/presentationml/2006/ole">
              <p:oleObj spid="_x0000_s62465" r:id="rId6" imgW="1942926" imgH="405008" progId="">
                <p:embed/>
              </p:oleObj>
            </a:graphicData>
          </a:graphic>
        </p:graphicFrame>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5298" name="组合 13"/>
          <p:cNvGrpSpPr/>
          <p:nvPr/>
        </p:nvGrpSpPr>
        <p:grpSpPr>
          <a:xfrm>
            <a:off x="228600" y="457200"/>
            <a:ext cx="8839200" cy="5410200"/>
            <a:chOff x="228600" y="457200"/>
            <a:chExt cx="8839200" cy="5410200"/>
          </a:xfrm>
        </p:grpSpPr>
        <p:pic>
          <p:nvPicPr>
            <p:cNvPr id="49160" name="Picture 8" descr="sp3d2"/>
            <p:cNvPicPr>
              <a:picLocks noChangeAspect="1" noChangeArrowheads="1"/>
            </p:cNvPicPr>
            <p:nvPr/>
          </p:nvPicPr>
          <p:blipFill>
            <a:blip r:embed="rId3"/>
            <a:srcRect b="15088"/>
            <a:stretch>
              <a:fillRect/>
            </a:stretch>
          </p:blipFill>
          <p:spPr bwMode="auto">
            <a:xfrm>
              <a:off x="3495675" y="3124200"/>
              <a:ext cx="5572125" cy="2743200"/>
            </a:xfrm>
            <a:prstGeom prst="rect">
              <a:avLst/>
            </a:prstGeom>
            <a:noFill/>
            <a:ln w="38100">
              <a:solidFill>
                <a:schemeClr val="accent1"/>
              </a:solidFill>
              <a:miter lim="800000"/>
              <a:headEnd/>
              <a:tailEnd/>
            </a:ln>
            <a:effectLst>
              <a:outerShdw dist="107763" dir="2700000" algn="ctr" rotWithShape="0">
                <a:srgbClr val="808080">
                  <a:alpha val="50000"/>
                </a:srgbClr>
              </a:outerShdw>
            </a:effectLst>
          </p:spPr>
        </p:pic>
        <p:pic>
          <p:nvPicPr>
            <p:cNvPr id="49161" name="Picture 9" descr="sp3d"/>
            <p:cNvPicPr>
              <a:picLocks noChangeAspect="1" noChangeArrowheads="1"/>
            </p:cNvPicPr>
            <p:nvPr/>
          </p:nvPicPr>
          <p:blipFill>
            <a:blip r:embed="rId4"/>
            <a:srcRect b="14848"/>
            <a:stretch>
              <a:fillRect/>
            </a:stretch>
          </p:blipFill>
          <p:spPr bwMode="auto">
            <a:xfrm>
              <a:off x="228600" y="457200"/>
              <a:ext cx="5205413" cy="2438400"/>
            </a:xfrm>
            <a:prstGeom prst="rect">
              <a:avLst/>
            </a:prstGeom>
            <a:noFill/>
            <a:ln w="38100">
              <a:solidFill>
                <a:srgbClr val="00FF00"/>
              </a:solidFill>
              <a:miter lim="800000"/>
              <a:headEnd/>
              <a:tailEnd/>
            </a:ln>
            <a:effectLst>
              <a:outerShdw dist="107763" dir="2700000" algn="ctr" rotWithShape="0">
                <a:srgbClr val="808080">
                  <a:alpha val="50000"/>
                </a:srgbClr>
              </a:outerShdw>
            </a:effectLst>
          </p:spPr>
        </p:pic>
        <p:grpSp>
          <p:nvGrpSpPr>
            <p:cNvPr id="55301" name="Group 10"/>
            <p:cNvGrpSpPr/>
            <p:nvPr/>
          </p:nvGrpSpPr>
          <p:grpSpPr>
            <a:xfrm>
              <a:off x="5638800" y="1219200"/>
              <a:ext cx="1828800" cy="914400"/>
              <a:chOff x="3408" y="1104"/>
              <a:chExt cx="1152" cy="576"/>
            </a:xfrm>
          </p:grpSpPr>
          <p:sp>
            <p:nvSpPr>
              <p:cNvPr id="55307" name="AutoShape 11"/>
              <p:cNvSpPr/>
              <p:nvPr/>
            </p:nvSpPr>
            <p:spPr>
              <a:xfrm>
                <a:off x="3408" y="1104"/>
                <a:ext cx="1152" cy="576"/>
              </a:xfrm>
              <a:prstGeom prst="leftArrowCallout">
                <a:avLst>
                  <a:gd name="adj1" fmla="val 25000"/>
                  <a:gd name="adj2" fmla="val 25000"/>
                  <a:gd name="adj3" fmla="val 33333"/>
                  <a:gd name="adj4" fmla="val 66667"/>
                </a:avLst>
              </a:prstGeom>
              <a:solidFill>
                <a:srgbClr val="FF66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5308" name="Rectangle 12"/>
              <p:cNvSpPr/>
              <p:nvPr/>
            </p:nvSpPr>
            <p:spPr>
              <a:xfrm>
                <a:off x="3888" y="1200"/>
                <a:ext cx="556" cy="365"/>
              </a:xfrm>
              <a:prstGeom prst="rect">
                <a:avLst/>
              </a:prstGeom>
              <a:solidFill>
                <a:srgbClr val="FF6600"/>
              </a:solidFill>
              <a:ln w="9525">
                <a:noFill/>
              </a:ln>
            </p:spPr>
            <p:txBody>
              <a:bodyPr wrap="none">
                <a:spAutoFit/>
              </a:bodyPr>
              <a:lstStyle/>
              <a:p>
                <a:pPr>
                  <a:spcBef>
                    <a:spcPct val="50000"/>
                  </a:spcBef>
                </a:pPr>
                <a:r>
                  <a:rPr lang="en-US" altLang="zh-CN" sz="3200" dirty="0">
                    <a:solidFill>
                      <a:srgbClr val="0000FF"/>
                    </a:solidFill>
                    <a:latin typeface="Times New Roman" panose="02020603050405020304" pitchFamily="18" charset="0"/>
                    <a:ea typeface="宋体" panose="02010600030101010101" pitchFamily="2" charset="-122"/>
                  </a:rPr>
                  <a:t>sp</a:t>
                </a:r>
                <a:r>
                  <a:rPr lang="en-US" altLang="zh-CN" sz="3200" baseline="30000" dirty="0">
                    <a:solidFill>
                      <a:srgbClr val="0000FF"/>
                    </a:solidFill>
                    <a:latin typeface="Times New Roman" panose="02020603050405020304" pitchFamily="18" charset="0"/>
                    <a:ea typeface="宋体" panose="02010600030101010101" pitchFamily="2" charset="-122"/>
                  </a:rPr>
                  <a:t>3</a:t>
                </a:r>
                <a:r>
                  <a:rPr lang="en-US" altLang="zh-CN" sz="3200" dirty="0">
                    <a:solidFill>
                      <a:srgbClr val="0000FF"/>
                    </a:solidFill>
                    <a:latin typeface="Times New Roman" panose="02020603050405020304" pitchFamily="18" charset="0"/>
                    <a:ea typeface="宋体" panose="02010600030101010101" pitchFamily="2" charset="-122"/>
                  </a:rPr>
                  <a:t>d</a:t>
                </a:r>
              </a:p>
            </p:txBody>
          </p:sp>
        </p:grpSp>
        <p:grpSp>
          <p:nvGrpSpPr>
            <p:cNvPr id="55302" name="Group 13"/>
            <p:cNvGrpSpPr/>
            <p:nvPr/>
          </p:nvGrpSpPr>
          <p:grpSpPr>
            <a:xfrm>
              <a:off x="1524000" y="3124200"/>
              <a:ext cx="1981200" cy="990600"/>
              <a:chOff x="960" y="2640"/>
              <a:chExt cx="1248" cy="624"/>
            </a:xfrm>
          </p:grpSpPr>
          <p:sp>
            <p:nvSpPr>
              <p:cNvPr id="55305" name="AutoShape 14"/>
              <p:cNvSpPr/>
              <p:nvPr/>
            </p:nvSpPr>
            <p:spPr>
              <a:xfrm>
                <a:off x="960" y="2640"/>
                <a:ext cx="1248" cy="624"/>
              </a:xfrm>
              <a:prstGeom prst="rightArrowCallout">
                <a:avLst>
                  <a:gd name="adj1" fmla="val 25000"/>
                  <a:gd name="adj2" fmla="val 25000"/>
                  <a:gd name="adj3" fmla="val 33333"/>
                  <a:gd name="adj4" fmla="val 66667"/>
                </a:avLst>
              </a:prstGeom>
              <a:solidFill>
                <a:srgbClr val="FF66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5306" name="Rectangle 15"/>
              <p:cNvSpPr/>
              <p:nvPr/>
            </p:nvSpPr>
            <p:spPr>
              <a:xfrm>
                <a:off x="1056" y="2784"/>
                <a:ext cx="640" cy="365"/>
              </a:xfrm>
              <a:prstGeom prst="rect">
                <a:avLst/>
              </a:prstGeom>
              <a:solidFill>
                <a:srgbClr val="FF6600"/>
              </a:solidFill>
              <a:ln w="9525">
                <a:noFill/>
              </a:ln>
            </p:spPr>
            <p:txBody>
              <a:bodyPr wrap="none">
                <a:spAutoFit/>
              </a:bodyPr>
              <a:lstStyle/>
              <a:p>
                <a:pPr>
                  <a:spcBef>
                    <a:spcPct val="50000"/>
                  </a:spcBef>
                </a:pPr>
                <a:r>
                  <a:rPr lang="en-US" altLang="zh-CN" sz="3200" dirty="0">
                    <a:solidFill>
                      <a:srgbClr val="0000FF"/>
                    </a:solidFill>
                    <a:latin typeface="Times New Roman" panose="02020603050405020304" pitchFamily="18" charset="0"/>
                    <a:ea typeface="宋体" panose="02010600030101010101" pitchFamily="2" charset="-122"/>
                  </a:rPr>
                  <a:t>sp</a:t>
                </a:r>
                <a:r>
                  <a:rPr lang="en-US" altLang="zh-CN" sz="3200" baseline="30000" dirty="0">
                    <a:solidFill>
                      <a:srgbClr val="0000FF"/>
                    </a:solidFill>
                    <a:latin typeface="Times New Roman" panose="02020603050405020304" pitchFamily="18" charset="0"/>
                    <a:ea typeface="宋体" panose="02010600030101010101" pitchFamily="2" charset="-122"/>
                  </a:rPr>
                  <a:t>3</a:t>
                </a:r>
                <a:r>
                  <a:rPr lang="en-US" altLang="zh-CN" sz="3200" dirty="0">
                    <a:solidFill>
                      <a:srgbClr val="0000FF"/>
                    </a:solidFill>
                    <a:latin typeface="Times New Roman" panose="02020603050405020304" pitchFamily="18" charset="0"/>
                    <a:ea typeface="宋体" panose="02010600030101010101" pitchFamily="2" charset="-122"/>
                  </a:rPr>
                  <a:t>d</a:t>
                </a:r>
                <a:r>
                  <a:rPr lang="en-US" altLang="zh-CN" sz="3200" baseline="30000" dirty="0">
                    <a:solidFill>
                      <a:srgbClr val="0000FF"/>
                    </a:solidFill>
                    <a:latin typeface="Times New Roman" panose="02020603050405020304" pitchFamily="18" charset="0"/>
                    <a:ea typeface="宋体" panose="02010600030101010101" pitchFamily="2" charset="-122"/>
                  </a:rPr>
                  <a:t>2</a:t>
                </a:r>
              </a:p>
            </p:txBody>
          </p:sp>
        </p:grpSp>
        <p:sp>
          <p:nvSpPr>
            <p:cNvPr id="55303" name="Rectangle 17"/>
            <p:cNvSpPr/>
            <p:nvPr/>
          </p:nvSpPr>
          <p:spPr>
            <a:xfrm>
              <a:off x="7620000" y="838200"/>
              <a:ext cx="1371600" cy="1679575"/>
            </a:xfrm>
            <a:prstGeom prst="rect">
              <a:avLst/>
            </a:prstGeom>
            <a:noFill/>
            <a:ln w="9525">
              <a:noFill/>
            </a:ln>
          </p:spPr>
          <p:txBody>
            <a:bodyPr>
              <a:spAutoFit/>
            </a:bodyPr>
            <a:lstStyle/>
            <a:p>
              <a:pPr algn="l" eaLnBrk="0" hangingPunct="0"/>
              <a:r>
                <a:rPr lang="zh-CN" altLang="en-US" sz="2600" i="0" dirty="0">
                  <a:solidFill>
                    <a:schemeClr val="tx1"/>
                  </a:solidFill>
                  <a:latin typeface="Times New Roman" panose="02020603050405020304" pitchFamily="18" charset="0"/>
                </a:rPr>
                <a:t>如</a:t>
              </a:r>
              <a:r>
                <a:rPr lang="en-US" altLang="zh-CN" sz="2600" i="0" dirty="0">
                  <a:solidFill>
                    <a:schemeClr val="tx1"/>
                  </a:solidFill>
                  <a:latin typeface="Times New Roman" panose="02020603050405020304" pitchFamily="18" charset="0"/>
                </a:rPr>
                <a:t>PCl</a:t>
              </a:r>
              <a:r>
                <a:rPr lang="en-US" altLang="zh-CN" sz="2600" i="0" baseline="-25000" dirty="0">
                  <a:solidFill>
                    <a:schemeClr val="tx1"/>
                  </a:solidFill>
                  <a:latin typeface="Times New Roman" panose="02020603050405020304" pitchFamily="18" charset="0"/>
                </a:rPr>
                <a:t>5</a:t>
              </a:r>
              <a:r>
                <a:rPr lang="zh-CN" altLang="en-US" sz="2600" i="0" dirty="0">
                  <a:solidFill>
                    <a:schemeClr val="tx1"/>
                  </a:solidFill>
                  <a:latin typeface="Times New Roman" panose="02020603050405020304" pitchFamily="18" charset="0"/>
                </a:rPr>
                <a:t>杂化形成三角锥双锥</a:t>
              </a:r>
            </a:p>
          </p:txBody>
        </p:sp>
        <p:sp>
          <p:nvSpPr>
            <p:cNvPr id="55304" name="Rectangle 18"/>
            <p:cNvSpPr/>
            <p:nvPr/>
          </p:nvSpPr>
          <p:spPr>
            <a:xfrm>
              <a:off x="1600200" y="4267200"/>
              <a:ext cx="1371600" cy="1282700"/>
            </a:xfrm>
            <a:prstGeom prst="rect">
              <a:avLst/>
            </a:prstGeom>
            <a:noFill/>
            <a:ln w="9525">
              <a:noFill/>
            </a:ln>
          </p:spPr>
          <p:txBody>
            <a:bodyPr>
              <a:spAutoFit/>
            </a:bodyPr>
            <a:lstStyle/>
            <a:p>
              <a:pPr algn="l" eaLnBrk="0" hangingPunct="0"/>
              <a:r>
                <a:rPr lang="zh-CN" altLang="en-US" sz="2600" i="0" dirty="0">
                  <a:solidFill>
                    <a:schemeClr val="tx1"/>
                  </a:solidFill>
                  <a:latin typeface="Times New Roman" panose="02020603050405020304" pitchFamily="18" charset="0"/>
                </a:rPr>
                <a:t>如</a:t>
              </a:r>
              <a:r>
                <a:rPr lang="en-US" altLang="zh-CN" sz="2600" i="0" dirty="0">
                  <a:solidFill>
                    <a:schemeClr val="tx1"/>
                  </a:solidFill>
                  <a:latin typeface="Times New Roman" panose="02020603050405020304" pitchFamily="18" charset="0"/>
                </a:rPr>
                <a:t>SF</a:t>
              </a:r>
              <a:r>
                <a:rPr lang="en-US" altLang="zh-CN" sz="2600" i="0" baseline="-25000" dirty="0">
                  <a:solidFill>
                    <a:schemeClr val="tx1"/>
                  </a:solidFill>
                  <a:latin typeface="Times New Roman" panose="02020603050405020304" pitchFamily="18" charset="0"/>
                </a:rPr>
                <a:t>6</a:t>
              </a:r>
              <a:r>
                <a:rPr lang="zh-CN" altLang="en-US" sz="2600" i="0" dirty="0">
                  <a:solidFill>
                    <a:schemeClr val="tx1"/>
                  </a:solidFill>
                  <a:latin typeface="Times New Roman" panose="02020603050405020304" pitchFamily="18" charset="0"/>
                </a:rPr>
                <a:t>杂化形成八面体</a:t>
              </a: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6322" name="组合 3"/>
          <p:cNvGrpSpPr/>
          <p:nvPr/>
        </p:nvGrpSpPr>
        <p:grpSpPr>
          <a:xfrm>
            <a:off x="228600" y="228600"/>
            <a:ext cx="8702675" cy="4319588"/>
            <a:chOff x="228600" y="228600"/>
            <a:chExt cx="8702675" cy="4319052"/>
          </a:xfrm>
        </p:grpSpPr>
        <p:sp>
          <p:nvSpPr>
            <p:cNvPr id="56323" name="Text Box 2"/>
            <p:cNvSpPr txBox="1"/>
            <p:nvPr/>
          </p:nvSpPr>
          <p:spPr>
            <a:xfrm>
              <a:off x="304800" y="762000"/>
              <a:ext cx="8626475" cy="3785652"/>
            </a:xfrm>
            <a:prstGeom prst="rect">
              <a:avLst/>
            </a:prstGeom>
            <a:noFill/>
            <a:ln w="12700">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(1) </a:t>
              </a:r>
              <a:r>
                <a:rPr lang="zh-CN" altLang="en-US" sz="2600" i="0" dirty="0">
                  <a:solidFill>
                    <a:schemeClr val="tx1"/>
                  </a:solidFill>
                  <a:latin typeface="Times New Roman" panose="02020603050405020304" pitchFamily="18" charset="0"/>
                </a:rPr>
                <a:t>在形成多原子分子时，能量相近的原子轨道发生混合，重新形成能量相同的杂化轨道。</a:t>
              </a:r>
            </a:p>
            <a:p>
              <a:pPr algn="l">
                <a:lnSpc>
                  <a:spcPts val="3600"/>
                </a:lnSpc>
              </a:pPr>
              <a:r>
                <a:rPr lang="en-US" altLang="zh-CN" sz="2600" i="0" dirty="0">
                  <a:solidFill>
                    <a:schemeClr val="tx1"/>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杂化轨道数目与参与杂化的原子轨道数目相等，杂化轨道有确定的伸展方向。</a:t>
              </a:r>
            </a:p>
            <a:p>
              <a:pPr algn="l">
                <a:lnSpc>
                  <a:spcPts val="3600"/>
                </a:lnSpc>
              </a:pPr>
              <a:r>
                <a:rPr lang="en-US" altLang="zh-CN" sz="2600" i="0" dirty="0">
                  <a:solidFill>
                    <a:srgbClr val="C00000"/>
                  </a:solidFill>
                  <a:latin typeface="Times New Roman" panose="02020603050405020304" pitchFamily="18" charset="0"/>
                </a:rPr>
                <a:t>        (3)  </a:t>
              </a:r>
              <a:r>
                <a:rPr lang="zh-CN" altLang="en-US" sz="2600" i="0" dirty="0">
                  <a:solidFill>
                    <a:schemeClr val="tx1"/>
                  </a:solidFill>
                  <a:latin typeface="Times New Roman" panose="02020603050405020304" pitchFamily="18" charset="0"/>
                </a:rPr>
                <a:t>杂化分 等性杂化 和 不等性杂化。</a:t>
              </a:r>
            </a:p>
            <a:p>
              <a:pPr algn="l">
                <a:lnSpc>
                  <a:spcPts val="3600"/>
                </a:lnSpc>
              </a:pPr>
              <a:r>
                <a:rPr lang="en-US" altLang="zh-CN" sz="2600" i="0" dirty="0">
                  <a:solidFill>
                    <a:srgbClr val="C00000"/>
                  </a:solidFill>
                  <a:latin typeface="Times New Roman" panose="02020603050405020304" pitchFamily="18" charset="0"/>
                </a:rPr>
                <a:t>        (4)  </a:t>
              </a:r>
              <a:r>
                <a:rPr lang="zh-CN" altLang="en-US" sz="2600" i="0" dirty="0">
                  <a:solidFill>
                    <a:schemeClr val="tx1"/>
                  </a:solidFill>
                  <a:latin typeface="Times New Roman" panose="02020603050405020304" pitchFamily="18" charset="0"/>
                </a:rPr>
                <a:t>杂化轨道成键能力增强。</a:t>
              </a:r>
            </a:p>
            <a:p>
              <a:pPr>
                <a:lnSpc>
                  <a:spcPts val="3600"/>
                </a:lnSpc>
              </a:pPr>
              <a:r>
                <a:rPr lang="en-US" altLang="zh-CN" sz="2600" dirty="0">
                  <a:solidFill>
                    <a:schemeClr val="tx1"/>
                  </a:solidFill>
                  <a:latin typeface="Times New Roman" panose="02020603050405020304" pitchFamily="18" charset="0"/>
                </a:rPr>
                <a:t>p </a:t>
              </a:r>
              <a:r>
                <a:rPr lang="en-US" altLang="zh-CN" sz="2600" i="0" dirty="0">
                  <a:solidFill>
                    <a:schemeClr val="tx1"/>
                  </a:solidFill>
                  <a:latin typeface="Times New Roman" panose="02020603050405020304" pitchFamily="18" charset="0"/>
                </a:rPr>
                <a:t> &lt; </a:t>
              </a:r>
              <a:r>
                <a:rPr lang="en-US" altLang="zh-CN" sz="2600" dirty="0">
                  <a:solidFill>
                    <a:schemeClr val="tx1"/>
                  </a:solidFill>
                  <a:latin typeface="Times New Roman" panose="02020603050405020304" pitchFamily="18" charset="0"/>
                </a:rPr>
                <a:t>sp</a:t>
              </a:r>
              <a:r>
                <a:rPr lang="en-US" altLang="zh-CN" sz="2600" i="0" baseline="30000" dirty="0">
                  <a:solidFill>
                    <a:schemeClr val="tx1"/>
                  </a:solidFill>
                  <a:latin typeface="Times New Roman" panose="02020603050405020304" pitchFamily="18" charset="0"/>
                </a:rPr>
                <a:t>3</a:t>
              </a:r>
              <a:r>
                <a:rPr lang="en-US" altLang="zh-CN" sz="2600" i="0" dirty="0">
                  <a:solidFill>
                    <a:schemeClr val="tx1"/>
                  </a:solidFill>
                  <a:latin typeface="Times New Roman" panose="02020603050405020304" pitchFamily="18" charset="0"/>
                </a:rPr>
                <a:t>  &lt;  </a:t>
              </a:r>
              <a:r>
                <a:rPr lang="en-US" altLang="zh-CN" sz="2600" dirty="0">
                  <a:solidFill>
                    <a:schemeClr val="tx1"/>
                  </a:solidFill>
                  <a:latin typeface="Times New Roman" panose="02020603050405020304" pitchFamily="18" charset="0"/>
                </a:rPr>
                <a:t>sp</a:t>
              </a:r>
              <a:r>
                <a:rPr lang="en-US" altLang="zh-CN" sz="2600" i="0" baseline="30000" dirty="0">
                  <a:solidFill>
                    <a:schemeClr val="tx1"/>
                  </a:solidFill>
                  <a:latin typeface="Times New Roman" panose="02020603050405020304" pitchFamily="18" charset="0"/>
                </a:rPr>
                <a:t>2  </a:t>
              </a:r>
              <a:r>
                <a:rPr lang="en-US" altLang="zh-CN" sz="2600" i="0" dirty="0">
                  <a:solidFill>
                    <a:schemeClr val="tx1"/>
                  </a:solidFill>
                  <a:latin typeface="Times New Roman" panose="02020603050405020304" pitchFamily="18" charset="0"/>
                </a:rPr>
                <a:t>&lt;  </a:t>
              </a:r>
              <a:r>
                <a:rPr lang="en-US" altLang="zh-CN" sz="2600" dirty="0">
                  <a:solidFill>
                    <a:schemeClr val="tx1"/>
                  </a:solidFill>
                  <a:latin typeface="Times New Roman" panose="02020603050405020304" pitchFamily="18" charset="0"/>
                </a:rPr>
                <a:t>sp      s</a:t>
              </a:r>
              <a:r>
                <a:rPr lang="zh-CN" altLang="en-US" sz="2600" i="0" dirty="0">
                  <a:solidFill>
                    <a:schemeClr val="tx1"/>
                  </a:solidFill>
                  <a:latin typeface="Times New Roman" panose="02020603050405020304" pitchFamily="18" charset="0"/>
                </a:rPr>
                <a:t>成分越多，成键能力越强</a:t>
              </a:r>
            </a:p>
            <a:p>
              <a:pPr algn="l">
                <a:lnSpc>
                  <a:spcPts val="3600"/>
                </a:lnSpc>
              </a:pPr>
              <a:r>
                <a:rPr lang="en-US" altLang="zh-CN" sz="2600" i="0" dirty="0">
                  <a:solidFill>
                    <a:srgbClr val="C00000"/>
                  </a:solidFill>
                  <a:latin typeface="Times New Roman" panose="02020603050405020304" pitchFamily="18" charset="0"/>
                </a:rPr>
                <a:t>        (5)  </a:t>
              </a:r>
              <a:r>
                <a:rPr lang="zh-CN" altLang="zh-CN" sz="2600" i="0" dirty="0">
                  <a:solidFill>
                    <a:schemeClr val="tx1"/>
                  </a:solidFill>
                  <a:latin typeface="Times New Roman" panose="02020603050405020304" pitchFamily="18" charset="0"/>
                </a:rPr>
                <a:t>没有实验基础，有一定的局限性。</a:t>
              </a:r>
              <a:endParaRPr lang="zh-CN" altLang="en-US" sz="2600" i="0" dirty="0">
                <a:solidFill>
                  <a:schemeClr val="tx1"/>
                </a:solidFill>
                <a:latin typeface="Times New Roman" panose="02020603050405020304" pitchFamily="18" charset="0"/>
              </a:endParaRPr>
            </a:p>
          </p:txBody>
        </p:sp>
        <p:sp>
          <p:nvSpPr>
            <p:cNvPr id="56324" name="Rectangle 3"/>
            <p:cNvSpPr/>
            <p:nvPr/>
          </p:nvSpPr>
          <p:spPr>
            <a:xfrm>
              <a:off x="228600" y="228600"/>
              <a:ext cx="4368800" cy="492443"/>
            </a:xfrm>
            <a:prstGeom prst="rect">
              <a:avLst/>
            </a:prstGeom>
            <a:noFill/>
            <a:ln w="9525">
              <a:noFill/>
            </a:ln>
          </p:spPr>
          <p:txBody>
            <a:bodyPr>
              <a:spAutoFit/>
            </a:bodyPr>
            <a:lstStyle/>
            <a:p>
              <a:r>
                <a:rPr lang="zh-CN" altLang="en-US" sz="2600" i="0" dirty="0">
                  <a:solidFill>
                    <a:srgbClr val="C00000"/>
                  </a:solidFill>
                  <a:latin typeface="Times New Roman" panose="02020603050405020304" pitchFamily="18" charset="0"/>
                </a:rPr>
                <a:t>三</a:t>
              </a:r>
              <a:r>
                <a:rPr lang="en-US" altLang="zh-CN" sz="2600" i="0" dirty="0">
                  <a:solidFill>
                    <a:srgbClr val="C00000"/>
                  </a:solidFill>
                  <a:latin typeface="Times New Roman" panose="02020603050405020304" pitchFamily="18" charset="0"/>
                </a:rPr>
                <a:t>.  </a:t>
              </a:r>
              <a:r>
                <a:rPr lang="zh-CN" altLang="en-US" sz="2600" i="0" dirty="0">
                  <a:solidFill>
                    <a:srgbClr val="C00000"/>
                  </a:solidFill>
                  <a:latin typeface="Times New Roman" panose="02020603050405020304" pitchFamily="18" charset="0"/>
                </a:rPr>
                <a:t>杂化轨道理论小结</a:t>
              </a:r>
            </a:p>
          </p:txBody>
        </p:sp>
      </p:gr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7346" name="组合 32"/>
          <p:cNvGrpSpPr/>
          <p:nvPr/>
        </p:nvGrpSpPr>
        <p:grpSpPr>
          <a:xfrm>
            <a:off x="76200" y="152400"/>
            <a:ext cx="8991600" cy="5151438"/>
            <a:chOff x="152400" y="1219200"/>
            <a:chExt cx="8991600" cy="5151060"/>
          </a:xfrm>
        </p:grpSpPr>
        <p:sp>
          <p:nvSpPr>
            <p:cNvPr id="57347" name="Text Box 3"/>
            <p:cNvSpPr txBox="1"/>
            <p:nvPr/>
          </p:nvSpPr>
          <p:spPr>
            <a:xfrm>
              <a:off x="152400" y="1371600"/>
              <a:ext cx="936625" cy="1089529"/>
            </a:xfrm>
            <a:prstGeom prst="rect">
              <a:avLst/>
            </a:prstGeom>
            <a:noFill/>
            <a:ln w="9525">
              <a:noFill/>
            </a:ln>
          </p:spPr>
          <p:txBody>
            <a:bodyPr>
              <a:spAutoFit/>
            </a:bodyPr>
            <a:lstStyle/>
            <a:p>
              <a:pPr algn="l" eaLnBrk="0" hangingPunct="0">
                <a:lnSpc>
                  <a:spcPct val="90000"/>
                </a:lnSpc>
                <a:spcBef>
                  <a:spcPct val="50000"/>
                </a:spcBef>
              </a:pPr>
              <a:r>
                <a:rPr lang="zh-CN" altLang="en-US" i="0" dirty="0">
                  <a:solidFill>
                    <a:schemeClr val="tx1"/>
                  </a:solidFill>
                  <a:latin typeface="Times New Roman" panose="02020603050405020304" pitchFamily="18" charset="0"/>
                </a:rPr>
                <a:t>共用电子对数</a:t>
              </a:r>
            </a:p>
          </p:txBody>
        </p:sp>
        <p:sp>
          <p:nvSpPr>
            <p:cNvPr id="57348" name="Text Box 4"/>
            <p:cNvSpPr txBox="1"/>
            <p:nvPr/>
          </p:nvSpPr>
          <p:spPr>
            <a:xfrm>
              <a:off x="228600" y="3505200"/>
              <a:ext cx="935038" cy="366713"/>
            </a:xfrm>
            <a:prstGeom prst="rect">
              <a:avLst/>
            </a:prstGeom>
            <a:noFill/>
            <a:ln w="9525">
              <a:noFill/>
            </a:ln>
          </p:spPr>
          <p:txBody>
            <a:bodyPr>
              <a:spAutoFit/>
            </a:bodyPr>
            <a:lstStyle/>
            <a:p>
              <a:pPr algn="l" eaLnBrk="0" hangingPunct="0">
                <a:lnSpc>
                  <a:spcPct val="75000"/>
                </a:lnSpc>
                <a:spcBef>
                  <a:spcPct val="50000"/>
                </a:spcBef>
              </a:pPr>
              <a:r>
                <a:rPr lang="zh-CN" altLang="en-US" i="0" dirty="0">
                  <a:solidFill>
                    <a:schemeClr val="tx1"/>
                  </a:solidFill>
                  <a:latin typeface="Times New Roman" panose="02020603050405020304" pitchFamily="18" charset="0"/>
                </a:rPr>
                <a:t>结构</a:t>
              </a:r>
            </a:p>
          </p:txBody>
        </p:sp>
        <p:sp>
          <p:nvSpPr>
            <p:cNvPr id="57349" name="Text Box 5"/>
            <p:cNvSpPr txBox="1"/>
            <p:nvPr/>
          </p:nvSpPr>
          <p:spPr>
            <a:xfrm>
              <a:off x="152400" y="4800600"/>
              <a:ext cx="930275" cy="1569660"/>
            </a:xfrm>
            <a:prstGeom prst="rect">
              <a:avLst/>
            </a:prstGeom>
            <a:noFill/>
            <a:ln w="9525">
              <a:noFill/>
            </a:ln>
          </p:spPr>
          <p:txBody>
            <a:bodyPr>
              <a:spAutoFit/>
            </a:bodyPr>
            <a:lstStyle/>
            <a:p>
              <a:pPr algn="l" eaLnBrk="0" hangingPunct="0">
                <a:spcBef>
                  <a:spcPct val="50000"/>
                </a:spcBef>
              </a:pPr>
              <a:r>
                <a:rPr lang="zh-CN" altLang="en-US" i="0" dirty="0">
                  <a:solidFill>
                    <a:schemeClr val="tx1"/>
                  </a:solidFill>
                  <a:latin typeface="Times New Roman" panose="02020603050405020304" pitchFamily="18" charset="0"/>
                </a:rPr>
                <a:t>杂化轨道理想夹角</a:t>
              </a:r>
            </a:p>
          </p:txBody>
        </p:sp>
        <p:sp>
          <p:nvSpPr>
            <p:cNvPr id="57350" name="Text Box 6"/>
            <p:cNvSpPr txBox="1"/>
            <p:nvPr/>
          </p:nvSpPr>
          <p:spPr>
            <a:xfrm>
              <a:off x="1447800" y="3352800"/>
              <a:ext cx="1138238" cy="457200"/>
            </a:xfrm>
            <a:prstGeom prst="rect">
              <a:avLst/>
            </a:prstGeom>
            <a:noFill/>
            <a:ln w="9525">
              <a:noFill/>
            </a:ln>
          </p:spPr>
          <p:txBody>
            <a:bodyPr>
              <a:spAutoFit/>
            </a:bodyPr>
            <a:lstStyle/>
            <a:p>
              <a:pPr algn="l" eaLnBrk="0" hangingPunct="0">
                <a:spcBef>
                  <a:spcPct val="50000"/>
                </a:spcBef>
              </a:pPr>
              <a:r>
                <a:rPr lang="zh-CN" altLang="en-US" i="0" dirty="0">
                  <a:solidFill>
                    <a:schemeClr val="tx1"/>
                  </a:solidFill>
                  <a:latin typeface="Times New Roman" panose="02020603050405020304" pitchFamily="18" charset="0"/>
                </a:rPr>
                <a:t>直线型</a:t>
              </a:r>
            </a:p>
          </p:txBody>
        </p:sp>
        <p:sp>
          <p:nvSpPr>
            <p:cNvPr id="57351" name="Text Box 7"/>
            <p:cNvSpPr txBox="1"/>
            <p:nvPr/>
          </p:nvSpPr>
          <p:spPr>
            <a:xfrm>
              <a:off x="1600200" y="4191000"/>
              <a:ext cx="609600" cy="457200"/>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p>
          </p:txBody>
        </p:sp>
        <p:sp>
          <p:nvSpPr>
            <p:cNvPr id="57352" name="Rectangle 8"/>
            <p:cNvSpPr/>
            <p:nvPr/>
          </p:nvSpPr>
          <p:spPr>
            <a:xfrm>
              <a:off x="1600200" y="1371600"/>
              <a:ext cx="336550" cy="457200"/>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2</a:t>
              </a:r>
            </a:p>
          </p:txBody>
        </p:sp>
        <p:sp>
          <p:nvSpPr>
            <p:cNvPr id="57353" name="Text Box 9"/>
            <p:cNvSpPr txBox="1"/>
            <p:nvPr/>
          </p:nvSpPr>
          <p:spPr>
            <a:xfrm>
              <a:off x="2895600" y="3200400"/>
              <a:ext cx="1219200" cy="787400"/>
            </a:xfrm>
            <a:prstGeom prst="rect">
              <a:avLst/>
            </a:prstGeom>
            <a:noFill/>
            <a:ln w="9525">
              <a:noFill/>
            </a:ln>
          </p:spPr>
          <p:txBody>
            <a:bodyPr>
              <a:spAutoFit/>
            </a:bodyPr>
            <a:lstStyle/>
            <a:p>
              <a:pPr algn="l" eaLnBrk="0" hangingPunct="0">
                <a:lnSpc>
                  <a:spcPct val="95000"/>
                </a:lnSpc>
                <a:spcBef>
                  <a:spcPct val="50000"/>
                </a:spcBef>
              </a:pPr>
              <a:r>
                <a:rPr lang="en-US" altLang="zh-CN" i="0" dirty="0">
                  <a:solidFill>
                    <a:schemeClr val="tx1"/>
                  </a:solidFill>
                  <a:latin typeface="Times New Roman" panose="02020603050405020304" pitchFamily="18" charset="0"/>
                </a:rPr>
                <a:t>  </a:t>
              </a:r>
              <a:r>
                <a:rPr lang="zh-CN" altLang="en-US" i="0" dirty="0">
                  <a:solidFill>
                    <a:schemeClr val="tx1"/>
                  </a:solidFill>
                  <a:latin typeface="Times New Roman" panose="02020603050405020304" pitchFamily="18" charset="0"/>
                </a:rPr>
                <a:t>平面三角形</a:t>
              </a:r>
            </a:p>
          </p:txBody>
        </p:sp>
        <p:sp>
          <p:nvSpPr>
            <p:cNvPr id="57354" name="Text Box 10"/>
            <p:cNvSpPr txBox="1"/>
            <p:nvPr/>
          </p:nvSpPr>
          <p:spPr>
            <a:xfrm>
              <a:off x="3124200" y="4114800"/>
              <a:ext cx="609600" cy="457200"/>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2</a:t>
              </a:r>
            </a:p>
          </p:txBody>
        </p:sp>
        <p:sp>
          <p:nvSpPr>
            <p:cNvPr id="57355" name="Rectangle 11"/>
            <p:cNvSpPr/>
            <p:nvPr/>
          </p:nvSpPr>
          <p:spPr>
            <a:xfrm>
              <a:off x="3124200" y="1371600"/>
              <a:ext cx="336550" cy="457200"/>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3</a:t>
              </a:r>
            </a:p>
          </p:txBody>
        </p:sp>
        <p:sp>
          <p:nvSpPr>
            <p:cNvPr id="57356" name="Text Box 12"/>
            <p:cNvSpPr txBox="1"/>
            <p:nvPr/>
          </p:nvSpPr>
          <p:spPr>
            <a:xfrm>
              <a:off x="4419600" y="3276600"/>
              <a:ext cx="1008063" cy="757130"/>
            </a:xfrm>
            <a:prstGeom prst="rect">
              <a:avLst/>
            </a:prstGeom>
            <a:noFill/>
            <a:ln w="9525">
              <a:noFill/>
            </a:ln>
          </p:spPr>
          <p:txBody>
            <a:bodyPr>
              <a:spAutoFit/>
            </a:bodyPr>
            <a:lstStyle/>
            <a:p>
              <a:pPr algn="l" eaLnBrk="0" hangingPunct="0">
                <a:lnSpc>
                  <a:spcPct val="90000"/>
                </a:lnSpc>
                <a:spcBef>
                  <a:spcPct val="50000"/>
                </a:spcBef>
              </a:pPr>
              <a:r>
                <a:rPr lang="zh-CN" altLang="en-US" i="0" dirty="0">
                  <a:solidFill>
                    <a:schemeClr val="tx1"/>
                  </a:solidFill>
                  <a:latin typeface="Times New Roman" panose="02020603050405020304" pitchFamily="18" charset="0"/>
                </a:rPr>
                <a:t>正四面体</a:t>
              </a:r>
            </a:p>
          </p:txBody>
        </p:sp>
        <p:sp>
          <p:nvSpPr>
            <p:cNvPr id="57357" name="Text Box 13"/>
            <p:cNvSpPr txBox="1"/>
            <p:nvPr/>
          </p:nvSpPr>
          <p:spPr>
            <a:xfrm>
              <a:off x="4648200" y="4114800"/>
              <a:ext cx="609600" cy="457200"/>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p>
          </p:txBody>
        </p:sp>
        <p:sp>
          <p:nvSpPr>
            <p:cNvPr id="57358" name="Rectangle 14"/>
            <p:cNvSpPr/>
            <p:nvPr/>
          </p:nvSpPr>
          <p:spPr>
            <a:xfrm>
              <a:off x="4648200" y="1371600"/>
              <a:ext cx="336550" cy="457200"/>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4</a:t>
              </a:r>
            </a:p>
          </p:txBody>
        </p:sp>
        <p:sp>
          <p:nvSpPr>
            <p:cNvPr id="57359" name="Text Box 15"/>
            <p:cNvSpPr txBox="1"/>
            <p:nvPr/>
          </p:nvSpPr>
          <p:spPr>
            <a:xfrm>
              <a:off x="5943600" y="3276600"/>
              <a:ext cx="936625" cy="757130"/>
            </a:xfrm>
            <a:prstGeom prst="rect">
              <a:avLst/>
            </a:prstGeom>
            <a:noFill/>
            <a:ln w="9525">
              <a:noFill/>
            </a:ln>
          </p:spPr>
          <p:txBody>
            <a:bodyPr>
              <a:spAutoFit/>
            </a:bodyPr>
            <a:lstStyle/>
            <a:p>
              <a:pPr algn="l" eaLnBrk="0" hangingPunct="0">
                <a:lnSpc>
                  <a:spcPct val="90000"/>
                </a:lnSpc>
                <a:spcBef>
                  <a:spcPct val="50000"/>
                </a:spcBef>
              </a:pPr>
              <a:r>
                <a:rPr lang="zh-CN" altLang="en-US" i="0" dirty="0">
                  <a:solidFill>
                    <a:schemeClr val="tx1"/>
                  </a:solidFill>
                  <a:latin typeface="Times New Roman" panose="02020603050405020304" pitchFamily="18" charset="0"/>
                </a:rPr>
                <a:t>三角双锥</a:t>
              </a:r>
            </a:p>
          </p:txBody>
        </p:sp>
        <p:sp>
          <p:nvSpPr>
            <p:cNvPr id="57360" name="Text Box 16"/>
            <p:cNvSpPr txBox="1"/>
            <p:nvPr/>
          </p:nvSpPr>
          <p:spPr>
            <a:xfrm>
              <a:off x="6096000" y="4114800"/>
              <a:ext cx="838200" cy="461963"/>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r>
                <a:rPr lang="en-US" altLang="zh-CN" i="0" dirty="0">
                  <a:solidFill>
                    <a:schemeClr val="tx1"/>
                  </a:solidFill>
                  <a:latin typeface="Times New Roman" panose="02020603050405020304" pitchFamily="18" charset="0"/>
                  <a:ea typeface="宋体" panose="02010600030101010101" pitchFamily="2" charset="-122"/>
                </a:rPr>
                <a:t>d</a:t>
              </a:r>
              <a:endParaRPr lang="en-US" altLang="zh-CN" i="0" baseline="30000" dirty="0">
                <a:solidFill>
                  <a:schemeClr val="tx1"/>
                </a:solidFill>
                <a:latin typeface="Times New Roman" panose="02020603050405020304" pitchFamily="18" charset="0"/>
                <a:ea typeface="宋体" panose="02010600030101010101" pitchFamily="2" charset="-122"/>
              </a:endParaRPr>
            </a:p>
          </p:txBody>
        </p:sp>
        <p:sp>
          <p:nvSpPr>
            <p:cNvPr id="57361" name="Rectangle 17"/>
            <p:cNvSpPr/>
            <p:nvPr/>
          </p:nvSpPr>
          <p:spPr>
            <a:xfrm>
              <a:off x="6096000" y="1371600"/>
              <a:ext cx="336550" cy="457200"/>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5</a:t>
              </a:r>
            </a:p>
          </p:txBody>
        </p:sp>
        <p:sp>
          <p:nvSpPr>
            <p:cNvPr id="57362" name="Text Box 18"/>
            <p:cNvSpPr txBox="1"/>
            <p:nvPr/>
          </p:nvSpPr>
          <p:spPr>
            <a:xfrm>
              <a:off x="7304088" y="3505200"/>
              <a:ext cx="1839912" cy="420688"/>
            </a:xfrm>
            <a:prstGeom prst="rect">
              <a:avLst/>
            </a:prstGeom>
            <a:noFill/>
            <a:ln w="9525">
              <a:noFill/>
            </a:ln>
          </p:spPr>
          <p:txBody>
            <a:bodyPr>
              <a:spAutoFit/>
            </a:bodyPr>
            <a:lstStyle/>
            <a:p>
              <a:pPr eaLnBrk="0" hangingPunct="0">
                <a:lnSpc>
                  <a:spcPct val="90000"/>
                </a:lnSpc>
                <a:spcBef>
                  <a:spcPct val="50000"/>
                </a:spcBef>
              </a:pPr>
              <a:r>
                <a:rPr lang="zh-CN" altLang="en-US" i="0" dirty="0">
                  <a:solidFill>
                    <a:schemeClr val="tx1"/>
                  </a:solidFill>
                  <a:latin typeface="Times New Roman" panose="02020603050405020304" pitchFamily="18" charset="0"/>
                </a:rPr>
                <a:t>正八面体</a:t>
              </a:r>
            </a:p>
          </p:txBody>
        </p:sp>
        <p:sp>
          <p:nvSpPr>
            <p:cNvPr id="57363" name="Text Box 19"/>
            <p:cNvSpPr txBox="1"/>
            <p:nvPr/>
          </p:nvSpPr>
          <p:spPr>
            <a:xfrm>
              <a:off x="7924800" y="4038600"/>
              <a:ext cx="838200" cy="461963"/>
            </a:xfrm>
            <a:prstGeom prst="rect">
              <a:avLst/>
            </a:prstGeom>
            <a:noFill/>
            <a:ln w="9525">
              <a:noFill/>
            </a:ln>
          </p:spPr>
          <p:txBody>
            <a:bodyPr>
              <a:spAutoFit/>
            </a:bodyPr>
            <a:lstStyle/>
            <a:p>
              <a:pPr algn="l" eaLnBrk="0" hangingPunct="0">
                <a:spcBef>
                  <a:spcPct val="50000"/>
                </a:spcBef>
              </a:pPr>
              <a:r>
                <a:rPr lang="en-US" altLang="zh-CN"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r>
                <a:rPr lang="en-US" altLang="zh-CN" dirty="0">
                  <a:solidFill>
                    <a:schemeClr val="tx1"/>
                  </a:solidFill>
                  <a:latin typeface="Times New Roman" panose="02020603050405020304" pitchFamily="18" charset="0"/>
                  <a:ea typeface="宋体" panose="02010600030101010101" pitchFamily="2" charset="-122"/>
                </a:rPr>
                <a:t>d</a:t>
              </a:r>
              <a:r>
                <a:rPr lang="en-US" altLang="zh-CN" baseline="30000" dirty="0">
                  <a:solidFill>
                    <a:schemeClr val="tx1"/>
                  </a:solidFill>
                  <a:latin typeface="Times New Roman" panose="02020603050405020304" pitchFamily="18" charset="0"/>
                  <a:ea typeface="宋体" panose="02010600030101010101" pitchFamily="2" charset="-122"/>
                </a:rPr>
                <a:t>2</a:t>
              </a:r>
              <a:endParaRPr lang="en-US" altLang="zh-CN" i="0" baseline="30000" dirty="0">
                <a:solidFill>
                  <a:schemeClr val="tx1"/>
                </a:solidFill>
                <a:latin typeface="Times New Roman" panose="02020603050405020304" pitchFamily="18" charset="0"/>
                <a:ea typeface="宋体" panose="02010600030101010101" pitchFamily="2" charset="-122"/>
              </a:endParaRPr>
            </a:p>
          </p:txBody>
        </p:sp>
        <p:sp>
          <p:nvSpPr>
            <p:cNvPr id="57364" name="Rectangle 20"/>
            <p:cNvSpPr/>
            <p:nvPr/>
          </p:nvSpPr>
          <p:spPr>
            <a:xfrm>
              <a:off x="8001000" y="1371600"/>
              <a:ext cx="336550" cy="457200"/>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6</a:t>
              </a:r>
            </a:p>
          </p:txBody>
        </p:sp>
        <p:sp>
          <p:nvSpPr>
            <p:cNvPr id="57365" name="Line 21"/>
            <p:cNvSpPr/>
            <p:nvPr/>
          </p:nvSpPr>
          <p:spPr>
            <a:xfrm>
              <a:off x="762000" y="1219200"/>
              <a:ext cx="8382000" cy="0"/>
            </a:xfrm>
            <a:prstGeom prst="line">
              <a:avLst/>
            </a:prstGeom>
            <a:ln w="28575" cap="flat" cmpd="sng">
              <a:solidFill>
                <a:srgbClr val="CCECFF"/>
              </a:solidFill>
              <a:prstDash val="solid"/>
              <a:headEnd type="none" w="med" len="med"/>
              <a:tailEnd type="none" w="med" len="med"/>
            </a:ln>
          </p:spPr>
        </p:sp>
        <p:sp>
          <p:nvSpPr>
            <p:cNvPr id="57366" name="Line 22"/>
            <p:cNvSpPr/>
            <p:nvPr/>
          </p:nvSpPr>
          <p:spPr>
            <a:xfrm>
              <a:off x="1066800" y="1905000"/>
              <a:ext cx="8077200" cy="0"/>
            </a:xfrm>
            <a:prstGeom prst="line">
              <a:avLst/>
            </a:prstGeom>
            <a:ln w="28575" cap="flat" cmpd="sng">
              <a:solidFill>
                <a:srgbClr val="CCECFF"/>
              </a:solidFill>
              <a:prstDash val="solid"/>
              <a:headEnd type="none" w="med" len="med"/>
              <a:tailEnd type="none" w="med" len="med"/>
            </a:ln>
          </p:spPr>
        </p:sp>
        <p:pic>
          <p:nvPicPr>
            <p:cNvPr id="57367" name="Picture 25"/>
            <p:cNvPicPr>
              <a:picLocks noChangeAspect="1"/>
            </p:cNvPicPr>
            <p:nvPr/>
          </p:nvPicPr>
          <p:blipFill>
            <a:blip r:embed="rId3"/>
            <a:stretch>
              <a:fillRect/>
            </a:stretch>
          </p:blipFill>
          <p:spPr>
            <a:xfrm>
              <a:off x="1219200" y="2133600"/>
              <a:ext cx="1066800" cy="304800"/>
            </a:xfrm>
            <a:prstGeom prst="rect">
              <a:avLst/>
            </a:prstGeom>
            <a:noFill/>
            <a:ln w="9525">
              <a:noFill/>
            </a:ln>
          </p:spPr>
        </p:pic>
        <p:pic>
          <p:nvPicPr>
            <p:cNvPr id="57368" name="Picture 26"/>
            <p:cNvPicPr>
              <a:picLocks noChangeAspect="1"/>
            </p:cNvPicPr>
            <p:nvPr/>
          </p:nvPicPr>
          <p:blipFill>
            <a:blip r:embed="rId4"/>
            <a:stretch>
              <a:fillRect/>
            </a:stretch>
          </p:blipFill>
          <p:spPr>
            <a:xfrm>
              <a:off x="2667000" y="1905000"/>
              <a:ext cx="1371600" cy="1295400"/>
            </a:xfrm>
            <a:prstGeom prst="rect">
              <a:avLst/>
            </a:prstGeom>
            <a:noFill/>
            <a:ln w="9525">
              <a:noFill/>
            </a:ln>
          </p:spPr>
        </p:pic>
        <p:pic>
          <p:nvPicPr>
            <p:cNvPr id="57369" name="Picture 27"/>
            <p:cNvPicPr>
              <a:picLocks noChangeAspect="1"/>
            </p:cNvPicPr>
            <p:nvPr/>
          </p:nvPicPr>
          <p:blipFill>
            <a:blip r:embed="rId5"/>
            <a:stretch>
              <a:fillRect/>
            </a:stretch>
          </p:blipFill>
          <p:spPr>
            <a:xfrm>
              <a:off x="4038600" y="1905000"/>
              <a:ext cx="1600200" cy="1295400"/>
            </a:xfrm>
            <a:prstGeom prst="rect">
              <a:avLst/>
            </a:prstGeom>
            <a:noFill/>
            <a:ln w="9525">
              <a:noFill/>
            </a:ln>
          </p:spPr>
        </p:pic>
        <p:pic>
          <p:nvPicPr>
            <p:cNvPr id="57370" name="Picture 28"/>
            <p:cNvPicPr>
              <a:picLocks noChangeAspect="1"/>
            </p:cNvPicPr>
            <p:nvPr/>
          </p:nvPicPr>
          <p:blipFill>
            <a:blip r:embed="rId6"/>
            <a:stretch>
              <a:fillRect/>
            </a:stretch>
          </p:blipFill>
          <p:spPr>
            <a:xfrm>
              <a:off x="5638800" y="1905000"/>
              <a:ext cx="1600200" cy="1295400"/>
            </a:xfrm>
            <a:prstGeom prst="rect">
              <a:avLst/>
            </a:prstGeom>
            <a:noFill/>
            <a:ln w="9525">
              <a:noFill/>
            </a:ln>
          </p:spPr>
        </p:pic>
        <p:pic>
          <p:nvPicPr>
            <p:cNvPr id="57371" name="Picture 29"/>
            <p:cNvPicPr>
              <a:picLocks noChangeAspect="1"/>
            </p:cNvPicPr>
            <p:nvPr/>
          </p:nvPicPr>
          <p:blipFill>
            <a:blip r:embed="rId7"/>
            <a:stretch>
              <a:fillRect/>
            </a:stretch>
          </p:blipFill>
          <p:spPr>
            <a:xfrm>
              <a:off x="7239000" y="1905000"/>
              <a:ext cx="1905000" cy="1371600"/>
            </a:xfrm>
            <a:prstGeom prst="rect">
              <a:avLst/>
            </a:prstGeom>
            <a:noFill/>
            <a:ln w="9525">
              <a:noFill/>
            </a:ln>
          </p:spPr>
        </p:pic>
        <p:pic>
          <p:nvPicPr>
            <p:cNvPr id="57372" name="Picture 30"/>
            <p:cNvPicPr>
              <a:picLocks noChangeAspect="1"/>
            </p:cNvPicPr>
            <p:nvPr/>
          </p:nvPicPr>
          <p:blipFill>
            <a:blip r:embed="rId8"/>
            <a:stretch>
              <a:fillRect/>
            </a:stretch>
          </p:blipFill>
          <p:spPr>
            <a:xfrm>
              <a:off x="1066800" y="4648200"/>
              <a:ext cx="1676400" cy="1676400"/>
            </a:xfrm>
            <a:prstGeom prst="rect">
              <a:avLst/>
            </a:prstGeom>
            <a:noFill/>
            <a:ln w="9525">
              <a:noFill/>
            </a:ln>
          </p:spPr>
        </p:pic>
        <p:pic>
          <p:nvPicPr>
            <p:cNvPr id="57373" name="Picture 31"/>
            <p:cNvPicPr>
              <a:picLocks noChangeAspect="1"/>
            </p:cNvPicPr>
            <p:nvPr/>
          </p:nvPicPr>
          <p:blipFill>
            <a:blip r:embed="rId9"/>
            <a:stretch>
              <a:fillRect/>
            </a:stretch>
          </p:blipFill>
          <p:spPr>
            <a:xfrm>
              <a:off x="2743200" y="4648200"/>
              <a:ext cx="1447800" cy="1676400"/>
            </a:xfrm>
            <a:prstGeom prst="rect">
              <a:avLst/>
            </a:prstGeom>
            <a:noFill/>
            <a:ln w="9525">
              <a:noFill/>
            </a:ln>
          </p:spPr>
        </p:pic>
        <p:pic>
          <p:nvPicPr>
            <p:cNvPr id="57374" name="Picture 32"/>
            <p:cNvPicPr>
              <a:picLocks noChangeAspect="1"/>
            </p:cNvPicPr>
            <p:nvPr/>
          </p:nvPicPr>
          <p:blipFill>
            <a:blip r:embed="rId10"/>
            <a:stretch>
              <a:fillRect/>
            </a:stretch>
          </p:blipFill>
          <p:spPr>
            <a:xfrm>
              <a:off x="4191000" y="4648200"/>
              <a:ext cx="1524000" cy="1676400"/>
            </a:xfrm>
            <a:prstGeom prst="rect">
              <a:avLst/>
            </a:prstGeom>
            <a:noFill/>
            <a:ln w="9525">
              <a:noFill/>
            </a:ln>
          </p:spPr>
        </p:pic>
        <p:pic>
          <p:nvPicPr>
            <p:cNvPr id="57375" name="Picture 33"/>
            <p:cNvPicPr>
              <a:picLocks noChangeAspect="1"/>
            </p:cNvPicPr>
            <p:nvPr/>
          </p:nvPicPr>
          <p:blipFill>
            <a:blip r:embed="rId11"/>
            <a:stretch>
              <a:fillRect/>
            </a:stretch>
          </p:blipFill>
          <p:spPr>
            <a:xfrm>
              <a:off x="5715000" y="4648200"/>
              <a:ext cx="1600200" cy="1676400"/>
            </a:xfrm>
            <a:prstGeom prst="rect">
              <a:avLst/>
            </a:prstGeom>
            <a:noFill/>
            <a:ln w="9525">
              <a:noFill/>
            </a:ln>
          </p:spPr>
        </p:pic>
        <p:pic>
          <p:nvPicPr>
            <p:cNvPr id="57376" name="Picture 34"/>
            <p:cNvPicPr>
              <a:picLocks noChangeAspect="1"/>
            </p:cNvPicPr>
            <p:nvPr/>
          </p:nvPicPr>
          <p:blipFill>
            <a:blip r:embed="rId12"/>
            <a:stretch>
              <a:fillRect/>
            </a:stretch>
          </p:blipFill>
          <p:spPr>
            <a:xfrm>
              <a:off x="7315200" y="4648200"/>
              <a:ext cx="1828800" cy="1676400"/>
            </a:xfrm>
            <a:prstGeom prst="rect">
              <a:avLst/>
            </a:prstGeom>
            <a:noFill/>
            <a:ln w="9525">
              <a:noFill/>
            </a:ln>
          </p:spPr>
        </p:pic>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523875" y="228600"/>
            <a:ext cx="7868920" cy="1568450"/>
          </a:xfrm>
          <a:prstGeom prst="rect">
            <a:avLst/>
          </a:prstGeom>
          <a:noFill/>
          <a:ln w="9525">
            <a:noFill/>
          </a:ln>
        </p:spPr>
        <p:txBody>
          <a:bodyPr wrap="square">
            <a:spAutoFit/>
          </a:bodyPr>
          <a:lstStyle/>
          <a:p>
            <a:pPr indent="355600" algn="l"/>
            <a:r>
              <a:rPr lang="en-US" altLang="zh-CN" i="0" dirty="0">
                <a:solidFill>
                  <a:schemeClr val="tx1"/>
                </a:solidFill>
                <a:ea typeface="宋体" panose="02010600030101010101" pitchFamily="2" charset="-122"/>
              </a:rPr>
              <a:t>  1</a:t>
            </a:r>
            <a:r>
              <a:rPr lang="zh-CN" altLang="en-US" i="0" dirty="0">
                <a:solidFill>
                  <a:schemeClr val="tx1"/>
                </a:solidFill>
                <a:ea typeface="宋体" panose="02010600030101010101" pitchFamily="2" charset="-122"/>
              </a:rPr>
              <a:t>、</a:t>
            </a:r>
            <a:r>
              <a:rPr lang="zh-CN" i="0" dirty="0">
                <a:solidFill>
                  <a:schemeClr val="tx1"/>
                </a:solidFill>
                <a:ea typeface="宋体" panose="02010600030101010101" pitchFamily="2" charset="-122"/>
              </a:rPr>
              <a:t>下列分子或离子中，何者的键角最大（</a:t>
            </a:r>
            <a:r>
              <a:rPr lang="en-US" i="0" dirty="0">
                <a:solidFill>
                  <a:schemeClr val="tx1"/>
                </a:solidFill>
                <a:latin typeface="宋体" panose="02010600030101010101" pitchFamily="2" charset="-122"/>
              </a:rPr>
              <a:t>   </a:t>
            </a:r>
            <a:r>
              <a:rPr lang="zh-CN" i="0" dirty="0">
                <a:solidFill>
                  <a:schemeClr val="tx1"/>
                </a:solidFill>
                <a:ea typeface="宋体" panose="02010600030101010101" pitchFamily="2" charset="-122"/>
              </a:rPr>
              <a:t>）；何者属于</a:t>
            </a:r>
            <a:r>
              <a:rPr lang="en-US" i="0" dirty="0">
                <a:solidFill>
                  <a:schemeClr val="tx1"/>
                </a:solidFill>
                <a:latin typeface="Times New Roman" panose="02020603050405020304" pitchFamily="18" charset="0"/>
              </a:rPr>
              <a:t>sp</a:t>
            </a:r>
            <a:r>
              <a:rPr lang="en-US" i="0" baseline="30000" dirty="0">
                <a:solidFill>
                  <a:schemeClr val="tx1"/>
                </a:solidFill>
                <a:latin typeface="Times New Roman" panose="02020603050405020304" pitchFamily="18" charset="0"/>
              </a:rPr>
              <a:t>3</a:t>
            </a:r>
            <a:r>
              <a:rPr lang="zh-CN" i="0" dirty="0">
                <a:solidFill>
                  <a:schemeClr val="tx1"/>
                </a:solidFill>
                <a:ea typeface="宋体" panose="02010600030101010101" pitchFamily="2" charset="-122"/>
              </a:rPr>
              <a:t>杂化（</a:t>
            </a:r>
            <a:r>
              <a:rPr lang="en-US" i="0" dirty="0">
                <a:solidFill>
                  <a:schemeClr val="tx1"/>
                </a:solidFill>
                <a:latin typeface="宋体" panose="02010600030101010101" pitchFamily="2" charset="-122"/>
              </a:rPr>
              <a:t>    </a:t>
            </a:r>
            <a:r>
              <a:rPr lang="zh-CN" i="0" dirty="0">
                <a:solidFill>
                  <a:schemeClr val="tx1"/>
                </a:solidFill>
                <a:ea typeface="宋体" panose="02010600030101010101" pitchFamily="2" charset="-122"/>
              </a:rPr>
              <a:t>）</a:t>
            </a:r>
          </a:p>
          <a:p>
            <a:pPr indent="355600" algn="l"/>
            <a:r>
              <a:rPr lang="en-US" dirty="0" smtClean="0">
                <a:solidFill>
                  <a:schemeClr val="tx1"/>
                </a:solidFill>
                <a:latin typeface="Times New Roman" panose="02020603050405020304" pitchFamily="18" charset="0"/>
              </a:rPr>
              <a:t>    A</a:t>
            </a:r>
            <a:r>
              <a:rPr lang="zh-CN" dirty="0">
                <a:solidFill>
                  <a:schemeClr val="tx1"/>
                </a:solidFill>
                <a:ea typeface="宋体" panose="02010600030101010101" pitchFamily="2" charset="-122"/>
              </a:rPr>
              <a:t>、</a:t>
            </a:r>
            <a:r>
              <a:rPr lang="en-US" dirty="0">
                <a:solidFill>
                  <a:schemeClr val="tx1"/>
                </a:solidFill>
                <a:latin typeface="Times New Roman" panose="02020603050405020304" pitchFamily="18" charset="0"/>
              </a:rPr>
              <a:t>NH</a:t>
            </a:r>
            <a:r>
              <a:rPr lang="en-US" baseline="-25000" dirty="0">
                <a:solidFill>
                  <a:schemeClr val="tx1"/>
                </a:solidFill>
                <a:latin typeface="Times New Roman" panose="02020603050405020304" pitchFamily="18" charset="0"/>
              </a:rPr>
              <a:t>3</a:t>
            </a:r>
            <a:r>
              <a:rPr lang="en-US" dirty="0">
                <a:solidFill>
                  <a:schemeClr val="tx1"/>
                </a:solidFill>
                <a:latin typeface="宋体" panose="02010600030101010101" pitchFamily="2" charset="-122"/>
              </a:rPr>
              <a:t>         </a:t>
            </a:r>
            <a:r>
              <a:rPr lang="en-US" dirty="0">
                <a:solidFill>
                  <a:schemeClr val="tx1"/>
                </a:solidFill>
                <a:latin typeface="Times New Roman" panose="02020603050405020304" pitchFamily="18" charset="0"/>
              </a:rPr>
              <a:t>B</a:t>
            </a:r>
            <a:r>
              <a:rPr lang="zh-CN" dirty="0">
                <a:solidFill>
                  <a:schemeClr val="tx1"/>
                </a:solidFill>
                <a:ea typeface="宋体" panose="02010600030101010101" pitchFamily="2" charset="-122"/>
              </a:rPr>
              <a:t>、</a:t>
            </a:r>
            <a:r>
              <a:rPr lang="en-US" dirty="0">
                <a:solidFill>
                  <a:schemeClr val="tx1"/>
                </a:solidFill>
                <a:latin typeface="Times New Roman" panose="02020603050405020304" pitchFamily="18" charset="0"/>
              </a:rPr>
              <a:t>PH</a:t>
            </a:r>
            <a:r>
              <a:rPr lang="en-US" baseline="-25000" dirty="0">
                <a:solidFill>
                  <a:schemeClr val="tx1"/>
                </a:solidFill>
                <a:latin typeface="Times New Roman" panose="02020603050405020304" pitchFamily="18" charset="0"/>
              </a:rPr>
              <a:t>4</a:t>
            </a:r>
            <a:r>
              <a:rPr lang="en-US" baseline="30000" dirty="0">
                <a:solidFill>
                  <a:schemeClr val="tx1"/>
                </a:solidFill>
                <a:latin typeface="Times New Roman" panose="02020603050405020304" pitchFamily="18" charset="0"/>
              </a:rPr>
              <a:t>+</a:t>
            </a:r>
            <a:r>
              <a:rPr lang="en-US" dirty="0">
                <a:solidFill>
                  <a:schemeClr val="tx1"/>
                </a:solidFill>
                <a:latin typeface="宋体" panose="02010600030101010101" pitchFamily="2" charset="-122"/>
              </a:rPr>
              <a:t>           </a:t>
            </a:r>
            <a:r>
              <a:rPr lang="en-US" dirty="0">
                <a:solidFill>
                  <a:schemeClr val="tx1"/>
                </a:solidFill>
                <a:latin typeface="Times New Roman" panose="02020603050405020304" pitchFamily="18" charset="0"/>
              </a:rPr>
              <a:t>C</a:t>
            </a:r>
            <a:r>
              <a:rPr lang="zh-CN" dirty="0">
                <a:solidFill>
                  <a:schemeClr val="tx1"/>
                </a:solidFill>
                <a:ea typeface="宋体" panose="02010600030101010101" pitchFamily="2" charset="-122"/>
              </a:rPr>
              <a:t>、</a:t>
            </a:r>
            <a:r>
              <a:rPr lang="en-US" dirty="0">
                <a:solidFill>
                  <a:schemeClr val="tx1"/>
                </a:solidFill>
                <a:latin typeface="Times New Roman" panose="02020603050405020304" pitchFamily="18" charset="0"/>
              </a:rPr>
              <a:t>BF</a:t>
            </a:r>
            <a:r>
              <a:rPr lang="en-US" baseline="-25000" dirty="0">
                <a:solidFill>
                  <a:schemeClr val="tx1"/>
                </a:solidFill>
                <a:latin typeface="Times New Roman" panose="02020603050405020304" pitchFamily="18" charset="0"/>
              </a:rPr>
              <a:t>3</a:t>
            </a:r>
            <a:r>
              <a:rPr lang="en-US" dirty="0">
                <a:solidFill>
                  <a:schemeClr val="tx1"/>
                </a:solidFill>
                <a:latin typeface="宋体" panose="02010600030101010101" pitchFamily="2" charset="-122"/>
              </a:rPr>
              <a:t>     </a:t>
            </a:r>
            <a:endParaRPr lang="en-US" dirty="0">
              <a:solidFill>
                <a:schemeClr val="tx1"/>
              </a:solidFill>
              <a:latin typeface="Times New Roman" panose="02020603050405020304" pitchFamily="18" charset="0"/>
            </a:endParaRPr>
          </a:p>
          <a:p>
            <a:r>
              <a:rPr lang="en-US" dirty="0">
                <a:solidFill>
                  <a:schemeClr val="tx1"/>
                </a:solidFill>
                <a:latin typeface="Times New Roman" panose="02020603050405020304" pitchFamily="18" charset="0"/>
              </a:rPr>
              <a:t>   D</a:t>
            </a:r>
            <a:r>
              <a:rPr lang="zh-CN" dirty="0">
                <a:solidFill>
                  <a:schemeClr val="tx1"/>
                </a:solidFill>
                <a:ea typeface="宋体" panose="02010600030101010101" pitchFamily="2" charset="-122"/>
              </a:rPr>
              <a:t>、</a:t>
            </a:r>
            <a:r>
              <a:rPr lang="en-US" dirty="0">
                <a:solidFill>
                  <a:schemeClr val="tx1"/>
                </a:solidFill>
                <a:latin typeface="Times New Roman" panose="02020603050405020304" pitchFamily="18" charset="0"/>
              </a:rPr>
              <a:t>H</a:t>
            </a:r>
            <a:r>
              <a:rPr lang="en-US" baseline="-25000" dirty="0">
                <a:solidFill>
                  <a:schemeClr val="tx1"/>
                </a:solidFill>
                <a:latin typeface="Times New Roman" panose="02020603050405020304" pitchFamily="18" charset="0"/>
              </a:rPr>
              <a:t>2</a:t>
            </a:r>
            <a:r>
              <a:rPr lang="en-US" dirty="0">
                <a:solidFill>
                  <a:schemeClr val="tx1"/>
                </a:solidFill>
                <a:latin typeface="Times New Roman" panose="02020603050405020304" pitchFamily="18" charset="0"/>
              </a:rPr>
              <a:t>O                   E</a:t>
            </a:r>
            <a:r>
              <a:rPr lang="zh-CN" dirty="0">
                <a:solidFill>
                  <a:schemeClr val="tx1"/>
                </a:solidFill>
                <a:ea typeface="宋体" panose="02010600030101010101" pitchFamily="2" charset="-122"/>
              </a:rPr>
              <a:t>、</a:t>
            </a:r>
            <a:r>
              <a:rPr lang="en-US" dirty="0">
                <a:solidFill>
                  <a:schemeClr val="tx1"/>
                </a:solidFill>
                <a:latin typeface="Times New Roman" panose="02020603050405020304" pitchFamily="18" charset="0"/>
              </a:rPr>
              <a:t>NO</a:t>
            </a:r>
            <a:r>
              <a:rPr lang="en-US" baseline="-25000" dirty="0">
                <a:solidFill>
                  <a:schemeClr val="tx1"/>
                </a:solidFill>
                <a:latin typeface="Times New Roman" panose="02020603050405020304" pitchFamily="18" charset="0"/>
              </a:rPr>
              <a:t>3</a:t>
            </a:r>
            <a:r>
              <a:rPr lang="en-US" baseline="30000" dirty="0">
                <a:solidFill>
                  <a:schemeClr val="tx1"/>
                </a:solidFill>
                <a:latin typeface="Times New Roman" panose="02020603050405020304" pitchFamily="18" charset="0"/>
              </a:rPr>
              <a:t>−</a:t>
            </a:r>
            <a:r>
              <a:rPr lang="en-US" dirty="0">
                <a:solidFill>
                  <a:schemeClr val="tx1"/>
                </a:solidFill>
                <a:latin typeface="宋体" panose="02010600030101010101" pitchFamily="2" charset="-122"/>
              </a:rPr>
              <a:t>           </a:t>
            </a:r>
            <a:r>
              <a:rPr lang="en-US" dirty="0">
                <a:solidFill>
                  <a:schemeClr val="tx1"/>
                </a:solidFill>
                <a:latin typeface="Times New Roman" panose="02020603050405020304" pitchFamily="18" charset="0"/>
              </a:rPr>
              <a:t>F</a:t>
            </a:r>
            <a:r>
              <a:rPr lang="zh-CN" dirty="0">
                <a:solidFill>
                  <a:schemeClr val="tx1"/>
                </a:solidFill>
                <a:ea typeface="宋体" panose="02010600030101010101" pitchFamily="2" charset="-122"/>
              </a:rPr>
              <a:t>、</a:t>
            </a:r>
            <a:r>
              <a:rPr lang="en-US" dirty="0">
                <a:solidFill>
                  <a:schemeClr val="tx1"/>
                </a:solidFill>
                <a:latin typeface="Times New Roman" panose="02020603050405020304" pitchFamily="18" charset="0"/>
              </a:rPr>
              <a:t>HgBr</a:t>
            </a:r>
            <a:r>
              <a:rPr lang="en-US" baseline="-25000" dirty="0">
                <a:solidFill>
                  <a:schemeClr val="tx1"/>
                </a:solidFill>
                <a:latin typeface="Times New Roman" panose="02020603050405020304" pitchFamily="18" charset="0"/>
              </a:rPr>
              <a:t>2</a:t>
            </a:r>
            <a:r>
              <a:rPr lang="en-US" dirty="0">
                <a:solidFill>
                  <a:schemeClr val="tx1"/>
                </a:solidFill>
                <a:latin typeface="宋体" panose="02010600030101010101" pitchFamily="2" charset="-122"/>
              </a:rPr>
              <a:t> </a:t>
            </a:r>
            <a:endParaRPr lang="en-US" altLang="en-US" dirty="0">
              <a:solidFill>
                <a:schemeClr val="tx1"/>
              </a:solidFill>
              <a:latin typeface="宋体" panose="02010600030101010101" pitchFamily="2" charset="-122"/>
            </a:endParaRPr>
          </a:p>
        </p:txBody>
      </p:sp>
      <p:sp>
        <p:nvSpPr>
          <p:cNvPr id="4" name="文本框 3"/>
          <p:cNvSpPr txBox="1"/>
          <p:nvPr/>
        </p:nvSpPr>
        <p:spPr>
          <a:xfrm>
            <a:off x="457200" y="3581400"/>
            <a:ext cx="7588885" cy="1568450"/>
          </a:xfrm>
          <a:prstGeom prst="rect">
            <a:avLst/>
          </a:prstGeom>
          <a:noFill/>
          <a:ln w="9525">
            <a:noFill/>
          </a:ln>
        </p:spPr>
        <p:txBody>
          <a:bodyPr wrap="square">
            <a:spAutoFit/>
          </a:bodyPr>
          <a:lstStyle/>
          <a:p>
            <a:pPr indent="355600" algn="l"/>
            <a:r>
              <a:rPr lang="en-US" altLang="zh-CN" dirty="0">
                <a:solidFill>
                  <a:schemeClr val="tx1"/>
                </a:solidFill>
                <a:latin typeface="+mj-lt"/>
                <a:ea typeface="宋体" panose="02010600030101010101" pitchFamily="2" charset="-122"/>
                <a:cs typeface="+mj-lt"/>
              </a:rPr>
              <a:t>   2</a:t>
            </a:r>
            <a:r>
              <a:rPr lang="zh-CN" altLang="en-US" dirty="0">
                <a:solidFill>
                  <a:schemeClr val="tx1"/>
                </a:solidFill>
                <a:latin typeface="+mj-lt"/>
                <a:ea typeface="宋体" panose="02010600030101010101" pitchFamily="2" charset="-122"/>
                <a:cs typeface="+mj-lt"/>
              </a:rPr>
              <a:t>、</a:t>
            </a:r>
            <a:r>
              <a:rPr lang="zh-CN" i="0" dirty="0">
                <a:solidFill>
                  <a:schemeClr val="tx1"/>
                </a:solidFill>
                <a:latin typeface="+mj-lt"/>
                <a:ea typeface="宋体" panose="02010600030101010101" pitchFamily="2" charset="-122"/>
                <a:cs typeface="+mj-lt"/>
              </a:rPr>
              <a:t>指出下列分子或离子的几何构型，并注明杂化类型：</a:t>
            </a:r>
            <a:endParaRPr lang="zh-CN" dirty="0">
              <a:solidFill>
                <a:schemeClr val="tx1"/>
              </a:solidFill>
              <a:latin typeface="+mj-lt"/>
              <a:ea typeface="宋体" panose="02010600030101010101" pitchFamily="2" charset="-122"/>
              <a:cs typeface="+mj-lt"/>
            </a:endParaRPr>
          </a:p>
          <a:p>
            <a:pPr indent="355600" algn="l"/>
            <a:r>
              <a:rPr lang="en-US" altLang="zh-CN" dirty="0">
                <a:solidFill>
                  <a:schemeClr val="tx1"/>
                </a:solidFill>
                <a:latin typeface="+mj-lt"/>
                <a:ea typeface="宋体" panose="02010600030101010101" pitchFamily="2" charset="-122"/>
                <a:cs typeface="+mj-lt"/>
              </a:rPr>
              <a:t> </a:t>
            </a:r>
            <a:r>
              <a:rPr lang="en-US" altLang="zh-CN" dirty="0" smtClean="0">
                <a:solidFill>
                  <a:schemeClr val="tx1"/>
                </a:solidFill>
                <a:latin typeface="+mj-lt"/>
                <a:ea typeface="宋体" panose="02010600030101010101" pitchFamily="2" charset="-122"/>
                <a:cs typeface="+mj-lt"/>
              </a:rPr>
              <a:t>       </a:t>
            </a:r>
            <a:r>
              <a:rPr lang="en-US" altLang="zh-CN" dirty="0">
                <a:solidFill>
                  <a:schemeClr val="tx1"/>
                </a:solidFill>
                <a:latin typeface="+mj-lt"/>
                <a:ea typeface="宋体" panose="02010600030101010101" pitchFamily="2" charset="-122"/>
                <a:cs typeface="+mj-lt"/>
              </a:rPr>
              <a:t>(</a:t>
            </a:r>
            <a:r>
              <a:rPr lang="en-US" dirty="0">
                <a:solidFill>
                  <a:schemeClr val="tx1"/>
                </a:solidFill>
                <a:latin typeface="+mj-lt"/>
                <a:cs typeface="+mj-lt"/>
              </a:rPr>
              <a:t>1)NO</a:t>
            </a:r>
            <a:r>
              <a:rPr lang="en-US" baseline="-25000" dirty="0">
                <a:solidFill>
                  <a:schemeClr val="tx1"/>
                </a:solidFill>
                <a:latin typeface="+mj-lt"/>
                <a:cs typeface="+mj-lt"/>
              </a:rPr>
              <a:t>2</a:t>
            </a:r>
            <a:r>
              <a:rPr lang="en-US" baseline="30000" dirty="0">
                <a:solidFill>
                  <a:schemeClr val="tx1"/>
                </a:solidFill>
                <a:latin typeface="+mj-lt"/>
                <a:cs typeface="+mj-lt"/>
              </a:rPr>
              <a:t>-</a:t>
            </a:r>
            <a:r>
              <a:rPr lang="en-US" dirty="0">
                <a:solidFill>
                  <a:schemeClr val="tx1"/>
                </a:solidFill>
                <a:latin typeface="+mj-lt"/>
                <a:cs typeface="+mj-lt"/>
              </a:rPr>
              <a:t>                                   (2)SiF</a:t>
            </a:r>
            <a:r>
              <a:rPr lang="en-US" baseline="-25000" dirty="0">
                <a:solidFill>
                  <a:schemeClr val="tx1"/>
                </a:solidFill>
                <a:latin typeface="+mj-lt"/>
                <a:cs typeface="+mj-lt"/>
              </a:rPr>
              <a:t>4</a:t>
            </a:r>
            <a:r>
              <a:rPr lang="en-US" dirty="0">
                <a:solidFill>
                  <a:schemeClr val="tx1"/>
                </a:solidFill>
                <a:latin typeface="+mj-lt"/>
                <a:cs typeface="+mj-lt"/>
              </a:rPr>
              <a:t>   </a:t>
            </a:r>
            <a:endParaRPr lang="zh-CN" dirty="0">
              <a:solidFill>
                <a:schemeClr val="tx1"/>
              </a:solidFill>
              <a:latin typeface="+mj-lt"/>
              <a:ea typeface="宋体" panose="02010600030101010101" pitchFamily="2" charset="-122"/>
              <a:cs typeface="+mj-lt"/>
            </a:endParaRPr>
          </a:p>
          <a:p>
            <a:pPr indent="355600" algn="l"/>
            <a:r>
              <a:rPr lang="en-US" altLang="zh-CN" dirty="0">
                <a:solidFill>
                  <a:schemeClr val="tx1"/>
                </a:solidFill>
                <a:latin typeface="+mj-lt"/>
                <a:ea typeface="宋体" panose="02010600030101010101" pitchFamily="2" charset="-122"/>
                <a:cs typeface="+mj-lt"/>
              </a:rPr>
              <a:t>        (</a:t>
            </a:r>
            <a:r>
              <a:rPr lang="en-US" dirty="0">
                <a:solidFill>
                  <a:schemeClr val="tx1"/>
                </a:solidFill>
                <a:latin typeface="+mj-lt"/>
                <a:cs typeface="+mj-lt"/>
              </a:rPr>
              <a:t>3)SeCl</a:t>
            </a:r>
            <a:r>
              <a:rPr lang="en-US" baseline="-25000" dirty="0">
                <a:solidFill>
                  <a:schemeClr val="tx1"/>
                </a:solidFill>
                <a:latin typeface="+mj-lt"/>
                <a:cs typeface="+mj-lt"/>
              </a:rPr>
              <a:t>6</a:t>
            </a:r>
            <a:r>
              <a:rPr lang="en-US" dirty="0">
                <a:solidFill>
                  <a:schemeClr val="tx1"/>
                </a:solidFill>
                <a:latin typeface="+mj-lt"/>
                <a:cs typeface="+mj-lt"/>
              </a:rPr>
              <a:t>                                  (4)PF</a:t>
            </a:r>
            <a:r>
              <a:rPr lang="en-US" baseline="-25000" dirty="0">
                <a:solidFill>
                  <a:schemeClr val="tx1"/>
                </a:solidFill>
                <a:latin typeface="+mj-lt"/>
                <a:cs typeface="+mj-lt"/>
              </a:rPr>
              <a:t>3</a:t>
            </a:r>
            <a:r>
              <a:rPr lang="en-US" dirty="0">
                <a:solidFill>
                  <a:schemeClr val="tx1"/>
                </a:solidFill>
                <a:latin typeface="+mj-lt"/>
                <a:cs typeface="+mj-lt"/>
              </a:rPr>
              <a:t>        </a:t>
            </a:r>
            <a:endParaRPr lang="en-US" altLang="en-US" dirty="0">
              <a:solidFill>
                <a:schemeClr val="tx1"/>
              </a:solidFill>
              <a:latin typeface="+mj-lt"/>
              <a:cs typeface="+mj-l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3" name="Rectangle 3"/>
          <p:cNvSpPr/>
          <p:nvPr/>
        </p:nvSpPr>
        <p:spPr>
          <a:xfrm>
            <a:off x="228600" y="76200"/>
            <a:ext cx="3278188" cy="498475"/>
          </a:xfrm>
          <a:prstGeom prst="rect">
            <a:avLst/>
          </a:prstGeom>
          <a:noFill/>
          <a:ln w="9525" cap="flat" cmpd="sng">
            <a:solidFill>
              <a:srgbClr val="FFCC66"/>
            </a:solidFill>
            <a:prstDash val="solid"/>
            <a:miter/>
            <a:headEnd type="none" w="med" len="med"/>
            <a:tailEnd type="none" w="med" len="med"/>
          </a:ln>
        </p:spPr>
        <p:txBody>
          <a:bodyPr wrap="none">
            <a:spAutoFit/>
          </a:bodyPr>
          <a:lstStyle/>
          <a:p>
            <a:pPr algn="l"/>
            <a:r>
              <a:rPr lang="en-US" altLang="zh-CN" sz="2600" i="0" dirty="0">
                <a:solidFill>
                  <a:srgbClr val="CC3300"/>
                </a:solidFill>
                <a:latin typeface="Times New Roman" panose="02020603050405020304" pitchFamily="18" charset="0"/>
              </a:rPr>
              <a:t>■ </a:t>
            </a:r>
            <a:r>
              <a:rPr lang="zh-CN" altLang="en-US" sz="2600" i="0" dirty="0">
                <a:solidFill>
                  <a:srgbClr val="CC3300"/>
                </a:solidFill>
                <a:latin typeface="Times New Roman" panose="02020603050405020304" pitchFamily="18" charset="0"/>
              </a:rPr>
              <a:t>键能</a:t>
            </a:r>
            <a:r>
              <a:rPr lang="en-US" altLang="zh-CN" sz="2600" i="0" dirty="0">
                <a:solidFill>
                  <a:srgbClr val="CC3300"/>
                </a:solidFill>
                <a:latin typeface="Times New Roman" panose="02020603050405020304" pitchFamily="18" charset="0"/>
              </a:rPr>
              <a:t>(</a:t>
            </a:r>
            <a:r>
              <a:rPr lang="en-US" altLang="zh-CN" sz="2600" dirty="0">
                <a:solidFill>
                  <a:srgbClr val="CC3300"/>
                </a:solidFill>
                <a:latin typeface="Times New Roman" panose="02020603050405020304" pitchFamily="18" charset="0"/>
              </a:rPr>
              <a:t>bond energy</a:t>
            </a:r>
            <a:r>
              <a:rPr lang="en-US" altLang="zh-CN" sz="2600" i="0" dirty="0">
                <a:solidFill>
                  <a:srgbClr val="CC3300"/>
                </a:solidFill>
                <a:latin typeface="Times New Roman" panose="02020603050405020304" pitchFamily="18" charset="0"/>
              </a:rPr>
              <a:t>):</a:t>
            </a:r>
          </a:p>
        </p:txBody>
      </p:sp>
      <p:grpSp>
        <p:nvGrpSpPr>
          <p:cNvPr id="10244" name="组合 7"/>
          <p:cNvGrpSpPr/>
          <p:nvPr/>
        </p:nvGrpSpPr>
        <p:grpSpPr>
          <a:xfrm>
            <a:off x="0" y="609600"/>
            <a:ext cx="9144000" cy="4073843"/>
            <a:chOff x="0" y="762000"/>
            <a:chExt cx="9144000" cy="4073843"/>
          </a:xfrm>
        </p:grpSpPr>
        <p:sp>
          <p:nvSpPr>
            <p:cNvPr id="10245" name="Text Box 2"/>
            <p:cNvSpPr txBox="1"/>
            <p:nvPr/>
          </p:nvSpPr>
          <p:spPr>
            <a:xfrm>
              <a:off x="0" y="762000"/>
              <a:ext cx="9144000" cy="1541832"/>
            </a:xfrm>
            <a:prstGeom prst="rect">
              <a:avLst/>
            </a:prstGeom>
            <a:noFill/>
            <a:ln w="9525">
              <a:noFill/>
            </a:ln>
          </p:spPr>
          <p:txBody>
            <a:bodyPr>
              <a:spAutoFit/>
            </a:bodyPr>
            <a:lstStyle/>
            <a:p>
              <a:pPr algn="l">
                <a:lnSpc>
                  <a:spcPct val="125000"/>
                </a:lnSpc>
                <a:spcBef>
                  <a:spcPct val="50000"/>
                </a:spcBef>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表示在通常外界条件下物质原子间相互作用的强弱。定义为：在</a:t>
              </a:r>
              <a:r>
                <a:rPr lang="en-US" altLang="zh-CN" sz="2600" i="0" dirty="0">
                  <a:solidFill>
                    <a:schemeClr val="tx1"/>
                  </a:solidFill>
                  <a:latin typeface="Times New Roman" panose="02020603050405020304" pitchFamily="18" charset="0"/>
                </a:rPr>
                <a:t>298 K</a:t>
              </a:r>
              <a:r>
                <a:rPr lang="zh-CN" altLang="en-US" sz="2600" i="0" dirty="0">
                  <a:solidFill>
                    <a:schemeClr val="tx1"/>
                  </a:solidFill>
                  <a:latin typeface="Times New Roman" panose="02020603050405020304" pitchFamily="18" charset="0"/>
                </a:rPr>
                <a:t>和</a:t>
              </a:r>
              <a:r>
                <a:rPr lang="en-US" altLang="zh-CN" sz="2600" i="0" dirty="0">
                  <a:solidFill>
                    <a:schemeClr val="tx1"/>
                  </a:solidFill>
                  <a:latin typeface="Times New Roman" panose="02020603050405020304" pitchFamily="18" charset="0"/>
                </a:rPr>
                <a:t>100 k Pa</a:t>
              </a:r>
              <a:r>
                <a:rPr lang="zh-CN" altLang="en-US" sz="2600" i="0" dirty="0">
                  <a:solidFill>
                    <a:schemeClr val="tx1"/>
                  </a:solidFill>
                  <a:latin typeface="Times New Roman" panose="02020603050405020304" pitchFamily="18" charset="0"/>
                </a:rPr>
                <a:t>下将</a:t>
              </a:r>
              <a:r>
                <a:rPr lang="en-US" altLang="zh-CN" sz="2600" i="0" dirty="0">
                  <a:solidFill>
                    <a:schemeClr val="tx1"/>
                  </a:solidFill>
                  <a:latin typeface="Times New Roman" panose="02020603050405020304" pitchFamily="18" charset="0"/>
                </a:rPr>
                <a:t>1mol</a:t>
              </a:r>
              <a:r>
                <a:rPr lang="zh-CN" altLang="en-US" sz="2600" i="0" dirty="0">
                  <a:solidFill>
                    <a:schemeClr val="tx1"/>
                  </a:solidFill>
                  <a:latin typeface="Times New Roman" panose="02020603050405020304" pitchFamily="18" charset="0"/>
                </a:rPr>
                <a:t>气态双原子分子断裂成</a:t>
              </a:r>
              <a:r>
                <a:rPr lang="en-US" altLang="en-US" sz="2600" i="0" dirty="0">
                  <a:solidFill>
                    <a:schemeClr val="tx1"/>
                  </a:solidFill>
                  <a:latin typeface="Times New Roman" panose="02020603050405020304" pitchFamily="18" charset="0"/>
                </a:rPr>
                <a:t>2 </a:t>
              </a:r>
              <a:r>
                <a:rPr lang="en-US" altLang="zh-CN" sz="2600" i="0" dirty="0">
                  <a:solidFill>
                    <a:schemeClr val="tx1"/>
                  </a:solidFill>
                  <a:latin typeface="Times New Roman" panose="02020603050405020304" pitchFamily="18" charset="0"/>
                </a:rPr>
                <a:t>mol</a:t>
              </a:r>
              <a:r>
                <a:rPr lang="zh-CN" altLang="en-US" sz="2600" i="0" dirty="0">
                  <a:solidFill>
                    <a:schemeClr val="tx1"/>
                  </a:solidFill>
                  <a:latin typeface="Times New Roman" panose="02020603050405020304" pitchFamily="18" charset="0"/>
                </a:rPr>
                <a:t>气态原子所需要的能量。</a:t>
              </a:r>
            </a:p>
          </p:txBody>
        </p:sp>
        <p:sp>
          <p:nvSpPr>
            <p:cNvPr id="10246" name="Text Box 5"/>
            <p:cNvSpPr txBox="1"/>
            <p:nvPr/>
          </p:nvSpPr>
          <p:spPr>
            <a:xfrm>
              <a:off x="228600" y="3276600"/>
              <a:ext cx="8382000" cy="1023806"/>
            </a:xfrm>
            <a:prstGeom prst="rect">
              <a:avLst/>
            </a:prstGeom>
            <a:noFill/>
            <a:ln w="9525">
              <a:noFill/>
            </a:ln>
          </p:spPr>
          <p:txBody>
            <a:bodyPr>
              <a:spAutoFit/>
            </a:bodyPr>
            <a:lstStyle/>
            <a:p>
              <a:pPr>
                <a:lnSpc>
                  <a:spcPct val="125000"/>
                </a:lnSpc>
              </a:pPr>
              <a:r>
                <a:rPr lang="zh-CN" altLang="en-US" sz="2600" dirty="0">
                  <a:solidFill>
                    <a:srgbClr val="0000FF"/>
                  </a:solidFill>
                  <a:latin typeface="楷体_GB2312" pitchFamily="49" charset="-122"/>
                </a:rPr>
                <a:t>对双原子分子：解离能 </a:t>
              </a:r>
              <a:r>
                <a:rPr lang="en-US" altLang="zh-CN" sz="2600" dirty="0">
                  <a:solidFill>
                    <a:srgbClr val="0000FF"/>
                  </a:solidFill>
                  <a:latin typeface="楷体_GB2312" pitchFamily="49" charset="-122"/>
                </a:rPr>
                <a:t>= </a:t>
              </a:r>
              <a:r>
                <a:rPr lang="zh-CN" altLang="en-US" sz="2600" dirty="0">
                  <a:solidFill>
                    <a:srgbClr val="0000FF"/>
                  </a:solidFill>
                  <a:latin typeface="楷体_GB2312" pitchFamily="49" charset="-122"/>
                </a:rPr>
                <a:t>键能</a:t>
              </a:r>
            </a:p>
            <a:p>
              <a:pPr>
                <a:lnSpc>
                  <a:spcPct val="125000"/>
                </a:lnSpc>
              </a:pPr>
              <a:r>
                <a:rPr lang="zh-CN" altLang="en-US" sz="2600" dirty="0">
                  <a:solidFill>
                    <a:srgbClr val="0000FF"/>
                  </a:solidFill>
                  <a:latin typeface="楷体_GB2312" pitchFamily="49" charset="-122"/>
                </a:rPr>
                <a:t>对多原子分子：键能指平均键能</a:t>
              </a:r>
            </a:p>
          </p:txBody>
        </p:sp>
        <p:sp>
          <p:nvSpPr>
            <p:cNvPr id="10247" name="Text Box 6"/>
            <p:cNvSpPr txBox="1"/>
            <p:nvPr/>
          </p:nvSpPr>
          <p:spPr>
            <a:xfrm>
              <a:off x="1447800" y="2133600"/>
              <a:ext cx="6324600" cy="1045735"/>
            </a:xfrm>
            <a:prstGeom prst="rect">
              <a:avLst/>
            </a:prstGeom>
            <a:noFill/>
            <a:ln w="9525">
              <a:noFill/>
            </a:ln>
          </p:spPr>
          <p:txBody>
            <a:bodyPr>
              <a:spAutoFit/>
            </a:bodyPr>
            <a:lstStyle/>
            <a:p>
              <a:pPr>
                <a:lnSpc>
                  <a:spcPct val="125000"/>
                </a:lnSpc>
              </a:pPr>
              <a:r>
                <a:rPr lang="en-US" altLang="zh-CN" sz="2600" dirty="0">
                  <a:solidFill>
                    <a:schemeClr val="tx1"/>
                  </a:solidFill>
                  <a:latin typeface="Times New Roman" panose="02020603050405020304" pitchFamily="18" charset="0"/>
                  <a:ea typeface="宋体" panose="02010600030101010101" pitchFamily="2" charset="-122"/>
                </a:rPr>
                <a:t>D </a:t>
              </a:r>
              <a:r>
                <a:rPr lang="en-US" altLang="zh-CN" sz="2600" i="0" dirty="0">
                  <a:solidFill>
                    <a:schemeClr val="tx1"/>
                  </a:solidFill>
                  <a:latin typeface="Times New Roman" panose="02020603050405020304" pitchFamily="18" charset="0"/>
                  <a:ea typeface="宋体" panose="02010600030101010101" pitchFamily="2" charset="-122"/>
                </a:rPr>
                <a:t>(H — Cl) = 431 kJ·mol</a:t>
              </a:r>
              <a:r>
                <a:rPr lang="en-US" altLang="zh-CN" sz="2600" i="0" baseline="30000" dirty="0">
                  <a:solidFill>
                    <a:schemeClr val="tx1"/>
                  </a:solidFill>
                  <a:latin typeface="Times New Roman" panose="02020603050405020304" pitchFamily="18" charset="0"/>
                  <a:ea typeface="宋体" panose="02010600030101010101" pitchFamily="2" charset="-122"/>
                </a:rPr>
                <a:t>-1            </a:t>
              </a:r>
            </a:p>
            <a:p>
              <a:pPr>
                <a:lnSpc>
                  <a:spcPct val="125000"/>
                </a:lnSpc>
              </a:pPr>
              <a:r>
                <a:rPr lang="en-US" altLang="zh-CN" sz="2600" dirty="0">
                  <a:solidFill>
                    <a:schemeClr val="tx1"/>
                  </a:solidFill>
                  <a:latin typeface="Times New Roman" panose="02020603050405020304" pitchFamily="18" charset="0"/>
                  <a:ea typeface="宋体" panose="02010600030101010101" pitchFamily="2" charset="-122"/>
                </a:rPr>
                <a:t>D </a:t>
              </a:r>
              <a:r>
                <a:rPr lang="en-US" altLang="zh-CN" sz="2600" i="0" dirty="0">
                  <a:solidFill>
                    <a:schemeClr val="tx1"/>
                  </a:solidFill>
                  <a:latin typeface="Times New Roman" panose="02020603050405020304" pitchFamily="18" charset="0"/>
                  <a:ea typeface="宋体" panose="02010600030101010101" pitchFamily="2" charset="-122"/>
                </a:rPr>
                <a:t>(Cl — Cl) = 244 kJ· mol</a:t>
              </a:r>
              <a:r>
                <a:rPr lang="en-US" altLang="zh-CN" sz="2600" i="0" baseline="30000" dirty="0">
                  <a:solidFill>
                    <a:schemeClr val="tx1"/>
                  </a:solidFill>
                  <a:latin typeface="Times New Roman" panose="02020603050405020304" pitchFamily="18" charset="0"/>
                  <a:ea typeface="宋体" panose="02010600030101010101" pitchFamily="2" charset="-122"/>
                </a:rPr>
                <a:t>-1</a:t>
              </a:r>
            </a:p>
          </p:txBody>
        </p:sp>
        <p:sp>
          <p:nvSpPr>
            <p:cNvPr id="10248" name="Rectangle 10"/>
            <p:cNvSpPr/>
            <p:nvPr/>
          </p:nvSpPr>
          <p:spPr>
            <a:xfrm>
              <a:off x="381000" y="4343400"/>
              <a:ext cx="1633781" cy="492443"/>
            </a:xfrm>
            <a:prstGeom prst="rect">
              <a:avLst/>
            </a:prstGeom>
            <a:noFill/>
            <a:ln w="9525">
              <a:noFill/>
            </a:ln>
          </p:spPr>
          <p:txBody>
            <a:bodyPr wrap="none">
              <a:spAutoFit/>
            </a:bodyPr>
            <a:lstStyle/>
            <a:p>
              <a:pPr eaLnBrk="0" hangingPunct="0"/>
              <a:r>
                <a:rPr lang="zh-CN" altLang="en-US" sz="2600" i="0" dirty="0">
                  <a:solidFill>
                    <a:schemeClr val="tx1"/>
                  </a:solidFill>
                  <a:latin typeface="楷体_GB2312" pitchFamily="49" charset="-122"/>
                </a:rPr>
                <a:t>例如 </a:t>
              </a:r>
              <a:r>
                <a:rPr lang="en-US" altLang="zh-CN" sz="2600" i="0" dirty="0">
                  <a:solidFill>
                    <a:schemeClr val="tx1"/>
                  </a:solidFill>
                  <a:latin typeface="Times New Roman" panose="02020603050405020304" pitchFamily="18" charset="0"/>
                </a:rPr>
                <a:t>NH</a:t>
              </a:r>
              <a:r>
                <a:rPr lang="en-US" altLang="zh-CN" sz="2600" i="0" baseline="-25000" dirty="0">
                  <a:solidFill>
                    <a:schemeClr val="tx1"/>
                  </a:solidFill>
                  <a:latin typeface="Times New Roman" panose="02020603050405020304" pitchFamily="18" charset="0"/>
                </a:rPr>
                <a:t>3</a:t>
              </a:r>
            </a:p>
          </p:txBody>
        </p:sp>
      </p:grpSp>
      <p:pic>
        <p:nvPicPr>
          <p:cNvPr id="64514" name="Picture 2"/>
          <p:cNvPicPr>
            <a:picLocks noChangeAspect="1" noChangeArrowheads="1"/>
          </p:cNvPicPr>
          <p:nvPr/>
        </p:nvPicPr>
        <p:blipFill>
          <a:blip r:embed="rId3"/>
          <a:srcRect/>
          <a:stretch>
            <a:fillRect/>
          </a:stretch>
        </p:blipFill>
        <p:spPr bwMode="auto">
          <a:xfrm>
            <a:off x="285720" y="4643446"/>
            <a:ext cx="8993187" cy="167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7" name="Text Box 3"/>
          <p:cNvSpPr txBox="1"/>
          <p:nvPr/>
        </p:nvSpPr>
        <p:spPr>
          <a:xfrm>
            <a:off x="0" y="0"/>
            <a:ext cx="8915400" cy="1016000"/>
          </a:xfrm>
          <a:prstGeom prst="rect">
            <a:avLst/>
          </a:prstGeom>
          <a:gradFill rotWithShape="1">
            <a:gsLst>
              <a:gs pos="0">
                <a:srgbClr val="003B00"/>
              </a:gs>
              <a:gs pos="50000">
                <a:srgbClr val="008000"/>
              </a:gs>
              <a:gs pos="100000">
                <a:srgbClr val="003B00"/>
              </a:gs>
            </a:gsLst>
            <a:lin ang="5400000" scaled="1"/>
            <a:tileRect/>
          </a:gradFill>
          <a:ln w="9525">
            <a:noFill/>
          </a:ln>
        </p:spPr>
        <p:txBody>
          <a:bodyPr>
            <a:spAutoFit/>
          </a:bodyPr>
          <a:lstStyle/>
          <a:p>
            <a:pPr algn="l"/>
            <a:r>
              <a:rPr lang="en-US" altLang="zh-CN" sz="3000" i="0" dirty="0">
                <a:solidFill>
                  <a:srgbClr val="FF3300"/>
                </a:solidFill>
                <a:latin typeface="Times New Roman" panose="02020603050405020304" pitchFamily="18" charset="0"/>
              </a:rPr>
              <a:t>§9.3    </a:t>
            </a:r>
            <a:r>
              <a:rPr lang="zh-CN" altLang="en-US" sz="3000" i="0" dirty="0">
                <a:solidFill>
                  <a:srgbClr val="FF3300"/>
                </a:solidFill>
                <a:latin typeface="Times New Roman" panose="02020603050405020304" pitchFamily="18" charset="0"/>
              </a:rPr>
              <a:t>价层电子互斥理论 </a:t>
            </a:r>
            <a:r>
              <a:rPr lang="en-US" altLang="zh-CN" sz="3000" i="0" dirty="0">
                <a:solidFill>
                  <a:srgbClr val="FF3300"/>
                </a:solidFill>
                <a:latin typeface="Times New Roman" panose="02020603050405020304" pitchFamily="18" charset="0"/>
              </a:rPr>
              <a:t>(</a:t>
            </a:r>
            <a:r>
              <a:rPr lang="en-US" altLang="zh-CN" sz="3000" dirty="0">
                <a:solidFill>
                  <a:srgbClr val="FF3300"/>
                </a:solidFill>
                <a:latin typeface="Times New Roman" panose="02020603050405020304" pitchFamily="18" charset="0"/>
              </a:rPr>
              <a:t>VSEPR)</a:t>
            </a:r>
          </a:p>
          <a:p>
            <a:pPr algn="l"/>
            <a:r>
              <a:rPr lang="en-US" altLang="zh-CN" sz="3000" dirty="0">
                <a:solidFill>
                  <a:srgbClr val="FF3300"/>
                </a:solidFill>
                <a:latin typeface="Times New Roman" panose="02020603050405020304" pitchFamily="18" charset="0"/>
              </a:rPr>
              <a:t>                                             ——</a:t>
            </a:r>
            <a:r>
              <a:rPr lang="zh-CN" altLang="en-US" sz="3000" dirty="0">
                <a:solidFill>
                  <a:srgbClr val="FF3300"/>
                </a:solidFill>
                <a:latin typeface="Times New Roman" panose="02020603050405020304" pitchFamily="18" charset="0"/>
              </a:rPr>
              <a:t>适合</a:t>
            </a:r>
            <a:r>
              <a:rPr lang="en-US" altLang="zh-CN" sz="3000" dirty="0">
                <a:solidFill>
                  <a:schemeClr val="bg1"/>
                </a:solidFill>
                <a:latin typeface="Times New Roman" panose="02020603050405020304" pitchFamily="18" charset="0"/>
              </a:rPr>
              <a:t>AX</a:t>
            </a:r>
            <a:r>
              <a:rPr lang="en-US" altLang="zh-CN" sz="3000" baseline="-25000" dirty="0">
                <a:solidFill>
                  <a:schemeClr val="bg1"/>
                </a:solidFill>
                <a:latin typeface="Times New Roman" panose="02020603050405020304" pitchFamily="18" charset="0"/>
              </a:rPr>
              <a:t>m</a:t>
            </a:r>
            <a:r>
              <a:rPr lang="en-US" altLang="zh-CN" sz="3000" dirty="0">
                <a:solidFill>
                  <a:schemeClr val="bg1"/>
                </a:solidFill>
                <a:latin typeface="Times New Roman" panose="02020603050405020304" pitchFamily="18" charset="0"/>
              </a:rPr>
              <a:t>L</a:t>
            </a:r>
            <a:r>
              <a:rPr lang="en-US" altLang="zh-CN" sz="3000" baseline="-25000" dirty="0">
                <a:solidFill>
                  <a:schemeClr val="bg1"/>
                </a:solidFill>
                <a:latin typeface="Times New Roman" panose="02020603050405020304" pitchFamily="18" charset="0"/>
              </a:rPr>
              <a:t>n</a:t>
            </a:r>
            <a:r>
              <a:rPr lang="zh-CN" altLang="en-US" sz="3000" dirty="0">
                <a:solidFill>
                  <a:srgbClr val="FF3300"/>
                </a:solidFill>
                <a:latin typeface="Times New Roman" panose="02020603050405020304" pitchFamily="18" charset="0"/>
              </a:rPr>
              <a:t>型化合物</a:t>
            </a:r>
          </a:p>
        </p:txBody>
      </p:sp>
      <p:grpSp>
        <p:nvGrpSpPr>
          <p:cNvPr id="2" name="组合 11"/>
          <p:cNvGrpSpPr/>
          <p:nvPr/>
        </p:nvGrpSpPr>
        <p:grpSpPr>
          <a:xfrm>
            <a:off x="152400" y="1143000"/>
            <a:ext cx="8855075" cy="4854575"/>
            <a:chOff x="0" y="1066800"/>
            <a:chExt cx="9008828" cy="4854952"/>
          </a:xfrm>
        </p:grpSpPr>
        <p:sp>
          <p:nvSpPr>
            <p:cNvPr id="58372" name="Text Box 4"/>
            <p:cNvSpPr txBox="1"/>
            <p:nvPr/>
          </p:nvSpPr>
          <p:spPr>
            <a:xfrm>
              <a:off x="0" y="1066800"/>
              <a:ext cx="3200400" cy="492443"/>
            </a:xfrm>
            <a:prstGeom prst="rect">
              <a:avLst/>
            </a:prstGeom>
            <a:noFill/>
            <a:ln w="9525">
              <a:noFill/>
            </a:ln>
          </p:spPr>
          <p:txBody>
            <a:bodyPr>
              <a:spAutoFit/>
            </a:bodyPr>
            <a:lstStyle/>
            <a:p>
              <a:pPr algn="l"/>
              <a:r>
                <a:rPr lang="zh-CN" altLang="en-US" sz="2600" dirty="0">
                  <a:solidFill>
                    <a:srgbClr val="C00000"/>
                  </a:solidFill>
                  <a:latin typeface="Times New Roman" panose="02020603050405020304" pitchFamily="18" charset="0"/>
                </a:rPr>
                <a:t>一、 基本要点</a:t>
              </a:r>
            </a:p>
          </p:txBody>
        </p:sp>
        <p:sp>
          <p:nvSpPr>
            <p:cNvPr id="58373" name="Text Box 5"/>
            <p:cNvSpPr txBox="1"/>
            <p:nvPr/>
          </p:nvSpPr>
          <p:spPr>
            <a:xfrm>
              <a:off x="228600" y="1600200"/>
              <a:ext cx="8458200" cy="1041695"/>
            </a:xfrm>
            <a:prstGeom prst="rect">
              <a:avLst/>
            </a:prstGeom>
            <a:noFill/>
            <a:ln w="9525">
              <a:noFill/>
            </a:ln>
          </p:spPr>
          <p:txBody>
            <a:bodyPr>
              <a:spAutoFit/>
            </a:bodyPr>
            <a:lstStyle/>
            <a:p>
              <a:pPr algn="l">
                <a:lnSpc>
                  <a:spcPct val="1250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分子或离子的空间构型与中心原子的 价层电子对数目</a:t>
              </a:r>
              <a:r>
                <a:rPr lang="en-US" altLang="zh-CN" sz="2600" i="0" dirty="0">
                  <a:solidFill>
                    <a:schemeClr val="tx1"/>
                  </a:solidFill>
                  <a:latin typeface="Times New Roman" panose="02020603050405020304" pitchFamily="18" charset="0"/>
                </a:rPr>
                <a:t>(VPN)</a:t>
              </a:r>
              <a:r>
                <a:rPr lang="zh-CN" altLang="en-US" sz="2600" i="0" dirty="0">
                  <a:solidFill>
                    <a:schemeClr val="tx1"/>
                  </a:solidFill>
                  <a:latin typeface="Times New Roman" panose="02020603050405020304" pitchFamily="18" charset="0"/>
                </a:rPr>
                <a:t>有关：</a:t>
              </a:r>
            </a:p>
          </p:txBody>
        </p:sp>
        <p:sp>
          <p:nvSpPr>
            <p:cNvPr id="58374" name="Text Box 6"/>
            <p:cNvSpPr txBox="1"/>
            <p:nvPr/>
          </p:nvSpPr>
          <p:spPr>
            <a:xfrm>
              <a:off x="2403282" y="2667000"/>
              <a:ext cx="3835400" cy="488950"/>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VP   =    BP     +     LP</a:t>
              </a:r>
            </a:p>
          </p:txBody>
        </p:sp>
        <p:sp>
          <p:nvSpPr>
            <p:cNvPr id="58375" name="Text Box 7"/>
            <p:cNvSpPr txBox="1"/>
            <p:nvPr/>
          </p:nvSpPr>
          <p:spPr>
            <a:xfrm>
              <a:off x="2325757" y="3200400"/>
              <a:ext cx="4824413" cy="488950"/>
            </a:xfrm>
            <a:prstGeom prst="rect">
              <a:avLst/>
            </a:prstGeom>
            <a:noFill/>
            <a:ln w="9525">
              <a:noFill/>
            </a:ln>
          </p:spPr>
          <p:txBody>
            <a:bodyPr>
              <a:spAutoFit/>
            </a:bodyPr>
            <a:lstStyle/>
            <a:p>
              <a:pPr algn="l"/>
              <a:r>
                <a:rPr lang="zh-CN" altLang="en-US" sz="2600" i="0" dirty="0">
                  <a:solidFill>
                    <a:schemeClr val="tx1"/>
                  </a:solidFill>
                  <a:latin typeface="楷体_GB2312" pitchFamily="49" charset="-122"/>
                </a:rPr>
                <a:t>价层    成键    孤对</a:t>
              </a:r>
            </a:p>
          </p:txBody>
        </p:sp>
        <p:sp>
          <p:nvSpPr>
            <p:cNvPr id="58376" name="Text Box 8"/>
            <p:cNvSpPr txBox="1"/>
            <p:nvPr/>
          </p:nvSpPr>
          <p:spPr>
            <a:xfrm>
              <a:off x="1007828" y="3733800"/>
              <a:ext cx="6662476" cy="492443"/>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价层电子对尽可能远离</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以使斥力最小：</a:t>
              </a:r>
            </a:p>
          </p:txBody>
        </p:sp>
        <p:sp>
          <p:nvSpPr>
            <p:cNvPr id="58377" name="Text Box 9"/>
            <p:cNvSpPr txBox="1"/>
            <p:nvPr/>
          </p:nvSpPr>
          <p:spPr>
            <a:xfrm>
              <a:off x="2248231" y="4343400"/>
              <a:ext cx="4157508" cy="492443"/>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LP-LP  &gt;  LP-BP  &gt;  BP-BP</a:t>
              </a:r>
            </a:p>
          </p:txBody>
        </p:sp>
        <p:sp>
          <p:nvSpPr>
            <p:cNvPr id="58378" name="Text Box 10"/>
            <p:cNvSpPr txBox="1"/>
            <p:nvPr/>
          </p:nvSpPr>
          <p:spPr>
            <a:xfrm>
              <a:off x="1007828" y="5029200"/>
              <a:ext cx="8001000" cy="892552"/>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根据 </a:t>
              </a:r>
              <a:r>
                <a:rPr lang="en-US" altLang="zh-CN" sz="2600" i="0" dirty="0">
                  <a:solidFill>
                    <a:schemeClr val="tx1"/>
                  </a:solidFill>
                  <a:latin typeface="Times New Roman" panose="02020603050405020304" pitchFamily="18" charset="0"/>
                </a:rPr>
                <a:t>VP </a:t>
              </a:r>
              <a:r>
                <a:rPr lang="zh-CN" altLang="en-US" sz="2600" i="0" dirty="0">
                  <a:solidFill>
                    <a:schemeClr val="tx1"/>
                  </a:solidFill>
                  <a:latin typeface="Times New Roman" panose="02020603050405020304" pitchFamily="18" charset="0"/>
                </a:rPr>
                <a:t>和 </a:t>
              </a:r>
              <a:r>
                <a:rPr lang="en-US" altLang="zh-CN" sz="2600" i="0" dirty="0">
                  <a:solidFill>
                    <a:schemeClr val="tx1"/>
                  </a:solidFill>
                  <a:latin typeface="Times New Roman" panose="02020603050405020304" pitchFamily="18" charset="0"/>
                </a:rPr>
                <a:t>LP </a:t>
              </a:r>
              <a:r>
                <a:rPr lang="zh-CN" altLang="en-US" sz="2600" i="0" dirty="0">
                  <a:solidFill>
                    <a:schemeClr val="tx1"/>
                  </a:solidFill>
                  <a:latin typeface="Times New Roman" panose="02020603050405020304" pitchFamily="18" charset="0"/>
                </a:rPr>
                <a:t>的数目</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可以推测出分子的空间构型。</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additive="base">
                                        <p:cTn id="7" dur="1000" fill="hold"/>
                                        <p:tgtEl>
                                          <p:spTgt spid="77827"/>
                                        </p:tgtEl>
                                        <p:attrNameLst>
                                          <p:attrName>ppt_x</p:attrName>
                                        </p:attrNameLst>
                                      </p:cBhvr>
                                      <p:tavLst>
                                        <p:tav tm="0">
                                          <p:val>
                                            <p:strVal val="#ppt_x"/>
                                          </p:val>
                                        </p:tav>
                                        <p:tav tm="100000">
                                          <p:val>
                                            <p:strVal val="#ppt_x"/>
                                          </p:val>
                                        </p:tav>
                                      </p:tavLst>
                                    </p:anim>
                                    <p:anim calcmode="lin" valueType="num">
                                      <p:cBhvr additive="base">
                                        <p:cTn id="8" dur="1000" fill="hold"/>
                                        <p:tgtEl>
                                          <p:spTgt spid="778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p:cNvSpPr txBox="1"/>
          <p:nvPr/>
        </p:nvSpPr>
        <p:spPr>
          <a:xfrm>
            <a:off x="152400" y="76200"/>
            <a:ext cx="5257800" cy="492125"/>
          </a:xfrm>
          <a:prstGeom prst="rect">
            <a:avLst/>
          </a:prstGeom>
          <a:noFill/>
          <a:ln w="9525">
            <a:noFill/>
          </a:ln>
        </p:spPr>
        <p:txBody>
          <a:bodyPr>
            <a:spAutoFit/>
          </a:bodyPr>
          <a:lstStyle/>
          <a:p>
            <a:pPr algn="l"/>
            <a:r>
              <a:rPr lang="zh-CN" altLang="en-US" sz="2600" i="0" dirty="0">
                <a:solidFill>
                  <a:srgbClr val="C00000"/>
                </a:solidFill>
                <a:latin typeface="Times New Roman" panose="02020603050405020304" pitchFamily="18" charset="0"/>
              </a:rPr>
              <a:t>二、  分子形状的确定方法</a:t>
            </a:r>
          </a:p>
        </p:txBody>
      </p:sp>
      <p:grpSp>
        <p:nvGrpSpPr>
          <p:cNvPr id="2" name="组合 6"/>
          <p:cNvGrpSpPr/>
          <p:nvPr/>
        </p:nvGrpSpPr>
        <p:grpSpPr>
          <a:xfrm>
            <a:off x="609600" y="838200"/>
            <a:ext cx="7467600" cy="1614488"/>
            <a:chOff x="609600" y="914400"/>
            <a:chExt cx="7467600" cy="1615003"/>
          </a:xfrm>
        </p:grpSpPr>
        <p:sp>
          <p:nvSpPr>
            <p:cNvPr id="11275" name="Text Box 12"/>
            <p:cNvSpPr txBox="1"/>
            <p:nvPr/>
          </p:nvSpPr>
          <p:spPr>
            <a:xfrm>
              <a:off x="685800" y="914400"/>
              <a:ext cx="7315200" cy="488950"/>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首先先确定中心原子</a:t>
              </a:r>
              <a:r>
                <a:rPr lang="en-US" altLang="zh-CN" sz="2600" i="0" dirty="0">
                  <a:solidFill>
                    <a:schemeClr val="tx1"/>
                  </a:solidFill>
                  <a:latin typeface="Times New Roman" panose="02020603050405020304" pitchFamily="18" charset="0"/>
                </a:rPr>
                <a:t>A</a:t>
              </a:r>
              <a:r>
                <a:rPr lang="zh-CN" altLang="en-US" sz="2600" i="0" dirty="0">
                  <a:solidFill>
                    <a:schemeClr val="tx1"/>
                  </a:solidFill>
                  <a:latin typeface="Times New Roman" panose="02020603050405020304" pitchFamily="18" charset="0"/>
                </a:rPr>
                <a:t>的价层电子对数</a:t>
              </a:r>
              <a:r>
                <a:rPr lang="en-US" altLang="zh-CN" sz="2600" i="0" dirty="0">
                  <a:solidFill>
                    <a:schemeClr val="tx1"/>
                  </a:solidFill>
                  <a:latin typeface="Times New Roman" panose="02020603050405020304" pitchFamily="18" charset="0"/>
                </a:rPr>
                <a:t>VP</a:t>
              </a:r>
            </a:p>
          </p:txBody>
        </p:sp>
        <p:sp>
          <p:nvSpPr>
            <p:cNvPr id="11276" name="Text Box 4"/>
            <p:cNvSpPr txBox="1"/>
            <p:nvPr/>
          </p:nvSpPr>
          <p:spPr>
            <a:xfrm>
              <a:off x="609600" y="1524000"/>
              <a:ext cx="7467600" cy="1005403"/>
            </a:xfrm>
            <a:prstGeom prst="rect">
              <a:avLst/>
            </a:prstGeom>
            <a:solidFill>
              <a:srgbClr val="FF99CC"/>
            </a:solidFill>
            <a:ln w="9525">
              <a:noFill/>
            </a:ln>
          </p:spPr>
          <p:txBody>
            <a:bodyPr>
              <a:spAutoFit/>
            </a:bodyPr>
            <a:lstStyle/>
            <a:p>
              <a:pPr algn="l">
                <a:lnSpc>
                  <a:spcPts val="4000"/>
                </a:lnSpc>
              </a:pPr>
              <a:r>
                <a:rPr lang="en-US" altLang="zh-CN" sz="2600" i="0" dirty="0">
                  <a:solidFill>
                    <a:schemeClr val="tx1"/>
                  </a:solidFill>
                  <a:latin typeface="Times New Roman" panose="02020603050405020304" pitchFamily="18" charset="0"/>
                </a:rPr>
                <a:t>    VPN = 1/2[A</a:t>
              </a:r>
              <a:r>
                <a:rPr lang="zh-CN" altLang="en-US" sz="2600" i="0" dirty="0">
                  <a:solidFill>
                    <a:schemeClr val="tx1"/>
                  </a:solidFill>
                  <a:latin typeface="Times New Roman" panose="02020603050405020304" pitchFamily="18" charset="0"/>
                </a:rPr>
                <a:t>的价电子数 </a:t>
              </a:r>
              <a:r>
                <a:rPr lang="en-US" altLang="zh-CN" sz="2600" i="0" dirty="0">
                  <a:solidFill>
                    <a:schemeClr val="tx1"/>
                  </a:solidFill>
                  <a:latin typeface="Times New Roman" panose="02020603050405020304" pitchFamily="18" charset="0"/>
                </a:rPr>
                <a:t>+ B</a:t>
              </a:r>
              <a:r>
                <a:rPr lang="zh-CN" altLang="en-US" sz="2600" i="0" dirty="0">
                  <a:solidFill>
                    <a:schemeClr val="tx1"/>
                  </a:solidFill>
                  <a:latin typeface="Times New Roman" panose="02020603050405020304" pitchFamily="18" charset="0"/>
                </a:rPr>
                <a:t>提供的价电子数 </a:t>
              </a:r>
            </a:p>
            <a:p>
              <a:pPr algn="l"/>
              <a:r>
                <a:rPr lang="zh-CN" altLang="en-US"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离子电荷数</a:t>
              </a:r>
              <a:r>
                <a:rPr lang="en-US" altLang="zh-CN" sz="2600" i="0" dirty="0">
                  <a:solidFill>
                    <a:schemeClr val="tx1"/>
                  </a:solidFill>
                  <a:latin typeface="Times New Roman" panose="02020603050405020304" pitchFamily="18" charset="0"/>
                </a:rPr>
                <a:t>]</a:t>
              </a:r>
            </a:p>
          </p:txBody>
        </p:sp>
      </p:grpSp>
      <p:sp>
        <p:nvSpPr>
          <p:cNvPr id="14" name="矩形 13"/>
          <p:cNvSpPr/>
          <p:nvPr/>
        </p:nvSpPr>
        <p:spPr>
          <a:xfrm>
            <a:off x="381000" y="4267200"/>
            <a:ext cx="8405842" cy="830997"/>
          </a:xfrm>
          <a:prstGeom prst="rect">
            <a:avLst/>
          </a:prstGeom>
          <a:noFill/>
          <a:ln w="9525">
            <a:noFill/>
          </a:ln>
        </p:spPr>
        <p:txBody>
          <a:bodyPr wrap="square">
            <a:spAutoFit/>
          </a:bodyPr>
          <a:lstStyle/>
          <a:p>
            <a:pPr algn="l"/>
            <a:r>
              <a:rPr lang="en-US" altLang="zh-CN" i="0" dirty="0" smtClean="0">
                <a:solidFill>
                  <a:srgbClr val="C00000"/>
                </a:solidFill>
                <a:latin typeface="Times New Roman" panose="02020603050405020304" pitchFamily="18" charset="0"/>
              </a:rPr>
              <a:t>        2</a:t>
            </a:r>
            <a:r>
              <a:rPr lang="en-US" altLang="zh-CN" i="0" dirty="0">
                <a:solidFill>
                  <a:srgbClr val="C00000"/>
                </a:solidFill>
                <a:latin typeface="Times New Roman" panose="02020603050405020304" pitchFamily="18" charset="0"/>
              </a:rPr>
              <a:t>)</a:t>
            </a:r>
            <a:r>
              <a:rPr lang="zh-CN" altLang="en-US" i="0" dirty="0">
                <a:solidFill>
                  <a:schemeClr val="tx1"/>
                </a:solidFill>
                <a:latin typeface="Times New Roman" panose="02020603050405020304" pitchFamily="18" charset="0"/>
              </a:rPr>
              <a:t>一般情况下，</a:t>
            </a:r>
            <a:r>
              <a:rPr lang="en-US" altLang="zh-CN" i="0" dirty="0">
                <a:solidFill>
                  <a:schemeClr val="tx1"/>
                </a:solidFill>
                <a:latin typeface="Times New Roman" panose="02020603050405020304" pitchFamily="18" charset="0"/>
              </a:rPr>
              <a:t>A</a:t>
            </a:r>
            <a:r>
              <a:rPr lang="zh-CN" altLang="en-US" i="0" dirty="0">
                <a:solidFill>
                  <a:schemeClr val="tx1"/>
                </a:solidFill>
                <a:latin typeface="Times New Roman" panose="02020603050405020304" pitchFamily="18" charset="0"/>
              </a:rPr>
              <a:t>既是主族元素，也是</a:t>
            </a:r>
            <a:r>
              <a:rPr lang="en-US" altLang="zh-CN" i="0" dirty="0">
                <a:solidFill>
                  <a:schemeClr val="tx1"/>
                </a:solidFill>
                <a:latin typeface="Times New Roman" panose="02020603050405020304" pitchFamily="18" charset="0"/>
              </a:rPr>
              <a:t>P</a:t>
            </a:r>
            <a:r>
              <a:rPr lang="zh-CN" altLang="en-US" i="0" dirty="0">
                <a:solidFill>
                  <a:schemeClr val="tx1"/>
                </a:solidFill>
                <a:latin typeface="Times New Roman" panose="02020603050405020304" pitchFamily="18" charset="0"/>
              </a:rPr>
              <a:t>区元素</a:t>
            </a:r>
            <a:r>
              <a:rPr lang="en-US" altLang="zh-CN" i="0" dirty="0">
                <a:solidFill>
                  <a:schemeClr val="tx1"/>
                </a:solidFill>
                <a:latin typeface="Times New Roman" panose="02020603050405020304" pitchFamily="18" charset="0"/>
              </a:rPr>
              <a:t>——</a:t>
            </a:r>
            <a:r>
              <a:rPr lang="zh-CN" altLang="en-US" i="0" dirty="0">
                <a:solidFill>
                  <a:schemeClr val="tx1"/>
                </a:solidFill>
                <a:latin typeface="Times New Roman" panose="02020603050405020304" pitchFamily="18" charset="0"/>
              </a:rPr>
              <a:t>价电子</a:t>
            </a:r>
            <a:r>
              <a:rPr lang="zh-CN" altLang="en-US" i="0" dirty="0" smtClean="0">
                <a:solidFill>
                  <a:schemeClr val="tx1"/>
                </a:solidFill>
                <a:latin typeface="Times New Roman" panose="02020603050405020304" pitchFamily="18" charset="0"/>
              </a:rPr>
              <a:t>数</a:t>
            </a:r>
            <a:r>
              <a:rPr lang="en-US" altLang="zh-CN" i="0" dirty="0" smtClean="0">
                <a:solidFill>
                  <a:schemeClr val="tx1"/>
                </a:solidFill>
                <a:latin typeface="Times New Roman" panose="02020603050405020304" pitchFamily="18" charset="0"/>
              </a:rPr>
              <a:t>=</a:t>
            </a:r>
            <a:r>
              <a:rPr lang="zh-CN" altLang="en-US" i="0" dirty="0">
                <a:solidFill>
                  <a:schemeClr val="tx1"/>
                </a:solidFill>
                <a:latin typeface="Times New Roman" panose="02020603050405020304" pitchFamily="18" charset="0"/>
              </a:rPr>
              <a:t>最外层电子数；</a:t>
            </a:r>
            <a:r>
              <a:rPr lang="en-US" altLang="zh-CN" i="0" dirty="0">
                <a:solidFill>
                  <a:schemeClr val="tx1"/>
                </a:solidFill>
                <a:latin typeface="Times New Roman" panose="02020603050405020304" pitchFamily="18" charset="0"/>
              </a:rPr>
              <a:t>B</a:t>
            </a:r>
            <a:r>
              <a:rPr lang="zh-CN" altLang="en-US" i="0" dirty="0">
                <a:solidFill>
                  <a:schemeClr val="tx1"/>
                </a:solidFill>
                <a:latin typeface="Times New Roman" panose="02020603050405020304" pitchFamily="18" charset="0"/>
              </a:rPr>
              <a:t>提供的价电子数</a:t>
            </a:r>
            <a:r>
              <a:rPr lang="en-US" altLang="zh-CN" i="0" dirty="0">
                <a:solidFill>
                  <a:schemeClr val="tx1"/>
                </a:solidFill>
                <a:latin typeface="Times New Roman" panose="02020603050405020304" pitchFamily="18" charset="0"/>
              </a:rPr>
              <a:t>=B</a:t>
            </a:r>
            <a:r>
              <a:rPr lang="zh-CN" altLang="en-US" i="0" dirty="0">
                <a:solidFill>
                  <a:schemeClr val="tx1"/>
                </a:solidFill>
                <a:latin typeface="Times New Roman" panose="02020603050405020304" pitchFamily="18" charset="0"/>
              </a:rPr>
              <a:t>的个数（即共价键） </a:t>
            </a:r>
            <a:endParaRPr lang="zh-CN" altLang="en-US" i="0" dirty="0">
              <a:latin typeface="Times New Roman" panose="02020603050405020304" pitchFamily="18" charset="0"/>
            </a:endParaRPr>
          </a:p>
        </p:txBody>
      </p:sp>
      <p:grpSp>
        <p:nvGrpSpPr>
          <p:cNvPr id="13" name="组合 12"/>
          <p:cNvGrpSpPr/>
          <p:nvPr/>
        </p:nvGrpSpPr>
        <p:grpSpPr>
          <a:xfrm>
            <a:off x="685800" y="2765425"/>
            <a:ext cx="7848600" cy="1381125"/>
            <a:chOff x="685800" y="2765425"/>
            <a:chExt cx="7848600" cy="1381125"/>
          </a:xfrm>
        </p:grpSpPr>
        <p:grpSp>
          <p:nvGrpSpPr>
            <p:cNvPr id="15" name="组合 7"/>
            <p:cNvGrpSpPr/>
            <p:nvPr/>
          </p:nvGrpSpPr>
          <p:grpSpPr>
            <a:xfrm>
              <a:off x="762000" y="2819400"/>
              <a:ext cx="7772400" cy="1327150"/>
              <a:chOff x="914400" y="1295400"/>
              <a:chExt cx="7772400" cy="1327150"/>
            </a:xfrm>
            <a:noFill/>
          </p:grpSpPr>
        </p:grpSp>
        <p:grpSp>
          <p:nvGrpSpPr>
            <p:cNvPr id="8" name="组合 7"/>
            <p:cNvGrpSpPr/>
            <p:nvPr/>
          </p:nvGrpSpPr>
          <p:grpSpPr>
            <a:xfrm>
              <a:off x="1371600" y="2765425"/>
              <a:ext cx="5638800" cy="685800"/>
              <a:chOff x="1008" y="816"/>
              <a:chExt cx="3552" cy="432"/>
            </a:xfrm>
          </p:grpSpPr>
          <p:sp>
            <p:nvSpPr>
              <p:cNvPr id="10" name="文本框 79877"/>
              <p:cNvSpPr txBox="1"/>
              <p:nvPr/>
            </p:nvSpPr>
            <p:spPr>
              <a:xfrm>
                <a:off x="1008" y="864"/>
                <a:ext cx="3552" cy="308"/>
              </a:xfrm>
              <a:prstGeom prst="rect">
                <a:avLst/>
              </a:prstGeom>
              <a:noFill/>
              <a:ln w="9525">
                <a:noFill/>
              </a:ln>
            </p:spPr>
            <p:txBody>
              <a:bodyPr>
                <a:spAutoFit/>
              </a:bodyPr>
              <a:lstStyle>
                <a:defPPr>
                  <a:defRPr lang="zh-CN"/>
                </a:defPPr>
                <a:lvl1pPr marL="0" lvl="0"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1pPr>
                <a:lvl2pPr marL="457200" lvl="1"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2pPr>
                <a:lvl3pPr marL="914400" lvl="2"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3pPr>
                <a:lvl4pPr marL="1371600" lvl="3"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4pPr>
                <a:lvl5pPr marL="1828800" lvl="4"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5pPr>
                <a:lvl6pPr marL="2286000" lvl="5"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6pPr>
                <a:lvl7pPr marL="2743200" lvl="6"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7pPr>
                <a:lvl8pPr marL="3200400" lvl="7"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8pPr>
                <a:lvl9pPr marL="3657600" lvl="8"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9pPr>
              </a:lstStyle>
              <a:p>
                <a:pPr algn="l"/>
                <a:r>
                  <a:rPr lang="zh-CN" altLang="en-US" sz="2600" i="0" dirty="0">
                    <a:solidFill>
                      <a:schemeClr val="tx1"/>
                    </a:solidFill>
                    <a:latin typeface="Times New Roman" panose="02020603050405020304" pitchFamily="18" charset="0"/>
                    <a:ea typeface="宋体" panose="02010600030101010101" pitchFamily="2" charset="-122"/>
                  </a:rPr>
                  <a:t>例</a:t>
                </a:r>
                <a:r>
                  <a:rPr lang="en-US" altLang="zh-CN" sz="2600" i="0" dirty="0">
                    <a:solidFill>
                      <a:schemeClr val="tx1"/>
                    </a:solidFill>
                    <a:latin typeface="Times New Roman" panose="02020603050405020304" pitchFamily="18" charset="0"/>
                    <a:ea typeface="宋体" panose="02010600030101010101" pitchFamily="2" charset="-122"/>
                  </a:rPr>
                  <a:t>: VP(           )  =        (6+4×0+2) = 4</a:t>
                </a:r>
              </a:p>
            </p:txBody>
          </p:sp>
          <p:pic>
            <p:nvPicPr>
              <p:cNvPr id="11" name="图片 10"/>
              <p:cNvPicPr/>
              <p:nvPr/>
            </p:nvPicPr>
            <p:blipFill>
              <a:blip r:embed="rId2">
                <a:clrChange>
                  <a:clrFrom>
                    <a:srgbClr val="000000"/>
                  </a:clrFrom>
                  <a:clrTo>
                    <a:srgbClr val="FFFF00"/>
                  </a:clrTo>
                </a:clrChange>
              </a:blip>
              <a:stretch>
                <a:fillRect/>
              </a:stretch>
            </p:blipFill>
            <p:spPr>
              <a:xfrm>
                <a:off x="1776" y="816"/>
                <a:ext cx="544" cy="384"/>
              </a:xfrm>
              <a:prstGeom prst="rect">
                <a:avLst/>
              </a:prstGeom>
              <a:solidFill>
                <a:srgbClr val="008000"/>
              </a:solidFill>
              <a:ln w="38100">
                <a:noFill/>
                <a:miter/>
              </a:ln>
            </p:spPr>
          </p:pic>
          <p:pic>
            <p:nvPicPr>
              <p:cNvPr id="12" name="图片 11"/>
              <p:cNvPicPr/>
              <p:nvPr/>
            </p:nvPicPr>
            <p:blipFill>
              <a:blip r:embed="rId3">
                <a:clrChange>
                  <a:clrFrom>
                    <a:srgbClr val="000000"/>
                  </a:clrFrom>
                  <a:clrTo>
                    <a:srgbClr val="FFFF00"/>
                  </a:clrTo>
                </a:clrChange>
              </a:blip>
              <a:stretch>
                <a:fillRect/>
              </a:stretch>
            </p:blipFill>
            <p:spPr>
              <a:xfrm>
                <a:off x="2736" y="816"/>
                <a:ext cx="288" cy="432"/>
              </a:xfrm>
              <a:prstGeom prst="rect">
                <a:avLst/>
              </a:prstGeom>
              <a:solidFill>
                <a:srgbClr val="008000"/>
              </a:solidFill>
              <a:ln w="38100">
                <a:noFill/>
                <a:miter/>
              </a:ln>
            </p:spPr>
          </p:pic>
        </p:grpSp>
        <p:sp>
          <p:nvSpPr>
            <p:cNvPr id="9" name="矩形 8"/>
            <p:cNvSpPr/>
            <p:nvPr/>
          </p:nvSpPr>
          <p:spPr>
            <a:xfrm>
              <a:off x="685800" y="3603625"/>
              <a:ext cx="7772400" cy="488950"/>
            </a:xfrm>
            <a:prstGeom prst="rect">
              <a:avLst/>
            </a:prstGeom>
            <a:noFill/>
            <a:ln w="12700">
              <a:noFill/>
            </a:ln>
          </p:spPr>
          <p:txBody>
            <a:bodyPr>
              <a:spAutoFit/>
            </a:bodyPr>
            <a:lstStyle>
              <a:defPPr>
                <a:defRPr lang="zh-CN"/>
              </a:defPPr>
              <a:lvl1pPr marL="0" lvl="0"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1pPr>
              <a:lvl2pPr marL="457200" lvl="1"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2pPr>
              <a:lvl3pPr marL="914400" lvl="2"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3pPr>
              <a:lvl4pPr marL="1371600" lvl="3"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4pPr>
              <a:lvl5pPr marL="1828800" lvl="4"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5pPr>
              <a:lvl6pPr marL="2286000" lvl="5"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6pPr>
              <a:lvl7pPr marL="2743200" lvl="6"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7pPr>
              <a:lvl8pPr marL="3200400" lvl="7"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8pPr>
              <a:lvl9pPr marL="3657600" lvl="8" indent="0" algn="ctr" defTabSz="914400" rtl="0" eaLnBrk="1" fontAlgn="base" latinLnBrk="0" hangingPunct="1">
                <a:lnSpc>
                  <a:spcPct val="100000"/>
                </a:lnSpc>
                <a:spcBef>
                  <a:spcPct val="0"/>
                </a:spcBef>
                <a:spcAft>
                  <a:spcPct val="0"/>
                </a:spcAft>
                <a:buNone/>
                <a:defRPr sz="2400" b="1" i="1" u="none" kern="1200" baseline="0">
                  <a:solidFill>
                    <a:srgbClr val="00FF00"/>
                  </a:solidFill>
                  <a:latin typeface="Times New Roman" panose="02020603050405020304" pitchFamily="18" charset="0"/>
                  <a:ea typeface="楷体_GB2312" pitchFamily="49" charset="-122"/>
                  <a:cs typeface="+mn-cs"/>
                </a:defRPr>
              </a:lvl9pPr>
            </a:lstStyle>
            <a:p>
              <a:pPr algn="l" eaLnBrk="0" hangingPunct="0"/>
              <a:r>
                <a:rPr lang="en-US" altLang="zh-CN" sz="2600" i="0" dirty="0">
                  <a:solidFill>
                    <a:schemeClr val="tx1"/>
                  </a:solidFill>
                  <a:latin typeface="Times New Roman" panose="02020603050405020304" pitchFamily="18" charset="0"/>
                  <a:ea typeface="楷体_GB2312" pitchFamily="49" charset="-122"/>
                </a:rPr>
                <a:t>     </a:t>
              </a:r>
              <a:r>
                <a:rPr lang="zh-CN" altLang="en-US" sz="2600" i="0" dirty="0">
                  <a:solidFill>
                    <a:schemeClr val="tx1"/>
                  </a:solidFill>
                  <a:latin typeface="Times New Roman" panose="02020603050405020304" pitchFamily="18" charset="0"/>
                  <a:ea typeface="楷体_GB2312" pitchFamily="49" charset="-122"/>
                </a:rPr>
                <a:t>注： </a:t>
              </a:r>
              <a:r>
                <a:rPr lang="en-US" altLang="zh-CN" sz="2600" dirty="0">
                  <a:solidFill>
                    <a:srgbClr val="C00000"/>
                  </a:solidFill>
                  <a:latin typeface="Times New Roman" panose="02020603050405020304" pitchFamily="18" charset="0"/>
                  <a:ea typeface="楷体_GB2312" pitchFamily="49" charset="-122"/>
                </a:rPr>
                <a:t>O</a:t>
              </a:r>
              <a:r>
                <a:rPr lang="zh-CN" altLang="en-US" sz="2600" dirty="0">
                  <a:solidFill>
                    <a:srgbClr val="C00000"/>
                  </a:solidFill>
                  <a:latin typeface="Times New Roman" panose="02020603050405020304" pitchFamily="18" charset="0"/>
                  <a:ea typeface="楷体_GB2312" pitchFamily="49" charset="-122"/>
                </a:rPr>
                <a:t>、</a:t>
              </a:r>
              <a:r>
                <a:rPr lang="en-US" altLang="zh-CN" sz="2600" dirty="0">
                  <a:solidFill>
                    <a:srgbClr val="C00000"/>
                  </a:solidFill>
                  <a:latin typeface="Times New Roman" panose="02020603050405020304" pitchFamily="18" charset="0"/>
                  <a:ea typeface="楷体_GB2312" pitchFamily="49" charset="-122"/>
                </a:rPr>
                <a:t>S</a:t>
              </a:r>
              <a:r>
                <a:rPr lang="zh-CN" altLang="en-US" sz="2600" dirty="0">
                  <a:solidFill>
                    <a:srgbClr val="C00000"/>
                  </a:solidFill>
                  <a:latin typeface="Times New Roman" panose="02020603050405020304" pitchFamily="18" charset="0"/>
                  <a:ea typeface="楷体_GB2312" pitchFamily="49" charset="-122"/>
                </a:rPr>
                <a:t>作为配位原子所提供的价电子数为</a:t>
              </a:r>
              <a:r>
                <a:rPr lang="en-US" altLang="zh-CN" sz="2600" dirty="0">
                  <a:solidFill>
                    <a:srgbClr val="C00000"/>
                  </a:solidFill>
                  <a:latin typeface="Times New Roman" panose="02020603050405020304" pitchFamily="18" charset="0"/>
                  <a:ea typeface="楷体_GB2312" pitchFamily="49" charset="-122"/>
                </a:rPr>
                <a:t>0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Text Box 14"/>
          <p:cNvSpPr txBox="1"/>
          <p:nvPr/>
        </p:nvSpPr>
        <p:spPr>
          <a:xfrm>
            <a:off x="1219200" y="228600"/>
            <a:ext cx="6172200" cy="1892300"/>
          </a:xfrm>
          <a:prstGeom prst="rect">
            <a:avLst/>
          </a:prstGeom>
          <a:noFill/>
          <a:ln w="12700">
            <a:noFill/>
          </a:ln>
        </p:spPr>
        <p:txBody>
          <a:bodyPr>
            <a:spAutoFit/>
          </a:bodyPr>
          <a:lstStyle/>
          <a:p>
            <a:pPr algn="l" eaLnBrk="0" hangingPunct="0">
              <a:lnSpc>
                <a:spcPct val="115000"/>
              </a:lnSpc>
            </a:pPr>
            <a:r>
              <a:rPr lang="zh-CN" altLang="en-US" sz="2600" i="0" dirty="0">
                <a:solidFill>
                  <a:schemeClr val="tx1"/>
                </a:solidFill>
                <a:latin typeface="Times New Roman" panose="02020603050405020304" pitchFamily="18" charset="0"/>
                <a:ea typeface="宋体" panose="02010600030101010101" pitchFamily="2" charset="-122"/>
              </a:rPr>
              <a:t>例</a:t>
            </a:r>
            <a:r>
              <a:rPr lang="zh-CN" altLang="en-US" sz="2600" b="0" i="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XeF</a:t>
            </a:r>
            <a:r>
              <a:rPr lang="en-US" altLang="zh-CN" sz="2600" i="0" baseline="-25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        (8+2×1)/2 = 5        </a:t>
            </a:r>
          </a:p>
          <a:p>
            <a:pPr algn="l" eaLnBrk="0" hangingPunct="0">
              <a:lnSpc>
                <a:spcPct val="115000"/>
              </a:lnSpc>
            </a:pPr>
            <a:r>
              <a:rPr lang="en-US" altLang="zh-CN" sz="2600" i="0" dirty="0">
                <a:solidFill>
                  <a:schemeClr val="tx1"/>
                </a:solidFill>
                <a:latin typeface="Times New Roman" panose="02020603050405020304" pitchFamily="18" charset="0"/>
                <a:ea typeface="宋体" panose="02010600030101010101" pitchFamily="2" charset="-122"/>
              </a:rPr>
              <a:t>        XeF</a:t>
            </a:r>
            <a:r>
              <a:rPr lang="en-US" altLang="zh-CN" sz="2600" i="0" baseline="-25000" dirty="0">
                <a:solidFill>
                  <a:schemeClr val="tx1"/>
                </a:solidFill>
                <a:latin typeface="Times New Roman" panose="02020603050405020304" pitchFamily="18" charset="0"/>
                <a:ea typeface="宋体" panose="02010600030101010101" pitchFamily="2" charset="-122"/>
              </a:rPr>
              <a:t>4</a:t>
            </a:r>
            <a:r>
              <a:rPr lang="en-US" altLang="zh-CN" sz="2600" i="0" dirty="0">
                <a:solidFill>
                  <a:schemeClr val="tx1"/>
                </a:solidFill>
                <a:latin typeface="Times New Roman" panose="02020603050405020304" pitchFamily="18" charset="0"/>
                <a:ea typeface="宋体" panose="02010600030101010101" pitchFamily="2" charset="-122"/>
              </a:rPr>
              <a:t>        (8+4×1)/2 = 6</a:t>
            </a:r>
          </a:p>
          <a:p>
            <a:pPr algn="l" eaLnBrk="0" hangingPunct="0">
              <a:lnSpc>
                <a:spcPct val="115000"/>
              </a:lnSpc>
            </a:pPr>
            <a:r>
              <a:rPr lang="en-US" altLang="zh-CN" sz="2600" i="0" dirty="0">
                <a:solidFill>
                  <a:schemeClr val="tx1"/>
                </a:solidFill>
                <a:latin typeface="Times New Roman" panose="02020603050405020304" pitchFamily="18" charset="0"/>
                <a:ea typeface="宋体" panose="02010600030101010101" pitchFamily="2" charset="-122"/>
              </a:rPr>
              <a:t>        XeOF</a:t>
            </a:r>
            <a:r>
              <a:rPr lang="en-US" altLang="zh-CN" sz="2600" i="0" baseline="-25000" dirty="0">
                <a:solidFill>
                  <a:schemeClr val="tx1"/>
                </a:solidFill>
                <a:latin typeface="Times New Roman" panose="02020603050405020304" pitchFamily="18" charset="0"/>
                <a:ea typeface="宋体" panose="02010600030101010101" pitchFamily="2" charset="-122"/>
              </a:rPr>
              <a:t>4</a:t>
            </a:r>
            <a:r>
              <a:rPr lang="en-US" altLang="zh-CN" sz="2600" i="0" dirty="0">
                <a:solidFill>
                  <a:schemeClr val="tx1"/>
                </a:solidFill>
                <a:latin typeface="Times New Roman" panose="02020603050405020304" pitchFamily="18" charset="0"/>
                <a:ea typeface="宋体" panose="02010600030101010101" pitchFamily="2" charset="-122"/>
              </a:rPr>
              <a:t>      (8+4)/2 = 6      </a:t>
            </a:r>
          </a:p>
          <a:p>
            <a:pPr algn="l" eaLnBrk="0" hangingPunct="0">
              <a:lnSpc>
                <a:spcPct val="115000"/>
              </a:lnSpc>
            </a:pPr>
            <a:r>
              <a:rPr lang="en-US" altLang="zh-CN" sz="2600" i="0" dirty="0">
                <a:solidFill>
                  <a:schemeClr val="tx1"/>
                </a:solidFill>
                <a:latin typeface="Times New Roman" panose="02020603050405020304" pitchFamily="18" charset="0"/>
                <a:ea typeface="宋体" panose="02010600030101010101" pitchFamily="2" charset="-122"/>
              </a:rPr>
              <a:t>        XeO</a:t>
            </a:r>
            <a:r>
              <a:rPr lang="en-US" altLang="zh-CN" sz="2600" i="0" baseline="-25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F</a:t>
            </a:r>
            <a:r>
              <a:rPr lang="en-US" altLang="zh-CN" sz="2600" i="0" baseline="-25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     (8+2)/2 = 5</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0418" name="组合 30"/>
          <p:cNvGrpSpPr/>
          <p:nvPr/>
        </p:nvGrpSpPr>
        <p:grpSpPr>
          <a:xfrm>
            <a:off x="152400" y="152400"/>
            <a:ext cx="8839200" cy="5943600"/>
            <a:chOff x="0" y="762000"/>
            <a:chExt cx="9144000" cy="5943600"/>
          </a:xfrm>
        </p:grpSpPr>
        <p:sp>
          <p:nvSpPr>
            <p:cNvPr id="60419" name="Rectangle 5"/>
            <p:cNvSpPr/>
            <p:nvPr/>
          </p:nvSpPr>
          <p:spPr>
            <a:xfrm>
              <a:off x="0" y="1447800"/>
              <a:ext cx="854721" cy="492443"/>
            </a:xfrm>
            <a:prstGeom prst="rect">
              <a:avLst/>
            </a:prstGeom>
            <a:noFill/>
            <a:ln w="9525">
              <a:noFill/>
            </a:ln>
          </p:spPr>
          <p:txBody>
            <a:bodyPr wrap="none">
              <a:spAutoFit/>
            </a:bodyPr>
            <a:lstStyle/>
            <a:p>
              <a:pPr eaLnBrk="0" hangingPunct="0"/>
              <a:r>
                <a:rPr lang="zh-CN" altLang="en-US" sz="2600" i="0" dirty="0">
                  <a:solidFill>
                    <a:schemeClr val="tx1"/>
                  </a:solidFill>
                  <a:latin typeface="Times New Roman" panose="02020603050405020304" pitchFamily="18" charset="0"/>
                </a:rPr>
                <a:t>通式</a:t>
              </a:r>
            </a:p>
          </p:txBody>
        </p:sp>
        <p:sp>
          <p:nvSpPr>
            <p:cNvPr id="60420" name="Rectangle 6"/>
            <p:cNvSpPr/>
            <p:nvPr/>
          </p:nvSpPr>
          <p:spPr>
            <a:xfrm>
              <a:off x="1024759" y="1295400"/>
              <a:ext cx="1298575" cy="692497"/>
            </a:xfrm>
            <a:prstGeom prst="rect">
              <a:avLst/>
            </a:prstGeom>
            <a:noFill/>
            <a:ln w="9525">
              <a:noFill/>
            </a:ln>
          </p:spPr>
          <p:txBody>
            <a:bodyPr>
              <a:spAutoFit/>
            </a:bodyPr>
            <a:lstStyle/>
            <a:p>
              <a:pPr eaLnBrk="0" hangingPunct="0">
                <a:lnSpc>
                  <a:spcPct val="50000"/>
                </a:lnSpc>
                <a:spcBef>
                  <a:spcPct val="50000"/>
                </a:spcBef>
              </a:pPr>
              <a:r>
                <a:rPr lang="zh-CN" altLang="en-US" sz="2600" i="0" dirty="0">
                  <a:solidFill>
                    <a:schemeClr val="tx1"/>
                  </a:solidFill>
                  <a:latin typeface="Times New Roman" panose="02020603050405020304" pitchFamily="18" charset="0"/>
                </a:rPr>
                <a:t>共用</a:t>
              </a:r>
            </a:p>
            <a:p>
              <a:pPr eaLnBrk="0" hangingPunct="0">
                <a:lnSpc>
                  <a:spcPct val="50000"/>
                </a:lnSpc>
                <a:spcBef>
                  <a:spcPct val="50000"/>
                </a:spcBef>
              </a:pPr>
              <a:r>
                <a:rPr lang="zh-CN" altLang="en-US" sz="2600" i="0" dirty="0">
                  <a:solidFill>
                    <a:schemeClr val="tx1"/>
                  </a:solidFill>
                  <a:latin typeface="Times New Roman" panose="02020603050405020304" pitchFamily="18" charset="0"/>
                </a:rPr>
                <a:t>电子对</a:t>
              </a:r>
            </a:p>
          </p:txBody>
        </p:sp>
        <p:sp>
          <p:nvSpPr>
            <p:cNvPr id="60421" name="Rectangle 7"/>
            <p:cNvSpPr/>
            <p:nvPr/>
          </p:nvSpPr>
          <p:spPr>
            <a:xfrm>
              <a:off x="2514600" y="1219200"/>
              <a:ext cx="5410200" cy="892552"/>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原子</a:t>
              </a:r>
              <a:r>
                <a:rPr lang="en-US" altLang="zh-CN" sz="2600" i="0" dirty="0">
                  <a:solidFill>
                    <a:schemeClr val="tx1"/>
                  </a:solidFill>
                  <a:latin typeface="Times New Roman" panose="02020603050405020304" pitchFamily="18" charset="0"/>
                </a:rPr>
                <a:t>B </a:t>
              </a:r>
              <a:r>
                <a:rPr lang="zh-CN" altLang="en-US" sz="2600" i="0" dirty="0">
                  <a:solidFill>
                    <a:schemeClr val="tx1"/>
                  </a:solidFill>
                  <a:latin typeface="Times New Roman" panose="02020603050405020304" pitchFamily="18" charset="0"/>
                </a:rPr>
                <a:t>在原子</a:t>
              </a:r>
              <a:r>
                <a:rPr lang="en-US" altLang="zh-CN" sz="2600" i="0" dirty="0">
                  <a:solidFill>
                    <a:schemeClr val="tx1"/>
                  </a:solidFill>
                  <a:latin typeface="Times New Roman" panose="02020603050405020304" pitchFamily="18" charset="0"/>
                </a:rPr>
                <a:t>A</a:t>
              </a:r>
              <a:r>
                <a:rPr lang="zh-CN" altLang="en-US" sz="2600" i="0" dirty="0">
                  <a:solidFill>
                    <a:schemeClr val="tx1"/>
                  </a:solidFill>
                  <a:latin typeface="Times New Roman" panose="02020603050405020304" pitchFamily="18" charset="0"/>
                </a:rPr>
                <a:t>周围的排列方式</a:t>
              </a:r>
            </a:p>
            <a:p>
              <a:pPr eaLnBrk="0" hangingPunct="0"/>
              <a:r>
                <a:rPr lang="zh-CN" altLang="en-US" sz="2600" i="0" dirty="0">
                  <a:solidFill>
                    <a:schemeClr val="tx1"/>
                  </a:solidFill>
                  <a:latin typeface="Times New Roman" panose="02020603050405020304" pitchFamily="18" charset="0"/>
                </a:rPr>
                <a:t> （理想的</a:t>
              </a:r>
              <a:r>
                <a:rPr lang="en-US" altLang="zh-CN" sz="2600" i="0" dirty="0">
                  <a:solidFill>
                    <a:schemeClr val="tx1"/>
                  </a:solidFill>
                  <a:latin typeface="Times New Roman" panose="02020603050405020304" pitchFamily="18" charset="0"/>
                </a:rPr>
                <a:t>BAB</a:t>
              </a:r>
              <a:r>
                <a:rPr lang="zh-CN" altLang="en-US" sz="2600" i="0" dirty="0">
                  <a:solidFill>
                    <a:schemeClr val="tx1"/>
                  </a:solidFill>
                  <a:latin typeface="Times New Roman" panose="02020603050405020304" pitchFamily="18" charset="0"/>
                </a:rPr>
                <a:t>键角）</a:t>
              </a:r>
            </a:p>
          </p:txBody>
        </p:sp>
        <p:sp>
          <p:nvSpPr>
            <p:cNvPr id="60422" name="Rectangle 8"/>
            <p:cNvSpPr/>
            <p:nvPr/>
          </p:nvSpPr>
          <p:spPr>
            <a:xfrm>
              <a:off x="8198069" y="1524000"/>
              <a:ext cx="854721" cy="492443"/>
            </a:xfrm>
            <a:prstGeom prst="rect">
              <a:avLst/>
            </a:prstGeom>
            <a:noFill/>
            <a:ln w="9525">
              <a:noFill/>
            </a:ln>
          </p:spPr>
          <p:txBody>
            <a:bodyPr wrap="none">
              <a:spAutoFit/>
            </a:bodyPr>
            <a:lstStyle/>
            <a:p>
              <a:pPr eaLnBrk="0" hangingPunct="0"/>
              <a:r>
                <a:rPr lang="zh-CN" altLang="en-US" sz="2600" i="0" dirty="0">
                  <a:solidFill>
                    <a:schemeClr val="tx1"/>
                  </a:solidFill>
                  <a:latin typeface="Times New Roman" panose="02020603050405020304" pitchFamily="18" charset="0"/>
                </a:rPr>
                <a:t>结构</a:t>
              </a:r>
            </a:p>
          </p:txBody>
        </p:sp>
        <p:sp>
          <p:nvSpPr>
            <p:cNvPr id="60423" name="Rectangle 9"/>
            <p:cNvSpPr/>
            <p:nvPr/>
          </p:nvSpPr>
          <p:spPr>
            <a:xfrm>
              <a:off x="533400" y="762000"/>
              <a:ext cx="7848600" cy="492443"/>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中心原子上</a:t>
              </a:r>
              <a:r>
                <a:rPr lang="zh-CN" altLang="en-US" sz="2600" dirty="0">
                  <a:solidFill>
                    <a:schemeClr val="tx1"/>
                  </a:solidFill>
                  <a:latin typeface="Times New Roman" panose="02020603050405020304" pitchFamily="18" charset="0"/>
                </a:rPr>
                <a:t>不含孤对电子</a:t>
              </a:r>
              <a:r>
                <a:rPr lang="zh-CN" altLang="en-US" sz="2600" i="0" dirty="0">
                  <a:solidFill>
                    <a:schemeClr val="tx1"/>
                  </a:solidFill>
                  <a:latin typeface="Times New Roman" panose="02020603050405020304" pitchFamily="18" charset="0"/>
                </a:rPr>
                <a:t>的共价分子的几何形状</a:t>
              </a:r>
            </a:p>
          </p:txBody>
        </p:sp>
        <p:sp>
          <p:nvSpPr>
            <p:cNvPr id="60424" name="Line 10"/>
            <p:cNvSpPr/>
            <p:nvPr/>
          </p:nvSpPr>
          <p:spPr>
            <a:xfrm>
              <a:off x="0" y="1219200"/>
              <a:ext cx="9144000" cy="0"/>
            </a:xfrm>
            <a:prstGeom prst="line">
              <a:avLst/>
            </a:prstGeom>
            <a:ln w="9525" cap="flat" cmpd="sng">
              <a:solidFill>
                <a:srgbClr val="00FF00"/>
              </a:solidFill>
              <a:prstDash val="solid"/>
              <a:headEnd type="none" w="med" len="med"/>
              <a:tailEnd type="none" w="med" len="med"/>
            </a:ln>
          </p:spPr>
        </p:sp>
        <p:sp>
          <p:nvSpPr>
            <p:cNvPr id="60425" name="Line 11"/>
            <p:cNvSpPr/>
            <p:nvPr/>
          </p:nvSpPr>
          <p:spPr>
            <a:xfrm>
              <a:off x="0" y="2133600"/>
              <a:ext cx="9144000" cy="0"/>
            </a:xfrm>
            <a:prstGeom prst="line">
              <a:avLst/>
            </a:prstGeom>
            <a:ln w="9525" cap="flat" cmpd="sng">
              <a:solidFill>
                <a:srgbClr val="00FF00"/>
              </a:solidFill>
              <a:prstDash val="solid"/>
              <a:headEnd type="none" w="med" len="med"/>
              <a:tailEnd type="none" w="med" len="med"/>
            </a:ln>
          </p:spPr>
        </p:sp>
        <p:sp>
          <p:nvSpPr>
            <p:cNvPr id="60426" name="Line 12"/>
            <p:cNvSpPr/>
            <p:nvPr/>
          </p:nvSpPr>
          <p:spPr>
            <a:xfrm>
              <a:off x="0" y="6705600"/>
              <a:ext cx="9144000" cy="0"/>
            </a:xfrm>
            <a:prstGeom prst="line">
              <a:avLst/>
            </a:prstGeom>
            <a:ln w="9525" cap="flat" cmpd="sng">
              <a:solidFill>
                <a:srgbClr val="00FF00"/>
              </a:solidFill>
              <a:prstDash val="solid"/>
              <a:headEnd type="none" w="med" len="med"/>
              <a:tailEnd type="none" w="med" len="med"/>
            </a:ln>
          </p:spPr>
        </p:sp>
        <p:sp>
          <p:nvSpPr>
            <p:cNvPr id="60427" name="Rectangle 13"/>
            <p:cNvSpPr/>
            <p:nvPr/>
          </p:nvSpPr>
          <p:spPr>
            <a:xfrm>
              <a:off x="1524000" y="2286000"/>
              <a:ext cx="488950" cy="492443"/>
            </a:xfrm>
            <a:prstGeom prst="rect">
              <a:avLst/>
            </a:prstGeom>
            <a:noFill/>
            <a:ln w="9525">
              <a:noFill/>
            </a:ln>
          </p:spPr>
          <p:txBody>
            <a:bodyPr>
              <a:spAutoFit/>
            </a:bodyPr>
            <a:lstStyle/>
            <a:p>
              <a:pPr eaLnBrk="0" hangingPunct="0"/>
              <a:r>
                <a:rPr lang="en-US" altLang="zh-CN" sz="2600" i="0" dirty="0">
                  <a:solidFill>
                    <a:schemeClr val="tx1"/>
                  </a:solidFill>
                  <a:latin typeface="Times New Roman" panose="02020603050405020304" pitchFamily="18" charset="0"/>
                </a:rPr>
                <a:t>2</a:t>
              </a:r>
            </a:p>
          </p:txBody>
        </p:sp>
        <p:sp>
          <p:nvSpPr>
            <p:cNvPr id="60428" name="Rectangle 14"/>
            <p:cNvSpPr/>
            <p:nvPr/>
          </p:nvSpPr>
          <p:spPr>
            <a:xfrm>
              <a:off x="2995448" y="2362200"/>
              <a:ext cx="2330669" cy="412421"/>
            </a:xfrm>
            <a:prstGeom prst="rect">
              <a:avLst/>
            </a:prstGeom>
            <a:noFill/>
            <a:ln w="9525">
              <a:noFill/>
            </a:ln>
          </p:spPr>
          <p:txBody>
            <a:bodyPr>
              <a:spAutoFit/>
            </a:bodyPr>
            <a:lstStyle/>
            <a:p>
              <a:pPr eaLnBrk="0" hangingPunct="0">
                <a:lnSpc>
                  <a:spcPct val="80000"/>
                </a:lnSpc>
                <a:spcBef>
                  <a:spcPct val="50000"/>
                </a:spcBef>
              </a:pPr>
              <a:r>
                <a:rPr lang="zh-CN" altLang="en-US" sz="2600" i="0" dirty="0">
                  <a:solidFill>
                    <a:schemeClr val="tx1"/>
                  </a:solidFill>
                  <a:latin typeface="Times New Roman" panose="02020603050405020304" pitchFamily="18" charset="0"/>
                </a:rPr>
                <a:t>直线</a:t>
              </a:r>
              <a:r>
                <a:rPr lang="en-US" altLang="zh-CN" sz="2600" i="0" dirty="0">
                  <a:solidFill>
                    <a:schemeClr val="tx1"/>
                  </a:solidFill>
                  <a:latin typeface="Times New Roman" panose="02020603050405020304" pitchFamily="18" charset="0"/>
                </a:rPr>
                <a:t>(180°)</a:t>
              </a:r>
            </a:p>
          </p:txBody>
        </p:sp>
        <p:sp>
          <p:nvSpPr>
            <p:cNvPr id="60429" name="Rectangle 15"/>
            <p:cNvSpPr/>
            <p:nvPr/>
          </p:nvSpPr>
          <p:spPr>
            <a:xfrm>
              <a:off x="7938" y="2286000"/>
              <a:ext cx="740908" cy="492443"/>
            </a:xfrm>
            <a:prstGeom prst="rect">
              <a:avLst/>
            </a:prstGeom>
            <a:noFill/>
            <a:ln w="9525">
              <a:noFill/>
            </a:ln>
          </p:spPr>
          <p:txBody>
            <a:bodyPr wrap="none">
              <a:spAutoFit/>
            </a:bodyPr>
            <a:lstStyle/>
            <a:p>
              <a:pPr eaLnBrk="0" hangingPunct="0"/>
              <a:r>
                <a:rPr lang="en-US" altLang="zh-CN" sz="2600" dirty="0">
                  <a:solidFill>
                    <a:schemeClr val="tx1"/>
                  </a:solidFill>
                  <a:latin typeface="Times New Roman" panose="02020603050405020304" pitchFamily="18" charset="0"/>
                </a:rPr>
                <a:t>AB</a:t>
              </a:r>
              <a:r>
                <a:rPr lang="en-US" altLang="zh-CN" sz="2600" baseline="-30000" dirty="0">
                  <a:solidFill>
                    <a:schemeClr val="tx1"/>
                  </a:solidFill>
                  <a:latin typeface="Times New Roman" panose="02020603050405020304" pitchFamily="18" charset="0"/>
                </a:rPr>
                <a:t>2</a:t>
              </a:r>
            </a:p>
          </p:txBody>
        </p:sp>
        <p:pic>
          <p:nvPicPr>
            <p:cNvPr id="60430" name="Picture 16" descr="tu3"/>
            <p:cNvPicPr>
              <a:picLocks noChangeAspect="1"/>
            </p:cNvPicPr>
            <p:nvPr/>
          </p:nvPicPr>
          <p:blipFill>
            <a:blip r:embed="rId3"/>
            <a:srcRect l="75363" t="10309" r="2899" b="83711"/>
            <a:stretch>
              <a:fillRect/>
            </a:stretch>
          </p:blipFill>
          <p:spPr>
            <a:xfrm>
              <a:off x="6705600" y="2227263"/>
              <a:ext cx="2057400" cy="384175"/>
            </a:xfrm>
            <a:prstGeom prst="rect">
              <a:avLst/>
            </a:prstGeom>
            <a:noFill/>
            <a:ln w="9525">
              <a:noFill/>
            </a:ln>
          </p:spPr>
        </p:pic>
        <p:sp>
          <p:nvSpPr>
            <p:cNvPr id="60431" name="Rectangle 17"/>
            <p:cNvSpPr/>
            <p:nvPr/>
          </p:nvSpPr>
          <p:spPr>
            <a:xfrm>
              <a:off x="0" y="3048000"/>
              <a:ext cx="1024759" cy="492443"/>
            </a:xfrm>
            <a:prstGeom prst="rect">
              <a:avLst/>
            </a:prstGeom>
            <a:noFill/>
            <a:ln w="9525">
              <a:noFill/>
            </a:ln>
          </p:spPr>
          <p:txBody>
            <a:bodyPr>
              <a:spAutoFit/>
            </a:bodyPr>
            <a:lstStyle/>
            <a:p>
              <a:pPr eaLnBrk="0" hangingPunct="0"/>
              <a:r>
                <a:rPr lang="en-US" altLang="zh-CN" sz="2600" dirty="0">
                  <a:solidFill>
                    <a:schemeClr val="tx1"/>
                  </a:solidFill>
                  <a:latin typeface="Times New Roman" panose="02020603050405020304" pitchFamily="18" charset="0"/>
                </a:rPr>
                <a:t>AB</a:t>
              </a:r>
              <a:r>
                <a:rPr lang="en-US" altLang="zh-CN" sz="2600" baseline="-30000" dirty="0">
                  <a:solidFill>
                    <a:schemeClr val="tx1"/>
                  </a:solidFill>
                  <a:latin typeface="Times New Roman" panose="02020603050405020304" pitchFamily="18" charset="0"/>
                </a:rPr>
                <a:t>3</a:t>
              </a:r>
            </a:p>
          </p:txBody>
        </p:sp>
        <p:sp>
          <p:nvSpPr>
            <p:cNvPr id="60432" name="Rectangle 18"/>
            <p:cNvSpPr/>
            <p:nvPr/>
          </p:nvSpPr>
          <p:spPr>
            <a:xfrm>
              <a:off x="1600200" y="3124200"/>
              <a:ext cx="351378" cy="492443"/>
            </a:xfrm>
            <a:prstGeom prst="rect">
              <a:avLst/>
            </a:prstGeom>
            <a:noFill/>
            <a:ln w="9525">
              <a:noFill/>
            </a:ln>
          </p:spPr>
          <p:txBody>
            <a:bodyPr wrap="none">
              <a:spAutoFit/>
            </a:bodyPr>
            <a:lstStyle/>
            <a:p>
              <a:pPr eaLnBrk="0" hangingPunct="0"/>
              <a:r>
                <a:rPr lang="en-US" altLang="zh-CN" sz="2600" i="0" dirty="0">
                  <a:solidFill>
                    <a:schemeClr val="tx1"/>
                  </a:solidFill>
                  <a:latin typeface="Times New Roman" panose="02020603050405020304" pitchFamily="18" charset="0"/>
                </a:rPr>
                <a:t>3</a:t>
              </a:r>
            </a:p>
          </p:txBody>
        </p:sp>
        <p:sp>
          <p:nvSpPr>
            <p:cNvPr id="60433" name="Rectangle 19"/>
            <p:cNvSpPr/>
            <p:nvPr/>
          </p:nvSpPr>
          <p:spPr>
            <a:xfrm>
              <a:off x="2758966" y="3276600"/>
              <a:ext cx="3263462" cy="412421"/>
            </a:xfrm>
            <a:prstGeom prst="rect">
              <a:avLst/>
            </a:prstGeom>
            <a:noFill/>
            <a:ln w="9525">
              <a:noFill/>
            </a:ln>
          </p:spPr>
          <p:txBody>
            <a:bodyPr>
              <a:spAutoFit/>
            </a:bodyPr>
            <a:lstStyle/>
            <a:p>
              <a:pPr eaLnBrk="0" hangingPunct="0">
                <a:lnSpc>
                  <a:spcPct val="80000"/>
                </a:lnSpc>
                <a:spcBef>
                  <a:spcPct val="50000"/>
                </a:spcBef>
              </a:pPr>
              <a:r>
                <a:rPr lang="zh-CN" altLang="en-US" sz="2600" i="0" dirty="0">
                  <a:solidFill>
                    <a:schemeClr val="tx1"/>
                  </a:solidFill>
                  <a:latin typeface="Times New Roman" panose="02020603050405020304" pitchFamily="18" charset="0"/>
                </a:rPr>
                <a:t>平面三角形</a:t>
              </a:r>
              <a:r>
                <a:rPr lang="en-US" altLang="zh-CN" sz="2600" i="0" dirty="0">
                  <a:solidFill>
                    <a:schemeClr val="tx1"/>
                  </a:solidFill>
                  <a:latin typeface="Times New Roman" panose="02020603050405020304" pitchFamily="18" charset="0"/>
                </a:rPr>
                <a:t>(120°)</a:t>
              </a:r>
            </a:p>
          </p:txBody>
        </p:sp>
        <p:pic>
          <p:nvPicPr>
            <p:cNvPr id="60434" name="Picture 20" descr="tu3"/>
            <p:cNvPicPr>
              <a:picLocks noChangeAspect="1"/>
            </p:cNvPicPr>
            <p:nvPr/>
          </p:nvPicPr>
          <p:blipFill>
            <a:blip r:embed="rId3"/>
            <a:srcRect l="81160" t="20772" r="2899" b="64279"/>
            <a:stretch>
              <a:fillRect/>
            </a:stretch>
          </p:blipFill>
          <p:spPr>
            <a:xfrm>
              <a:off x="6705600" y="2667000"/>
              <a:ext cx="2057400" cy="822325"/>
            </a:xfrm>
            <a:prstGeom prst="rect">
              <a:avLst/>
            </a:prstGeom>
            <a:noFill/>
            <a:ln w="9525">
              <a:noFill/>
            </a:ln>
          </p:spPr>
        </p:pic>
        <p:sp>
          <p:nvSpPr>
            <p:cNvPr id="60435" name="Rectangle 21"/>
            <p:cNvSpPr/>
            <p:nvPr/>
          </p:nvSpPr>
          <p:spPr>
            <a:xfrm>
              <a:off x="157655" y="3810000"/>
              <a:ext cx="740908" cy="492443"/>
            </a:xfrm>
            <a:prstGeom prst="rect">
              <a:avLst/>
            </a:prstGeom>
            <a:noFill/>
            <a:ln w="9525">
              <a:noFill/>
            </a:ln>
          </p:spPr>
          <p:txBody>
            <a:bodyPr wrap="none">
              <a:spAutoFit/>
            </a:bodyPr>
            <a:lstStyle/>
            <a:p>
              <a:pPr eaLnBrk="0" hangingPunct="0"/>
              <a:r>
                <a:rPr lang="en-US" altLang="zh-CN" sz="2600" dirty="0">
                  <a:solidFill>
                    <a:schemeClr val="tx1"/>
                  </a:solidFill>
                  <a:latin typeface="Times New Roman" panose="02020603050405020304" pitchFamily="18" charset="0"/>
                </a:rPr>
                <a:t>AB</a:t>
              </a:r>
              <a:r>
                <a:rPr lang="en-US" altLang="zh-CN" sz="2600" baseline="-30000" dirty="0">
                  <a:solidFill>
                    <a:schemeClr val="tx1"/>
                  </a:solidFill>
                  <a:latin typeface="Times New Roman" panose="02020603050405020304" pitchFamily="18" charset="0"/>
                </a:rPr>
                <a:t>4</a:t>
              </a:r>
            </a:p>
          </p:txBody>
        </p:sp>
        <p:sp>
          <p:nvSpPr>
            <p:cNvPr id="60436" name="Rectangle 22"/>
            <p:cNvSpPr/>
            <p:nvPr/>
          </p:nvSpPr>
          <p:spPr>
            <a:xfrm>
              <a:off x="1524000" y="3886200"/>
              <a:ext cx="351378" cy="492443"/>
            </a:xfrm>
            <a:prstGeom prst="rect">
              <a:avLst/>
            </a:prstGeom>
            <a:noFill/>
            <a:ln w="9525">
              <a:noFill/>
            </a:ln>
          </p:spPr>
          <p:txBody>
            <a:bodyPr wrap="none">
              <a:spAutoFit/>
            </a:bodyPr>
            <a:lstStyle/>
            <a:p>
              <a:pPr eaLnBrk="0" hangingPunct="0"/>
              <a:r>
                <a:rPr lang="en-US" altLang="zh-CN" sz="2600" i="0" dirty="0">
                  <a:solidFill>
                    <a:schemeClr val="tx1"/>
                  </a:solidFill>
                  <a:latin typeface="Times New Roman" panose="02020603050405020304" pitchFamily="18" charset="0"/>
                </a:rPr>
                <a:t>4</a:t>
              </a:r>
            </a:p>
          </p:txBody>
        </p:sp>
        <p:sp>
          <p:nvSpPr>
            <p:cNvPr id="60437" name="Rectangle 23"/>
            <p:cNvSpPr/>
            <p:nvPr/>
          </p:nvSpPr>
          <p:spPr>
            <a:xfrm>
              <a:off x="2364828" y="3886200"/>
              <a:ext cx="3896273" cy="492443"/>
            </a:xfrm>
            <a:prstGeom prst="rect">
              <a:avLst/>
            </a:prstGeom>
            <a:noFill/>
            <a:ln w="9525">
              <a:noFill/>
            </a:ln>
          </p:spPr>
          <p:txBody>
            <a:bodyPr>
              <a:spAutoFit/>
            </a:bodyPr>
            <a:lstStyle/>
            <a:p>
              <a:pPr eaLnBrk="0" hangingPunct="0">
                <a:spcBef>
                  <a:spcPct val="50000"/>
                </a:spcBef>
              </a:pPr>
              <a:r>
                <a:rPr lang="zh-CN" altLang="en-US" sz="2600" i="0" dirty="0">
                  <a:solidFill>
                    <a:schemeClr val="tx1"/>
                  </a:solidFill>
                  <a:latin typeface="Times New Roman" panose="02020603050405020304" pitchFamily="18" charset="0"/>
                </a:rPr>
                <a:t>正四面体</a:t>
              </a:r>
              <a:r>
                <a:rPr lang="en-US" altLang="zh-CN" sz="2600" i="0" dirty="0">
                  <a:solidFill>
                    <a:schemeClr val="tx1"/>
                  </a:solidFill>
                  <a:latin typeface="Times New Roman" panose="02020603050405020304" pitchFamily="18" charset="0"/>
                </a:rPr>
                <a:t>(109°28’)</a:t>
              </a:r>
            </a:p>
          </p:txBody>
        </p:sp>
        <p:pic>
          <p:nvPicPr>
            <p:cNvPr id="60438" name="Picture 24" descr="tu3"/>
            <p:cNvPicPr>
              <a:picLocks noChangeAspect="1"/>
            </p:cNvPicPr>
            <p:nvPr/>
          </p:nvPicPr>
          <p:blipFill>
            <a:blip r:embed="rId3"/>
            <a:srcRect l="84058" t="40205" r="2899" b="44846"/>
            <a:stretch>
              <a:fillRect/>
            </a:stretch>
          </p:blipFill>
          <p:spPr>
            <a:xfrm>
              <a:off x="6705600" y="3505200"/>
              <a:ext cx="2057400" cy="990600"/>
            </a:xfrm>
            <a:prstGeom prst="rect">
              <a:avLst/>
            </a:prstGeom>
            <a:noFill/>
            <a:ln w="9525">
              <a:noFill/>
            </a:ln>
          </p:spPr>
        </p:pic>
        <p:sp>
          <p:nvSpPr>
            <p:cNvPr id="60439" name="Rectangle 25"/>
            <p:cNvSpPr/>
            <p:nvPr/>
          </p:nvSpPr>
          <p:spPr>
            <a:xfrm>
              <a:off x="236483" y="4800600"/>
              <a:ext cx="740908" cy="492443"/>
            </a:xfrm>
            <a:prstGeom prst="rect">
              <a:avLst/>
            </a:prstGeom>
            <a:noFill/>
            <a:ln w="9525">
              <a:noFill/>
            </a:ln>
          </p:spPr>
          <p:txBody>
            <a:bodyPr wrap="none">
              <a:spAutoFit/>
            </a:bodyPr>
            <a:lstStyle/>
            <a:p>
              <a:pPr eaLnBrk="0" hangingPunct="0"/>
              <a:r>
                <a:rPr lang="en-US" altLang="zh-CN" sz="2600" dirty="0">
                  <a:solidFill>
                    <a:schemeClr val="tx1"/>
                  </a:solidFill>
                  <a:latin typeface="Times New Roman" panose="02020603050405020304" pitchFamily="18" charset="0"/>
                </a:rPr>
                <a:t>AB</a:t>
              </a:r>
              <a:r>
                <a:rPr lang="en-US" altLang="zh-CN" sz="2600" baseline="-30000" dirty="0">
                  <a:solidFill>
                    <a:schemeClr val="tx1"/>
                  </a:solidFill>
                  <a:latin typeface="Times New Roman" panose="02020603050405020304" pitchFamily="18" charset="0"/>
                </a:rPr>
                <a:t>5</a:t>
              </a:r>
            </a:p>
          </p:txBody>
        </p:sp>
        <p:sp>
          <p:nvSpPr>
            <p:cNvPr id="60440" name="Rectangle 26"/>
            <p:cNvSpPr/>
            <p:nvPr/>
          </p:nvSpPr>
          <p:spPr>
            <a:xfrm>
              <a:off x="1447800" y="4876800"/>
              <a:ext cx="351378" cy="492443"/>
            </a:xfrm>
            <a:prstGeom prst="rect">
              <a:avLst/>
            </a:prstGeom>
            <a:noFill/>
            <a:ln w="9525">
              <a:noFill/>
            </a:ln>
          </p:spPr>
          <p:txBody>
            <a:bodyPr wrap="none">
              <a:spAutoFit/>
            </a:bodyPr>
            <a:lstStyle/>
            <a:p>
              <a:pPr eaLnBrk="0" hangingPunct="0"/>
              <a:r>
                <a:rPr lang="en-US" altLang="zh-CN" sz="2600" i="0" dirty="0">
                  <a:solidFill>
                    <a:schemeClr val="tx1"/>
                  </a:solidFill>
                  <a:latin typeface="Times New Roman" panose="02020603050405020304" pitchFamily="18" charset="0"/>
                </a:rPr>
                <a:t>5</a:t>
              </a:r>
            </a:p>
          </p:txBody>
        </p:sp>
        <p:sp>
          <p:nvSpPr>
            <p:cNvPr id="60441" name="Rectangle 27"/>
            <p:cNvSpPr/>
            <p:nvPr/>
          </p:nvSpPr>
          <p:spPr>
            <a:xfrm>
              <a:off x="2209800" y="4724400"/>
              <a:ext cx="4495800" cy="852541"/>
            </a:xfrm>
            <a:prstGeom prst="rect">
              <a:avLst/>
            </a:prstGeom>
            <a:noFill/>
            <a:ln w="9525">
              <a:noFill/>
            </a:ln>
          </p:spPr>
          <p:txBody>
            <a:bodyPr>
              <a:spAutoFit/>
            </a:bodyPr>
            <a:lstStyle/>
            <a:p>
              <a:pPr eaLnBrk="0" hangingPunct="0">
                <a:lnSpc>
                  <a:spcPct val="70000"/>
                </a:lnSpc>
                <a:spcBef>
                  <a:spcPct val="50000"/>
                </a:spcBef>
              </a:pPr>
              <a:r>
                <a:rPr lang="zh-CN" altLang="en-US" sz="2600" i="0" dirty="0">
                  <a:solidFill>
                    <a:schemeClr val="tx1"/>
                  </a:solidFill>
                  <a:latin typeface="Times New Roman" panose="02020603050405020304" pitchFamily="18" charset="0"/>
                </a:rPr>
                <a:t>三角双锥</a:t>
              </a:r>
              <a:r>
                <a:rPr lang="en-US" altLang="zh-CN" sz="2600" i="0" dirty="0">
                  <a:solidFill>
                    <a:schemeClr val="tx1"/>
                  </a:solidFill>
                  <a:latin typeface="Times New Roman" panose="02020603050405020304" pitchFamily="18" charset="0"/>
                </a:rPr>
                <a:t>(B</a:t>
              </a:r>
              <a:r>
                <a:rPr lang="en-US" altLang="zh-CN" sz="2600" i="0" baseline="30000" dirty="0">
                  <a:solidFill>
                    <a:schemeClr val="tx1"/>
                  </a:solidFill>
                  <a:latin typeface="Times New Roman" panose="02020603050405020304" pitchFamily="18" charset="0"/>
                </a:rPr>
                <a:t>a</a:t>
              </a:r>
              <a:r>
                <a:rPr lang="en-US" altLang="zh-CN" sz="2600" i="0" dirty="0">
                  <a:solidFill>
                    <a:schemeClr val="tx1"/>
                  </a:solidFill>
                  <a:latin typeface="Times New Roman" panose="02020603050405020304" pitchFamily="18" charset="0"/>
                </a:rPr>
                <a:t>AB</a:t>
              </a:r>
              <a:r>
                <a:rPr lang="en-US" altLang="zh-CN" sz="2600" i="0" baseline="30000" dirty="0">
                  <a:solidFill>
                    <a:schemeClr val="tx1"/>
                  </a:solidFill>
                  <a:latin typeface="Times New Roman" panose="02020603050405020304" pitchFamily="18" charset="0"/>
                </a:rPr>
                <a:t>a</a:t>
              </a:r>
              <a:r>
                <a:rPr lang="en-US" altLang="zh-CN" sz="2600" i="0" dirty="0">
                  <a:solidFill>
                    <a:schemeClr val="tx1"/>
                  </a:solidFill>
                  <a:latin typeface="Times New Roman" panose="02020603050405020304" pitchFamily="18" charset="0"/>
                </a:rPr>
                <a:t>, 180°)</a:t>
              </a:r>
            </a:p>
            <a:p>
              <a:pPr eaLnBrk="0" hangingPunct="0">
                <a:lnSpc>
                  <a:spcPct val="70000"/>
                </a:lnSpc>
                <a:spcBef>
                  <a:spcPct val="50000"/>
                </a:spcBef>
              </a:pPr>
              <a:r>
                <a:rPr lang="en-US" altLang="zh-CN" sz="2600" i="0" dirty="0">
                  <a:solidFill>
                    <a:schemeClr val="tx1"/>
                  </a:solidFill>
                  <a:latin typeface="Times New Roman" panose="02020603050405020304" pitchFamily="18" charset="0"/>
                </a:rPr>
                <a:t>(B</a:t>
              </a:r>
              <a:r>
                <a:rPr lang="en-US" altLang="zh-CN" sz="2600" i="0" baseline="30000" dirty="0">
                  <a:solidFill>
                    <a:schemeClr val="tx1"/>
                  </a:solidFill>
                  <a:latin typeface="Times New Roman" panose="02020603050405020304" pitchFamily="18" charset="0"/>
                </a:rPr>
                <a:t>e</a:t>
              </a:r>
              <a:r>
                <a:rPr lang="en-US" altLang="zh-CN" sz="2600" i="0" dirty="0">
                  <a:solidFill>
                    <a:schemeClr val="tx1"/>
                  </a:solidFill>
                  <a:latin typeface="Times New Roman" panose="02020603050405020304" pitchFamily="18" charset="0"/>
                </a:rPr>
                <a:t>AB</a:t>
              </a:r>
              <a:r>
                <a:rPr lang="en-US" altLang="zh-CN" sz="2600" i="0" baseline="30000" dirty="0">
                  <a:solidFill>
                    <a:schemeClr val="tx1"/>
                  </a:solidFill>
                  <a:latin typeface="Times New Roman" panose="02020603050405020304" pitchFamily="18" charset="0"/>
                </a:rPr>
                <a:t>e</a:t>
              </a:r>
              <a:r>
                <a:rPr lang="en-US" altLang="zh-CN" sz="2600" i="0" dirty="0">
                  <a:solidFill>
                    <a:schemeClr val="tx1"/>
                  </a:solidFill>
                  <a:latin typeface="Times New Roman" panose="02020603050405020304" pitchFamily="18" charset="0"/>
                </a:rPr>
                <a:t>, 120°) (B</a:t>
              </a:r>
              <a:r>
                <a:rPr lang="en-US" altLang="zh-CN" sz="2600" i="0" baseline="30000" dirty="0">
                  <a:solidFill>
                    <a:schemeClr val="tx1"/>
                  </a:solidFill>
                  <a:latin typeface="Times New Roman" panose="02020603050405020304" pitchFamily="18" charset="0"/>
                </a:rPr>
                <a:t>e</a:t>
              </a:r>
              <a:r>
                <a:rPr lang="en-US" altLang="zh-CN" sz="2600" i="0" dirty="0">
                  <a:solidFill>
                    <a:schemeClr val="tx1"/>
                  </a:solidFill>
                  <a:latin typeface="Times New Roman" panose="02020603050405020304" pitchFamily="18" charset="0"/>
                </a:rPr>
                <a:t>AB</a:t>
              </a:r>
              <a:r>
                <a:rPr lang="en-US" altLang="zh-CN" sz="2600" i="0" baseline="30000" dirty="0">
                  <a:solidFill>
                    <a:schemeClr val="tx1"/>
                  </a:solidFill>
                  <a:latin typeface="Times New Roman" panose="02020603050405020304" pitchFamily="18" charset="0"/>
                </a:rPr>
                <a:t>a</a:t>
              </a:r>
              <a:r>
                <a:rPr lang="en-US" altLang="zh-CN" sz="2600" i="0" dirty="0">
                  <a:solidFill>
                    <a:schemeClr val="tx1"/>
                  </a:solidFill>
                  <a:latin typeface="Times New Roman" panose="02020603050405020304" pitchFamily="18" charset="0"/>
                </a:rPr>
                <a:t>, 90°)</a:t>
              </a:r>
              <a:endParaRPr lang="en-US" altLang="zh-CN" sz="2600" i="0" baseline="30000" dirty="0">
                <a:solidFill>
                  <a:schemeClr val="tx1"/>
                </a:solidFill>
                <a:latin typeface="Times New Roman" panose="02020603050405020304" pitchFamily="18" charset="0"/>
                <a:ea typeface="Times New Roman" panose="02020603050405020304" pitchFamily="18" charset="0"/>
              </a:endParaRPr>
            </a:p>
          </p:txBody>
        </p:sp>
        <p:pic>
          <p:nvPicPr>
            <p:cNvPr id="60442" name="Picture 28" descr="tu3"/>
            <p:cNvPicPr>
              <a:picLocks noChangeAspect="1"/>
            </p:cNvPicPr>
            <p:nvPr/>
          </p:nvPicPr>
          <p:blipFill>
            <a:blip r:embed="rId3"/>
            <a:srcRect l="82608" t="61134" r="1450" b="23917"/>
            <a:stretch>
              <a:fillRect/>
            </a:stretch>
          </p:blipFill>
          <p:spPr>
            <a:xfrm>
              <a:off x="6781800" y="4495800"/>
              <a:ext cx="1981200" cy="1066800"/>
            </a:xfrm>
            <a:prstGeom prst="rect">
              <a:avLst/>
            </a:prstGeom>
            <a:noFill/>
            <a:ln w="9525">
              <a:noFill/>
            </a:ln>
          </p:spPr>
        </p:pic>
        <p:sp>
          <p:nvSpPr>
            <p:cNvPr id="60443" name="Rectangle 29"/>
            <p:cNvSpPr/>
            <p:nvPr/>
          </p:nvSpPr>
          <p:spPr>
            <a:xfrm>
              <a:off x="315310" y="5867400"/>
              <a:ext cx="740908" cy="492443"/>
            </a:xfrm>
            <a:prstGeom prst="rect">
              <a:avLst/>
            </a:prstGeom>
            <a:noFill/>
            <a:ln w="9525">
              <a:noFill/>
            </a:ln>
          </p:spPr>
          <p:txBody>
            <a:bodyPr wrap="none">
              <a:spAutoFit/>
            </a:bodyPr>
            <a:lstStyle/>
            <a:p>
              <a:pPr eaLnBrk="0" hangingPunct="0"/>
              <a:r>
                <a:rPr lang="en-US" altLang="zh-CN" sz="2600" dirty="0">
                  <a:solidFill>
                    <a:schemeClr val="tx1"/>
                  </a:solidFill>
                  <a:latin typeface="Times New Roman" panose="02020603050405020304" pitchFamily="18" charset="0"/>
                </a:rPr>
                <a:t>AB</a:t>
              </a:r>
              <a:r>
                <a:rPr lang="en-US" altLang="zh-CN" sz="2600" baseline="-30000" dirty="0">
                  <a:solidFill>
                    <a:schemeClr val="tx1"/>
                  </a:solidFill>
                  <a:latin typeface="Times New Roman" panose="02020603050405020304" pitchFamily="18" charset="0"/>
                </a:rPr>
                <a:t>6</a:t>
              </a:r>
            </a:p>
          </p:txBody>
        </p:sp>
        <p:sp>
          <p:nvSpPr>
            <p:cNvPr id="60444" name="Rectangle 30"/>
            <p:cNvSpPr/>
            <p:nvPr/>
          </p:nvSpPr>
          <p:spPr>
            <a:xfrm>
              <a:off x="1524000" y="6019800"/>
              <a:ext cx="351378" cy="492443"/>
            </a:xfrm>
            <a:prstGeom prst="rect">
              <a:avLst/>
            </a:prstGeom>
            <a:noFill/>
            <a:ln w="9525">
              <a:noFill/>
            </a:ln>
          </p:spPr>
          <p:txBody>
            <a:bodyPr wrap="none">
              <a:spAutoFit/>
            </a:bodyPr>
            <a:lstStyle/>
            <a:p>
              <a:pPr eaLnBrk="0" hangingPunct="0"/>
              <a:r>
                <a:rPr lang="en-US" altLang="zh-CN" sz="2600" i="0" dirty="0">
                  <a:solidFill>
                    <a:schemeClr val="tx1"/>
                  </a:solidFill>
                  <a:latin typeface="Times New Roman" panose="02020603050405020304" pitchFamily="18" charset="0"/>
                </a:rPr>
                <a:t>6</a:t>
              </a:r>
            </a:p>
          </p:txBody>
        </p:sp>
        <p:sp>
          <p:nvSpPr>
            <p:cNvPr id="60445" name="Rectangle 31"/>
            <p:cNvSpPr/>
            <p:nvPr/>
          </p:nvSpPr>
          <p:spPr>
            <a:xfrm>
              <a:off x="2601310" y="5867400"/>
              <a:ext cx="3720662" cy="412421"/>
            </a:xfrm>
            <a:prstGeom prst="rect">
              <a:avLst/>
            </a:prstGeom>
            <a:noFill/>
            <a:ln w="9525">
              <a:noFill/>
            </a:ln>
          </p:spPr>
          <p:txBody>
            <a:bodyPr>
              <a:spAutoFit/>
            </a:bodyPr>
            <a:lstStyle/>
            <a:p>
              <a:pPr algn="l" eaLnBrk="0" hangingPunct="0">
                <a:lnSpc>
                  <a:spcPct val="80000"/>
                </a:lnSpc>
                <a:spcBef>
                  <a:spcPct val="50000"/>
                </a:spcBef>
              </a:pPr>
              <a:r>
                <a:rPr lang="zh-CN" altLang="en-US" sz="2600" i="0" dirty="0">
                  <a:solidFill>
                    <a:schemeClr val="tx1"/>
                  </a:solidFill>
                  <a:latin typeface="Times New Roman" panose="02020603050405020304" pitchFamily="18" charset="0"/>
                </a:rPr>
                <a:t>正八面体</a:t>
              </a:r>
              <a:r>
                <a:rPr lang="en-US" altLang="zh-CN" sz="2600" i="0" dirty="0">
                  <a:solidFill>
                    <a:schemeClr val="tx1"/>
                  </a:solidFill>
                  <a:latin typeface="Times New Roman" panose="02020603050405020304" pitchFamily="18" charset="0"/>
                </a:rPr>
                <a:t>(90°, 180°)</a:t>
              </a:r>
            </a:p>
          </p:txBody>
        </p:sp>
        <p:pic>
          <p:nvPicPr>
            <p:cNvPr id="60446" name="Picture 32" descr="tu3"/>
            <p:cNvPicPr>
              <a:picLocks noChangeAspect="1"/>
            </p:cNvPicPr>
            <p:nvPr/>
          </p:nvPicPr>
          <p:blipFill>
            <a:blip r:embed="rId3"/>
            <a:srcRect l="81552" t="80910" r="2083" b="2959"/>
            <a:stretch>
              <a:fillRect/>
            </a:stretch>
          </p:blipFill>
          <p:spPr>
            <a:xfrm>
              <a:off x="6781800" y="5562600"/>
              <a:ext cx="1905000" cy="1066800"/>
            </a:xfrm>
            <a:prstGeom prst="rect">
              <a:avLst/>
            </a:prstGeom>
            <a:noFill/>
            <a:ln w="9525">
              <a:noFill/>
            </a:ln>
          </p:spPr>
        </p:pic>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295" name="组合 47"/>
          <p:cNvGrpSpPr/>
          <p:nvPr/>
        </p:nvGrpSpPr>
        <p:grpSpPr>
          <a:xfrm>
            <a:off x="76200" y="76200"/>
            <a:ext cx="8926513" cy="6096000"/>
            <a:chOff x="0" y="609600"/>
            <a:chExt cx="8926513" cy="6096000"/>
          </a:xfrm>
        </p:grpSpPr>
        <p:sp>
          <p:nvSpPr>
            <p:cNvPr id="12296" name="Text Box 3"/>
            <p:cNvSpPr txBox="1"/>
            <p:nvPr/>
          </p:nvSpPr>
          <p:spPr>
            <a:xfrm>
              <a:off x="762000" y="609600"/>
              <a:ext cx="7772400" cy="498475"/>
            </a:xfrm>
            <a:prstGeom prst="rect">
              <a:avLst/>
            </a:prstGeom>
            <a:noFill/>
            <a:ln w="9525" cap="flat" cmpd="sng">
              <a:solidFill>
                <a:srgbClr val="FF99FF"/>
              </a:solidFill>
              <a:prstDash val="solid"/>
              <a:miter/>
              <a:headEnd type="none" w="med" len="med"/>
              <a:tailEnd type="none" w="med" len="med"/>
            </a:ln>
          </p:spPr>
          <p:txBody>
            <a:bodyPr>
              <a:spAutoFit/>
            </a:bodyPr>
            <a:lstStyle/>
            <a:p>
              <a:r>
                <a:rPr lang="en-US" altLang="zh-CN" sz="2600" i="0" dirty="0">
                  <a:solidFill>
                    <a:schemeClr val="tx1"/>
                  </a:solidFill>
                  <a:latin typeface="Times New Roman" panose="02020603050405020304" pitchFamily="18" charset="0"/>
                </a:rPr>
                <a:t>LP=0 ,     </a:t>
              </a:r>
              <a:r>
                <a:rPr lang="zh-CN" altLang="en-US" sz="2600" i="0" dirty="0">
                  <a:solidFill>
                    <a:schemeClr val="tx1"/>
                  </a:solidFill>
                  <a:latin typeface="Times New Roman" panose="02020603050405020304" pitchFamily="18" charset="0"/>
                </a:rPr>
                <a:t>分子的空间构型</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电子对的空间构型</a:t>
              </a:r>
            </a:p>
          </p:txBody>
        </p:sp>
        <p:sp>
          <p:nvSpPr>
            <p:cNvPr id="12297" name="Text Box 23"/>
            <p:cNvSpPr txBox="1"/>
            <p:nvPr/>
          </p:nvSpPr>
          <p:spPr>
            <a:xfrm>
              <a:off x="0" y="1371600"/>
              <a:ext cx="990600" cy="492443"/>
            </a:xfrm>
            <a:prstGeom prst="rect">
              <a:avLst/>
            </a:prstGeom>
            <a:noFill/>
            <a:ln w="12700">
              <a:noFill/>
            </a:ln>
          </p:spPr>
          <p:txBody>
            <a:bodyPr>
              <a:spAutoFit/>
            </a:bodyPr>
            <a:lstStyle/>
            <a:p>
              <a:pPr algn="l" eaLnBrk="0" hangingPunct="0"/>
              <a:r>
                <a:rPr lang="en-US" altLang="zh-CN" sz="2600" dirty="0">
                  <a:solidFill>
                    <a:schemeClr val="tx1"/>
                  </a:solidFill>
                  <a:latin typeface="Times New Roman" panose="02020603050405020304" pitchFamily="18" charset="0"/>
                </a:rPr>
                <a:t>BeH</a:t>
              </a:r>
              <a:r>
                <a:rPr lang="en-US" altLang="zh-CN" sz="2600" baseline="-25000" dirty="0">
                  <a:solidFill>
                    <a:schemeClr val="tx1"/>
                  </a:solidFill>
                  <a:latin typeface="Times New Roman" panose="02020603050405020304" pitchFamily="18" charset="0"/>
                </a:rPr>
                <a:t>2</a:t>
              </a:r>
            </a:p>
          </p:txBody>
        </p:sp>
        <p:sp>
          <p:nvSpPr>
            <p:cNvPr id="12298" name="Text Box 24"/>
            <p:cNvSpPr txBox="1"/>
            <p:nvPr/>
          </p:nvSpPr>
          <p:spPr>
            <a:xfrm>
              <a:off x="0" y="2438400"/>
              <a:ext cx="740908" cy="492443"/>
            </a:xfrm>
            <a:prstGeom prst="rect">
              <a:avLst/>
            </a:prstGeom>
            <a:noFill/>
            <a:ln w="12700">
              <a:noFill/>
            </a:ln>
          </p:spPr>
          <p:txBody>
            <a:bodyPr wrap="none">
              <a:spAutoFit/>
            </a:bodyPr>
            <a:lstStyle/>
            <a:p>
              <a:pPr algn="l" eaLnBrk="0" hangingPunct="0"/>
              <a:r>
                <a:rPr lang="en-US" altLang="zh-CN" sz="2600" dirty="0">
                  <a:solidFill>
                    <a:schemeClr val="tx1"/>
                  </a:solidFill>
                  <a:latin typeface="Times New Roman" panose="02020603050405020304" pitchFamily="18" charset="0"/>
                </a:rPr>
                <a:t>BF</a:t>
              </a:r>
              <a:r>
                <a:rPr lang="en-US" altLang="zh-CN" sz="2600" baseline="-25000" dirty="0">
                  <a:solidFill>
                    <a:schemeClr val="tx1"/>
                  </a:solidFill>
                  <a:latin typeface="Times New Roman" panose="02020603050405020304" pitchFamily="18" charset="0"/>
                </a:rPr>
                <a:t>3</a:t>
              </a:r>
            </a:p>
          </p:txBody>
        </p:sp>
        <p:sp>
          <p:nvSpPr>
            <p:cNvPr id="12299" name="Text Box 25"/>
            <p:cNvSpPr txBox="1"/>
            <p:nvPr/>
          </p:nvSpPr>
          <p:spPr>
            <a:xfrm>
              <a:off x="0" y="3429000"/>
              <a:ext cx="777777" cy="492443"/>
            </a:xfrm>
            <a:prstGeom prst="rect">
              <a:avLst/>
            </a:prstGeom>
            <a:noFill/>
            <a:ln w="12700">
              <a:noFill/>
            </a:ln>
          </p:spPr>
          <p:txBody>
            <a:bodyPr wrap="none">
              <a:spAutoFit/>
            </a:bodyPr>
            <a:lstStyle/>
            <a:p>
              <a:pPr algn="l" eaLnBrk="0" hangingPunct="0"/>
              <a:r>
                <a:rPr lang="en-US" altLang="zh-CN" sz="2600" dirty="0">
                  <a:solidFill>
                    <a:schemeClr val="tx1"/>
                  </a:solidFill>
                  <a:latin typeface="Times New Roman" panose="02020603050405020304" pitchFamily="18" charset="0"/>
                </a:rPr>
                <a:t>CH</a:t>
              </a:r>
              <a:r>
                <a:rPr lang="en-US" altLang="zh-CN" sz="2600" baseline="-25000" dirty="0">
                  <a:solidFill>
                    <a:schemeClr val="tx1"/>
                  </a:solidFill>
                  <a:latin typeface="Times New Roman" panose="02020603050405020304" pitchFamily="18" charset="0"/>
                </a:rPr>
                <a:t>4</a:t>
              </a:r>
            </a:p>
          </p:txBody>
        </p:sp>
        <p:sp>
          <p:nvSpPr>
            <p:cNvPr id="12300" name="Text Box 26"/>
            <p:cNvSpPr txBox="1"/>
            <p:nvPr/>
          </p:nvSpPr>
          <p:spPr>
            <a:xfrm>
              <a:off x="0" y="4572000"/>
              <a:ext cx="888385" cy="492443"/>
            </a:xfrm>
            <a:prstGeom prst="rect">
              <a:avLst/>
            </a:prstGeom>
            <a:noFill/>
            <a:ln w="12700">
              <a:noFill/>
            </a:ln>
          </p:spPr>
          <p:txBody>
            <a:bodyPr wrap="none">
              <a:spAutoFit/>
            </a:bodyPr>
            <a:lstStyle/>
            <a:p>
              <a:pPr algn="l" eaLnBrk="0" hangingPunct="0"/>
              <a:r>
                <a:rPr lang="en-US" altLang="zh-CN" sz="2600" dirty="0">
                  <a:solidFill>
                    <a:schemeClr val="tx1"/>
                  </a:solidFill>
                  <a:latin typeface="Times New Roman" panose="02020603050405020304" pitchFamily="18" charset="0"/>
                </a:rPr>
                <a:t>PC1</a:t>
              </a:r>
              <a:r>
                <a:rPr lang="en-US" altLang="zh-CN" sz="2600" baseline="-25000" dirty="0">
                  <a:solidFill>
                    <a:schemeClr val="tx1"/>
                  </a:solidFill>
                  <a:latin typeface="Times New Roman" panose="02020603050405020304" pitchFamily="18" charset="0"/>
                </a:rPr>
                <a:t>5</a:t>
              </a:r>
            </a:p>
          </p:txBody>
        </p:sp>
        <p:sp>
          <p:nvSpPr>
            <p:cNvPr id="12301" name="Text Box 27"/>
            <p:cNvSpPr txBox="1"/>
            <p:nvPr/>
          </p:nvSpPr>
          <p:spPr>
            <a:xfrm>
              <a:off x="0" y="5638800"/>
              <a:ext cx="704039" cy="492443"/>
            </a:xfrm>
            <a:prstGeom prst="rect">
              <a:avLst/>
            </a:prstGeom>
            <a:noFill/>
            <a:ln w="12700">
              <a:noFill/>
            </a:ln>
          </p:spPr>
          <p:txBody>
            <a:bodyPr wrap="none">
              <a:spAutoFit/>
            </a:bodyPr>
            <a:lstStyle/>
            <a:p>
              <a:pPr algn="l" eaLnBrk="0" hangingPunct="0"/>
              <a:r>
                <a:rPr lang="en-US" altLang="zh-CN" sz="2600" dirty="0">
                  <a:solidFill>
                    <a:schemeClr val="tx1"/>
                  </a:solidFill>
                  <a:latin typeface="Times New Roman" panose="02020603050405020304" pitchFamily="18" charset="0"/>
                </a:rPr>
                <a:t>SF</a:t>
              </a:r>
              <a:r>
                <a:rPr lang="en-US" altLang="zh-CN" sz="2600" baseline="-25000" dirty="0">
                  <a:solidFill>
                    <a:schemeClr val="tx1"/>
                  </a:solidFill>
                  <a:latin typeface="Times New Roman" panose="02020603050405020304" pitchFamily="18" charset="0"/>
                </a:rPr>
                <a:t>6</a:t>
              </a:r>
            </a:p>
          </p:txBody>
        </p:sp>
        <p:grpSp>
          <p:nvGrpSpPr>
            <p:cNvPr id="12302" name="Group 52"/>
            <p:cNvGrpSpPr/>
            <p:nvPr/>
          </p:nvGrpSpPr>
          <p:grpSpPr>
            <a:xfrm>
              <a:off x="1371600" y="1295400"/>
              <a:ext cx="4038600" cy="685800"/>
              <a:chOff x="768" y="864"/>
              <a:chExt cx="2544" cy="432"/>
            </a:xfrm>
          </p:grpSpPr>
          <p:sp>
            <p:nvSpPr>
              <p:cNvPr id="12316" name="Text Box 28"/>
              <p:cNvSpPr txBox="1"/>
              <p:nvPr/>
            </p:nvSpPr>
            <p:spPr>
              <a:xfrm>
                <a:off x="768" y="960"/>
                <a:ext cx="2544" cy="308"/>
              </a:xfrm>
              <a:prstGeom prst="rect">
                <a:avLst/>
              </a:prstGeom>
              <a:noFill/>
              <a:ln w="9525">
                <a:noFill/>
              </a:ln>
            </p:spPr>
            <p:txBody>
              <a:bodyPr>
                <a:spAutoFit/>
              </a:bodyPr>
              <a:lstStyle/>
              <a:p>
                <a:pPr algn="l"/>
                <a:r>
                  <a:rPr lang="en-US" altLang="zh-CN" sz="2600" b="0" i="0" dirty="0">
                    <a:solidFill>
                      <a:schemeClr val="tx1"/>
                    </a:solidFill>
                    <a:latin typeface="Times New Roman" panose="02020603050405020304" pitchFamily="18" charset="0"/>
                  </a:rPr>
                  <a:t>VPN =    (2+2)=2      LP = 0</a:t>
                </a:r>
              </a:p>
            </p:txBody>
          </p:sp>
          <p:graphicFrame>
            <p:nvGraphicFramePr>
              <p:cNvPr id="12294" name="Object 29"/>
              <p:cNvGraphicFramePr>
                <a:graphicFrameLocks/>
              </p:cNvGraphicFramePr>
              <p:nvPr/>
            </p:nvGraphicFramePr>
            <p:xfrm>
              <a:off x="1440" y="864"/>
              <a:ext cx="166" cy="432"/>
            </p:xfrm>
            <a:graphic>
              <a:graphicData uri="http://schemas.openxmlformats.org/presentationml/2006/ole">
                <p:oleObj spid="_x0000_s72709" r:id="rId4" imgW="152268" imgH="393359" progId="Equation.3">
                  <p:embed/>
                </p:oleObj>
              </a:graphicData>
            </a:graphic>
          </p:graphicFrame>
        </p:grpSp>
        <p:pic>
          <p:nvPicPr>
            <p:cNvPr id="12303" name="Picture 38" descr="vsepr2"/>
            <p:cNvPicPr>
              <a:picLocks noChangeAspect="1"/>
            </p:cNvPicPr>
            <p:nvPr/>
          </p:nvPicPr>
          <p:blipFill>
            <a:blip r:embed="rId5">
              <a:lum contrast="24000"/>
            </a:blip>
            <a:srcRect l="63750" t="17987" r="3751" b="70450"/>
            <a:stretch>
              <a:fillRect/>
            </a:stretch>
          </p:blipFill>
          <p:spPr>
            <a:xfrm>
              <a:off x="5867400" y="2057400"/>
              <a:ext cx="3048000" cy="1006475"/>
            </a:xfrm>
            <a:prstGeom prst="rect">
              <a:avLst/>
            </a:prstGeom>
            <a:noFill/>
            <a:ln w="9525" cap="flat" cmpd="sng">
              <a:solidFill>
                <a:srgbClr val="FF3399"/>
              </a:solidFill>
              <a:prstDash val="solid"/>
              <a:miter/>
              <a:headEnd type="none" w="med" len="med"/>
              <a:tailEnd type="none" w="med" len="med"/>
            </a:ln>
          </p:spPr>
        </p:pic>
        <p:pic>
          <p:nvPicPr>
            <p:cNvPr id="12304" name="Picture 39" descr="vsepr2"/>
            <p:cNvPicPr>
              <a:picLocks noChangeAspect="1"/>
            </p:cNvPicPr>
            <p:nvPr/>
          </p:nvPicPr>
          <p:blipFill>
            <a:blip r:embed="rId5">
              <a:lum contrast="18000"/>
            </a:blip>
            <a:srcRect l="61250" t="47537" b="37045"/>
            <a:stretch>
              <a:fillRect/>
            </a:stretch>
          </p:blipFill>
          <p:spPr>
            <a:xfrm>
              <a:off x="5791200" y="3124200"/>
              <a:ext cx="3048000" cy="1066800"/>
            </a:xfrm>
            <a:prstGeom prst="rect">
              <a:avLst/>
            </a:prstGeom>
            <a:noFill/>
            <a:ln w="9525" cap="flat" cmpd="sng">
              <a:solidFill>
                <a:srgbClr val="66FFFF"/>
              </a:solidFill>
              <a:prstDash val="solid"/>
              <a:miter/>
              <a:headEnd type="none" w="med" len="med"/>
              <a:tailEnd type="none" w="med" len="med"/>
            </a:ln>
          </p:spPr>
        </p:pic>
        <p:pic>
          <p:nvPicPr>
            <p:cNvPr id="12305" name="Picture 40" descr="vsepr4"/>
            <p:cNvPicPr>
              <a:picLocks noChangeAspect="1"/>
            </p:cNvPicPr>
            <p:nvPr/>
          </p:nvPicPr>
          <p:blipFill>
            <a:blip r:embed="rId6">
              <a:lum contrast="36000"/>
            </a:blip>
            <a:srcRect l="69911" t="5356" b="76891"/>
            <a:stretch>
              <a:fillRect/>
            </a:stretch>
          </p:blipFill>
          <p:spPr>
            <a:xfrm>
              <a:off x="5867400" y="4267200"/>
              <a:ext cx="3048000" cy="1219200"/>
            </a:xfrm>
            <a:prstGeom prst="rect">
              <a:avLst/>
            </a:prstGeom>
            <a:noFill/>
            <a:ln w="9525" cap="flat" cmpd="sng">
              <a:solidFill>
                <a:srgbClr val="00FF00"/>
              </a:solidFill>
              <a:prstDash val="solid"/>
              <a:miter/>
              <a:headEnd type="none" w="med" len="med"/>
              <a:tailEnd type="none" w="med" len="med"/>
            </a:ln>
          </p:spPr>
        </p:pic>
        <p:pic>
          <p:nvPicPr>
            <p:cNvPr id="12306" name="Picture 41" descr="vsepr5"/>
            <p:cNvPicPr>
              <a:picLocks noChangeAspect="1"/>
            </p:cNvPicPr>
            <p:nvPr/>
          </p:nvPicPr>
          <p:blipFill>
            <a:blip r:embed="rId7">
              <a:lum contrast="30000"/>
            </a:blip>
            <a:srcRect l="69466" t="5489" b="69240"/>
            <a:stretch>
              <a:fillRect/>
            </a:stretch>
          </p:blipFill>
          <p:spPr>
            <a:xfrm>
              <a:off x="5867400" y="5486400"/>
              <a:ext cx="3048000" cy="1219200"/>
            </a:xfrm>
            <a:prstGeom prst="rect">
              <a:avLst/>
            </a:prstGeom>
            <a:noFill/>
            <a:ln w="9525" cap="flat" cmpd="sng">
              <a:solidFill>
                <a:srgbClr val="FF3399"/>
              </a:solidFill>
              <a:prstDash val="solid"/>
              <a:miter/>
              <a:headEnd type="none" w="med" len="med"/>
              <a:tailEnd type="none" w="med" len="med"/>
            </a:ln>
          </p:spPr>
        </p:pic>
        <p:pic>
          <p:nvPicPr>
            <p:cNvPr id="12307" name="Picture 42" descr="图片9"/>
            <p:cNvPicPr>
              <a:picLocks noChangeAspect="1"/>
            </p:cNvPicPr>
            <p:nvPr/>
          </p:nvPicPr>
          <p:blipFill>
            <a:blip r:embed="rId8"/>
            <a:stretch>
              <a:fillRect/>
            </a:stretch>
          </p:blipFill>
          <p:spPr>
            <a:xfrm>
              <a:off x="5867400" y="1295400"/>
              <a:ext cx="3059113" cy="685800"/>
            </a:xfrm>
            <a:prstGeom prst="rect">
              <a:avLst/>
            </a:prstGeom>
            <a:solidFill>
              <a:srgbClr val="FFCC99"/>
            </a:solidFill>
            <a:ln w="9525">
              <a:noFill/>
            </a:ln>
          </p:spPr>
        </p:pic>
        <p:grpSp>
          <p:nvGrpSpPr>
            <p:cNvPr id="12308" name="Group 53"/>
            <p:cNvGrpSpPr/>
            <p:nvPr/>
          </p:nvGrpSpPr>
          <p:grpSpPr>
            <a:xfrm>
              <a:off x="1143000" y="2286000"/>
              <a:ext cx="4495801" cy="685800"/>
              <a:chOff x="720" y="1440"/>
              <a:chExt cx="2832" cy="432"/>
            </a:xfrm>
          </p:grpSpPr>
          <p:sp>
            <p:nvSpPr>
              <p:cNvPr id="12315" name="Rectangle 30"/>
              <p:cNvSpPr/>
              <p:nvPr/>
            </p:nvSpPr>
            <p:spPr>
              <a:xfrm>
                <a:off x="720" y="1488"/>
                <a:ext cx="2832" cy="310"/>
              </a:xfrm>
              <a:prstGeom prst="rect">
                <a:avLst/>
              </a:prstGeom>
              <a:noFill/>
              <a:ln w="9525">
                <a:noFill/>
              </a:ln>
            </p:spPr>
            <p:txBody>
              <a:bodyPr>
                <a:spAutoFit/>
              </a:bodyPr>
              <a:lstStyle/>
              <a:p>
                <a:pPr algn="l"/>
                <a:r>
                  <a:rPr lang="en-US" altLang="zh-CN" sz="2600" b="0" i="0" dirty="0">
                    <a:solidFill>
                      <a:schemeClr val="tx1"/>
                    </a:solidFill>
                    <a:latin typeface="Times New Roman" panose="02020603050405020304" pitchFamily="18" charset="0"/>
                  </a:rPr>
                  <a:t>VPN =     (3+3)=3      LP = 0</a:t>
                </a:r>
              </a:p>
            </p:txBody>
          </p:sp>
          <p:graphicFrame>
            <p:nvGraphicFramePr>
              <p:cNvPr id="12293" name="Object 48"/>
              <p:cNvGraphicFramePr>
                <a:graphicFrameLocks/>
              </p:cNvGraphicFramePr>
              <p:nvPr/>
            </p:nvGraphicFramePr>
            <p:xfrm>
              <a:off x="1392" y="1440"/>
              <a:ext cx="166" cy="432"/>
            </p:xfrm>
            <a:graphic>
              <a:graphicData uri="http://schemas.openxmlformats.org/presentationml/2006/ole">
                <p:oleObj spid="_x0000_s72708" r:id="rId9" imgW="152268" imgH="393359" progId="Equation.3">
                  <p:embed/>
                </p:oleObj>
              </a:graphicData>
            </a:graphic>
          </p:graphicFrame>
        </p:grpSp>
        <p:grpSp>
          <p:nvGrpSpPr>
            <p:cNvPr id="12309" name="Group 54"/>
            <p:cNvGrpSpPr/>
            <p:nvPr/>
          </p:nvGrpSpPr>
          <p:grpSpPr>
            <a:xfrm>
              <a:off x="1143000" y="3352800"/>
              <a:ext cx="4343400" cy="685800"/>
              <a:chOff x="720" y="2112"/>
              <a:chExt cx="2736" cy="432"/>
            </a:xfrm>
          </p:grpSpPr>
          <p:sp>
            <p:nvSpPr>
              <p:cNvPr id="12314" name="Rectangle 32"/>
              <p:cNvSpPr/>
              <p:nvPr/>
            </p:nvSpPr>
            <p:spPr>
              <a:xfrm>
                <a:off x="720" y="2160"/>
                <a:ext cx="2736" cy="310"/>
              </a:xfrm>
              <a:prstGeom prst="rect">
                <a:avLst/>
              </a:prstGeom>
              <a:noFill/>
              <a:ln w="9525">
                <a:noFill/>
              </a:ln>
            </p:spPr>
            <p:txBody>
              <a:bodyPr>
                <a:spAutoFit/>
              </a:bodyPr>
              <a:lstStyle/>
              <a:p>
                <a:pPr algn="l"/>
                <a:r>
                  <a:rPr lang="en-US" altLang="zh-CN" sz="2600" b="0" i="0" dirty="0">
                    <a:solidFill>
                      <a:schemeClr val="tx1"/>
                    </a:solidFill>
                    <a:latin typeface="Times New Roman" panose="02020603050405020304" pitchFamily="18" charset="0"/>
                  </a:rPr>
                  <a:t>VPN =     (4+4)=4      LP = 0</a:t>
                </a:r>
              </a:p>
            </p:txBody>
          </p:sp>
          <p:graphicFrame>
            <p:nvGraphicFramePr>
              <p:cNvPr id="12292" name="Object 49"/>
              <p:cNvGraphicFramePr>
                <a:graphicFrameLocks/>
              </p:cNvGraphicFramePr>
              <p:nvPr/>
            </p:nvGraphicFramePr>
            <p:xfrm>
              <a:off x="1392" y="2112"/>
              <a:ext cx="166" cy="432"/>
            </p:xfrm>
            <a:graphic>
              <a:graphicData uri="http://schemas.openxmlformats.org/presentationml/2006/ole">
                <p:oleObj spid="_x0000_s72707" r:id="rId10" imgW="152268" imgH="393359" progId="Equation.3">
                  <p:embed/>
                </p:oleObj>
              </a:graphicData>
            </a:graphic>
          </p:graphicFrame>
        </p:grpSp>
        <p:grpSp>
          <p:nvGrpSpPr>
            <p:cNvPr id="12310" name="Group 55"/>
            <p:cNvGrpSpPr/>
            <p:nvPr/>
          </p:nvGrpSpPr>
          <p:grpSpPr>
            <a:xfrm>
              <a:off x="1143000" y="4495800"/>
              <a:ext cx="4495800" cy="685800"/>
              <a:chOff x="720" y="2832"/>
              <a:chExt cx="2832" cy="432"/>
            </a:xfrm>
          </p:grpSpPr>
          <p:sp>
            <p:nvSpPr>
              <p:cNvPr id="12313" name="Rectangle 34"/>
              <p:cNvSpPr/>
              <p:nvPr/>
            </p:nvSpPr>
            <p:spPr>
              <a:xfrm>
                <a:off x="720" y="2928"/>
                <a:ext cx="2832" cy="310"/>
              </a:xfrm>
              <a:prstGeom prst="rect">
                <a:avLst/>
              </a:prstGeom>
              <a:noFill/>
              <a:ln w="9525">
                <a:noFill/>
              </a:ln>
            </p:spPr>
            <p:txBody>
              <a:bodyPr>
                <a:spAutoFit/>
              </a:bodyPr>
              <a:lstStyle/>
              <a:p>
                <a:pPr algn="l"/>
                <a:r>
                  <a:rPr lang="en-US" altLang="zh-CN" sz="2600" b="0" i="0" dirty="0">
                    <a:solidFill>
                      <a:schemeClr val="tx1"/>
                    </a:solidFill>
                    <a:latin typeface="Times New Roman" panose="02020603050405020304" pitchFamily="18" charset="0"/>
                  </a:rPr>
                  <a:t>VPN =     (5+5)=5      LP = 0</a:t>
                </a:r>
              </a:p>
            </p:txBody>
          </p:sp>
          <p:graphicFrame>
            <p:nvGraphicFramePr>
              <p:cNvPr id="12291" name="Object 50"/>
              <p:cNvGraphicFramePr>
                <a:graphicFrameLocks/>
              </p:cNvGraphicFramePr>
              <p:nvPr/>
            </p:nvGraphicFramePr>
            <p:xfrm>
              <a:off x="1440" y="2832"/>
              <a:ext cx="166" cy="432"/>
            </p:xfrm>
            <a:graphic>
              <a:graphicData uri="http://schemas.openxmlformats.org/presentationml/2006/ole">
                <p:oleObj spid="_x0000_s72706" r:id="rId11" imgW="152268" imgH="393359" progId="Equation.3">
                  <p:embed/>
                </p:oleObj>
              </a:graphicData>
            </a:graphic>
          </p:graphicFrame>
        </p:grpSp>
        <p:grpSp>
          <p:nvGrpSpPr>
            <p:cNvPr id="12311" name="Group 56"/>
            <p:cNvGrpSpPr/>
            <p:nvPr/>
          </p:nvGrpSpPr>
          <p:grpSpPr>
            <a:xfrm>
              <a:off x="1143000" y="5638800"/>
              <a:ext cx="4572000" cy="685800"/>
              <a:chOff x="720" y="3552"/>
              <a:chExt cx="2880" cy="432"/>
            </a:xfrm>
          </p:grpSpPr>
          <p:sp>
            <p:nvSpPr>
              <p:cNvPr id="12312" name="Rectangle 36"/>
              <p:cNvSpPr/>
              <p:nvPr/>
            </p:nvSpPr>
            <p:spPr>
              <a:xfrm>
                <a:off x="720" y="3600"/>
                <a:ext cx="2880" cy="310"/>
              </a:xfrm>
              <a:prstGeom prst="rect">
                <a:avLst/>
              </a:prstGeom>
              <a:noFill/>
              <a:ln w="9525">
                <a:noFill/>
              </a:ln>
            </p:spPr>
            <p:txBody>
              <a:bodyPr>
                <a:spAutoFit/>
              </a:bodyPr>
              <a:lstStyle/>
              <a:p>
                <a:pPr algn="l"/>
                <a:r>
                  <a:rPr lang="en-US" altLang="zh-CN" sz="2600" b="0" i="0" dirty="0">
                    <a:solidFill>
                      <a:schemeClr val="tx1"/>
                    </a:solidFill>
                    <a:latin typeface="Times New Roman" panose="02020603050405020304" pitchFamily="18" charset="0"/>
                  </a:rPr>
                  <a:t>VPN =     (6+6)=6      LP = 0</a:t>
                </a:r>
              </a:p>
            </p:txBody>
          </p:sp>
          <p:graphicFrame>
            <p:nvGraphicFramePr>
              <p:cNvPr id="12290" name="Object 51"/>
              <p:cNvGraphicFramePr>
                <a:graphicFrameLocks/>
              </p:cNvGraphicFramePr>
              <p:nvPr/>
            </p:nvGraphicFramePr>
            <p:xfrm>
              <a:off x="1440" y="3552"/>
              <a:ext cx="166" cy="432"/>
            </p:xfrm>
            <a:graphic>
              <a:graphicData uri="http://schemas.openxmlformats.org/presentationml/2006/ole">
                <p:oleObj spid="_x0000_s72705" r:id="rId12" imgW="152268" imgH="393359" progId="Equation.3">
                  <p:embed/>
                </p:oleObj>
              </a:graphicData>
            </a:graphic>
          </p:graphicFrame>
        </p:grpSp>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1442" name="组合 15"/>
          <p:cNvGrpSpPr/>
          <p:nvPr/>
        </p:nvGrpSpPr>
        <p:grpSpPr>
          <a:xfrm>
            <a:off x="76200" y="152400"/>
            <a:ext cx="9067800" cy="5791200"/>
            <a:chOff x="76200" y="152400"/>
            <a:chExt cx="9067800" cy="5791200"/>
          </a:xfrm>
        </p:grpSpPr>
        <p:pic>
          <p:nvPicPr>
            <p:cNvPr id="61443" name="Picture 3" descr="vsepr2"/>
            <p:cNvPicPr>
              <a:picLocks noChangeAspect="1"/>
            </p:cNvPicPr>
            <p:nvPr/>
          </p:nvPicPr>
          <p:blipFill>
            <a:blip r:embed="rId3">
              <a:lum contrast="18000"/>
            </a:blip>
            <a:srcRect l="63474" t="9238" r="19998" b="86818"/>
            <a:stretch>
              <a:fillRect/>
            </a:stretch>
          </p:blipFill>
          <p:spPr>
            <a:xfrm>
              <a:off x="5410200" y="1524000"/>
              <a:ext cx="1828800" cy="762000"/>
            </a:xfrm>
            <a:prstGeom prst="rect">
              <a:avLst/>
            </a:prstGeom>
            <a:noFill/>
            <a:ln w="9525">
              <a:noFill/>
            </a:ln>
          </p:spPr>
        </p:pic>
        <p:pic>
          <p:nvPicPr>
            <p:cNvPr id="61444" name="Picture 4" descr="vsepr2"/>
            <p:cNvPicPr>
              <a:picLocks noChangeAspect="1"/>
            </p:cNvPicPr>
            <p:nvPr/>
          </p:nvPicPr>
          <p:blipFill>
            <a:blip r:embed="rId3">
              <a:lum contrast="18000"/>
            </a:blip>
            <a:srcRect l="84526" t="36046" r="3665" b="56609"/>
            <a:stretch>
              <a:fillRect/>
            </a:stretch>
          </p:blipFill>
          <p:spPr>
            <a:xfrm>
              <a:off x="7162800" y="4191000"/>
              <a:ext cx="1905000" cy="1752600"/>
            </a:xfrm>
            <a:prstGeom prst="rect">
              <a:avLst/>
            </a:prstGeom>
            <a:noFill/>
            <a:ln w="9525">
              <a:noFill/>
            </a:ln>
          </p:spPr>
        </p:pic>
        <p:sp>
          <p:nvSpPr>
            <p:cNvPr id="61445" name="Text Box 5"/>
            <p:cNvSpPr txBox="1"/>
            <p:nvPr/>
          </p:nvSpPr>
          <p:spPr>
            <a:xfrm>
              <a:off x="76200" y="762000"/>
              <a:ext cx="8991600" cy="772519"/>
            </a:xfrm>
            <a:prstGeom prst="rect">
              <a:avLst/>
            </a:prstGeom>
            <a:noFill/>
            <a:ln w="9525">
              <a:noFill/>
            </a:ln>
          </p:spPr>
          <p:txBody>
            <a:bodyPr>
              <a:spAutoFit/>
            </a:bodyPr>
            <a:lstStyle/>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总电子     电子对         成键       未成对    分子构型       实例</a:t>
              </a:r>
            </a:p>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  对数      理想构型    电子对     电子对</a:t>
              </a:r>
            </a:p>
          </p:txBody>
        </p:sp>
        <p:sp>
          <p:nvSpPr>
            <p:cNvPr id="61446" name="Text Box 6"/>
            <p:cNvSpPr txBox="1"/>
            <p:nvPr/>
          </p:nvSpPr>
          <p:spPr>
            <a:xfrm>
              <a:off x="228600" y="1752600"/>
              <a:ext cx="5027613"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2              </a:t>
              </a:r>
              <a:r>
                <a:rPr lang="en-US" altLang="zh-CN"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ea typeface="宋体" panose="02010600030101010101" pitchFamily="2" charset="-122"/>
                </a:rPr>
                <a:t>              2             0</a:t>
              </a:r>
            </a:p>
          </p:txBody>
        </p:sp>
        <p:pic>
          <p:nvPicPr>
            <p:cNvPr id="61447" name="Picture 7" descr="vsepr2"/>
            <p:cNvPicPr>
              <a:picLocks noChangeAspect="1"/>
            </p:cNvPicPr>
            <p:nvPr/>
          </p:nvPicPr>
          <p:blipFill>
            <a:blip r:embed="rId3">
              <a:lum contrast="18000"/>
            </a:blip>
            <a:srcRect l="84192" t="10460" r="5350" b="85301"/>
            <a:stretch>
              <a:fillRect/>
            </a:stretch>
          </p:blipFill>
          <p:spPr>
            <a:xfrm>
              <a:off x="7315200" y="1524000"/>
              <a:ext cx="1828800" cy="762000"/>
            </a:xfrm>
            <a:prstGeom prst="rect">
              <a:avLst/>
            </a:prstGeom>
            <a:noFill/>
            <a:ln w="9525">
              <a:noFill/>
            </a:ln>
          </p:spPr>
        </p:pic>
        <p:sp>
          <p:nvSpPr>
            <p:cNvPr id="61448" name="Text Box 8"/>
            <p:cNvSpPr txBox="1"/>
            <p:nvPr/>
          </p:nvSpPr>
          <p:spPr>
            <a:xfrm>
              <a:off x="228600" y="2819400"/>
              <a:ext cx="51816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3                                3             0</a:t>
              </a:r>
            </a:p>
          </p:txBody>
        </p:sp>
        <p:sp>
          <p:nvSpPr>
            <p:cNvPr id="61449" name="Text Box 9"/>
            <p:cNvSpPr txBox="1"/>
            <p:nvPr/>
          </p:nvSpPr>
          <p:spPr>
            <a:xfrm>
              <a:off x="609600" y="5029200"/>
              <a:ext cx="48768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3             1</a:t>
              </a:r>
            </a:p>
          </p:txBody>
        </p:sp>
        <p:pic>
          <p:nvPicPr>
            <p:cNvPr id="61450" name="Picture 10" descr="vsepr2"/>
            <p:cNvPicPr>
              <a:picLocks noChangeAspect="1"/>
            </p:cNvPicPr>
            <p:nvPr/>
          </p:nvPicPr>
          <p:blipFill>
            <a:blip r:embed="rId3">
              <a:lum contrast="18000"/>
            </a:blip>
            <a:srcRect l="63806" t="33107" r="23033" b="57635"/>
            <a:stretch>
              <a:fillRect/>
            </a:stretch>
          </p:blipFill>
          <p:spPr>
            <a:xfrm>
              <a:off x="5105400" y="3886200"/>
              <a:ext cx="1981200" cy="1828800"/>
            </a:xfrm>
            <a:prstGeom prst="rect">
              <a:avLst/>
            </a:prstGeom>
            <a:noFill/>
            <a:ln w="9525">
              <a:noFill/>
            </a:ln>
          </p:spPr>
        </p:pic>
        <p:pic>
          <p:nvPicPr>
            <p:cNvPr id="61451" name="Picture 11" descr="vsepr2"/>
            <p:cNvPicPr>
              <a:picLocks noChangeAspect="1"/>
            </p:cNvPicPr>
            <p:nvPr/>
          </p:nvPicPr>
          <p:blipFill>
            <a:blip r:embed="rId3">
              <a:lum contrast="18000"/>
            </a:blip>
            <a:srcRect l="85838" t="17892" r="5017" b="71803"/>
            <a:stretch>
              <a:fillRect/>
            </a:stretch>
          </p:blipFill>
          <p:spPr>
            <a:xfrm>
              <a:off x="7239000" y="2209800"/>
              <a:ext cx="1905000" cy="1600200"/>
            </a:xfrm>
            <a:prstGeom prst="rect">
              <a:avLst/>
            </a:prstGeom>
            <a:noFill/>
            <a:ln w="9525">
              <a:noFill/>
            </a:ln>
          </p:spPr>
        </p:pic>
        <p:pic>
          <p:nvPicPr>
            <p:cNvPr id="61452" name="Picture 12" descr="vsepr2"/>
            <p:cNvPicPr>
              <a:picLocks noChangeAspect="1"/>
            </p:cNvPicPr>
            <p:nvPr/>
          </p:nvPicPr>
          <p:blipFill>
            <a:blip r:embed="rId3">
              <a:lum contrast="60000"/>
            </a:blip>
            <a:srcRect l="63924" t="18053" r="23033" b="70776"/>
            <a:stretch>
              <a:fillRect/>
            </a:stretch>
          </p:blipFill>
          <p:spPr>
            <a:xfrm>
              <a:off x="5181600" y="2362200"/>
              <a:ext cx="1905000" cy="1295400"/>
            </a:xfrm>
            <a:prstGeom prst="rect">
              <a:avLst/>
            </a:prstGeom>
            <a:noFill/>
            <a:ln w="9525">
              <a:noFill/>
            </a:ln>
          </p:spPr>
        </p:pic>
        <p:pic>
          <p:nvPicPr>
            <p:cNvPr id="61453" name="Picture 13" descr="vsepr2"/>
            <p:cNvPicPr>
              <a:picLocks noChangeAspect="1"/>
            </p:cNvPicPr>
            <p:nvPr/>
          </p:nvPicPr>
          <p:blipFill>
            <a:blip r:embed="rId3">
              <a:lum contrast="18000"/>
            </a:blip>
            <a:srcRect l="19078" t="17369" r="68565" b="72005"/>
            <a:stretch>
              <a:fillRect/>
            </a:stretch>
          </p:blipFill>
          <p:spPr>
            <a:xfrm>
              <a:off x="1371600" y="2438400"/>
              <a:ext cx="1314450" cy="1089025"/>
            </a:xfrm>
            <a:prstGeom prst="rect">
              <a:avLst/>
            </a:prstGeom>
            <a:noFill/>
            <a:ln w="9525">
              <a:noFill/>
            </a:ln>
          </p:spPr>
        </p:pic>
        <p:sp>
          <p:nvSpPr>
            <p:cNvPr id="61454" name="矩形 14"/>
            <p:cNvSpPr/>
            <p:nvPr/>
          </p:nvSpPr>
          <p:spPr>
            <a:xfrm>
              <a:off x="2133600" y="152400"/>
              <a:ext cx="3872407" cy="492443"/>
            </a:xfrm>
            <a:prstGeom prst="rect">
              <a:avLst/>
            </a:prstGeom>
            <a:noFill/>
            <a:ln w="9525">
              <a:noFill/>
            </a:ln>
          </p:spPr>
          <p:txBody>
            <a:bodyPr wrap="none">
              <a:spAutoFit/>
            </a:bodyPr>
            <a:lstStyle/>
            <a:p>
              <a:r>
                <a:rPr lang="en-US" altLang="zh-CN" sz="2600" i="0" dirty="0">
                  <a:solidFill>
                    <a:schemeClr val="tx1"/>
                  </a:solidFill>
                  <a:latin typeface="Times New Roman" panose="02020603050405020304" pitchFamily="18" charset="0"/>
                </a:rPr>
                <a:t>LP ≠ 0 </a:t>
              </a:r>
              <a:r>
                <a:rPr lang="zh-CN" altLang="en-US" sz="2600" i="0" dirty="0">
                  <a:solidFill>
                    <a:schemeClr val="tx1"/>
                  </a:solidFill>
                  <a:latin typeface="Times New Roman" panose="02020603050405020304" pitchFamily="18" charset="0"/>
                </a:rPr>
                <a:t>时分子的空间构型</a:t>
              </a:r>
              <a:endParaRPr lang="zh-CN" altLang="en-US" sz="2600" dirty="0">
                <a:solidFill>
                  <a:schemeClr val="tx1"/>
                </a:solidFill>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2466" name="组合 13"/>
          <p:cNvGrpSpPr/>
          <p:nvPr/>
        </p:nvGrpSpPr>
        <p:grpSpPr>
          <a:xfrm>
            <a:off x="0" y="76200"/>
            <a:ext cx="8991600" cy="6096000"/>
            <a:chOff x="0" y="76200"/>
            <a:chExt cx="8991600" cy="6096000"/>
          </a:xfrm>
        </p:grpSpPr>
        <p:pic>
          <p:nvPicPr>
            <p:cNvPr id="62467" name="Picture 2" descr="vsepr2"/>
            <p:cNvPicPr>
              <a:picLocks noChangeAspect="1"/>
            </p:cNvPicPr>
            <p:nvPr/>
          </p:nvPicPr>
          <p:blipFill>
            <a:blip r:embed="rId3">
              <a:lum contrast="18000"/>
            </a:blip>
            <a:srcRect l="19139" t="47871" r="68301" b="39879"/>
            <a:stretch>
              <a:fillRect/>
            </a:stretch>
          </p:blipFill>
          <p:spPr>
            <a:xfrm>
              <a:off x="990600" y="1295400"/>
              <a:ext cx="1676400" cy="1447800"/>
            </a:xfrm>
            <a:prstGeom prst="rect">
              <a:avLst/>
            </a:prstGeom>
            <a:noFill/>
            <a:ln w="9525">
              <a:noFill/>
            </a:ln>
          </p:spPr>
        </p:pic>
        <p:pic>
          <p:nvPicPr>
            <p:cNvPr id="62468" name="Picture 3" descr="vsepr2"/>
            <p:cNvPicPr>
              <a:picLocks noChangeAspect="1"/>
            </p:cNvPicPr>
            <p:nvPr/>
          </p:nvPicPr>
          <p:blipFill>
            <a:blip r:embed="rId3">
              <a:lum contrast="18000"/>
            </a:blip>
            <a:srcRect l="63840" t="67038" r="22461" b="21133"/>
            <a:stretch>
              <a:fillRect/>
            </a:stretch>
          </p:blipFill>
          <p:spPr>
            <a:xfrm>
              <a:off x="5257800" y="2209800"/>
              <a:ext cx="1828800" cy="1752600"/>
            </a:xfrm>
            <a:prstGeom prst="rect">
              <a:avLst/>
            </a:prstGeom>
            <a:noFill/>
            <a:ln w="9525">
              <a:noFill/>
            </a:ln>
          </p:spPr>
        </p:pic>
        <p:pic>
          <p:nvPicPr>
            <p:cNvPr id="62469" name="Picture 4" descr="vsepr2"/>
            <p:cNvPicPr>
              <a:picLocks noChangeAspect="1"/>
            </p:cNvPicPr>
            <p:nvPr/>
          </p:nvPicPr>
          <p:blipFill>
            <a:blip r:embed="rId3">
              <a:lum contrast="18000"/>
            </a:blip>
            <a:srcRect l="63899" t="82649" r="24001" b="5540"/>
            <a:stretch>
              <a:fillRect/>
            </a:stretch>
          </p:blipFill>
          <p:spPr>
            <a:xfrm>
              <a:off x="4800600" y="4038600"/>
              <a:ext cx="2514600" cy="2133600"/>
            </a:xfrm>
            <a:prstGeom prst="rect">
              <a:avLst/>
            </a:prstGeom>
            <a:noFill/>
            <a:ln w="9525">
              <a:noFill/>
            </a:ln>
          </p:spPr>
        </p:pic>
        <p:sp>
          <p:nvSpPr>
            <p:cNvPr id="62470" name="Text Box 6"/>
            <p:cNvSpPr txBox="1"/>
            <p:nvPr/>
          </p:nvSpPr>
          <p:spPr>
            <a:xfrm>
              <a:off x="0" y="76200"/>
              <a:ext cx="8991600" cy="772519"/>
            </a:xfrm>
            <a:prstGeom prst="rect">
              <a:avLst/>
            </a:prstGeom>
            <a:noFill/>
            <a:ln w="9525">
              <a:noFill/>
            </a:ln>
          </p:spPr>
          <p:txBody>
            <a:bodyPr>
              <a:spAutoFit/>
            </a:bodyPr>
            <a:lstStyle/>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总电子    电子对        成键      未成对   分子构型        实例</a:t>
              </a:r>
            </a:p>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  对数     理想构型   电子对    电子对</a:t>
              </a:r>
            </a:p>
          </p:txBody>
        </p:sp>
        <p:sp>
          <p:nvSpPr>
            <p:cNvPr id="62471" name="Text Box 7"/>
            <p:cNvSpPr txBox="1"/>
            <p:nvPr/>
          </p:nvSpPr>
          <p:spPr>
            <a:xfrm>
              <a:off x="228600" y="1219200"/>
              <a:ext cx="5027613"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4                           4             0</a:t>
              </a:r>
            </a:p>
          </p:txBody>
        </p:sp>
        <p:pic>
          <p:nvPicPr>
            <p:cNvPr id="62472" name="Picture 8" descr="vsepr2"/>
            <p:cNvPicPr>
              <a:picLocks noChangeAspect="1"/>
            </p:cNvPicPr>
            <p:nvPr/>
          </p:nvPicPr>
          <p:blipFill>
            <a:blip r:embed="rId3">
              <a:lum contrast="18000"/>
            </a:blip>
            <a:srcRect l="63400" t="48044" r="22459" b="37357"/>
            <a:stretch>
              <a:fillRect/>
            </a:stretch>
          </p:blipFill>
          <p:spPr>
            <a:xfrm>
              <a:off x="5334000" y="609600"/>
              <a:ext cx="1828800" cy="1447800"/>
            </a:xfrm>
            <a:prstGeom prst="rect">
              <a:avLst/>
            </a:prstGeom>
            <a:noFill/>
            <a:ln w="9525">
              <a:noFill/>
            </a:ln>
          </p:spPr>
        </p:pic>
        <p:pic>
          <p:nvPicPr>
            <p:cNvPr id="62473" name="Picture 9" descr="vsepr2"/>
            <p:cNvPicPr>
              <a:picLocks noChangeAspect="1"/>
            </p:cNvPicPr>
            <p:nvPr/>
          </p:nvPicPr>
          <p:blipFill>
            <a:blip r:embed="rId3">
              <a:lum contrast="18000"/>
            </a:blip>
            <a:srcRect l="86960" t="50145" r="5101" b="40147"/>
            <a:stretch>
              <a:fillRect/>
            </a:stretch>
          </p:blipFill>
          <p:spPr>
            <a:xfrm>
              <a:off x="7086600" y="533400"/>
              <a:ext cx="1905000" cy="1447800"/>
            </a:xfrm>
            <a:prstGeom prst="rect">
              <a:avLst/>
            </a:prstGeom>
            <a:noFill/>
            <a:ln w="9525">
              <a:noFill/>
            </a:ln>
          </p:spPr>
        </p:pic>
        <p:sp>
          <p:nvSpPr>
            <p:cNvPr id="62474" name="Text Box 10"/>
            <p:cNvSpPr txBox="1"/>
            <p:nvPr/>
          </p:nvSpPr>
          <p:spPr>
            <a:xfrm>
              <a:off x="152400" y="2590800"/>
              <a:ext cx="50292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3             1</a:t>
              </a:r>
            </a:p>
          </p:txBody>
        </p:sp>
        <p:pic>
          <p:nvPicPr>
            <p:cNvPr id="62475" name="Picture 11" descr="vsepr2"/>
            <p:cNvPicPr>
              <a:picLocks noChangeAspect="1"/>
            </p:cNvPicPr>
            <p:nvPr/>
          </p:nvPicPr>
          <p:blipFill>
            <a:blip r:embed="rId3">
              <a:lum contrast="18000"/>
            </a:blip>
            <a:srcRect l="86958" t="68529" r="6000" b="24593"/>
            <a:stretch>
              <a:fillRect/>
            </a:stretch>
          </p:blipFill>
          <p:spPr>
            <a:xfrm>
              <a:off x="7239000" y="2438400"/>
              <a:ext cx="1676400" cy="1371600"/>
            </a:xfrm>
            <a:prstGeom prst="rect">
              <a:avLst/>
            </a:prstGeom>
            <a:noFill/>
            <a:ln w="9525">
              <a:noFill/>
            </a:ln>
          </p:spPr>
        </p:pic>
        <p:sp>
          <p:nvSpPr>
            <p:cNvPr id="62476" name="Text Box 12"/>
            <p:cNvSpPr txBox="1"/>
            <p:nvPr/>
          </p:nvSpPr>
          <p:spPr>
            <a:xfrm>
              <a:off x="76200" y="3733800"/>
              <a:ext cx="51054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2             2</a:t>
              </a:r>
            </a:p>
          </p:txBody>
        </p:sp>
        <p:pic>
          <p:nvPicPr>
            <p:cNvPr id="62477" name="Picture 13" descr="vsepr2"/>
            <p:cNvPicPr>
              <a:picLocks noChangeAspect="1"/>
            </p:cNvPicPr>
            <p:nvPr/>
          </p:nvPicPr>
          <p:blipFill>
            <a:blip r:embed="rId3">
              <a:lum contrast="18000"/>
            </a:blip>
            <a:srcRect l="87500" t="84122" r="5780" b="8827"/>
            <a:stretch>
              <a:fillRect/>
            </a:stretch>
          </p:blipFill>
          <p:spPr>
            <a:xfrm>
              <a:off x="7543800" y="4419600"/>
              <a:ext cx="1371600" cy="1295400"/>
            </a:xfrm>
            <a:prstGeom prst="rect">
              <a:avLst/>
            </a:prstGeom>
            <a:noFill/>
            <a:ln w="9525">
              <a:noFill/>
            </a:ln>
          </p:spPr>
        </p:pic>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3490" name="组合 17"/>
          <p:cNvGrpSpPr/>
          <p:nvPr/>
        </p:nvGrpSpPr>
        <p:grpSpPr>
          <a:xfrm>
            <a:off x="0" y="304800"/>
            <a:ext cx="9144000" cy="6019800"/>
            <a:chOff x="0" y="304800"/>
            <a:chExt cx="9144000" cy="6019800"/>
          </a:xfrm>
        </p:grpSpPr>
        <p:pic>
          <p:nvPicPr>
            <p:cNvPr id="63491" name="Picture 2" descr="vsepr4"/>
            <p:cNvPicPr>
              <a:picLocks noChangeAspect="1"/>
            </p:cNvPicPr>
            <p:nvPr/>
          </p:nvPicPr>
          <p:blipFill>
            <a:blip r:embed="rId3"/>
            <a:srcRect l="18388" t="5978" r="69331" b="77779"/>
            <a:stretch>
              <a:fillRect/>
            </a:stretch>
          </p:blipFill>
          <p:spPr>
            <a:xfrm>
              <a:off x="838200" y="1143000"/>
              <a:ext cx="1905000" cy="1128713"/>
            </a:xfrm>
            <a:prstGeom prst="rect">
              <a:avLst/>
            </a:prstGeom>
            <a:noFill/>
            <a:ln w="9525">
              <a:noFill/>
            </a:ln>
          </p:spPr>
        </p:pic>
        <p:pic>
          <p:nvPicPr>
            <p:cNvPr id="63492" name="Picture 3" descr="vsepr4"/>
            <p:cNvPicPr>
              <a:picLocks noChangeAspect="1"/>
            </p:cNvPicPr>
            <p:nvPr/>
          </p:nvPicPr>
          <p:blipFill>
            <a:blip r:embed="rId3">
              <a:lum contrast="18000"/>
            </a:blip>
            <a:srcRect l="91557" t="34903" r="3796" b="58040"/>
            <a:stretch>
              <a:fillRect/>
            </a:stretch>
          </p:blipFill>
          <p:spPr>
            <a:xfrm>
              <a:off x="7543800" y="2362200"/>
              <a:ext cx="1219200" cy="963613"/>
            </a:xfrm>
            <a:prstGeom prst="rect">
              <a:avLst/>
            </a:prstGeom>
            <a:noFill/>
            <a:ln w="9525">
              <a:noFill/>
            </a:ln>
          </p:spPr>
        </p:pic>
        <p:sp>
          <p:nvSpPr>
            <p:cNvPr id="63493" name="Text Box 6"/>
            <p:cNvSpPr txBox="1"/>
            <p:nvPr/>
          </p:nvSpPr>
          <p:spPr>
            <a:xfrm>
              <a:off x="0" y="304800"/>
              <a:ext cx="9144000" cy="786626"/>
            </a:xfrm>
            <a:prstGeom prst="rect">
              <a:avLst/>
            </a:prstGeom>
            <a:noFill/>
            <a:ln w="9525">
              <a:noFill/>
            </a:ln>
          </p:spPr>
          <p:txBody>
            <a:bodyPr>
              <a:spAutoFit/>
            </a:bodyPr>
            <a:lstStyle/>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总电子   电子对       成键       未成对     分子构型        实例</a:t>
              </a:r>
            </a:p>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  对数    理想构型  电子对     电子对</a:t>
              </a:r>
            </a:p>
          </p:txBody>
        </p:sp>
        <p:sp>
          <p:nvSpPr>
            <p:cNvPr id="63494" name="Text Box 7"/>
            <p:cNvSpPr txBox="1"/>
            <p:nvPr/>
          </p:nvSpPr>
          <p:spPr>
            <a:xfrm>
              <a:off x="0" y="1371600"/>
              <a:ext cx="5027613"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5                             5             0</a:t>
              </a:r>
            </a:p>
          </p:txBody>
        </p:sp>
        <p:pic>
          <p:nvPicPr>
            <p:cNvPr id="63495" name="Picture 8" descr="vsepr4"/>
            <p:cNvPicPr>
              <a:picLocks noChangeAspect="1"/>
            </p:cNvPicPr>
            <p:nvPr/>
          </p:nvPicPr>
          <p:blipFill>
            <a:blip r:embed="rId3">
              <a:lum contrast="12000"/>
            </a:blip>
            <a:srcRect l="74019" t="5434" r="12840" b="76752"/>
            <a:stretch>
              <a:fillRect/>
            </a:stretch>
          </p:blipFill>
          <p:spPr>
            <a:xfrm>
              <a:off x="5410200" y="838200"/>
              <a:ext cx="1752600" cy="1371600"/>
            </a:xfrm>
            <a:prstGeom prst="rect">
              <a:avLst/>
            </a:prstGeom>
            <a:noFill/>
            <a:ln w="9525">
              <a:noFill/>
            </a:ln>
          </p:spPr>
        </p:pic>
        <p:pic>
          <p:nvPicPr>
            <p:cNvPr id="63496" name="Picture 9" descr="vsepr4"/>
            <p:cNvPicPr>
              <a:picLocks noChangeAspect="1"/>
            </p:cNvPicPr>
            <p:nvPr/>
          </p:nvPicPr>
          <p:blipFill>
            <a:blip r:embed="rId3">
              <a:lum contrast="18000"/>
            </a:blip>
            <a:srcRect l="91934" t="9872" r="2844" b="82187"/>
            <a:stretch>
              <a:fillRect/>
            </a:stretch>
          </p:blipFill>
          <p:spPr>
            <a:xfrm>
              <a:off x="7467600" y="914400"/>
              <a:ext cx="1143000" cy="914400"/>
            </a:xfrm>
            <a:prstGeom prst="rect">
              <a:avLst/>
            </a:prstGeom>
            <a:noFill/>
            <a:ln w="9525">
              <a:noFill/>
            </a:ln>
          </p:spPr>
        </p:pic>
        <p:sp>
          <p:nvSpPr>
            <p:cNvPr id="63497" name="Text Box 10"/>
            <p:cNvSpPr txBox="1"/>
            <p:nvPr/>
          </p:nvSpPr>
          <p:spPr>
            <a:xfrm>
              <a:off x="990600" y="2362200"/>
              <a:ext cx="39624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4             1</a:t>
              </a:r>
            </a:p>
          </p:txBody>
        </p:sp>
        <p:pic>
          <p:nvPicPr>
            <p:cNvPr id="63498" name="Picture 11" descr="vsepr4"/>
            <p:cNvPicPr>
              <a:picLocks noChangeAspect="1"/>
            </p:cNvPicPr>
            <p:nvPr/>
          </p:nvPicPr>
          <p:blipFill>
            <a:blip r:embed="rId3">
              <a:lum contrast="12000"/>
            </a:blip>
            <a:srcRect l="74399" t="28955" r="12680" b="53683"/>
            <a:stretch>
              <a:fillRect/>
            </a:stretch>
          </p:blipFill>
          <p:spPr>
            <a:xfrm>
              <a:off x="5257800" y="2209800"/>
              <a:ext cx="1905000" cy="1165225"/>
            </a:xfrm>
            <a:prstGeom prst="rect">
              <a:avLst/>
            </a:prstGeom>
            <a:noFill/>
            <a:ln w="9525">
              <a:noFill/>
            </a:ln>
          </p:spPr>
        </p:pic>
        <p:pic>
          <p:nvPicPr>
            <p:cNvPr id="63499" name="Picture 12" descr="vsepr4"/>
            <p:cNvPicPr>
              <a:picLocks noChangeAspect="1"/>
            </p:cNvPicPr>
            <p:nvPr/>
          </p:nvPicPr>
          <p:blipFill>
            <a:blip r:embed="rId3"/>
            <a:srcRect l="74039" t="53050" r="13200" b="29437"/>
            <a:stretch>
              <a:fillRect/>
            </a:stretch>
          </p:blipFill>
          <p:spPr>
            <a:xfrm>
              <a:off x="4953000" y="3429000"/>
              <a:ext cx="2514600" cy="1346200"/>
            </a:xfrm>
            <a:prstGeom prst="rect">
              <a:avLst/>
            </a:prstGeom>
            <a:noFill/>
            <a:ln w="9525">
              <a:noFill/>
            </a:ln>
          </p:spPr>
        </p:pic>
        <p:sp>
          <p:nvSpPr>
            <p:cNvPr id="63500" name="Text Box 13"/>
            <p:cNvSpPr txBox="1"/>
            <p:nvPr/>
          </p:nvSpPr>
          <p:spPr>
            <a:xfrm>
              <a:off x="0" y="3733800"/>
              <a:ext cx="46482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3             2</a:t>
              </a:r>
            </a:p>
          </p:txBody>
        </p:sp>
        <p:pic>
          <p:nvPicPr>
            <p:cNvPr id="63501" name="Picture 14" descr="vsepr4"/>
            <p:cNvPicPr>
              <a:picLocks noChangeAspect="1"/>
            </p:cNvPicPr>
            <p:nvPr/>
          </p:nvPicPr>
          <p:blipFill>
            <a:blip r:embed="rId3">
              <a:lum contrast="24000"/>
            </a:blip>
            <a:srcRect l="91106" t="56674" r="2344" b="33604"/>
            <a:stretch>
              <a:fillRect/>
            </a:stretch>
          </p:blipFill>
          <p:spPr>
            <a:xfrm>
              <a:off x="7620000" y="3581400"/>
              <a:ext cx="1143000" cy="1066800"/>
            </a:xfrm>
            <a:prstGeom prst="rect">
              <a:avLst/>
            </a:prstGeom>
            <a:noFill/>
            <a:ln w="9525">
              <a:noFill/>
            </a:ln>
          </p:spPr>
        </p:pic>
        <p:sp>
          <p:nvSpPr>
            <p:cNvPr id="63502" name="Text Box 15"/>
            <p:cNvSpPr txBox="1"/>
            <p:nvPr/>
          </p:nvSpPr>
          <p:spPr>
            <a:xfrm>
              <a:off x="990600" y="5257800"/>
              <a:ext cx="36576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2             3</a:t>
              </a:r>
            </a:p>
          </p:txBody>
        </p:sp>
        <p:pic>
          <p:nvPicPr>
            <p:cNvPr id="63503" name="Picture 16" descr="vsepr4"/>
            <p:cNvPicPr>
              <a:picLocks noChangeAspect="1"/>
            </p:cNvPicPr>
            <p:nvPr/>
          </p:nvPicPr>
          <p:blipFill>
            <a:blip r:embed="rId3">
              <a:lum contrast="18000"/>
            </a:blip>
            <a:srcRect l="73878" t="75995" r="14403" b="6975"/>
            <a:stretch>
              <a:fillRect/>
            </a:stretch>
          </p:blipFill>
          <p:spPr>
            <a:xfrm>
              <a:off x="4876800" y="4953000"/>
              <a:ext cx="2514600" cy="1371600"/>
            </a:xfrm>
            <a:prstGeom prst="rect">
              <a:avLst/>
            </a:prstGeom>
            <a:noFill/>
            <a:ln w="9525">
              <a:noFill/>
            </a:ln>
          </p:spPr>
        </p:pic>
        <p:pic>
          <p:nvPicPr>
            <p:cNvPr id="63504" name="Picture 17" descr="vsepr4"/>
            <p:cNvPicPr>
              <a:picLocks noChangeAspect="1"/>
            </p:cNvPicPr>
            <p:nvPr/>
          </p:nvPicPr>
          <p:blipFill>
            <a:blip r:embed="rId3">
              <a:lum contrast="24000"/>
            </a:blip>
            <a:srcRect l="91106" t="80162" r="1979" b="11836"/>
            <a:stretch>
              <a:fillRect/>
            </a:stretch>
          </p:blipFill>
          <p:spPr>
            <a:xfrm>
              <a:off x="7543800" y="5181600"/>
              <a:ext cx="1077913" cy="1066800"/>
            </a:xfrm>
            <a:prstGeom prst="rect">
              <a:avLst/>
            </a:prstGeom>
            <a:noFill/>
            <a:ln w="9525">
              <a:noFill/>
            </a:ln>
          </p:spPr>
        </p:pic>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4514" name="组合 15"/>
          <p:cNvGrpSpPr/>
          <p:nvPr/>
        </p:nvGrpSpPr>
        <p:grpSpPr>
          <a:xfrm>
            <a:off x="76200" y="152400"/>
            <a:ext cx="9144000" cy="6172200"/>
            <a:chOff x="0" y="304800"/>
            <a:chExt cx="9144000" cy="6172200"/>
          </a:xfrm>
        </p:grpSpPr>
        <p:sp>
          <p:nvSpPr>
            <p:cNvPr id="64515" name="Text Box 4"/>
            <p:cNvSpPr txBox="1"/>
            <p:nvPr/>
          </p:nvSpPr>
          <p:spPr>
            <a:xfrm>
              <a:off x="0" y="304800"/>
              <a:ext cx="9144000" cy="786626"/>
            </a:xfrm>
            <a:prstGeom prst="rect">
              <a:avLst/>
            </a:prstGeom>
            <a:noFill/>
            <a:ln w="9525">
              <a:noFill/>
            </a:ln>
          </p:spPr>
          <p:txBody>
            <a:bodyPr>
              <a:spAutoFit/>
            </a:bodyPr>
            <a:lstStyle/>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总电子   电子对       成键       未成对   分子构型        实例</a:t>
              </a:r>
            </a:p>
            <a:p>
              <a:pPr algn="l" eaLnBrk="0" hangingPunct="0">
                <a:lnSpc>
                  <a:spcPct val="60000"/>
                </a:lnSpc>
                <a:spcBef>
                  <a:spcPct val="50000"/>
                </a:spcBef>
              </a:pPr>
              <a:r>
                <a:rPr lang="zh-CN" altLang="en-US" sz="2600" i="0" dirty="0">
                  <a:solidFill>
                    <a:schemeClr val="tx1"/>
                  </a:solidFill>
                  <a:latin typeface="Times New Roman" panose="02020603050405020304" pitchFamily="18" charset="0"/>
                </a:rPr>
                <a:t>  对数    理想构型  电子对     电子对</a:t>
              </a:r>
              <a:endParaRPr lang="zh-CN" altLang="en-US" sz="2600" i="0" baseline="-25000" dirty="0">
                <a:solidFill>
                  <a:schemeClr val="tx1"/>
                </a:solidFill>
                <a:latin typeface="Times New Roman" panose="02020603050405020304" pitchFamily="18" charset="0"/>
              </a:endParaRPr>
            </a:p>
          </p:txBody>
        </p:sp>
        <p:pic>
          <p:nvPicPr>
            <p:cNvPr id="64516" name="Picture 5" descr="vsepr5"/>
            <p:cNvPicPr>
              <a:picLocks noChangeAspect="1"/>
            </p:cNvPicPr>
            <p:nvPr/>
          </p:nvPicPr>
          <p:blipFill>
            <a:blip r:embed="rId3"/>
            <a:srcRect l="17201" t="9686" r="68721" b="67206"/>
            <a:stretch>
              <a:fillRect/>
            </a:stretch>
          </p:blipFill>
          <p:spPr>
            <a:xfrm>
              <a:off x="838200" y="1143000"/>
              <a:ext cx="1323975" cy="1377950"/>
            </a:xfrm>
            <a:prstGeom prst="rect">
              <a:avLst/>
            </a:prstGeom>
            <a:noFill/>
            <a:ln w="9525">
              <a:noFill/>
            </a:ln>
          </p:spPr>
        </p:pic>
        <p:pic>
          <p:nvPicPr>
            <p:cNvPr id="64517" name="Picture 6" descr="vsepr5"/>
            <p:cNvPicPr>
              <a:picLocks noChangeAspect="1"/>
            </p:cNvPicPr>
            <p:nvPr/>
          </p:nvPicPr>
          <p:blipFill>
            <a:blip r:embed="rId3">
              <a:lum contrast="18000"/>
            </a:blip>
            <a:srcRect l="73419" t="5685" r="14908" b="69231"/>
            <a:stretch>
              <a:fillRect/>
            </a:stretch>
          </p:blipFill>
          <p:spPr>
            <a:xfrm>
              <a:off x="5105400" y="1143000"/>
              <a:ext cx="1676400" cy="1362075"/>
            </a:xfrm>
            <a:prstGeom prst="rect">
              <a:avLst/>
            </a:prstGeom>
            <a:noFill/>
            <a:ln w="9525">
              <a:noFill/>
            </a:ln>
          </p:spPr>
        </p:pic>
        <p:sp>
          <p:nvSpPr>
            <p:cNvPr id="64518" name="Text Box 8"/>
            <p:cNvSpPr txBox="1"/>
            <p:nvPr/>
          </p:nvSpPr>
          <p:spPr>
            <a:xfrm>
              <a:off x="0" y="1524000"/>
              <a:ext cx="5027613"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6                           6             0</a:t>
              </a:r>
            </a:p>
          </p:txBody>
        </p:sp>
        <p:sp>
          <p:nvSpPr>
            <p:cNvPr id="64519" name="Text Box 9"/>
            <p:cNvSpPr txBox="1"/>
            <p:nvPr/>
          </p:nvSpPr>
          <p:spPr>
            <a:xfrm>
              <a:off x="457200" y="2743200"/>
              <a:ext cx="42672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5             1</a:t>
              </a:r>
            </a:p>
          </p:txBody>
        </p:sp>
        <p:pic>
          <p:nvPicPr>
            <p:cNvPr id="64520" name="Picture 10" descr="vsepr5"/>
            <p:cNvPicPr>
              <a:picLocks noChangeAspect="1"/>
            </p:cNvPicPr>
            <p:nvPr/>
          </p:nvPicPr>
          <p:blipFill>
            <a:blip r:embed="rId3">
              <a:lum contrast="24000"/>
            </a:blip>
            <a:srcRect l="73372" t="38338" r="14908" b="38554"/>
            <a:stretch>
              <a:fillRect/>
            </a:stretch>
          </p:blipFill>
          <p:spPr>
            <a:xfrm>
              <a:off x="4876800" y="2514600"/>
              <a:ext cx="1981200" cy="1676400"/>
            </a:xfrm>
            <a:prstGeom prst="rect">
              <a:avLst/>
            </a:prstGeom>
            <a:noFill/>
            <a:ln w="9525">
              <a:noFill/>
            </a:ln>
          </p:spPr>
        </p:pic>
        <p:pic>
          <p:nvPicPr>
            <p:cNvPr id="64521" name="Picture 11" descr="vsepr5"/>
            <p:cNvPicPr>
              <a:picLocks noChangeAspect="1"/>
            </p:cNvPicPr>
            <p:nvPr/>
          </p:nvPicPr>
          <p:blipFill>
            <a:blip r:embed="rId3">
              <a:lum contrast="30000"/>
            </a:blip>
            <a:srcRect l="92235" t="46652" r="3769" b="45500"/>
            <a:stretch>
              <a:fillRect/>
            </a:stretch>
          </p:blipFill>
          <p:spPr>
            <a:xfrm>
              <a:off x="7467601" y="2895601"/>
              <a:ext cx="914400" cy="914400"/>
            </a:xfrm>
            <a:prstGeom prst="rect">
              <a:avLst/>
            </a:prstGeom>
            <a:noFill/>
            <a:ln w="9525">
              <a:noFill/>
            </a:ln>
          </p:spPr>
        </p:pic>
        <p:sp>
          <p:nvSpPr>
            <p:cNvPr id="64522" name="Text Box 12"/>
            <p:cNvSpPr txBox="1"/>
            <p:nvPr/>
          </p:nvSpPr>
          <p:spPr>
            <a:xfrm>
              <a:off x="838200" y="4953000"/>
              <a:ext cx="3505200" cy="492443"/>
            </a:xfrm>
            <a:prstGeom prst="rect">
              <a:avLst/>
            </a:prstGeom>
            <a:noFill/>
            <a:ln w="9525">
              <a:noFill/>
            </a:ln>
          </p:spPr>
          <p:txBody>
            <a:bodyPr>
              <a:spAutoFit/>
            </a:bodyPr>
            <a:lstStyle/>
            <a:p>
              <a:pPr algn="l" eaLnBrk="0" hangingPunct="0">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4             2</a:t>
              </a:r>
            </a:p>
          </p:txBody>
        </p:sp>
        <p:pic>
          <p:nvPicPr>
            <p:cNvPr id="64523" name="Picture 13" descr="vsepr5"/>
            <p:cNvPicPr>
              <a:picLocks noChangeAspect="1"/>
            </p:cNvPicPr>
            <p:nvPr/>
          </p:nvPicPr>
          <p:blipFill>
            <a:blip r:embed="rId3">
              <a:lum contrast="30000"/>
            </a:blip>
            <a:srcRect l="73419" t="67361" r="15318" b="10121"/>
            <a:stretch>
              <a:fillRect/>
            </a:stretch>
          </p:blipFill>
          <p:spPr>
            <a:xfrm>
              <a:off x="4724400" y="4191000"/>
              <a:ext cx="2166938" cy="2286000"/>
            </a:xfrm>
            <a:prstGeom prst="rect">
              <a:avLst/>
            </a:prstGeom>
            <a:noFill/>
            <a:ln w="9525">
              <a:noFill/>
            </a:ln>
          </p:spPr>
        </p:pic>
        <p:pic>
          <p:nvPicPr>
            <p:cNvPr id="64524" name="Picture 14" descr="vsepr5"/>
            <p:cNvPicPr>
              <a:picLocks noChangeAspect="1"/>
            </p:cNvPicPr>
            <p:nvPr/>
          </p:nvPicPr>
          <p:blipFill>
            <a:blip r:embed="rId3">
              <a:lum contrast="24000"/>
            </a:blip>
            <a:srcRect l="91940" t="73279" r="3223" b="16537"/>
            <a:stretch>
              <a:fillRect/>
            </a:stretch>
          </p:blipFill>
          <p:spPr>
            <a:xfrm>
              <a:off x="7315201" y="4724400"/>
              <a:ext cx="1066800" cy="914400"/>
            </a:xfrm>
            <a:prstGeom prst="rect">
              <a:avLst/>
            </a:prstGeom>
            <a:noFill/>
            <a:ln w="9525">
              <a:noFill/>
            </a:ln>
          </p:spPr>
        </p:pic>
        <p:sp>
          <p:nvSpPr>
            <p:cNvPr id="64525" name="Rectangle 17"/>
            <p:cNvSpPr/>
            <p:nvPr/>
          </p:nvSpPr>
          <p:spPr>
            <a:xfrm>
              <a:off x="7543800" y="1524000"/>
              <a:ext cx="824265" cy="492443"/>
            </a:xfrm>
            <a:prstGeom prst="rect">
              <a:avLst/>
            </a:prstGeom>
            <a:solidFill>
              <a:schemeClr val="bg1"/>
            </a:solidFill>
            <a:ln w="9525">
              <a:noFill/>
            </a:ln>
          </p:spPr>
          <p:txBody>
            <a:bodyPr wrap="none">
              <a:spAutoFit/>
            </a:bodyPr>
            <a:lstStyle/>
            <a:p>
              <a:pPr algn="l"/>
              <a:r>
                <a:rPr lang="en-US" altLang="zh-CN" sz="26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SF6</a:t>
              </a: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5538" name="Picture 2" descr="未标题-1 拷贝"/>
          <p:cNvPicPr>
            <a:picLocks noChangeAspect="1"/>
          </p:cNvPicPr>
          <p:nvPr/>
        </p:nvPicPr>
        <p:blipFill>
          <a:blip r:embed="rId3"/>
          <a:stretch>
            <a:fillRect/>
          </a:stretch>
        </p:blipFill>
        <p:spPr>
          <a:xfrm>
            <a:off x="5029200" y="76200"/>
            <a:ext cx="3886200" cy="3200400"/>
          </a:xfrm>
          <a:prstGeom prst="rect">
            <a:avLst/>
          </a:prstGeom>
          <a:noFill/>
          <a:ln w="28575" cap="flat" cmpd="sng">
            <a:solidFill>
              <a:srgbClr val="00FF00"/>
            </a:solidFill>
            <a:prstDash val="solid"/>
            <a:miter/>
            <a:headEnd type="none" w="med" len="med"/>
            <a:tailEnd type="none" w="med" len="med"/>
          </a:ln>
        </p:spPr>
      </p:pic>
      <p:pic>
        <p:nvPicPr>
          <p:cNvPr id="65539" name="Picture 3" descr="未标题-1 拷贝"/>
          <p:cNvPicPr>
            <a:picLocks noChangeAspect="1"/>
          </p:cNvPicPr>
          <p:nvPr/>
        </p:nvPicPr>
        <p:blipFill>
          <a:blip r:embed="rId4"/>
          <a:stretch>
            <a:fillRect/>
          </a:stretch>
        </p:blipFill>
        <p:spPr>
          <a:xfrm>
            <a:off x="152400" y="3429000"/>
            <a:ext cx="4419600" cy="3200400"/>
          </a:xfrm>
          <a:prstGeom prst="rect">
            <a:avLst/>
          </a:prstGeom>
          <a:noFill/>
          <a:ln w="28575" cap="flat" cmpd="sng">
            <a:solidFill>
              <a:srgbClr val="00FF00"/>
            </a:solidFill>
            <a:prstDash val="solid"/>
            <a:miter/>
            <a:headEnd type="none" w="med" len="med"/>
            <a:tailEnd type="none" w="med" len="med"/>
          </a:ln>
        </p:spPr>
      </p:pic>
      <p:pic>
        <p:nvPicPr>
          <p:cNvPr id="65540" name="Picture 4" descr="未标题-1 拷贝"/>
          <p:cNvPicPr>
            <a:picLocks noChangeAspect="1"/>
          </p:cNvPicPr>
          <p:nvPr/>
        </p:nvPicPr>
        <p:blipFill>
          <a:blip r:embed="rId5"/>
          <a:stretch>
            <a:fillRect/>
          </a:stretch>
        </p:blipFill>
        <p:spPr>
          <a:xfrm>
            <a:off x="76200" y="76200"/>
            <a:ext cx="4343400" cy="3048000"/>
          </a:xfrm>
          <a:prstGeom prst="rect">
            <a:avLst/>
          </a:prstGeom>
          <a:noFill/>
          <a:ln w="28575" cap="flat" cmpd="sng">
            <a:solidFill>
              <a:srgbClr val="00FF00"/>
            </a:solidFill>
            <a:prstDash val="solid"/>
            <a:miter/>
            <a:headEnd type="none" w="med" len="med"/>
            <a:tailEnd type="none" w="med" len="med"/>
          </a:ln>
        </p:spPr>
      </p:pic>
      <p:pic>
        <p:nvPicPr>
          <p:cNvPr id="65541" name="Picture 6" descr="slide0430_image207"/>
          <p:cNvPicPr>
            <a:picLocks noChangeAspect="1"/>
          </p:cNvPicPr>
          <p:nvPr/>
        </p:nvPicPr>
        <p:blipFill>
          <a:blip r:embed="rId6"/>
          <a:stretch>
            <a:fillRect/>
          </a:stretch>
        </p:blipFill>
        <p:spPr>
          <a:xfrm>
            <a:off x="5029200" y="3276600"/>
            <a:ext cx="3505200" cy="3200400"/>
          </a:xfrm>
          <a:prstGeom prst="rect">
            <a:avLst/>
          </a:prstGeom>
          <a:noFill/>
          <a:ln w="9525" cap="flat" cmpd="sng">
            <a:solidFill>
              <a:srgbClr val="00FF00"/>
            </a:solidFill>
            <a:prstDash val="solid"/>
            <a:miter/>
            <a:headEnd type="none" w="med" len="med"/>
            <a:tailEnd type="none" w="med" len="me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accent1">
            <a:lumMod val="90000"/>
          </a:schemeClr>
        </a:solidFill>
        <a:effectLst/>
      </p:bgPr>
    </p:bg>
    <p:spTree>
      <p:nvGrpSpPr>
        <p:cNvPr id="1" name=""/>
        <p:cNvGrpSpPr/>
        <p:nvPr/>
      </p:nvGrpSpPr>
      <p:grpSpPr>
        <a:xfrm>
          <a:off x="0" y="0"/>
          <a:ext cx="0" cy="0"/>
          <a:chOff x="0" y="0"/>
          <a:chExt cx="0" cy="0"/>
        </a:xfrm>
      </p:grpSpPr>
      <p:grpSp>
        <p:nvGrpSpPr>
          <p:cNvPr id="2" name="组合 59"/>
          <p:cNvGrpSpPr/>
          <p:nvPr/>
        </p:nvGrpSpPr>
        <p:grpSpPr>
          <a:xfrm>
            <a:off x="228600" y="2590800"/>
            <a:ext cx="8763000" cy="3082925"/>
            <a:chOff x="228600" y="2590800"/>
            <a:chExt cx="8763000" cy="3083243"/>
          </a:xfrm>
        </p:grpSpPr>
        <p:sp>
          <p:nvSpPr>
            <p:cNvPr id="13333" name="Text Box 5"/>
            <p:cNvSpPr txBox="1"/>
            <p:nvPr/>
          </p:nvSpPr>
          <p:spPr>
            <a:xfrm>
              <a:off x="228600" y="2590800"/>
              <a:ext cx="6550191" cy="492443"/>
            </a:xfrm>
            <a:prstGeom prst="rect">
              <a:avLst/>
            </a:prstGeom>
            <a:noFill/>
            <a:ln w="28575" cap="flat" cmpd="sng">
              <a:solidFill>
                <a:srgbClr val="FF3399"/>
              </a:solidFill>
              <a:prstDash val="solid"/>
              <a:miter/>
              <a:headEnd type="none" w="med" len="med"/>
              <a:tailEnd type="none" w="med" len="med"/>
            </a:ln>
          </p:spPr>
          <p:txBody>
            <a:bodyPr wrap="none">
              <a:spAutoFit/>
            </a:bodyPr>
            <a:lstStyle/>
            <a:p>
              <a:pPr algn="l"/>
              <a:r>
                <a:rPr lang="zh-CN" altLang="en-US" sz="2600" i="0" dirty="0">
                  <a:solidFill>
                    <a:schemeClr val="tx1"/>
                  </a:solidFill>
                  <a:latin typeface="Times New Roman" panose="02020603050405020304" pitchFamily="18" charset="0"/>
                </a:rPr>
                <a:t>键的极性和中心原子的电负性会使键角改变</a:t>
              </a:r>
            </a:p>
          </p:txBody>
        </p:sp>
        <p:grpSp>
          <p:nvGrpSpPr>
            <p:cNvPr id="13334" name="组合 57"/>
            <p:cNvGrpSpPr/>
            <p:nvPr/>
          </p:nvGrpSpPr>
          <p:grpSpPr>
            <a:xfrm>
              <a:off x="228600" y="3276600"/>
              <a:ext cx="8763000" cy="2397443"/>
              <a:chOff x="228600" y="3276600"/>
              <a:chExt cx="8763000" cy="2397443"/>
            </a:xfrm>
          </p:grpSpPr>
          <p:sp>
            <p:nvSpPr>
              <p:cNvPr id="13335" name="Text Box 8"/>
              <p:cNvSpPr txBox="1"/>
              <p:nvPr/>
            </p:nvSpPr>
            <p:spPr>
              <a:xfrm>
                <a:off x="1295400" y="5181600"/>
                <a:ext cx="1291572" cy="492443"/>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VP N=3</a:t>
                </a:r>
              </a:p>
            </p:txBody>
          </p:sp>
          <p:grpSp>
            <p:nvGrpSpPr>
              <p:cNvPr id="13336" name="Group 21"/>
              <p:cNvGrpSpPr/>
              <p:nvPr/>
            </p:nvGrpSpPr>
            <p:grpSpPr>
              <a:xfrm>
                <a:off x="228600" y="3429000"/>
                <a:ext cx="2511425" cy="1577975"/>
                <a:chOff x="528" y="2683"/>
                <a:chExt cx="1152" cy="994"/>
              </a:xfrm>
            </p:grpSpPr>
            <p:sp>
              <p:nvSpPr>
                <p:cNvPr id="13356" name="Text Box 22"/>
                <p:cNvSpPr txBox="1"/>
                <p:nvPr/>
              </p:nvSpPr>
              <p:spPr>
                <a:xfrm>
                  <a:off x="1192" y="3019"/>
                  <a:ext cx="478" cy="31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C = O</a:t>
                  </a:r>
                </a:p>
              </p:txBody>
            </p:sp>
            <p:sp>
              <p:nvSpPr>
                <p:cNvPr id="13357" name="Text Box 23"/>
                <p:cNvSpPr txBox="1"/>
                <p:nvPr/>
              </p:nvSpPr>
              <p:spPr>
                <a:xfrm>
                  <a:off x="720" y="2683"/>
                  <a:ext cx="238" cy="31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3358" name="Text Box 24"/>
                <p:cNvSpPr txBox="1"/>
                <p:nvPr/>
              </p:nvSpPr>
              <p:spPr>
                <a:xfrm>
                  <a:off x="710" y="3367"/>
                  <a:ext cx="238" cy="31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3359" name="Line 25"/>
                <p:cNvSpPr/>
                <p:nvPr/>
              </p:nvSpPr>
              <p:spPr>
                <a:xfrm flipH="1">
                  <a:off x="1008" y="3245"/>
                  <a:ext cx="192" cy="192"/>
                </a:xfrm>
                <a:prstGeom prst="line">
                  <a:avLst/>
                </a:prstGeom>
                <a:ln w="9525" cap="flat" cmpd="sng">
                  <a:solidFill>
                    <a:srgbClr val="FFFF00"/>
                  </a:solidFill>
                  <a:prstDash val="solid"/>
                  <a:headEnd type="none" w="med" len="med"/>
                  <a:tailEnd type="none" w="med" len="med"/>
                </a:ln>
              </p:spPr>
            </p:sp>
            <p:sp>
              <p:nvSpPr>
                <p:cNvPr id="13360" name="Line 26"/>
                <p:cNvSpPr/>
                <p:nvPr/>
              </p:nvSpPr>
              <p:spPr>
                <a:xfrm>
                  <a:off x="1008" y="2909"/>
                  <a:ext cx="240" cy="192"/>
                </a:xfrm>
                <a:prstGeom prst="line">
                  <a:avLst/>
                </a:prstGeom>
                <a:ln w="9525" cap="flat" cmpd="sng">
                  <a:solidFill>
                    <a:srgbClr val="FFFF00"/>
                  </a:solidFill>
                  <a:prstDash val="solid"/>
                  <a:headEnd type="none" w="med" len="med"/>
                  <a:tailEnd type="none" w="med" len="med"/>
                </a:ln>
              </p:spPr>
            </p:sp>
            <p:sp>
              <p:nvSpPr>
                <p:cNvPr id="13361" name="Freeform 27"/>
                <p:cNvSpPr/>
                <p:nvPr/>
              </p:nvSpPr>
              <p:spPr>
                <a:xfrm>
                  <a:off x="1000" y="3005"/>
                  <a:ext cx="104" cy="384"/>
                </a:xfrm>
                <a:custGeom>
                  <a:avLst/>
                  <a:gdLst>
                    <a:gd name="txL" fmla="*/ 0 w 104"/>
                    <a:gd name="txT" fmla="*/ 0 h 384"/>
                    <a:gd name="txR" fmla="*/ 104 w 104"/>
                    <a:gd name="txB" fmla="*/ 384 h 384"/>
                  </a:gdLst>
                  <a:ahLst/>
                  <a:cxnLst>
                    <a:cxn ang="0">
                      <a:pos x="104" y="0"/>
                    </a:cxn>
                    <a:cxn ang="0">
                      <a:pos x="56" y="48"/>
                    </a:cxn>
                    <a:cxn ang="0">
                      <a:pos x="8" y="144"/>
                    </a:cxn>
                    <a:cxn ang="0">
                      <a:pos x="8" y="240"/>
                    </a:cxn>
                    <a:cxn ang="0">
                      <a:pos x="56" y="336"/>
                    </a:cxn>
                    <a:cxn ang="0">
                      <a:pos x="104" y="384"/>
                    </a:cxn>
                  </a:cxnLst>
                  <a:rect l="txL" t="txT" r="txR" b="txB"/>
                  <a:pathLst>
                    <a:path w="104" h="384">
                      <a:moveTo>
                        <a:pt x="104" y="0"/>
                      </a:moveTo>
                      <a:cubicBezTo>
                        <a:pt x="88" y="12"/>
                        <a:pt x="72" y="24"/>
                        <a:pt x="56" y="48"/>
                      </a:cubicBezTo>
                      <a:cubicBezTo>
                        <a:pt x="40" y="72"/>
                        <a:pt x="16" y="112"/>
                        <a:pt x="8" y="144"/>
                      </a:cubicBezTo>
                      <a:cubicBezTo>
                        <a:pt x="0" y="176"/>
                        <a:pt x="0" y="208"/>
                        <a:pt x="8" y="240"/>
                      </a:cubicBezTo>
                      <a:cubicBezTo>
                        <a:pt x="16" y="272"/>
                        <a:pt x="40" y="312"/>
                        <a:pt x="56" y="336"/>
                      </a:cubicBezTo>
                      <a:cubicBezTo>
                        <a:pt x="72" y="360"/>
                        <a:pt x="88" y="372"/>
                        <a:pt x="104" y="384"/>
                      </a:cubicBezTo>
                    </a:path>
                  </a:pathLst>
                </a:custGeom>
                <a:noFill/>
                <a:ln w="9525" cap="flat" cmpd="sng">
                  <a:solidFill>
                    <a:srgbClr val="FFFF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3362" name="Freeform 28"/>
                <p:cNvSpPr/>
                <p:nvPr/>
              </p:nvSpPr>
              <p:spPr>
                <a:xfrm>
                  <a:off x="1200" y="2949"/>
                  <a:ext cx="336" cy="200"/>
                </a:xfrm>
                <a:custGeom>
                  <a:avLst/>
                  <a:gdLst>
                    <a:gd name="txL" fmla="*/ 0 w 336"/>
                    <a:gd name="txT" fmla="*/ 0 h 200"/>
                    <a:gd name="txR" fmla="*/ 336 w 336"/>
                    <a:gd name="txB" fmla="*/ 200 h 200"/>
                  </a:gdLst>
                  <a:ahLst/>
                  <a:cxnLst>
                    <a:cxn ang="0">
                      <a:pos x="336" y="200"/>
                    </a:cxn>
                    <a:cxn ang="0">
                      <a:pos x="288" y="56"/>
                    </a:cxn>
                    <a:cxn ang="0">
                      <a:pos x="192" y="8"/>
                    </a:cxn>
                    <a:cxn ang="0">
                      <a:pos x="48" y="8"/>
                    </a:cxn>
                    <a:cxn ang="0">
                      <a:pos x="0" y="56"/>
                    </a:cxn>
                  </a:cxnLst>
                  <a:rect l="txL" t="txT" r="txR" b="txB"/>
                  <a:pathLst>
                    <a:path w="336" h="200">
                      <a:moveTo>
                        <a:pt x="336" y="200"/>
                      </a:moveTo>
                      <a:cubicBezTo>
                        <a:pt x="324" y="144"/>
                        <a:pt x="312" y="88"/>
                        <a:pt x="288" y="56"/>
                      </a:cubicBezTo>
                      <a:cubicBezTo>
                        <a:pt x="264" y="24"/>
                        <a:pt x="232" y="16"/>
                        <a:pt x="192" y="8"/>
                      </a:cubicBezTo>
                      <a:cubicBezTo>
                        <a:pt x="152" y="0"/>
                        <a:pt x="80" y="0"/>
                        <a:pt x="48" y="8"/>
                      </a:cubicBezTo>
                      <a:cubicBezTo>
                        <a:pt x="16" y="16"/>
                        <a:pt x="16" y="48"/>
                        <a:pt x="0" y="56"/>
                      </a:cubicBezTo>
                    </a:path>
                  </a:pathLst>
                </a:custGeom>
                <a:noFill/>
                <a:ln w="9525" cap="flat" cmpd="sng">
                  <a:solidFill>
                    <a:srgbClr val="FFFF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13316" name="Object 29"/>
                <p:cNvGraphicFramePr>
                  <a:graphicFrameLocks/>
                </p:cNvGraphicFramePr>
                <p:nvPr/>
              </p:nvGraphicFramePr>
              <p:xfrm>
                <a:off x="1200" y="2765"/>
                <a:ext cx="480" cy="190"/>
              </p:xfrm>
              <a:graphic>
                <a:graphicData uri="http://schemas.openxmlformats.org/presentationml/2006/ole">
                  <p:oleObj spid="_x0000_s81924" r:id="rId4" imgW="482391" imgH="190417" progId="Equation.3">
                    <p:embed/>
                  </p:oleObj>
                </a:graphicData>
              </a:graphic>
            </p:graphicFrame>
            <p:graphicFrame>
              <p:nvGraphicFramePr>
                <p:cNvPr id="13317" name="Object 30"/>
                <p:cNvGraphicFramePr>
                  <a:graphicFrameLocks/>
                </p:cNvGraphicFramePr>
                <p:nvPr/>
              </p:nvGraphicFramePr>
              <p:xfrm>
                <a:off x="528" y="3101"/>
                <a:ext cx="469" cy="201"/>
              </p:xfrm>
              <a:graphic>
                <a:graphicData uri="http://schemas.openxmlformats.org/presentationml/2006/ole">
                  <p:oleObj spid="_x0000_s81923" r:id="rId5" imgW="469492" imgH="203024" progId="Equation.3">
                    <p:embed/>
                  </p:oleObj>
                </a:graphicData>
              </a:graphic>
            </p:graphicFrame>
          </p:grpSp>
          <p:sp>
            <p:nvSpPr>
              <p:cNvPr id="13337" name="Arc 32"/>
              <p:cNvSpPr/>
              <p:nvPr/>
            </p:nvSpPr>
            <p:spPr>
              <a:xfrm>
                <a:off x="7278688" y="3368675"/>
                <a:ext cx="425116" cy="492443"/>
              </a:xfrm>
              <a:custGeom>
                <a:avLst/>
                <a:gdLst>
                  <a:gd name="txL" fmla="*/ 0 w 21600"/>
                  <a:gd name="txT" fmla="*/ 0 h 21600"/>
                  <a:gd name="txR" fmla="*/ 21600 w 21600"/>
                  <a:gd name="txB" fmla="*/ 21600 h 21600"/>
                </a:gdLst>
                <a:ahLst/>
                <a:cxnLst>
                  <a:cxn ang="0">
                    <a:pos x="0" y="0"/>
                  </a:cxn>
                  <a:cxn ang="0">
                    <a:pos x="2147483647" y="2147483647"/>
                  </a:cxn>
                  <a:cxn ang="0">
                    <a:pos x="0" y="2147483647"/>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N</a:t>
                </a:r>
              </a:p>
            </p:txBody>
          </p:sp>
          <p:sp>
            <p:nvSpPr>
              <p:cNvPr id="13338" name="Arc 33"/>
              <p:cNvSpPr/>
              <p:nvPr/>
            </p:nvSpPr>
            <p:spPr>
              <a:xfrm>
                <a:off x="7203500" y="3276600"/>
                <a:ext cx="584775" cy="202941"/>
              </a:xfrm>
              <a:custGeom>
                <a:avLst/>
                <a:gdLst>
                  <a:gd name="txL" fmla="*/ 0 w 21600"/>
                  <a:gd name="txT" fmla="*/ 0 h 21600"/>
                  <a:gd name="txR" fmla="*/ 21600 w 21600"/>
                  <a:gd name="txB" fmla="*/ 21600 h 21600"/>
                </a:gdLst>
                <a:ahLst/>
                <a:cxnLst>
                  <a:cxn ang="0">
                    <a:pos x="0" y="0"/>
                  </a:cxn>
                  <a:cxn ang="0">
                    <a:pos x="2147483647" y="2147483647"/>
                  </a:cxn>
                  <a:cxn ang="0">
                    <a:pos x="0" y="2147483647"/>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a:noFill/>
              </a:ln>
            </p:spPr>
            <p:txBody>
              <a:bodyPr vert="eaVert"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3339" name="Arc 34"/>
              <p:cNvSpPr/>
              <p:nvPr/>
            </p:nvSpPr>
            <p:spPr>
              <a:xfrm>
                <a:off x="7294563" y="4738688"/>
                <a:ext cx="536575" cy="492443"/>
              </a:xfrm>
              <a:custGeom>
                <a:avLst/>
                <a:gdLst>
                  <a:gd name="txL" fmla="*/ 0 w 21600"/>
                  <a:gd name="txT" fmla="*/ 0 h 21600"/>
                  <a:gd name="txR" fmla="*/ 21600 w 21600"/>
                  <a:gd name="txB" fmla="*/ 21600 h 21600"/>
                </a:gdLst>
                <a:ahLst/>
                <a:cxnLst>
                  <a:cxn ang="0">
                    <a:pos x="0" y="0"/>
                  </a:cxn>
                  <a:cxn ang="0">
                    <a:pos x="2147483647" y="2147483647"/>
                  </a:cxn>
                  <a:cxn ang="0">
                    <a:pos x="0" y="2147483647"/>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a:noFill/>
              </a:ln>
            </p:spPr>
            <p:txBody>
              <a:bodyPr>
                <a:spAutoFit/>
              </a:bodyPr>
              <a:lstStyle/>
              <a:p>
                <a:pPr algn="l">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H</a:t>
                </a:r>
              </a:p>
            </p:txBody>
          </p:sp>
          <p:sp>
            <p:nvSpPr>
              <p:cNvPr id="13340" name="Arc 35"/>
              <p:cNvSpPr/>
              <p:nvPr/>
            </p:nvSpPr>
            <p:spPr>
              <a:xfrm>
                <a:off x="6324600" y="4191000"/>
                <a:ext cx="444352" cy="492443"/>
              </a:xfrm>
              <a:custGeom>
                <a:avLst/>
                <a:gdLst>
                  <a:gd name="txL" fmla="*/ 0 w 21600"/>
                  <a:gd name="txT" fmla="*/ 0 h 21600"/>
                  <a:gd name="txR" fmla="*/ 21600 w 21600"/>
                  <a:gd name="txB" fmla="*/ 21600 h 21600"/>
                </a:gdLst>
                <a:ahLst/>
                <a:cxnLst>
                  <a:cxn ang="0">
                    <a:pos x="0" y="0"/>
                  </a:cxn>
                  <a:cxn ang="0">
                    <a:pos x="2147483647" y="2147483647"/>
                  </a:cxn>
                  <a:cxn ang="0">
                    <a:pos x="0" y="2147483647"/>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H</a:t>
                </a:r>
              </a:p>
            </p:txBody>
          </p:sp>
          <p:sp>
            <p:nvSpPr>
              <p:cNvPr id="13341" name="Arc 36"/>
              <p:cNvSpPr/>
              <p:nvPr/>
            </p:nvSpPr>
            <p:spPr>
              <a:xfrm>
                <a:off x="8494713" y="4017963"/>
                <a:ext cx="444352" cy="492443"/>
              </a:xfrm>
              <a:custGeom>
                <a:avLst/>
                <a:gdLst>
                  <a:gd name="txL" fmla="*/ 0 w 21600"/>
                  <a:gd name="txT" fmla="*/ 0 h 21600"/>
                  <a:gd name="txR" fmla="*/ 21600 w 21600"/>
                  <a:gd name="txB" fmla="*/ 21600 h 21600"/>
                </a:gdLst>
                <a:ahLst/>
                <a:cxnLst>
                  <a:cxn ang="0">
                    <a:pos x="0" y="0"/>
                  </a:cxn>
                  <a:cxn ang="0">
                    <a:pos x="2147483647" y="2147483647"/>
                  </a:cxn>
                  <a:cxn ang="0">
                    <a:pos x="0" y="2147483647"/>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H</a:t>
                </a:r>
              </a:p>
            </p:txBody>
          </p:sp>
          <p:sp>
            <p:nvSpPr>
              <p:cNvPr id="13342" name="Line 37"/>
              <p:cNvSpPr/>
              <p:nvPr/>
            </p:nvSpPr>
            <p:spPr>
              <a:xfrm>
                <a:off x="7540625" y="3979863"/>
                <a:ext cx="0" cy="909637"/>
              </a:xfrm>
              <a:prstGeom prst="line">
                <a:avLst/>
              </a:prstGeom>
              <a:ln w="9525" cap="flat" cmpd="sng">
                <a:solidFill>
                  <a:srgbClr val="FFFF00"/>
                </a:solidFill>
                <a:prstDash val="solid"/>
                <a:headEnd type="none" w="med" len="med"/>
                <a:tailEnd type="none" w="med" len="med"/>
              </a:ln>
            </p:spPr>
          </p:sp>
          <p:sp>
            <p:nvSpPr>
              <p:cNvPr id="13343" name="Line 38"/>
              <p:cNvSpPr/>
              <p:nvPr/>
            </p:nvSpPr>
            <p:spPr>
              <a:xfrm flipH="1">
                <a:off x="6724650" y="3849688"/>
                <a:ext cx="663575" cy="520700"/>
              </a:xfrm>
              <a:prstGeom prst="line">
                <a:avLst/>
              </a:prstGeom>
              <a:ln w="9525" cap="flat" cmpd="sng">
                <a:solidFill>
                  <a:srgbClr val="FFFF00"/>
                </a:solidFill>
                <a:prstDash val="solid"/>
                <a:headEnd type="none" w="med" len="med"/>
                <a:tailEnd type="none" w="med" len="med"/>
              </a:ln>
            </p:spPr>
          </p:sp>
          <p:sp>
            <p:nvSpPr>
              <p:cNvPr id="13344" name="Line 39"/>
              <p:cNvSpPr/>
              <p:nvPr/>
            </p:nvSpPr>
            <p:spPr>
              <a:xfrm>
                <a:off x="7761288" y="3719513"/>
                <a:ext cx="554037" cy="520700"/>
              </a:xfrm>
              <a:prstGeom prst="line">
                <a:avLst/>
              </a:prstGeom>
              <a:ln w="9525" cap="flat" cmpd="sng">
                <a:solidFill>
                  <a:srgbClr val="FFFF00"/>
                </a:solidFill>
                <a:prstDash val="solid"/>
                <a:headEnd type="none" w="med" len="med"/>
                <a:tailEnd type="none" w="med" len="med"/>
              </a:ln>
            </p:spPr>
          </p:sp>
          <p:sp>
            <p:nvSpPr>
              <p:cNvPr id="13345" name="Freeform 40"/>
              <p:cNvSpPr/>
              <p:nvPr/>
            </p:nvSpPr>
            <p:spPr>
              <a:xfrm>
                <a:off x="7564438" y="3979863"/>
                <a:ext cx="552450" cy="282575"/>
              </a:xfrm>
              <a:custGeom>
                <a:avLst/>
                <a:gdLst>
                  <a:gd name="txL" fmla="*/ 0 w 240"/>
                  <a:gd name="txT" fmla="*/ 0 h 104"/>
                  <a:gd name="txR" fmla="*/ 240 w 240"/>
                  <a:gd name="txB" fmla="*/ 104 h 104"/>
                </a:gdLst>
                <a:ahLst/>
                <a:cxnLst>
                  <a:cxn ang="0">
                    <a:pos x="0" y="2147483647"/>
                  </a:cxn>
                  <a:cxn ang="0">
                    <a:pos x="2147483647" y="2147483647"/>
                  </a:cxn>
                  <a:cxn ang="0">
                    <a:pos x="2147483647" y="2147483647"/>
                  </a:cxn>
                  <a:cxn ang="0">
                    <a:pos x="2147483647" y="0"/>
                  </a:cxn>
                </a:cxnLst>
                <a:rect l="txL" t="txT" r="txR" b="txB"/>
                <a:pathLst>
                  <a:path w="240" h="104">
                    <a:moveTo>
                      <a:pt x="0" y="96"/>
                    </a:moveTo>
                    <a:cubicBezTo>
                      <a:pt x="56" y="100"/>
                      <a:pt x="112" y="104"/>
                      <a:pt x="144" y="96"/>
                    </a:cubicBezTo>
                    <a:cubicBezTo>
                      <a:pt x="176" y="88"/>
                      <a:pt x="176" y="64"/>
                      <a:pt x="192" y="48"/>
                    </a:cubicBezTo>
                    <a:cubicBezTo>
                      <a:pt x="208" y="32"/>
                      <a:pt x="224" y="16"/>
                      <a:pt x="240" y="0"/>
                    </a:cubicBezTo>
                  </a:path>
                </a:pathLst>
              </a:custGeom>
              <a:noFill/>
              <a:ln w="9525" cap="flat" cmpd="sng">
                <a:solidFill>
                  <a:srgbClr val="FFFF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13314" name="Object 41"/>
              <p:cNvGraphicFramePr>
                <a:graphicFrameLocks/>
              </p:cNvGraphicFramePr>
              <p:nvPr/>
            </p:nvGraphicFramePr>
            <p:xfrm>
              <a:off x="7696200" y="4495800"/>
              <a:ext cx="1295400" cy="490538"/>
            </p:xfrm>
            <a:graphic>
              <a:graphicData uri="http://schemas.openxmlformats.org/presentationml/2006/ole">
                <p:oleObj spid="_x0000_s81922" r:id="rId6" imgW="482181" imgH="203024" progId="Equation.3">
                  <p:embed/>
                </p:oleObj>
              </a:graphicData>
            </a:graphic>
          </p:graphicFrame>
          <p:sp>
            <p:nvSpPr>
              <p:cNvPr id="13346" name="Text Box 47"/>
              <p:cNvSpPr txBox="1"/>
              <p:nvPr/>
            </p:nvSpPr>
            <p:spPr>
              <a:xfrm>
                <a:off x="5715000" y="4267200"/>
                <a:ext cx="865188" cy="492443"/>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grpSp>
            <p:nvGrpSpPr>
              <p:cNvPr id="13347" name="Group 58"/>
              <p:cNvGrpSpPr/>
              <p:nvPr/>
            </p:nvGrpSpPr>
            <p:grpSpPr>
              <a:xfrm>
                <a:off x="3200400" y="3581400"/>
                <a:ext cx="2520950" cy="1681163"/>
                <a:chOff x="2113" y="3029"/>
                <a:chExt cx="1588" cy="1059"/>
              </a:xfrm>
            </p:grpSpPr>
            <p:sp>
              <p:nvSpPr>
                <p:cNvPr id="13348" name="Text Box 43"/>
                <p:cNvSpPr txBox="1"/>
                <p:nvPr/>
              </p:nvSpPr>
              <p:spPr>
                <a:xfrm>
                  <a:off x="2881" y="3125"/>
                  <a:ext cx="268" cy="31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N</a:t>
                  </a:r>
                </a:p>
              </p:txBody>
            </p:sp>
            <p:sp>
              <p:nvSpPr>
                <p:cNvPr id="13349" name="Text Box 44"/>
                <p:cNvSpPr txBox="1"/>
                <p:nvPr/>
              </p:nvSpPr>
              <p:spPr>
                <a:xfrm>
                  <a:off x="2833" y="3029"/>
                  <a:ext cx="368" cy="128"/>
                </a:xfrm>
                <a:prstGeom prst="rect">
                  <a:avLst/>
                </a:prstGeom>
                <a:noFill/>
                <a:ln w="9525">
                  <a:noFill/>
                </a:ln>
              </p:spPr>
              <p:txBody>
                <a:bodyPr vert="eaVert"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3350" name="Text Box 45"/>
                <p:cNvSpPr txBox="1"/>
                <p:nvPr/>
              </p:nvSpPr>
              <p:spPr>
                <a:xfrm>
                  <a:off x="2113" y="3425"/>
                  <a:ext cx="245" cy="31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sp>
              <p:nvSpPr>
                <p:cNvPr id="13351" name="Text Box 46"/>
                <p:cNvSpPr txBox="1"/>
                <p:nvPr/>
              </p:nvSpPr>
              <p:spPr>
                <a:xfrm>
                  <a:off x="2827" y="3778"/>
                  <a:ext cx="245" cy="31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sp>
              <p:nvSpPr>
                <p:cNvPr id="13352" name="Line 48"/>
                <p:cNvSpPr/>
                <p:nvPr/>
              </p:nvSpPr>
              <p:spPr>
                <a:xfrm>
                  <a:off x="3008" y="3378"/>
                  <a:ext cx="0" cy="465"/>
                </a:xfrm>
                <a:prstGeom prst="line">
                  <a:avLst/>
                </a:prstGeom>
                <a:ln w="9525" cap="flat" cmpd="sng">
                  <a:solidFill>
                    <a:srgbClr val="FFFF00"/>
                  </a:solidFill>
                  <a:prstDash val="solid"/>
                  <a:headEnd type="none" w="med" len="med"/>
                  <a:tailEnd type="none" w="med" len="med"/>
                </a:ln>
              </p:spPr>
            </p:sp>
            <p:sp>
              <p:nvSpPr>
                <p:cNvPr id="13353" name="Line 49"/>
                <p:cNvSpPr/>
                <p:nvPr/>
              </p:nvSpPr>
              <p:spPr>
                <a:xfrm flipH="1">
                  <a:off x="2464" y="3320"/>
                  <a:ext cx="405" cy="290"/>
                </a:xfrm>
                <a:prstGeom prst="line">
                  <a:avLst/>
                </a:prstGeom>
                <a:ln w="9525" cap="flat" cmpd="sng">
                  <a:solidFill>
                    <a:srgbClr val="FFFF00"/>
                  </a:solidFill>
                  <a:prstDash val="solid"/>
                  <a:headEnd type="none" w="med" len="med"/>
                  <a:tailEnd type="none" w="med" len="med"/>
                </a:ln>
              </p:spPr>
            </p:sp>
            <p:sp>
              <p:nvSpPr>
                <p:cNvPr id="13354" name="Line 50"/>
                <p:cNvSpPr/>
                <p:nvPr/>
              </p:nvSpPr>
              <p:spPr>
                <a:xfrm>
                  <a:off x="3194" y="3308"/>
                  <a:ext cx="507" cy="290"/>
                </a:xfrm>
                <a:prstGeom prst="line">
                  <a:avLst/>
                </a:prstGeom>
                <a:ln w="9525" cap="flat" cmpd="sng">
                  <a:solidFill>
                    <a:srgbClr val="FFFF00"/>
                  </a:solidFill>
                  <a:prstDash val="solid"/>
                  <a:headEnd type="none" w="med" len="med"/>
                  <a:tailEnd type="none" w="med" len="med"/>
                </a:ln>
              </p:spPr>
            </p:sp>
            <p:sp>
              <p:nvSpPr>
                <p:cNvPr id="13355" name="Freeform 51"/>
                <p:cNvSpPr/>
                <p:nvPr/>
              </p:nvSpPr>
              <p:spPr>
                <a:xfrm>
                  <a:off x="3030" y="3436"/>
                  <a:ext cx="405" cy="126"/>
                </a:xfrm>
                <a:custGeom>
                  <a:avLst/>
                  <a:gdLst>
                    <a:gd name="txL" fmla="*/ 0 w 192"/>
                    <a:gd name="txT" fmla="*/ 0 h 104"/>
                    <a:gd name="txR" fmla="*/ 192 w 192"/>
                    <a:gd name="txB" fmla="*/ 104 h 104"/>
                  </a:gdLst>
                  <a:ahLst/>
                  <a:cxnLst>
                    <a:cxn ang="0">
                      <a:pos x="0" y="3677"/>
                    </a:cxn>
                    <a:cxn ang="0">
                      <a:pos x="138718227" y="3677"/>
                    </a:cxn>
                    <a:cxn ang="0">
                      <a:pos x="207713161" y="1834"/>
                    </a:cxn>
                    <a:cxn ang="0">
                      <a:pos x="276702865" y="0"/>
                    </a:cxn>
                  </a:cxnLst>
                  <a:rect l="txL" t="txT" r="txR" b="txB"/>
                  <a:pathLst>
                    <a:path w="192" h="104">
                      <a:moveTo>
                        <a:pt x="0" y="96"/>
                      </a:moveTo>
                      <a:cubicBezTo>
                        <a:pt x="36" y="100"/>
                        <a:pt x="72" y="104"/>
                        <a:pt x="96" y="96"/>
                      </a:cubicBezTo>
                      <a:cubicBezTo>
                        <a:pt x="120" y="88"/>
                        <a:pt x="128" y="64"/>
                        <a:pt x="144" y="48"/>
                      </a:cubicBezTo>
                      <a:cubicBezTo>
                        <a:pt x="160" y="32"/>
                        <a:pt x="184" y="8"/>
                        <a:pt x="192" y="0"/>
                      </a:cubicBezTo>
                    </a:path>
                  </a:pathLst>
                </a:custGeom>
                <a:noFill/>
                <a:ln w="9525" cap="flat" cmpd="sng">
                  <a:solidFill>
                    <a:srgbClr val="FFFF00"/>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aphicFrame>
              <p:nvGraphicFramePr>
                <p:cNvPr id="13315" name="Object 52"/>
                <p:cNvGraphicFramePr>
                  <a:graphicFrameLocks/>
                </p:cNvGraphicFramePr>
                <p:nvPr/>
              </p:nvGraphicFramePr>
              <p:xfrm>
                <a:off x="3072" y="3552"/>
                <a:ext cx="528" cy="244"/>
              </p:xfrm>
              <a:graphic>
                <a:graphicData uri="http://schemas.openxmlformats.org/presentationml/2006/ole">
                  <p:oleObj spid="_x0000_s81921" r:id="rId7" imgW="317225" imgH="203024" progId="Equation.3">
                    <p:embed/>
                  </p:oleObj>
                </a:graphicData>
              </a:graphic>
            </p:graphicFrame>
          </p:grpSp>
        </p:grpSp>
      </p:grpSp>
      <p:grpSp>
        <p:nvGrpSpPr>
          <p:cNvPr id="6" name="组合 58"/>
          <p:cNvGrpSpPr/>
          <p:nvPr/>
        </p:nvGrpSpPr>
        <p:grpSpPr>
          <a:xfrm>
            <a:off x="533400" y="152400"/>
            <a:ext cx="7713663" cy="2166938"/>
            <a:chOff x="533400" y="152400"/>
            <a:chExt cx="7713326" cy="2166873"/>
          </a:xfrm>
        </p:grpSpPr>
        <p:grpSp>
          <p:nvGrpSpPr>
            <p:cNvPr id="13321" name="Group 9"/>
            <p:cNvGrpSpPr/>
            <p:nvPr/>
          </p:nvGrpSpPr>
          <p:grpSpPr>
            <a:xfrm>
              <a:off x="5486400" y="152400"/>
              <a:ext cx="2760326" cy="2166873"/>
              <a:chOff x="3157" y="942"/>
              <a:chExt cx="1483" cy="1181"/>
            </a:xfrm>
          </p:grpSpPr>
          <p:sp>
            <p:nvSpPr>
              <p:cNvPr id="13323" name="Text Box 10"/>
              <p:cNvSpPr txBox="1"/>
              <p:nvPr/>
            </p:nvSpPr>
            <p:spPr>
              <a:xfrm>
                <a:off x="3981" y="1716"/>
                <a:ext cx="659" cy="268"/>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VPN=5</a:t>
                </a:r>
              </a:p>
            </p:txBody>
          </p:sp>
          <p:sp>
            <p:nvSpPr>
              <p:cNvPr id="13324" name="Text Box 12"/>
              <p:cNvSpPr txBox="1"/>
              <p:nvPr/>
            </p:nvSpPr>
            <p:spPr>
              <a:xfrm>
                <a:off x="3580" y="1366"/>
                <a:ext cx="531" cy="268"/>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S = O</a:t>
                </a:r>
              </a:p>
            </p:txBody>
          </p:sp>
          <p:sp>
            <p:nvSpPr>
              <p:cNvPr id="13325" name="Text Box 13"/>
              <p:cNvSpPr txBox="1"/>
              <p:nvPr/>
            </p:nvSpPr>
            <p:spPr>
              <a:xfrm>
                <a:off x="3590" y="942"/>
                <a:ext cx="209" cy="268"/>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sp>
            <p:nvSpPr>
              <p:cNvPr id="13326" name="Text Box 14"/>
              <p:cNvSpPr txBox="1"/>
              <p:nvPr/>
            </p:nvSpPr>
            <p:spPr>
              <a:xfrm>
                <a:off x="3590" y="1855"/>
                <a:ext cx="209" cy="268"/>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sp>
            <p:nvSpPr>
              <p:cNvPr id="13327" name="Text Box 15"/>
              <p:cNvSpPr txBox="1"/>
              <p:nvPr/>
            </p:nvSpPr>
            <p:spPr>
              <a:xfrm>
                <a:off x="3157" y="1640"/>
                <a:ext cx="209" cy="268"/>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sp>
            <p:nvSpPr>
              <p:cNvPr id="13328" name="Text Box 16"/>
              <p:cNvSpPr txBox="1"/>
              <p:nvPr/>
            </p:nvSpPr>
            <p:spPr>
              <a:xfrm>
                <a:off x="3204" y="1045"/>
                <a:ext cx="209" cy="268"/>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ea typeface="宋体" panose="02010600030101010101" pitchFamily="2" charset="-122"/>
                  </a:rPr>
                  <a:t>F</a:t>
                </a:r>
              </a:p>
            </p:txBody>
          </p:sp>
          <p:sp>
            <p:nvSpPr>
              <p:cNvPr id="13329" name="Line 17"/>
              <p:cNvSpPr/>
              <p:nvPr/>
            </p:nvSpPr>
            <p:spPr>
              <a:xfrm>
                <a:off x="3684" y="1154"/>
                <a:ext cx="1" cy="221"/>
              </a:xfrm>
              <a:prstGeom prst="line">
                <a:avLst/>
              </a:prstGeom>
              <a:ln w="9525" cap="flat" cmpd="sng">
                <a:solidFill>
                  <a:srgbClr val="FFFF00"/>
                </a:solidFill>
                <a:prstDash val="solid"/>
                <a:headEnd type="none" w="med" len="med"/>
                <a:tailEnd type="none" w="med" len="med"/>
              </a:ln>
            </p:spPr>
          </p:sp>
          <p:sp>
            <p:nvSpPr>
              <p:cNvPr id="13330" name="Line 18"/>
              <p:cNvSpPr/>
              <p:nvPr/>
            </p:nvSpPr>
            <p:spPr>
              <a:xfrm>
                <a:off x="3684" y="1611"/>
                <a:ext cx="1" cy="265"/>
              </a:xfrm>
              <a:prstGeom prst="line">
                <a:avLst/>
              </a:prstGeom>
              <a:ln w="9525" cap="flat" cmpd="sng">
                <a:solidFill>
                  <a:srgbClr val="FFFF00"/>
                </a:solidFill>
                <a:prstDash val="solid"/>
                <a:headEnd type="none" w="med" len="med"/>
                <a:tailEnd type="none" w="med" len="med"/>
              </a:ln>
            </p:spPr>
          </p:sp>
          <p:sp>
            <p:nvSpPr>
              <p:cNvPr id="13331" name="Line 19"/>
              <p:cNvSpPr/>
              <p:nvPr/>
            </p:nvSpPr>
            <p:spPr>
              <a:xfrm>
                <a:off x="3355" y="1202"/>
                <a:ext cx="282" cy="265"/>
              </a:xfrm>
              <a:prstGeom prst="line">
                <a:avLst/>
              </a:prstGeom>
              <a:ln w="9525" cap="flat" cmpd="sng">
                <a:solidFill>
                  <a:srgbClr val="FFFF00"/>
                </a:solidFill>
                <a:prstDash val="solid"/>
                <a:headEnd type="none" w="med" len="med"/>
                <a:tailEnd type="none" w="med" len="med"/>
              </a:ln>
            </p:spPr>
          </p:sp>
          <p:sp>
            <p:nvSpPr>
              <p:cNvPr id="13332" name="Line 20"/>
              <p:cNvSpPr/>
              <p:nvPr/>
            </p:nvSpPr>
            <p:spPr>
              <a:xfrm flipH="1">
                <a:off x="3355" y="1565"/>
                <a:ext cx="235" cy="176"/>
              </a:xfrm>
              <a:prstGeom prst="line">
                <a:avLst/>
              </a:prstGeom>
              <a:ln w="9525" cap="flat" cmpd="sng">
                <a:solidFill>
                  <a:srgbClr val="FFFF00"/>
                </a:solidFill>
                <a:prstDash val="solid"/>
                <a:headEnd type="none" w="med" len="med"/>
                <a:tailEnd type="none" w="med" len="med"/>
              </a:ln>
            </p:spPr>
          </p:sp>
        </p:grpSp>
        <p:sp>
          <p:nvSpPr>
            <p:cNvPr id="13322" name="Text Box 56"/>
            <p:cNvSpPr txBox="1"/>
            <p:nvPr/>
          </p:nvSpPr>
          <p:spPr>
            <a:xfrm>
              <a:off x="533400" y="762000"/>
              <a:ext cx="4419600" cy="974369"/>
            </a:xfrm>
            <a:prstGeom prst="rect">
              <a:avLst/>
            </a:prstGeom>
            <a:noFill/>
            <a:ln w="28575" cap="flat" cmpd="sng">
              <a:solidFill>
                <a:srgbClr val="FF3399"/>
              </a:solidFill>
              <a:prstDash val="solid"/>
              <a:miter/>
              <a:headEnd type="none" w="med" len="med"/>
              <a:tailEnd type="none" w="med" len="med"/>
            </a:ln>
          </p:spPr>
          <p:txBody>
            <a:bodyPr>
              <a:spAutoFit/>
            </a:bodyPr>
            <a:lstStyle/>
            <a:p>
              <a:pPr algn="l">
                <a:lnSpc>
                  <a:spcPts val="3600"/>
                </a:lnSpc>
              </a:pPr>
              <a:r>
                <a:rPr lang="zh-CN" altLang="en-US" sz="2600" i="0" dirty="0">
                  <a:solidFill>
                    <a:schemeClr val="tx1"/>
                  </a:solidFill>
                  <a:latin typeface="Times New Roman" panose="02020603050405020304" pitchFamily="18" charset="0"/>
                </a:rPr>
                <a:t>当分子中有</a:t>
              </a:r>
              <a:r>
                <a:rPr lang="zh-CN" altLang="en-US" sz="2600" dirty="0">
                  <a:solidFill>
                    <a:schemeClr val="tx1"/>
                  </a:solidFill>
                  <a:latin typeface="Times New Roman" panose="02020603050405020304" pitchFamily="18" charset="0"/>
                  <a:sym typeface="Symbol" panose="05050102010706020507" pitchFamily="18" charset="2"/>
                </a:rPr>
                <a:t></a:t>
              </a:r>
              <a:r>
                <a:rPr lang="zh-CN" altLang="en-US" sz="2600" i="0" dirty="0">
                  <a:solidFill>
                    <a:schemeClr val="tx1"/>
                  </a:solidFill>
                  <a:latin typeface="Times New Roman" panose="02020603050405020304" pitchFamily="18" charset="0"/>
                </a:rPr>
                <a:t> 键时</a:t>
              </a:r>
              <a:r>
                <a:rPr lang="en-US" altLang="zh-CN" sz="2600" i="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sym typeface="Symbol" panose="05050102010706020507" pitchFamily="18" charset="2"/>
                </a:rPr>
                <a:t> </a:t>
              </a:r>
              <a:r>
                <a:rPr lang="zh-CN" altLang="en-US" sz="2600" i="0" dirty="0">
                  <a:solidFill>
                    <a:schemeClr val="tx1"/>
                  </a:solidFill>
                  <a:latin typeface="Times New Roman" panose="02020603050405020304" pitchFamily="18" charset="0"/>
                </a:rPr>
                <a:t>键应排在相当于孤对电子的位置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p:nvPr/>
        </p:nvSpPr>
        <p:spPr>
          <a:xfrm>
            <a:off x="228600" y="730091"/>
            <a:ext cx="7772400" cy="3046988"/>
          </a:xfrm>
          <a:prstGeom prst="rect">
            <a:avLst/>
          </a:prstGeom>
          <a:noFill/>
          <a:ln w="9525">
            <a:noFill/>
          </a:ln>
        </p:spPr>
        <p:txBody>
          <a:bodyPr anchor="ctr" anchorCtr="0">
            <a:spAutoFit/>
          </a:bodyPr>
          <a:lstStyle/>
          <a:p>
            <a:pPr indent="304800" algn="l" defTabSz="914400" eaLnBrk="0" hangingPunct="0">
              <a:tabLst>
                <a:tab pos="1943100" algn="l"/>
                <a:tab pos="2286000" algn="l"/>
              </a:tabLst>
            </a:pPr>
            <a:r>
              <a:rPr lang="en-US" altLang="zh-CN" i="0" dirty="0">
                <a:solidFill>
                  <a:schemeClr val="tx1"/>
                </a:solidFill>
                <a:latin typeface="Times New Roman" panose="02020603050405020304" pitchFamily="18" charset="0"/>
              </a:rPr>
              <a:t>1</a:t>
            </a:r>
            <a:r>
              <a:rPr lang="zh-CN" altLang="en-US" i="0" dirty="0">
                <a:solidFill>
                  <a:schemeClr val="tx1"/>
                </a:solidFill>
                <a:latin typeface="Times New Roman" panose="02020603050405020304" pitchFamily="18" charset="0"/>
              </a:rPr>
              <a:t>、用</a:t>
            </a:r>
            <a:r>
              <a:rPr lang="en-US" altLang="zh-CN" i="0" dirty="0">
                <a:solidFill>
                  <a:schemeClr val="tx1"/>
                </a:solidFill>
                <a:latin typeface="Times New Roman" panose="02020603050405020304" pitchFamily="18" charset="0"/>
              </a:rPr>
              <a:t>VSEPR</a:t>
            </a:r>
            <a:r>
              <a:rPr lang="zh-CN" altLang="en-US" i="0" dirty="0">
                <a:solidFill>
                  <a:schemeClr val="tx1"/>
                </a:solidFill>
                <a:latin typeface="Times New Roman" panose="02020603050405020304" pitchFamily="18" charset="0"/>
              </a:rPr>
              <a:t>理论推断下列离子</a:t>
            </a:r>
            <a:r>
              <a:rPr lang="en-US" altLang="zh-CN" i="0" dirty="0">
                <a:solidFill>
                  <a:schemeClr val="tx1"/>
                </a:solidFill>
                <a:latin typeface="Times New Roman" panose="02020603050405020304" pitchFamily="18" charset="0"/>
              </a:rPr>
              <a:t>VPN</a:t>
            </a:r>
            <a:r>
              <a:rPr lang="zh-CN" altLang="en-US" i="0" dirty="0">
                <a:solidFill>
                  <a:schemeClr val="tx1"/>
                </a:solidFill>
                <a:latin typeface="Times New Roman" panose="02020603050405020304" pitchFamily="18" charset="0"/>
              </a:rPr>
              <a:t>和几何构型。</a:t>
            </a:r>
            <a:endParaRPr lang="zh-CN" altLang="en-US" i="0" baseline="30000" dirty="0">
              <a:solidFill>
                <a:schemeClr val="tx1"/>
              </a:solidFill>
              <a:latin typeface="Times New Roman" panose="02020603050405020304" pitchFamily="18" charset="0"/>
            </a:endParaRPr>
          </a:p>
          <a:p>
            <a:pPr indent="304800" algn="l" defTabSz="914400" eaLnBrk="0" hangingPunct="0">
              <a:tabLst>
                <a:tab pos="1943100" algn="l"/>
                <a:tab pos="2286000" algn="l"/>
              </a:tabLst>
            </a:pPr>
            <a:r>
              <a:rPr lang="en-US" altLang="zh-CN" i="0" dirty="0">
                <a:solidFill>
                  <a:schemeClr val="tx1"/>
                </a:solidFill>
                <a:latin typeface="Times New Roman" panose="02020603050405020304" pitchFamily="18" charset="0"/>
              </a:rPr>
              <a:t>       (1) </a:t>
            </a:r>
            <a:r>
              <a:rPr lang="en-US" altLang="zh-CN" i="0" dirty="0" smtClean="0">
                <a:solidFill>
                  <a:schemeClr val="tx1"/>
                </a:solidFill>
                <a:latin typeface="Times New Roman" panose="02020603050405020304" pitchFamily="18" charset="0"/>
              </a:rPr>
              <a:t>SF</a:t>
            </a:r>
            <a:r>
              <a:rPr lang="en-US" altLang="zh-CN" i="0" baseline="-25000" dirty="0" smtClean="0">
                <a:solidFill>
                  <a:schemeClr val="tx1"/>
                </a:solidFill>
                <a:latin typeface="Times New Roman" panose="02020603050405020304" pitchFamily="18" charset="0"/>
              </a:rPr>
              <a:t>4</a:t>
            </a:r>
            <a:r>
              <a:rPr lang="en-US" altLang="zh-CN" i="0" dirty="0" smtClean="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rPr>
              <a:t>(2) PO</a:t>
            </a:r>
            <a:r>
              <a:rPr lang="en-US" altLang="zh-CN" i="0" baseline="-25000" dirty="0">
                <a:solidFill>
                  <a:schemeClr val="tx1"/>
                </a:solidFill>
                <a:latin typeface="Times New Roman" panose="02020603050405020304" pitchFamily="18" charset="0"/>
              </a:rPr>
              <a:t>4</a:t>
            </a:r>
            <a:r>
              <a:rPr lang="pt-BR" altLang="zh-CN" i="0" baseline="30000" dirty="0">
                <a:solidFill>
                  <a:schemeClr val="tx1"/>
                </a:solidFill>
                <a:latin typeface="Times New Roman" panose="02020603050405020304" pitchFamily="18" charset="0"/>
              </a:rPr>
              <a:t>3-</a:t>
            </a:r>
            <a:r>
              <a:rPr lang="pt-BR" altLang="zh-CN" i="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rPr>
              <a:t>        </a:t>
            </a:r>
          </a:p>
          <a:p>
            <a:pPr indent="304800" algn="l" defTabSz="914400" eaLnBrk="0" hangingPunct="0">
              <a:tabLst>
                <a:tab pos="1943100" algn="l"/>
                <a:tab pos="2286000" algn="l"/>
              </a:tabLst>
            </a:pPr>
            <a:r>
              <a:rPr lang="en-US" altLang="zh-CN" i="0" dirty="0">
                <a:solidFill>
                  <a:schemeClr val="tx1"/>
                </a:solidFill>
                <a:latin typeface="Times New Roman" panose="02020603050405020304" pitchFamily="18" charset="0"/>
              </a:rPr>
              <a:t>       (3) IF</a:t>
            </a:r>
            <a:r>
              <a:rPr lang="en-US" altLang="zh-CN" i="0" baseline="-25000" dirty="0">
                <a:solidFill>
                  <a:schemeClr val="tx1"/>
                </a:solidFill>
                <a:latin typeface="Times New Roman" panose="02020603050405020304" pitchFamily="18" charset="0"/>
              </a:rPr>
              <a:t>5 </a:t>
            </a:r>
            <a:r>
              <a:rPr lang="en-US" altLang="zh-CN" i="0" dirty="0">
                <a:solidFill>
                  <a:schemeClr val="tx1"/>
                </a:solidFill>
                <a:latin typeface="Times New Roman" panose="02020603050405020304" pitchFamily="18" charset="0"/>
              </a:rPr>
              <a:t>                         (4) l</a:t>
            </a:r>
            <a:r>
              <a:rPr lang="en-US" altLang="zh-CN" i="0" baseline="-25000" dirty="0">
                <a:solidFill>
                  <a:schemeClr val="tx1"/>
                </a:solidFill>
                <a:latin typeface="Times New Roman" panose="02020603050405020304" pitchFamily="18" charset="0"/>
              </a:rPr>
              <a:t>3</a:t>
            </a:r>
            <a:r>
              <a:rPr lang="zh-CN" altLang="pt-BR" i="0" baseline="30000" dirty="0" smtClean="0">
                <a:solidFill>
                  <a:schemeClr val="tx1"/>
                </a:solidFill>
                <a:latin typeface="Times New Roman" panose="02020603050405020304" pitchFamily="18" charset="0"/>
              </a:rPr>
              <a:t>－   </a:t>
            </a:r>
            <a:endParaRPr lang="zh-CN" altLang="pt-BR" i="0" baseline="30000" dirty="0">
              <a:solidFill>
                <a:schemeClr val="tx1"/>
              </a:solidFill>
              <a:latin typeface="Times New Roman" panose="02020603050405020304" pitchFamily="18" charset="0"/>
            </a:endParaRPr>
          </a:p>
          <a:p>
            <a:pPr indent="304800" algn="l" defTabSz="914400" eaLnBrk="0" hangingPunct="0">
              <a:tabLst>
                <a:tab pos="1943100" algn="l"/>
                <a:tab pos="2286000" algn="l"/>
              </a:tabLst>
            </a:pPr>
            <a:r>
              <a:rPr lang="en-US" altLang="zh-CN" i="0" dirty="0" smtClean="0">
                <a:solidFill>
                  <a:schemeClr val="tx1"/>
                </a:solidFill>
                <a:latin typeface="Times New Roman" panose="02020603050405020304" pitchFamily="18" charset="0"/>
              </a:rPr>
              <a:t> ——</a:t>
            </a:r>
            <a:r>
              <a:rPr lang="zh-CN" altLang="en-US" dirty="0" smtClean="0">
                <a:solidFill>
                  <a:srgbClr val="0000FF"/>
                </a:solidFill>
                <a:latin typeface="Times New Roman" panose="02020603050405020304" pitchFamily="18" charset="0"/>
              </a:rPr>
              <a:t>变形</a:t>
            </a:r>
            <a:r>
              <a:rPr lang="zh-CN" altLang="en-US" i="0" dirty="0" smtClean="0">
                <a:solidFill>
                  <a:schemeClr val="tx1"/>
                </a:solidFill>
                <a:latin typeface="Times New Roman" panose="02020603050405020304" pitchFamily="18" charset="0"/>
              </a:rPr>
              <a:t>四面体影响共价键键参数（如键角、键长）</a:t>
            </a:r>
            <a:endParaRPr lang="en-US" altLang="zh-CN" i="0" dirty="0" smtClean="0">
              <a:solidFill>
                <a:schemeClr val="tx1"/>
              </a:solidFill>
              <a:latin typeface="Times New Roman" panose="02020603050405020304" pitchFamily="18" charset="0"/>
            </a:endParaRPr>
          </a:p>
          <a:p>
            <a:pPr indent="304800" algn="l" defTabSz="914400" eaLnBrk="0" hangingPunct="0">
              <a:tabLst>
                <a:tab pos="1943100" algn="l"/>
                <a:tab pos="2286000" algn="l"/>
              </a:tabLst>
            </a:pPr>
            <a:endParaRPr lang="en-US" altLang="zh-CN" i="0" dirty="0" smtClean="0">
              <a:solidFill>
                <a:schemeClr val="tx1"/>
              </a:solidFill>
              <a:latin typeface="Times New Roman" panose="02020603050405020304" pitchFamily="18" charset="0"/>
            </a:endParaRPr>
          </a:p>
          <a:p>
            <a:pPr indent="304800" algn="l" defTabSz="914400" eaLnBrk="0" hangingPunct="0">
              <a:tabLst>
                <a:tab pos="1943100" algn="l"/>
                <a:tab pos="2286000" algn="l"/>
              </a:tabLst>
            </a:pPr>
            <a:r>
              <a:rPr lang="en-US" altLang="zh-CN" i="0" dirty="0" smtClean="0">
                <a:solidFill>
                  <a:schemeClr val="tx1"/>
                </a:solidFill>
                <a:latin typeface="Times New Roman" panose="02020603050405020304" pitchFamily="18" charset="0"/>
              </a:rPr>
              <a:t>2</a:t>
            </a:r>
            <a:r>
              <a:rPr lang="zh-CN" altLang="en-US" i="0" dirty="0">
                <a:solidFill>
                  <a:schemeClr val="tx1"/>
                </a:solidFill>
                <a:latin typeface="Times New Roman" panose="02020603050405020304" pitchFamily="18" charset="0"/>
              </a:rPr>
              <a:t>、比较键角的大小：</a:t>
            </a:r>
            <a:endParaRPr lang="en-US" altLang="zh-CN" i="0" dirty="0">
              <a:solidFill>
                <a:schemeClr val="tx1"/>
              </a:solidFill>
              <a:latin typeface="Times New Roman" panose="02020603050405020304" pitchFamily="18" charset="0"/>
            </a:endParaRPr>
          </a:p>
          <a:p>
            <a:pPr indent="304800" algn="l" defTabSz="914400" eaLnBrk="0" hangingPunct="0">
              <a:tabLst>
                <a:tab pos="1943100" algn="l"/>
                <a:tab pos="2286000" algn="l"/>
              </a:tabLst>
            </a:pPr>
            <a:r>
              <a:rPr lang="en-US" altLang="zh-CN" i="0" dirty="0">
                <a:solidFill>
                  <a:schemeClr val="tx1"/>
                </a:solidFill>
                <a:latin typeface="Times New Roman" panose="02020603050405020304" pitchFamily="18" charset="0"/>
              </a:rPr>
              <a:t>       (1) H</a:t>
            </a:r>
            <a:r>
              <a:rPr lang="en-US" altLang="zh-CN" i="0" baseline="-25000" dirty="0">
                <a:solidFill>
                  <a:schemeClr val="tx1"/>
                </a:solidFill>
                <a:latin typeface="Times New Roman" panose="02020603050405020304" pitchFamily="18" charset="0"/>
              </a:rPr>
              <a:t>2</a:t>
            </a:r>
            <a:r>
              <a:rPr lang="en-US" altLang="zh-CN" i="0" dirty="0">
                <a:solidFill>
                  <a:schemeClr val="tx1"/>
                </a:solidFill>
                <a:latin typeface="Times New Roman" panose="02020603050405020304" pitchFamily="18" charset="0"/>
              </a:rPr>
              <a:t>Se</a:t>
            </a:r>
            <a:r>
              <a:rPr lang="zh-CN" altLang="en-US" i="0" dirty="0">
                <a:solidFill>
                  <a:schemeClr val="tx1"/>
                </a:solidFill>
                <a:latin typeface="Times New Roman" panose="02020603050405020304" pitchFamily="18" charset="0"/>
              </a:rPr>
              <a:t>与</a:t>
            </a:r>
            <a:r>
              <a:rPr lang="en-US" altLang="zh-CN" i="0" dirty="0">
                <a:solidFill>
                  <a:schemeClr val="tx1"/>
                </a:solidFill>
                <a:latin typeface="Times New Roman" panose="02020603050405020304" pitchFamily="18" charset="0"/>
              </a:rPr>
              <a:t>H</a:t>
            </a:r>
            <a:r>
              <a:rPr lang="en-US" altLang="zh-CN" i="0" baseline="-25000" dirty="0">
                <a:solidFill>
                  <a:schemeClr val="tx1"/>
                </a:solidFill>
                <a:latin typeface="Times New Roman" panose="02020603050405020304" pitchFamily="18" charset="0"/>
              </a:rPr>
              <a:t>2</a:t>
            </a:r>
            <a:r>
              <a:rPr lang="en-US" altLang="zh-CN" i="0" dirty="0">
                <a:solidFill>
                  <a:schemeClr val="tx1"/>
                </a:solidFill>
                <a:latin typeface="Times New Roman" panose="02020603050405020304" pitchFamily="18" charset="0"/>
              </a:rPr>
              <a:t>S                    (2) PH</a:t>
            </a:r>
            <a:r>
              <a:rPr lang="en-US" altLang="zh-CN" i="0" baseline="-25000" dirty="0">
                <a:solidFill>
                  <a:schemeClr val="tx1"/>
                </a:solidFill>
                <a:latin typeface="Times New Roman" panose="02020603050405020304" pitchFamily="18" charset="0"/>
              </a:rPr>
              <a:t>3</a:t>
            </a:r>
            <a:r>
              <a:rPr lang="zh-CN" altLang="en-US" i="0" dirty="0">
                <a:solidFill>
                  <a:schemeClr val="tx1"/>
                </a:solidFill>
                <a:latin typeface="Times New Roman" panose="02020603050405020304" pitchFamily="18" charset="0"/>
              </a:rPr>
              <a:t>与</a:t>
            </a:r>
            <a:r>
              <a:rPr lang="en-US" altLang="zh-CN" i="0" dirty="0">
                <a:solidFill>
                  <a:schemeClr val="tx1"/>
                </a:solidFill>
                <a:latin typeface="Times New Roman" panose="02020603050405020304" pitchFamily="18" charset="0"/>
              </a:rPr>
              <a:t>AsH</a:t>
            </a:r>
            <a:r>
              <a:rPr lang="en-US" altLang="zh-CN" i="0" baseline="-25000" dirty="0">
                <a:solidFill>
                  <a:schemeClr val="tx1"/>
                </a:solidFill>
                <a:latin typeface="Times New Roman" panose="02020603050405020304" pitchFamily="18" charset="0"/>
              </a:rPr>
              <a:t>3</a:t>
            </a:r>
            <a:r>
              <a:rPr lang="en-US" altLang="zh-CN" i="0" dirty="0">
                <a:solidFill>
                  <a:schemeClr val="tx1"/>
                </a:solidFill>
                <a:latin typeface="Times New Roman" panose="02020603050405020304" pitchFamily="18" charset="0"/>
              </a:rPr>
              <a:t> </a:t>
            </a:r>
            <a:r>
              <a:rPr lang="pt-BR" altLang="zh-CN" i="0" dirty="0">
                <a:solidFill>
                  <a:schemeClr val="tx1"/>
                </a:solidFill>
                <a:latin typeface="Times New Roman" panose="02020603050405020304" pitchFamily="18" charset="0"/>
              </a:rPr>
              <a:t> </a:t>
            </a:r>
            <a:r>
              <a:rPr lang="en-US" altLang="zh-CN" i="0" dirty="0">
                <a:solidFill>
                  <a:schemeClr val="tx1"/>
                </a:solidFill>
                <a:latin typeface="Times New Roman" panose="02020603050405020304" pitchFamily="18" charset="0"/>
              </a:rPr>
              <a:t>     </a:t>
            </a:r>
          </a:p>
          <a:p>
            <a:pPr indent="304800" algn="l" defTabSz="914400" eaLnBrk="0" hangingPunct="0">
              <a:tabLst>
                <a:tab pos="1943100" algn="l"/>
                <a:tab pos="2286000" algn="l"/>
              </a:tabLst>
            </a:pPr>
            <a:r>
              <a:rPr lang="en-US" altLang="zh-CN" i="0" dirty="0">
                <a:solidFill>
                  <a:schemeClr val="tx1"/>
                </a:solidFill>
                <a:latin typeface="Times New Roman" panose="02020603050405020304" pitchFamily="18" charset="0"/>
              </a:rPr>
              <a:t>       </a:t>
            </a:r>
            <a:r>
              <a:rPr lang="en-US" altLang="zh-CN" i="0" dirty="0">
                <a:solidFill>
                  <a:schemeClr val="tx1"/>
                </a:solidFill>
                <a:sym typeface="+mn-ea"/>
              </a:rPr>
              <a:t>(3)</a:t>
            </a:r>
            <a:r>
              <a:rPr lang="en-US" altLang="zh-CN" i="0" dirty="0">
                <a:solidFill>
                  <a:schemeClr val="tx1"/>
                </a:solidFill>
                <a:latin typeface="Times New Roman" panose="02020603050405020304" pitchFamily="18" charset="0"/>
              </a:rPr>
              <a:t>BF</a:t>
            </a:r>
            <a:r>
              <a:rPr lang="en-US" altLang="zh-CN" i="0" baseline="-25000" dirty="0">
                <a:solidFill>
                  <a:schemeClr val="tx1"/>
                </a:solidFill>
                <a:latin typeface="Times New Roman" panose="02020603050405020304" pitchFamily="18" charset="0"/>
              </a:rPr>
              <a:t>3</a:t>
            </a:r>
            <a:r>
              <a:rPr lang="zh-CN" altLang="en-US" i="0" dirty="0" smtClean="0">
                <a:solidFill>
                  <a:schemeClr val="tx1"/>
                </a:solidFill>
                <a:latin typeface="Times New Roman" panose="02020603050405020304" pitchFamily="18" charset="0"/>
              </a:rPr>
              <a:t>与</a:t>
            </a:r>
            <a:r>
              <a:rPr lang="en-US" altLang="zh-CN" i="0" dirty="0" smtClean="0">
                <a:solidFill>
                  <a:schemeClr val="tx1"/>
                </a:solidFill>
                <a:latin typeface="Times New Roman" panose="02020603050405020304" pitchFamily="18" charset="0"/>
              </a:rPr>
              <a:t>NF</a:t>
            </a:r>
            <a:r>
              <a:rPr lang="en-US" altLang="zh-CN" i="0" baseline="-25000" dirty="0" smtClean="0">
                <a:solidFill>
                  <a:schemeClr val="tx1"/>
                </a:solidFill>
                <a:latin typeface="Times New Roman" panose="02020603050405020304" pitchFamily="18" charset="0"/>
              </a:rPr>
              <a:t>3</a:t>
            </a:r>
            <a:r>
              <a:rPr lang="en-US" altLang="zh-CN" i="0" dirty="0" smtClean="0">
                <a:solidFill>
                  <a:schemeClr val="tx1"/>
                </a:solidFill>
                <a:latin typeface="Times New Roman" panose="02020603050405020304" pitchFamily="18" charset="0"/>
              </a:rPr>
              <a:t>    </a:t>
            </a:r>
            <a:endParaRPr lang="en-US" altLang="zh-CN" i="0" dirty="0">
              <a:solidFill>
                <a:schemeClr val="tx1"/>
              </a:solidFill>
              <a:latin typeface="Times New Roman" panose="02020603050405020304" pitchFamily="18" charset="0"/>
            </a:endParaRPr>
          </a:p>
        </p:txBody>
      </p:sp>
      <p:sp>
        <p:nvSpPr>
          <p:cNvPr id="66563" name="矩形 4"/>
          <p:cNvSpPr/>
          <p:nvPr/>
        </p:nvSpPr>
        <p:spPr>
          <a:xfrm>
            <a:off x="3429000" y="152400"/>
            <a:ext cx="1008063" cy="584200"/>
          </a:xfrm>
          <a:prstGeom prst="rect">
            <a:avLst/>
          </a:prstGeom>
          <a:noFill/>
          <a:ln w="9525">
            <a:noFill/>
          </a:ln>
        </p:spPr>
        <p:txBody>
          <a:bodyPr wrap="none">
            <a:spAutoFit/>
          </a:bodyPr>
          <a:lstStyle/>
          <a:p>
            <a:r>
              <a:rPr lang="zh-CN" altLang="en-US" sz="3200" dirty="0">
                <a:solidFill>
                  <a:srgbClr val="C00000"/>
                </a:solidFill>
                <a:latin typeface="Times New Roman" panose="02020603050405020304" pitchFamily="18" charset="0"/>
              </a:rPr>
              <a:t>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blinds(horizontal)">
                                      <p:cBhvr>
                                        <p:cTn id="7" dur="500"/>
                                        <p:tgtEl>
                                          <p:spTgt spid="6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Text Box 3"/>
          <p:cNvSpPr txBox="1"/>
          <p:nvPr/>
        </p:nvSpPr>
        <p:spPr>
          <a:xfrm>
            <a:off x="381000" y="0"/>
            <a:ext cx="6781800" cy="892175"/>
          </a:xfrm>
          <a:prstGeom prst="rect">
            <a:avLst/>
          </a:prstGeom>
          <a:blipFill rotWithShape="1">
            <a:blip r:embed="rId3"/>
          </a:blipFill>
          <a:ln w="9525">
            <a:noFill/>
          </a:ln>
        </p:spPr>
        <p:txBody>
          <a:bodyPr>
            <a:spAutoFit/>
          </a:bodyPr>
          <a:lstStyle/>
          <a:p>
            <a:pPr algn="l"/>
            <a:r>
              <a:rPr lang="en-US" altLang="zh-CN" sz="2800" i="0" dirty="0">
                <a:solidFill>
                  <a:srgbClr val="FF0000"/>
                </a:solidFill>
                <a:latin typeface="Times New Roman" panose="02020603050405020304" pitchFamily="18" charset="0"/>
              </a:rPr>
              <a:t>§9.4     </a:t>
            </a:r>
            <a:r>
              <a:rPr lang="zh-CN" altLang="en-US" sz="2800" i="0" dirty="0">
                <a:solidFill>
                  <a:srgbClr val="FF0000"/>
                </a:solidFill>
                <a:latin typeface="Times New Roman" panose="02020603050405020304" pitchFamily="18" charset="0"/>
              </a:rPr>
              <a:t>分子间作用力和氢键</a:t>
            </a:r>
            <a:r>
              <a:rPr lang="zh-CN" altLang="en-US" sz="2800" dirty="0">
                <a:solidFill>
                  <a:srgbClr val="FF0000"/>
                </a:solidFill>
                <a:latin typeface="Times New Roman" panose="02020603050405020304" pitchFamily="18" charset="0"/>
              </a:rPr>
              <a:t> </a:t>
            </a:r>
            <a:endParaRPr lang="en-US" altLang="zh-CN" sz="2800" dirty="0">
              <a:solidFill>
                <a:srgbClr val="FF0000"/>
              </a:solidFill>
              <a:latin typeface="Times New Roman" panose="02020603050405020304" pitchFamily="18" charset="0"/>
            </a:endParaRPr>
          </a:p>
          <a:p>
            <a:pPr algn="l"/>
            <a:r>
              <a:rPr lang="en-US" altLang="zh-CN" i="0" dirty="0">
                <a:solidFill>
                  <a:schemeClr val="tx1"/>
                </a:solidFill>
                <a:latin typeface="Times New Roman" panose="02020603050405020304" pitchFamily="18" charset="0"/>
              </a:rPr>
              <a:t>(</a:t>
            </a:r>
            <a:r>
              <a:rPr lang="en-US" altLang="zh-CN" dirty="0">
                <a:solidFill>
                  <a:schemeClr val="tx1"/>
                </a:solidFill>
                <a:latin typeface="Times New Roman" panose="02020603050405020304" pitchFamily="18" charset="0"/>
              </a:rPr>
              <a:t>Intermolecular forces  and  hydrogen bonding)</a:t>
            </a:r>
          </a:p>
        </p:txBody>
      </p:sp>
      <p:grpSp>
        <p:nvGrpSpPr>
          <p:cNvPr id="67587" name="组合 6"/>
          <p:cNvGrpSpPr/>
          <p:nvPr/>
        </p:nvGrpSpPr>
        <p:grpSpPr>
          <a:xfrm>
            <a:off x="228600" y="1066800"/>
            <a:ext cx="8758238" cy="4932363"/>
            <a:chOff x="228600" y="1066800"/>
            <a:chExt cx="8758729" cy="4932304"/>
          </a:xfrm>
        </p:grpSpPr>
        <p:sp>
          <p:nvSpPr>
            <p:cNvPr id="149508" name="Text Box 4"/>
            <p:cNvSpPr txBox="1">
              <a:spLocks noChangeArrowheads="1"/>
            </p:cNvSpPr>
            <p:nvPr/>
          </p:nvSpPr>
          <p:spPr bwMode="auto">
            <a:xfrm>
              <a:off x="228600" y="1066800"/>
              <a:ext cx="5105686" cy="492119"/>
            </a:xfrm>
            <a:prstGeom prst="rect">
              <a:avLst/>
            </a:prstGeom>
            <a:noFill/>
            <a:ln w="38100" cmpd="dbl">
              <a:noFill/>
              <a:miter lim="800000"/>
            </a:ln>
          </p:spPr>
          <p:txBody>
            <a:bodyPr>
              <a:spAutoFit/>
            </a:bodyPr>
            <a:lstStyle/>
            <a:p>
              <a:pPr marR="0" algn="l" defTabSz="914400" eaLnBrk="0" hangingPunct="0">
                <a:lnSpc>
                  <a:spcPts val="3600"/>
                </a:lnSpc>
                <a:buClrTx/>
                <a:buSzTx/>
                <a:buFontTx/>
                <a:buNone/>
                <a:defRPr/>
              </a:pPr>
              <a:r>
                <a:rPr kumimoji="0" lang="zh-CN" altLang="en-US" sz="2600" i="0" kern="1200" cap="none" spc="0" normalizeH="0" baseline="0" noProof="0" dirty="0">
                  <a:solidFill>
                    <a:srgbClr val="C00000"/>
                  </a:solidFill>
                  <a:latin typeface="+mn-ea"/>
                  <a:ea typeface="+mn-ea"/>
                  <a:cs typeface="+mn-cs"/>
                </a:rPr>
                <a:t>一、分子的极性和变形性</a:t>
              </a:r>
            </a:p>
          </p:txBody>
        </p:sp>
        <p:sp>
          <p:nvSpPr>
            <p:cNvPr id="67589" name="Rectangle 6"/>
            <p:cNvSpPr/>
            <p:nvPr/>
          </p:nvSpPr>
          <p:spPr>
            <a:xfrm>
              <a:off x="533400" y="1905000"/>
              <a:ext cx="7924800" cy="1897699"/>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分子之间也存在着相互作用力（</a:t>
              </a:r>
              <a:r>
                <a:rPr lang="zh-CN" altLang="en-US" sz="2600" dirty="0">
                  <a:solidFill>
                    <a:schemeClr val="tx1"/>
                  </a:solidFill>
                  <a:latin typeface="Times New Roman" panose="02020603050405020304" pitchFamily="18" charset="0"/>
                </a:rPr>
                <a:t>几个到几十个</a:t>
              </a:r>
              <a:r>
                <a:rPr lang="en-US" altLang="zh-CN" sz="2600" dirty="0">
                  <a:solidFill>
                    <a:schemeClr val="tx1"/>
                  </a:solidFill>
                  <a:latin typeface="Times New Roman" panose="02020603050405020304" pitchFamily="18" charset="0"/>
                </a:rPr>
                <a:t>kJ·mol</a:t>
              </a:r>
              <a:r>
                <a:rPr lang="en-US" altLang="zh-CN" sz="2600" baseline="3000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，这种力虽不及化学键（</a:t>
              </a:r>
              <a:r>
                <a:rPr lang="en-US" altLang="zh-CN" sz="2600" dirty="0">
                  <a:solidFill>
                    <a:schemeClr val="tx1"/>
                  </a:solidFill>
                  <a:latin typeface="Times New Roman" panose="02020603050405020304" pitchFamily="18" charset="0"/>
                </a:rPr>
                <a:t>100</a:t>
              </a:r>
              <a:r>
                <a:rPr lang="zh-CN" altLang="en-US" sz="2600" dirty="0">
                  <a:solidFill>
                    <a:schemeClr val="tx1"/>
                  </a:solidFill>
                  <a:latin typeface="Times New Roman" panose="02020603050405020304" pitchFamily="18" charset="0"/>
                </a:rPr>
                <a:t>到几百</a:t>
              </a:r>
              <a:r>
                <a:rPr lang="en-US" altLang="zh-CN" sz="2600" dirty="0">
                  <a:solidFill>
                    <a:schemeClr val="tx1"/>
                  </a:solidFill>
                  <a:latin typeface="Times New Roman" panose="02020603050405020304" pitchFamily="18" charset="0"/>
                </a:rPr>
                <a:t>kJ·mol</a:t>
              </a:r>
              <a:r>
                <a:rPr lang="en-US" altLang="zh-CN" sz="2600" baseline="30000" dirty="0">
                  <a:solidFill>
                    <a:schemeClr val="tx1"/>
                  </a:solidFill>
                  <a:latin typeface="Times New Roman" panose="02020603050405020304" pitchFamily="18" charset="0"/>
                </a:rPr>
                <a:t>-1</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）强烈，但气态物质能凝聚成液态、凝固成固态，正是分子间相互作用的结果。</a:t>
              </a:r>
              <a:r>
                <a:rPr lang="zh-CN" altLang="en-US" sz="2600" dirty="0">
                  <a:solidFill>
                    <a:schemeClr val="tx1"/>
                  </a:solidFill>
                  <a:latin typeface="Times New Roman" panose="02020603050405020304" pitchFamily="18" charset="0"/>
                </a:rPr>
                <a:t>  </a:t>
              </a:r>
            </a:p>
          </p:txBody>
        </p:sp>
        <p:sp>
          <p:nvSpPr>
            <p:cNvPr id="67590" name="Rectangle 10"/>
            <p:cNvSpPr/>
            <p:nvPr/>
          </p:nvSpPr>
          <p:spPr>
            <a:xfrm>
              <a:off x="381000" y="3886200"/>
              <a:ext cx="8305800" cy="1436034"/>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分子间作用力是</a:t>
              </a:r>
              <a:r>
                <a:rPr lang="en-US" altLang="zh-CN" sz="2600" dirty="0">
                  <a:solidFill>
                    <a:schemeClr val="tx1"/>
                  </a:solidFill>
                  <a:latin typeface="Times New Roman" panose="02020603050405020304" pitchFamily="18" charset="0"/>
                </a:rPr>
                <a:t>1873</a:t>
              </a:r>
              <a:r>
                <a:rPr lang="zh-CN" altLang="en-US" sz="2600" i="0" dirty="0">
                  <a:solidFill>
                    <a:schemeClr val="tx1"/>
                  </a:solidFill>
                  <a:latin typeface="Times New Roman" panose="02020603050405020304" pitchFamily="18" charset="0"/>
                </a:rPr>
                <a:t>年由荷兰物理学家范德华首先提出的，故又称</a:t>
              </a:r>
              <a:r>
                <a:rPr lang="zh-CN" altLang="en-US" sz="2600" dirty="0">
                  <a:solidFill>
                    <a:schemeClr val="tx1"/>
                  </a:solidFill>
                  <a:latin typeface="Times New Roman" panose="02020603050405020304" pitchFamily="18" charset="0"/>
                </a:rPr>
                <a:t>范德华力</a:t>
              </a:r>
              <a:r>
                <a:rPr lang="zh-CN" altLang="en-US" sz="2600" i="0" dirty="0">
                  <a:solidFill>
                    <a:schemeClr val="tx1"/>
                  </a:solidFill>
                  <a:latin typeface="Times New Roman" panose="02020603050405020304" pitchFamily="18" charset="0"/>
                </a:rPr>
                <a:t>，起源于对理想气体方程式的修正。</a:t>
              </a:r>
            </a:p>
          </p:txBody>
        </p:sp>
        <p:sp>
          <p:nvSpPr>
            <p:cNvPr id="67591" name="Rectangle 11"/>
            <p:cNvSpPr/>
            <p:nvPr/>
          </p:nvSpPr>
          <p:spPr>
            <a:xfrm>
              <a:off x="762000" y="5486400"/>
              <a:ext cx="8225329" cy="512704"/>
            </a:xfrm>
            <a:prstGeom prst="rect">
              <a:avLst/>
            </a:prstGeom>
            <a:noFill/>
            <a:ln w="9525">
              <a:noFill/>
            </a:ln>
          </p:spPr>
          <p:txBody>
            <a:bodyPr wrap="none">
              <a:spAutoFit/>
            </a:bodyPr>
            <a:lstStyle/>
            <a:p>
              <a:pPr>
                <a:lnSpc>
                  <a:spcPts val="3600"/>
                </a:lnSpc>
              </a:pPr>
              <a:r>
                <a:rPr lang="zh-CN" altLang="en-US" sz="2600" i="0" dirty="0">
                  <a:solidFill>
                    <a:schemeClr val="tx1"/>
                  </a:solidFill>
                  <a:latin typeface="Times New Roman" panose="02020603050405020304" pitchFamily="18" charset="0"/>
                </a:rPr>
                <a:t>为了说明这种引力的由来，先介绍分子的极性与变形性</a:t>
              </a:r>
            </a:p>
          </p:txBody>
        </p:sp>
      </p:gr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6" name="Rectangle 4"/>
          <p:cNvSpPr/>
          <p:nvPr/>
        </p:nvSpPr>
        <p:spPr>
          <a:xfrm>
            <a:off x="0" y="-14287"/>
            <a:ext cx="4495800" cy="523875"/>
          </a:xfrm>
          <a:prstGeom prst="rect">
            <a:avLst/>
          </a:prstGeom>
          <a:noFill/>
          <a:ln w="9525">
            <a:noFill/>
          </a:ln>
        </p:spPr>
        <p:txBody>
          <a:bodyPr anchor="ctr" anchorCtr="0">
            <a:spAutoFit/>
          </a:bodyPr>
          <a:lstStyle/>
          <a:p>
            <a:pPr algn="l"/>
            <a:r>
              <a:rPr lang="zh-CN" altLang="en-US" sz="2800" i="0" dirty="0">
                <a:solidFill>
                  <a:srgbClr val="CC3300"/>
                </a:solidFill>
                <a:latin typeface="Times New Roman" panose="02020603050405020304" pitchFamily="18" charset="0"/>
              </a:rPr>
              <a:t>（一） 、分子的极性</a:t>
            </a:r>
          </a:p>
        </p:txBody>
      </p:sp>
      <p:grpSp>
        <p:nvGrpSpPr>
          <p:cNvPr id="2" name="组合 6"/>
          <p:cNvGrpSpPr/>
          <p:nvPr/>
        </p:nvGrpSpPr>
        <p:grpSpPr>
          <a:xfrm>
            <a:off x="228600" y="609600"/>
            <a:ext cx="8839200" cy="4554538"/>
            <a:chOff x="152400" y="609600"/>
            <a:chExt cx="8839200" cy="4554126"/>
          </a:xfrm>
        </p:grpSpPr>
        <p:sp>
          <p:nvSpPr>
            <p:cNvPr id="68612" name="Rectangle 5"/>
            <p:cNvSpPr/>
            <p:nvPr/>
          </p:nvSpPr>
          <p:spPr>
            <a:xfrm>
              <a:off x="152400" y="609600"/>
              <a:ext cx="8686800" cy="1418145"/>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任何以共价键结合的分子中，尽管整个分子是电中性的，但可设想</a:t>
              </a:r>
              <a:r>
                <a:rPr lang="zh-CN" altLang="en-US" sz="2600" dirty="0">
                  <a:solidFill>
                    <a:schemeClr val="tx1"/>
                  </a:solidFill>
                  <a:latin typeface="楷体_GB2312" pitchFamily="49" charset="-122"/>
                </a:rPr>
                <a:t>分子中两种电荷分别集中于一点，各称为正电荷中心和负电荷中心，即</a:t>
              </a:r>
              <a:r>
                <a:rPr lang="zh-CN" altLang="en-US" sz="2600" dirty="0">
                  <a:solidFill>
                    <a:schemeClr val="tx1"/>
                  </a:solidFill>
                  <a:latin typeface="Times New Roman" panose="02020603050405020304" pitchFamily="18" charset="0"/>
                </a:rPr>
                <a:t>“</a:t>
              </a:r>
              <a:r>
                <a:rPr lang="zh-CN" altLang="en-US" sz="2600" dirty="0">
                  <a:solidFill>
                    <a:schemeClr val="tx1"/>
                  </a:solidFill>
                  <a:latin typeface="楷体_GB2312" pitchFamily="49" charset="-122"/>
                </a:rPr>
                <a:t>十</a:t>
              </a:r>
              <a:r>
                <a:rPr lang="zh-CN" altLang="en-US" sz="2600" dirty="0">
                  <a:solidFill>
                    <a:schemeClr val="tx1"/>
                  </a:solidFill>
                  <a:latin typeface="Times New Roman" panose="02020603050405020304" pitchFamily="18" charset="0"/>
                </a:rPr>
                <a:t>”</a:t>
              </a:r>
              <a:r>
                <a:rPr lang="zh-CN" altLang="en-US" sz="2600" dirty="0">
                  <a:solidFill>
                    <a:schemeClr val="tx1"/>
                  </a:solidFill>
                  <a:latin typeface="楷体_GB2312" pitchFamily="49" charset="-122"/>
                </a:rPr>
                <a:t>极和</a:t>
              </a:r>
              <a:r>
                <a:rPr lang="zh-CN" altLang="en-US" sz="2600" dirty="0">
                  <a:solidFill>
                    <a:schemeClr val="tx1"/>
                  </a:solidFill>
                  <a:latin typeface="Times New Roman" panose="02020603050405020304" pitchFamily="18" charset="0"/>
                </a:rPr>
                <a:t>“</a:t>
              </a:r>
              <a:r>
                <a:rPr lang="zh-CN" altLang="en-US" sz="2600" dirty="0">
                  <a:solidFill>
                    <a:schemeClr val="tx1"/>
                  </a:solidFill>
                  <a:latin typeface="楷体_GB2312" pitchFamily="49" charset="-122"/>
                </a:rPr>
                <a:t>一</a:t>
              </a:r>
              <a:r>
                <a:rPr lang="zh-CN" altLang="en-US" sz="2600" dirty="0">
                  <a:solidFill>
                    <a:schemeClr val="tx1"/>
                  </a:solidFill>
                  <a:latin typeface="Times New Roman" panose="02020603050405020304" pitchFamily="18" charset="0"/>
                </a:rPr>
                <a:t>”</a:t>
              </a:r>
              <a:r>
                <a:rPr lang="zh-CN" altLang="en-US" sz="2600" dirty="0">
                  <a:solidFill>
                    <a:schemeClr val="tx1"/>
                  </a:solidFill>
                  <a:latin typeface="楷体_GB2312" pitchFamily="49" charset="-122"/>
                </a:rPr>
                <a:t>极。 </a:t>
              </a:r>
            </a:p>
          </p:txBody>
        </p:sp>
        <p:sp>
          <p:nvSpPr>
            <p:cNvPr id="68613" name="Rectangle 6"/>
            <p:cNvSpPr/>
            <p:nvPr/>
          </p:nvSpPr>
          <p:spPr>
            <a:xfrm>
              <a:off x="304800" y="2286000"/>
              <a:ext cx="8555038" cy="974369"/>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如果两个电荷中心之间存在一定的距离，即形成</a:t>
              </a:r>
              <a:r>
                <a:rPr lang="zh-CN" altLang="en-US" sz="2600" dirty="0">
                  <a:solidFill>
                    <a:schemeClr val="tx1"/>
                  </a:solidFill>
                  <a:latin typeface="楷体_GB2312" pitchFamily="49" charset="-122"/>
                </a:rPr>
                <a:t>偶极</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用</a:t>
              </a:r>
              <a:r>
                <a:rPr lang="zh-CN" altLang="en-US" sz="2600" dirty="0">
                  <a:solidFill>
                    <a:schemeClr val="tx1"/>
                  </a:solidFill>
                  <a:latin typeface="Times New Roman" panose="02020603050405020304" pitchFamily="18" charset="0"/>
                </a:rPr>
                <a:t>偶极矩 </a:t>
              </a:r>
              <a:r>
                <a:rPr lang="en-US" altLang="zh-CN" sz="2600" dirty="0">
                  <a:solidFill>
                    <a:schemeClr val="tx1"/>
                  </a:solidFill>
                  <a:latin typeface="Times New Roman" panose="02020603050405020304" pitchFamily="18" charset="0"/>
                </a:rPr>
                <a:t>(dipole  moment, µ)</a:t>
              </a:r>
              <a:r>
                <a:rPr lang="zh-CN" altLang="en-US" sz="2600" i="0" dirty="0">
                  <a:solidFill>
                    <a:schemeClr val="tx1"/>
                  </a:solidFill>
                  <a:latin typeface="Times New Roman" panose="02020603050405020304" pitchFamily="18" charset="0"/>
                </a:rPr>
                <a:t>来衡量</a:t>
              </a:r>
              <a:r>
                <a:rPr lang="zh-CN" altLang="en-US" sz="2600" i="0" dirty="0">
                  <a:solidFill>
                    <a:schemeClr val="tx1"/>
                  </a:solidFill>
                  <a:latin typeface="Times New Roman" panose="02020603050405020304" pitchFamily="18" charset="0"/>
                  <a:sym typeface="Wingdings" panose="05000000000000000000" pitchFamily="2" charset="2"/>
                </a:rPr>
                <a:t>（前面已学</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 </a:t>
              </a:r>
            </a:p>
          </p:txBody>
        </p:sp>
        <p:sp>
          <p:nvSpPr>
            <p:cNvPr id="68614" name="Rectangle 7"/>
            <p:cNvSpPr/>
            <p:nvPr/>
          </p:nvSpPr>
          <p:spPr>
            <a:xfrm>
              <a:off x="228600" y="3581400"/>
              <a:ext cx="8763000" cy="974369"/>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dirty="0">
                  <a:solidFill>
                    <a:srgbClr val="0000FF"/>
                  </a:solidFill>
                  <a:latin typeface="Times New Roman" panose="02020603050405020304" pitchFamily="18" charset="0"/>
                </a:rPr>
                <a:t>偶极矩</a:t>
              </a:r>
              <a:r>
                <a:rPr lang="en-US" altLang="zh-CN" sz="2600" dirty="0">
                  <a:solidFill>
                    <a:srgbClr val="0000FF"/>
                  </a:solidFill>
                  <a:latin typeface="Times New Roman" panose="02020603050405020304" pitchFamily="18" charset="0"/>
                </a:rPr>
                <a:t>(μ)</a:t>
              </a:r>
              <a:r>
                <a:rPr lang="zh-CN" altLang="en-US" sz="2600" i="0" dirty="0">
                  <a:solidFill>
                    <a:schemeClr val="tx1"/>
                  </a:solidFill>
                  <a:latin typeface="Times New Roman" panose="02020603050405020304" pitchFamily="18" charset="0"/>
                </a:rPr>
                <a:t>定义为分子中正电荷中心或负电荷中心上的荷电量</a:t>
              </a:r>
              <a:r>
                <a:rPr lang="en-US" altLang="zh-CN" sz="2600" i="0" dirty="0">
                  <a:solidFill>
                    <a:schemeClr val="tx1"/>
                  </a:solidFill>
                  <a:latin typeface="Times New Roman" panose="02020603050405020304" pitchFamily="18" charset="0"/>
                </a:rPr>
                <a:t>(q)</a:t>
              </a:r>
              <a:r>
                <a:rPr lang="zh-CN" altLang="en-US" sz="2600" i="0" dirty="0">
                  <a:solidFill>
                    <a:schemeClr val="tx1"/>
                  </a:solidFill>
                  <a:latin typeface="Times New Roman" panose="02020603050405020304" pitchFamily="18" charset="0"/>
                </a:rPr>
                <a:t>与正、负电荷中心间距离</a:t>
              </a:r>
              <a:r>
                <a:rPr lang="en-US" altLang="zh-CN" sz="2600" i="0" dirty="0">
                  <a:solidFill>
                    <a:schemeClr val="tx1"/>
                  </a:solidFill>
                  <a:latin typeface="Times New Roman" panose="02020603050405020304" pitchFamily="18" charset="0"/>
                </a:rPr>
                <a:t>(d)</a:t>
              </a:r>
              <a:r>
                <a:rPr lang="zh-CN" altLang="en-US" sz="2600" i="0" dirty="0">
                  <a:solidFill>
                    <a:schemeClr val="tx1"/>
                  </a:solidFill>
                  <a:latin typeface="Times New Roman" panose="02020603050405020304" pitchFamily="18" charset="0"/>
                </a:rPr>
                <a:t>的乘积：</a:t>
              </a:r>
            </a:p>
          </p:txBody>
        </p:sp>
        <p:sp>
          <p:nvSpPr>
            <p:cNvPr id="68615" name="Text Box 8"/>
            <p:cNvSpPr txBox="1"/>
            <p:nvPr/>
          </p:nvSpPr>
          <p:spPr>
            <a:xfrm>
              <a:off x="2895600" y="4648200"/>
              <a:ext cx="3208338" cy="515526"/>
            </a:xfrm>
            <a:prstGeom prst="rect">
              <a:avLst/>
            </a:prstGeom>
            <a:solidFill>
              <a:srgbClr val="FF99CC"/>
            </a:solidFill>
            <a:ln w="9525">
              <a:noFill/>
            </a:ln>
          </p:spPr>
          <p:txBody>
            <a:bodyPr>
              <a:spAutoFit/>
            </a:bodyPr>
            <a:lstStyle/>
            <a:p>
              <a:pPr>
                <a:lnSpc>
                  <a:spcPts val="3600"/>
                </a:lnSpc>
                <a:buNone/>
              </a:pPr>
              <a:r>
                <a:rPr lang="en-US" altLang="zh-CN" sz="2600" dirty="0">
                  <a:solidFill>
                    <a:schemeClr val="tx1"/>
                  </a:solidFill>
                  <a:latin typeface="Symbol" panose="05050102010706020507" pitchFamily="18" charset="2"/>
                  <a:ea typeface="宋体" panose="02010600030101010101" pitchFamily="2" charset="-122"/>
                </a:rPr>
                <a:t>m</a:t>
              </a:r>
              <a:r>
                <a:rPr lang="en-US" altLang="zh-CN" sz="2600" i="0" dirty="0">
                  <a:solidFill>
                    <a:schemeClr val="tx1"/>
                  </a:solidFill>
                  <a:latin typeface="Times New Roman" panose="02020603050405020304" pitchFamily="18" charset="0"/>
                  <a:ea typeface="宋体" panose="02010600030101010101" pitchFamily="2" charset="-122"/>
                </a:rPr>
                <a:t> = </a:t>
              </a:r>
              <a:r>
                <a:rPr lang="en-US" altLang="zh-CN" sz="2600" dirty="0">
                  <a:solidFill>
                    <a:schemeClr val="tx1"/>
                  </a:solidFill>
                  <a:latin typeface="Times New Roman" panose="02020603050405020304" pitchFamily="18" charset="0"/>
                  <a:ea typeface="宋体" panose="02010600030101010101" pitchFamily="2" charset="-122"/>
                </a:rPr>
                <a:t>q ∙ 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2756"/>
                                        </p:tgtEl>
                                        <p:attrNameLst>
                                          <p:attrName>style.visibility</p:attrName>
                                        </p:attrNameLst>
                                      </p:cBhvr>
                                      <p:to>
                                        <p:strVal val="visible"/>
                                      </p:to>
                                    </p:set>
                                    <p:animEffect transition="in" filter="box(in)">
                                      <p:cBhvr>
                                        <p:cTn id="7" dur="1000"/>
                                        <p:tgtEl>
                                          <p:spTgt spid="2027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组合 6"/>
          <p:cNvGrpSpPr/>
          <p:nvPr/>
        </p:nvGrpSpPr>
        <p:grpSpPr>
          <a:xfrm>
            <a:off x="152400" y="152400"/>
            <a:ext cx="8686800" cy="6080125"/>
            <a:chOff x="152400" y="152400"/>
            <a:chExt cx="8686800" cy="6079769"/>
          </a:xfrm>
        </p:grpSpPr>
        <p:pic>
          <p:nvPicPr>
            <p:cNvPr id="69635" name="Picture 4"/>
            <p:cNvPicPr>
              <a:picLocks noChangeAspect="1"/>
            </p:cNvPicPr>
            <p:nvPr/>
          </p:nvPicPr>
          <p:blipFill>
            <a:blip r:embed="rId3"/>
            <a:stretch>
              <a:fillRect/>
            </a:stretch>
          </p:blipFill>
          <p:spPr>
            <a:xfrm>
              <a:off x="152400" y="152400"/>
              <a:ext cx="4267200" cy="1917700"/>
            </a:xfrm>
            <a:prstGeom prst="rect">
              <a:avLst/>
            </a:prstGeom>
            <a:noFill/>
            <a:ln w="9525">
              <a:noFill/>
            </a:ln>
          </p:spPr>
        </p:pic>
        <p:sp>
          <p:nvSpPr>
            <p:cNvPr id="179207" name="Rectangle 7"/>
            <p:cNvSpPr>
              <a:spLocks noChangeArrowheads="1"/>
            </p:cNvSpPr>
            <p:nvPr/>
          </p:nvSpPr>
          <p:spPr bwMode="auto">
            <a:xfrm>
              <a:off x="4724400" y="228596"/>
              <a:ext cx="3657600" cy="1896952"/>
            </a:xfrm>
            <a:prstGeom prst="rect">
              <a:avLst/>
            </a:prstGeom>
            <a:noFill/>
            <a:ln w="9525" algn="ctr">
              <a:noFill/>
              <a:miter lim="800000"/>
            </a:ln>
          </p:spPr>
          <p:txBody>
            <a:bodyPr anchor="ctr">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        </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偶极矩的</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SI</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单位是</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C · m</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，它是一个矢量</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如图</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2-10)</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Times New Roman" panose="02020603050405020304" pitchFamily="18" charset="0"/>
                </a:rPr>
                <a:t>。分子的偶极矩可通过实验测定。 </a:t>
              </a:r>
            </a:p>
          </p:txBody>
        </p:sp>
        <p:sp>
          <p:nvSpPr>
            <p:cNvPr id="179210" name="Rectangle 10"/>
            <p:cNvSpPr>
              <a:spLocks noChangeArrowheads="1"/>
            </p:cNvSpPr>
            <p:nvPr/>
          </p:nvSpPr>
          <p:spPr bwMode="auto">
            <a:xfrm>
              <a:off x="1447800" y="2133484"/>
              <a:ext cx="5638800" cy="1436604"/>
            </a:xfrm>
            <a:prstGeom prst="rect">
              <a:avLst/>
            </a:prstGeom>
            <a:solidFill>
              <a:srgbClr val="FF99CC"/>
            </a:solidFill>
            <a:ln w="9525" algn="ctr">
              <a:noFill/>
              <a:miter lim="800000"/>
            </a:ln>
          </p:spPr>
          <p:txBody>
            <a:bodyPr anchor="ctr">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0" u="none" strike="noStrike" kern="1200" cap="none" spc="0" normalizeH="0" baseline="0" noProof="0">
                  <a:ln>
                    <a:noFill/>
                  </a:ln>
                  <a:solidFill>
                    <a:schemeClr val="tx1"/>
                  </a:solidFill>
                  <a:effectLst/>
                  <a:uLnTx/>
                  <a:uFillTx/>
                  <a:latin typeface="+mj-lt"/>
                  <a:ea typeface="楷体_GB2312" pitchFamily="49" charset="-122"/>
                  <a:cs typeface="+mn-cs"/>
                </a:rPr>
                <a:t>         </a:t>
              </a:r>
              <a:r>
                <a:rPr kumimoji="0" lang="en-US" altLang="zh-CN" sz="2600" b="1" i="1" u="none" strike="noStrike" kern="1200" cap="none" spc="0" normalizeH="0" baseline="0" noProof="0">
                  <a:ln>
                    <a:noFill/>
                  </a:ln>
                  <a:solidFill>
                    <a:schemeClr val="tx1"/>
                  </a:solidFill>
                  <a:effectLst/>
                  <a:uLnTx/>
                  <a:uFillTx/>
                  <a:latin typeface="+mj-lt"/>
                  <a:ea typeface="楷体_GB2312" pitchFamily="49" charset="-122"/>
                  <a:cs typeface="+mn-cs"/>
                </a:rPr>
                <a:t>μ=0</a:t>
              </a:r>
              <a:r>
                <a:rPr kumimoji="0" lang="zh-CN" altLang="en-US" sz="2600" b="1" i="1" u="none" strike="noStrike" kern="1200" cap="none" spc="0" normalizeH="0" baseline="0" noProof="0">
                  <a:ln>
                    <a:noFill/>
                  </a:ln>
                  <a:solidFill>
                    <a:schemeClr val="tx1"/>
                  </a:solidFill>
                  <a:effectLst/>
                  <a:uLnTx/>
                  <a:uFillTx/>
                  <a:latin typeface="+mj-lt"/>
                  <a:ea typeface="楷体_GB2312" pitchFamily="49" charset="-122"/>
                  <a:cs typeface="+mn-cs"/>
                </a:rPr>
                <a:t>的分子为非极性分子；</a:t>
              </a:r>
            </a:p>
            <a:p>
              <a:pPr marL="0" marR="0" lvl="0" indent="0" algn="l" defTabSz="914400" rtl="0" eaLnBrk="1" fontAlgn="base" latinLnBrk="0" hangingPunct="1">
                <a:lnSpc>
                  <a:spcPts val="3600"/>
                </a:lnSpc>
                <a:spcBef>
                  <a:spcPct val="0"/>
                </a:spcBef>
                <a:spcAft>
                  <a:spcPct val="0"/>
                </a:spcAft>
                <a:buClrTx/>
                <a:buSzTx/>
                <a:buFontTx/>
                <a:buNone/>
                <a:defRPr/>
              </a:pPr>
              <a:r>
                <a:rPr kumimoji="0" lang="zh-CN" altLang="en-US" sz="2600" b="1" i="1" u="none" strike="noStrike" kern="1200" cap="none" spc="0" normalizeH="0" baseline="0" noProof="0">
                  <a:ln>
                    <a:noFill/>
                  </a:ln>
                  <a:solidFill>
                    <a:schemeClr val="tx1"/>
                  </a:solidFill>
                  <a:effectLst/>
                  <a:uLnTx/>
                  <a:uFillTx/>
                  <a:latin typeface="+mj-lt"/>
                  <a:ea typeface="楷体_GB2312" pitchFamily="49" charset="-122"/>
                  <a:cs typeface="+mn-cs"/>
                </a:rPr>
                <a:t>         </a:t>
              </a:r>
              <a:r>
                <a:rPr kumimoji="0" lang="en-US" altLang="zh-CN" sz="2600" b="1" i="1" u="none" strike="noStrike" kern="1200" cap="none" spc="0" normalizeH="0" baseline="0" noProof="0">
                  <a:ln>
                    <a:noFill/>
                  </a:ln>
                  <a:solidFill>
                    <a:schemeClr val="tx1"/>
                  </a:solidFill>
                  <a:effectLst/>
                  <a:uLnTx/>
                  <a:uFillTx/>
                  <a:latin typeface="+mj-lt"/>
                  <a:ea typeface="楷体_GB2312" pitchFamily="49" charset="-122"/>
                  <a:cs typeface="+mn-cs"/>
                </a:rPr>
                <a:t>μ≠0</a:t>
              </a:r>
              <a:r>
                <a:rPr kumimoji="0" lang="zh-CN" altLang="en-US" sz="2600" b="1" i="1" u="none" strike="noStrike" kern="1200" cap="none" spc="0" normalizeH="0" baseline="0" noProof="0">
                  <a:ln>
                    <a:noFill/>
                  </a:ln>
                  <a:solidFill>
                    <a:schemeClr val="tx1"/>
                  </a:solidFill>
                  <a:effectLst/>
                  <a:uLnTx/>
                  <a:uFillTx/>
                  <a:latin typeface="+mj-lt"/>
                  <a:ea typeface="楷体_GB2312" pitchFamily="49" charset="-122"/>
                  <a:cs typeface="+mn-cs"/>
                </a:rPr>
                <a:t>的分子为极性分子 </a:t>
              </a:r>
              <a:r>
                <a:rPr kumimoji="0" lang="zh-CN" altLang="en-US" sz="2600" b="1" i="0" u="none" strike="noStrike" kern="1200" cap="none" spc="0" normalizeH="0" baseline="0" noProof="0">
                  <a:ln>
                    <a:noFill/>
                  </a:ln>
                  <a:solidFill>
                    <a:schemeClr val="tx1"/>
                  </a:solidFill>
                  <a:effectLst/>
                  <a:uLnTx/>
                  <a:uFillTx/>
                  <a:latin typeface="+mj-lt"/>
                  <a:ea typeface="楷体_GB2312" pitchFamily="49" charset="-122"/>
                  <a:cs typeface="+mn-cs"/>
                </a:rPr>
                <a:t>；</a:t>
              </a:r>
            </a:p>
            <a:p>
              <a:pPr marL="0" marR="0" lvl="0" indent="0" algn="l" defTabSz="914400" rtl="0" eaLnBrk="1" fontAlgn="base" latinLnBrk="0" hangingPunct="1">
                <a:lnSpc>
                  <a:spcPts val="3600"/>
                </a:lnSpc>
                <a:spcBef>
                  <a:spcPct val="0"/>
                </a:spcBef>
                <a:spcAft>
                  <a:spcPct val="0"/>
                </a:spcAft>
                <a:buClrTx/>
                <a:buSzTx/>
                <a:buFontTx/>
                <a:buNone/>
                <a:defRPr/>
              </a:pPr>
              <a:r>
                <a:rPr kumimoji="0" lang="zh-CN" altLang="en-US" sz="2600" b="1" i="0" u="none" strike="noStrike" kern="1200" cap="none" spc="0" normalizeH="0" baseline="0" noProof="0">
                  <a:ln>
                    <a:noFill/>
                  </a:ln>
                  <a:solidFill>
                    <a:schemeClr val="tx1"/>
                  </a:solidFill>
                  <a:effectLst/>
                  <a:uLnTx/>
                  <a:uFillTx/>
                  <a:latin typeface="+mj-lt"/>
                  <a:ea typeface="楷体_GB2312" pitchFamily="49" charset="-122"/>
                  <a:cs typeface="+mn-cs"/>
                </a:rPr>
                <a:t>         </a:t>
              </a:r>
              <a:r>
                <a:rPr kumimoji="0" lang="en-US" altLang="zh-CN" sz="2600" b="1" i="0" u="none" strike="noStrike" kern="1200" cap="none" spc="0" normalizeH="0" baseline="0" noProof="0">
                  <a:ln>
                    <a:noFill/>
                  </a:ln>
                  <a:solidFill>
                    <a:schemeClr val="tx1"/>
                  </a:solidFill>
                  <a:effectLst/>
                  <a:uLnTx/>
                  <a:uFillTx/>
                  <a:latin typeface="+mj-lt"/>
                  <a:ea typeface="楷体_GB2312" pitchFamily="49" charset="-122"/>
                  <a:cs typeface="+mn-cs"/>
                </a:rPr>
                <a:t>μ</a:t>
              </a:r>
              <a:r>
                <a:rPr kumimoji="0" lang="zh-CN" altLang="en-US" sz="2600" b="1" i="0" u="none" strike="noStrike" kern="1200" cap="none" spc="0" normalizeH="0" baseline="0" noProof="0">
                  <a:ln>
                    <a:noFill/>
                  </a:ln>
                  <a:solidFill>
                    <a:schemeClr val="tx1"/>
                  </a:solidFill>
                  <a:effectLst/>
                  <a:uLnTx/>
                  <a:uFillTx/>
                  <a:latin typeface="+mj-lt"/>
                  <a:ea typeface="楷体_GB2312" pitchFamily="49" charset="-122"/>
                  <a:cs typeface="+mn-cs"/>
                </a:rPr>
                <a:t>值越大，分子的极性越强。</a:t>
              </a:r>
            </a:p>
          </p:txBody>
        </p:sp>
        <p:sp>
          <p:nvSpPr>
            <p:cNvPr id="179212" name="Rectangle 12"/>
            <p:cNvSpPr>
              <a:spLocks noChangeArrowheads="1"/>
            </p:cNvSpPr>
            <p:nvPr/>
          </p:nvSpPr>
          <p:spPr bwMode="auto">
            <a:xfrm>
              <a:off x="304800" y="3657395"/>
              <a:ext cx="8534400" cy="1436604"/>
            </a:xfrm>
            <a:prstGeom prst="rect">
              <a:avLst/>
            </a:prstGeom>
            <a:noFill/>
            <a:ln w="9525" algn="ctr">
              <a:noFill/>
              <a:miter lim="800000"/>
            </a:ln>
          </p:spPr>
          <p:txBody>
            <a:bodyPr>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0" lang="en-US" altLang="zh-CN" sz="2600" b="1" i="0" u="none" strike="noStrike" kern="1200" cap="none" spc="0" normalizeH="0" baseline="0" noProof="0" dirty="0">
                  <a:ln>
                    <a:noFill/>
                  </a:ln>
                  <a:solidFill>
                    <a:srgbClr val="C00000"/>
                  </a:solidFill>
                  <a:effectLst/>
                  <a:uLnTx/>
                  <a:uFillTx/>
                  <a:latin typeface="+mj-lt"/>
                  <a:ea typeface="楷体_GB2312" pitchFamily="49" charset="-122"/>
                  <a:cs typeface="+mn-cs"/>
                </a:rPr>
                <a:t>1</a:t>
              </a: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对于双原子分子来说，分子的极性和化学键的极性是一致的。例如</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H</a:t>
              </a:r>
              <a:r>
                <a:rPr kumimoji="0" lang="en-US" altLang="zh-CN" sz="2600" b="1" i="0" u="none" strike="noStrike" kern="1200" cap="none" spc="0" normalizeH="0" baseline="-25000" noProof="0" dirty="0">
                  <a:ln>
                    <a:noFill/>
                  </a:ln>
                  <a:solidFill>
                    <a:schemeClr val="tx1"/>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O</a:t>
              </a:r>
              <a:r>
                <a:rPr kumimoji="0" lang="en-US" altLang="zh-CN" sz="2600" b="1" i="0" u="none" strike="noStrike" kern="1200" cap="none" spc="0" normalizeH="0" baseline="-25000" noProof="0" dirty="0">
                  <a:ln>
                    <a:noFill/>
                  </a:ln>
                  <a:solidFill>
                    <a:schemeClr val="tx1"/>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N</a:t>
              </a:r>
              <a:r>
                <a:rPr kumimoji="0" lang="en-US" altLang="zh-CN" sz="2600" b="1" i="0" u="none" strike="noStrike" kern="1200" cap="none" spc="0" normalizeH="0" baseline="-25000" noProof="0" dirty="0">
                  <a:ln>
                    <a:noFill/>
                  </a:ln>
                  <a:solidFill>
                    <a:schemeClr val="tx1"/>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C1</a:t>
              </a:r>
              <a:r>
                <a:rPr kumimoji="0" lang="en-US" altLang="zh-CN" sz="2600" b="1" i="0" u="none" strike="noStrike" kern="1200" cap="none" spc="0" normalizeH="0" baseline="-25000" noProof="0" dirty="0">
                  <a:ln>
                    <a:noFill/>
                  </a:ln>
                  <a:solidFill>
                    <a:schemeClr val="tx1"/>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HF</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err="1">
                  <a:ln>
                    <a:noFill/>
                  </a:ln>
                  <a:solidFill>
                    <a:schemeClr val="tx1"/>
                  </a:solidFill>
                  <a:effectLst/>
                  <a:uLnTx/>
                  <a:uFillTx/>
                  <a:latin typeface="+mj-lt"/>
                  <a:ea typeface="楷体_GB2312" pitchFamily="49" charset="-122"/>
                  <a:cs typeface="+mn-cs"/>
                </a:rPr>
                <a:t>HCl</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err="1">
                  <a:ln>
                    <a:noFill/>
                  </a:ln>
                  <a:solidFill>
                    <a:schemeClr val="tx1"/>
                  </a:solidFill>
                  <a:effectLst/>
                  <a:uLnTx/>
                  <a:uFillTx/>
                  <a:latin typeface="+mj-lt"/>
                  <a:ea typeface="楷体_GB2312" pitchFamily="49" charset="-122"/>
                  <a:cs typeface="+mn-cs"/>
                </a:rPr>
                <a:t>HBr</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HI</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等分子</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化学键极性可用电负性来定性判断。</a:t>
              </a:r>
            </a:p>
          </p:txBody>
        </p:sp>
        <p:sp>
          <p:nvSpPr>
            <p:cNvPr id="179214" name="Rectangle 14"/>
            <p:cNvSpPr>
              <a:spLocks noChangeArrowheads="1"/>
            </p:cNvSpPr>
            <p:nvPr/>
          </p:nvSpPr>
          <p:spPr bwMode="auto">
            <a:xfrm>
              <a:off x="381000" y="5257501"/>
              <a:ext cx="8458200" cy="974668"/>
            </a:xfrm>
            <a:prstGeom prst="rect">
              <a:avLst/>
            </a:prstGeom>
            <a:noFill/>
            <a:ln w="9525" algn="ctr">
              <a:noFill/>
              <a:miter lim="800000"/>
            </a:ln>
          </p:spPr>
          <p:txBody>
            <a:bodyPr>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0" lang="en-US" altLang="zh-CN" sz="2600" b="1" i="0" u="none" strike="noStrike" kern="1200" cap="none" spc="0" normalizeH="0" baseline="0" noProof="0" dirty="0">
                  <a:ln>
                    <a:noFill/>
                  </a:ln>
                  <a:solidFill>
                    <a:srgbClr val="C00000"/>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对于多原子分子来说，要考虑：</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err="1">
                  <a:ln>
                    <a:noFill/>
                  </a:ln>
                  <a:solidFill>
                    <a:schemeClr val="tx1"/>
                  </a:solidFill>
                  <a:effectLst/>
                  <a:uLnTx/>
                  <a:uFillTx/>
                  <a:latin typeface="+mj-lt"/>
                  <a:ea typeface="楷体_GB2312" pitchFamily="49" charset="-122"/>
                  <a:cs typeface="+mn-cs"/>
                </a:rPr>
                <a:t>i</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键的极性 ；</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(ii)</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分子的几何构型</a:t>
              </a: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44" name="组合 31"/>
          <p:cNvGrpSpPr/>
          <p:nvPr/>
        </p:nvGrpSpPr>
        <p:grpSpPr>
          <a:xfrm>
            <a:off x="304800" y="152400"/>
            <a:ext cx="8615363" cy="6248400"/>
            <a:chOff x="381000" y="381000"/>
            <a:chExt cx="8158163" cy="6248400"/>
          </a:xfrm>
        </p:grpSpPr>
        <p:grpSp>
          <p:nvGrpSpPr>
            <p:cNvPr id="14345" name="Group 195"/>
            <p:cNvGrpSpPr/>
            <p:nvPr/>
          </p:nvGrpSpPr>
          <p:grpSpPr>
            <a:xfrm>
              <a:off x="381000" y="989785"/>
              <a:ext cx="8158163" cy="5639615"/>
              <a:chOff x="240" y="989"/>
              <a:chExt cx="5139" cy="2827"/>
            </a:xfrm>
          </p:grpSpPr>
          <p:graphicFrame>
            <p:nvGraphicFramePr>
              <p:cNvPr id="14338" name="Object 97"/>
              <p:cNvGraphicFramePr>
                <a:graphicFrameLocks/>
              </p:cNvGraphicFramePr>
              <p:nvPr/>
            </p:nvGraphicFramePr>
            <p:xfrm>
              <a:off x="3467" y="1142"/>
              <a:ext cx="1091" cy="240"/>
            </p:xfrm>
            <a:graphic>
              <a:graphicData uri="http://schemas.openxmlformats.org/presentationml/2006/ole">
                <p:oleObj spid="_x0000_s94214" r:id="rId4" imgW="952087" imgH="203112" progId="">
                  <p:embed/>
                </p:oleObj>
              </a:graphicData>
            </a:graphic>
          </p:graphicFrame>
          <p:graphicFrame>
            <p:nvGraphicFramePr>
              <p:cNvPr id="14339" name="Object 96"/>
              <p:cNvGraphicFramePr>
                <a:graphicFrameLocks/>
              </p:cNvGraphicFramePr>
              <p:nvPr/>
            </p:nvGraphicFramePr>
            <p:xfrm>
              <a:off x="922" y="1142"/>
              <a:ext cx="1045" cy="240"/>
            </p:xfrm>
            <a:graphic>
              <a:graphicData uri="http://schemas.openxmlformats.org/presentationml/2006/ole">
                <p:oleObj spid="_x0000_s94213" r:id="rId5" imgW="952087" imgH="203112" progId="">
                  <p:embed/>
                </p:oleObj>
              </a:graphicData>
            </a:graphic>
          </p:graphicFrame>
          <p:graphicFrame>
            <p:nvGraphicFramePr>
              <p:cNvPr id="14340" name="Object 95"/>
              <p:cNvGraphicFramePr>
                <a:graphicFrameLocks/>
              </p:cNvGraphicFramePr>
              <p:nvPr/>
            </p:nvGraphicFramePr>
            <p:xfrm>
              <a:off x="288" y="1584"/>
              <a:ext cx="624" cy="2064"/>
            </p:xfrm>
            <a:graphic>
              <a:graphicData uri="http://schemas.openxmlformats.org/presentationml/2006/ole">
                <p:oleObj spid="_x0000_s94212" r:id="rId6" imgW="457200" imgH="1612900" progId="">
                  <p:embed/>
                </p:oleObj>
              </a:graphicData>
            </a:graphic>
          </p:graphicFrame>
          <p:graphicFrame>
            <p:nvGraphicFramePr>
              <p:cNvPr id="14341" name="Object 94"/>
              <p:cNvGraphicFramePr>
                <a:graphicFrameLocks/>
              </p:cNvGraphicFramePr>
              <p:nvPr/>
            </p:nvGraphicFramePr>
            <p:xfrm>
              <a:off x="1152" y="1536"/>
              <a:ext cx="576" cy="2112"/>
            </p:xfrm>
            <a:graphic>
              <a:graphicData uri="http://schemas.openxmlformats.org/presentationml/2006/ole">
                <p:oleObj spid="_x0000_s94211" r:id="rId7" imgW="317362" imgH="1548728" progId="">
                  <p:embed/>
                </p:oleObj>
              </a:graphicData>
            </a:graphic>
          </p:graphicFrame>
          <p:graphicFrame>
            <p:nvGraphicFramePr>
              <p:cNvPr id="14342" name="Object 93"/>
              <p:cNvGraphicFramePr>
                <a:graphicFrameLocks/>
              </p:cNvGraphicFramePr>
              <p:nvPr/>
            </p:nvGraphicFramePr>
            <p:xfrm>
              <a:off x="2976" y="1440"/>
              <a:ext cx="432" cy="2160"/>
            </p:xfrm>
            <a:graphic>
              <a:graphicData uri="http://schemas.openxmlformats.org/presentationml/2006/ole">
                <p:oleObj spid="_x0000_s94210" r:id="rId8" imgW="355446" imgH="1574117" progId="">
                  <p:embed/>
                </p:oleObj>
              </a:graphicData>
            </a:graphic>
          </p:graphicFrame>
          <p:graphicFrame>
            <p:nvGraphicFramePr>
              <p:cNvPr id="14343" name="Object 92"/>
              <p:cNvGraphicFramePr>
                <a:graphicFrameLocks/>
              </p:cNvGraphicFramePr>
              <p:nvPr/>
            </p:nvGraphicFramePr>
            <p:xfrm>
              <a:off x="3696" y="1488"/>
              <a:ext cx="528" cy="2112"/>
            </p:xfrm>
            <a:graphic>
              <a:graphicData uri="http://schemas.openxmlformats.org/presentationml/2006/ole">
                <p:oleObj spid="_x0000_s94209" r:id="rId9" imgW="317362" imgH="1548728" progId="">
                  <p:embed/>
                </p:oleObj>
              </a:graphicData>
            </a:graphic>
          </p:graphicFrame>
          <p:sp>
            <p:nvSpPr>
              <p:cNvPr id="14347" name="Rectangle 99"/>
              <p:cNvSpPr/>
              <p:nvPr/>
            </p:nvSpPr>
            <p:spPr>
              <a:xfrm>
                <a:off x="600" y="1471"/>
                <a:ext cx="116" cy="231"/>
              </a:xfrm>
              <a:prstGeom prst="rect">
                <a:avLst/>
              </a:prstGeom>
              <a:noFill/>
              <a:ln w="9525">
                <a:noFill/>
              </a:ln>
            </p:spPr>
            <p:txBody>
              <a:bodyPr wrap="none">
                <a:spAutoFit/>
              </a:bodyPr>
              <a:lstStyle/>
              <a:p>
                <a:endParaRPr lang="zh-CN" altLang="en-US" dirty="0">
                  <a:solidFill>
                    <a:schemeClr val="tx1"/>
                  </a:solidFill>
                  <a:latin typeface="Times New Roman" panose="02020603050405020304" pitchFamily="18" charset="0"/>
                </a:endParaRPr>
              </a:p>
            </p:txBody>
          </p:sp>
          <p:sp>
            <p:nvSpPr>
              <p:cNvPr id="14348" name="Rectangle 103"/>
              <p:cNvSpPr/>
              <p:nvPr/>
            </p:nvSpPr>
            <p:spPr>
              <a:xfrm>
                <a:off x="600" y="1471"/>
                <a:ext cx="116" cy="231"/>
              </a:xfrm>
              <a:prstGeom prst="rect">
                <a:avLst/>
              </a:prstGeom>
              <a:noFill/>
              <a:ln w="9525">
                <a:noFill/>
              </a:ln>
            </p:spPr>
            <p:txBody>
              <a:bodyPr wrap="none">
                <a:spAutoFit/>
              </a:bodyPr>
              <a:lstStyle/>
              <a:p>
                <a:endParaRPr lang="zh-CN" altLang="en-US" dirty="0">
                  <a:solidFill>
                    <a:schemeClr val="tx1"/>
                  </a:solidFill>
                  <a:latin typeface="Times New Roman" panose="02020603050405020304" pitchFamily="18" charset="0"/>
                </a:endParaRPr>
              </a:p>
            </p:txBody>
          </p:sp>
          <p:sp>
            <p:nvSpPr>
              <p:cNvPr id="14349" name="Rectangle 106"/>
              <p:cNvSpPr/>
              <p:nvPr/>
            </p:nvSpPr>
            <p:spPr>
              <a:xfrm>
                <a:off x="600" y="1471"/>
                <a:ext cx="116" cy="231"/>
              </a:xfrm>
              <a:prstGeom prst="rect">
                <a:avLst/>
              </a:prstGeom>
              <a:noFill/>
              <a:ln w="9525">
                <a:noFill/>
              </a:ln>
            </p:spPr>
            <p:txBody>
              <a:bodyPr wrap="none">
                <a:spAutoFit/>
              </a:bodyPr>
              <a:lstStyle/>
              <a:p>
                <a:endParaRPr lang="zh-CN" altLang="en-US" dirty="0">
                  <a:solidFill>
                    <a:schemeClr val="tx1"/>
                  </a:solidFill>
                  <a:latin typeface="Times New Roman" panose="02020603050405020304" pitchFamily="18" charset="0"/>
                </a:endParaRPr>
              </a:p>
            </p:txBody>
          </p:sp>
          <p:sp>
            <p:nvSpPr>
              <p:cNvPr id="14350" name="Rectangle 108"/>
              <p:cNvSpPr/>
              <p:nvPr/>
            </p:nvSpPr>
            <p:spPr>
              <a:xfrm>
                <a:off x="600" y="1471"/>
                <a:ext cx="116" cy="231"/>
              </a:xfrm>
              <a:prstGeom prst="rect">
                <a:avLst/>
              </a:prstGeom>
              <a:noFill/>
              <a:ln w="9525">
                <a:noFill/>
              </a:ln>
            </p:spPr>
            <p:txBody>
              <a:bodyPr wrap="none">
                <a:spAutoFit/>
              </a:bodyPr>
              <a:lstStyle/>
              <a:p>
                <a:endParaRPr lang="zh-CN" altLang="en-US" dirty="0">
                  <a:solidFill>
                    <a:schemeClr val="tx1"/>
                  </a:solidFill>
                  <a:latin typeface="Times New Roman" panose="02020603050405020304" pitchFamily="18" charset="0"/>
                </a:endParaRPr>
              </a:p>
            </p:txBody>
          </p:sp>
          <p:sp>
            <p:nvSpPr>
              <p:cNvPr id="14351" name="Rectangle 111"/>
              <p:cNvSpPr/>
              <p:nvPr/>
            </p:nvSpPr>
            <p:spPr>
              <a:xfrm>
                <a:off x="600" y="1471"/>
                <a:ext cx="116" cy="231"/>
              </a:xfrm>
              <a:prstGeom prst="rect">
                <a:avLst/>
              </a:prstGeom>
              <a:noFill/>
              <a:ln w="9525">
                <a:noFill/>
              </a:ln>
            </p:spPr>
            <p:txBody>
              <a:bodyPr wrap="none">
                <a:spAutoFit/>
              </a:bodyPr>
              <a:lstStyle/>
              <a:p>
                <a:endParaRPr lang="zh-CN" altLang="en-US" dirty="0">
                  <a:solidFill>
                    <a:schemeClr val="tx1"/>
                  </a:solidFill>
                  <a:latin typeface="Times New Roman" panose="02020603050405020304" pitchFamily="18" charset="0"/>
                </a:endParaRPr>
              </a:p>
            </p:txBody>
          </p:sp>
          <p:sp>
            <p:nvSpPr>
              <p:cNvPr id="14352" name="Rectangle 113"/>
              <p:cNvSpPr/>
              <p:nvPr/>
            </p:nvSpPr>
            <p:spPr>
              <a:xfrm>
                <a:off x="600" y="1471"/>
                <a:ext cx="116" cy="231"/>
              </a:xfrm>
              <a:prstGeom prst="rect">
                <a:avLst/>
              </a:prstGeom>
              <a:noFill/>
              <a:ln w="9525">
                <a:noFill/>
              </a:ln>
            </p:spPr>
            <p:txBody>
              <a:bodyPr wrap="none">
                <a:spAutoFit/>
              </a:bodyPr>
              <a:lstStyle/>
              <a:p>
                <a:endParaRPr lang="zh-CN" altLang="en-US" dirty="0">
                  <a:solidFill>
                    <a:schemeClr val="tx1"/>
                  </a:solidFill>
                  <a:latin typeface="Times New Roman" panose="02020603050405020304" pitchFamily="18" charset="0"/>
                </a:endParaRPr>
              </a:p>
            </p:txBody>
          </p:sp>
          <p:sp>
            <p:nvSpPr>
              <p:cNvPr id="14353" name="Rectangle 128"/>
              <p:cNvSpPr/>
              <p:nvPr/>
            </p:nvSpPr>
            <p:spPr>
              <a:xfrm>
                <a:off x="4416" y="1488"/>
                <a:ext cx="912" cy="2127"/>
              </a:xfrm>
              <a:prstGeom prst="rect">
                <a:avLst/>
              </a:prstGeom>
              <a:noFill/>
              <a:ln w="9525">
                <a:noFill/>
              </a:ln>
            </p:spPr>
            <p:txBody>
              <a:bodyPr/>
              <a:lstStyle/>
              <a:p>
                <a:pPr>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折线</a:t>
                </a:r>
                <a:r>
                  <a:rPr lang="en-US" altLang="zh-CN" sz="2600" i="0" dirty="0">
                    <a:solidFill>
                      <a:schemeClr val="tx1"/>
                    </a:solidFill>
                    <a:latin typeface="宋体" panose="02010600030101010101" pitchFamily="2" charset="-122"/>
                    <a:cs typeface="Times New Roman" panose="02020603050405020304" pitchFamily="18" charset="0"/>
                  </a:rPr>
                  <a:t>/V</a:t>
                </a:r>
              </a:p>
              <a:p>
                <a:pPr>
                  <a:lnSpc>
                    <a:spcPct val="75000"/>
                  </a:lnSpc>
                </a:pPr>
                <a:endParaRPr lang="en-US" altLang="zh-CN"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折线</a:t>
                </a:r>
                <a:r>
                  <a:rPr lang="en-US" altLang="zh-CN" sz="2600" i="0" dirty="0">
                    <a:solidFill>
                      <a:schemeClr val="tx1"/>
                    </a:solidFill>
                    <a:latin typeface="宋体" panose="02010600030101010101" pitchFamily="2" charset="-122"/>
                    <a:cs typeface="Times New Roman" panose="02020603050405020304" pitchFamily="18" charset="0"/>
                  </a:rPr>
                  <a:t>/V</a:t>
                </a:r>
              </a:p>
              <a:p>
                <a:pPr eaLnBrk="0" hangingPunct="0">
                  <a:lnSpc>
                    <a:spcPct val="75000"/>
                  </a:lnSpc>
                </a:pPr>
                <a:endParaRPr lang="en-US" altLang="zh-CN"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三角锥</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endParaRPr lang="zh-CN" altLang="en-US" sz="2600" i="0" dirty="0">
                  <a:solidFill>
                    <a:schemeClr val="tx1"/>
                  </a:solidFill>
                  <a:latin typeface="Arial" panose="020B0604020202020204" pitchFamily="34" charset="0"/>
                  <a:ea typeface="Times New Roman" panose="02020603050405020304" pitchFamily="18" charset="0"/>
                </a:endParaRPr>
              </a:p>
            </p:txBody>
          </p:sp>
          <p:sp>
            <p:nvSpPr>
              <p:cNvPr id="14354" name="Rectangle 125"/>
              <p:cNvSpPr/>
              <p:nvPr/>
            </p:nvSpPr>
            <p:spPr>
              <a:xfrm>
                <a:off x="1872" y="1536"/>
                <a:ext cx="941" cy="2040"/>
              </a:xfrm>
              <a:prstGeom prst="rect">
                <a:avLst/>
              </a:prstGeom>
              <a:noFill/>
              <a:ln w="9525">
                <a:noFill/>
              </a:ln>
            </p:spPr>
            <p:txBody>
              <a:bodyPr/>
              <a:lstStyle/>
              <a:p>
                <a:pPr>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四面体</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直线形</a:t>
                </a:r>
              </a:p>
              <a:p>
                <a:pPr eaLnBrk="0" hangingPunct="0">
                  <a:lnSpc>
                    <a:spcPct val="75000"/>
                  </a:lnSpc>
                </a:pPr>
                <a:endParaRPr lang="zh-CN" altLang="en-US" sz="2600" i="0" dirty="0">
                  <a:solidFill>
                    <a:schemeClr val="tx1"/>
                  </a:solidFill>
                  <a:latin typeface="Times New Roman" panose="02020603050405020304" pitchFamily="18" charset="0"/>
                  <a:cs typeface="Times New Roman" panose="02020603050405020304" pitchFamily="18" charset="0"/>
                </a:endParaRPr>
              </a:p>
              <a:p>
                <a:pPr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四面体</a:t>
                </a:r>
              </a:p>
              <a:p>
                <a:pPr eaLnBrk="0" hangingPunct="0">
                  <a:lnSpc>
                    <a:spcPct val="75000"/>
                  </a:lnSpc>
                </a:pPr>
                <a:endParaRPr lang="zh-CN" altLang="en-US" sz="2600" i="0" dirty="0">
                  <a:solidFill>
                    <a:schemeClr val="tx1"/>
                  </a:solidFill>
                  <a:latin typeface="宋体" panose="02010600030101010101" pitchFamily="2" charset="-122"/>
                  <a:cs typeface="Times New Roman" panose="02020603050405020304" pitchFamily="18" charset="0"/>
                </a:endParaRPr>
              </a:p>
              <a:p>
                <a:pPr algn="l" eaLnBrk="0" hangingPunct="0">
                  <a:lnSpc>
                    <a:spcPct val="75000"/>
                  </a:lnSpc>
                </a:pPr>
                <a:r>
                  <a:rPr lang="zh-CN" altLang="en-US" sz="2600" i="0" dirty="0">
                    <a:solidFill>
                      <a:schemeClr val="tx1"/>
                    </a:solidFill>
                    <a:latin typeface="宋体" panose="02010600030101010101" pitchFamily="2" charset="-122"/>
                    <a:cs typeface="Times New Roman" panose="02020603050405020304" pitchFamily="18" charset="0"/>
                  </a:rPr>
                  <a:t>折线</a:t>
                </a:r>
                <a:r>
                  <a:rPr lang="en-US" altLang="zh-CN" sz="2600" i="0" dirty="0">
                    <a:solidFill>
                      <a:schemeClr val="tx1"/>
                    </a:solidFill>
                    <a:latin typeface="宋体" panose="02010600030101010101" pitchFamily="2" charset="-122"/>
                    <a:cs typeface="Times New Roman" panose="02020603050405020304" pitchFamily="18" charset="0"/>
                  </a:rPr>
                  <a:t>/V</a:t>
                </a:r>
                <a:endParaRPr lang="en-US" altLang="zh-CN" sz="2600" i="0" dirty="0">
                  <a:solidFill>
                    <a:schemeClr val="tx1"/>
                  </a:solidFill>
                  <a:latin typeface="Arial" panose="020B0604020202020204" pitchFamily="34" charset="0"/>
                  <a:ea typeface="Times New Roman" panose="02020603050405020304" pitchFamily="18" charset="0"/>
                </a:endParaRPr>
              </a:p>
            </p:txBody>
          </p:sp>
          <p:sp>
            <p:nvSpPr>
              <p:cNvPr id="14355" name="Rectangle 122"/>
              <p:cNvSpPr/>
              <p:nvPr/>
            </p:nvSpPr>
            <p:spPr>
              <a:xfrm>
                <a:off x="4467" y="989"/>
                <a:ext cx="912" cy="240"/>
              </a:xfrm>
              <a:prstGeom prst="rect">
                <a:avLst/>
              </a:prstGeom>
              <a:noFill/>
              <a:ln w="9525">
                <a:noFill/>
              </a:ln>
            </p:spPr>
            <p:txBody>
              <a:bodyPr/>
              <a:lstStyle/>
              <a:p>
                <a:r>
                  <a:rPr lang="zh-CN" altLang="en-US" sz="2000" i="0" dirty="0">
                    <a:solidFill>
                      <a:schemeClr val="tx1"/>
                    </a:solidFill>
                    <a:latin typeface="宋体" panose="02010600030101010101" pitchFamily="2" charset="-122"/>
                    <a:cs typeface="Times New Roman" panose="02020603050405020304" pitchFamily="18" charset="0"/>
                  </a:rPr>
                  <a:t>分子构型</a:t>
                </a:r>
                <a:endParaRPr lang="zh-CN" altLang="en-US" sz="2000" i="0" dirty="0">
                  <a:solidFill>
                    <a:schemeClr val="tx1"/>
                  </a:solidFill>
                  <a:latin typeface="Arial" panose="020B0604020202020204" pitchFamily="34" charset="0"/>
                  <a:ea typeface="Times New Roman" panose="02020603050405020304" pitchFamily="18" charset="0"/>
                </a:endParaRPr>
              </a:p>
            </p:txBody>
          </p:sp>
          <p:sp>
            <p:nvSpPr>
              <p:cNvPr id="14356" name="Rectangle 120"/>
              <p:cNvSpPr/>
              <p:nvPr/>
            </p:nvSpPr>
            <p:spPr>
              <a:xfrm>
                <a:off x="2876" y="989"/>
                <a:ext cx="763" cy="240"/>
              </a:xfrm>
              <a:prstGeom prst="rect">
                <a:avLst/>
              </a:prstGeom>
              <a:noFill/>
              <a:ln w="9525">
                <a:noFill/>
              </a:ln>
            </p:spPr>
            <p:txBody>
              <a:bodyPr/>
              <a:lstStyle/>
              <a:p>
                <a:pPr algn="l"/>
                <a:r>
                  <a:rPr lang="zh-CN" altLang="en-US" sz="2000" i="0" dirty="0">
                    <a:solidFill>
                      <a:schemeClr val="tx1"/>
                    </a:solidFill>
                    <a:latin typeface="宋体" panose="02010600030101010101" pitchFamily="2" charset="-122"/>
                    <a:cs typeface="Times New Roman" panose="02020603050405020304" pitchFamily="18" charset="0"/>
                  </a:rPr>
                  <a:t>分子式</a:t>
                </a:r>
                <a:endParaRPr lang="zh-CN" altLang="en-US" sz="2000" i="0" dirty="0">
                  <a:solidFill>
                    <a:schemeClr val="tx1"/>
                  </a:solidFill>
                  <a:latin typeface="Arial" panose="020B0604020202020204" pitchFamily="34" charset="0"/>
                  <a:ea typeface="Times New Roman" panose="02020603050405020304" pitchFamily="18" charset="0"/>
                </a:endParaRPr>
              </a:p>
            </p:txBody>
          </p:sp>
          <p:sp>
            <p:nvSpPr>
              <p:cNvPr id="14357" name="Rectangle 119"/>
              <p:cNvSpPr/>
              <p:nvPr/>
            </p:nvSpPr>
            <p:spPr>
              <a:xfrm>
                <a:off x="1922" y="989"/>
                <a:ext cx="864" cy="288"/>
              </a:xfrm>
              <a:prstGeom prst="rect">
                <a:avLst/>
              </a:prstGeom>
              <a:noFill/>
              <a:ln w="9525">
                <a:noFill/>
              </a:ln>
            </p:spPr>
            <p:txBody>
              <a:bodyPr/>
              <a:lstStyle/>
              <a:p>
                <a:r>
                  <a:rPr lang="zh-CN" altLang="en-US" sz="2000" i="0" dirty="0">
                    <a:solidFill>
                      <a:schemeClr val="tx1"/>
                    </a:solidFill>
                    <a:latin typeface="宋体" panose="02010600030101010101" pitchFamily="2" charset="-122"/>
                    <a:cs typeface="Times New Roman" panose="02020603050405020304" pitchFamily="18" charset="0"/>
                  </a:rPr>
                  <a:t>分子构型</a:t>
                </a:r>
                <a:endParaRPr lang="zh-CN" altLang="en-US" sz="2000" i="0" dirty="0">
                  <a:solidFill>
                    <a:schemeClr val="tx1"/>
                  </a:solidFill>
                  <a:latin typeface="Arial" panose="020B0604020202020204" pitchFamily="34" charset="0"/>
                  <a:ea typeface="Times New Roman" panose="02020603050405020304" pitchFamily="18" charset="0"/>
                </a:endParaRPr>
              </a:p>
            </p:txBody>
          </p:sp>
          <p:sp>
            <p:nvSpPr>
              <p:cNvPr id="14358" name="Rectangle 117"/>
              <p:cNvSpPr/>
              <p:nvPr/>
            </p:nvSpPr>
            <p:spPr>
              <a:xfrm>
                <a:off x="285" y="1028"/>
                <a:ext cx="770" cy="240"/>
              </a:xfrm>
              <a:prstGeom prst="rect">
                <a:avLst/>
              </a:prstGeom>
              <a:noFill/>
              <a:ln w="9525">
                <a:noFill/>
              </a:ln>
            </p:spPr>
            <p:txBody>
              <a:bodyPr/>
              <a:lstStyle/>
              <a:p>
                <a:pPr algn="l"/>
                <a:r>
                  <a:rPr lang="zh-CN" altLang="en-US" sz="2000" i="0" dirty="0">
                    <a:solidFill>
                      <a:schemeClr val="tx1"/>
                    </a:solidFill>
                    <a:latin typeface="宋体" panose="02010600030101010101" pitchFamily="2" charset="-122"/>
                    <a:cs typeface="Times New Roman" panose="02020603050405020304" pitchFamily="18" charset="0"/>
                  </a:rPr>
                  <a:t>分子式</a:t>
                </a:r>
                <a:endParaRPr lang="zh-CN" altLang="en-US" sz="2000" i="0" dirty="0">
                  <a:solidFill>
                    <a:schemeClr val="tx1"/>
                  </a:solidFill>
                  <a:latin typeface="Arial" panose="020B0604020202020204" pitchFamily="34" charset="0"/>
                  <a:ea typeface="Times New Roman" panose="02020603050405020304" pitchFamily="18" charset="0"/>
                </a:endParaRPr>
              </a:p>
            </p:txBody>
          </p:sp>
          <p:sp>
            <p:nvSpPr>
              <p:cNvPr id="14359" name="Line 129"/>
              <p:cNvSpPr/>
              <p:nvPr/>
            </p:nvSpPr>
            <p:spPr>
              <a:xfrm>
                <a:off x="240" y="989"/>
                <a:ext cx="5136" cy="0"/>
              </a:xfrm>
              <a:prstGeom prst="line">
                <a:avLst/>
              </a:prstGeom>
              <a:ln w="12700" cap="rnd" cmpd="sng">
                <a:solidFill>
                  <a:srgbClr val="000000"/>
                </a:solidFill>
                <a:prstDash val="solid"/>
                <a:headEnd type="none" w="med" len="med"/>
                <a:tailEnd type="none" w="med" len="med"/>
              </a:ln>
            </p:spPr>
          </p:sp>
          <p:sp>
            <p:nvSpPr>
              <p:cNvPr id="14360" name="Line 130"/>
              <p:cNvSpPr/>
              <p:nvPr/>
            </p:nvSpPr>
            <p:spPr>
              <a:xfrm>
                <a:off x="240" y="3792"/>
                <a:ext cx="5136" cy="0"/>
              </a:xfrm>
              <a:prstGeom prst="line">
                <a:avLst/>
              </a:prstGeom>
              <a:ln w="12700" cap="rnd" cmpd="sng">
                <a:solidFill>
                  <a:srgbClr val="000000"/>
                </a:solidFill>
                <a:prstDash val="solid"/>
                <a:headEnd type="none" w="med" len="med"/>
                <a:tailEnd type="none" w="med" len="med"/>
              </a:ln>
            </p:spPr>
          </p:sp>
          <p:sp>
            <p:nvSpPr>
              <p:cNvPr id="14361" name="Line 131"/>
              <p:cNvSpPr/>
              <p:nvPr/>
            </p:nvSpPr>
            <p:spPr>
              <a:xfrm>
                <a:off x="240" y="1104"/>
                <a:ext cx="0" cy="2664"/>
              </a:xfrm>
              <a:prstGeom prst="line">
                <a:avLst/>
              </a:prstGeom>
              <a:ln w="12700" cap="rnd" cmpd="sng">
                <a:solidFill>
                  <a:srgbClr val="000000"/>
                </a:solidFill>
                <a:prstDash val="solid"/>
                <a:headEnd type="none" w="med" len="med"/>
                <a:tailEnd type="none" w="med" len="med"/>
              </a:ln>
            </p:spPr>
          </p:sp>
          <p:sp>
            <p:nvSpPr>
              <p:cNvPr id="14362" name="Line 132"/>
              <p:cNvSpPr/>
              <p:nvPr/>
            </p:nvSpPr>
            <p:spPr>
              <a:xfrm>
                <a:off x="5376" y="1104"/>
                <a:ext cx="0" cy="2664"/>
              </a:xfrm>
              <a:prstGeom prst="line">
                <a:avLst/>
              </a:prstGeom>
              <a:ln w="12700" cap="rnd" cmpd="sng">
                <a:solidFill>
                  <a:srgbClr val="000000"/>
                </a:solidFill>
                <a:prstDash val="solid"/>
                <a:headEnd type="none" w="med" len="med"/>
                <a:tailEnd type="none" w="med" len="med"/>
              </a:ln>
            </p:spPr>
          </p:sp>
          <p:sp>
            <p:nvSpPr>
              <p:cNvPr id="14363" name="Line 135"/>
              <p:cNvSpPr/>
              <p:nvPr/>
            </p:nvSpPr>
            <p:spPr>
              <a:xfrm>
                <a:off x="240" y="1392"/>
                <a:ext cx="5136" cy="0"/>
              </a:xfrm>
              <a:prstGeom prst="line">
                <a:avLst/>
              </a:prstGeom>
              <a:ln w="12700" cap="rnd" cmpd="sng">
                <a:solidFill>
                  <a:srgbClr val="000000"/>
                </a:solidFill>
                <a:prstDash val="solid"/>
                <a:headEnd type="none" w="med" len="med"/>
                <a:tailEnd type="none" w="med" len="med"/>
              </a:ln>
            </p:spPr>
          </p:sp>
          <p:sp>
            <p:nvSpPr>
              <p:cNvPr id="14364" name="Line 137"/>
              <p:cNvSpPr/>
              <p:nvPr/>
            </p:nvSpPr>
            <p:spPr>
              <a:xfrm>
                <a:off x="1008" y="1104"/>
                <a:ext cx="0" cy="2664"/>
              </a:xfrm>
              <a:prstGeom prst="line">
                <a:avLst/>
              </a:prstGeom>
              <a:ln w="12700" cap="rnd" cmpd="sng">
                <a:solidFill>
                  <a:srgbClr val="000000"/>
                </a:solidFill>
                <a:prstDash val="solid"/>
                <a:headEnd type="none" w="med" len="med"/>
                <a:tailEnd type="none" w="med" len="med"/>
              </a:ln>
            </p:spPr>
          </p:sp>
          <p:sp>
            <p:nvSpPr>
              <p:cNvPr id="14365" name="Line 140"/>
              <p:cNvSpPr/>
              <p:nvPr/>
            </p:nvSpPr>
            <p:spPr>
              <a:xfrm>
                <a:off x="1872" y="1104"/>
                <a:ext cx="0" cy="2664"/>
              </a:xfrm>
              <a:prstGeom prst="line">
                <a:avLst/>
              </a:prstGeom>
              <a:ln w="12700" cap="rnd" cmpd="sng">
                <a:solidFill>
                  <a:srgbClr val="000000"/>
                </a:solidFill>
                <a:prstDash val="solid"/>
                <a:headEnd type="none" w="med" len="med"/>
                <a:tailEnd type="none" w="med" len="med"/>
              </a:ln>
            </p:spPr>
          </p:sp>
          <p:sp>
            <p:nvSpPr>
              <p:cNvPr id="14366" name="Line 143"/>
              <p:cNvSpPr/>
              <p:nvPr/>
            </p:nvSpPr>
            <p:spPr>
              <a:xfrm>
                <a:off x="2784" y="1104"/>
                <a:ext cx="0" cy="2664"/>
              </a:xfrm>
              <a:prstGeom prst="line">
                <a:avLst/>
              </a:prstGeom>
              <a:ln w="12700" cap="rnd" cmpd="sng">
                <a:solidFill>
                  <a:srgbClr val="000000"/>
                </a:solidFill>
                <a:prstDash val="solid"/>
                <a:headEnd type="none" w="med" len="med"/>
                <a:tailEnd type="none" w="med" len="med"/>
              </a:ln>
            </p:spPr>
          </p:sp>
          <p:sp>
            <p:nvSpPr>
              <p:cNvPr id="14367" name="Line 146"/>
              <p:cNvSpPr/>
              <p:nvPr/>
            </p:nvSpPr>
            <p:spPr>
              <a:xfrm>
                <a:off x="3600" y="1104"/>
                <a:ext cx="0" cy="2712"/>
              </a:xfrm>
              <a:prstGeom prst="line">
                <a:avLst/>
              </a:prstGeom>
              <a:ln w="12700" cap="rnd" cmpd="sng">
                <a:solidFill>
                  <a:srgbClr val="000000"/>
                </a:solidFill>
                <a:prstDash val="solid"/>
                <a:headEnd type="none" w="med" len="med"/>
                <a:tailEnd type="none" w="med" len="med"/>
              </a:ln>
            </p:spPr>
          </p:sp>
          <p:sp>
            <p:nvSpPr>
              <p:cNvPr id="14368" name="Line 149"/>
              <p:cNvSpPr/>
              <p:nvPr/>
            </p:nvSpPr>
            <p:spPr>
              <a:xfrm>
                <a:off x="4464" y="1152"/>
                <a:ext cx="0" cy="2616"/>
              </a:xfrm>
              <a:prstGeom prst="line">
                <a:avLst/>
              </a:prstGeom>
              <a:ln w="12700" cap="rnd" cmpd="sng">
                <a:solidFill>
                  <a:srgbClr val="000000"/>
                </a:solidFill>
                <a:prstDash val="solid"/>
                <a:headEnd type="none" w="med" len="med"/>
                <a:tailEnd type="none" w="med" len="med"/>
              </a:ln>
            </p:spPr>
          </p:sp>
        </p:grpSp>
        <p:sp>
          <p:nvSpPr>
            <p:cNvPr id="14346" name="Rectangle 192"/>
            <p:cNvSpPr/>
            <p:nvPr/>
          </p:nvSpPr>
          <p:spPr>
            <a:xfrm>
              <a:off x="1371600" y="381000"/>
              <a:ext cx="5821363" cy="488950"/>
            </a:xfrm>
            <a:prstGeom prst="rect">
              <a:avLst/>
            </a:prstGeom>
            <a:noFill/>
            <a:ln w="9525">
              <a:noFill/>
            </a:ln>
          </p:spPr>
          <p:txBody>
            <a:bodyPr wrap="none" anchor="ctr" anchorCtr="0">
              <a:spAutoFit/>
            </a:bodyPr>
            <a:lstStyle/>
            <a:p>
              <a:r>
                <a:rPr lang="en-US" altLang="zh-CN" sz="260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一些物质分子的偶极矩与几何构型</a:t>
              </a:r>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5"/>
          <p:cNvSpPr/>
          <p:nvPr/>
        </p:nvSpPr>
        <p:spPr>
          <a:xfrm>
            <a:off x="228600" y="76200"/>
            <a:ext cx="1676400" cy="519113"/>
          </a:xfrm>
          <a:prstGeom prst="rect">
            <a:avLst/>
          </a:prstGeom>
          <a:gradFill rotWithShape="1">
            <a:gsLst>
              <a:gs pos="0">
                <a:srgbClr val="76475E"/>
              </a:gs>
              <a:gs pos="50000">
                <a:srgbClr val="FF99CC"/>
              </a:gs>
              <a:gs pos="100000">
                <a:srgbClr val="76475E"/>
              </a:gs>
            </a:gsLst>
            <a:lin ang="5400000" scaled="1"/>
            <a:tileRect/>
          </a:gradFill>
          <a:ln w="9525">
            <a:noFill/>
          </a:ln>
        </p:spPr>
        <p:txBody>
          <a:bodyPr>
            <a:spAutoFit/>
          </a:bodyPr>
          <a:lstStyle/>
          <a:p>
            <a:r>
              <a:rPr lang="zh-CN" altLang="en-US" sz="2800" i="0" dirty="0">
                <a:solidFill>
                  <a:srgbClr val="0000FF"/>
                </a:solidFill>
                <a:latin typeface="Times New Roman" panose="02020603050405020304" pitchFamily="18" charset="0"/>
              </a:rPr>
              <a:t>例如</a:t>
            </a:r>
            <a:r>
              <a:rPr lang="en-US" altLang="zh-CN" sz="2800" i="0" dirty="0">
                <a:solidFill>
                  <a:srgbClr val="0000FF"/>
                </a:solidFill>
                <a:latin typeface="Times New Roman" panose="02020603050405020304" pitchFamily="18" charset="0"/>
              </a:rPr>
              <a:t>:</a:t>
            </a:r>
          </a:p>
        </p:txBody>
      </p:sp>
      <p:grpSp>
        <p:nvGrpSpPr>
          <p:cNvPr id="70659" name="组合 5"/>
          <p:cNvGrpSpPr/>
          <p:nvPr/>
        </p:nvGrpSpPr>
        <p:grpSpPr>
          <a:xfrm>
            <a:off x="228600" y="609600"/>
            <a:ext cx="8610600" cy="4572000"/>
            <a:chOff x="228600" y="609600"/>
            <a:chExt cx="8610600" cy="4572000"/>
          </a:xfrm>
        </p:grpSpPr>
        <p:sp>
          <p:nvSpPr>
            <p:cNvPr id="70660" name="Rectangle 2"/>
            <p:cNvSpPr/>
            <p:nvPr/>
          </p:nvSpPr>
          <p:spPr>
            <a:xfrm>
              <a:off x="228600" y="609600"/>
              <a:ext cx="8610600" cy="1436034"/>
            </a:xfrm>
            <a:prstGeom prst="rect">
              <a:avLst/>
            </a:prstGeom>
            <a:solidFill>
              <a:schemeClr val="bg1"/>
            </a:solid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CO</a:t>
              </a:r>
              <a:r>
                <a:rPr lang="en-US" altLang="zh-CN" sz="2600" i="0" baseline="-2500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分子中的</a:t>
              </a:r>
              <a:r>
                <a:rPr lang="en-US" altLang="zh-CN" sz="2600" i="0" dirty="0">
                  <a:solidFill>
                    <a:schemeClr val="tx1"/>
                  </a:solidFill>
                  <a:latin typeface="Times New Roman" panose="02020603050405020304" pitchFamily="18" charset="0"/>
                </a:rPr>
                <a:t>C—O</a:t>
              </a:r>
              <a:r>
                <a:rPr lang="zh-CN" altLang="en-US" sz="2600" i="0" dirty="0">
                  <a:solidFill>
                    <a:schemeClr val="tx1"/>
                  </a:solidFill>
                  <a:latin typeface="Times New Roman" panose="02020603050405020304" pitchFamily="18" charset="0"/>
                </a:rPr>
                <a:t>键虽为极性键，但由于</a:t>
              </a:r>
              <a:r>
                <a:rPr lang="en-US" altLang="zh-CN" sz="2600" i="0" dirty="0">
                  <a:solidFill>
                    <a:schemeClr val="tx1"/>
                  </a:solidFill>
                  <a:latin typeface="Times New Roman" panose="02020603050405020304" pitchFamily="18" charset="0"/>
                </a:rPr>
                <a:t>CO</a:t>
              </a:r>
              <a:r>
                <a:rPr lang="en-US" altLang="zh-CN" sz="2600" i="0" baseline="-2500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分子是直线形，结构对称</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图</a:t>
              </a:r>
              <a:r>
                <a:rPr lang="en-US" altLang="zh-CN" sz="2600" i="0" dirty="0">
                  <a:solidFill>
                    <a:schemeClr val="tx1"/>
                  </a:solidFill>
                  <a:latin typeface="Times New Roman" panose="02020603050405020304" pitchFamily="18" charset="0"/>
                </a:rPr>
                <a:t>2-8)</a:t>
              </a:r>
              <a:r>
                <a:rPr lang="zh-CN" altLang="en-US" sz="2600" i="0" dirty="0">
                  <a:solidFill>
                    <a:schemeClr val="tx1"/>
                  </a:solidFill>
                  <a:latin typeface="Times New Roman" panose="02020603050405020304" pitchFamily="18" charset="0"/>
                </a:rPr>
                <a:t>，两边键的极性相互抵消，整个分子的正、负电荷中心重合，故</a:t>
              </a:r>
              <a:r>
                <a:rPr lang="en-US" altLang="zh-CN" sz="2600" i="0" dirty="0">
                  <a:solidFill>
                    <a:schemeClr val="tx1"/>
                  </a:solidFill>
                  <a:latin typeface="Times New Roman" panose="02020603050405020304" pitchFamily="18" charset="0"/>
                </a:rPr>
                <a:t>CO</a:t>
              </a:r>
              <a:r>
                <a:rPr lang="en-US" altLang="zh-CN" sz="2600" i="0" baseline="-2500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分子是非极性分子。 </a:t>
              </a:r>
              <a:endParaRPr lang="zh-CN" altLang="en-US" sz="2600" dirty="0">
                <a:solidFill>
                  <a:schemeClr val="tx1"/>
                </a:solidFill>
                <a:latin typeface="Times New Roman" panose="02020603050405020304" pitchFamily="18" charset="0"/>
              </a:endParaRPr>
            </a:p>
          </p:txBody>
        </p:sp>
        <p:pic>
          <p:nvPicPr>
            <p:cNvPr id="70661" name="Picture 7"/>
            <p:cNvPicPr>
              <a:picLocks noChangeAspect="1"/>
            </p:cNvPicPr>
            <p:nvPr/>
          </p:nvPicPr>
          <p:blipFill>
            <a:blip r:embed="rId3"/>
            <a:stretch>
              <a:fillRect/>
            </a:stretch>
          </p:blipFill>
          <p:spPr>
            <a:xfrm>
              <a:off x="1295400" y="2209800"/>
              <a:ext cx="6019800" cy="2971800"/>
            </a:xfrm>
            <a:prstGeom prst="rect">
              <a:avLst/>
            </a:prstGeom>
            <a:noFill/>
            <a:ln w="9525">
              <a:noFill/>
            </a:ln>
          </p:spPr>
        </p:pic>
        <p:sp>
          <p:nvSpPr>
            <p:cNvPr id="70662" name="Rectangle 9"/>
            <p:cNvSpPr/>
            <p:nvPr/>
          </p:nvSpPr>
          <p:spPr>
            <a:xfrm>
              <a:off x="4243388" y="3206750"/>
              <a:ext cx="660758" cy="473656"/>
            </a:xfrm>
            <a:prstGeom prst="rect">
              <a:avLst/>
            </a:prstGeom>
            <a:noFill/>
            <a:ln w="9525">
              <a:noFill/>
            </a:ln>
          </p:spPr>
          <p:txBody>
            <a:bodyPr wrap="none" anchor="ctr" anchorCtr="0">
              <a:spAutoFit/>
            </a:bodyPr>
            <a:lstStyle/>
            <a:p>
              <a:pPr>
                <a:lnSpc>
                  <a:spcPts val="3600"/>
                </a:lnSpc>
              </a:pPr>
              <a:r>
                <a:rPr lang="en-US" altLang="zh-CN" sz="1200" b="0" i="0" dirty="0">
                  <a:solidFill>
                    <a:schemeClr val="tx1"/>
                  </a:solidFill>
                  <a:latin typeface="Arial" panose="020B0604020202020204" pitchFamily="34" charset="0"/>
                  <a:ea typeface="宋体" panose="02010600030101010101" pitchFamily="2" charset="-122"/>
                </a:rPr>
                <a:t>           </a:t>
              </a:r>
              <a:endParaRPr lang="en-US" altLang="zh-CN" sz="1800" b="0" i="0" dirty="0">
                <a:solidFill>
                  <a:schemeClr val="tx1"/>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组合 4"/>
          <p:cNvGrpSpPr/>
          <p:nvPr/>
        </p:nvGrpSpPr>
        <p:grpSpPr>
          <a:xfrm>
            <a:off x="304800" y="152400"/>
            <a:ext cx="8610600" cy="5334000"/>
            <a:chOff x="304800" y="152400"/>
            <a:chExt cx="8610600" cy="5334000"/>
          </a:xfrm>
        </p:grpSpPr>
        <p:sp>
          <p:nvSpPr>
            <p:cNvPr id="71683" name="Rectangle 4"/>
            <p:cNvSpPr/>
            <p:nvPr/>
          </p:nvSpPr>
          <p:spPr>
            <a:xfrm>
              <a:off x="381000" y="152400"/>
              <a:ext cx="8534400" cy="1436034"/>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在</a:t>
              </a:r>
              <a:r>
                <a:rPr lang="en-US" altLang="zh-CN" sz="2600" i="0" dirty="0">
                  <a:solidFill>
                    <a:schemeClr val="tx1"/>
                  </a:solidFill>
                  <a:latin typeface="Times New Roman" panose="02020603050405020304" pitchFamily="18" charset="0"/>
                </a:rPr>
                <a:t>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r>
                <a:rPr lang="zh-CN" altLang="en-US" sz="2600" i="0" dirty="0">
                  <a:solidFill>
                    <a:schemeClr val="tx1"/>
                  </a:solidFill>
                  <a:latin typeface="Times New Roman" panose="02020603050405020304" pitchFamily="18" charset="0"/>
                </a:rPr>
                <a:t>分子中，</a:t>
              </a:r>
              <a:r>
                <a:rPr lang="en-US" altLang="zh-CN" sz="2600" i="0" dirty="0">
                  <a:solidFill>
                    <a:schemeClr val="tx1"/>
                  </a:solidFill>
                  <a:latin typeface="Times New Roman" panose="02020603050405020304" pitchFamily="18" charset="0"/>
                </a:rPr>
                <a:t>H—O</a:t>
              </a:r>
              <a:r>
                <a:rPr lang="zh-CN" altLang="en-US" sz="2600" i="0" dirty="0">
                  <a:solidFill>
                    <a:schemeClr val="tx1"/>
                  </a:solidFill>
                  <a:latin typeface="Times New Roman" panose="02020603050405020304" pitchFamily="18" charset="0"/>
                </a:rPr>
                <a:t>键为极性键，分子为</a:t>
              </a:r>
              <a:r>
                <a:rPr lang="en-US" altLang="zh-CN" sz="2600" i="0" dirty="0">
                  <a:solidFill>
                    <a:schemeClr val="tx1"/>
                  </a:solidFill>
                  <a:latin typeface="Times New Roman" panose="02020603050405020304" pitchFamily="18" charset="0"/>
                </a:rPr>
                <a:t>V</a:t>
              </a:r>
              <a:r>
                <a:rPr lang="zh-CN" altLang="en-US" sz="2600" i="0" dirty="0">
                  <a:solidFill>
                    <a:schemeClr val="tx1"/>
                  </a:solidFill>
                  <a:latin typeface="Times New Roman" panose="02020603050405020304" pitchFamily="18" charset="0"/>
                </a:rPr>
                <a:t>形结构</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图</a:t>
              </a:r>
              <a:r>
                <a:rPr lang="en-US" altLang="zh-CN" sz="2600" i="0" dirty="0">
                  <a:solidFill>
                    <a:schemeClr val="tx1"/>
                  </a:solidFill>
                  <a:latin typeface="Times New Roman" panose="02020603050405020304" pitchFamily="18" charset="0"/>
                </a:rPr>
                <a:t>2-9)</a:t>
              </a:r>
              <a:r>
                <a:rPr lang="zh-CN" altLang="en-US" sz="2600" i="0" dirty="0">
                  <a:solidFill>
                    <a:schemeClr val="tx1"/>
                  </a:solidFill>
                  <a:latin typeface="Times New Roman" panose="02020603050405020304" pitchFamily="18" charset="0"/>
                </a:rPr>
                <a:t>，分子的正、负电荷中心不重合，所以水分子是极性分子。</a:t>
              </a:r>
            </a:p>
          </p:txBody>
        </p:sp>
        <p:pic>
          <p:nvPicPr>
            <p:cNvPr id="71684" name="Picture 5"/>
            <p:cNvPicPr>
              <a:picLocks noChangeAspect="1"/>
            </p:cNvPicPr>
            <p:nvPr/>
          </p:nvPicPr>
          <p:blipFill>
            <a:blip r:embed="rId2"/>
            <a:stretch>
              <a:fillRect/>
            </a:stretch>
          </p:blipFill>
          <p:spPr>
            <a:xfrm>
              <a:off x="304800" y="1524000"/>
              <a:ext cx="8001000" cy="3962400"/>
            </a:xfrm>
            <a:prstGeom prst="rect">
              <a:avLst/>
            </a:prstGeom>
            <a:noFill/>
            <a:ln w="9525">
              <a:noFill/>
            </a:ln>
          </p:spPr>
        </p:pic>
      </p:gr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6"/>
          <p:cNvSpPr/>
          <p:nvPr/>
        </p:nvSpPr>
        <p:spPr>
          <a:xfrm>
            <a:off x="228600" y="152400"/>
            <a:ext cx="8458200" cy="1117600"/>
          </a:xfrm>
          <a:prstGeom prst="rect">
            <a:avLst/>
          </a:prstGeom>
          <a:noFill/>
          <a:ln w="9525">
            <a:noFill/>
          </a:ln>
        </p:spPr>
        <p:txBody>
          <a:bodyPr>
            <a:spAutoFit/>
          </a:bodyPr>
          <a:lstStyle/>
          <a:p>
            <a:pPr algn="l">
              <a:lnSpc>
                <a:spcPts val="4000"/>
              </a:lnSpc>
            </a:pPr>
            <a:r>
              <a:rPr lang="zh-CN" altLang="en-US" sz="2600" i="0" dirty="0">
                <a:solidFill>
                  <a:schemeClr val="tx1"/>
                </a:solidFill>
                <a:latin typeface="Times New Roman" panose="02020603050405020304" pitchFamily="18" charset="0"/>
              </a:rPr>
              <a:t>试判断：</a:t>
            </a:r>
            <a:endParaRPr lang="en-US" altLang="zh-CN" sz="2600" i="0" dirty="0">
              <a:solidFill>
                <a:schemeClr val="tx1"/>
              </a:solidFill>
              <a:latin typeface="Times New Roman" panose="02020603050405020304" pitchFamily="18" charset="0"/>
            </a:endParaRPr>
          </a:p>
          <a:p>
            <a:pPr>
              <a:lnSpc>
                <a:spcPts val="4000"/>
              </a:lnSpc>
            </a:pPr>
            <a:r>
              <a:rPr lang="zh-CN" altLang="en-US" sz="2600" i="0" dirty="0">
                <a:solidFill>
                  <a:schemeClr val="tx1"/>
                </a:solidFill>
                <a:latin typeface="Times New Roman" panose="02020603050405020304" pitchFamily="18" charset="0"/>
              </a:rPr>
              <a:t>       多原子分子</a:t>
            </a:r>
            <a:r>
              <a:rPr lang="en-US" altLang="zh-CN" sz="2600" i="0" dirty="0">
                <a:solidFill>
                  <a:schemeClr val="tx1"/>
                </a:solidFill>
                <a:latin typeface="Times New Roman" panose="02020603050405020304" pitchFamily="18" charset="0"/>
              </a:rPr>
              <a:t>P</a:t>
            </a:r>
            <a:r>
              <a:rPr lang="en-US" altLang="zh-CN" sz="2600" i="0" baseline="-25000" dirty="0">
                <a:solidFill>
                  <a:schemeClr val="tx1"/>
                </a:solidFill>
                <a:latin typeface="Times New Roman" panose="02020603050405020304" pitchFamily="18" charset="0"/>
              </a:rPr>
              <a:t>4</a:t>
            </a:r>
            <a:r>
              <a:rPr lang="zh-CN" altLang="en-US" sz="2600" i="0" baseline="-25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NH</a:t>
            </a:r>
            <a:r>
              <a:rPr lang="en-US" altLang="zh-CN" sz="2600" i="0" baseline="-25000" dirty="0">
                <a:solidFill>
                  <a:schemeClr val="tx1"/>
                </a:solidFill>
                <a:latin typeface="Times New Roman" panose="02020603050405020304" pitchFamily="18" charset="0"/>
              </a:rPr>
              <a:t>3</a:t>
            </a:r>
            <a:r>
              <a:rPr lang="zh-CN" altLang="en-US" sz="2600" i="0" baseline="-25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PCl</a:t>
            </a:r>
            <a:r>
              <a:rPr lang="en-US" altLang="zh-CN" sz="2600" i="0" baseline="-25000" dirty="0">
                <a:solidFill>
                  <a:schemeClr val="tx1"/>
                </a:solidFill>
                <a:latin typeface="Times New Roman" panose="02020603050405020304" pitchFamily="18" charset="0"/>
              </a:rPr>
              <a:t>3</a:t>
            </a:r>
            <a:r>
              <a:rPr lang="zh-CN" altLang="en-US" sz="2600" i="0" baseline="-25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PCl</a:t>
            </a:r>
            <a:r>
              <a:rPr lang="en-US" altLang="zh-CN" sz="2600" i="0" baseline="-25000" dirty="0">
                <a:solidFill>
                  <a:schemeClr val="tx1"/>
                </a:solidFill>
                <a:latin typeface="Times New Roman" panose="02020603050405020304" pitchFamily="18" charset="0"/>
              </a:rPr>
              <a:t>5</a:t>
            </a:r>
            <a:r>
              <a:rPr lang="zh-CN" altLang="en-US" sz="2600" i="0" dirty="0">
                <a:solidFill>
                  <a:schemeClr val="tx1"/>
                </a:solidFill>
                <a:latin typeface="Times New Roman" panose="02020603050405020304" pitchFamily="18" charset="0"/>
              </a:rPr>
              <a:t>的极性</a:t>
            </a:r>
          </a:p>
        </p:txBody>
      </p:sp>
      <p:grpSp>
        <p:nvGrpSpPr>
          <p:cNvPr id="72707" name="组合 35"/>
          <p:cNvGrpSpPr/>
          <p:nvPr/>
        </p:nvGrpSpPr>
        <p:grpSpPr>
          <a:xfrm>
            <a:off x="76200" y="1371600"/>
            <a:ext cx="9067800" cy="4541838"/>
            <a:chOff x="76200" y="1371600"/>
            <a:chExt cx="9067800" cy="4541626"/>
          </a:xfrm>
        </p:grpSpPr>
        <p:sp>
          <p:nvSpPr>
            <p:cNvPr id="72708" name="Text Box 3"/>
            <p:cNvSpPr txBox="1"/>
            <p:nvPr/>
          </p:nvSpPr>
          <p:spPr>
            <a:xfrm>
              <a:off x="152400" y="1524011"/>
              <a:ext cx="936625" cy="1089609"/>
            </a:xfrm>
            <a:prstGeom prst="rect">
              <a:avLst/>
            </a:prstGeom>
            <a:noFill/>
            <a:ln w="9525">
              <a:noFill/>
            </a:ln>
          </p:spPr>
          <p:txBody>
            <a:bodyPr>
              <a:spAutoFit/>
            </a:bodyPr>
            <a:lstStyle/>
            <a:p>
              <a:pPr algn="l" eaLnBrk="0" hangingPunct="0">
                <a:lnSpc>
                  <a:spcPct val="90000"/>
                </a:lnSpc>
                <a:spcBef>
                  <a:spcPct val="50000"/>
                </a:spcBef>
              </a:pPr>
              <a:r>
                <a:rPr lang="zh-CN" altLang="en-US" i="0" dirty="0">
                  <a:solidFill>
                    <a:schemeClr val="tx1"/>
                  </a:solidFill>
                  <a:latin typeface="Times New Roman" panose="02020603050405020304" pitchFamily="18" charset="0"/>
                </a:rPr>
                <a:t>共用电子对数</a:t>
              </a:r>
            </a:p>
          </p:txBody>
        </p:sp>
        <p:sp>
          <p:nvSpPr>
            <p:cNvPr id="72709" name="Text Box 4"/>
            <p:cNvSpPr txBox="1"/>
            <p:nvPr/>
          </p:nvSpPr>
          <p:spPr>
            <a:xfrm>
              <a:off x="152400" y="2819417"/>
              <a:ext cx="935038" cy="366740"/>
            </a:xfrm>
            <a:prstGeom prst="rect">
              <a:avLst/>
            </a:prstGeom>
            <a:noFill/>
            <a:ln w="9525">
              <a:noFill/>
            </a:ln>
          </p:spPr>
          <p:txBody>
            <a:bodyPr>
              <a:spAutoFit/>
            </a:bodyPr>
            <a:lstStyle/>
            <a:p>
              <a:pPr algn="l" eaLnBrk="0" hangingPunct="0">
                <a:lnSpc>
                  <a:spcPct val="75000"/>
                </a:lnSpc>
                <a:spcBef>
                  <a:spcPct val="50000"/>
                </a:spcBef>
              </a:pPr>
              <a:r>
                <a:rPr lang="zh-CN" altLang="en-US" i="0" dirty="0">
                  <a:solidFill>
                    <a:schemeClr val="tx1"/>
                  </a:solidFill>
                  <a:latin typeface="Times New Roman" panose="02020603050405020304" pitchFamily="18" charset="0"/>
                </a:rPr>
                <a:t>结构</a:t>
              </a:r>
            </a:p>
          </p:txBody>
        </p:sp>
        <p:sp>
          <p:nvSpPr>
            <p:cNvPr id="72710" name="Text Box 5"/>
            <p:cNvSpPr txBox="1"/>
            <p:nvPr/>
          </p:nvSpPr>
          <p:spPr>
            <a:xfrm>
              <a:off x="76200" y="4343451"/>
              <a:ext cx="930275" cy="1569775"/>
            </a:xfrm>
            <a:prstGeom prst="rect">
              <a:avLst/>
            </a:prstGeom>
            <a:noFill/>
            <a:ln w="9525">
              <a:noFill/>
            </a:ln>
          </p:spPr>
          <p:txBody>
            <a:bodyPr>
              <a:spAutoFit/>
            </a:bodyPr>
            <a:lstStyle/>
            <a:p>
              <a:pPr algn="l" eaLnBrk="0" hangingPunct="0">
                <a:spcBef>
                  <a:spcPct val="50000"/>
                </a:spcBef>
              </a:pPr>
              <a:r>
                <a:rPr lang="zh-CN" altLang="en-US" i="0" dirty="0">
                  <a:solidFill>
                    <a:schemeClr val="tx1"/>
                  </a:solidFill>
                  <a:latin typeface="Times New Roman" panose="02020603050405020304" pitchFamily="18" charset="0"/>
                </a:rPr>
                <a:t>杂化轨道理想夹角</a:t>
              </a:r>
            </a:p>
          </p:txBody>
        </p:sp>
        <p:sp>
          <p:nvSpPr>
            <p:cNvPr id="72711" name="Text Box 6"/>
            <p:cNvSpPr txBox="1"/>
            <p:nvPr/>
          </p:nvSpPr>
          <p:spPr>
            <a:xfrm>
              <a:off x="1371600" y="2667006"/>
              <a:ext cx="1138238" cy="457234"/>
            </a:xfrm>
            <a:prstGeom prst="rect">
              <a:avLst/>
            </a:prstGeom>
            <a:noFill/>
            <a:ln w="9525">
              <a:noFill/>
            </a:ln>
          </p:spPr>
          <p:txBody>
            <a:bodyPr>
              <a:spAutoFit/>
            </a:bodyPr>
            <a:lstStyle/>
            <a:p>
              <a:pPr algn="l" eaLnBrk="0" hangingPunct="0">
                <a:spcBef>
                  <a:spcPct val="50000"/>
                </a:spcBef>
              </a:pPr>
              <a:r>
                <a:rPr lang="zh-CN" altLang="en-US" i="0" dirty="0">
                  <a:solidFill>
                    <a:schemeClr val="tx1"/>
                  </a:solidFill>
                  <a:latin typeface="Times New Roman" panose="02020603050405020304" pitchFamily="18" charset="0"/>
                </a:rPr>
                <a:t>直线型</a:t>
              </a:r>
            </a:p>
          </p:txBody>
        </p:sp>
        <p:sp>
          <p:nvSpPr>
            <p:cNvPr id="72712" name="Text Box 7"/>
            <p:cNvSpPr txBox="1"/>
            <p:nvPr/>
          </p:nvSpPr>
          <p:spPr>
            <a:xfrm>
              <a:off x="1524000" y="3733806"/>
              <a:ext cx="609600" cy="457234"/>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p>
          </p:txBody>
        </p:sp>
        <p:sp>
          <p:nvSpPr>
            <p:cNvPr id="72713" name="Rectangle 8"/>
            <p:cNvSpPr/>
            <p:nvPr/>
          </p:nvSpPr>
          <p:spPr>
            <a:xfrm>
              <a:off x="1600200" y="1524011"/>
              <a:ext cx="336550" cy="457234"/>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2</a:t>
              </a:r>
            </a:p>
          </p:txBody>
        </p:sp>
        <p:sp>
          <p:nvSpPr>
            <p:cNvPr id="72714" name="Text Box 9"/>
            <p:cNvSpPr txBox="1"/>
            <p:nvPr/>
          </p:nvSpPr>
          <p:spPr>
            <a:xfrm>
              <a:off x="2819400" y="2514594"/>
              <a:ext cx="1219200" cy="787458"/>
            </a:xfrm>
            <a:prstGeom prst="rect">
              <a:avLst/>
            </a:prstGeom>
            <a:noFill/>
            <a:ln w="9525">
              <a:noFill/>
            </a:ln>
          </p:spPr>
          <p:txBody>
            <a:bodyPr>
              <a:spAutoFit/>
            </a:bodyPr>
            <a:lstStyle/>
            <a:p>
              <a:pPr algn="l" eaLnBrk="0" hangingPunct="0">
                <a:lnSpc>
                  <a:spcPct val="95000"/>
                </a:lnSpc>
                <a:spcBef>
                  <a:spcPct val="50000"/>
                </a:spcBef>
              </a:pPr>
              <a:r>
                <a:rPr lang="en-US" altLang="zh-CN" i="0" dirty="0">
                  <a:solidFill>
                    <a:schemeClr val="tx1"/>
                  </a:solidFill>
                  <a:latin typeface="Times New Roman" panose="02020603050405020304" pitchFamily="18" charset="0"/>
                </a:rPr>
                <a:t>  </a:t>
              </a:r>
              <a:r>
                <a:rPr lang="zh-CN" altLang="en-US" i="0" dirty="0">
                  <a:solidFill>
                    <a:schemeClr val="tx1"/>
                  </a:solidFill>
                  <a:latin typeface="Times New Roman" panose="02020603050405020304" pitchFamily="18" charset="0"/>
                </a:rPr>
                <a:t>平面三角形</a:t>
              </a:r>
            </a:p>
          </p:txBody>
        </p:sp>
        <p:sp>
          <p:nvSpPr>
            <p:cNvPr id="72715" name="Text Box 10"/>
            <p:cNvSpPr txBox="1"/>
            <p:nvPr/>
          </p:nvSpPr>
          <p:spPr>
            <a:xfrm>
              <a:off x="3048000" y="3657600"/>
              <a:ext cx="609600" cy="457234"/>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2</a:t>
              </a:r>
            </a:p>
          </p:txBody>
        </p:sp>
        <p:sp>
          <p:nvSpPr>
            <p:cNvPr id="72716" name="Rectangle 11"/>
            <p:cNvSpPr/>
            <p:nvPr/>
          </p:nvSpPr>
          <p:spPr>
            <a:xfrm>
              <a:off x="3124200" y="1524011"/>
              <a:ext cx="336550" cy="457234"/>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3</a:t>
              </a:r>
            </a:p>
          </p:txBody>
        </p:sp>
        <p:sp>
          <p:nvSpPr>
            <p:cNvPr id="72717" name="Text Box 12"/>
            <p:cNvSpPr txBox="1"/>
            <p:nvPr/>
          </p:nvSpPr>
          <p:spPr>
            <a:xfrm>
              <a:off x="4343400" y="2590800"/>
              <a:ext cx="1008063" cy="757186"/>
            </a:xfrm>
            <a:prstGeom prst="rect">
              <a:avLst/>
            </a:prstGeom>
            <a:noFill/>
            <a:ln w="9525">
              <a:noFill/>
            </a:ln>
          </p:spPr>
          <p:txBody>
            <a:bodyPr>
              <a:spAutoFit/>
            </a:bodyPr>
            <a:lstStyle/>
            <a:p>
              <a:pPr algn="l" eaLnBrk="0" hangingPunct="0">
                <a:lnSpc>
                  <a:spcPct val="90000"/>
                </a:lnSpc>
                <a:spcBef>
                  <a:spcPct val="50000"/>
                </a:spcBef>
              </a:pPr>
              <a:r>
                <a:rPr lang="zh-CN" altLang="en-US" i="0" dirty="0">
                  <a:solidFill>
                    <a:schemeClr val="tx1"/>
                  </a:solidFill>
                  <a:latin typeface="Times New Roman" panose="02020603050405020304" pitchFamily="18" charset="0"/>
                </a:rPr>
                <a:t>正四面体</a:t>
              </a:r>
            </a:p>
          </p:txBody>
        </p:sp>
        <p:sp>
          <p:nvSpPr>
            <p:cNvPr id="72718" name="Text Box 13"/>
            <p:cNvSpPr txBox="1"/>
            <p:nvPr/>
          </p:nvSpPr>
          <p:spPr>
            <a:xfrm>
              <a:off x="4572000" y="3657600"/>
              <a:ext cx="609600" cy="457234"/>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p>
          </p:txBody>
        </p:sp>
        <p:sp>
          <p:nvSpPr>
            <p:cNvPr id="72719" name="Rectangle 14"/>
            <p:cNvSpPr/>
            <p:nvPr/>
          </p:nvSpPr>
          <p:spPr>
            <a:xfrm>
              <a:off x="4648200" y="1524011"/>
              <a:ext cx="336550" cy="457234"/>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4</a:t>
              </a:r>
            </a:p>
          </p:txBody>
        </p:sp>
        <p:sp>
          <p:nvSpPr>
            <p:cNvPr id="72720" name="Text Box 15"/>
            <p:cNvSpPr txBox="1"/>
            <p:nvPr/>
          </p:nvSpPr>
          <p:spPr>
            <a:xfrm>
              <a:off x="5867400" y="2590800"/>
              <a:ext cx="936625" cy="757186"/>
            </a:xfrm>
            <a:prstGeom prst="rect">
              <a:avLst/>
            </a:prstGeom>
            <a:noFill/>
            <a:ln w="9525">
              <a:noFill/>
            </a:ln>
          </p:spPr>
          <p:txBody>
            <a:bodyPr>
              <a:spAutoFit/>
            </a:bodyPr>
            <a:lstStyle/>
            <a:p>
              <a:pPr algn="l" eaLnBrk="0" hangingPunct="0">
                <a:lnSpc>
                  <a:spcPct val="90000"/>
                </a:lnSpc>
                <a:spcBef>
                  <a:spcPct val="50000"/>
                </a:spcBef>
              </a:pPr>
              <a:r>
                <a:rPr lang="zh-CN" altLang="en-US" i="0" dirty="0">
                  <a:solidFill>
                    <a:schemeClr val="tx1"/>
                  </a:solidFill>
                  <a:latin typeface="Times New Roman" panose="02020603050405020304" pitchFamily="18" charset="0"/>
                </a:rPr>
                <a:t>三角双锥</a:t>
              </a:r>
            </a:p>
          </p:txBody>
        </p:sp>
        <p:sp>
          <p:nvSpPr>
            <p:cNvPr id="72721" name="Text Box 16"/>
            <p:cNvSpPr txBox="1"/>
            <p:nvPr/>
          </p:nvSpPr>
          <p:spPr>
            <a:xfrm>
              <a:off x="6019800" y="3657600"/>
              <a:ext cx="838200" cy="461997"/>
            </a:xfrm>
            <a:prstGeom prst="rect">
              <a:avLst/>
            </a:prstGeom>
            <a:noFill/>
            <a:ln w="9525">
              <a:noFill/>
            </a:ln>
          </p:spPr>
          <p:txBody>
            <a:bodyPr>
              <a:spAutoFit/>
            </a:bodyPr>
            <a:lstStyle/>
            <a:p>
              <a:pPr algn="l" eaLnBrk="0" hangingPunct="0">
                <a:spcBef>
                  <a:spcPct val="50000"/>
                </a:spcBef>
              </a:pPr>
              <a:r>
                <a:rPr lang="en-US" altLang="zh-CN" i="0"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r>
                <a:rPr lang="en-US" altLang="zh-CN" i="0" dirty="0">
                  <a:solidFill>
                    <a:schemeClr val="tx1"/>
                  </a:solidFill>
                  <a:latin typeface="Times New Roman" panose="02020603050405020304" pitchFamily="18" charset="0"/>
                  <a:ea typeface="宋体" panose="02010600030101010101" pitchFamily="2" charset="-122"/>
                </a:rPr>
                <a:t>d</a:t>
              </a:r>
              <a:endParaRPr lang="en-US" altLang="zh-CN" i="0" baseline="30000" dirty="0">
                <a:solidFill>
                  <a:schemeClr val="tx1"/>
                </a:solidFill>
                <a:latin typeface="Times New Roman" panose="02020603050405020304" pitchFamily="18" charset="0"/>
                <a:ea typeface="宋体" panose="02010600030101010101" pitchFamily="2" charset="-122"/>
              </a:endParaRPr>
            </a:p>
          </p:txBody>
        </p:sp>
        <p:sp>
          <p:nvSpPr>
            <p:cNvPr id="72722" name="Rectangle 17"/>
            <p:cNvSpPr/>
            <p:nvPr/>
          </p:nvSpPr>
          <p:spPr>
            <a:xfrm>
              <a:off x="6096000" y="1524011"/>
              <a:ext cx="336550" cy="457234"/>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5</a:t>
              </a:r>
            </a:p>
          </p:txBody>
        </p:sp>
        <p:sp>
          <p:nvSpPr>
            <p:cNvPr id="72723" name="Text Box 18"/>
            <p:cNvSpPr txBox="1"/>
            <p:nvPr/>
          </p:nvSpPr>
          <p:spPr>
            <a:xfrm>
              <a:off x="7227888" y="2819417"/>
              <a:ext cx="1839912" cy="420719"/>
            </a:xfrm>
            <a:prstGeom prst="rect">
              <a:avLst/>
            </a:prstGeom>
            <a:noFill/>
            <a:ln w="9525">
              <a:noFill/>
            </a:ln>
          </p:spPr>
          <p:txBody>
            <a:bodyPr>
              <a:spAutoFit/>
            </a:bodyPr>
            <a:lstStyle/>
            <a:p>
              <a:pPr eaLnBrk="0" hangingPunct="0">
                <a:lnSpc>
                  <a:spcPct val="90000"/>
                </a:lnSpc>
                <a:spcBef>
                  <a:spcPct val="50000"/>
                </a:spcBef>
              </a:pPr>
              <a:r>
                <a:rPr lang="zh-CN" altLang="en-US" i="0" dirty="0">
                  <a:solidFill>
                    <a:schemeClr val="tx1"/>
                  </a:solidFill>
                  <a:latin typeface="Times New Roman" panose="02020603050405020304" pitchFamily="18" charset="0"/>
                </a:rPr>
                <a:t>正八面体</a:t>
              </a:r>
            </a:p>
          </p:txBody>
        </p:sp>
        <p:sp>
          <p:nvSpPr>
            <p:cNvPr id="72724" name="Text Box 19"/>
            <p:cNvSpPr txBox="1"/>
            <p:nvPr/>
          </p:nvSpPr>
          <p:spPr>
            <a:xfrm>
              <a:off x="7848600" y="3581395"/>
              <a:ext cx="838200" cy="461997"/>
            </a:xfrm>
            <a:prstGeom prst="rect">
              <a:avLst/>
            </a:prstGeom>
            <a:noFill/>
            <a:ln w="9525">
              <a:noFill/>
            </a:ln>
          </p:spPr>
          <p:txBody>
            <a:bodyPr>
              <a:spAutoFit/>
            </a:bodyPr>
            <a:lstStyle/>
            <a:p>
              <a:pPr algn="l" eaLnBrk="0" hangingPunct="0">
                <a:spcBef>
                  <a:spcPct val="50000"/>
                </a:spcBef>
              </a:pPr>
              <a:r>
                <a:rPr lang="en-US" altLang="zh-CN" dirty="0">
                  <a:solidFill>
                    <a:schemeClr val="tx1"/>
                  </a:solidFill>
                  <a:latin typeface="Times New Roman" panose="02020603050405020304" pitchFamily="18" charset="0"/>
                  <a:ea typeface="宋体" panose="02010600030101010101" pitchFamily="2" charset="-122"/>
                </a:rPr>
                <a:t>sp</a:t>
              </a:r>
              <a:r>
                <a:rPr lang="en-US" altLang="zh-CN" i="0" baseline="30000" dirty="0">
                  <a:solidFill>
                    <a:schemeClr val="tx1"/>
                  </a:solidFill>
                  <a:latin typeface="Times New Roman" panose="02020603050405020304" pitchFamily="18" charset="0"/>
                  <a:ea typeface="宋体" panose="02010600030101010101" pitchFamily="2" charset="-122"/>
                </a:rPr>
                <a:t>3</a:t>
              </a:r>
              <a:r>
                <a:rPr lang="en-US" altLang="zh-CN" dirty="0">
                  <a:solidFill>
                    <a:schemeClr val="tx1"/>
                  </a:solidFill>
                  <a:latin typeface="Times New Roman" panose="02020603050405020304" pitchFamily="18" charset="0"/>
                  <a:ea typeface="宋体" panose="02010600030101010101" pitchFamily="2" charset="-122"/>
                </a:rPr>
                <a:t>d</a:t>
              </a:r>
              <a:r>
                <a:rPr lang="en-US" altLang="zh-CN" baseline="30000" dirty="0">
                  <a:solidFill>
                    <a:schemeClr val="tx1"/>
                  </a:solidFill>
                  <a:latin typeface="Times New Roman" panose="02020603050405020304" pitchFamily="18" charset="0"/>
                  <a:ea typeface="宋体" panose="02010600030101010101" pitchFamily="2" charset="-122"/>
                </a:rPr>
                <a:t>2</a:t>
              </a:r>
              <a:endParaRPr lang="en-US" altLang="zh-CN" i="0" baseline="30000" dirty="0">
                <a:solidFill>
                  <a:schemeClr val="tx1"/>
                </a:solidFill>
                <a:latin typeface="Times New Roman" panose="02020603050405020304" pitchFamily="18" charset="0"/>
                <a:ea typeface="宋体" panose="02010600030101010101" pitchFamily="2" charset="-122"/>
              </a:endParaRPr>
            </a:p>
          </p:txBody>
        </p:sp>
        <p:sp>
          <p:nvSpPr>
            <p:cNvPr id="72725" name="Rectangle 20"/>
            <p:cNvSpPr/>
            <p:nvPr/>
          </p:nvSpPr>
          <p:spPr>
            <a:xfrm>
              <a:off x="8001000" y="1524011"/>
              <a:ext cx="336550" cy="457234"/>
            </a:xfrm>
            <a:prstGeom prst="rect">
              <a:avLst/>
            </a:prstGeom>
            <a:noFill/>
            <a:ln w="9525">
              <a:noFill/>
            </a:ln>
          </p:spPr>
          <p:txBody>
            <a:bodyPr wrap="none">
              <a:spAutoFit/>
            </a:bodyPr>
            <a:lstStyle/>
            <a:p>
              <a:pPr eaLnBrk="0" hangingPunct="0"/>
              <a:r>
                <a:rPr lang="en-US" altLang="zh-CN" dirty="0">
                  <a:solidFill>
                    <a:schemeClr val="tx1"/>
                  </a:solidFill>
                  <a:latin typeface="Times New Roman" panose="02020603050405020304" pitchFamily="18" charset="0"/>
                  <a:ea typeface="宋体" panose="02010600030101010101" pitchFamily="2" charset="-122"/>
                </a:rPr>
                <a:t>6</a:t>
              </a:r>
            </a:p>
          </p:txBody>
        </p:sp>
        <p:sp>
          <p:nvSpPr>
            <p:cNvPr id="72726" name="Line 21"/>
            <p:cNvSpPr/>
            <p:nvPr/>
          </p:nvSpPr>
          <p:spPr>
            <a:xfrm>
              <a:off x="762000" y="1371600"/>
              <a:ext cx="8382000" cy="0"/>
            </a:xfrm>
            <a:prstGeom prst="line">
              <a:avLst/>
            </a:prstGeom>
            <a:ln w="28575" cap="flat" cmpd="sng">
              <a:solidFill>
                <a:srgbClr val="CCECFF"/>
              </a:solidFill>
              <a:prstDash val="solid"/>
              <a:headEnd type="none" w="med" len="med"/>
              <a:tailEnd type="none" w="med" len="med"/>
            </a:ln>
          </p:spPr>
        </p:sp>
        <p:sp>
          <p:nvSpPr>
            <p:cNvPr id="72727" name="Line 22"/>
            <p:cNvSpPr/>
            <p:nvPr/>
          </p:nvSpPr>
          <p:spPr>
            <a:xfrm>
              <a:off x="1066800" y="2057450"/>
              <a:ext cx="8077200" cy="0"/>
            </a:xfrm>
            <a:prstGeom prst="line">
              <a:avLst/>
            </a:prstGeom>
            <a:ln w="28575" cap="flat" cmpd="sng">
              <a:solidFill>
                <a:srgbClr val="CCECFF"/>
              </a:solidFill>
              <a:prstDash val="solid"/>
              <a:headEnd type="none" w="med" len="med"/>
              <a:tailEnd type="none" w="med" len="med"/>
            </a:ln>
          </p:spPr>
        </p:sp>
        <p:pic>
          <p:nvPicPr>
            <p:cNvPr id="72728" name="Picture 30"/>
            <p:cNvPicPr>
              <a:picLocks noChangeAspect="1"/>
            </p:cNvPicPr>
            <p:nvPr/>
          </p:nvPicPr>
          <p:blipFill>
            <a:blip r:embed="rId2"/>
            <a:stretch>
              <a:fillRect/>
            </a:stretch>
          </p:blipFill>
          <p:spPr>
            <a:xfrm>
              <a:off x="990600" y="4191040"/>
              <a:ext cx="1676400" cy="1676523"/>
            </a:xfrm>
            <a:prstGeom prst="rect">
              <a:avLst/>
            </a:prstGeom>
            <a:noFill/>
            <a:ln w="9525">
              <a:noFill/>
            </a:ln>
          </p:spPr>
        </p:pic>
        <p:pic>
          <p:nvPicPr>
            <p:cNvPr id="72729" name="Picture 31"/>
            <p:cNvPicPr>
              <a:picLocks noChangeAspect="1"/>
            </p:cNvPicPr>
            <p:nvPr/>
          </p:nvPicPr>
          <p:blipFill>
            <a:blip r:embed="rId3"/>
            <a:stretch>
              <a:fillRect/>
            </a:stretch>
          </p:blipFill>
          <p:spPr>
            <a:xfrm>
              <a:off x="2667000" y="4191040"/>
              <a:ext cx="1447800" cy="1676523"/>
            </a:xfrm>
            <a:prstGeom prst="rect">
              <a:avLst/>
            </a:prstGeom>
            <a:noFill/>
            <a:ln w="9525">
              <a:noFill/>
            </a:ln>
          </p:spPr>
        </p:pic>
        <p:pic>
          <p:nvPicPr>
            <p:cNvPr id="72730" name="Picture 32"/>
            <p:cNvPicPr>
              <a:picLocks noChangeAspect="1"/>
            </p:cNvPicPr>
            <p:nvPr/>
          </p:nvPicPr>
          <p:blipFill>
            <a:blip r:embed="rId4"/>
            <a:stretch>
              <a:fillRect/>
            </a:stretch>
          </p:blipFill>
          <p:spPr>
            <a:xfrm>
              <a:off x="4114800" y="4191040"/>
              <a:ext cx="1524000" cy="1676523"/>
            </a:xfrm>
            <a:prstGeom prst="rect">
              <a:avLst/>
            </a:prstGeom>
            <a:noFill/>
            <a:ln w="9525">
              <a:noFill/>
            </a:ln>
          </p:spPr>
        </p:pic>
        <p:pic>
          <p:nvPicPr>
            <p:cNvPr id="72731" name="Picture 33"/>
            <p:cNvPicPr>
              <a:picLocks noChangeAspect="1"/>
            </p:cNvPicPr>
            <p:nvPr/>
          </p:nvPicPr>
          <p:blipFill>
            <a:blip r:embed="rId5"/>
            <a:stretch>
              <a:fillRect/>
            </a:stretch>
          </p:blipFill>
          <p:spPr>
            <a:xfrm>
              <a:off x="5638800" y="4191040"/>
              <a:ext cx="1600200" cy="1676523"/>
            </a:xfrm>
            <a:prstGeom prst="rect">
              <a:avLst/>
            </a:prstGeom>
            <a:noFill/>
            <a:ln w="9525">
              <a:noFill/>
            </a:ln>
          </p:spPr>
        </p:pic>
        <p:pic>
          <p:nvPicPr>
            <p:cNvPr id="72732" name="Picture 34"/>
            <p:cNvPicPr>
              <a:picLocks noChangeAspect="1"/>
            </p:cNvPicPr>
            <p:nvPr/>
          </p:nvPicPr>
          <p:blipFill>
            <a:blip r:embed="rId6"/>
            <a:stretch>
              <a:fillRect/>
            </a:stretch>
          </p:blipFill>
          <p:spPr>
            <a:xfrm>
              <a:off x="7239000" y="4191040"/>
              <a:ext cx="1828800" cy="1676523"/>
            </a:xfrm>
            <a:prstGeom prst="rect">
              <a:avLst/>
            </a:prstGeom>
            <a:noFill/>
            <a:ln w="9525">
              <a:noFill/>
            </a:ln>
          </p:spPr>
        </p:pic>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p:nvPr/>
        </p:nvSpPr>
        <p:spPr>
          <a:xfrm>
            <a:off x="0" y="0"/>
            <a:ext cx="4724400" cy="523875"/>
          </a:xfrm>
          <a:prstGeom prst="rect">
            <a:avLst/>
          </a:prstGeom>
          <a:noFill/>
          <a:ln w="9525">
            <a:noFill/>
          </a:ln>
        </p:spPr>
        <p:txBody>
          <a:bodyPr anchor="ctr" anchorCtr="0">
            <a:spAutoFit/>
          </a:bodyPr>
          <a:lstStyle/>
          <a:p>
            <a:pPr algn="l"/>
            <a:r>
              <a:rPr lang="en-US" altLang="zh-CN" sz="2800" dirty="0">
                <a:solidFill>
                  <a:srgbClr val="CC3300"/>
                </a:solidFill>
                <a:latin typeface="Times New Roman" panose="02020603050405020304" pitchFamily="18" charset="0"/>
              </a:rPr>
              <a:t>  </a:t>
            </a:r>
            <a:r>
              <a:rPr lang="zh-CN" altLang="en-US" sz="2800" dirty="0">
                <a:solidFill>
                  <a:srgbClr val="CC3300"/>
                </a:solidFill>
                <a:latin typeface="Times New Roman" panose="02020603050405020304" pitchFamily="18" charset="0"/>
              </a:rPr>
              <a:t>（</a:t>
            </a:r>
            <a:r>
              <a:rPr lang="zh-CN" altLang="en-US" sz="2800" i="0" dirty="0">
                <a:solidFill>
                  <a:srgbClr val="CC3300"/>
                </a:solidFill>
                <a:latin typeface="Times New Roman" panose="02020603050405020304" pitchFamily="18" charset="0"/>
              </a:rPr>
              <a:t>二</a:t>
            </a:r>
            <a:r>
              <a:rPr lang="zh-CN" altLang="en-US" sz="2800" dirty="0">
                <a:solidFill>
                  <a:srgbClr val="CC3300"/>
                </a:solidFill>
                <a:latin typeface="Times New Roman" panose="02020603050405020304" pitchFamily="18" charset="0"/>
              </a:rPr>
              <a:t>）</a:t>
            </a:r>
            <a:r>
              <a:rPr lang="zh-CN" altLang="en-US" sz="2800" i="0" dirty="0">
                <a:solidFill>
                  <a:srgbClr val="CC3300"/>
                </a:solidFill>
                <a:latin typeface="Times New Roman" panose="02020603050405020304" pitchFamily="18" charset="0"/>
              </a:rPr>
              <a:t>、分子的变形性</a:t>
            </a:r>
          </a:p>
        </p:txBody>
      </p:sp>
      <p:grpSp>
        <p:nvGrpSpPr>
          <p:cNvPr id="2" name="组合 6"/>
          <p:cNvGrpSpPr/>
          <p:nvPr/>
        </p:nvGrpSpPr>
        <p:grpSpPr>
          <a:xfrm>
            <a:off x="228600" y="685800"/>
            <a:ext cx="8686800" cy="4713288"/>
            <a:chOff x="228600" y="685800"/>
            <a:chExt cx="8686800" cy="4712634"/>
          </a:xfrm>
        </p:grpSpPr>
        <p:sp>
          <p:nvSpPr>
            <p:cNvPr id="73732" name="Rectangle 3"/>
            <p:cNvSpPr/>
            <p:nvPr/>
          </p:nvSpPr>
          <p:spPr>
            <a:xfrm>
              <a:off x="381000" y="685800"/>
              <a:ext cx="8534400" cy="512704"/>
            </a:xfrm>
            <a:prstGeom prst="rect">
              <a:avLst/>
            </a:prstGeom>
            <a:noFill/>
            <a:ln w="9525">
              <a:noFill/>
            </a:ln>
          </p:spPr>
          <p:txBody>
            <a:bodyPr>
              <a:spAutoFit/>
            </a:bodyPr>
            <a:lstStyle/>
            <a:p>
              <a:pPr algn="l" eaLnBrk="0" hangingPunct="0">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极性分子固有的偶极叫</a:t>
              </a:r>
              <a:r>
                <a:rPr lang="zh-CN" altLang="en-US" sz="2600" dirty="0">
                  <a:solidFill>
                    <a:srgbClr val="0000FF"/>
                  </a:solidFill>
                  <a:latin typeface="Times New Roman" panose="02020603050405020304" pitchFamily="18" charset="0"/>
                </a:rPr>
                <a:t>永久偶极 </a:t>
              </a:r>
              <a:r>
                <a:rPr lang="en-US" altLang="zh-CN" sz="2600" i="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permanent dipole</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        </a:t>
              </a:r>
              <a:endParaRPr lang="zh-CN" altLang="en-US" sz="2600" dirty="0">
                <a:solidFill>
                  <a:schemeClr val="tx1"/>
                </a:solidFill>
                <a:latin typeface="Times New Roman" panose="02020603050405020304" pitchFamily="18" charset="0"/>
              </a:endParaRPr>
            </a:p>
          </p:txBody>
        </p:sp>
        <p:sp>
          <p:nvSpPr>
            <p:cNvPr id="73733" name="Rectangle 4"/>
            <p:cNvSpPr/>
            <p:nvPr/>
          </p:nvSpPr>
          <p:spPr>
            <a:xfrm>
              <a:off x="381000" y="3962400"/>
              <a:ext cx="8382000" cy="1436034"/>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如果分子受到外加电场的作用，分子内部电荷的分布因同电相斥、异电相吸的作用而发生相对位移</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下图所示：</a:t>
              </a:r>
              <a:r>
                <a:rPr lang="zh-CN" altLang="en-US" sz="2600" dirty="0">
                  <a:solidFill>
                    <a:schemeClr val="tx1"/>
                  </a:solidFill>
                  <a:latin typeface="Times New Roman" panose="02020603050405020304" pitchFamily="18" charset="0"/>
                </a:rPr>
                <a:t> </a:t>
              </a:r>
            </a:p>
          </p:txBody>
        </p:sp>
        <p:sp>
          <p:nvSpPr>
            <p:cNvPr id="73734" name="Rectangle 7"/>
            <p:cNvSpPr/>
            <p:nvPr/>
          </p:nvSpPr>
          <p:spPr>
            <a:xfrm>
              <a:off x="228600" y="1295400"/>
              <a:ext cx="8686800" cy="1015663"/>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非极性分子在极性分子诱导下产生的偶极叫</a:t>
              </a:r>
              <a:r>
                <a:rPr lang="zh-CN" altLang="en-US" sz="2600" dirty="0">
                  <a:solidFill>
                    <a:srgbClr val="0000FF"/>
                  </a:solidFill>
                  <a:latin typeface="Times New Roman" panose="02020603050405020304" pitchFamily="18" charset="0"/>
                </a:rPr>
                <a:t>诱导偶极</a:t>
              </a:r>
              <a:r>
                <a:rPr lang="en-US" altLang="zh-CN" sz="2600" i="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induced dipole</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a:t>
              </a:r>
            </a:p>
          </p:txBody>
        </p:sp>
        <p:sp>
          <p:nvSpPr>
            <p:cNvPr id="73735" name="Rectangle 8"/>
            <p:cNvSpPr/>
            <p:nvPr/>
          </p:nvSpPr>
          <p:spPr>
            <a:xfrm>
              <a:off x="304800" y="2362200"/>
              <a:ext cx="8534400" cy="1477328"/>
            </a:xfrm>
            <a:prstGeom prst="rect">
              <a:avLst/>
            </a:prstGeom>
            <a:noFill/>
            <a:ln w="9525">
              <a:noFill/>
            </a:ln>
          </p:spPr>
          <p:txBody>
            <a:bodyPr>
              <a:spAutoFit/>
            </a:bodyPr>
            <a:lstStyle/>
            <a:p>
              <a:pPr algn="l" eaLnBrk="0" hangingPunct="0">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由不断运动的电子和不停振动的原子核在某一瞬间的相对位移造成分子正、负电荷重心分离引起的偶极叫</a:t>
              </a:r>
              <a:r>
                <a:rPr lang="zh-CN" altLang="en-US" sz="2600" dirty="0">
                  <a:solidFill>
                    <a:srgbClr val="0000FF"/>
                  </a:solidFill>
                  <a:latin typeface="Times New Roman" panose="02020603050405020304" pitchFamily="18" charset="0"/>
                </a:rPr>
                <a:t>瞬间偶极</a:t>
              </a:r>
              <a:r>
                <a:rPr lang="en-US" altLang="zh-CN" sz="2600" i="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instantaneous dipole</a:t>
              </a:r>
              <a:r>
                <a:rPr lang="en-US" altLang="zh-CN" sz="2600" i="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6130"/>
                                        </p:tgtEl>
                                        <p:attrNameLst>
                                          <p:attrName>style.visibility</p:attrName>
                                        </p:attrNameLst>
                                      </p:cBhvr>
                                      <p:to>
                                        <p:strVal val="visible"/>
                                      </p:to>
                                    </p:set>
                                    <p:animEffect transition="in" filter="box(in)">
                                      <p:cBhvr>
                                        <p:cTn id="7" dur="1000"/>
                                        <p:tgtEl>
                                          <p:spTgt spid="1761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4" name="Picture 4"/>
          <p:cNvPicPr>
            <a:picLocks noChangeAspect="1"/>
          </p:cNvPicPr>
          <p:nvPr/>
        </p:nvPicPr>
        <p:blipFill>
          <a:blip r:embed="rId2"/>
          <a:stretch>
            <a:fillRect/>
          </a:stretch>
        </p:blipFill>
        <p:spPr>
          <a:xfrm>
            <a:off x="381000" y="304800"/>
            <a:ext cx="8001000" cy="2667000"/>
          </a:xfrm>
          <a:prstGeom prst="rect">
            <a:avLst/>
          </a:prstGeom>
          <a:noFill/>
          <a:ln w="9525">
            <a:noFill/>
          </a:ln>
        </p:spPr>
      </p:pic>
      <p:pic>
        <p:nvPicPr>
          <p:cNvPr id="204805" name="Picture 5"/>
          <p:cNvPicPr>
            <a:picLocks noChangeAspect="1"/>
          </p:cNvPicPr>
          <p:nvPr/>
        </p:nvPicPr>
        <p:blipFill>
          <a:blip r:embed="rId3"/>
          <a:stretch>
            <a:fillRect/>
          </a:stretch>
        </p:blipFill>
        <p:spPr>
          <a:xfrm>
            <a:off x="762000" y="3276600"/>
            <a:ext cx="7696200" cy="33528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04"/>
                                        </p:tgtEl>
                                        <p:attrNameLst>
                                          <p:attrName>style.visibility</p:attrName>
                                        </p:attrNameLst>
                                      </p:cBhvr>
                                      <p:to>
                                        <p:strVal val="visible"/>
                                      </p:to>
                                    </p:set>
                                    <p:anim calcmode="lin" valueType="num">
                                      <p:cBhvr additive="base">
                                        <p:cTn id="7" dur="1000" fill="hold"/>
                                        <p:tgtEl>
                                          <p:spTgt spid="204804"/>
                                        </p:tgtEl>
                                        <p:attrNameLst>
                                          <p:attrName>ppt_x</p:attrName>
                                        </p:attrNameLst>
                                      </p:cBhvr>
                                      <p:tavLst>
                                        <p:tav tm="0">
                                          <p:val>
                                            <p:strVal val="#ppt_x"/>
                                          </p:val>
                                        </p:tav>
                                        <p:tav tm="100000">
                                          <p:val>
                                            <p:strVal val="#ppt_x"/>
                                          </p:val>
                                        </p:tav>
                                      </p:tavLst>
                                    </p:anim>
                                    <p:anim calcmode="lin" valueType="num">
                                      <p:cBhvr additive="base">
                                        <p:cTn id="8" dur="1000" fill="hold"/>
                                        <p:tgtEl>
                                          <p:spTgt spid="2048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05"/>
                                        </p:tgtEl>
                                        <p:attrNameLst>
                                          <p:attrName>style.visibility</p:attrName>
                                        </p:attrNameLst>
                                      </p:cBhvr>
                                      <p:to>
                                        <p:strVal val="visible"/>
                                      </p:to>
                                    </p:set>
                                    <p:anim calcmode="lin" valueType="num">
                                      <p:cBhvr additive="base">
                                        <p:cTn id="13" dur="1000" fill="hold"/>
                                        <p:tgtEl>
                                          <p:spTgt spid="204805"/>
                                        </p:tgtEl>
                                        <p:attrNameLst>
                                          <p:attrName>ppt_x</p:attrName>
                                        </p:attrNameLst>
                                      </p:cBhvr>
                                      <p:tavLst>
                                        <p:tav tm="0">
                                          <p:val>
                                            <p:strVal val="#ppt_x"/>
                                          </p:val>
                                        </p:tav>
                                        <p:tav tm="100000">
                                          <p:val>
                                            <p:strVal val="#ppt_x"/>
                                          </p:val>
                                        </p:tav>
                                      </p:tavLst>
                                    </p:anim>
                                    <p:anim calcmode="lin" valueType="num">
                                      <p:cBhvr additive="base">
                                        <p:cTn id="14" dur="1000" fill="hold"/>
                                        <p:tgtEl>
                                          <p:spTgt spid="204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p:nvPr/>
        </p:nvSpPr>
        <p:spPr>
          <a:xfrm>
            <a:off x="304800" y="207963"/>
            <a:ext cx="8610600" cy="1939925"/>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当受到电场作用后，分子中带正电荷的核被吸向负极，带负电的电子云被引向正极，使</a:t>
            </a:r>
            <a:r>
              <a:rPr lang="zh-CN" altLang="en-US" sz="2600" dirty="0">
                <a:solidFill>
                  <a:srgbClr val="0000FF"/>
                </a:solidFill>
                <a:latin typeface="Times New Roman" panose="02020603050405020304" pitchFamily="18" charset="0"/>
              </a:rPr>
              <a:t>正、负电荷中心发生位移而产生偶极</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这种偶极称为诱导偶极</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，整个分子发生了变形。 </a:t>
            </a:r>
          </a:p>
        </p:txBody>
      </p:sp>
      <p:sp>
        <p:nvSpPr>
          <p:cNvPr id="75779" name="Rectangle 3"/>
          <p:cNvSpPr/>
          <p:nvPr/>
        </p:nvSpPr>
        <p:spPr>
          <a:xfrm>
            <a:off x="304800" y="2286000"/>
            <a:ext cx="8534400" cy="2862322"/>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非极性分子或极性分子受外电场作用而产生诱导偶极的过程，称为</a:t>
            </a:r>
            <a:r>
              <a:rPr lang="zh-CN" altLang="en-US" sz="2600" dirty="0">
                <a:solidFill>
                  <a:srgbClr val="C00000"/>
                </a:solidFill>
                <a:latin typeface="Times New Roman" panose="02020603050405020304" pitchFamily="18" charset="0"/>
              </a:rPr>
              <a:t>分子的极化</a:t>
            </a:r>
            <a:r>
              <a:rPr lang="en-US" altLang="zh-CN" sz="2600" dirty="0">
                <a:solidFill>
                  <a:srgbClr val="C00000"/>
                </a:solidFill>
                <a:latin typeface="Times New Roman" panose="02020603050405020304" pitchFamily="18" charset="0"/>
              </a:rPr>
              <a:t>(</a:t>
            </a:r>
            <a:r>
              <a:rPr lang="zh-CN" altLang="en-US" sz="2600" dirty="0">
                <a:solidFill>
                  <a:srgbClr val="C00000"/>
                </a:solidFill>
                <a:latin typeface="Times New Roman" panose="02020603050405020304" pitchFamily="18" charset="0"/>
              </a:rPr>
              <a:t>或称变形极化</a:t>
            </a:r>
            <a:r>
              <a:rPr lang="en-US" altLang="zh-CN" sz="2600" dirty="0">
                <a:solidFill>
                  <a:srgbClr val="C00000"/>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a:t>
            </a:r>
            <a:endParaRPr lang="en-US" altLang="zh-CN" sz="2600" i="0" dirty="0">
              <a:solidFill>
                <a:schemeClr val="tx1"/>
              </a:solidFill>
              <a:latin typeface="Times New Roman" panose="02020603050405020304" pitchFamily="18" charset="0"/>
            </a:endParaRPr>
          </a:p>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分子受极化后外形发生改变的性质，称为</a:t>
            </a:r>
            <a:r>
              <a:rPr lang="zh-CN" altLang="en-US" sz="2600" dirty="0">
                <a:solidFill>
                  <a:srgbClr val="C00000"/>
                </a:solidFill>
                <a:latin typeface="Times New Roman" panose="02020603050405020304" pitchFamily="18" charset="0"/>
              </a:rPr>
              <a:t>分子的变形性</a:t>
            </a:r>
            <a:r>
              <a:rPr lang="en-US" altLang="zh-CN" sz="260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用物理量</a:t>
            </a:r>
            <a:r>
              <a:rPr lang="zh-CN" altLang="en-US" sz="2600" dirty="0">
                <a:solidFill>
                  <a:srgbClr val="C00000"/>
                </a:solidFill>
                <a:latin typeface="Times New Roman" panose="02020603050405020304" pitchFamily="18" charset="0"/>
              </a:rPr>
              <a:t>“极化率”</a:t>
            </a:r>
            <a:r>
              <a:rPr lang="zh-CN" altLang="en-US" sz="2600" dirty="0">
                <a:solidFill>
                  <a:schemeClr val="tx1"/>
                </a:solidFill>
                <a:latin typeface="Times New Roman" panose="02020603050405020304" pitchFamily="18" charset="0"/>
              </a:rPr>
              <a:t>来表示（书上</a:t>
            </a:r>
            <a:r>
              <a:rPr lang="en-US" altLang="zh-CN" sz="2600" dirty="0">
                <a:solidFill>
                  <a:schemeClr val="tx1"/>
                </a:solidFill>
                <a:latin typeface="Times New Roman" panose="02020603050405020304" pitchFamily="18" charset="0"/>
              </a:rPr>
              <a:t>P326</a:t>
            </a:r>
            <a:r>
              <a:rPr lang="zh-CN" altLang="en-US" sz="2600" dirty="0">
                <a:solidFill>
                  <a:schemeClr val="tx1"/>
                </a:solidFill>
                <a:latin typeface="Times New Roman" panose="02020603050405020304" pitchFamily="18" charset="0"/>
              </a:rPr>
              <a:t>表</a:t>
            </a:r>
            <a:r>
              <a:rPr lang="en-US" altLang="zh-CN" sz="2600" dirty="0">
                <a:solidFill>
                  <a:schemeClr val="tx1"/>
                </a:solidFill>
                <a:latin typeface="Times New Roman" panose="02020603050405020304" pitchFamily="18" charset="0"/>
              </a:rPr>
              <a:t>10-10</a:t>
            </a:r>
            <a:r>
              <a:rPr lang="zh-CN" altLang="en-US" sz="26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a:t>
            </a:r>
            <a:endParaRPr lang="en-US" altLang="zh-CN" sz="2600" i="0" dirty="0">
              <a:solidFill>
                <a:schemeClr val="tx1"/>
              </a:solidFill>
              <a:latin typeface="Times New Roman" panose="02020603050405020304" pitchFamily="18" charset="0"/>
            </a:endParaRPr>
          </a:p>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注意</a:t>
            </a:r>
            <a:r>
              <a:rPr lang="zh-CN" altLang="en-US" sz="2600" i="0" dirty="0" smtClean="0">
                <a:solidFill>
                  <a:schemeClr val="tx1"/>
                </a:solidFill>
                <a:latin typeface="Times New Roman" panose="02020603050405020304" pitchFamily="18" charset="0"/>
              </a:rPr>
              <a:t>区别</a:t>
            </a:r>
            <a:r>
              <a:rPr lang="zh-CN" altLang="en-US" sz="2600" dirty="0" smtClean="0">
                <a:solidFill>
                  <a:srgbClr val="0000FF"/>
                </a:solidFill>
                <a:latin typeface="Times New Roman" panose="02020603050405020304" pitchFamily="18" charset="0"/>
              </a:rPr>
              <a:t>分子的极性和</a:t>
            </a:r>
            <a:r>
              <a:rPr lang="zh-CN" altLang="en-US" sz="2600" dirty="0" smtClean="0">
                <a:solidFill>
                  <a:srgbClr val="0000FF"/>
                </a:solidFill>
              </a:rPr>
              <a:t>分子</a:t>
            </a:r>
            <a:r>
              <a:rPr lang="zh-CN" altLang="en-US" sz="2600" dirty="0" smtClean="0">
                <a:solidFill>
                  <a:srgbClr val="0000FF"/>
                </a:solidFill>
              </a:rPr>
              <a:t>的</a:t>
            </a:r>
            <a:r>
              <a:rPr lang="zh-CN" altLang="en-US" sz="2600" dirty="0" smtClean="0">
                <a:solidFill>
                  <a:srgbClr val="0000FF"/>
                </a:solidFill>
              </a:rPr>
              <a:t>极化</a:t>
            </a:r>
            <a:r>
              <a:rPr lang="en-US" altLang="zh-CN" sz="2600" dirty="0" smtClean="0">
                <a:solidFill>
                  <a:srgbClr val="0000FF"/>
                </a:solidFill>
              </a:rPr>
              <a:t> </a:t>
            </a:r>
            <a:r>
              <a:rPr lang="zh-CN" altLang="en-US" sz="2600" dirty="0" smtClean="0">
                <a:solidFill>
                  <a:srgbClr val="0000FF"/>
                </a:solidFill>
              </a:rPr>
              <a:t>：</a:t>
            </a:r>
            <a:endParaRPr lang="en-US" altLang="zh-CN" sz="2600" dirty="0" smtClean="0">
              <a:solidFill>
                <a:srgbClr val="0000FF"/>
              </a:solidFill>
            </a:endParaRPr>
          </a:p>
          <a:p>
            <a:pPr algn="l">
              <a:lnSpc>
                <a:spcPts val="3600"/>
              </a:lnSpc>
            </a:pPr>
            <a:endParaRPr lang="zh-CN" altLang="en-US" sz="2600" dirty="0">
              <a:solidFill>
                <a:srgbClr val="0000FF"/>
              </a:solidFill>
              <a:latin typeface="Times New Roman" panose="02020603050405020304" pitchFamily="18" charset="0"/>
            </a:endParaRPr>
          </a:p>
        </p:txBody>
      </p:sp>
      <p:sp>
        <p:nvSpPr>
          <p:cNvPr id="4" name="矩形 3"/>
          <p:cNvSpPr/>
          <p:nvPr/>
        </p:nvSpPr>
        <p:spPr>
          <a:xfrm>
            <a:off x="813173" y="4698841"/>
            <a:ext cx="7545041" cy="861774"/>
          </a:xfrm>
          <a:prstGeom prst="rect">
            <a:avLst/>
          </a:prstGeom>
        </p:spPr>
        <p:txBody>
          <a:bodyPr wrap="square">
            <a:spAutoFit/>
          </a:bodyPr>
          <a:lstStyle/>
          <a:p>
            <a:pPr algn="l"/>
            <a:r>
              <a:rPr lang="zh-CN" altLang="en-US" sz="2600" dirty="0" smtClean="0">
                <a:solidFill>
                  <a:schemeClr val="tx1"/>
                </a:solidFill>
              </a:rPr>
              <a:t>分子的</a:t>
            </a:r>
            <a:r>
              <a:rPr lang="zh-CN" altLang="en-US" sz="2600" dirty="0" smtClean="0">
                <a:solidFill>
                  <a:schemeClr val="tx1"/>
                </a:solidFill>
              </a:rPr>
              <a:t>极性</a:t>
            </a:r>
            <a:r>
              <a:rPr lang="en-US" altLang="zh-CN" sz="2600" dirty="0" smtClean="0">
                <a:solidFill>
                  <a:schemeClr val="tx1"/>
                </a:solidFill>
              </a:rPr>
              <a:t>——</a:t>
            </a:r>
            <a:r>
              <a:rPr lang="zh-CN" altLang="en-US" sz="2600" dirty="0" smtClean="0">
                <a:solidFill>
                  <a:schemeClr val="tx1"/>
                </a:solidFill>
              </a:rPr>
              <a:t>看电负性（离子键的极性最大）；</a:t>
            </a:r>
            <a:endParaRPr lang="en-US" altLang="zh-CN" sz="2600" dirty="0" smtClean="0">
              <a:solidFill>
                <a:schemeClr val="tx1"/>
              </a:solidFill>
            </a:endParaRPr>
          </a:p>
          <a:p>
            <a:pPr algn="l"/>
            <a:r>
              <a:rPr lang="zh-CN" altLang="en-US" dirty="0" smtClean="0">
                <a:solidFill>
                  <a:schemeClr val="tx1"/>
                </a:solidFill>
              </a:rPr>
              <a:t>分子</a:t>
            </a:r>
            <a:r>
              <a:rPr lang="zh-CN" altLang="en-US" dirty="0" smtClean="0">
                <a:solidFill>
                  <a:schemeClr val="tx1"/>
                </a:solidFill>
              </a:rPr>
              <a:t>的</a:t>
            </a:r>
            <a:r>
              <a:rPr lang="zh-CN" altLang="en-US" dirty="0" smtClean="0">
                <a:solidFill>
                  <a:schemeClr val="tx1"/>
                </a:solidFill>
              </a:rPr>
              <a:t>极化</a:t>
            </a:r>
            <a:r>
              <a:rPr lang="en-US" altLang="zh-CN" dirty="0" smtClean="0">
                <a:solidFill>
                  <a:schemeClr val="tx1"/>
                </a:solidFill>
              </a:rPr>
              <a:t>——</a:t>
            </a:r>
            <a:r>
              <a:rPr lang="zh-CN" altLang="en-US" dirty="0" smtClean="0">
                <a:solidFill>
                  <a:schemeClr val="tx1"/>
                </a:solidFill>
              </a:rPr>
              <a:t>看极化率</a:t>
            </a:r>
            <a:r>
              <a:rPr lang="en-US" altLang="zh-CN" dirty="0" smtClean="0">
                <a:solidFill>
                  <a:schemeClr val="tx1"/>
                </a:solidFill>
              </a:rPr>
              <a:t> </a:t>
            </a:r>
            <a:r>
              <a:rPr lang="zh-CN" altLang="en-US" dirty="0" smtClean="0">
                <a:solidFill>
                  <a:schemeClr val="tx1"/>
                </a:solidFill>
              </a:rPr>
              <a:t>（变形性与体积密切相关）</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8"/>
          <p:cNvSpPr/>
          <p:nvPr/>
        </p:nvSpPr>
        <p:spPr>
          <a:xfrm>
            <a:off x="304800" y="152400"/>
            <a:ext cx="8382000" cy="2862263"/>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影响因素：</a:t>
            </a:r>
            <a:endParaRPr lang="en-US" altLang="zh-CN" sz="2600" i="0" dirty="0">
              <a:solidFill>
                <a:schemeClr val="tx1"/>
              </a:solidFill>
              <a:latin typeface="Times New Roman" panose="02020603050405020304" pitchFamily="18" charset="0"/>
            </a:endParaRPr>
          </a:p>
          <a:p>
            <a:pPr algn="l">
              <a:lnSpc>
                <a:spcPts val="3600"/>
              </a:lnSpc>
            </a:pPr>
            <a:r>
              <a:rPr lang="en-US" altLang="zh-CN" sz="2600" i="0" dirty="0">
                <a:solidFill>
                  <a:schemeClr val="tx1"/>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外因</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电场越强，产生的诱导偶极也越大，分子的变形越显著；</a:t>
            </a:r>
            <a:endParaRPr lang="en-US" altLang="zh-CN" sz="2600" i="0" dirty="0">
              <a:solidFill>
                <a:schemeClr val="tx1"/>
              </a:solidFill>
              <a:latin typeface="Times New Roman" panose="02020603050405020304" pitchFamily="18" charset="0"/>
            </a:endParaRPr>
          </a:p>
          <a:p>
            <a:pPr algn="l">
              <a:lnSpc>
                <a:spcPts val="3600"/>
              </a:lnSpc>
            </a:pPr>
            <a:r>
              <a:rPr lang="en-US" altLang="zh-CN" sz="2600" i="0" dirty="0">
                <a:solidFill>
                  <a:schemeClr val="tx1"/>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2)</a:t>
            </a:r>
            <a:r>
              <a:rPr lang="zh-CN" altLang="en-US" sz="2600" i="0" dirty="0">
                <a:solidFill>
                  <a:srgbClr val="C00000"/>
                </a:solidFill>
                <a:latin typeface="Times New Roman" panose="02020603050405020304" pitchFamily="18" charset="0"/>
              </a:rPr>
              <a:t>内因</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分子体积越大，所含电子越多，它的变形性</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极化率也越大，如</a:t>
            </a:r>
            <a:endParaRPr lang="en-US" altLang="zh-CN" sz="2600" i="0" dirty="0">
              <a:solidFill>
                <a:schemeClr val="tx1"/>
              </a:solidFill>
              <a:latin typeface="Times New Roman" panose="02020603050405020304" pitchFamily="18" charset="0"/>
            </a:endParaRPr>
          </a:p>
          <a:p>
            <a:pPr>
              <a:lnSpc>
                <a:spcPts val="3600"/>
              </a:lnSpc>
            </a:pPr>
            <a:r>
              <a:rPr lang="el-GR" altLang="zh-CN" sz="2600" i="0" dirty="0">
                <a:solidFill>
                  <a:schemeClr val="tx1"/>
                </a:solidFill>
                <a:latin typeface="Times New Roman" panose="02020603050405020304" pitchFamily="18" charset="0"/>
              </a:rPr>
              <a:t>α</a:t>
            </a:r>
            <a:r>
              <a:rPr lang="en-US" altLang="zh-CN" sz="2600" i="0" dirty="0">
                <a:solidFill>
                  <a:schemeClr val="tx1"/>
                </a:solidFill>
                <a:latin typeface="Times New Roman" panose="02020603050405020304" pitchFamily="18" charset="0"/>
              </a:rPr>
              <a:t>(Br</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a:t>
            </a:r>
            <a:r>
              <a:rPr lang="el-GR" altLang="zh-CN" sz="2600" i="0" dirty="0">
                <a:solidFill>
                  <a:schemeClr val="tx1"/>
                </a:solidFill>
                <a:latin typeface="Times New Roman" panose="02020603050405020304" pitchFamily="18" charset="0"/>
              </a:rPr>
              <a:t>α</a:t>
            </a:r>
            <a:r>
              <a:rPr lang="en-US" altLang="zh-CN" sz="2600" i="0" dirty="0">
                <a:solidFill>
                  <a:schemeClr val="tx1"/>
                </a:solidFill>
                <a:latin typeface="Times New Roman" panose="02020603050405020304" pitchFamily="18" charset="0"/>
              </a:rPr>
              <a:t>(Cl</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     </a:t>
            </a:r>
            <a:r>
              <a:rPr lang="el-GR" altLang="zh-CN" sz="2600" i="0" dirty="0">
                <a:solidFill>
                  <a:schemeClr val="tx1"/>
                </a:solidFill>
                <a:latin typeface="Times New Roman" panose="02020603050405020304" pitchFamily="18" charset="0"/>
              </a:rPr>
              <a:t>α</a:t>
            </a:r>
            <a:r>
              <a:rPr lang="en-US" altLang="zh-CN" sz="2600" i="0" dirty="0">
                <a:solidFill>
                  <a:schemeClr val="tx1"/>
                </a:solidFill>
                <a:latin typeface="Times New Roman" panose="02020603050405020304" pitchFamily="18" charset="0"/>
              </a:rPr>
              <a:t>(H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S) </a:t>
            </a:r>
            <a:r>
              <a:rPr lang="zh-CN" altLang="en-US" sz="2600" i="0" dirty="0">
                <a:solidFill>
                  <a:schemeClr val="tx1"/>
                </a:solidFill>
                <a:latin typeface="Times New Roman" panose="02020603050405020304" pitchFamily="18" charset="0"/>
              </a:rPr>
              <a:t>＞</a:t>
            </a:r>
            <a:r>
              <a:rPr lang="el-GR" altLang="zh-CN" sz="2600" i="0" dirty="0">
                <a:solidFill>
                  <a:schemeClr val="tx1"/>
                </a:solidFill>
                <a:latin typeface="Times New Roman" panose="02020603050405020304" pitchFamily="18" charset="0"/>
              </a:rPr>
              <a:t>α</a:t>
            </a:r>
            <a:r>
              <a:rPr lang="en-US" altLang="zh-CN" sz="2600" i="0" dirty="0">
                <a:solidFill>
                  <a:schemeClr val="tx1"/>
                </a:solidFill>
                <a:latin typeface="Times New Roman" panose="02020603050405020304" pitchFamily="18" charset="0"/>
              </a:rPr>
              <a:t>(H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 </a:t>
            </a:r>
            <a:endParaRPr lang="zh-CN" altLang="en-US" sz="2600" i="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30" name="Text Box 6"/>
          <p:cNvSpPr txBox="1"/>
          <p:nvPr/>
        </p:nvSpPr>
        <p:spPr>
          <a:xfrm>
            <a:off x="0" y="0"/>
            <a:ext cx="3657600" cy="549275"/>
          </a:xfrm>
          <a:prstGeom prst="rect">
            <a:avLst/>
          </a:prstGeom>
          <a:noFill/>
          <a:ln w="38100">
            <a:noFill/>
          </a:ln>
        </p:spPr>
        <p:txBody>
          <a:bodyPr>
            <a:spAutoFit/>
          </a:bodyPr>
          <a:lstStyle/>
          <a:p>
            <a:pPr algn="l" eaLnBrk="0" hangingPunct="0"/>
            <a:r>
              <a:rPr lang="zh-CN" altLang="en-US" sz="3000" i="0" dirty="0">
                <a:solidFill>
                  <a:srgbClr val="CC3300"/>
                </a:solidFill>
                <a:latin typeface="Times New Roman" panose="02020603050405020304" pitchFamily="18" charset="0"/>
              </a:rPr>
              <a:t>二、  分子间作用力</a:t>
            </a:r>
          </a:p>
        </p:txBody>
      </p:sp>
      <p:grpSp>
        <p:nvGrpSpPr>
          <p:cNvPr id="2" name="组合 6"/>
          <p:cNvGrpSpPr/>
          <p:nvPr/>
        </p:nvGrpSpPr>
        <p:grpSpPr>
          <a:xfrm>
            <a:off x="228600" y="609600"/>
            <a:ext cx="8763000" cy="2498725"/>
            <a:chOff x="228600" y="762000"/>
            <a:chExt cx="8763000" cy="2498369"/>
          </a:xfrm>
        </p:grpSpPr>
        <p:sp>
          <p:nvSpPr>
            <p:cNvPr id="77831" name="Text Box 5"/>
            <p:cNvSpPr txBox="1"/>
            <p:nvPr/>
          </p:nvSpPr>
          <p:spPr>
            <a:xfrm>
              <a:off x="228600" y="762000"/>
              <a:ext cx="8763000" cy="1477328"/>
            </a:xfrm>
            <a:prstGeom prst="rect">
              <a:avLst/>
            </a:prstGeom>
            <a:noFill/>
            <a:ln w="9525">
              <a:noFill/>
            </a:ln>
          </p:spPr>
          <p:txBody>
            <a:bodyPr>
              <a:spAutoFit/>
            </a:bodyPr>
            <a:lstStyle/>
            <a:p>
              <a:pPr algn="l">
                <a:lnSpc>
                  <a:spcPts val="3600"/>
                </a:lnSpc>
                <a:spcBef>
                  <a:spcPct val="50000"/>
                </a:spcBef>
              </a:pPr>
              <a:r>
                <a:rPr lang="en-US" altLang="zh-CN" sz="2600" i="0" dirty="0">
                  <a:solidFill>
                    <a:srgbClr val="0000FF"/>
                  </a:solidFill>
                  <a:latin typeface="楷体_GB2312" pitchFamily="49" charset="-122"/>
                </a:rPr>
                <a:t>    </a:t>
              </a:r>
              <a:r>
                <a:rPr lang="en-US" altLang="zh-CN" sz="2600" dirty="0">
                  <a:solidFill>
                    <a:srgbClr val="CC3300"/>
                  </a:solidFill>
                  <a:latin typeface="宋体" panose="02010600030101010101" pitchFamily="2" charset="-122"/>
                  <a:ea typeface="宋体" panose="02010600030101010101" pitchFamily="2" charset="-122"/>
                </a:rPr>
                <a:t>1</a:t>
              </a:r>
              <a:r>
                <a:rPr lang="zh-CN" altLang="en-US" sz="2600" dirty="0">
                  <a:solidFill>
                    <a:srgbClr val="CC3300"/>
                  </a:solidFill>
                  <a:latin typeface="宋体" panose="02010600030101010101" pitchFamily="2" charset="-122"/>
                  <a:ea typeface="宋体" panose="02010600030101010101" pitchFamily="2" charset="-122"/>
                </a:rPr>
                <a:t>、色散力 </a:t>
              </a:r>
              <a:r>
                <a:rPr lang="zh-CN" altLang="en-US" sz="2600" i="0" dirty="0">
                  <a:solidFill>
                    <a:schemeClr val="tx1"/>
                  </a:solidFill>
                  <a:latin typeface="楷体_GB2312" pitchFamily="49" charset="-122"/>
                </a:rPr>
                <a:t>── 分子在运动过程中经常会发生正电荷重心和负电荷重心的瞬时变化。这种变化产生了瞬时偶极</a:t>
              </a:r>
              <a:r>
                <a:rPr lang="en-US" altLang="zh-CN" sz="2600" i="0" dirty="0">
                  <a:solidFill>
                    <a:schemeClr val="tx1"/>
                  </a:solidFill>
                  <a:latin typeface="楷体_GB2312" pitchFamily="49" charset="-122"/>
                </a:rPr>
                <a:t>,</a:t>
              </a:r>
              <a:r>
                <a:rPr lang="zh-CN" altLang="en-US" sz="2600" i="0" dirty="0">
                  <a:solidFill>
                    <a:schemeClr val="tx1"/>
                  </a:solidFill>
                  <a:latin typeface="楷体_GB2312" pitchFamily="49" charset="-122"/>
                </a:rPr>
                <a:t>由瞬时偶极产生的作用力称为色散力</a:t>
              </a:r>
              <a:r>
                <a:rPr lang="en-US" altLang="zh-CN" sz="2600" i="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dispersion force</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楷体_GB2312" pitchFamily="49" charset="-122"/>
                </a:rPr>
                <a:t>。</a:t>
              </a:r>
            </a:p>
          </p:txBody>
        </p:sp>
        <p:sp>
          <p:nvSpPr>
            <p:cNvPr id="77832" name="Rectangle 7"/>
            <p:cNvSpPr/>
            <p:nvPr/>
          </p:nvSpPr>
          <p:spPr>
            <a:xfrm>
              <a:off x="304800" y="2286000"/>
              <a:ext cx="8610600" cy="974369"/>
            </a:xfrm>
            <a:prstGeom prst="rect">
              <a:avLst/>
            </a:prstGeom>
            <a:noFill/>
            <a:ln w="9525">
              <a:noFill/>
            </a:ln>
          </p:spPr>
          <p:txBody>
            <a:bodyPr anchor="ctr" anchorCtr="0">
              <a:spAutoFit/>
            </a:bodyPr>
            <a:lstStyle/>
            <a:p>
              <a:pPr algn="l">
                <a:lnSpc>
                  <a:spcPts val="3600"/>
                </a:lnSpc>
              </a:pPr>
              <a:r>
                <a:rPr lang="en-US" altLang="zh-CN" sz="2600" i="0" dirty="0">
                  <a:solidFill>
                    <a:srgbClr val="0000FF"/>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当两个或多个非极性分子在一定条件下充分靠近时，就会由于瞬时偶极而发生异极相吸的作用，如图：</a:t>
              </a:r>
              <a:endParaRPr lang="zh-CN" altLang="en-US" sz="2600" dirty="0">
                <a:solidFill>
                  <a:schemeClr val="tx1"/>
                </a:solidFill>
                <a:latin typeface="Times New Roman" panose="02020603050405020304" pitchFamily="18" charset="0"/>
              </a:endParaRPr>
            </a:p>
          </p:txBody>
        </p:sp>
      </p:grpSp>
      <p:grpSp>
        <p:nvGrpSpPr>
          <p:cNvPr id="3" name="组合 7"/>
          <p:cNvGrpSpPr/>
          <p:nvPr/>
        </p:nvGrpSpPr>
        <p:grpSpPr>
          <a:xfrm>
            <a:off x="228600" y="3200400"/>
            <a:ext cx="8763000" cy="3276600"/>
            <a:chOff x="228600" y="3352800"/>
            <a:chExt cx="8763000" cy="3276600"/>
          </a:xfrm>
        </p:grpSpPr>
        <p:pic>
          <p:nvPicPr>
            <p:cNvPr id="77829" name="Picture 8"/>
            <p:cNvPicPr>
              <a:picLocks noChangeAspect="1"/>
            </p:cNvPicPr>
            <p:nvPr/>
          </p:nvPicPr>
          <p:blipFill>
            <a:blip r:embed="rId2"/>
            <a:stretch>
              <a:fillRect/>
            </a:stretch>
          </p:blipFill>
          <p:spPr>
            <a:xfrm>
              <a:off x="228600" y="3352800"/>
              <a:ext cx="6553200" cy="3276600"/>
            </a:xfrm>
            <a:prstGeom prst="rect">
              <a:avLst/>
            </a:prstGeom>
            <a:noFill/>
            <a:ln w="9525">
              <a:noFill/>
            </a:ln>
          </p:spPr>
        </p:pic>
        <p:sp>
          <p:nvSpPr>
            <p:cNvPr id="77830" name="AutoShape 9"/>
            <p:cNvSpPr/>
            <p:nvPr/>
          </p:nvSpPr>
          <p:spPr>
            <a:xfrm>
              <a:off x="7239000" y="4114800"/>
              <a:ext cx="1752600" cy="2482850"/>
            </a:xfrm>
            <a:prstGeom prst="wedgeRectCallout">
              <a:avLst>
                <a:gd name="adj1" fmla="val -87046"/>
                <a:gd name="adj2" fmla="val -32801"/>
              </a:avLst>
            </a:prstGeom>
            <a:solidFill>
              <a:srgbClr val="66FF33"/>
            </a:solidFill>
            <a:ln w="9525" cap="flat" cmpd="sng">
              <a:solidFill>
                <a:srgbClr val="FF0000"/>
              </a:solidFill>
              <a:prstDash val="solid"/>
              <a:miter/>
              <a:headEnd type="none" w="med" len="med"/>
              <a:tailEnd type="none" w="med" len="med"/>
            </a:ln>
          </p:spPr>
          <p:txBody>
            <a:bodyPr>
              <a:spAutoFit/>
            </a:bodyPr>
            <a:lstStyle/>
            <a:p>
              <a:pPr algn="l">
                <a:spcBef>
                  <a:spcPct val="50000"/>
                </a:spcBef>
              </a:pPr>
              <a:r>
                <a:rPr lang="zh-CN" altLang="en-US" sz="2600" b="0" i="0" dirty="0">
                  <a:solidFill>
                    <a:srgbClr val="0000FF"/>
                  </a:solidFill>
                  <a:latin typeface="Times New Roman" panose="02020603050405020304" pitchFamily="18" charset="0"/>
                </a:rPr>
                <a:t>相同结构的分子，色散力随分子量的增大而增大</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05830"/>
                                        </p:tgtEl>
                                        <p:attrNameLst>
                                          <p:attrName>style.visibility</p:attrName>
                                        </p:attrNameLst>
                                      </p:cBhvr>
                                      <p:to>
                                        <p:strVal val="visible"/>
                                      </p:to>
                                    </p:set>
                                    <p:animEffect transition="in" filter="diamond(in)">
                                      <p:cBhvr>
                                        <p:cTn id="7" dur="1000"/>
                                        <p:tgtEl>
                                          <p:spTgt spid="2058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p:nvPr/>
        </p:nvSpPr>
        <p:spPr>
          <a:xfrm>
            <a:off x="1752600" y="152400"/>
            <a:ext cx="5715000" cy="488950"/>
          </a:xfrm>
          <a:prstGeom prst="rect">
            <a:avLst/>
          </a:prstGeom>
          <a:solidFill>
            <a:srgbClr val="FF99CC"/>
          </a:solidFill>
          <a:ln w="9525">
            <a:noFill/>
          </a:ln>
        </p:spPr>
        <p:txBody>
          <a:bodyPr>
            <a:spAutoFit/>
          </a:bodyPr>
          <a:lstStyle/>
          <a:p>
            <a:pPr>
              <a:spcBef>
                <a:spcPct val="50000"/>
              </a:spcBef>
            </a:pPr>
            <a:r>
              <a:rPr lang="zh-CN" altLang="en-US" sz="2600" i="0" dirty="0">
                <a:solidFill>
                  <a:schemeClr val="tx1"/>
                </a:solidFill>
                <a:latin typeface="楷体_GB2312" pitchFamily="49" charset="-122"/>
              </a:rPr>
              <a:t>色散力存在于一切分子中</a:t>
            </a:r>
            <a:endParaRPr lang="zh-CN" altLang="en-US" sz="2600" b="0" i="0" dirty="0">
              <a:solidFill>
                <a:schemeClr val="tx1"/>
              </a:solidFill>
              <a:latin typeface="楷体_GB2312" pitchFamily="49" charset="-122"/>
            </a:endParaRPr>
          </a:p>
        </p:txBody>
      </p:sp>
      <p:grpSp>
        <p:nvGrpSpPr>
          <p:cNvPr id="2" name="组合 5"/>
          <p:cNvGrpSpPr/>
          <p:nvPr/>
        </p:nvGrpSpPr>
        <p:grpSpPr>
          <a:xfrm>
            <a:off x="228600" y="838200"/>
            <a:ext cx="8686800" cy="3810000"/>
            <a:chOff x="228600" y="838200"/>
            <a:chExt cx="8686800" cy="3810000"/>
          </a:xfrm>
        </p:grpSpPr>
        <p:sp>
          <p:nvSpPr>
            <p:cNvPr id="174086" name="Text Box 6"/>
            <p:cNvSpPr txBox="1">
              <a:spLocks noChangeArrowheads="1"/>
            </p:cNvSpPr>
            <p:nvPr/>
          </p:nvSpPr>
          <p:spPr bwMode="auto">
            <a:xfrm>
              <a:off x="228600" y="838200"/>
              <a:ext cx="8686800" cy="1436688"/>
            </a:xfrm>
            <a:prstGeom prst="rect">
              <a:avLst/>
            </a:prstGeom>
            <a:noFill/>
            <a:ln w="9525">
              <a:noFill/>
              <a:miter lim="800000"/>
            </a:ln>
          </p:spPr>
          <p:txBody>
            <a:bodyPr>
              <a:spAutoFit/>
            </a:bodyPr>
            <a:lstStyle/>
            <a:p>
              <a:pPr marR="0" algn="l" defTabSz="914400">
                <a:lnSpc>
                  <a:spcPts val="3600"/>
                </a:lnSpc>
                <a:buClrTx/>
                <a:buSzTx/>
                <a:buFontTx/>
                <a:buNone/>
                <a:defRPr/>
              </a:pPr>
              <a:r>
                <a:rPr kumimoji="1" lang="en-US" altLang="zh-CN" sz="2600" kern="1200" cap="none" spc="0" normalizeH="0" baseline="0" noProof="0" dirty="0">
                  <a:solidFill>
                    <a:schemeClr val="tx1"/>
                  </a:solidFill>
                  <a:latin typeface="+mj-lt"/>
                  <a:ea typeface="宋体" panose="02010600030101010101" pitchFamily="2" charset="-122"/>
                  <a:cs typeface="+mn-cs"/>
                </a:rPr>
                <a:t>        </a:t>
              </a:r>
              <a:r>
                <a:rPr kumimoji="1" lang="en-US" altLang="zh-CN" sz="2600" kern="1200" cap="none" spc="0" normalizeH="0" baseline="0" noProof="0" dirty="0">
                  <a:solidFill>
                    <a:srgbClr val="C00000"/>
                  </a:solidFill>
                  <a:latin typeface="+mj-lt"/>
                  <a:ea typeface="宋体" panose="02010600030101010101" pitchFamily="2" charset="-122"/>
                  <a:cs typeface="+mn-cs"/>
                </a:rPr>
                <a:t>2</a:t>
              </a:r>
              <a:r>
                <a:rPr kumimoji="1" lang="zh-CN" altLang="en-US" sz="2600" kern="1200" cap="none" spc="0" normalizeH="0" baseline="0" noProof="0" dirty="0">
                  <a:solidFill>
                    <a:srgbClr val="C00000"/>
                  </a:solidFill>
                  <a:latin typeface="+mj-lt"/>
                  <a:ea typeface="宋体" panose="02010600030101010101" pitchFamily="2" charset="-122"/>
                  <a:cs typeface="+mn-cs"/>
                </a:rPr>
                <a:t>、诱导力 </a:t>
              </a:r>
              <a:r>
                <a:rPr kumimoji="1" lang="zh-CN" altLang="en-US" sz="2600" i="0" kern="1200" cap="none" spc="0" normalizeH="0" baseline="0" noProof="0" dirty="0">
                  <a:solidFill>
                    <a:schemeClr val="tx1"/>
                  </a:solidFill>
                  <a:latin typeface="+mj-lt"/>
                  <a:ea typeface="楷体_GB2312" pitchFamily="49" charset="-122"/>
                  <a:cs typeface="+mn-cs"/>
                </a:rPr>
                <a:t>── 非极性分子在极性分子的作用下</a:t>
              </a:r>
              <a:r>
                <a:rPr kumimoji="1" lang="en-US" altLang="zh-CN" sz="2600" i="0" kern="1200" cap="none" spc="0" normalizeH="0" baseline="0" noProof="0" dirty="0">
                  <a:solidFill>
                    <a:schemeClr val="tx1"/>
                  </a:solidFill>
                  <a:latin typeface="+mj-lt"/>
                  <a:ea typeface="楷体_GB2312" pitchFamily="49" charset="-122"/>
                  <a:cs typeface="+mn-cs"/>
                </a:rPr>
                <a:t>,</a:t>
              </a:r>
              <a:r>
                <a:rPr kumimoji="1" lang="zh-CN" altLang="en-US" sz="2600" i="0" kern="1200" cap="none" spc="0" normalizeH="0" baseline="0" noProof="0" dirty="0">
                  <a:solidFill>
                    <a:schemeClr val="tx1"/>
                  </a:solidFill>
                  <a:latin typeface="+mj-lt"/>
                  <a:ea typeface="楷体_GB2312" pitchFamily="49" charset="-122"/>
                  <a:cs typeface="+mn-cs"/>
                </a:rPr>
                <a:t>会产生偶极</a:t>
              </a:r>
              <a:r>
                <a:rPr kumimoji="1" lang="en-US" altLang="zh-CN" sz="2600" i="0" kern="1200" cap="none" spc="0" normalizeH="0" baseline="0" noProof="0" dirty="0">
                  <a:solidFill>
                    <a:schemeClr val="tx1"/>
                  </a:solidFill>
                  <a:latin typeface="+mj-lt"/>
                  <a:ea typeface="楷体_GB2312" pitchFamily="49" charset="-122"/>
                  <a:cs typeface="+mn-cs"/>
                </a:rPr>
                <a:t>,</a:t>
              </a:r>
              <a:r>
                <a:rPr kumimoji="1" lang="zh-CN" altLang="en-US" sz="2600" i="0" kern="1200" cap="none" spc="0" normalizeH="0" baseline="0" noProof="0" dirty="0">
                  <a:solidFill>
                    <a:schemeClr val="tx1"/>
                  </a:solidFill>
                  <a:latin typeface="+mj-lt"/>
                  <a:ea typeface="楷体_GB2312" pitchFamily="49" charset="-122"/>
                  <a:cs typeface="+mn-cs"/>
                </a:rPr>
                <a:t>这种偶极称诱导偶极</a:t>
              </a:r>
              <a:r>
                <a:rPr kumimoji="1" lang="en-US" altLang="zh-CN" sz="2600" i="0" kern="1200" cap="none" spc="0" normalizeH="0" baseline="0" noProof="0" dirty="0">
                  <a:solidFill>
                    <a:schemeClr val="tx1"/>
                  </a:solidFill>
                  <a:latin typeface="+mj-lt"/>
                  <a:ea typeface="楷体_GB2312" pitchFamily="49" charset="-122"/>
                  <a:cs typeface="+mn-cs"/>
                </a:rPr>
                <a:t>,</a:t>
              </a:r>
              <a:r>
                <a:rPr kumimoji="1" lang="zh-CN" altLang="en-US" sz="2600" i="0" kern="1200" cap="none" spc="0" normalizeH="0" baseline="0" noProof="0" dirty="0">
                  <a:solidFill>
                    <a:schemeClr val="tx1"/>
                  </a:solidFill>
                  <a:latin typeface="+mj-lt"/>
                  <a:ea typeface="楷体_GB2312" pitchFamily="49" charset="-122"/>
                  <a:cs typeface="+mn-cs"/>
                </a:rPr>
                <a:t>诱导偶极与极性分子的固有偶极间的作用称为诱导力</a:t>
              </a:r>
              <a:r>
                <a:rPr kumimoji="1" lang="en-US" altLang="zh-CN" sz="2600" kern="1200" cap="none" spc="0" normalizeH="0" baseline="0" noProof="0" dirty="0">
                  <a:solidFill>
                    <a:schemeClr val="tx1"/>
                  </a:solidFill>
                  <a:latin typeface="+mj-lt"/>
                  <a:ea typeface="楷体_GB2312" pitchFamily="49" charset="-122"/>
                  <a:cs typeface="+mn-cs"/>
                </a:rPr>
                <a:t>(induced force)</a:t>
              </a:r>
              <a:r>
                <a:rPr kumimoji="1" lang="zh-CN" altLang="en-US" sz="2600" i="0" kern="1200" cap="none" spc="0" normalizeH="0" baseline="0" noProof="0" dirty="0">
                  <a:solidFill>
                    <a:schemeClr val="tx1"/>
                  </a:solidFill>
                  <a:latin typeface="+mj-lt"/>
                  <a:ea typeface="楷体_GB2312" pitchFamily="49" charset="-122"/>
                  <a:cs typeface="+mn-cs"/>
                </a:rPr>
                <a:t>。</a:t>
              </a:r>
            </a:p>
          </p:txBody>
        </p:sp>
        <p:pic>
          <p:nvPicPr>
            <p:cNvPr id="78854" name="Picture 7" descr="HWOCRTEMP_ROC80"/>
            <p:cNvPicPr>
              <a:picLocks noChangeAspect="1"/>
            </p:cNvPicPr>
            <p:nvPr/>
          </p:nvPicPr>
          <p:blipFill>
            <a:blip r:embed="rId3"/>
            <a:srcRect b="33064"/>
            <a:stretch>
              <a:fillRect/>
            </a:stretch>
          </p:blipFill>
          <p:spPr>
            <a:xfrm>
              <a:off x="609600" y="2209800"/>
              <a:ext cx="8077200" cy="2438400"/>
            </a:xfrm>
            <a:prstGeom prst="rect">
              <a:avLst/>
            </a:prstGeom>
            <a:noFill/>
            <a:ln w="9525">
              <a:noFill/>
            </a:ln>
          </p:spPr>
        </p:pic>
      </p:grpSp>
      <p:sp>
        <p:nvSpPr>
          <p:cNvPr id="174089" name="Text Box 9"/>
          <p:cNvSpPr txBox="1"/>
          <p:nvPr/>
        </p:nvSpPr>
        <p:spPr>
          <a:xfrm>
            <a:off x="381000" y="4724400"/>
            <a:ext cx="8305800" cy="957263"/>
          </a:xfrm>
          <a:prstGeom prst="rect">
            <a:avLst/>
          </a:prstGeom>
          <a:solidFill>
            <a:srgbClr val="FF99CC"/>
          </a:solidFill>
          <a:ln w="9525">
            <a:noFill/>
          </a:ln>
        </p:spPr>
        <p:txBody>
          <a:bodyPr>
            <a:spAutoFit/>
          </a:bodyPr>
          <a:lstStyle/>
          <a:p>
            <a:pPr algn="l">
              <a:lnSpc>
                <a:spcPts val="3600"/>
              </a:lnSpc>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极性分子和非极性分子间存在诱导力</a:t>
            </a:r>
            <a:r>
              <a:rPr lang="en-US" altLang="zh-CN" sz="2600" i="0" dirty="0">
                <a:solidFill>
                  <a:schemeClr val="tx1"/>
                </a:solidFill>
                <a:latin typeface="楷体_GB2312" pitchFamily="49" charset="-122"/>
              </a:rPr>
              <a:t>;</a:t>
            </a:r>
          </a:p>
          <a:p>
            <a:pPr algn="l">
              <a:lnSpc>
                <a:spcPts val="3600"/>
              </a:lnSpc>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极性分子间也存在诱导力。</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wipe(left)">
                                      <p:cBhvr>
                                        <p:cTn id="7" dur="1000"/>
                                        <p:tgtEl>
                                          <p:spTgt spid="1740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089"/>
                                        </p:tgtEl>
                                        <p:attrNameLst>
                                          <p:attrName>style.visibility</p:attrName>
                                        </p:attrNameLst>
                                      </p:cBhvr>
                                      <p:to>
                                        <p:strVal val="visible"/>
                                      </p:to>
                                    </p:set>
                                    <p:animEffect transition="in" filter="wipe(left)">
                                      <p:cBhvr>
                                        <p:cTn id="17" dur="1000"/>
                                        <p:tgtEl>
                                          <p:spTgt spid="174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nimBg="1"/>
      <p:bldP spid="17408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a:xfrm>
            <a:off x="0" y="152400"/>
            <a:ext cx="8915400" cy="3733800"/>
            <a:chOff x="0" y="152400"/>
            <a:chExt cx="8915400" cy="3733800"/>
          </a:xfrm>
        </p:grpSpPr>
        <p:pic>
          <p:nvPicPr>
            <p:cNvPr id="79878" name="Picture 3" descr="HWOCRTEMP_ROC90"/>
            <p:cNvPicPr>
              <a:picLocks noChangeAspect="1"/>
            </p:cNvPicPr>
            <p:nvPr/>
          </p:nvPicPr>
          <p:blipFill>
            <a:blip r:embed="rId3"/>
            <a:srcRect b="22630"/>
            <a:stretch>
              <a:fillRect/>
            </a:stretch>
          </p:blipFill>
          <p:spPr>
            <a:xfrm>
              <a:off x="381000" y="1524000"/>
              <a:ext cx="8458200" cy="2362200"/>
            </a:xfrm>
            <a:prstGeom prst="rect">
              <a:avLst/>
            </a:prstGeom>
            <a:noFill/>
            <a:ln w="9525">
              <a:noFill/>
            </a:ln>
          </p:spPr>
        </p:pic>
        <p:sp>
          <p:nvSpPr>
            <p:cNvPr id="173062" name="Text Box 6"/>
            <p:cNvSpPr txBox="1">
              <a:spLocks noChangeArrowheads="1"/>
            </p:cNvSpPr>
            <p:nvPr/>
          </p:nvSpPr>
          <p:spPr bwMode="auto">
            <a:xfrm>
              <a:off x="0" y="152400"/>
              <a:ext cx="8915400" cy="1436688"/>
            </a:xfrm>
            <a:prstGeom prst="rect">
              <a:avLst/>
            </a:prstGeom>
            <a:noFill/>
            <a:ln w="9525">
              <a:noFill/>
              <a:miter lim="800000"/>
            </a:ln>
          </p:spPr>
          <p:txBody>
            <a:bodyPr>
              <a:spAutoFit/>
            </a:bodyPr>
            <a:lstStyle/>
            <a:p>
              <a:pPr marR="0" algn="l" defTabSz="914400">
                <a:lnSpc>
                  <a:spcPts val="3600"/>
                </a:lnSpc>
                <a:spcBef>
                  <a:spcPct val="50000"/>
                </a:spcBef>
                <a:buClrTx/>
                <a:buSzTx/>
                <a:buFontTx/>
                <a:buNone/>
                <a:defRPr/>
              </a:pPr>
              <a:r>
                <a:rPr kumimoji="1" lang="en-US" altLang="zh-CN" sz="2600" i="0" kern="1200" cap="none" spc="0" normalizeH="0" baseline="0" noProof="0" dirty="0">
                  <a:solidFill>
                    <a:srgbClr val="0000FF"/>
                  </a:solidFill>
                  <a:latin typeface="+mj-lt"/>
                  <a:ea typeface="宋体" panose="02010600030101010101" pitchFamily="2" charset="-122"/>
                  <a:cs typeface="+mn-cs"/>
                </a:rPr>
                <a:t>         </a:t>
              </a:r>
              <a:r>
                <a:rPr kumimoji="1" lang="en-US" altLang="zh-CN" sz="2600" kern="1200" cap="none" spc="0" normalizeH="0" baseline="0" noProof="0" dirty="0">
                  <a:solidFill>
                    <a:srgbClr val="CC3300"/>
                  </a:solidFill>
                  <a:latin typeface="+mj-lt"/>
                  <a:ea typeface="宋体" panose="02010600030101010101" pitchFamily="2" charset="-122"/>
                  <a:cs typeface="+mn-cs"/>
                </a:rPr>
                <a:t>2</a:t>
              </a:r>
              <a:r>
                <a:rPr kumimoji="1" lang="zh-CN" altLang="en-US" sz="2600" kern="1200" cap="none" spc="0" normalizeH="0" baseline="0" noProof="0" dirty="0">
                  <a:solidFill>
                    <a:srgbClr val="CC3300"/>
                  </a:solidFill>
                  <a:latin typeface="+mj-lt"/>
                  <a:ea typeface="宋体" panose="02010600030101010101" pitchFamily="2" charset="-122"/>
                  <a:cs typeface="+mn-cs"/>
                </a:rPr>
                <a:t>、取向力</a:t>
              </a:r>
              <a:r>
                <a:rPr kumimoji="1" lang="zh-CN" altLang="en-US" sz="2600" kern="1200" cap="none" spc="0" normalizeH="0" baseline="0" noProof="0" dirty="0">
                  <a:solidFill>
                    <a:srgbClr val="0000FF"/>
                  </a:solidFill>
                  <a:latin typeface="+mj-lt"/>
                  <a:ea typeface="宋体" panose="02010600030101010101" pitchFamily="2" charset="-122"/>
                  <a:cs typeface="+mn-cs"/>
                </a:rPr>
                <a:t> </a:t>
              </a:r>
              <a:r>
                <a:rPr kumimoji="1" lang="zh-CN" altLang="en-US" sz="2600" i="0" kern="1200" cap="none" spc="0" normalizeH="0" baseline="0" noProof="0" dirty="0">
                  <a:solidFill>
                    <a:schemeClr val="tx1"/>
                  </a:solidFill>
                  <a:latin typeface="+mj-lt"/>
                  <a:ea typeface="楷体_GB2312" pitchFamily="49" charset="-122"/>
                  <a:cs typeface="+mn-cs"/>
                </a:rPr>
                <a:t>── 极性分子间的偶极定向作用力称为取向力</a:t>
              </a:r>
              <a:r>
                <a:rPr kumimoji="1" lang="en-US" altLang="zh-CN" sz="2600" i="0" kern="1200" cap="none" spc="0" normalizeH="0" baseline="0" noProof="0" dirty="0">
                  <a:solidFill>
                    <a:schemeClr val="tx1"/>
                  </a:solidFill>
                  <a:latin typeface="+mj-lt"/>
                  <a:ea typeface="楷体_GB2312" pitchFamily="49" charset="-122"/>
                  <a:cs typeface="+mn-cs"/>
                </a:rPr>
                <a:t>(tropism  force)</a:t>
              </a:r>
              <a:r>
                <a:rPr kumimoji="1" lang="zh-CN" altLang="en-US" sz="2600" i="0" kern="1200" cap="none" spc="0" normalizeH="0" baseline="0" noProof="0" dirty="0">
                  <a:solidFill>
                    <a:schemeClr val="tx1"/>
                  </a:solidFill>
                  <a:latin typeface="+mj-lt"/>
                  <a:ea typeface="楷体_GB2312" pitchFamily="49" charset="-122"/>
                  <a:cs typeface="+mn-cs"/>
                </a:rPr>
                <a:t>。这种力只存在于极性分子之间。分子的极性越大</a:t>
              </a:r>
              <a:r>
                <a:rPr kumimoji="1" lang="en-US" altLang="zh-CN" sz="2600" i="0" kern="1200" cap="none" spc="0" normalizeH="0" baseline="0" noProof="0" dirty="0">
                  <a:solidFill>
                    <a:schemeClr val="tx1"/>
                  </a:solidFill>
                  <a:latin typeface="+mj-lt"/>
                  <a:ea typeface="楷体_GB2312" pitchFamily="49" charset="-122"/>
                  <a:cs typeface="+mn-cs"/>
                </a:rPr>
                <a:t>,</a:t>
              </a:r>
              <a:r>
                <a:rPr kumimoji="1" lang="zh-CN" altLang="en-US" sz="2600" i="0" kern="1200" cap="none" spc="0" normalizeH="0" baseline="0" noProof="0" dirty="0">
                  <a:solidFill>
                    <a:schemeClr val="tx1"/>
                  </a:solidFill>
                  <a:latin typeface="+mj-lt"/>
                  <a:ea typeface="楷体_GB2312" pitchFamily="49" charset="-122"/>
                  <a:cs typeface="+mn-cs"/>
                </a:rPr>
                <a:t>取向力越大。</a:t>
              </a:r>
            </a:p>
          </p:txBody>
        </p:sp>
      </p:grpSp>
      <p:grpSp>
        <p:nvGrpSpPr>
          <p:cNvPr id="3" name="组合 6"/>
          <p:cNvGrpSpPr/>
          <p:nvPr/>
        </p:nvGrpSpPr>
        <p:grpSpPr>
          <a:xfrm>
            <a:off x="152400" y="3962400"/>
            <a:ext cx="8809038" cy="2365375"/>
            <a:chOff x="152400" y="4267200"/>
            <a:chExt cx="8809038" cy="2365375"/>
          </a:xfrm>
        </p:grpSpPr>
        <p:sp>
          <p:nvSpPr>
            <p:cNvPr id="79876" name="Rectangle 5"/>
            <p:cNvSpPr/>
            <p:nvPr/>
          </p:nvSpPr>
          <p:spPr>
            <a:xfrm>
              <a:off x="152400" y="4953000"/>
              <a:ext cx="8809038" cy="1679575"/>
            </a:xfrm>
            <a:prstGeom prst="rect">
              <a:avLst/>
            </a:prstGeom>
            <a:solidFill>
              <a:srgbClr val="FF99CC"/>
            </a:solidFill>
            <a:ln w="9525">
              <a:noFill/>
            </a:ln>
          </p:spPr>
          <p:txBody>
            <a:bodyPr anchor="ctr" anchorCtr="0">
              <a:spAutoFit/>
            </a:bodyPr>
            <a:lstStyle/>
            <a:p>
              <a:r>
                <a:rPr lang="zh-CN" altLang="en-US" sz="2600" i="0" dirty="0">
                  <a:solidFill>
                    <a:schemeClr val="tx1"/>
                  </a:solidFill>
                  <a:latin typeface="Times New Roman" panose="02020603050405020304" pitchFamily="18" charset="0"/>
                </a:rPr>
                <a:t>在非极性分子之间只有色散力；</a:t>
              </a:r>
            </a:p>
            <a:p>
              <a:pPr algn="l"/>
              <a:r>
                <a:rPr lang="zh-CN" altLang="en-US" sz="2600" i="0" dirty="0">
                  <a:solidFill>
                    <a:schemeClr val="tx1"/>
                  </a:solidFill>
                  <a:latin typeface="Times New Roman" panose="02020603050405020304" pitchFamily="18" charset="0"/>
                </a:rPr>
                <a:t>        在极性分子和非极性分子之间有诱导力和色散力；</a:t>
              </a:r>
            </a:p>
            <a:p>
              <a:r>
                <a:rPr lang="zh-CN" altLang="en-US" sz="2600" i="0" dirty="0">
                  <a:solidFill>
                    <a:schemeClr val="tx1"/>
                  </a:solidFill>
                  <a:latin typeface="Times New Roman" panose="02020603050405020304" pitchFamily="18" charset="0"/>
                </a:rPr>
                <a:t>在极性分子和极性分子之间有取向力、诱导力和色散力。这些力本质上都是静电引力。</a:t>
              </a:r>
            </a:p>
          </p:txBody>
        </p:sp>
        <p:sp>
          <p:nvSpPr>
            <p:cNvPr id="79877" name="Rectangle 7"/>
            <p:cNvSpPr/>
            <p:nvPr/>
          </p:nvSpPr>
          <p:spPr>
            <a:xfrm>
              <a:off x="228600" y="4267200"/>
              <a:ext cx="1925638" cy="488950"/>
            </a:xfrm>
            <a:prstGeom prst="rect">
              <a:avLst/>
            </a:prstGeom>
            <a:noFill/>
            <a:ln w="9525">
              <a:noFill/>
            </a:ln>
          </p:spPr>
          <p:txBody>
            <a:bodyPr wrap="none">
              <a:spAutoFit/>
            </a:bodyPr>
            <a:lstStyle/>
            <a:p>
              <a:r>
                <a:rPr lang="en-US" altLang="zh-CN" sz="2600" dirty="0">
                  <a:solidFill>
                    <a:srgbClr val="CC3300"/>
                  </a:solidFill>
                  <a:latin typeface="Times New Roman" panose="02020603050405020304" pitchFamily="18" charset="0"/>
                </a:rPr>
                <a:t> </a:t>
              </a:r>
              <a:r>
                <a:rPr lang="zh-CN" altLang="en-US" sz="2600" i="0" dirty="0">
                  <a:solidFill>
                    <a:srgbClr val="CC3300"/>
                  </a:solidFill>
                  <a:latin typeface="Times New Roman" panose="02020603050405020304" pitchFamily="18" charset="0"/>
                </a:rPr>
                <a:t>综上所述：</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p:nvPr/>
        </p:nvSpPr>
        <p:spPr>
          <a:xfrm>
            <a:off x="152400" y="152400"/>
            <a:ext cx="8788400" cy="1938338"/>
          </a:xfrm>
          <a:prstGeom prst="rect">
            <a:avLst/>
          </a:prstGeom>
          <a:solidFill>
            <a:schemeClr val="bg1"/>
          </a:solidFill>
          <a:ln w="9525">
            <a:noFill/>
          </a:ln>
        </p:spPr>
        <p:txBody>
          <a:bodyPr anchor="ctr" anchorCtr="0">
            <a:spAutoFit/>
          </a:bodyPr>
          <a:lstStyle/>
          <a:p>
            <a:pPr indent="304800"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分子间力具有特性：</a:t>
            </a:r>
            <a:r>
              <a:rPr lang="en-US" altLang="zh-CN" sz="2600" i="0" dirty="0">
                <a:solidFill>
                  <a:srgbClr val="C00000"/>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是存在于分子间的一种作用力；</a:t>
            </a:r>
            <a:r>
              <a:rPr lang="en-US" altLang="zh-CN" sz="2600" i="0" dirty="0">
                <a:solidFill>
                  <a:srgbClr val="C00000"/>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作用能量比化学键小（化学键＞氢键＞分子间作用力）；</a:t>
            </a:r>
            <a:r>
              <a:rPr lang="zh-CN" altLang="en-US" sz="2600" i="0" dirty="0">
                <a:solidFill>
                  <a:srgbClr val="C00000"/>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没有方向性和饱和性；</a:t>
            </a:r>
            <a:r>
              <a:rPr lang="en-US" altLang="zh-CN" sz="2600" i="0" dirty="0">
                <a:solidFill>
                  <a:srgbClr val="C00000"/>
                </a:solidFill>
                <a:latin typeface="Times New Roman" panose="02020603050405020304" pitchFamily="18" charset="0"/>
              </a:rPr>
              <a:t>(4)</a:t>
            </a:r>
            <a:r>
              <a:rPr lang="zh-CN" altLang="en-US" sz="2600" i="0" dirty="0">
                <a:solidFill>
                  <a:schemeClr val="tx1"/>
                </a:solidFill>
                <a:latin typeface="Times New Roman" panose="02020603050405020304" pitchFamily="18" charset="0"/>
              </a:rPr>
              <a:t>是近距离的作用力；</a:t>
            </a:r>
            <a:r>
              <a:rPr lang="en-US" altLang="zh-CN" sz="2600" i="0" dirty="0">
                <a:solidFill>
                  <a:srgbClr val="C00000"/>
                </a:solidFill>
                <a:latin typeface="Times New Roman" panose="02020603050405020304" pitchFamily="18" charset="0"/>
              </a:rPr>
              <a:t>(5)</a:t>
            </a:r>
            <a:r>
              <a:rPr lang="zh-CN" altLang="en-US" sz="2600" i="0" dirty="0">
                <a:solidFill>
                  <a:schemeClr val="tx1"/>
                </a:solidFill>
                <a:latin typeface="Times New Roman" panose="02020603050405020304" pitchFamily="18" charset="0"/>
              </a:rPr>
              <a:t>三种作用力中色散力是主要的（</a:t>
            </a:r>
            <a:r>
              <a:rPr lang="zh-CN" altLang="en-US" sz="2600" dirty="0">
                <a:solidFill>
                  <a:schemeClr val="tx1"/>
                </a:solidFill>
                <a:latin typeface="Times New Roman" panose="02020603050405020304" pitchFamily="18" charset="0"/>
              </a:rPr>
              <a:t>见书上</a:t>
            </a:r>
            <a:r>
              <a:rPr lang="en-US" altLang="zh-CN" sz="2600" dirty="0">
                <a:solidFill>
                  <a:schemeClr val="tx1"/>
                </a:solidFill>
                <a:latin typeface="Times New Roman" panose="02020603050405020304" pitchFamily="18" charset="0"/>
              </a:rPr>
              <a:t>P328</a:t>
            </a:r>
            <a:r>
              <a:rPr lang="zh-CN" altLang="en-US" sz="2600" dirty="0">
                <a:solidFill>
                  <a:schemeClr val="tx1"/>
                </a:solidFill>
                <a:latin typeface="Times New Roman" panose="02020603050405020304" pitchFamily="18" charset="0"/>
              </a:rPr>
              <a:t>：表</a:t>
            </a:r>
            <a:r>
              <a:rPr lang="en-US" altLang="zh-CN" sz="2600" dirty="0">
                <a:solidFill>
                  <a:schemeClr val="tx1"/>
                </a:solidFill>
                <a:latin typeface="Times New Roman" panose="02020603050405020304" pitchFamily="18" charset="0"/>
              </a:rPr>
              <a:t>10-11</a:t>
            </a:r>
            <a:r>
              <a:rPr lang="zh-CN" altLang="en-US" sz="2600" i="0" dirty="0">
                <a:solidFill>
                  <a:schemeClr val="tx1"/>
                </a:solidFill>
                <a:latin typeface="Times New Roman" panose="02020603050405020304" pitchFamily="18" charset="0"/>
              </a:rPr>
              <a:t>）。</a:t>
            </a:r>
            <a:endParaRPr lang="en-US" altLang="zh-CN" sz="2600" dirty="0">
              <a:solidFill>
                <a:schemeClr val="tx1"/>
              </a:solidFill>
              <a:latin typeface="Times New Roman" panose="02020603050405020304" pitchFamily="18" charset="0"/>
            </a:endParaRPr>
          </a:p>
        </p:txBody>
      </p:sp>
      <p:sp>
        <p:nvSpPr>
          <p:cNvPr id="207875" name="Rectangle 3"/>
          <p:cNvSpPr/>
          <p:nvPr/>
        </p:nvSpPr>
        <p:spPr>
          <a:xfrm>
            <a:off x="381000" y="2438400"/>
            <a:ext cx="8534400" cy="1436688"/>
          </a:xfrm>
          <a:prstGeom prst="rect">
            <a:avLst/>
          </a:prstGeom>
          <a:noFill/>
          <a:ln w="9525">
            <a:noFill/>
          </a:ln>
        </p:spPr>
        <p:txBody>
          <a:bodyPr anchor="ctr" anchorCtr="0">
            <a:spAutoFit/>
          </a:bodyPr>
          <a:lstStyle/>
          <a:p>
            <a:pPr algn="l">
              <a:lnSpc>
                <a:spcPts val="3600"/>
              </a:lnSpc>
            </a:pPr>
            <a:r>
              <a:rPr lang="en-US" altLang="zh-CN" sz="260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分子间的力对物质的性质，尤其是某些物理性质</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如熔点、沸点、溶解度等</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有一定的影响，分子间力的大小可以解释一些物理性质的递变规律。例如：</a:t>
            </a:r>
            <a:r>
              <a:rPr lang="zh-CN" altLang="en-US" sz="2600" dirty="0">
                <a:solidFill>
                  <a:schemeClr val="tx1"/>
                </a:solidFill>
                <a:latin typeface="Times New Roman" panose="02020603050405020304" pitchFamily="18" charset="0"/>
              </a:rPr>
              <a:t> </a:t>
            </a:r>
          </a:p>
        </p:txBody>
      </p:sp>
      <p:sp>
        <p:nvSpPr>
          <p:cNvPr id="207876" name="Rectangle 4"/>
          <p:cNvSpPr/>
          <p:nvPr/>
        </p:nvSpPr>
        <p:spPr>
          <a:xfrm>
            <a:off x="381000" y="4114800"/>
            <a:ext cx="8686800" cy="974725"/>
          </a:xfrm>
          <a:prstGeom prst="rect">
            <a:avLst/>
          </a:prstGeom>
          <a:noFill/>
          <a:ln w="28575" cap="flat" cmpd="sng">
            <a:solidFill>
              <a:srgbClr val="CCECFF"/>
            </a:solidFill>
            <a:prstDash val="solid"/>
            <a:miter/>
            <a:headEnd type="none" w="med" len="med"/>
            <a:tailEnd type="none" w="med" len="med"/>
          </a:ln>
        </p:spPr>
        <p:txBody>
          <a:bodyPr>
            <a:spAutoFit/>
          </a:bodyPr>
          <a:lstStyle/>
          <a:p>
            <a:pPr algn="l" eaLnBrk="0" hangingPunct="0">
              <a:lnSpc>
                <a:spcPts val="3600"/>
              </a:lnSpc>
            </a:pPr>
            <a:r>
              <a:rPr lang="en-US" altLang="zh-CN" sz="2600" i="0" dirty="0">
                <a:solidFill>
                  <a:schemeClr val="tx1"/>
                </a:solidFill>
                <a:latin typeface="Times New Roman" panose="02020603050405020304" pitchFamily="18" charset="0"/>
                <a:ea typeface="宋体" panose="02010600030101010101" pitchFamily="2" charset="-122"/>
              </a:rPr>
              <a:t> CH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     CH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      CH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 </a:t>
            </a:r>
          </a:p>
          <a:p>
            <a:pPr algn="l" eaLnBrk="0" hangingPunct="0">
              <a:lnSpc>
                <a:spcPts val="3600"/>
              </a:lnSpc>
            </a:pPr>
            <a:r>
              <a:rPr lang="en-US" altLang="zh-CN" sz="2600" i="0" dirty="0">
                <a:solidFill>
                  <a:schemeClr val="tx1"/>
                </a:solidFill>
                <a:latin typeface="Times New Roman" panose="02020603050405020304" pitchFamily="18" charset="0"/>
                <a:ea typeface="宋体" panose="02010600030101010101" pitchFamily="2" charset="-122"/>
              </a:rPr>
              <a:t>  b.p. -44.5℃             b.p. -0.5℃                      b.p. 36℃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checkerboard(across)">
                                      <p:cBhvr>
                                        <p:cTn id="7" dur="1000"/>
                                        <p:tgtEl>
                                          <p:spTgt spid="20787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07875"/>
                                        </p:tgtEl>
                                        <p:attrNameLst>
                                          <p:attrName>style.visibility</p:attrName>
                                        </p:attrNameLst>
                                      </p:cBhvr>
                                      <p:to>
                                        <p:strVal val="visible"/>
                                      </p:to>
                                    </p:set>
                                    <p:animEffect transition="in" filter="checkerboard(across)">
                                      <p:cBhvr>
                                        <p:cTn id="12" dur="1000"/>
                                        <p:tgtEl>
                                          <p:spTgt spid="20787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07876"/>
                                        </p:tgtEl>
                                        <p:attrNameLst>
                                          <p:attrName>style.visibility</p:attrName>
                                        </p:attrNameLst>
                                      </p:cBhvr>
                                      <p:to>
                                        <p:strVal val="visible"/>
                                      </p:to>
                                    </p:set>
                                    <p:animEffect transition="in" filter="checkerboard(across)">
                                      <p:cBhvr>
                                        <p:cTn id="17" dur="1000"/>
                                        <p:tgtEl>
                                          <p:spTgt spid="207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nimBg="1"/>
      <p:bldP spid="207875" grpId="0"/>
      <p:bldP spid="20787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22" name="组合 4"/>
          <p:cNvGrpSpPr/>
          <p:nvPr/>
        </p:nvGrpSpPr>
        <p:grpSpPr>
          <a:xfrm>
            <a:off x="152400" y="228600"/>
            <a:ext cx="8686800" cy="4470400"/>
            <a:chOff x="152400" y="228600"/>
            <a:chExt cx="8686800" cy="4471065"/>
          </a:xfrm>
        </p:grpSpPr>
        <p:sp>
          <p:nvSpPr>
            <p:cNvPr id="81923" name="Rectangle 3"/>
            <p:cNvSpPr/>
            <p:nvPr/>
          </p:nvSpPr>
          <p:spPr>
            <a:xfrm>
              <a:off x="152400" y="228600"/>
              <a:ext cx="8686800" cy="1044575"/>
            </a:xfrm>
            <a:prstGeom prst="rect">
              <a:avLst/>
            </a:prstGeom>
            <a:noFill/>
            <a:ln w="9525">
              <a:noFill/>
            </a:ln>
          </p:spPr>
          <p:txBody>
            <a:bodyPr>
              <a:spAutoFit/>
            </a:bodyPr>
            <a:lstStyle/>
            <a:p>
              <a:pPr algn="l" eaLnBrk="0" hangingPunct="0">
                <a:lnSpc>
                  <a:spcPct val="1200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色散力随分子体积的增大而增大</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活性炭吸附有毒的气体（如甲苯等）</a:t>
              </a:r>
            </a:p>
          </p:txBody>
        </p:sp>
        <p:sp>
          <p:nvSpPr>
            <p:cNvPr id="81924" name="Rectangle 5"/>
            <p:cNvSpPr/>
            <p:nvPr/>
          </p:nvSpPr>
          <p:spPr>
            <a:xfrm>
              <a:off x="457200" y="4191000"/>
              <a:ext cx="8056563" cy="508665"/>
            </a:xfrm>
            <a:prstGeom prst="rect">
              <a:avLst/>
            </a:prstGeom>
            <a:noFill/>
            <a:ln w="9525">
              <a:noFill/>
            </a:ln>
          </p:spPr>
          <p:txBody>
            <a:bodyPr>
              <a:spAutoFit/>
            </a:bodyPr>
            <a:lstStyle/>
            <a:p>
              <a:pPr eaLnBrk="0" hangingPunct="0">
                <a:lnSpc>
                  <a:spcPct val="120000"/>
                </a:lnSpc>
              </a:pPr>
              <a:r>
                <a:rPr lang="zh-CN" altLang="en-US" sz="2600" i="0" dirty="0">
                  <a:solidFill>
                    <a:schemeClr val="tx1"/>
                  </a:solidFill>
                  <a:latin typeface="Times New Roman" panose="02020603050405020304" pitchFamily="18" charset="0"/>
                </a:rPr>
                <a:t>色散力</a:t>
              </a:r>
              <a:r>
                <a:rPr lang="zh-CN" altLang="en-US" sz="2600" i="0" dirty="0">
                  <a:solidFill>
                    <a:schemeClr val="tx1"/>
                  </a:solidFill>
                  <a:latin typeface="宋体" panose="02010600030101010101" pitchFamily="2" charset="-122"/>
                </a:rPr>
                <a:t>随分子结构密实程度（对称性）的增大而减小</a:t>
              </a:r>
            </a:p>
          </p:txBody>
        </p:sp>
        <p:sp>
          <p:nvSpPr>
            <p:cNvPr id="81925" name="Rectangle 6"/>
            <p:cNvSpPr/>
            <p:nvPr/>
          </p:nvSpPr>
          <p:spPr>
            <a:xfrm>
              <a:off x="381000" y="1371600"/>
              <a:ext cx="8458200" cy="2667000"/>
            </a:xfrm>
            <a:prstGeom prst="rect">
              <a:avLst/>
            </a:prstGeom>
            <a:noFill/>
            <a:ln w="28575" cap="flat" cmpd="sng">
              <a:solidFill>
                <a:srgbClr val="CCECFF"/>
              </a:solidFill>
              <a:prstDash val="solid"/>
              <a:miter/>
              <a:headEnd type="none" w="med" len="med"/>
              <a:tailEnd type="none" w="med" len="med"/>
            </a:ln>
          </p:spPr>
          <p:txBody>
            <a:bodyPr/>
            <a:lstStyle/>
            <a:p>
              <a:pPr algn="just" eaLnBrk="0" hangingPunct="0"/>
              <a:r>
                <a:rPr lang="en-US" altLang="zh-CN" sz="2000" i="0" dirty="0">
                  <a:solidFill>
                    <a:schemeClr val="tx1"/>
                  </a:solidFill>
                  <a:latin typeface="Times New Roman" panose="02020603050405020304" pitchFamily="18" charset="0"/>
                  <a:ea typeface="宋体" panose="02010600030101010101" pitchFamily="2" charset="-122"/>
                </a:rPr>
                <a:t>                                                                                                             </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3</a:t>
              </a:r>
              <a:endParaRPr lang="en-US" altLang="zh-CN" sz="2200" i="0" dirty="0">
                <a:solidFill>
                  <a:schemeClr val="tx1"/>
                </a:solidFill>
                <a:latin typeface="Times New Roman" panose="02020603050405020304" pitchFamily="18" charset="0"/>
                <a:ea typeface="宋体" panose="02010600030101010101" pitchFamily="2" charset="-122"/>
              </a:endParaRPr>
            </a:p>
            <a:p>
              <a:pPr algn="just" eaLnBrk="0" hangingPunct="0"/>
              <a:r>
                <a:rPr lang="en-US" altLang="zh-CN" sz="2200" i="0" dirty="0">
                  <a:solidFill>
                    <a:schemeClr val="tx1"/>
                  </a:solidFill>
                  <a:latin typeface="Times New Roman" panose="02020603050405020304" pitchFamily="18" charset="0"/>
                  <a:ea typeface="宋体" panose="02010600030101010101" pitchFamily="2" charset="-122"/>
                </a:rPr>
                <a:t>                                                                                                   ∣</a:t>
              </a:r>
            </a:p>
            <a:p>
              <a:pPr algn="l" eaLnBrk="0" hangingPunct="0"/>
              <a:r>
                <a:rPr lang="en-US" altLang="zh-CN" sz="2200" i="0" dirty="0">
                  <a:solidFill>
                    <a:schemeClr val="tx1"/>
                  </a:solidFill>
                  <a:latin typeface="Times New Roman" panose="02020603050405020304" pitchFamily="18" charset="0"/>
                  <a:ea typeface="宋体" panose="02010600030101010101" pitchFamily="2" charset="-122"/>
                </a:rPr>
                <a:t> CH</a:t>
              </a:r>
              <a:r>
                <a:rPr lang="en-US" altLang="zh-CN" sz="2200" i="0" baseline="-30000" dirty="0">
                  <a:solidFill>
                    <a:schemeClr val="tx1"/>
                  </a:solidFill>
                  <a:latin typeface="Times New Roman" panose="02020603050405020304" pitchFamily="18" charset="0"/>
                  <a:ea typeface="宋体" panose="02010600030101010101" pitchFamily="2" charset="-122"/>
                </a:rPr>
                <a:t>3</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2</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2</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2</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3</a:t>
              </a:r>
              <a:r>
                <a:rPr lang="en-US" altLang="zh-CN" sz="2200" i="0" dirty="0">
                  <a:solidFill>
                    <a:schemeClr val="tx1"/>
                  </a:solidFill>
                  <a:latin typeface="Times New Roman" panose="02020603050405020304" pitchFamily="18" charset="0"/>
                  <a:ea typeface="宋体" panose="02010600030101010101" pitchFamily="2" charset="-122"/>
                </a:rPr>
                <a:t>       CH</a:t>
              </a:r>
              <a:r>
                <a:rPr lang="en-US" altLang="zh-CN" sz="2200" i="0" baseline="-30000" dirty="0">
                  <a:solidFill>
                    <a:schemeClr val="tx1"/>
                  </a:solidFill>
                  <a:latin typeface="Times New Roman" panose="02020603050405020304" pitchFamily="18" charset="0"/>
                  <a:ea typeface="宋体" panose="02010600030101010101" pitchFamily="2" charset="-122"/>
                </a:rPr>
                <a:t>3</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2</a:t>
              </a:r>
              <a:r>
                <a:rPr lang="en-US" altLang="zh-CN" sz="2200" i="0" dirty="0">
                  <a:solidFill>
                    <a:schemeClr val="tx1"/>
                  </a:solidFill>
                  <a:latin typeface="Times New Roman" panose="02020603050405020304" pitchFamily="18" charset="0"/>
                  <a:ea typeface="宋体" panose="02010600030101010101" pitchFamily="2" charset="-122"/>
                </a:rPr>
                <a:t>CHCH</a:t>
              </a:r>
              <a:r>
                <a:rPr lang="en-US" altLang="zh-CN" sz="2200" i="0" baseline="-30000" dirty="0">
                  <a:solidFill>
                    <a:schemeClr val="tx1"/>
                  </a:solidFill>
                  <a:latin typeface="Times New Roman" panose="02020603050405020304" pitchFamily="18" charset="0"/>
                  <a:ea typeface="宋体" panose="02010600030101010101" pitchFamily="2" charset="-122"/>
                </a:rPr>
                <a:t>3</a:t>
              </a:r>
              <a:r>
                <a:rPr lang="en-US" altLang="zh-CN" sz="2200" i="0" dirty="0">
                  <a:solidFill>
                    <a:schemeClr val="tx1"/>
                  </a:solidFill>
                  <a:latin typeface="Times New Roman" panose="02020603050405020304" pitchFamily="18" charset="0"/>
                  <a:ea typeface="宋体" panose="02010600030101010101" pitchFamily="2" charset="-122"/>
                </a:rPr>
                <a:t>        CH</a:t>
              </a:r>
              <a:r>
                <a:rPr lang="en-US" altLang="zh-CN" sz="2200" i="0" baseline="-30000" dirty="0">
                  <a:solidFill>
                    <a:schemeClr val="tx1"/>
                  </a:solidFill>
                  <a:latin typeface="Times New Roman" panose="02020603050405020304" pitchFamily="18" charset="0"/>
                  <a:ea typeface="宋体" panose="02010600030101010101" pitchFamily="2" charset="-122"/>
                </a:rPr>
                <a:t>3</a:t>
              </a:r>
              <a:r>
                <a:rPr lang="zh-CN" altLang="en-US" sz="2200" i="0" dirty="0">
                  <a:solidFill>
                    <a:schemeClr val="tx1"/>
                  </a:solidFill>
                  <a:latin typeface="Times New Roman" panose="02020603050405020304" pitchFamily="18" charset="0"/>
                  <a:ea typeface="宋体" panose="02010600030101010101" pitchFamily="2" charset="-122"/>
                </a:rPr>
                <a:t>－</a:t>
              </a:r>
              <a:r>
                <a:rPr lang="en-US" altLang="zh-CN" sz="2200" i="0" dirty="0">
                  <a:solidFill>
                    <a:schemeClr val="tx1"/>
                  </a:solidFill>
                  <a:latin typeface="Times New Roman" panose="02020603050405020304" pitchFamily="18" charset="0"/>
                  <a:ea typeface="宋体" panose="02010600030101010101" pitchFamily="2" charset="-122"/>
                </a:rPr>
                <a:t>C</a:t>
              </a:r>
              <a:r>
                <a:rPr lang="zh-CN" altLang="en-US" sz="2200" i="0" dirty="0">
                  <a:solidFill>
                    <a:schemeClr val="tx1"/>
                  </a:solidFill>
                  <a:latin typeface="Times New Roman" panose="02020603050405020304" pitchFamily="18" charset="0"/>
                  <a:ea typeface="宋体" panose="02010600030101010101" pitchFamily="2" charset="-122"/>
                </a:rPr>
                <a:t>－</a:t>
              </a:r>
              <a:r>
                <a:rPr lang="en-US" altLang="zh-CN" sz="2200" i="0" dirty="0">
                  <a:solidFill>
                    <a:schemeClr val="tx1"/>
                  </a:solidFill>
                  <a:latin typeface="Times New Roman" panose="02020603050405020304" pitchFamily="18" charset="0"/>
                  <a:ea typeface="宋体" panose="02010600030101010101" pitchFamily="2" charset="-122"/>
                </a:rPr>
                <a:t>CH</a:t>
              </a:r>
              <a:r>
                <a:rPr lang="en-US" altLang="zh-CN" sz="2200" i="0" baseline="-30000" dirty="0">
                  <a:solidFill>
                    <a:schemeClr val="tx1"/>
                  </a:solidFill>
                  <a:latin typeface="Times New Roman" panose="02020603050405020304" pitchFamily="18" charset="0"/>
                  <a:ea typeface="宋体" panose="02010600030101010101" pitchFamily="2" charset="-122"/>
                </a:rPr>
                <a:t>3</a:t>
              </a:r>
              <a:endParaRPr lang="en-US" altLang="zh-CN" sz="2200" i="0" dirty="0">
                <a:solidFill>
                  <a:schemeClr val="tx1"/>
                </a:solidFill>
                <a:latin typeface="Times New Roman" panose="02020603050405020304" pitchFamily="18" charset="0"/>
                <a:ea typeface="宋体" panose="02010600030101010101" pitchFamily="2" charset="-122"/>
              </a:endParaRPr>
            </a:p>
            <a:p>
              <a:pPr algn="just" eaLnBrk="0" hangingPunct="0"/>
              <a:r>
                <a:rPr lang="en-US" altLang="zh-CN" sz="2200" i="0" dirty="0">
                  <a:solidFill>
                    <a:schemeClr val="tx1"/>
                  </a:solidFill>
                  <a:latin typeface="Times New Roman" panose="02020603050405020304" pitchFamily="18" charset="0"/>
                  <a:ea typeface="宋体" panose="02010600030101010101" pitchFamily="2" charset="-122"/>
                </a:rPr>
                <a:t>                                                                ∣                                ∣</a:t>
              </a:r>
            </a:p>
            <a:p>
              <a:pPr algn="just" eaLnBrk="0" hangingPunct="0"/>
              <a:r>
                <a:rPr lang="en-US" altLang="zh-CN" sz="2200" i="0" dirty="0">
                  <a:solidFill>
                    <a:schemeClr val="tx1"/>
                  </a:solidFill>
                  <a:latin typeface="Times New Roman" panose="02020603050405020304" pitchFamily="18" charset="0"/>
                  <a:ea typeface="宋体" panose="02010600030101010101" pitchFamily="2" charset="-122"/>
                </a:rPr>
                <a:t>                                                                CH</a:t>
              </a:r>
              <a:r>
                <a:rPr lang="en-US" altLang="zh-CN" sz="2200" i="0" baseline="-30000" dirty="0">
                  <a:solidFill>
                    <a:schemeClr val="tx1"/>
                  </a:solidFill>
                  <a:latin typeface="Times New Roman" panose="02020603050405020304" pitchFamily="18" charset="0"/>
                  <a:ea typeface="宋体" panose="02010600030101010101" pitchFamily="2" charset="-122"/>
                </a:rPr>
                <a:t>3</a:t>
              </a:r>
              <a:r>
                <a:rPr lang="en-US" altLang="zh-CN" sz="2200" i="0" dirty="0">
                  <a:solidFill>
                    <a:schemeClr val="tx1"/>
                  </a:solidFill>
                  <a:latin typeface="Times New Roman" panose="02020603050405020304" pitchFamily="18" charset="0"/>
                  <a:ea typeface="宋体" panose="02010600030101010101" pitchFamily="2" charset="-122"/>
                </a:rPr>
                <a:t>                             CH</a:t>
              </a:r>
              <a:r>
                <a:rPr lang="en-US" altLang="zh-CN" sz="2200" i="0" baseline="-30000" dirty="0">
                  <a:solidFill>
                    <a:schemeClr val="tx1"/>
                  </a:solidFill>
                  <a:latin typeface="Times New Roman" panose="02020603050405020304" pitchFamily="18" charset="0"/>
                  <a:ea typeface="宋体" panose="02010600030101010101" pitchFamily="2" charset="-122"/>
                </a:rPr>
                <a:t>3</a:t>
              </a:r>
              <a:endParaRPr lang="en-US" altLang="zh-CN" sz="2200" i="0" dirty="0">
                <a:solidFill>
                  <a:schemeClr val="tx1"/>
                </a:solidFill>
                <a:latin typeface="Times New Roman" panose="02020603050405020304" pitchFamily="18" charset="0"/>
                <a:ea typeface="宋体" panose="02010600030101010101" pitchFamily="2" charset="-122"/>
              </a:endParaRPr>
            </a:p>
            <a:p>
              <a:pPr algn="just" eaLnBrk="0" hangingPunct="0"/>
              <a:endParaRPr lang="en-US" altLang="zh-CN" sz="2200" i="0" dirty="0">
                <a:solidFill>
                  <a:schemeClr val="tx1"/>
                </a:solidFill>
                <a:latin typeface="Times New Roman" panose="02020603050405020304" pitchFamily="18" charset="0"/>
                <a:ea typeface="宋体" panose="02010600030101010101" pitchFamily="2" charset="-122"/>
              </a:endParaRPr>
            </a:p>
            <a:p>
              <a:pPr algn="just" eaLnBrk="0" hangingPunct="0"/>
              <a:r>
                <a:rPr lang="en-US" altLang="zh-CN" sz="2200" i="0" dirty="0">
                  <a:solidFill>
                    <a:schemeClr val="tx1"/>
                  </a:solidFill>
                  <a:latin typeface="Times New Roman" panose="02020603050405020304" pitchFamily="18" charset="0"/>
                  <a:ea typeface="宋体" panose="02010600030101010101" pitchFamily="2" charset="-122"/>
                </a:rPr>
                <a:t>         b.p. 36℃                                    b.p. 28℃                        b.p. 9.5℃</a:t>
              </a:r>
            </a:p>
          </p:txBody>
        </p:sp>
      </p:gr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3" name="Text Box 5"/>
          <p:cNvSpPr txBox="1"/>
          <p:nvPr/>
        </p:nvSpPr>
        <p:spPr>
          <a:xfrm>
            <a:off x="0" y="0"/>
            <a:ext cx="1752600" cy="549275"/>
          </a:xfrm>
          <a:prstGeom prst="rect">
            <a:avLst/>
          </a:prstGeom>
          <a:gradFill rotWithShape="1">
            <a:gsLst>
              <a:gs pos="0">
                <a:srgbClr val="767600"/>
              </a:gs>
              <a:gs pos="50000">
                <a:srgbClr val="FFFF00"/>
              </a:gs>
              <a:gs pos="100000">
                <a:srgbClr val="767600"/>
              </a:gs>
            </a:gsLst>
            <a:lin ang="5400000" scaled="1"/>
            <a:tileRect/>
          </a:gradFill>
          <a:ln w="38100">
            <a:noFill/>
          </a:ln>
        </p:spPr>
        <p:txBody>
          <a:bodyPr>
            <a:spAutoFit/>
          </a:bodyPr>
          <a:lstStyle/>
          <a:p>
            <a:pPr algn="l" eaLnBrk="0" hangingPunct="0"/>
            <a:r>
              <a:rPr lang="zh-CN" altLang="en-US" sz="3000" i="0" dirty="0">
                <a:solidFill>
                  <a:srgbClr val="CC3300"/>
                </a:solidFill>
                <a:latin typeface="Times New Roman" panose="02020603050405020304" pitchFamily="18" charset="0"/>
              </a:rPr>
              <a:t>三、氢键</a:t>
            </a:r>
          </a:p>
        </p:txBody>
      </p:sp>
      <p:grpSp>
        <p:nvGrpSpPr>
          <p:cNvPr id="2" name="组合 5"/>
          <p:cNvGrpSpPr/>
          <p:nvPr/>
        </p:nvGrpSpPr>
        <p:grpSpPr>
          <a:xfrm>
            <a:off x="304800" y="609600"/>
            <a:ext cx="8686800" cy="4953000"/>
            <a:chOff x="304800" y="609600"/>
            <a:chExt cx="8686800" cy="4953000"/>
          </a:xfrm>
        </p:grpSpPr>
        <p:sp>
          <p:nvSpPr>
            <p:cNvPr id="82948" name="Rectangle 2"/>
            <p:cNvSpPr/>
            <p:nvPr/>
          </p:nvSpPr>
          <p:spPr>
            <a:xfrm>
              <a:off x="1752600" y="609600"/>
              <a:ext cx="4343400" cy="519113"/>
            </a:xfrm>
            <a:prstGeom prst="rect">
              <a:avLst/>
            </a:prstGeom>
            <a:solidFill>
              <a:srgbClr val="FFC000"/>
            </a:solidFill>
            <a:ln w="12700">
              <a:noFill/>
            </a:ln>
          </p:spPr>
          <p:txBody>
            <a:bodyPr>
              <a:spAutoFit/>
            </a:bodyPr>
            <a:lstStyle/>
            <a:p>
              <a:pPr eaLnBrk="0" hangingPunct="0"/>
              <a:r>
                <a:rPr lang="zh-CN" altLang="en-US" sz="2800" dirty="0">
                  <a:solidFill>
                    <a:srgbClr val="C00000"/>
                  </a:solidFill>
                  <a:latin typeface="Times New Roman" panose="02020603050405020304" pitchFamily="18" charset="0"/>
                </a:rPr>
                <a:t>氢键存在的证明</a:t>
              </a:r>
            </a:p>
          </p:txBody>
        </p:sp>
        <p:pic>
          <p:nvPicPr>
            <p:cNvPr id="206854" name="Picture 6" descr="未标题-2 拷贝"/>
            <p:cNvPicPr>
              <a:picLocks noChangeAspect="1" noChangeArrowheads="1"/>
            </p:cNvPicPr>
            <p:nvPr/>
          </p:nvPicPr>
          <p:blipFill>
            <a:blip r:embed="rId2"/>
            <a:srcRect/>
            <a:stretch>
              <a:fillRect/>
            </a:stretch>
          </p:blipFill>
          <p:spPr bwMode="auto">
            <a:xfrm>
              <a:off x="304800" y="1371600"/>
              <a:ext cx="8686800" cy="4191000"/>
            </a:xfrm>
            <a:prstGeom prst="rect">
              <a:avLst/>
            </a:prstGeom>
            <a:noFill/>
            <a:effectLst>
              <a:outerShdw dist="107763" dir="13500000" algn="ctr" rotWithShape="0">
                <a:srgbClr val="808080"/>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6853"/>
                                        </p:tgtEl>
                                        <p:attrNameLst>
                                          <p:attrName>style.visibility</p:attrName>
                                        </p:attrNameLst>
                                      </p:cBhvr>
                                      <p:to>
                                        <p:strVal val="visible"/>
                                      </p:to>
                                    </p:set>
                                    <p:animEffect transition="in" filter="box(in)">
                                      <p:cBhvr>
                                        <p:cTn id="7" dur="1000"/>
                                        <p:tgtEl>
                                          <p:spTgt spid="2068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descr="第2章 冰的结构"/>
          <p:cNvPicPr>
            <a:picLocks noChangeAspect="1"/>
          </p:cNvPicPr>
          <p:nvPr/>
        </p:nvPicPr>
        <p:blipFill>
          <a:blip r:embed="rId3"/>
          <a:stretch>
            <a:fillRect/>
          </a:stretch>
        </p:blipFill>
        <p:spPr>
          <a:xfrm>
            <a:off x="1371600" y="3657600"/>
            <a:ext cx="6477000" cy="2916238"/>
          </a:xfrm>
          <a:prstGeom prst="rect">
            <a:avLst/>
          </a:prstGeom>
          <a:noFill/>
          <a:ln w="9525">
            <a:noFill/>
          </a:ln>
        </p:spPr>
      </p:pic>
      <p:sp>
        <p:nvSpPr>
          <p:cNvPr id="83971" name="Text Box 3"/>
          <p:cNvSpPr txBox="1"/>
          <p:nvPr/>
        </p:nvSpPr>
        <p:spPr>
          <a:xfrm>
            <a:off x="457200" y="4495800"/>
            <a:ext cx="533400" cy="1679575"/>
          </a:xfrm>
          <a:prstGeom prst="rect">
            <a:avLst/>
          </a:prstGeom>
          <a:noFill/>
          <a:ln w="9525">
            <a:noFill/>
          </a:ln>
        </p:spPr>
        <p:txBody>
          <a:bodyPr>
            <a:spAutoFit/>
          </a:bodyPr>
          <a:lstStyle/>
          <a:p>
            <a:pPr eaLnBrk="0" hangingPunct="0"/>
            <a:r>
              <a:rPr lang="zh-CN" altLang="en-US" sz="2600" i="0" dirty="0">
                <a:solidFill>
                  <a:schemeClr val="tx1"/>
                </a:solidFill>
                <a:latin typeface="楷体_GB2312" pitchFamily="49" charset="-122"/>
              </a:rPr>
              <a:t>冰的结构 </a:t>
            </a:r>
          </a:p>
        </p:txBody>
      </p:sp>
      <p:pic>
        <p:nvPicPr>
          <p:cNvPr id="210948" name="Picture 4" descr="未标题-3 拷贝"/>
          <p:cNvPicPr>
            <a:picLocks noChangeAspect="1" noChangeArrowheads="1"/>
          </p:cNvPicPr>
          <p:nvPr/>
        </p:nvPicPr>
        <p:blipFill>
          <a:blip r:embed="rId4"/>
          <a:srcRect/>
          <a:stretch>
            <a:fillRect/>
          </a:stretch>
        </p:blipFill>
        <p:spPr bwMode="auto">
          <a:xfrm>
            <a:off x="1447800" y="0"/>
            <a:ext cx="6781800" cy="3352800"/>
          </a:xfrm>
          <a:prstGeom prst="rect">
            <a:avLst/>
          </a:prstGeom>
          <a:noFill/>
          <a:effectLst>
            <a:outerShdw dist="107763" dir="13500000" algn="ctr" rotWithShape="0">
              <a:srgbClr val="808080"/>
            </a:outerShdw>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3"/>
          <p:cNvSpPr/>
          <p:nvPr/>
        </p:nvSpPr>
        <p:spPr>
          <a:xfrm>
            <a:off x="152400" y="152400"/>
            <a:ext cx="8686800" cy="2185988"/>
          </a:xfrm>
          <a:prstGeom prst="rect">
            <a:avLst/>
          </a:prstGeom>
          <a:noFill/>
          <a:ln w="9525">
            <a:noFill/>
          </a:ln>
        </p:spPr>
        <p:txBody>
          <a:bodyPr>
            <a:spAutoFit/>
          </a:bodyPr>
          <a:lstStyle/>
          <a:p>
            <a:pPr algn="l"/>
            <a:r>
              <a:rPr lang="zh-CN" altLang="en-US" sz="2800" i="0" dirty="0">
                <a:solidFill>
                  <a:srgbClr val="C00000"/>
                </a:solidFill>
                <a:latin typeface="Times New Roman" panose="02020603050405020304" pitchFamily="18" charset="0"/>
              </a:rPr>
              <a:t>低氘水</a:t>
            </a:r>
            <a:endParaRPr lang="en-US" altLang="zh-CN" sz="2800" i="0" dirty="0">
              <a:solidFill>
                <a:srgbClr val="C00000"/>
              </a:solidFill>
              <a:latin typeface="Times New Roman" panose="02020603050405020304" pitchFamily="18" charset="0"/>
            </a:endParaRPr>
          </a:p>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新疆</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阿尔泰山</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金山，蕴藏着</a:t>
            </a:r>
            <a:r>
              <a:rPr lang="zh-CN" altLang="en-US" sz="2600" i="0" dirty="0">
                <a:solidFill>
                  <a:schemeClr val="tx1"/>
                </a:solidFill>
                <a:latin typeface="Times New Roman" panose="02020603050405020304" pitchFamily="18" charset="0"/>
                <a:hlinkClick r:id="rId2"/>
              </a:rPr>
              <a:t>铍</a:t>
            </a:r>
            <a:r>
              <a:rPr lang="zh-CN" altLang="en-US"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hlinkClick r:id="rId3"/>
              </a:rPr>
              <a:t>锂</a:t>
            </a:r>
            <a:r>
              <a:rPr lang="zh-CN" altLang="en-US"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hlinkClick r:id="rId4"/>
              </a:rPr>
              <a:t>铌</a:t>
            </a:r>
            <a:r>
              <a:rPr lang="zh-CN" altLang="en-US"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hlinkClick r:id="rId5"/>
              </a:rPr>
              <a:t>铷</a:t>
            </a:r>
            <a:r>
              <a:rPr lang="zh-CN" altLang="en-US"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hlinkClick r:id="rId6"/>
              </a:rPr>
              <a:t>铯</a:t>
            </a:r>
            <a:r>
              <a:rPr lang="zh-CN" altLang="en-US" sz="2600" i="0" dirty="0">
                <a:solidFill>
                  <a:schemeClr val="tx1"/>
                </a:solidFill>
                <a:latin typeface="Times New Roman" panose="02020603050405020304" pitchFamily="18" charset="0"/>
              </a:rPr>
              <a:t>等</a:t>
            </a:r>
            <a:r>
              <a:rPr lang="en-US" altLang="zh-CN" sz="2600" i="0" dirty="0">
                <a:solidFill>
                  <a:schemeClr val="tx1"/>
                </a:solidFill>
                <a:latin typeface="Times New Roman" panose="02020603050405020304" pitchFamily="18" charset="0"/>
              </a:rPr>
              <a:t>70</a:t>
            </a:r>
            <a:r>
              <a:rPr lang="zh-CN" altLang="en-US" sz="2600" i="0" dirty="0">
                <a:solidFill>
                  <a:schemeClr val="tx1"/>
                </a:solidFill>
                <a:latin typeface="Times New Roman" panose="02020603050405020304" pitchFamily="18" charset="0"/>
              </a:rPr>
              <a:t>多种矿产，称为稀有金属天然博物馆；</a:t>
            </a:r>
            <a:r>
              <a:rPr lang="en-US" altLang="zh-CN" sz="2600" i="0" dirty="0">
                <a:solidFill>
                  <a:schemeClr val="tx1"/>
                </a:solidFill>
                <a:latin typeface="Times New Roman" panose="02020603050405020304" pitchFamily="18" charset="0"/>
              </a:rPr>
              <a:t>Kanas Lake</a:t>
            </a:r>
            <a:r>
              <a:rPr lang="zh-CN" altLang="en-US" sz="2600" i="0" dirty="0">
                <a:solidFill>
                  <a:schemeClr val="tx1"/>
                </a:solidFill>
                <a:latin typeface="Times New Roman" panose="02020603050405020304" pitchFamily="18" charset="0"/>
              </a:rPr>
              <a:t>被誉为“人间仙境、神的花园”；北纬</a:t>
            </a:r>
            <a:r>
              <a:rPr lang="en-US" altLang="zh-CN" sz="2600" i="0" dirty="0">
                <a:solidFill>
                  <a:schemeClr val="tx1"/>
                </a:solidFill>
                <a:latin typeface="Times New Roman" panose="02020603050405020304" pitchFamily="18" charset="0"/>
              </a:rPr>
              <a:t>48℃)---</a:t>
            </a:r>
            <a:r>
              <a:rPr lang="zh-CN" altLang="en-US" sz="2600" i="0" dirty="0">
                <a:solidFill>
                  <a:schemeClr val="tx1"/>
                </a:solidFill>
                <a:latin typeface="Times New Roman" panose="02020603050405020304" pitchFamily="18" charset="0"/>
              </a:rPr>
              <a:t>克兰河</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源头是冰川</a:t>
            </a:r>
            <a:r>
              <a:rPr lang="en-US" altLang="zh-CN" sz="2600" i="0" dirty="0">
                <a:solidFill>
                  <a:schemeClr val="tx1"/>
                </a:solidFill>
                <a:latin typeface="Times New Roman" panose="02020603050405020304" pitchFamily="18" charset="0"/>
              </a:rPr>
              <a:t>)</a:t>
            </a:r>
            <a:endParaRPr lang="zh-CN" altLang="en-US" sz="2600" dirty="0">
              <a:solidFill>
                <a:schemeClr val="tx1"/>
              </a:solidFill>
              <a:latin typeface="Times New Roman" panose="02020603050405020304" pitchFamily="18" charset="0"/>
            </a:endParaRPr>
          </a:p>
        </p:txBody>
      </p:sp>
      <p:grpSp>
        <p:nvGrpSpPr>
          <p:cNvPr id="84995" name="组合 8"/>
          <p:cNvGrpSpPr/>
          <p:nvPr/>
        </p:nvGrpSpPr>
        <p:grpSpPr>
          <a:xfrm>
            <a:off x="1752600" y="4419600"/>
            <a:ext cx="5208588" cy="1711325"/>
            <a:chOff x="2057400" y="914434"/>
            <a:chExt cx="5208477" cy="1711874"/>
          </a:xfrm>
        </p:grpSpPr>
        <p:sp>
          <p:nvSpPr>
            <p:cNvPr id="85000" name="矩形 4"/>
            <p:cNvSpPr/>
            <p:nvPr/>
          </p:nvSpPr>
          <p:spPr>
            <a:xfrm>
              <a:off x="2057400" y="914434"/>
              <a:ext cx="1858201" cy="492491"/>
            </a:xfrm>
            <a:prstGeom prst="rect">
              <a:avLst/>
            </a:prstGeom>
            <a:noFill/>
            <a:ln w="9525">
              <a:noFill/>
            </a:ln>
          </p:spPr>
          <p:txBody>
            <a:bodyPr wrap="none">
              <a:spAutoFit/>
            </a:bodyPr>
            <a:lstStyle/>
            <a:p>
              <a:r>
                <a:rPr lang="en-US" altLang="zh-CN" sz="2600" i="0" dirty="0">
                  <a:solidFill>
                    <a:srgbClr val="FF0000"/>
                  </a:solidFill>
                  <a:latin typeface="Times New Roman" panose="02020603050405020304" pitchFamily="18" charset="0"/>
                </a:rPr>
                <a:t>1. </a:t>
              </a:r>
              <a:r>
                <a:rPr lang="zh-CN" altLang="en-US" sz="2600" i="0" dirty="0">
                  <a:solidFill>
                    <a:schemeClr val="tx1"/>
                  </a:solidFill>
                  <a:latin typeface="Times New Roman" panose="02020603050405020304" pitchFamily="18" charset="0"/>
                </a:rPr>
                <a:t>防治癌症</a:t>
              </a:r>
              <a:endParaRPr lang="zh-CN" altLang="en-US" sz="2600" dirty="0">
                <a:solidFill>
                  <a:schemeClr val="tx1"/>
                </a:solidFill>
                <a:latin typeface="Times New Roman" panose="02020603050405020304" pitchFamily="18" charset="0"/>
              </a:endParaRPr>
            </a:p>
          </p:txBody>
        </p:sp>
        <p:sp>
          <p:nvSpPr>
            <p:cNvPr id="85001" name="矩形 5"/>
            <p:cNvSpPr/>
            <p:nvPr/>
          </p:nvSpPr>
          <p:spPr>
            <a:xfrm>
              <a:off x="2057400" y="1447800"/>
              <a:ext cx="5208477" cy="492443"/>
            </a:xfrm>
            <a:prstGeom prst="rect">
              <a:avLst/>
            </a:prstGeom>
            <a:noFill/>
            <a:ln w="9525">
              <a:noFill/>
            </a:ln>
          </p:spPr>
          <p:txBody>
            <a:bodyPr wrap="none">
              <a:spAutoFit/>
            </a:bodyPr>
            <a:lstStyle/>
            <a:p>
              <a:r>
                <a:rPr lang="en-US" altLang="zh-CN" sz="2600" i="0" dirty="0">
                  <a:solidFill>
                    <a:srgbClr val="FF0000"/>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心血管糖尿病等疾病的辅助治疗</a:t>
              </a:r>
              <a:endParaRPr lang="zh-CN" altLang="en-US" sz="2600" dirty="0">
                <a:solidFill>
                  <a:schemeClr val="tx1"/>
                </a:solidFill>
                <a:latin typeface="Times New Roman" panose="02020603050405020304" pitchFamily="18" charset="0"/>
              </a:endParaRPr>
            </a:p>
          </p:txBody>
        </p:sp>
        <p:sp>
          <p:nvSpPr>
            <p:cNvPr id="85002" name="矩形 6"/>
            <p:cNvSpPr/>
            <p:nvPr/>
          </p:nvSpPr>
          <p:spPr>
            <a:xfrm>
              <a:off x="2133600" y="2133742"/>
              <a:ext cx="2193181" cy="492566"/>
            </a:xfrm>
            <a:prstGeom prst="rect">
              <a:avLst/>
            </a:prstGeom>
            <a:noFill/>
            <a:ln w="9525">
              <a:noFill/>
            </a:ln>
          </p:spPr>
          <p:txBody>
            <a:bodyPr wrap="none">
              <a:spAutoFit/>
            </a:bodyPr>
            <a:lstStyle/>
            <a:p>
              <a:r>
                <a:rPr lang="en-US" altLang="zh-CN" sz="2600" i="0" dirty="0">
                  <a:solidFill>
                    <a:srgbClr val="FF0000"/>
                  </a:solidFill>
                  <a:latin typeface="Times New Roman" panose="02020603050405020304" pitchFamily="18" charset="0"/>
                </a:rPr>
                <a:t>3. </a:t>
              </a:r>
              <a:r>
                <a:rPr lang="zh-CN" altLang="en-US" sz="2600" i="0" dirty="0">
                  <a:solidFill>
                    <a:schemeClr val="tx1"/>
                  </a:solidFill>
                  <a:latin typeface="Times New Roman" panose="02020603050405020304" pitchFamily="18" charset="0"/>
                </a:rPr>
                <a:t>保健抗衰老</a:t>
              </a:r>
              <a:endParaRPr lang="zh-CN" altLang="en-US" sz="2600" dirty="0">
                <a:solidFill>
                  <a:schemeClr val="tx1"/>
                </a:solidFill>
                <a:latin typeface="Times New Roman" panose="02020603050405020304" pitchFamily="18" charset="0"/>
              </a:endParaRPr>
            </a:p>
          </p:txBody>
        </p:sp>
      </p:grpSp>
      <p:grpSp>
        <p:nvGrpSpPr>
          <p:cNvPr id="84996" name="组合 9"/>
          <p:cNvGrpSpPr/>
          <p:nvPr/>
        </p:nvGrpSpPr>
        <p:grpSpPr>
          <a:xfrm>
            <a:off x="1524000" y="2438400"/>
            <a:ext cx="6248400" cy="1558925"/>
            <a:chOff x="1600200" y="685776"/>
            <a:chExt cx="5105400" cy="1559725"/>
          </a:xfrm>
        </p:grpSpPr>
        <p:sp>
          <p:nvSpPr>
            <p:cNvPr id="84997" name="矩形 10"/>
            <p:cNvSpPr/>
            <p:nvPr/>
          </p:nvSpPr>
          <p:spPr>
            <a:xfrm>
              <a:off x="1600200" y="1219341"/>
              <a:ext cx="5105400" cy="492443"/>
            </a:xfrm>
            <a:prstGeom prst="rect">
              <a:avLst/>
            </a:prstGeom>
            <a:noFill/>
            <a:ln w="9525">
              <a:noFill/>
            </a:ln>
          </p:spPr>
          <p:txBody>
            <a:bodyPr>
              <a:spAutoFit/>
            </a:bodyPr>
            <a:lstStyle/>
            <a:p>
              <a:r>
                <a:rPr lang="en-US" altLang="zh-CN" sz="2600" dirty="0">
                  <a:solidFill>
                    <a:srgbClr val="0000FF"/>
                  </a:solidFill>
                  <a:latin typeface="Times New Roman" panose="02020603050405020304" pitchFamily="18" charset="0"/>
                </a:rPr>
                <a:t>a. </a:t>
              </a:r>
              <a:r>
                <a:rPr lang="zh-CN" altLang="en-US" sz="2600" dirty="0">
                  <a:solidFill>
                    <a:srgbClr val="0000FF"/>
                  </a:solidFill>
                  <a:latin typeface="Times New Roman" panose="02020603050405020304" pitchFamily="18" charset="0"/>
                </a:rPr>
                <a:t>冷水泡茶      </a:t>
              </a:r>
              <a:r>
                <a:rPr lang="en-US" altLang="zh-CN" sz="2600" dirty="0">
                  <a:solidFill>
                    <a:srgbClr val="0000FF"/>
                  </a:solidFill>
                  <a:latin typeface="Times New Roman" panose="02020603050405020304" pitchFamily="18" charset="0"/>
                </a:rPr>
                <a:t>b.</a:t>
              </a:r>
              <a:r>
                <a:rPr lang="zh-CN" altLang="en-US" sz="2600" dirty="0">
                  <a:solidFill>
                    <a:srgbClr val="0000FF"/>
                  </a:solidFill>
                  <a:latin typeface="Times New Roman" panose="02020603050405020304" pitchFamily="18" charset="0"/>
                </a:rPr>
                <a:t>天汗圣水</a:t>
              </a:r>
            </a:p>
          </p:txBody>
        </p:sp>
        <p:sp>
          <p:nvSpPr>
            <p:cNvPr id="84998" name="矩形 10"/>
            <p:cNvSpPr/>
            <p:nvPr/>
          </p:nvSpPr>
          <p:spPr>
            <a:xfrm>
              <a:off x="1600200" y="685776"/>
              <a:ext cx="5105400" cy="492443"/>
            </a:xfrm>
            <a:prstGeom prst="rect">
              <a:avLst/>
            </a:prstGeom>
            <a:noFill/>
            <a:ln w="9525">
              <a:noFill/>
            </a:ln>
          </p:spPr>
          <p:txBody>
            <a:bodyPr>
              <a:spAutoFit/>
            </a:bodyPr>
            <a:lstStyle/>
            <a:p>
              <a:r>
                <a:rPr lang="zh-CN" altLang="en-US" sz="2600" dirty="0">
                  <a:solidFill>
                    <a:srgbClr val="0000FF"/>
                  </a:solidFill>
                  <a:latin typeface="Times New Roman" panose="02020603050405020304" pitchFamily="18" charset="0"/>
                </a:rPr>
                <a:t>来自北冰洋 </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大西洋的水蒸气</a:t>
              </a:r>
            </a:p>
          </p:txBody>
        </p:sp>
        <p:sp>
          <p:nvSpPr>
            <p:cNvPr id="84999" name="矩形 10"/>
            <p:cNvSpPr/>
            <p:nvPr/>
          </p:nvSpPr>
          <p:spPr>
            <a:xfrm>
              <a:off x="1600200" y="1752906"/>
              <a:ext cx="5105400" cy="492595"/>
            </a:xfrm>
            <a:prstGeom prst="rect">
              <a:avLst/>
            </a:prstGeom>
            <a:noFill/>
            <a:ln w="9525">
              <a:noFill/>
            </a:ln>
          </p:spPr>
          <p:txBody>
            <a:bodyPr>
              <a:spAutoFit/>
            </a:bodyPr>
            <a:lstStyle/>
            <a:p>
              <a:r>
                <a:rPr lang="zh-CN" altLang="en-US" sz="2600" dirty="0">
                  <a:solidFill>
                    <a:srgbClr val="0000FF"/>
                  </a:solidFill>
                  <a:latin typeface="Times New Roman" panose="02020603050405020304" pitchFamily="18" charset="0"/>
                </a:rPr>
                <a:t>活性</a:t>
              </a:r>
              <a:r>
                <a:rPr lang="en-US" altLang="zh-CN" sz="2600" dirty="0">
                  <a:solidFill>
                    <a:srgbClr val="0000FF"/>
                  </a:solidFill>
                  <a:latin typeface="Times New Roman" panose="02020603050405020304" pitchFamily="18" charset="0"/>
                </a:rPr>
                <a:t>+</a:t>
              </a:r>
              <a:r>
                <a:rPr lang="zh-CN" altLang="en-US" sz="2600" dirty="0">
                  <a:solidFill>
                    <a:srgbClr val="0000FF"/>
                  </a:solidFill>
                  <a:latin typeface="Times New Roman" panose="02020603050405020304" pitchFamily="18" charset="0"/>
                </a:rPr>
                <a:t>抗氧化能力强，促进新陈代谢</a:t>
              </a:r>
            </a:p>
          </p:txBody>
        </p:sp>
      </p:gr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p:nvPr/>
        </p:nvSpPr>
        <p:spPr>
          <a:xfrm>
            <a:off x="228600" y="152400"/>
            <a:ext cx="5943600" cy="519113"/>
          </a:xfrm>
          <a:prstGeom prst="rect">
            <a:avLst/>
          </a:prstGeom>
          <a:solidFill>
            <a:srgbClr val="FFC000"/>
          </a:solidFill>
          <a:ln w="12700">
            <a:noFill/>
          </a:ln>
        </p:spPr>
        <p:txBody>
          <a:bodyPr>
            <a:spAutoFit/>
          </a:bodyPr>
          <a:lstStyle/>
          <a:p>
            <a:pPr algn="l" eaLnBrk="0" hangingPunct="0"/>
            <a:r>
              <a:rPr lang="zh-CN" altLang="en-US" sz="2800" i="0" dirty="0">
                <a:solidFill>
                  <a:srgbClr val="C00000"/>
                </a:solidFill>
                <a:latin typeface="Times New Roman" panose="02020603050405020304" pitchFamily="18" charset="0"/>
              </a:rPr>
              <a:t> 氢键的定义、结构特点和形成条件</a:t>
            </a:r>
          </a:p>
        </p:txBody>
      </p:sp>
      <p:grpSp>
        <p:nvGrpSpPr>
          <p:cNvPr id="2" name="组合 6"/>
          <p:cNvGrpSpPr/>
          <p:nvPr/>
        </p:nvGrpSpPr>
        <p:grpSpPr>
          <a:xfrm>
            <a:off x="152400" y="762000"/>
            <a:ext cx="8763000" cy="4708525"/>
            <a:chOff x="152400" y="762000"/>
            <a:chExt cx="8763000" cy="4708169"/>
          </a:xfrm>
        </p:grpSpPr>
        <p:sp>
          <p:nvSpPr>
            <p:cNvPr id="86020" name="Rectangle 3"/>
            <p:cNvSpPr/>
            <p:nvPr/>
          </p:nvSpPr>
          <p:spPr>
            <a:xfrm>
              <a:off x="228600" y="762000"/>
              <a:ext cx="8686800" cy="1436034"/>
            </a:xfrm>
            <a:prstGeom prst="rect">
              <a:avLst/>
            </a:prstGeom>
            <a:noFill/>
            <a:ln w="9525">
              <a:noFill/>
            </a:ln>
          </p:spPr>
          <p:txBody>
            <a:bodyPr anchor="ctr" anchorCtr="0">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当</a:t>
              </a:r>
              <a:r>
                <a:rPr lang="en-US" altLang="zh-CN" sz="2600" i="0" dirty="0">
                  <a:solidFill>
                    <a:schemeClr val="tx1"/>
                  </a:solidFill>
                  <a:latin typeface="Times New Roman" panose="02020603050405020304" pitchFamily="18" charset="0"/>
                </a:rPr>
                <a:t>H</a:t>
              </a:r>
              <a:r>
                <a:rPr lang="zh-CN" altLang="en-US" sz="2600" i="0" dirty="0">
                  <a:solidFill>
                    <a:schemeClr val="tx1"/>
                  </a:solidFill>
                  <a:latin typeface="Times New Roman" panose="02020603050405020304" pitchFamily="18" charset="0"/>
                </a:rPr>
                <a:t>原子同</a:t>
              </a:r>
              <a:r>
                <a:rPr lang="zh-CN" altLang="en-US" sz="2600" i="0" dirty="0">
                  <a:solidFill>
                    <a:srgbClr val="0000FF"/>
                  </a:solidFill>
                  <a:latin typeface="Times New Roman" panose="02020603050405020304" pitchFamily="18" charset="0"/>
                </a:rPr>
                <a:t>电负性大，半径小</a:t>
              </a:r>
              <a:r>
                <a:rPr lang="zh-CN" altLang="en-US" sz="2600" i="0" dirty="0">
                  <a:solidFill>
                    <a:schemeClr val="tx1"/>
                  </a:solidFill>
                  <a:latin typeface="Times New Roman" panose="02020603050405020304" pitchFamily="18" charset="0"/>
                </a:rPr>
                <a:t>的原子</a:t>
              </a:r>
              <a:r>
                <a:rPr lang="en-US" altLang="zh-CN" sz="2600" i="0" dirty="0">
                  <a:solidFill>
                    <a:srgbClr val="0000FF"/>
                  </a:solidFill>
                  <a:latin typeface="Times New Roman" panose="02020603050405020304" pitchFamily="18" charset="0"/>
                </a:rPr>
                <a:t>X</a:t>
              </a:r>
              <a:r>
                <a:rPr lang="zh-CN" altLang="en-US" sz="2600" i="0" dirty="0">
                  <a:solidFill>
                    <a:srgbClr val="0000FF"/>
                  </a:solidFill>
                  <a:latin typeface="Times New Roman" panose="02020603050405020304" pitchFamily="18" charset="0"/>
                </a:rPr>
                <a:t>（</a:t>
              </a:r>
              <a:r>
                <a:rPr lang="en-US" altLang="zh-CN" sz="2600" i="0" dirty="0">
                  <a:solidFill>
                    <a:srgbClr val="0000FF"/>
                  </a:solidFill>
                  <a:latin typeface="Times New Roman" panose="02020603050405020304" pitchFamily="18" charset="0"/>
                </a:rPr>
                <a:t>X</a:t>
              </a:r>
              <a:r>
                <a:rPr lang="zh-CN" altLang="en-US" sz="2600" i="0" dirty="0">
                  <a:solidFill>
                    <a:srgbClr val="0000FF"/>
                  </a:solidFill>
                  <a:latin typeface="Times New Roman" panose="02020603050405020304" pitchFamily="18" charset="0"/>
                </a:rPr>
                <a:t>＝</a:t>
              </a:r>
              <a:r>
                <a:rPr lang="en-US" altLang="zh-CN" sz="2600" i="0" dirty="0">
                  <a:solidFill>
                    <a:srgbClr val="0000FF"/>
                  </a:solidFill>
                  <a:latin typeface="Times New Roman" panose="02020603050405020304" pitchFamily="18" charset="0"/>
                </a:rPr>
                <a:t>F</a:t>
              </a:r>
              <a:r>
                <a:rPr lang="zh-CN" altLang="en-US" sz="2600" i="0" dirty="0">
                  <a:solidFill>
                    <a:srgbClr val="0000FF"/>
                  </a:solidFill>
                  <a:latin typeface="Times New Roman" panose="02020603050405020304" pitchFamily="18" charset="0"/>
                </a:rPr>
                <a:t>、</a:t>
              </a:r>
              <a:r>
                <a:rPr lang="en-US" altLang="zh-CN" sz="2600" i="0" dirty="0">
                  <a:solidFill>
                    <a:srgbClr val="0000FF"/>
                  </a:solidFill>
                  <a:latin typeface="Times New Roman" panose="02020603050405020304" pitchFamily="18" charset="0"/>
                </a:rPr>
                <a:t>O</a:t>
              </a:r>
              <a:r>
                <a:rPr lang="zh-CN" altLang="en-US" sz="2600" i="0" dirty="0">
                  <a:solidFill>
                    <a:srgbClr val="0000FF"/>
                  </a:solidFill>
                  <a:latin typeface="Times New Roman" panose="02020603050405020304" pitchFamily="18" charset="0"/>
                </a:rPr>
                <a:t>、</a:t>
              </a:r>
              <a:r>
                <a:rPr lang="en-US" altLang="zh-CN" sz="2600" i="0" dirty="0">
                  <a:solidFill>
                    <a:srgbClr val="0000FF"/>
                  </a:solidFill>
                  <a:latin typeface="Times New Roman" panose="02020603050405020304" pitchFamily="18" charset="0"/>
                </a:rPr>
                <a:t>N</a:t>
              </a:r>
              <a:r>
                <a:rPr lang="zh-CN" altLang="en-US" sz="2600" i="0" dirty="0">
                  <a:solidFill>
                    <a:srgbClr val="0000FF"/>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相结合时，电子对强烈地偏向</a:t>
              </a:r>
              <a:r>
                <a:rPr lang="en-US" altLang="zh-CN" sz="2600" i="0" dirty="0">
                  <a:solidFill>
                    <a:schemeClr val="tx1"/>
                  </a:solidFill>
                  <a:latin typeface="Times New Roman" panose="02020603050405020304" pitchFamily="18" charset="0"/>
                </a:rPr>
                <a:t>X</a:t>
              </a:r>
              <a:r>
                <a:rPr lang="zh-CN" altLang="en-US" sz="2600" i="0" dirty="0">
                  <a:solidFill>
                    <a:schemeClr val="tx1"/>
                  </a:solidFill>
                  <a:latin typeface="Times New Roman" panose="02020603050405020304" pitchFamily="18" charset="0"/>
                </a:rPr>
                <a:t>方，使</a:t>
              </a:r>
              <a:r>
                <a:rPr lang="en-US" altLang="zh-CN" sz="2600" i="0" dirty="0">
                  <a:solidFill>
                    <a:schemeClr val="tx1"/>
                  </a:solidFill>
                  <a:latin typeface="Times New Roman" panose="02020603050405020304" pitchFamily="18" charset="0"/>
                </a:rPr>
                <a:t>H</a:t>
              </a:r>
              <a:r>
                <a:rPr lang="zh-CN" altLang="en-US" sz="2600" i="0" dirty="0">
                  <a:solidFill>
                    <a:schemeClr val="tx1"/>
                  </a:solidFill>
                  <a:latin typeface="Times New Roman" panose="02020603050405020304" pitchFamily="18" charset="0"/>
                </a:rPr>
                <a:t>原子几乎成为“裸核”。        </a:t>
              </a:r>
            </a:p>
          </p:txBody>
        </p:sp>
        <p:sp>
          <p:nvSpPr>
            <p:cNvPr id="86021" name="Rectangle 32"/>
            <p:cNvSpPr/>
            <p:nvPr/>
          </p:nvSpPr>
          <p:spPr>
            <a:xfrm>
              <a:off x="152400" y="2286000"/>
              <a:ext cx="8747125" cy="1436034"/>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这个“裸核”</a:t>
              </a:r>
              <a:r>
                <a:rPr lang="en-US" altLang="zh-CN" sz="2600" i="0" dirty="0">
                  <a:solidFill>
                    <a:schemeClr val="tx1"/>
                  </a:solidFill>
                  <a:latin typeface="Times New Roman" panose="02020603050405020304" pitchFamily="18" charset="0"/>
                </a:rPr>
                <a:t>H</a:t>
              </a:r>
              <a:r>
                <a:rPr lang="zh-CN" altLang="en-US" sz="2600" i="0" dirty="0">
                  <a:solidFill>
                    <a:schemeClr val="tx1"/>
                  </a:solidFill>
                  <a:latin typeface="Times New Roman" panose="02020603050405020304" pitchFamily="18" charset="0"/>
                </a:rPr>
                <a:t>又被另一个电负性大的带孤电子对的</a:t>
              </a:r>
              <a:r>
                <a:rPr lang="en-US" altLang="zh-CN" sz="2600" i="0" dirty="0">
                  <a:solidFill>
                    <a:schemeClr val="tx1"/>
                  </a:solidFill>
                  <a:latin typeface="Times New Roman" panose="02020603050405020304" pitchFamily="18" charset="0"/>
                </a:rPr>
                <a:t>Y</a:t>
              </a:r>
              <a:r>
                <a:rPr lang="zh-CN" altLang="en-US" sz="2600" i="0" dirty="0">
                  <a:solidFill>
                    <a:schemeClr val="tx1"/>
                  </a:solidFill>
                  <a:latin typeface="Times New Roman" panose="02020603050405020304" pitchFamily="18" charset="0"/>
                </a:rPr>
                <a:t>所吸引，这种由电负性大的原子与氢形成的化学键而引起的对另一原子的孤对电子的吸引称为氢键</a:t>
              </a:r>
            </a:p>
          </p:txBody>
        </p:sp>
        <p:sp>
          <p:nvSpPr>
            <p:cNvPr id="86022" name="Rectangle 33"/>
            <p:cNvSpPr/>
            <p:nvPr/>
          </p:nvSpPr>
          <p:spPr>
            <a:xfrm>
              <a:off x="381000" y="4495800"/>
              <a:ext cx="8534400" cy="974369"/>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氢键的键能在</a:t>
              </a:r>
              <a:r>
                <a:rPr lang="en-US" altLang="zh-CN" sz="2600" i="0" dirty="0">
                  <a:solidFill>
                    <a:schemeClr val="tx1"/>
                  </a:solidFill>
                  <a:latin typeface="Times New Roman" panose="02020603050405020304" pitchFamily="18" charset="0"/>
                </a:rPr>
                <a:t>41.84kJmol</a:t>
              </a:r>
              <a:r>
                <a:rPr lang="en-US" altLang="zh-CN" sz="2600" i="0" baseline="3000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以下，所以强度大于分子间力，远小于化学键。</a:t>
              </a:r>
            </a:p>
          </p:txBody>
        </p:sp>
        <p:sp>
          <p:nvSpPr>
            <p:cNvPr id="86023" name="Rectangle 34"/>
            <p:cNvSpPr/>
            <p:nvPr/>
          </p:nvSpPr>
          <p:spPr>
            <a:xfrm>
              <a:off x="609600" y="3810000"/>
              <a:ext cx="7430239" cy="512704"/>
            </a:xfrm>
            <a:prstGeom prst="rect">
              <a:avLst/>
            </a:prstGeom>
            <a:noFill/>
            <a:ln w="9525">
              <a:noFill/>
            </a:ln>
          </p:spPr>
          <p:txBody>
            <a:bodyPr wrap="none">
              <a:spAutoFit/>
            </a:bodyPr>
            <a:lstStyle/>
            <a:p>
              <a:pPr>
                <a:lnSpc>
                  <a:spcPts val="3600"/>
                </a:lnSpc>
              </a:pPr>
              <a:r>
                <a:rPr lang="zh-CN" altLang="en-US" sz="2600" i="0" dirty="0">
                  <a:solidFill>
                    <a:srgbClr val="0000FF"/>
                  </a:solidFill>
                  <a:latin typeface="Times New Roman" panose="02020603050405020304" pitchFamily="18" charset="0"/>
                </a:rPr>
                <a:t>用</a:t>
              </a:r>
              <a:r>
                <a:rPr lang="en-US" altLang="zh-CN" sz="2600" i="0" dirty="0">
                  <a:solidFill>
                    <a:srgbClr val="0000FF"/>
                  </a:solidFill>
                  <a:latin typeface="Times New Roman" panose="02020603050405020304" pitchFamily="18" charset="0"/>
                </a:rPr>
                <a:t>X—H…Y</a:t>
              </a:r>
              <a:r>
                <a:rPr lang="zh-CN" altLang="en-US" sz="2600" i="0" dirty="0">
                  <a:solidFill>
                    <a:srgbClr val="0000FF"/>
                  </a:solidFill>
                  <a:latin typeface="Times New Roman" panose="02020603050405020304" pitchFamily="18" charset="0"/>
                </a:rPr>
                <a:t>来表示氢键</a:t>
              </a:r>
              <a:r>
                <a:rPr lang="en-US" altLang="zh-CN" sz="2600" i="0" dirty="0">
                  <a:solidFill>
                    <a:srgbClr val="0000FF"/>
                  </a:solidFill>
                  <a:latin typeface="Times New Roman" panose="02020603050405020304" pitchFamily="18" charset="0"/>
                </a:rPr>
                <a:t>——X</a:t>
              </a:r>
              <a:r>
                <a:rPr lang="zh-CN" altLang="en-US" sz="2600" i="0" dirty="0">
                  <a:solidFill>
                    <a:srgbClr val="0000FF"/>
                  </a:solidFill>
                  <a:latin typeface="Times New Roman" panose="02020603050405020304" pitchFamily="18" charset="0"/>
                </a:rPr>
                <a:t>、</a:t>
              </a:r>
              <a:r>
                <a:rPr lang="en-US" altLang="zh-CN" sz="2600" i="0" dirty="0">
                  <a:solidFill>
                    <a:srgbClr val="0000FF"/>
                  </a:solidFill>
                  <a:latin typeface="Times New Roman" panose="02020603050405020304" pitchFamily="18" charset="0"/>
                </a:rPr>
                <a:t>Y</a:t>
              </a:r>
              <a:r>
                <a:rPr lang="zh-CN" altLang="en-US" sz="2600" i="0" dirty="0">
                  <a:solidFill>
                    <a:srgbClr val="0000FF"/>
                  </a:solidFill>
                  <a:latin typeface="Times New Roman" panose="02020603050405020304" pitchFamily="18" charset="0"/>
                </a:rPr>
                <a:t>可以是同一原子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9986"/>
                                        </p:tgtEl>
                                        <p:attrNameLst>
                                          <p:attrName>style.visibility</p:attrName>
                                        </p:attrNameLst>
                                      </p:cBhvr>
                                      <p:to>
                                        <p:strVal val="visible"/>
                                      </p:to>
                                    </p:set>
                                    <p:animEffect transition="in" filter="blinds(horizontal)">
                                      <p:cBhvr>
                                        <p:cTn id="7" dur="500"/>
                                        <p:tgtEl>
                                          <p:spTgt spid="1699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31"/>
          <p:cNvPicPr>
            <a:picLocks noChangeAspect="1"/>
          </p:cNvPicPr>
          <p:nvPr/>
        </p:nvPicPr>
        <p:blipFill>
          <a:blip r:embed="rId3"/>
          <a:stretch>
            <a:fillRect/>
          </a:stretch>
        </p:blipFill>
        <p:spPr>
          <a:xfrm>
            <a:off x="1447800" y="1600200"/>
            <a:ext cx="6172200" cy="3276600"/>
          </a:xfrm>
          <a:prstGeom prst="rect">
            <a:avLst/>
          </a:prstGeom>
          <a:noFill/>
          <a:ln w="9525">
            <a:noFill/>
          </a:ln>
        </p:spPr>
      </p:pic>
      <p:sp>
        <p:nvSpPr>
          <p:cNvPr id="87043" name="Rectangle 32"/>
          <p:cNvSpPr/>
          <p:nvPr/>
        </p:nvSpPr>
        <p:spPr>
          <a:xfrm>
            <a:off x="228600" y="304800"/>
            <a:ext cx="8610600" cy="974725"/>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氢键基本上属静电吸引作用，下图是水分子间的氢键示意图。</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25" name="Rectangle 29"/>
          <p:cNvSpPr/>
          <p:nvPr/>
        </p:nvSpPr>
        <p:spPr>
          <a:xfrm>
            <a:off x="152400" y="152400"/>
            <a:ext cx="8839200" cy="2359025"/>
          </a:xfrm>
          <a:prstGeom prst="rect">
            <a:avLst/>
          </a:prstGeom>
          <a:noFill/>
          <a:ln w="9525">
            <a:noFill/>
          </a:ln>
        </p:spPr>
        <p:txBody>
          <a:bodyPr anchor="ctr" anchorCtr="0">
            <a:spAutoFit/>
          </a:bodyPr>
          <a:lstStyle/>
          <a:p>
            <a:pPr algn="l">
              <a:lnSpc>
                <a:spcPts val="3600"/>
              </a:lnSpc>
            </a:pPr>
            <a:r>
              <a:rPr lang="en-US" altLang="zh-CN" sz="260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一般形成氢键的条件是：</a:t>
            </a:r>
          </a:p>
          <a:p>
            <a:pPr algn="l">
              <a:lnSpc>
                <a:spcPts val="3600"/>
              </a:lnSpc>
            </a:pPr>
            <a:r>
              <a:rPr lang="zh-CN" altLang="en-US"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(1) </a:t>
            </a:r>
            <a:r>
              <a:rPr lang="zh-CN" altLang="en-US" sz="2600" i="0" dirty="0">
                <a:solidFill>
                  <a:schemeClr val="tx1"/>
                </a:solidFill>
                <a:latin typeface="Times New Roman" panose="02020603050405020304" pitchFamily="18" charset="0"/>
              </a:rPr>
              <a:t>电负性大的原子</a:t>
            </a:r>
            <a:r>
              <a:rPr lang="en-US" altLang="zh-CN" sz="2600" i="0" dirty="0">
                <a:solidFill>
                  <a:schemeClr val="tx1"/>
                </a:solidFill>
                <a:latin typeface="Times New Roman" panose="02020603050405020304" pitchFamily="18" charset="0"/>
              </a:rPr>
              <a:t>X</a:t>
            </a:r>
            <a:r>
              <a:rPr lang="zh-CN" altLang="en-US" sz="2600" i="0" dirty="0">
                <a:solidFill>
                  <a:schemeClr val="tx1"/>
                </a:solidFill>
                <a:latin typeface="Times New Roman" panose="02020603050405020304" pitchFamily="18" charset="0"/>
              </a:rPr>
              <a:t>与</a:t>
            </a:r>
            <a:r>
              <a:rPr lang="en-US" altLang="zh-CN" sz="2600" i="0" dirty="0">
                <a:solidFill>
                  <a:schemeClr val="tx1"/>
                </a:solidFill>
                <a:latin typeface="Times New Roman" panose="02020603050405020304" pitchFamily="18" charset="0"/>
              </a:rPr>
              <a:t>H</a:t>
            </a:r>
            <a:r>
              <a:rPr lang="zh-CN" altLang="en-US" sz="2600" i="0" dirty="0">
                <a:solidFill>
                  <a:schemeClr val="tx1"/>
                </a:solidFill>
                <a:latin typeface="Times New Roman" panose="02020603050405020304" pitchFamily="18" charset="0"/>
              </a:rPr>
              <a:t>以共价键结合，且极性较大；</a:t>
            </a:r>
          </a:p>
          <a:p>
            <a:pPr algn="l">
              <a:lnSpc>
                <a:spcPts val="3600"/>
              </a:lnSpc>
            </a:pPr>
            <a:r>
              <a:rPr lang="zh-CN" altLang="en-US"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有另一个电负性大且有孤对电子的</a:t>
            </a:r>
            <a:r>
              <a:rPr lang="en-US" altLang="zh-CN" sz="2600" i="0" dirty="0">
                <a:solidFill>
                  <a:schemeClr val="tx1"/>
                </a:solidFill>
                <a:latin typeface="Times New Roman" panose="02020603050405020304" pitchFamily="18" charset="0"/>
              </a:rPr>
              <a:t>Y</a:t>
            </a:r>
            <a:r>
              <a:rPr lang="zh-CN" altLang="en-US" sz="2600" i="0" dirty="0">
                <a:solidFill>
                  <a:schemeClr val="tx1"/>
                </a:solidFill>
                <a:latin typeface="Times New Roman" panose="02020603050405020304" pitchFamily="18" charset="0"/>
              </a:rPr>
              <a:t>原子</a:t>
            </a:r>
            <a:r>
              <a:rPr lang="en-US" altLang="zh-CN" sz="2600" i="0" dirty="0">
                <a:solidFill>
                  <a:schemeClr val="tx1"/>
                </a:solidFill>
                <a:latin typeface="Times New Roman" panose="02020603050405020304" pitchFamily="18" charset="0"/>
              </a:rPr>
              <a:t>(Y= or ≠X)</a:t>
            </a:r>
            <a:r>
              <a:rPr lang="zh-CN" altLang="en-US" sz="2600" i="0" dirty="0">
                <a:solidFill>
                  <a:schemeClr val="tx1"/>
                </a:solidFill>
                <a:latin typeface="Times New Roman" panose="02020603050405020304" pitchFamily="18" charset="0"/>
              </a:rPr>
              <a:t>；</a:t>
            </a:r>
          </a:p>
          <a:p>
            <a:pPr algn="l">
              <a:lnSpc>
                <a:spcPts val="3600"/>
              </a:lnSpc>
            </a:pPr>
            <a:r>
              <a:rPr lang="zh-CN" altLang="en-US"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(3) Y</a:t>
            </a:r>
            <a:r>
              <a:rPr lang="zh-CN" altLang="en-US" sz="2600" i="0" dirty="0">
                <a:solidFill>
                  <a:schemeClr val="tx1"/>
                </a:solidFill>
                <a:latin typeface="Times New Roman" panose="02020603050405020304" pitchFamily="18" charset="0"/>
              </a:rPr>
              <a:t>与</a:t>
            </a:r>
            <a:r>
              <a:rPr lang="en-US" altLang="zh-CN" sz="2600" i="0" dirty="0">
                <a:solidFill>
                  <a:schemeClr val="tx1"/>
                </a:solidFill>
                <a:latin typeface="Times New Roman" panose="02020603050405020304" pitchFamily="18" charset="0"/>
              </a:rPr>
              <a:t>H</a:t>
            </a:r>
            <a:r>
              <a:rPr lang="zh-CN" altLang="en-US" sz="2600" i="0" dirty="0">
                <a:solidFill>
                  <a:schemeClr val="tx1"/>
                </a:solidFill>
                <a:latin typeface="Times New Roman" panose="02020603050405020304" pitchFamily="18" charset="0"/>
              </a:rPr>
              <a:t>按一定方向靠近形成氢键；</a:t>
            </a:r>
          </a:p>
          <a:p>
            <a:pPr algn="l">
              <a:lnSpc>
                <a:spcPts val="3600"/>
              </a:lnSpc>
            </a:pPr>
            <a:r>
              <a:rPr lang="zh-CN" altLang="en-US" sz="2600" i="0" dirty="0">
                <a:solidFill>
                  <a:schemeClr val="tx1"/>
                </a:solidFill>
                <a:latin typeface="Times New Roman" panose="02020603050405020304" pitchFamily="18" charset="0"/>
              </a:rPr>
              <a:t>        显然，氢键具有方向性和饱和性。</a:t>
            </a:r>
          </a:p>
        </p:txBody>
      </p:sp>
      <p:grpSp>
        <p:nvGrpSpPr>
          <p:cNvPr id="2" name="组合 6"/>
          <p:cNvGrpSpPr/>
          <p:nvPr/>
        </p:nvGrpSpPr>
        <p:grpSpPr>
          <a:xfrm>
            <a:off x="152400" y="2819400"/>
            <a:ext cx="8918575" cy="2622550"/>
            <a:chOff x="76200" y="3048000"/>
            <a:chExt cx="8918575" cy="2622550"/>
          </a:xfrm>
        </p:grpSpPr>
        <p:sp>
          <p:nvSpPr>
            <p:cNvPr id="88068" name="Rectangle 56"/>
            <p:cNvSpPr/>
            <p:nvPr/>
          </p:nvSpPr>
          <p:spPr>
            <a:xfrm>
              <a:off x="76200" y="3048000"/>
              <a:ext cx="2514600" cy="492443"/>
            </a:xfrm>
            <a:prstGeom prst="rect">
              <a:avLst/>
            </a:prstGeom>
            <a:solidFill>
              <a:srgbClr val="FFC000"/>
            </a:solidFill>
            <a:ln w="12700">
              <a:noFill/>
            </a:ln>
          </p:spPr>
          <p:txBody>
            <a:bodyPr>
              <a:spAutoFit/>
            </a:bodyPr>
            <a:lstStyle/>
            <a:p>
              <a:pPr eaLnBrk="0" hangingPunct="0"/>
              <a:r>
                <a:rPr lang="zh-CN" altLang="en-US" sz="2600" i="0" dirty="0">
                  <a:solidFill>
                    <a:srgbClr val="C00000"/>
                  </a:solidFill>
                  <a:latin typeface="楷体_GB2312" pitchFamily="49" charset="-122"/>
                </a:rPr>
                <a:t>氢键的类型</a:t>
              </a:r>
            </a:p>
          </p:txBody>
        </p:sp>
        <p:sp>
          <p:nvSpPr>
            <p:cNvPr id="88069" name="Text Box 57"/>
            <p:cNvSpPr txBox="1"/>
            <p:nvPr/>
          </p:nvSpPr>
          <p:spPr>
            <a:xfrm>
              <a:off x="1066800" y="3657600"/>
              <a:ext cx="3759200" cy="488950"/>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有非对称和对称之分</a:t>
              </a:r>
            </a:p>
          </p:txBody>
        </p:sp>
        <p:sp>
          <p:nvSpPr>
            <p:cNvPr id="88070" name="Text Box 58"/>
            <p:cNvSpPr txBox="1"/>
            <p:nvPr/>
          </p:nvSpPr>
          <p:spPr>
            <a:xfrm>
              <a:off x="304800" y="4343400"/>
              <a:ext cx="8610600" cy="488950"/>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        ▲  </a:t>
              </a:r>
              <a:r>
                <a:rPr lang="zh-CN" altLang="en-US" sz="2600" i="0" dirty="0">
                  <a:solidFill>
                    <a:schemeClr val="tx1"/>
                  </a:solidFill>
                  <a:latin typeface="Times New Roman" panose="02020603050405020304" pitchFamily="18" charset="0"/>
                </a:rPr>
                <a:t>有分子内（如缔合分子）和分子间（如图）之分</a:t>
              </a:r>
            </a:p>
          </p:txBody>
        </p:sp>
        <p:sp>
          <p:nvSpPr>
            <p:cNvPr id="88071" name="Text Box 59"/>
            <p:cNvSpPr txBox="1"/>
            <p:nvPr/>
          </p:nvSpPr>
          <p:spPr>
            <a:xfrm>
              <a:off x="304800" y="5181600"/>
              <a:ext cx="8689975" cy="488950"/>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        ▲  </a:t>
              </a:r>
              <a:r>
                <a:rPr lang="zh-CN" altLang="en-US" sz="2600" i="0" dirty="0">
                  <a:solidFill>
                    <a:schemeClr val="tx1"/>
                  </a:solidFill>
                  <a:latin typeface="Times New Roman" panose="02020603050405020304" pitchFamily="18" charset="0"/>
                </a:rPr>
                <a:t>有强弱之分（与元素的电负性有关）</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3325"/>
                                        </p:tgtEl>
                                        <p:attrNameLst>
                                          <p:attrName>style.visibility</p:attrName>
                                        </p:attrNameLst>
                                      </p:cBhvr>
                                      <p:to>
                                        <p:strVal val="visible"/>
                                      </p:to>
                                    </p:set>
                                    <p:animEffect transition="in" filter="blinds(horizontal)">
                                      <p:cBhvr>
                                        <p:cTn id="7" dur="1000"/>
                                        <p:tgtEl>
                                          <p:spTgt spid="1833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2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4"/>
          <p:cNvGrpSpPr/>
          <p:nvPr/>
        </p:nvGrpSpPr>
        <p:grpSpPr>
          <a:xfrm>
            <a:off x="990600" y="228600"/>
            <a:ext cx="7239000" cy="4800600"/>
            <a:chOff x="990600" y="228600"/>
            <a:chExt cx="7239000" cy="2514600"/>
          </a:xfrm>
        </p:grpSpPr>
        <p:graphicFrame>
          <p:nvGraphicFramePr>
            <p:cNvPr id="15362" name="Object 21"/>
            <p:cNvGraphicFramePr>
              <a:graphicFrameLocks/>
            </p:cNvGraphicFramePr>
            <p:nvPr/>
          </p:nvGraphicFramePr>
          <p:xfrm>
            <a:off x="3581400" y="228600"/>
            <a:ext cx="4648200" cy="2514600"/>
          </p:xfrm>
          <a:graphic>
            <a:graphicData uri="http://schemas.openxmlformats.org/presentationml/2006/ole">
              <p:oleObj spid="_x0000_s102401" r:id="rId4" imgW="1028700" imgH="1057275" progId="">
                <p:embed/>
              </p:oleObj>
            </a:graphicData>
          </a:graphic>
        </p:graphicFrame>
        <p:sp>
          <p:nvSpPr>
            <p:cNvPr id="15365" name="Text Box 22"/>
            <p:cNvSpPr txBox="1"/>
            <p:nvPr/>
          </p:nvSpPr>
          <p:spPr>
            <a:xfrm>
              <a:off x="990600" y="1447800"/>
              <a:ext cx="2209800" cy="257946"/>
            </a:xfrm>
            <a:prstGeom prst="rect">
              <a:avLst/>
            </a:prstGeom>
            <a:solidFill>
              <a:srgbClr val="FFCC99"/>
            </a:solidFill>
            <a:ln w="9525" cap="flat" cmpd="sng">
              <a:solidFill>
                <a:schemeClr val="bg1"/>
              </a:solidFill>
              <a:prstDash val="solid"/>
              <a:miter/>
              <a:headEnd type="none" w="med" len="med"/>
              <a:tailEnd type="none" w="med" len="med"/>
            </a:ln>
          </p:spPr>
          <p:txBody>
            <a:bodyPr>
              <a:spAutoFit/>
            </a:bodyPr>
            <a:lstStyle/>
            <a:p>
              <a:pPr eaLnBrk="0" hangingPunct="0">
                <a:spcBef>
                  <a:spcPct val="50000"/>
                </a:spcBef>
              </a:pPr>
              <a:r>
                <a:rPr lang="zh-CN" altLang="en-US" sz="2600" dirty="0">
                  <a:solidFill>
                    <a:schemeClr val="tx1"/>
                  </a:solidFill>
                  <a:latin typeface="Times New Roman" panose="02020603050405020304" pitchFamily="18" charset="0"/>
                </a:rPr>
                <a:t>邻硝基苯酚</a:t>
              </a:r>
            </a:p>
          </p:txBody>
        </p:sp>
      </p:grpSp>
      <p:sp>
        <p:nvSpPr>
          <p:cNvPr id="5" name="矩形 4"/>
          <p:cNvSpPr/>
          <p:nvPr/>
        </p:nvSpPr>
        <p:spPr>
          <a:xfrm>
            <a:off x="609600" y="5257800"/>
            <a:ext cx="7943850" cy="492125"/>
          </a:xfrm>
          <a:prstGeom prst="rect">
            <a:avLst/>
          </a:prstGeom>
          <a:noFill/>
          <a:ln w="9525">
            <a:noFill/>
          </a:ln>
        </p:spPr>
        <p:txBody>
          <a:bodyPr wrap="none">
            <a:spAutoFit/>
          </a:bodyPr>
          <a:lstStyle/>
          <a:p>
            <a:pPr eaLnBrk="0" hangingPunct="0">
              <a:spcBef>
                <a:spcPct val="50000"/>
              </a:spcBef>
            </a:pPr>
            <a:r>
              <a:rPr lang="zh-CN" altLang="en-US" sz="2600" dirty="0">
                <a:solidFill>
                  <a:srgbClr val="0000FF"/>
                </a:solidFill>
                <a:latin typeface="Times New Roman" panose="02020603050405020304" pitchFamily="18" charset="0"/>
              </a:rPr>
              <a:t>所以，邻硝基苯酚的熔沸点比对硝基苯酚要低，</a:t>
            </a:r>
            <a:r>
              <a:rPr lang="en-US" altLang="zh-CN" sz="2600" dirty="0">
                <a:solidFill>
                  <a:srgbClr val="0000FF"/>
                </a:solidFill>
                <a:latin typeface="Times New Roman" panose="02020603050405020304" pitchFamily="18" charset="0"/>
              </a:rPr>
              <a:t>why?</a:t>
            </a:r>
            <a:endParaRPr lang="zh-CN" altLang="en-US" sz="2600" dirty="0">
              <a:solidFill>
                <a:srgbClr val="0000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6"/>
          <p:cNvGrpSpPr/>
          <p:nvPr/>
        </p:nvGrpSpPr>
        <p:grpSpPr>
          <a:xfrm>
            <a:off x="457200" y="304800"/>
            <a:ext cx="8534400" cy="4038600"/>
            <a:chOff x="566" y="1872"/>
            <a:chExt cx="5083" cy="2180"/>
          </a:xfrm>
        </p:grpSpPr>
        <p:sp>
          <p:nvSpPr>
            <p:cNvPr id="89091" name="Rectangle 7"/>
            <p:cNvSpPr/>
            <p:nvPr/>
          </p:nvSpPr>
          <p:spPr>
            <a:xfrm>
              <a:off x="566" y="2545"/>
              <a:ext cx="1440" cy="1196"/>
            </a:xfrm>
            <a:prstGeom prst="rect">
              <a:avLst/>
            </a:prstGeom>
            <a:noFill/>
            <a:ln w="9525">
              <a:noFill/>
            </a:ln>
          </p:spPr>
          <p:txBody>
            <a:bodyPr>
              <a:spAutoFit/>
            </a:bodyPr>
            <a:lstStyle/>
            <a:p>
              <a:pPr eaLnBrk="0" hangingPunct="0">
                <a:lnSpc>
                  <a:spcPct val="75000"/>
                </a:lnSpc>
                <a:spcBef>
                  <a:spcPct val="50000"/>
                </a:spcBef>
              </a:pPr>
              <a:r>
                <a:rPr lang="zh-CN" altLang="en-US" sz="2600" i="0" dirty="0">
                  <a:solidFill>
                    <a:schemeClr val="tx1"/>
                  </a:solidFill>
                  <a:latin typeface="楷体_GB2312" pitchFamily="49" charset="-122"/>
                </a:rPr>
                <a:t>不对称氢键</a:t>
              </a:r>
            </a:p>
            <a:p>
              <a:pPr eaLnBrk="0" hangingPunct="0">
                <a:lnSpc>
                  <a:spcPct val="75000"/>
                </a:lnSpc>
                <a:spcBef>
                  <a:spcPct val="50000"/>
                </a:spcBef>
              </a:pPr>
              <a:r>
                <a:rPr lang="zh-CN" altLang="en-US" sz="2600" i="0" dirty="0">
                  <a:solidFill>
                    <a:schemeClr val="tx1"/>
                  </a:solidFill>
                  <a:latin typeface="楷体_GB2312" pitchFamily="49" charset="-122"/>
                </a:rPr>
                <a:t>不对称氢键</a:t>
              </a:r>
            </a:p>
            <a:p>
              <a:pPr eaLnBrk="0" hangingPunct="0">
                <a:lnSpc>
                  <a:spcPct val="75000"/>
                </a:lnSpc>
                <a:spcBef>
                  <a:spcPct val="50000"/>
                </a:spcBef>
              </a:pPr>
              <a:r>
                <a:rPr lang="zh-CN" altLang="en-US" sz="2600" i="0" dirty="0">
                  <a:solidFill>
                    <a:schemeClr val="tx1"/>
                  </a:solidFill>
                  <a:latin typeface="楷体_GB2312" pitchFamily="49" charset="-122"/>
                </a:rPr>
                <a:t> 不对称氢键</a:t>
              </a:r>
            </a:p>
            <a:p>
              <a:pPr eaLnBrk="0" hangingPunct="0">
                <a:lnSpc>
                  <a:spcPct val="75000"/>
                </a:lnSpc>
                <a:spcBef>
                  <a:spcPct val="50000"/>
                </a:spcBef>
              </a:pPr>
              <a:r>
                <a:rPr lang="zh-CN" altLang="en-US" sz="2600" i="0" dirty="0">
                  <a:solidFill>
                    <a:schemeClr val="tx1"/>
                  </a:solidFill>
                  <a:latin typeface="楷体_GB2312" pitchFamily="49" charset="-122"/>
                </a:rPr>
                <a:t>不对称氢键</a:t>
              </a:r>
            </a:p>
            <a:p>
              <a:pPr eaLnBrk="0" hangingPunct="0">
                <a:lnSpc>
                  <a:spcPct val="75000"/>
                </a:lnSpc>
                <a:spcBef>
                  <a:spcPct val="50000"/>
                </a:spcBef>
              </a:pPr>
              <a:r>
                <a:rPr lang="zh-CN" altLang="en-US" sz="2600" i="0" dirty="0">
                  <a:solidFill>
                    <a:schemeClr val="tx1"/>
                  </a:solidFill>
                  <a:latin typeface="楷体_GB2312" pitchFamily="49" charset="-122"/>
                </a:rPr>
                <a:t>对称氢键</a:t>
              </a:r>
            </a:p>
          </p:txBody>
        </p:sp>
        <p:sp>
          <p:nvSpPr>
            <p:cNvPr id="89092" name="Rectangle 8"/>
            <p:cNvSpPr/>
            <p:nvPr/>
          </p:nvSpPr>
          <p:spPr>
            <a:xfrm>
              <a:off x="1882" y="2568"/>
              <a:ext cx="2327" cy="1174"/>
            </a:xfrm>
            <a:prstGeom prst="rect">
              <a:avLst/>
            </a:prstGeom>
            <a:noFill/>
            <a:ln w="38100">
              <a:noFill/>
            </a:ln>
          </p:spPr>
          <p:txBody>
            <a:bodyPr>
              <a:spAutoFit/>
            </a:bodyPr>
            <a:lstStyle/>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F—H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FH</a:t>
              </a: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HO—H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OH</a:t>
              </a:r>
              <a:r>
                <a:rPr lang="en-US" altLang="zh-CN" sz="2600" i="0" baseline="-30000" dirty="0">
                  <a:solidFill>
                    <a:schemeClr val="tx1"/>
                  </a:solidFill>
                  <a:latin typeface="Times New Roman" panose="02020603050405020304" pitchFamily="18" charset="0"/>
                  <a:ea typeface="宋体" panose="02010600030101010101" pitchFamily="2" charset="-122"/>
                </a:rPr>
                <a:t>2</a:t>
              </a:r>
              <a:endParaRPr lang="en-US" altLang="zh-CN" sz="2600" i="0" dirty="0">
                <a:solidFill>
                  <a:schemeClr val="tx1"/>
                </a:solidFill>
                <a:latin typeface="Times New Roman" panose="02020603050405020304" pitchFamily="18" charset="0"/>
                <a:ea typeface="宋体" panose="02010600030101010101" pitchFamily="2" charset="-122"/>
              </a:endParaRP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   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N—H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NH</a:t>
              </a:r>
              <a:r>
                <a:rPr lang="en-US" altLang="zh-CN" sz="2600" i="0" baseline="-30000" dirty="0">
                  <a:solidFill>
                    <a:schemeClr val="tx1"/>
                  </a:solidFill>
                  <a:latin typeface="Times New Roman" panose="02020603050405020304" pitchFamily="18" charset="0"/>
                  <a:ea typeface="宋体" panose="02010600030101010101" pitchFamily="2" charset="-122"/>
                </a:rPr>
                <a:t>3</a:t>
              </a:r>
              <a:endParaRPr lang="en-US" altLang="zh-CN" sz="2600" i="0" dirty="0">
                <a:solidFill>
                  <a:schemeClr val="tx1"/>
                </a:solidFill>
                <a:latin typeface="Times New Roman" panose="02020603050405020304" pitchFamily="18" charset="0"/>
                <a:ea typeface="宋体" panose="02010600030101010101" pitchFamily="2" charset="-122"/>
              </a:endParaRP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HS—H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SH</a:t>
              </a:r>
              <a:r>
                <a:rPr lang="en-US" altLang="zh-CN" sz="2600" i="0" baseline="-30000" dirty="0">
                  <a:solidFill>
                    <a:schemeClr val="tx1"/>
                  </a:solidFill>
                  <a:latin typeface="Times New Roman" panose="02020603050405020304" pitchFamily="18" charset="0"/>
                  <a:ea typeface="宋体" panose="02010600030101010101" pitchFamily="2" charset="-122"/>
                </a:rPr>
                <a:t>2</a:t>
              </a:r>
              <a:endParaRPr lang="en-US" altLang="zh-CN" sz="2600" i="0" dirty="0">
                <a:solidFill>
                  <a:schemeClr val="tx1"/>
                </a:solidFill>
                <a:latin typeface="Times New Roman" panose="02020603050405020304" pitchFamily="18" charset="0"/>
                <a:ea typeface="宋体" panose="02010600030101010101" pitchFamily="2" charset="-122"/>
              </a:endParaRP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F</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F </a:t>
              </a:r>
            </a:p>
          </p:txBody>
        </p:sp>
        <p:sp>
          <p:nvSpPr>
            <p:cNvPr id="89093" name="Rectangle 9"/>
            <p:cNvSpPr/>
            <p:nvPr/>
          </p:nvSpPr>
          <p:spPr>
            <a:xfrm>
              <a:off x="4305" y="2545"/>
              <a:ext cx="624" cy="1507"/>
            </a:xfrm>
            <a:prstGeom prst="rect">
              <a:avLst/>
            </a:prstGeom>
            <a:noFill/>
            <a:ln w="9525">
              <a:noFill/>
            </a:ln>
          </p:spPr>
          <p:txBody>
            <a:bodyPr>
              <a:spAutoFit/>
            </a:bodyPr>
            <a:lstStyle/>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29</a:t>
              </a: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25</a:t>
              </a: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17</a:t>
              </a: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7</a:t>
              </a:r>
            </a:p>
            <a:p>
              <a:pPr eaLnBrk="0" hangingPunct="0">
                <a:lnSpc>
                  <a:spcPct val="75000"/>
                </a:lnSpc>
                <a:spcBef>
                  <a:spcPct val="50000"/>
                </a:spcBef>
              </a:pPr>
              <a:r>
                <a:rPr lang="en-US" altLang="zh-CN" sz="2600" i="0" dirty="0">
                  <a:solidFill>
                    <a:schemeClr val="tx1"/>
                  </a:solidFill>
                  <a:latin typeface="Times New Roman" panose="02020603050405020304" pitchFamily="18" charset="0"/>
                  <a:ea typeface="宋体" panose="02010600030101010101" pitchFamily="2" charset="-122"/>
                </a:rPr>
                <a:t>165</a:t>
              </a:r>
            </a:p>
          </p:txBody>
        </p:sp>
        <p:sp>
          <p:nvSpPr>
            <p:cNvPr id="89094" name="Line 10"/>
            <p:cNvSpPr/>
            <p:nvPr/>
          </p:nvSpPr>
          <p:spPr>
            <a:xfrm flipV="1">
              <a:off x="885" y="2225"/>
              <a:ext cx="4474" cy="10"/>
            </a:xfrm>
            <a:prstGeom prst="line">
              <a:avLst/>
            </a:prstGeom>
            <a:ln w="28575" cap="flat" cmpd="sng">
              <a:solidFill>
                <a:srgbClr val="CCECFF"/>
              </a:solidFill>
              <a:prstDash val="solid"/>
              <a:headEnd type="none" w="med" len="med"/>
              <a:tailEnd type="none" w="med" len="med"/>
            </a:ln>
          </p:spPr>
        </p:sp>
        <p:sp>
          <p:nvSpPr>
            <p:cNvPr id="89095" name="Rectangle 11"/>
            <p:cNvSpPr/>
            <p:nvPr/>
          </p:nvSpPr>
          <p:spPr>
            <a:xfrm>
              <a:off x="793" y="2205"/>
              <a:ext cx="599" cy="310"/>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类型</a:t>
              </a:r>
            </a:p>
          </p:txBody>
        </p:sp>
        <p:sp>
          <p:nvSpPr>
            <p:cNvPr id="89096" name="Rectangle 12"/>
            <p:cNvSpPr/>
            <p:nvPr/>
          </p:nvSpPr>
          <p:spPr>
            <a:xfrm>
              <a:off x="2064" y="2246"/>
              <a:ext cx="1315" cy="242"/>
            </a:xfrm>
            <a:prstGeom prst="rect">
              <a:avLst/>
            </a:prstGeom>
            <a:noFill/>
            <a:ln w="9525">
              <a:noFill/>
            </a:ln>
          </p:spPr>
          <p:txBody>
            <a:bodyPr>
              <a:spAutoFit/>
            </a:bodyPr>
            <a:lstStyle/>
            <a:p>
              <a:pPr algn="l" eaLnBrk="0" hangingPunct="0"/>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氢键</a:t>
              </a:r>
            </a:p>
          </p:txBody>
        </p:sp>
        <p:sp>
          <p:nvSpPr>
            <p:cNvPr id="89097" name="Rectangle 13"/>
            <p:cNvSpPr/>
            <p:nvPr/>
          </p:nvSpPr>
          <p:spPr>
            <a:xfrm>
              <a:off x="3288" y="2251"/>
              <a:ext cx="2361" cy="242"/>
            </a:xfrm>
            <a:prstGeom prst="rect">
              <a:avLst/>
            </a:prstGeom>
            <a:noFill/>
            <a:ln w="9525">
              <a:noFill/>
            </a:ln>
          </p:spPr>
          <p:txBody>
            <a:bodyPr>
              <a:spAutoFit/>
            </a:bodyPr>
            <a:lstStyle/>
            <a:p>
              <a:pPr eaLnBrk="0" hangingPunct="0"/>
              <a:r>
                <a:rPr lang="zh-CN" altLang="en-US" sz="2600" i="0" dirty="0">
                  <a:solidFill>
                    <a:schemeClr val="tx1"/>
                  </a:solidFill>
                  <a:latin typeface="Times New Roman" panose="02020603050405020304" pitchFamily="18" charset="0"/>
                </a:rPr>
                <a:t>   解离焓近似值</a:t>
              </a:r>
              <a:r>
                <a:rPr lang="en-US" altLang="zh-CN" sz="2600" i="0" dirty="0">
                  <a:solidFill>
                    <a:schemeClr val="tx1"/>
                  </a:solidFill>
                  <a:latin typeface="Times New Roman" panose="02020603050405020304" pitchFamily="18" charset="0"/>
                </a:rPr>
                <a:t>/ kJ</a:t>
              </a:r>
              <a:r>
                <a:rPr lang="en-US" altLang="zh-CN" sz="2600" i="0" dirty="0">
                  <a:solidFill>
                    <a:schemeClr val="tx1"/>
                  </a:solidFill>
                  <a:latin typeface="Times New Roman" panose="02020603050405020304" pitchFamily="18" charset="0"/>
                  <a:cs typeface="Times New Roman" panose="02020603050405020304" pitchFamily="18" charset="0"/>
                </a:rPr>
                <a:t>∙</a:t>
              </a:r>
              <a:r>
                <a:rPr lang="en-US" altLang="zh-CN" sz="2600" i="0" dirty="0">
                  <a:solidFill>
                    <a:schemeClr val="tx1"/>
                  </a:solidFill>
                  <a:latin typeface="Times New Roman" panose="02020603050405020304" pitchFamily="18" charset="0"/>
                </a:rPr>
                <a:t>mol</a:t>
              </a:r>
              <a:r>
                <a:rPr lang="en-US" altLang="zh-CN" sz="2600" i="0" baseline="30000" dirty="0">
                  <a:solidFill>
                    <a:schemeClr val="tx1"/>
                  </a:solidFill>
                  <a:latin typeface="Times New Roman" panose="02020603050405020304" pitchFamily="18" charset="0"/>
                </a:rPr>
                <a:t>-1</a:t>
              </a:r>
            </a:p>
          </p:txBody>
        </p:sp>
        <p:sp>
          <p:nvSpPr>
            <p:cNvPr id="89098" name="Line 14"/>
            <p:cNvSpPr/>
            <p:nvPr/>
          </p:nvSpPr>
          <p:spPr>
            <a:xfrm>
              <a:off x="612" y="2507"/>
              <a:ext cx="4511" cy="0"/>
            </a:xfrm>
            <a:prstGeom prst="line">
              <a:avLst/>
            </a:prstGeom>
            <a:ln w="9525" cap="flat" cmpd="sng">
              <a:solidFill>
                <a:srgbClr val="CCECFF"/>
              </a:solidFill>
              <a:prstDash val="solid"/>
              <a:headEnd type="none" w="med" len="med"/>
              <a:tailEnd type="none" w="med" len="med"/>
            </a:ln>
          </p:spPr>
        </p:sp>
        <p:sp>
          <p:nvSpPr>
            <p:cNvPr id="89099" name="Line 15"/>
            <p:cNvSpPr/>
            <p:nvPr/>
          </p:nvSpPr>
          <p:spPr>
            <a:xfrm flipV="1">
              <a:off x="884" y="3936"/>
              <a:ext cx="4491" cy="0"/>
            </a:xfrm>
            <a:prstGeom prst="line">
              <a:avLst/>
            </a:prstGeom>
            <a:ln w="28575" cap="flat" cmpd="sng">
              <a:solidFill>
                <a:srgbClr val="CCECFF"/>
              </a:solidFill>
              <a:prstDash val="solid"/>
              <a:headEnd type="none" w="med" len="med"/>
              <a:tailEnd type="none" w="med" len="med"/>
            </a:ln>
          </p:spPr>
        </p:sp>
        <p:sp>
          <p:nvSpPr>
            <p:cNvPr id="89100" name="Text Box 16"/>
            <p:cNvSpPr txBox="1"/>
            <p:nvPr/>
          </p:nvSpPr>
          <p:spPr>
            <a:xfrm>
              <a:off x="839" y="1872"/>
              <a:ext cx="2948" cy="212"/>
            </a:xfrm>
            <a:prstGeom prst="rect">
              <a:avLst/>
            </a:prstGeom>
            <a:noFill/>
            <a:ln w="15875">
              <a:noFill/>
            </a:ln>
          </p:spPr>
          <p:txBody>
            <a:bodyPr>
              <a:spAutoFit/>
            </a:bodyPr>
            <a:lstStyle/>
            <a:p>
              <a:pPr algn="l" eaLnBrk="0" hangingPunct="0">
                <a:lnSpc>
                  <a:spcPct val="75000"/>
                </a:lnSpc>
                <a:spcBef>
                  <a:spcPct val="50000"/>
                </a:spcBef>
              </a:pPr>
              <a:r>
                <a:rPr lang="zh-CN" altLang="en-US" sz="2600" i="0" dirty="0">
                  <a:solidFill>
                    <a:schemeClr val="tx1"/>
                  </a:solidFill>
                  <a:latin typeface="Times New Roman" panose="02020603050405020304" pitchFamily="18" charset="0"/>
                </a:rPr>
                <a:t>不同类型氢键的解离焓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90114" name="Text Box 2"/>
          <p:cNvSpPr txBox="1"/>
          <p:nvPr/>
        </p:nvSpPr>
        <p:spPr>
          <a:xfrm>
            <a:off x="76200" y="152400"/>
            <a:ext cx="4343400" cy="533400"/>
          </a:xfrm>
          <a:prstGeom prst="rect">
            <a:avLst/>
          </a:prstGeom>
          <a:solidFill>
            <a:srgbClr val="FFC000"/>
          </a:solidFill>
          <a:ln w="9525">
            <a:noFill/>
          </a:ln>
        </p:spPr>
        <p:txBody>
          <a:bodyPr>
            <a:spAutoFit/>
          </a:bodyPr>
          <a:lstStyle/>
          <a:p>
            <a:pPr algn="l" eaLnBrk="0" hangingPunct="0"/>
            <a:r>
              <a:rPr lang="zh-CN" altLang="en-US" sz="2800" i="0" dirty="0">
                <a:solidFill>
                  <a:srgbClr val="C00000"/>
                </a:solidFill>
                <a:latin typeface="Times New Roman" panose="02020603050405020304" pitchFamily="18" charset="0"/>
              </a:rPr>
              <a:t>氢键对化合物性质的影响</a:t>
            </a:r>
          </a:p>
        </p:txBody>
      </p:sp>
      <p:grpSp>
        <p:nvGrpSpPr>
          <p:cNvPr id="2" name="组合 19"/>
          <p:cNvGrpSpPr/>
          <p:nvPr/>
        </p:nvGrpSpPr>
        <p:grpSpPr>
          <a:xfrm>
            <a:off x="762000" y="685800"/>
            <a:ext cx="6945313" cy="3382963"/>
            <a:chOff x="762000" y="685800"/>
            <a:chExt cx="6945287" cy="3383349"/>
          </a:xfrm>
        </p:grpSpPr>
        <p:sp>
          <p:nvSpPr>
            <p:cNvPr id="90117" name="Text Box 3"/>
            <p:cNvSpPr txBox="1"/>
            <p:nvPr/>
          </p:nvSpPr>
          <p:spPr>
            <a:xfrm>
              <a:off x="1143000" y="762000"/>
              <a:ext cx="3239122" cy="674039"/>
            </a:xfrm>
            <a:prstGeom prst="rect">
              <a:avLst/>
            </a:prstGeom>
            <a:noFill/>
            <a:ln w="9525">
              <a:noFill/>
            </a:ln>
          </p:spPr>
          <p:txBody>
            <a:bodyPr>
              <a:spAutoFit/>
            </a:bodyPr>
            <a:lstStyle/>
            <a:p>
              <a:pPr algn="l" eaLnBrk="0" hangingPunct="0"/>
              <a:r>
                <a:rPr lang="en-US" altLang="zh-CN" i="0" dirty="0">
                  <a:solidFill>
                    <a:schemeClr val="tx1"/>
                  </a:solidFill>
                  <a:latin typeface="Times New Roman" panose="02020603050405020304" pitchFamily="18" charset="0"/>
                </a:rPr>
                <a:t>▲    m.p.</a:t>
              </a:r>
              <a:r>
                <a:rPr lang="zh-CN" altLang="en-US" i="0" dirty="0">
                  <a:solidFill>
                    <a:schemeClr val="tx1"/>
                  </a:solidFill>
                  <a:latin typeface="Times New Roman" panose="02020603050405020304" pitchFamily="18" charset="0"/>
                </a:rPr>
                <a:t>，</a:t>
              </a:r>
              <a:r>
                <a:rPr lang="en-US" altLang="zh-CN" i="0" dirty="0">
                  <a:solidFill>
                    <a:schemeClr val="tx1"/>
                  </a:solidFill>
                  <a:latin typeface="Times New Roman" panose="02020603050405020304" pitchFamily="18" charset="0"/>
                </a:rPr>
                <a:t>b.p.</a:t>
              </a:r>
            </a:p>
          </p:txBody>
        </p:sp>
        <p:sp>
          <p:nvSpPr>
            <p:cNvPr id="90118" name="Text Box 4"/>
            <p:cNvSpPr txBox="1"/>
            <p:nvPr/>
          </p:nvSpPr>
          <p:spPr>
            <a:xfrm>
              <a:off x="4800600" y="685800"/>
              <a:ext cx="1685353" cy="674039"/>
            </a:xfrm>
            <a:prstGeom prst="rect">
              <a:avLst/>
            </a:prstGeom>
            <a:noFill/>
            <a:ln w="9525">
              <a:noFill/>
            </a:ln>
          </p:spPr>
          <p:txBody>
            <a:bodyPr>
              <a:spAutoFit/>
            </a:bodyPr>
            <a:lstStyle/>
            <a:p>
              <a:pPr algn="l" eaLnBrk="0" hangingPunct="0"/>
              <a:r>
                <a:rPr lang="en-US" altLang="zh-CN" i="0" dirty="0">
                  <a:solidFill>
                    <a:schemeClr val="tx1"/>
                  </a:solidFill>
                  <a:latin typeface="Times New Roman" panose="02020603050405020304" pitchFamily="18" charset="0"/>
                </a:rPr>
                <a:t>▲   </a:t>
              </a:r>
              <a:r>
                <a:rPr lang="zh-CN" altLang="en-US" i="0" dirty="0">
                  <a:solidFill>
                    <a:schemeClr val="tx1"/>
                  </a:solidFill>
                  <a:latin typeface="Times New Roman" panose="02020603050405020304" pitchFamily="18" charset="0"/>
                </a:rPr>
                <a:t>粘度</a:t>
              </a:r>
            </a:p>
          </p:txBody>
        </p:sp>
        <p:sp>
          <p:nvSpPr>
            <p:cNvPr id="90119" name="Text Box 5"/>
            <p:cNvSpPr txBox="1"/>
            <p:nvPr/>
          </p:nvSpPr>
          <p:spPr>
            <a:xfrm>
              <a:off x="1143000" y="1447800"/>
              <a:ext cx="1930495" cy="674039"/>
            </a:xfrm>
            <a:prstGeom prst="rect">
              <a:avLst/>
            </a:prstGeom>
            <a:noFill/>
            <a:ln w="9525">
              <a:noFill/>
            </a:ln>
          </p:spPr>
          <p:txBody>
            <a:bodyPr>
              <a:spAutoFit/>
            </a:bodyPr>
            <a:lstStyle/>
            <a:p>
              <a:pPr algn="l" eaLnBrk="0" hangingPunct="0"/>
              <a:r>
                <a:rPr lang="en-US" altLang="zh-CN" i="0" dirty="0">
                  <a:solidFill>
                    <a:schemeClr val="tx1"/>
                  </a:solidFill>
                  <a:latin typeface="Times New Roman" panose="02020603050405020304" pitchFamily="18" charset="0"/>
                </a:rPr>
                <a:t>▲   </a:t>
              </a:r>
              <a:r>
                <a:rPr lang="zh-CN" altLang="en-US" i="0" dirty="0">
                  <a:solidFill>
                    <a:schemeClr val="tx1"/>
                  </a:solidFill>
                  <a:latin typeface="Times New Roman" panose="02020603050405020304" pitchFamily="18" charset="0"/>
                </a:rPr>
                <a:t>酸性</a:t>
              </a:r>
            </a:p>
          </p:txBody>
        </p:sp>
        <p:sp>
          <p:nvSpPr>
            <p:cNvPr id="90120" name="Text Box 6"/>
            <p:cNvSpPr txBox="1"/>
            <p:nvPr/>
          </p:nvSpPr>
          <p:spPr>
            <a:xfrm>
              <a:off x="4876800" y="1371600"/>
              <a:ext cx="2747034" cy="674039"/>
            </a:xfrm>
            <a:prstGeom prst="rect">
              <a:avLst/>
            </a:prstGeom>
            <a:noFill/>
            <a:ln w="9525">
              <a:noFill/>
            </a:ln>
          </p:spPr>
          <p:txBody>
            <a:bodyPr>
              <a:spAutoFit/>
            </a:bodyPr>
            <a:lstStyle/>
            <a:p>
              <a:pPr algn="l" eaLnBrk="0" hangingPunct="0"/>
              <a:r>
                <a:rPr lang="en-US" altLang="zh-CN" i="0" dirty="0">
                  <a:solidFill>
                    <a:schemeClr val="tx1"/>
                  </a:solidFill>
                  <a:latin typeface="Times New Roman" panose="02020603050405020304" pitchFamily="18" charset="0"/>
                </a:rPr>
                <a:t>▲  </a:t>
              </a:r>
              <a:r>
                <a:rPr lang="zh-CN" altLang="en-US" i="0" dirty="0">
                  <a:solidFill>
                    <a:schemeClr val="tx1"/>
                  </a:solidFill>
                  <a:latin typeface="Times New Roman" panose="02020603050405020304" pitchFamily="18" charset="0"/>
                </a:rPr>
                <a:t>化学反应性</a:t>
              </a:r>
            </a:p>
          </p:txBody>
        </p:sp>
        <p:grpSp>
          <p:nvGrpSpPr>
            <p:cNvPr id="90121" name="Group 7"/>
            <p:cNvGrpSpPr/>
            <p:nvPr/>
          </p:nvGrpSpPr>
          <p:grpSpPr>
            <a:xfrm>
              <a:off x="762000" y="1981200"/>
              <a:ext cx="6945287" cy="2087949"/>
              <a:chOff x="1917" y="2596"/>
              <a:chExt cx="3431" cy="1074"/>
            </a:xfrm>
          </p:grpSpPr>
          <p:sp>
            <p:nvSpPr>
              <p:cNvPr id="90122" name="Text Box 8"/>
              <p:cNvSpPr txBox="1"/>
              <p:nvPr/>
            </p:nvSpPr>
            <p:spPr>
              <a:xfrm>
                <a:off x="1917" y="2976"/>
                <a:ext cx="939" cy="347"/>
              </a:xfrm>
              <a:prstGeom prst="rect">
                <a:avLst/>
              </a:prstGeom>
              <a:noFill/>
              <a:ln w="9525">
                <a:noFill/>
              </a:ln>
            </p:spPr>
            <p:txBody>
              <a:bodyPr wrap="none">
                <a:spAutoFit/>
              </a:bodyPr>
              <a:lstStyle/>
              <a:p>
                <a:pPr algn="l" eaLnBrk="0" hangingPunct="0">
                  <a:buNone/>
                </a:pPr>
                <a:r>
                  <a:rPr lang="en-US" altLang="zh-CN" i="0" dirty="0">
                    <a:solidFill>
                      <a:schemeClr val="tx1"/>
                    </a:solidFill>
                    <a:latin typeface="Arial Black" panose="020B0A04020102020204" pitchFamily="34" charset="0"/>
                    <a:ea typeface="宋体" panose="02010600030101010101" pitchFamily="2" charset="-122"/>
                  </a:rPr>
                  <a:t>Na</a:t>
                </a:r>
                <a:r>
                  <a:rPr lang="en-US" altLang="zh-CN" i="0" baseline="30000" dirty="0">
                    <a:solidFill>
                      <a:schemeClr val="tx1"/>
                    </a:solidFill>
                    <a:latin typeface="Arial Black" panose="020B0A04020102020204" pitchFamily="34" charset="0"/>
                    <a:ea typeface="宋体" panose="02010600030101010101" pitchFamily="2" charset="-122"/>
                  </a:rPr>
                  <a:t>+</a:t>
                </a:r>
                <a:r>
                  <a:rPr lang="en-US" altLang="zh-CN" i="0" dirty="0">
                    <a:solidFill>
                      <a:schemeClr val="tx1"/>
                    </a:solidFill>
                    <a:latin typeface="Arial Black" panose="020B0A04020102020204" pitchFamily="34" charset="0"/>
                    <a:ea typeface="宋体" panose="02010600030101010101" pitchFamily="2" charset="-122"/>
                  </a:rPr>
                  <a:t> </a:t>
                </a:r>
                <a:r>
                  <a:rPr lang="en-US" altLang="zh-CN" i="0" baseline="30000" dirty="0">
                    <a:solidFill>
                      <a:schemeClr val="tx1"/>
                    </a:solidFill>
                    <a:latin typeface="Arial Black" panose="020B0A04020102020204" pitchFamily="34" charset="0"/>
                    <a:ea typeface="宋体" panose="02010600030101010101" pitchFamily="2" charset="-122"/>
                  </a:rPr>
                  <a:t>–</a:t>
                </a:r>
                <a:r>
                  <a:rPr lang="en-US" altLang="zh-CN" i="0" dirty="0">
                    <a:solidFill>
                      <a:schemeClr val="tx1"/>
                    </a:solidFill>
                    <a:latin typeface="Arial Black" panose="020B0A04020102020204" pitchFamily="34" charset="0"/>
                    <a:ea typeface="宋体" panose="02010600030101010101" pitchFamily="2" charset="-122"/>
                  </a:rPr>
                  <a:t> O</a:t>
                </a:r>
                <a:r>
                  <a:rPr lang="en-US" altLang="zh-CN" i="0" dirty="0">
                    <a:solidFill>
                      <a:schemeClr val="tx1"/>
                    </a:solidFill>
                    <a:latin typeface="Arial Black" panose="020B0A04020102020204" pitchFamily="34" charset="0"/>
                    <a:ea typeface="黑体" panose="02010609060101010101" pitchFamily="49" charset="-122"/>
                  </a:rPr>
                  <a:t>-</a:t>
                </a:r>
                <a:r>
                  <a:rPr lang="en-US" altLang="zh-CN" i="0" dirty="0">
                    <a:solidFill>
                      <a:schemeClr val="tx1"/>
                    </a:solidFill>
                    <a:latin typeface="Arial Black" panose="020B0A04020102020204" pitchFamily="34" charset="0"/>
                    <a:ea typeface="宋体" panose="02010600030101010101" pitchFamily="2" charset="-122"/>
                  </a:rPr>
                  <a:t>C</a:t>
                </a:r>
              </a:p>
            </p:txBody>
          </p:sp>
          <p:sp>
            <p:nvSpPr>
              <p:cNvPr id="90123" name="Text Box 9"/>
              <p:cNvSpPr txBox="1"/>
              <p:nvPr/>
            </p:nvSpPr>
            <p:spPr>
              <a:xfrm>
                <a:off x="4315" y="3007"/>
                <a:ext cx="1033" cy="350"/>
              </a:xfrm>
              <a:prstGeom prst="rect">
                <a:avLst/>
              </a:prstGeom>
              <a:noFill/>
              <a:ln w="9525">
                <a:noFill/>
              </a:ln>
            </p:spPr>
            <p:txBody>
              <a:bodyPr wrap="none">
                <a:spAutoFit/>
              </a:bodyPr>
              <a:lstStyle/>
              <a:p>
                <a:pPr algn="l" eaLnBrk="0" hangingPunct="0"/>
                <a:r>
                  <a:rPr lang="en-US" altLang="zh-CN" i="0" dirty="0">
                    <a:solidFill>
                      <a:schemeClr val="tx1"/>
                    </a:solidFill>
                    <a:latin typeface="Arial Black" panose="020B0A04020102020204" pitchFamily="34" charset="0"/>
                    <a:ea typeface="宋体" panose="02010600030101010101" pitchFamily="2" charset="-122"/>
                  </a:rPr>
                  <a:t>C</a:t>
                </a:r>
                <a:r>
                  <a:rPr lang="en-US" altLang="zh-CN" i="0" dirty="0">
                    <a:solidFill>
                      <a:schemeClr val="tx1"/>
                    </a:solidFill>
                    <a:latin typeface="Arial Black" panose="020B0A04020102020204" pitchFamily="34" charset="0"/>
                    <a:ea typeface="黑体" panose="02010609060101010101" pitchFamily="49" charset="-122"/>
                  </a:rPr>
                  <a:t>–</a:t>
                </a:r>
                <a:r>
                  <a:rPr lang="en-US" altLang="zh-CN" i="0" dirty="0">
                    <a:solidFill>
                      <a:schemeClr val="tx1"/>
                    </a:solidFill>
                    <a:latin typeface="Arial Black" panose="020B0A04020102020204" pitchFamily="34" charset="0"/>
                    <a:ea typeface="宋体" panose="02010600030101010101" pitchFamily="2" charset="-122"/>
                  </a:rPr>
                  <a:t>O</a:t>
                </a:r>
                <a:r>
                  <a:rPr lang="en-US" altLang="zh-CN" i="0" baseline="30000" dirty="0">
                    <a:solidFill>
                      <a:schemeClr val="tx1"/>
                    </a:solidFill>
                    <a:latin typeface="Arial Black" panose="020B0A04020102020204" pitchFamily="34" charset="0"/>
                    <a:ea typeface="黑体" panose="02010609060101010101" pitchFamily="49" charset="-122"/>
                  </a:rPr>
                  <a:t>–</a:t>
                </a:r>
                <a:r>
                  <a:rPr lang="en-US" altLang="zh-CN" i="0" dirty="0">
                    <a:solidFill>
                      <a:schemeClr val="tx1"/>
                    </a:solidFill>
                    <a:latin typeface="Arial Black" panose="020B0A04020102020204" pitchFamily="34" charset="0"/>
                    <a:ea typeface="宋体" panose="02010600030101010101" pitchFamily="2" charset="-122"/>
                  </a:rPr>
                  <a:t>  Na</a:t>
                </a:r>
                <a:r>
                  <a:rPr lang="en-US" altLang="zh-CN" i="0" baseline="30000" dirty="0">
                    <a:solidFill>
                      <a:schemeClr val="tx1"/>
                    </a:solidFill>
                    <a:latin typeface="Arial Black" panose="020B0A04020102020204" pitchFamily="34" charset="0"/>
                    <a:ea typeface="宋体" panose="02010600030101010101" pitchFamily="2" charset="-122"/>
                  </a:rPr>
                  <a:t>+</a:t>
                </a:r>
                <a:r>
                  <a:rPr lang="en-US" altLang="zh-CN" i="0" dirty="0">
                    <a:solidFill>
                      <a:schemeClr val="tx1"/>
                    </a:solidFill>
                    <a:latin typeface="Arial Black" panose="020B0A04020102020204" pitchFamily="34" charset="0"/>
                    <a:ea typeface="宋体" panose="02010600030101010101" pitchFamily="2" charset="-122"/>
                  </a:rPr>
                  <a:t> </a:t>
                </a:r>
              </a:p>
            </p:txBody>
          </p:sp>
          <p:sp>
            <p:nvSpPr>
              <p:cNvPr id="90124" name="Text Box 10"/>
              <p:cNvSpPr txBox="1"/>
              <p:nvPr/>
            </p:nvSpPr>
            <p:spPr>
              <a:xfrm>
                <a:off x="3099" y="2596"/>
                <a:ext cx="1240" cy="490"/>
              </a:xfrm>
              <a:prstGeom prst="rect">
                <a:avLst/>
              </a:prstGeom>
              <a:noFill/>
              <a:ln w="9525">
                <a:noFill/>
              </a:ln>
            </p:spPr>
            <p:txBody>
              <a:bodyPr wrap="none">
                <a:spAutoFit/>
              </a:bodyPr>
              <a:lstStyle/>
              <a:p>
                <a:pPr algn="l" eaLnBrk="0" hangingPunct="0"/>
                <a:r>
                  <a:rPr lang="en-US" altLang="zh-CN" i="0" dirty="0">
                    <a:solidFill>
                      <a:schemeClr val="tx1"/>
                    </a:solidFill>
                    <a:latin typeface="Arial Black" panose="020B0A04020102020204" pitchFamily="34" charset="0"/>
                    <a:ea typeface="宋体" panose="02010600030101010101" pitchFamily="2" charset="-122"/>
                  </a:rPr>
                  <a:t>O</a:t>
                </a:r>
                <a:r>
                  <a:rPr lang="en-US" altLang="zh-CN" i="0" dirty="0">
                    <a:solidFill>
                      <a:schemeClr val="tx1"/>
                    </a:solidFill>
                    <a:latin typeface="Arial Black" panose="020B0A04020102020204" pitchFamily="34" charset="0"/>
                    <a:ea typeface="黑体" panose="02010609060101010101" pitchFamily="49" charset="-122"/>
                  </a:rPr>
                  <a:t>–</a:t>
                </a:r>
                <a:r>
                  <a:rPr lang="en-US" altLang="zh-CN" i="0" dirty="0">
                    <a:solidFill>
                      <a:schemeClr val="tx1"/>
                    </a:solidFill>
                    <a:latin typeface="Arial Black" panose="020B0A04020102020204" pitchFamily="34" charset="0"/>
                    <a:ea typeface="宋体" panose="02010600030101010101" pitchFamily="2" charset="-122"/>
                  </a:rPr>
                  <a:t>H  </a:t>
                </a:r>
                <a:r>
                  <a:rPr lang="en-US" altLang="zh-CN" sz="3600" i="0" dirty="0">
                    <a:solidFill>
                      <a:schemeClr val="tx1"/>
                    </a:solidFill>
                    <a:latin typeface="Times New Roman" panose="02020603050405020304" pitchFamily="18" charset="0"/>
                    <a:ea typeface="宋体" panose="02010600030101010101" pitchFamily="2" charset="-122"/>
                  </a:rPr>
                  <a:t>· · ·</a:t>
                </a:r>
                <a:r>
                  <a:rPr lang="en-US" altLang="zh-CN" i="0" dirty="0">
                    <a:solidFill>
                      <a:schemeClr val="tx1"/>
                    </a:solidFill>
                    <a:latin typeface="Arial Black" panose="020B0A04020102020204" pitchFamily="34" charset="0"/>
                    <a:ea typeface="宋体" panose="02010600030101010101" pitchFamily="2" charset="-122"/>
                  </a:rPr>
                  <a:t>  O</a:t>
                </a:r>
              </a:p>
            </p:txBody>
          </p:sp>
          <p:sp>
            <p:nvSpPr>
              <p:cNvPr id="90125" name="Text Box 11"/>
              <p:cNvSpPr txBox="1"/>
              <p:nvPr/>
            </p:nvSpPr>
            <p:spPr>
              <a:xfrm>
                <a:off x="3099" y="3184"/>
                <a:ext cx="1316" cy="486"/>
              </a:xfrm>
              <a:prstGeom prst="rect">
                <a:avLst/>
              </a:prstGeom>
              <a:noFill/>
              <a:ln w="9525">
                <a:noFill/>
              </a:ln>
            </p:spPr>
            <p:txBody>
              <a:bodyPr>
                <a:spAutoFit/>
              </a:bodyPr>
              <a:lstStyle/>
              <a:p>
                <a:pPr algn="l" eaLnBrk="0" hangingPunct="0"/>
                <a:r>
                  <a:rPr lang="en-US" altLang="zh-CN" i="0" dirty="0">
                    <a:solidFill>
                      <a:schemeClr val="tx1"/>
                    </a:solidFill>
                    <a:latin typeface="Arial Black" panose="020B0A04020102020204" pitchFamily="34" charset="0"/>
                    <a:ea typeface="宋体" panose="02010600030101010101" pitchFamily="2" charset="-122"/>
                  </a:rPr>
                  <a:t>O </a:t>
                </a:r>
                <a:r>
                  <a:rPr lang="en-US" altLang="zh-CN" sz="3600" i="0" dirty="0">
                    <a:solidFill>
                      <a:schemeClr val="tx1"/>
                    </a:solidFill>
                    <a:latin typeface="Times New Roman" panose="02020603050405020304" pitchFamily="18" charset="0"/>
                    <a:ea typeface="宋体" panose="02010600030101010101" pitchFamily="2" charset="-122"/>
                  </a:rPr>
                  <a:t>· · ·</a:t>
                </a:r>
                <a:r>
                  <a:rPr lang="en-US" altLang="zh-CN" sz="3600" b="0" dirty="0">
                    <a:solidFill>
                      <a:schemeClr val="tx1"/>
                    </a:solidFill>
                    <a:latin typeface="Times New Roman" panose="02020603050405020304" pitchFamily="18" charset="0"/>
                    <a:ea typeface="宋体" panose="02010600030101010101" pitchFamily="2" charset="-122"/>
                  </a:rPr>
                  <a:t> </a:t>
                </a:r>
                <a:r>
                  <a:rPr lang="en-US" altLang="zh-CN" i="0" dirty="0">
                    <a:solidFill>
                      <a:schemeClr val="tx1"/>
                    </a:solidFill>
                    <a:latin typeface="Arial Black" panose="020B0A04020102020204" pitchFamily="34" charset="0"/>
                    <a:ea typeface="宋体" panose="02010600030101010101" pitchFamily="2" charset="-122"/>
                  </a:rPr>
                  <a:t>H </a:t>
                </a:r>
                <a:r>
                  <a:rPr lang="en-US" altLang="zh-CN" i="0" dirty="0">
                    <a:solidFill>
                      <a:schemeClr val="tx1"/>
                    </a:solidFill>
                    <a:latin typeface="Arial Black" panose="020B0A04020102020204" pitchFamily="34" charset="0"/>
                    <a:ea typeface="黑体" panose="02010609060101010101" pitchFamily="49" charset="-122"/>
                  </a:rPr>
                  <a:t>–</a:t>
                </a:r>
                <a:r>
                  <a:rPr lang="en-US" altLang="zh-CN" i="0" dirty="0">
                    <a:solidFill>
                      <a:schemeClr val="tx1"/>
                    </a:solidFill>
                    <a:latin typeface="Arial Black" panose="020B0A04020102020204" pitchFamily="34" charset="0"/>
                    <a:ea typeface="宋体" panose="02010600030101010101" pitchFamily="2" charset="-122"/>
                  </a:rPr>
                  <a:t> O</a:t>
                </a:r>
              </a:p>
            </p:txBody>
          </p:sp>
          <p:sp>
            <p:nvSpPr>
              <p:cNvPr id="90126" name="Line 12"/>
              <p:cNvSpPr/>
              <p:nvPr/>
            </p:nvSpPr>
            <p:spPr>
              <a:xfrm flipV="1">
                <a:off x="2925" y="2886"/>
                <a:ext cx="123" cy="113"/>
              </a:xfrm>
              <a:prstGeom prst="line">
                <a:avLst/>
              </a:prstGeom>
              <a:ln w="38100" cap="sq" cmpd="sng">
                <a:solidFill>
                  <a:schemeClr val="bg1"/>
                </a:solidFill>
                <a:prstDash val="solid"/>
                <a:headEnd type="none" w="sm" len="sm"/>
                <a:tailEnd type="none" w="sm" len="sm"/>
              </a:ln>
            </p:spPr>
          </p:sp>
          <p:sp>
            <p:nvSpPr>
              <p:cNvPr id="90127" name="Line 13"/>
              <p:cNvSpPr/>
              <p:nvPr/>
            </p:nvSpPr>
            <p:spPr>
              <a:xfrm flipV="1">
                <a:off x="4249" y="3220"/>
                <a:ext cx="99" cy="124"/>
              </a:xfrm>
              <a:prstGeom prst="line">
                <a:avLst/>
              </a:prstGeom>
              <a:ln w="38100" cap="sq" cmpd="sng">
                <a:solidFill>
                  <a:schemeClr val="bg1"/>
                </a:solidFill>
                <a:prstDash val="solid"/>
                <a:headEnd type="none" w="sm" len="sm"/>
                <a:tailEnd type="none" w="sm" len="sm"/>
              </a:ln>
            </p:spPr>
          </p:sp>
          <p:sp>
            <p:nvSpPr>
              <p:cNvPr id="90128" name="Line 14"/>
              <p:cNvSpPr/>
              <p:nvPr/>
            </p:nvSpPr>
            <p:spPr>
              <a:xfrm>
                <a:off x="2886" y="3225"/>
                <a:ext cx="155" cy="155"/>
              </a:xfrm>
              <a:prstGeom prst="line">
                <a:avLst/>
              </a:prstGeom>
              <a:ln w="38100" cap="sq" cmpd="sng">
                <a:solidFill>
                  <a:schemeClr val="bg1"/>
                </a:solidFill>
                <a:prstDash val="solid"/>
                <a:headEnd type="none" w="sm" len="sm"/>
                <a:tailEnd type="none" w="sm" len="sm"/>
              </a:ln>
            </p:spPr>
          </p:sp>
          <p:sp>
            <p:nvSpPr>
              <p:cNvPr id="90129" name="Line 15"/>
              <p:cNvSpPr/>
              <p:nvPr/>
            </p:nvSpPr>
            <p:spPr>
              <a:xfrm>
                <a:off x="2927" y="3191"/>
                <a:ext cx="155" cy="155"/>
              </a:xfrm>
              <a:prstGeom prst="line">
                <a:avLst/>
              </a:prstGeom>
              <a:ln w="38100" cap="sq" cmpd="sng">
                <a:solidFill>
                  <a:schemeClr val="bg1"/>
                </a:solidFill>
                <a:prstDash val="solid"/>
                <a:headEnd type="none" w="sm" len="sm"/>
                <a:tailEnd type="none" w="sm" len="sm"/>
              </a:ln>
            </p:spPr>
          </p:sp>
          <p:sp>
            <p:nvSpPr>
              <p:cNvPr id="90130" name="Line 16"/>
              <p:cNvSpPr/>
              <p:nvPr/>
            </p:nvSpPr>
            <p:spPr>
              <a:xfrm>
                <a:off x="4200" y="2920"/>
                <a:ext cx="155" cy="155"/>
              </a:xfrm>
              <a:prstGeom prst="line">
                <a:avLst/>
              </a:prstGeom>
              <a:ln w="38100" cap="sq" cmpd="sng">
                <a:solidFill>
                  <a:schemeClr val="bg1"/>
                </a:solidFill>
                <a:prstDash val="solid"/>
                <a:headEnd type="none" w="sm" len="sm"/>
                <a:tailEnd type="none" w="sm" len="sm"/>
              </a:ln>
            </p:spPr>
          </p:sp>
          <p:sp>
            <p:nvSpPr>
              <p:cNvPr id="90131" name="Line 17"/>
              <p:cNvSpPr/>
              <p:nvPr/>
            </p:nvSpPr>
            <p:spPr>
              <a:xfrm>
                <a:off x="4241" y="2886"/>
                <a:ext cx="155" cy="155"/>
              </a:xfrm>
              <a:prstGeom prst="line">
                <a:avLst/>
              </a:prstGeom>
              <a:ln w="38100" cap="sq" cmpd="sng">
                <a:solidFill>
                  <a:schemeClr val="bg1"/>
                </a:solidFill>
                <a:prstDash val="solid"/>
                <a:headEnd type="none" w="sm" len="sm"/>
                <a:tailEnd type="none" w="sm" len="sm"/>
              </a:ln>
            </p:spPr>
          </p:sp>
        </p:grpSp>
      </p:grpSp>
      <p:sp>
        <p:nvSpPr>
          <p:cNvPr id="19" name="矩形 18"/>
          <p:cNvSpPr/>
          <p:nvPr/>
        </p:nvSpPr>
        <p:spPr>
          <a:xfrm>
            <a:off x="214282" y="4214818"/>
            <a:ext cx="8858312" cy="1200329"/>
          </a:xfrm>
          <a:prstGeom prst="rect">
            <a:avLst/>
          </a:prstGeom>
          <a:noFill/>
          <a:ln w="9525">
            <a:noFill/>
          </a:ln>
        </p:spPr>
        <p:txBody>
          <a:bodyPr wrap="square">
            <a:spAutoFit/>
          </a:bodyPr>
          <a:lstStyle/>
          <a:p>
            <a:pPr algn="l"/>
            <a:r>
              <a:rPr lang="zh-CN" altLang="en-US" dirty="0">
                <a:solidFill>
                  <a:srgbClr val="0000FF"/>
                </a:solidFill>
                <a:latin typeface="Times New Roman" panose="02020603050405020304" pitchFamily="18" charset="0"/>
              </a:rPr>
              <a:t>例如</a:t>
            </a:r>
            <a:r>
              <a:rPr lang="en-US" altLang="zh-CN" dirty="0">
                <a:solidFill>
                  <a:srgbClr val="0000FF"/>
                </a:solidFill>
                <a:latin typeface="Times New Roman" panose="02020603050405020304" pitchFamily="18" charset="0"/>
              </a:rPr>
              <a:t>——1</a:t>
            </a:r>
            <a:r>
              <a:rPr lang="zh-CN" altLang="en-US" dirty="0">
                <a:solidFill>
                  <a:srgbClr val="0000FF"/>
                </a:solidFill>
                <a:latin typeface="Times New Roman" panose="02020603050405020304" pitchFamily="18" charset="0"/>
              </a:rPr>
              <a:t>、溶解度：</a:t>
            </a:r>
            <a:r>
              <a:rPr lang="en-US" altLang="zh-CN" dirty="0">
                <a:solidFill>
                  <a:srgbClr val="0000FF"/>
                </a:solidFill>
                <a:latin typeface="Times New Roman" panose="02020603050405020304" pitchFamily="18" charset="0"/>
              </a:rPr>
              <a:t>Na</a:t>
            </a:r>
            <a:r>
              <a:rPr lang="en-US" altLang="zh-CN" baseline="-25000" dirty="0">
                <a:solidFill>
                  <a:srgbClr val="0000FF"/>
                </a:solidFill>
                <a:latin typeface="Times New Roman" panose="02020603050405020304" pitchFamily="18" charset="0"/>
              </a:rPr>
              <a:t>2</a:t>
            </a:r>
            <a:r>
              <a:rPr lang="en-US" altLang="zh-CN" dirty="0">
                <a:solidFill>
                  <a:srgbClr val="0000FF"/>
                </a:solidFill>
                <a:latin typeface="Times New Roman" panose="02020603050405020304" pitchFamily="18" charset="0"/>
              </a:rPr>
              <a:t>CO</a:t>
            </a:r>
            <a:r>
              <a:rPr lang="en-US" altLang="zh-CN" baseline="-25000" dirty="0">
                <a:solidFill>
                  <a:srgbClr val="0000FF"/>
                </a:solidFill>
                <a:latin typeface="Times New Roman" panose="02020603050405020304" pitchFamily="18" charset="0"/>
              </a:rPr>
              <a:t>3</a:t>
            </a:r>
            <a:r>
              <a:rPr lang="zh-CN" altLang="en-US" dirty="0">
                <a:solidFill>
                  <a:srgbClr val="0000FF"/>
                </a:solidFill>
                <a:latin typeface="Times New Roman" panose="02020603050405020304" pitchFamily="18" charset="0"/>
              </a:rPr>
              <a:t>＞ </a:t>
            </a:r>
            <a:r>
              <a:rPr lang="en-US" altLang="zh-CN" dirty="0">
                <a:solidFill>
                  <a:srgbClr val="0000FF"/>
                </a:solidFill>
                <a:latin typeface="Times New Roman" panose="02020603050405020304" pitchFamily="18" charset="0"/>
              </a:rPr>
              <a:t>NaHCO</a:t>
            </a:r>
            <a:r>
              <a:rPr lang="en-US" altLang="zh-CN" baseline="-25000" dirty="0">
                <a:solidFill>
                  <a:srgbClr val="0000FF"/>
                </a:solidFill>
                <a:latin typeface="Times New Roman" panose="02020603050405020304" pitchFamily="18" charset="0"/>
              </a:rPr>
              <a:t>3</a:t>
            </a:r>
          </a:p>
          <a:p>
            <a:pPr algn="l"/>
            <a:r>
              <a:rPr lang="en-US" altLang="zh-CN" dirty="0">
                <a:solidFill>
                  <a:srgbClr val="0000FF"/>
                </a:solidFill>
                <a:latin typeface="Times New Roman" panose="02020603050405020304" pitchFamily="18" charset="0"/>
              </a:rPr>
              <a:t>                2</a:t>
            </a:r>
            <a:r>
              <a:rPr lang="zh-CN" altLang="en-US" dirty="0">
                <a:solidFill>
                  <a:srgbClr val="0000FF"/>
                </a:solidFill>
                <a:latin typeface="Times New Roman" panose="02020603050405020304" pitchFamily="18" charset="0"/>
              </a:rPr>
              <a:t>、熔沸点：</a:t>
            </a:r>
            <a:r>
              <a:rPr lang="en-US" altLang="zh-CN" dirty="0">
                <a:solidFill>
                  <a:srgbClr val="0000FF"/>
                </a:solidFill>
                <a:latin typeface="Times New Roman" panose="02020603050405020304" pitchFamily="18" charset="0"/>
              </a:rPr>
              <a:t>H</a:t>
            </a:r>
            <a:r>
              <a:rPr lang="en-US" altLang="zh-CN" baseline="-25000" dirty="0">
                <a:solidFill>
                  <a:srgbClr val="0000FF"/>
                </a:solidFill>
                <a:latin typeface="Times New Roman" panose="02020603050405020304" pitchFamily="18" charset="0"/>
              </a:rPr>
              <a:t>2</a:t>
            </a:r>
            <a:r>
              <a:rPr lang="en-US" altLang="zh-CN" dirty="0">
                <a:solidFill>
                  <a:srgbClr val="0000FF"/>
                </a:solidFill>
                <a:latin typeface="Times New Roman" panose="02020603050405020304" pitchFamily="18" charset="0"/>
              </a:rPr>
              <a:t>O </a:t>
            </a:r>
            <a:r>
              <a:rPr lang="zh-CN" altLang="en-US" dirty="0">
                <a:solidFill>
                  <a:srgbClr val="0000FF"/>
                </a:solidFill>
                <a:latin typeface="Times New Roman" panose="02020603050405020304" pitchFamily="18" charset="0"/>
              </a:rPr>
              <a:t>＞ </a:t>
            </a:r>
            <a:r>
              <a:rPr lang="en-US" altLang="zh-CN" dirty="0" smtClean="0">
                <a:solidFill>
                  <a:srgbClr val="0000FF"/>
                </a:solidFill>
                <a:latin typeface="Times New Roman" panose="02020603050405020304" pitchFamily="18" charset="0"/>
              </a:rPr>
              <a:t>HF</a:t>
            </a:r>
            <a:r>
              <a:rPr lang="zh-CN" altLang="en-US" dirty="0" smtClean="0">
                <a:solidFill>
                  <a:srgbClr val="0000FF"/>
                </a:solidFill>
                <a:latin typeface="Times New Roman" panose="02020603050405020304" pitchFamily="18" charset="0"/>
              </a:rPr>
              <a:t>、对</a:t>
            </a:r>
            <a:r>
              <a:rPr lang="zh-CN" altLang="en-US" dirty="0" smtClean="0">
                <a:solidFill>
                  <a:srgbClr val="0000FF"/>
                </a:solidFill>
              </a:rPr>
              <a:t>硝基</a:t>
            </a:r>
            <a:r>
              <a:rPr lang="zh-CN" altLang="en-US" smtClean="0">
                <a:solidFill>
                  <a:srgbClr val="0000FF"/>
                </a:solidFill>
              </a:rPr>
              <a:t>甲苯＞邻硝基</a:t>
            </a:r>
            <a:r>
              <a:rPr lang="zh-CN" altLang="en-US" dirty="0" smtClean="0">
                <a:solidFill>
                  <a:srgbClr val="0000FF"/>
                </a:solidFill>
              </a:rPr>
              <a:t>甲苯</a:t>
            </a:r>
            <a:endParaRPr lang="en-US" altLang="zh-CN" dirty="0" smtClean="0">
              <a:solidFill>
                <a:srgbClr val="0000FF"/>
              </a:solidFill>
              <a:latin typeface="Times New Roman" panose="02020603050405020304" pitchFamily="18" charset="0"/>
            </a:endParaRPr>
          </a:p>
          <a:p>
            <a:pPr algn="l"/>
            <a:r>
              <a:rPr lang="en-US" altLang="zh-CN" dirty="0" smtClean="0">
                <a:solidFill>
                  <a:srgbClr val="0000FF"/>
                </a:solidFill>
              </a:rPr>
              <a:t>                3</a:t>
            </a:r>
            <a:r>
              <a:rPr lang="zh-CN" altLang="en-US" dirty="0" smtClean="0">
                <a:solidFill>
                  <a:srgbClr val="0000FF"/>
                </a:solidFill>
              </a:rPr>
              <a:t>、酸碱性：</a:t>
            </a:r>
            <a:r>
              <a:rPr lang="en-US" altLang="zh-CN" dirty="0" smtClean="0">
                <a:solidFill>
                  <a:srgbClr val="0000FF"/>
                </a:solidFill>
              </a:rPr>
              <a:t>HNO</a:t>
            </a:r>
            <a:r>
              <a:rPr lang="en-US" altLang="zh-CN" baseline="-25000" dirty="0" smtClean="0">
                <a:solidFill>
                  <a:srgbClr val="0000FF"/>
                </a:solidFill>
              </a:rPr>
              <a:t>3</a:t>
            </a:r>
            <a:r>
              <a:rPr lang="zh-CN" altLang="en-US" dirty="0" smtClean="0">
                <a:solidFill>
                  <a:srgbClr val="0000FF"/>
                </a:solidFill>
              </a:rPr>
              <a:t>＜</a:t>
            </a:r>
            <a:r>
              <a:rPr lang="en-US" altLang="zh-CN" dirty="0" err="1" smtClean="0">
                <a:solidFill>
                  <a:srgbClr val="0000FF"/>
                </a:solidFill>
              </a:rPr>
              <a:t>HCl</a:t>
            </a:r>
            <a:endParaRPr lang="zh-CN" altLang="en-US" dirty="0">
              <a:solidFill>
                <a:srgbClr val="0000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138" name="组合 3"/>
          <p:cNvGrpSpPr/>
          <p:nvPr/>
        </p:nvGrpSpPr>
        <p:grpSpPr>
          <a:xfrm>
            <a:off x="76200" y="152400"/>
            <a:ext cx="8763000" cy="4854575"/>
            <a:chOff x="152400" y="3429000"/>
            <a:chExt cx="8763000" cy="3908397"/>
          </a:xfrm>
        </p:grpSpPr>
        <p:sp>
          <p:nvSpPr>
            <p:cNvPr id="91139" name="Rectangle 21"/>
            <p:cNvSpPr/>
            <p:nvPr/>
          </p:nvSpPr>
          <p:spPr>
            <a:xfrm>
              <a:off x="152400" y="4038600"/>
              <a:ext cx="8534400" cy="1577098"/>
            </a:xfrm>
            <a:prstGeom prst="rect">
              <a:avLst/>
            </a:prstGeom>
            <a:noFill/>
            <a:ln w="9525">
              <a:noFill/>
            </a:ln>
          </p:spPr>
          <p:txBody>
            <a:bodyPr anchor="ctr" anchorCtr="0">
              <a:spAutoFit/>
            </a:bodyPr>
            <a:lstStyle/>
            <a:p>
              <a:pPr algn="l">
                <a:lnSpc>
                  <a:spcPts val="40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能够形成氢键的化合物很多，如水、醇、胺、羧酸、无机酸、水合物、氨合物等。在生命过程中，具有意义的基本物质</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蛋白质、脂肪、醣</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都含有氢键；       </a:t>
              </a:r>
              <a:endParaRPr lang="zh-CN" altLang="en-US" sz="2600" dirty="0">
                <a:solidFill>
                  <a:schemeClr val="tx1"/>
                </a:solidFill>
                <a:latin typeface="Times New Roman" panose="02020603050405020304" pitchFamily="18" charset="0"/>
              </a:endParaRPr>
            </a:p>
          </p:txBody>
        </p:sp>
        <p:sp>
          <p:nvSpPr>
            <p:cNvPr id="91140" name="Text Box 22"/>
            <p:cNvSpPr txBox="1"/>
            <p:nvPr/>
          </p:nvSpPr>
          <p:spPr>
            <a:xfrm>
              <a:off x="152400" y="3429000"/>
              <a:ext cx="3124200" cy="487333"/>
            </a:xfrm>
            <a:prstGeom prst="rect">
              <a:avLst/>
            </a:prstGeom>
            <a:solidFill>
              <a:srgbClr val="FFC000"/>
            </a:solidFill>
            <a:ln w="9525">
              <a:noFill/>
            </a:ln>
          </p:spPr>
          <p:txBody>
            <a:bodyPr>
              <a:spAutoFit/>
            </a:bodyPr>
            <a:lstStyle/>
            <a:p>
              <a:pPr algn="l" eaLnBrk="0" hangingPunct="0">
                <a:lnSpc>
                  <a:spcPts val="4000"/>
                </a:lnSpc>
              </a:pPr>
              <a:r>
                <a:rPr lang="zh-CN" altLang="en-US" sz="2600" i="0" dirty="0">
                  <a:solidFill>
                    <a:srgbClr val="C00000"/>
                  </a:solidFill>
                  <a:latin typeface="Times New Roman" panose="02020603050405020304" pitchFamily="18" charset="0"/>
                </a:rPr>
                <a:t>存在氢键的化合物</a:t>
              </a:r>
            </a:p>
          </p:txBody>
        </p:sp>
        <p:sp>
          <p:nvSpPr>
            <p:cNvPr id="91141" name="Rectangle 23"/>
            <p:cNvSpPr/>
            <p:nvPr/>
          </p:nvSpPr>
          <p:spPr>
            <a:xfrm>
              <a:off x="152400" y="5760299"/>
              <a:ext cx="8763000" cy="1577098"/>
            </a:xfrm>
            <a:prstGeom prst="rect">
              <a:avLst/>
            </a:prstGeom>
            <a:noFill/>
            <a:ln w="9525">
              <a:noFill/>
            </a:ln>
          </p:spPr>
          <p:txBody>
            <a:bodyPr>
              <a:spAutoFit/>
            </a:bodyPr>
            <a:lstStyle/>
            <a:p>
              <a:pPr algn="l">
                <a:lnSpc>
                  <a:spcPts val="40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氢键存在于晶态、液态甚至气态之中。在很多实际问题中都会遇到氢键的存在。但是，对氢键的本质的认识，却还有许多问题需进一步研究。</a:t>
              </a:r>
              <a:r>
                <a:rPr lang="zh-CN" altLang="en-US" sz="2600" dirty="0">
                  <a:solidFill>
                    <a:schemeClr val="tx1"/>
                  </a:solidFill>
                  <a:latin typeface="Times New Roman" panose="02020603050405020304" pitchFamily="18" charset="0"/>
                </a:rPr>
                <a:t>  </a:t>
              </a:r>
            </a:p>
          </p:txBody>
        </p:sp>
      </p:gr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762000" y="228600"/>
            <a:ext cx="7706995" cy="2306955"/>
          </a:xfrm>
          <a:prstGeom prst="rect">
            <a:avLst/>
          </a:prstGeom>
          <a:noFill/>
          <a:ln w="9525">
            <a:noFill/>
          </a:ln>
        </p:spPr>
        <p:txBody>
          <a:bodyPr wrap="square">
            <a:spAutoFit/>
          </a:bodyPr>
          <a:lstStyle/>
          <a:p>
            <a:pPr indent="355600" algn="l"/>
            <a:r>
              <a:rPr lang="en-US" altLang="zh-CN" b="0" i="0">
                <a:solidFill>
                  <a:schemeClr val="tx1"/>
                </a:solidFill>
                <a:ea typeface="宋体" panose="02010600030101010101" pitchFamily="2" charset="-122"/>
              </a:rPr>
              <a:t>   </a:t>
            </a:r>
            <a:r>
              <a:rPr lang="zh-CN" b="0" i="0">
                <a:solidFill>
                  <a:schemeClr val="tx1"/>
                </a:solidFill>
                <a:ea typeface="宋体" panose="02010600030101010101" pitchFamily="2" charset="-122"/>
              </a:rPr>
              <a:t>下列各组分子之间产生的作用力中，何者只有色散力（</a:t>
            </a:r>
            <a:r>
              <a:rPr lang="en-US" b="0" i="0">
                <a:solidFill>
                  <a:schemeClr val="tx1"/>
                </a:solidFill>
                <a:latin typeface="宋体" panose="02010600030101010101" pitchFamily="2" charset="-122"/>
              </a:rPr>
              <a:t>    </a:t>
            </a:r>
            <a:r>
              <a:rPr lang="zh-CN" b="0" i="0">
                <a:solidFill>
                  <a:schemeClr val="tx1"/>
                </a:solidFill>
                <a:ea typeface="宋体" panose="02010600030101010101" pitchFamily="2" charset="-122"/>
              </a:rPr>
              <a:t>）；何者有色散力和诱导力（</a:t>
            </a:r>
            <a:r>
              <a:rPr lang="en-US" b="0" i="0">
                <a:solidFill>
                  <a:schemeClr val="tx1"/>
                </a:solidFill>
                <a:latin typeface="宋体" panose="02010600030101010101" pitchFamily="2" charset="-122"/>
              </a:rPr>
              <a:t>  </a:t>
            </a:r>
            <a:r>
              <a:rPr lang="zh-CN" b="0" i="0">
                <a:solidFill>
                  <a:schemeClr val="tx1"/>
                </a:solidFill>
                <a:ea typeface="宋体" panose="02010600030101010101" pitchFamily="2" charset="-122"/>
              </a:rPr>
              <a:t>）；何者都有（包括氢键）（</a:t>
            </a:r>
            <a:r>
              <a:rPr lang="en-US" b="0" i="0">
                <a:solidFill>
                  <a:schemeClr val="tx1"/>
                </a:solidFill>
                <a:latin typeface="宋体" panose="02010600030101010101" pitchFamily="2" charset="-122"/>
              </a:rPr>
              <a:t>   </a:t>
            </a:r>
            <a:r>
              <a:rPr lang="zh-CN" b="0" i="0">
                <a:solidFill>
                  <a:schemeClr val="tx1"/>
                </a:solidFill>
                <a:ea typeface="宋体" panose="02010600030101010101" pitchFamily="2" charset="-122"/>
              </a:rPr>
              <a:t>）。</a:t>
            </a:r>
            <a:endParaRPr lang="en-US" b="0">
              <a:solidFill>
                <a:schemeClr val="tx1"/>
              </a:solidFill>
              <a:latin typeface="Times New Roman" panose="02020603050405020304" pitchFamily="18" charset="0"/>
            </a:endParaRPr>
          </a:p>
          <a:p>
            <a:r>
              <a:rPr lang="en-US" b="0">
                <a:solidFill>
                  <a:schemeClr val="tx1"/>
                </a:solidFill>
                <a:latin typeface="Times New Roman" panose="02020603050405020304" pitchFamily="18" charset="0"/>
              </a:rPr>
              <a:t>      </a:t>
            </a:r>
            <a:r>
              <a:rPr lang="en-US" b="0">
                <a:solidFill>
                  <a:schemeClr val="tx1"/>
                </a:solidFill>
                <a:cs typeface="Times New Roman" panose="02020603050405020304" pitchFamily="18" charset="0"/>
              </a:rPr>
              <a:t>  A</a:t>
            </a:r>
            <a:r>
              <a:rPr lang="zh-CN" b="0">
                <a:solidFill>
                  <a:schemeClr val="tx1"/>
                </a:solidFill>
                <a:ea typeface="宋体" panose="02010600030101010101" pitchFamily="2" charset="-122"/>
                <a:cs typeface="Times New Roman" panose="02020603050405020304" pitchFamily="18" charset="0"/>
              </a:rPr>
              <a:t>、</a:t>
            </a:r>
            <a:r>
              <a:rPr lang="en-US" b="0">
                <a:solidFill>
                  <a:schemeClr val="tx1"/>
                </a:solidFill>
                <a:cs typeface="Times New Roman" panose="02020603050405020304" pitchFamily="18" charset="0"/>
              </a:rPr>
              <a:t>NH</a:t>
            </a:r>
            <a:r>
              <a:rPr lang="en-US" b="0" baseline="-25000">
                <a:solidFill>
                  <a:schemeClr val="tx1"/>
                </a:solidFill>
                <a:cs typeface="Times New Roman" panose="02020603050405020304" pitchFamily="18" charset="0"/>
              </a:rPr>
              <a:t>3</a:t>
            </a:r>
            <a:r>
              <a:rPr lang="zh-CN" b="0">
                <a:solidFill>
                  <a:schemeClr val="tx1"/>
                </a:solidFill>
                <a:ea typeface="宋体" panose="02010600030101010101" pitchFamily="2" charset="-122"/>
                <a:cs typeface="Times New Roman" panose="02020603050405020304" pitchFamily="18" charset="0"/>
              </a:rPr>
              <a:t>与</a:t>
            </a:r>
            <a:r>
              <a:rPr lang="en-US" b="0">
                <a:solidFill>
                  <a:schemeClr val="tx1"/>
                </a:solidFill>
                <a:cs typeface="Times New Roman" panose="02020603050405020304" pitchFamily="18" charset="0"/>
              </a:rPr>
              <a:t>H</a:t>
            </a:r>
            <a:r>
              <a:rPr lang="en-US" b="0" baseline="-25000">
                <a:solidFill>
                  <a:schemeClr val="tx1"/>
                </a:solidFill>
                <a:cs typeface="Times New Roman" panose="02020603050405020304" pitchFamily="18" charset="0"/>
              </a:rPr>
              <a:t>2</a:t>
            </a:r>
            <a:r>
              <a:rPr lang="en-US" b="0">
                <a:solidFill>
                  <a:schemeClr val="tx1"/>
                </a:solidFill>
                <a:cs typeface="Times New Roman" panose="02020603050405020304" pitchFamily="18" charset="0"/>
              </a:rPr>
              <a:t>O                         B</a:t>
            </a:r>
            <a:r>
              <a:rPr lang="zh-CN" b="0">
                <a:solidFill>
                  <a:schemeClr val="tx1"/>
                </a:solidFill>
                <a:ea typeface="宋体" panose="02010600030101010101" pitchFamily="2" charset="-122"/>
                <a:cs typeface="Times New Roman" panose="02020603050405020304" pitchFamily="18" charset="0"/>
              </a:rPr>
              <a:t>、</a:t>
            </a:r>
            <a:r>
              <a:rPr lang="en-US" b="0">
                <a:solidFill>
                  <a:schemeClr val="tx1"/>
                </a:solidFill>
                <a:cs typeface="Times New Roman" panose="02020603050405020304" pitchFamily="18" charset="0"/>
              </a:rPr>
              <a:t>CO</a:t>
            </a:r>
            <a:r>
              <a:rPr lang="en-US" b="0" baseline="-25000">
                <a:solidFill>
                  <a:schemeClr val="tx1"/>
                </a:solidFill>
                <a:cs typeface="Times New Roman" panose="02020603050405020304" pitchFamily="18" charset="0"/>
              </a:rPr>
              <a:t>2</a:t>
            </a:r>
            <a:r>
              <a:rPr lang="zh-CN" b="0">
                <a:solidFill>
                  <a:schemeClr val="tx1"/>
                </a:solidFill>
                <a:ea typeface="宋体" panose="02010600030101010101" pitchFamily="2" charset="-122"/>
                <a:cs typeface="Times New Roman" panose="02020603050405020304" pitchFamily="18" charset="0"/>
              </a:rPr>
              <a:t>与</a:t>
            </a:r>
            <a:r>
              <a:rPr lang="en-US" b="0">
                <a:solidFill>
                  <a:schemeClr val="tx1"/>
                </a:solidFill>
                <a:cs typeface="Times New Roman" panose="02020603050405020304" pitchFamily="18" charset="0"/>
              </a:rPr>
              <a:t>CS</a:t>
            </a:r>
            <a:r>
              <a:rPr lang="en-US" b="0" baseline="-25000">
                <a:solidFill>
                  <a:schemeClr val="tx1"/>
                </a:solidFill>
                <a:cs typeface="Times New Roman" panose="02020603050405020304" pitchFamily="18" charset="0"/>
              </a:rPr>
              <a:t>2</a:t>
            </a:r>
            <a:r>
              <a:rPr lang="en-US" b="0">
                <a:solidFill>
                  <a:schemeClr val="tx1"/>
                </a:solidFill>
                <a:cs typeface="Times New Roman" panose="02020603050405020304" pitchFamily="18" charset="0"/>
              </a:rPr>
              <a:t>     </a:t>
            </a:r>
          </a:p>
          <a:p>
            <a:r>
              <a:rPr lang="en-US" b="0">
                <a:solidFill>
                  <a:schemeClr val="tx1"/>
                </a:solidFill>
                <a:cs typeface="Times New Roman" panose="02020603050405020304" pitchFamily="18" charset="0"/>
              </a:rPr>
              <a:t>       C</a:t>
            </a:r>
            <a:r>
              <a:rPr lang="zh-CN" b="0">
                <a:solidFill>
                  <a:schemeClr val="tx1"/>
                </a:solidFill>
                <a:ea typeface="宋体" panose="02010600030101010101" pitchFamily="2" charset="-122"/>
                <a:cs typeface="Times New Roman" panose="02020603050405020304" pitchFamily="18" charset="0"/>
              </a:rPr>
              <a:t>、</a:t>
            </a:r>
            <a:r>
              <a:rPr lang="en-US" b="0">
                <a:solidFill>
                  <a:schemeClr val="tx1"/>
                </a:solidFill>
                <a:cs typeface="Times New Roman" panose="02020603050405020304" pitchFamily="18" charset="0"/>
              </a:rPr>
              <a:t>PCl</a:t>
            </a:r>
            <a:r>
              <a:rPr lang="en-US" b="0" baseline="-25000">
                <a:solidFill>
                  <a:schemeClr val="tx1"/>
                </a:solidFill>
                <a:cs typeface="Times New Roman" panose="02020603050405020304" pitchFamily="18" charset="0"/>
              </a:rPr>
              <a:t>3</a:t>
            </a:r>
            <a:r>
              <a:rPr lang="zh-CN" b="0">
                <a:solidFill>
                  <a:schemeClr val="tx1"/>
                </a:solidFill>
                <a:ea typeface="宋体" panose="02010600030101010101" pitchFamily="2" charset="-122"/>
                <a:cs typeface="Times New Roman" panose="02020603050405020304" pitchFamily="18" charset="0"/>
              </a:rPr>
              <a:t>与</a:t>
            </a:r>
            <a:r>
              <a:rPr lang="en-US" b="0">
                <a:solidFill>
                  <a:schemeClr val="tx1"/>
                </a:solidFill>
                <a:cs typeface="Times New Roman" panose="02020603050405020304" pitchFamily="18" charset="0"/>
              </a:rPr>
              <a:t>SO</a:t>
            </a:r>
            <a:r>
              <a:rPr lang="en-US" b="0" baseline="-25000">
                <a:solidFill>
                  <a:schemeClr val="tx1"/>
                </a:solidFill>
                <a:cs typeface="Times New Roman" panose="02020603050405020304" pitchFamily="18" charset="0"/>
              </a:rPr>
              <a:t>3</a:t>
            </a:r>
            <a:r>
              <a:rPr lang="en-US" b="0">
                <a:solidFill>
                  <a:schemeClr val="tx1"/>
                </a:solidFill>
                <a:cs typeface="Times New Roman" panose="02020603050405020304" pitchFamily="18" charset="0"/>
              </a:rPr>
              <a:t>                        D</a:t>
            </a:r>
            <a:r>
              <a:rPr lang="zh-CN" b="0">
                <a:solidFill>
                  <a:schemeClr val="tx1"/>
                </a:solidFill>
                <a:ea typeface="宋体" panose="02010600030101010101" pitchFamily="2" charset="-122"/>
                <a:cs typeface="Times New Roman" panose="02020603050405020304" pitchFamily="18" charset="0"/>
              </a:rPr>
              <a:t>、</a:t>
            </a:r>
            <a:r>
              <a:rPr lang="en-US" b="0">
                <a:solidFill>
                  <a:schemeClr val="tx1"/>
                </a:solidFill>
                <a:cs typeface="Times New Roman" panose="02020603050405020304" pitchFamily="18" charset="0"/>
              </a:rPr>
              <a:t>H</a:t>
            </a:r>
            <a:r>
              <a:rPr lang="en-US" b="0" baseline="-25000">
                <a:solidFill>
                  <a:schemeClr val="tx1"/>
                </a:solidFill>
                <a:cs typeface="Times New Roman" panose="02020603050405020304" pitchFamily="18" charset="0"/>
              </a:rPr>
              <a:t>2</a:t>
            </a:r>
            <a:r>
              <a:rPr lang="en-US" b="0">
                <a:solidFill>
                  <a:schemeClr val="tx1"/>
                </a:solidFill>
                <a:cs typeface="Times New Roman" panose="02020603050405020304" pitchFamily="18" charset="0"/>
              </a:rPr>
              <a:t>O</a:t>
            </a:r>
            <a:r>
              <a:rPr lang="zh-CN" b="0">
                <a:solidFill>
                  <a:schemeClr val="tx1"/>
                </a:solidFill>
                <a:ea typeface="宋体" panose="02010600030101010101" pitchFamily="2" charset="-122"/>
                <a:cs typeface="Times New Roman" panose="02020603050405020304" pitchFamily="18" charset="0"/>
              </a:rPr>
              <a:t>与</a:t>
            </a:r>
            <a:r>
              <a:rPr lang="en-US" b="0">
                <a:solidFill>
                  <a:schemeClr val="tx1"/>
                </a:solidFill>
                <a:cs typeface="Times New Roman" panose="02020603050405020304" pitchFamily="18" charset="0"/>
              </a:rPr>
              <a:t>H</a:t>
            </a:r>
            <a:r>
              <a:rPr lang="en-US" b="0" baseline="-25000">
                <a:solidFill>
                  <a:schemeClr val="tx1"/>
                </a:solidFill>
                <a:cs typeface="Times New Roman" panose="02020603050405020304" pitchFamily="18" charset="0"/>
              </a:rPr>
              <a:t>2</a:t>
            </a:r>
            <a:r>
              <a:rPr lang="en-US" b="0">
                <a:solidFill>
                  <a:schemeClr val="tx1"/>
                </a:solidFill>
                <a:cs typeface="Times New Roman" panose="02020603050405020304" pitchFamily="18" charset="0"/>
              </a:rPr>
              <a:t>S     </a:t>
            </a:r>
          </a:p>
          <a:p>
            <a:r>
              <a:rPr lang="en-US" b="0">
                <a:solidFill>
                  <a:schemeClr val="tx1"/>
                </a:solidFill>
                <a:cs typeface="Times New Roman" panose="02020603050405020304" pitchFamily="18" charset="0"/>
              </a:rPr>
              <a:t>       E</a:t>
            </a:r>
            <a:r>
              <a:rPr lang="zh-CN" b="0">
                <a:solidFill>
                  <a:schemeClr val="tx1"/>
                </a:solidFill>
                <a:ea typeface="宋体" panose="02010600030101010101" pitchFamily="2" charset="-122"/>
                <a:cs typeface="Times New Roman" panose="02020603050405020304" pitchFamily="18" charset="0"/>
              </a:rPr>
              <a:t>、</a:t>
            </a:r>
            <a:r>
              <a:rPr lang="en-US" b="0">
                <a:solidFill>
                  <a:schemeClr val="tx1"/>
                </a:solidFill>
                <a:cs typeface="Times New Roman" panose="02020603050405020304" pitchFamily="18" charset="0"/>
              </a:rPr>
              <a:t>PCl</a:t>
            </a:r>
            <a:r>
              <a:rPr lang="en-US" b="0" baseline="-25000">
                <a:solidFill>
                  <a:schemeClr val="tx1"/>
                </a:solidFill>
                <a:cs typeface="Times New Roman" panose="02020603050405020304" pitchFamily="18" charset="0"/>
              </a:rPr>
              <a:t>5</a:t>
            </a:r>
            <a:r>
              <a:rPr lang="zh-CN" b="0">
                <a:solidFill>
                  <a:schemeClr val="tx1"/>
                </a:solidFill>
                <a:ea typeface="宋体" panose="02010600030101010101" pitchFamily="2" charset="-122"/>
                <a:cs typeface="Times New Roman" panose="02020603050405020304" pitchFamily="18" charset="0"/>
              </a:rPr>
              <a:t>与</a:t>
            </a:r>
            <a:r>
              <a:rPr lang="en-US" b="0">
                <a:solidFill>
                  <a:schemeClr val="tx1"/>
                </a:solidFill>
                <a:cs typeface="Times New Roman" panose="02020603050405020304" pitchFamily="18" charset="0"/>
              </a:rPr>
              <a:t>P</a:t>
            </a:r>
            <a:r>
              <a:rPr lang="en-US" b="0" baseline="-25000">
                <a:solidFill>
                  <a:schemeClr val="tx1"/>
                </a:solidFill>
                <a:cs typeface="Times New Roman" panose="02020603050405020304" pitchFamily="18" charset="0"/>
              </a:rPr>
              <a:t>4</a:t>
            </a:r>
            <a:r>
              <a:rPr lang="en-US" b="0">
                <a:solidFill>
                  <a:schemeClr val="tx1"/>
                </a:solidFill>
                <a:cs typeface="Times New Roman" panose="02020603050405020304" pitchFamily="18" charset="0"/>
              </a:rPr>
              <a:t>                          F</a:t>
            </a:r>
            <a:r>
              <a:rPr lang="zh-CN" b="0">
                <a:solidFill>
                  <a:schemeClr val="tx1"/>
                </a:solidFill>
                <a:ea typeface="宋体" panose="02010600030101010101" pitchFamily="2" charset="-122"/>
                <a:cs typeface="Times New Roman" panose="02020603050405020304" pitchFamily="18" charset="0"/>
              </a:rPr>
              <a:t>、</a:t>
            </a:r>
            <a:r>
              <a:rPr lang="en-US" b="0">
                <a:solidFill>
                  <a:schemeClr val="tx1"/>
                </a:solidFill>
                <a:cs typeface="Times New Roman" panose="02020603050405020304" pitchFamily="18" charset="0"/>
              </a:rPr>
              <a:t>NH</a:t>
            </a:r>
            <a:r>
              <a:rPr lang="en-US" b="0" baseline="-25000">
                <a:solidFill>
                  <a:schemeClr val="tx1"/>
                </a:solidFill>
                <a:cs typeface="Times New Roman" panose="02020603050405020304" pitchFamily="18" charset="0"/>
              </a:rPr>
              <a:t>3</a:t>
            </a:r>
            <a:r>
              <a:rPr lang="zh-CN" b="0">
                <a:solidFill>
                  <a:schemeClr val="tx1"/>
                </a:solidFill>
                <a:ea typeface="宋体" panose="02010600030101010101" pitchFamily="2" charset="-122"/>
                <a:cs typeface="Times New Roman" panose="02020603050405020304" pitchFamily="18" charset="0"/>
              </a:rPr>
              <a:t>与</a:t>
            </a:r>
            <a:r>
              <a:rPr lang="en-US" b="0">
                <a:solidFill>
                  <a:schemeClr val="tx1"/>
                </a:solidFill>
                <a:cs typeface="Times New Roman" panose="02020603050405020304" pitchFamily="18" charset="0"/>
              </a:rPr>
              <a:t>NF</a:t>
            </a:r>
            <a:r>
              <a:rPr lang="en-US" b="0" baseline="-25000">
                <a:solidFill>
                  <a:schemeClr val="tx1"/>
                </a:solidFill>
                <a:cs typeface="Times New Roman" panose="02020603050405020304" pitchFamily="18" charset="0"/>
              </a:rPr>
              <a:t>3</a:t>
            </a:r>
            <a:endParaRPr lang="en-US" altLang="en-US" b="0" baseline="-25000">
              <a:solidFill>
                <a:schemeClr val="tx1"/>
              </a:solidFill>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p:nvPr/>
        </p:nvSpPr>
        <p:spPr>
          <a:xfrm>
            <a:off x="0" y="0"/>
            <a:ext cx="2743200" cy="488950"/>
          </a:xfrm>
          <a:prstGeom prst="rect">
            <a:avLst/>
          </a:prstGeom>
          <a:solidFill>
            <a:srgbClr val="FFC000"/>
          </a:solidFill>
          <a:ln w="9525">
            <a:noFill/>
          </a:ln>
        </p:spPr>
        <p:txBody>
          <a:bodyPr>
            <a:spAutoFit/>
          </a:bodyPr>
          <a:lstStyle/>
          <a:p>
            <a:r>
              <a:rPr lang="zh-CN" altLang="en-US" sz="2600" dirty="0">
                <a:solidFill>
                  <a:srgbClr val="C00000"/>
                </a:solidFill>
                <a:latin typeface="Times New Roman" panose="02020603050405020304" pitchFamily="18" charset="0"/>
              </a:rPr>
              <a:t>四、晶体的类型</a:t>
            </a:r>
          </a:p>
        </p:txBody>
      </p:sp>
      <p:sp>
        <p:nvSpPr>
          <p:cNvPr id="92163" name="Rectangle 5"/>
          <p:cNvSpPr/>
          <p:nvPr/>
        </p:nvSpPr>
        <p:spPr>
          <a:xfrm>
            <a:off x="4356100" y="188913"/>
            <a:ext cx="4211638" cy="366712"/>
          </a:xfrm>
          <a:prstGeom prst="rect">
            <a:avLst/>
          </a:prstGeom>
          <a:noFill/>
          <a:ln w="9525">
            <a:noFill/>
          </a:ln>
        </p:spPr>
        <p:txBody>
          <a:bodyPr>
            <a:spAutoFit/>
          </a:bodyPr>
          <a:lstStyle/>
          <a:p>
            <a:r>
              <a:rPr lang="zh-CN" altLang="en-US" sz="1800" dirty="0">
                <a:solidFill>
                  <a:srgbClr val="0000FF"/>
                </a:solidFill>
                <a:latin typeface="Times New Roman" panose="02020603050405020304" pitchFamily="18" charset="0"/>
              </a:rPr>
              <a:t>高中已经学习过，在此列表小结</a:t>
            </a:r>
          </a:p>
        </p:txBody>
      </p:sp>
      <p:graphicFrame>
        <p:nvGraphicFramePr>
          <p:cNvPr id="370781" name="Group 93"/>
          <p:cNvGraphicFramePr>
            <a:graphicFrameLocks noGrp="1"/>
          </p:cNvGraphicFramePr>
          <p:nvPr>
            <p:ph idx="4294967295"/>
          </p:nvPr>
        </p:nvGraphicFramePr>
        <p:xfrm>
          <a:off x="0" y="620713"/>
          <a:ext cx="9144000" cy="6185219"/>
        </p:xfrm>
        <a:graphic>
          <a:graphicData uri="http://schemas.openxmlformats.org/drawingml/2006/table">
            <a:tbl>
              <a:tblPr/>
              <a:tblGrid>
                <a:gridCol w="703263"/>
                <a:gridCol w="1176337"/>
                <a:gridCol w="1660525"/>
                <a:gridCol w="1601788"/>
                <a:gridCol w="1250950"/>
                <a:gridCol w="1247775"/>
                <a:gridCol w="1503362"/>
              </a:tblGrid>
              <a:tr h="488950">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晶体类型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FF00FF"/>
                          </a:solidFill>
                          <a:effectLst/>
                          <a:latin typeface="Times New Roman" panose="02020603050405020304" pitchFamily="18" charset="0"/>
                          <a:ea typeface="楷体_GB2312" pitchFamily="49" charset="-122"/>
                          <a:cs typeface="Times New Roman" panose="02020603050405020304" pitchFamily="18" charset="0"/>
                        </a:rPr>
                        <a:t>原子晶体</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FF00FF"/>
                          </a:solidFill>
                          <a:effectLst/>
                          <a:latin typeface="Times New Roman" panose="02020603050405020304" pitchFamily="18" charset="0"/>
                          <a:ea typeface="楷体_GB2312" pitchFamily="49" charset="-122"/>
                          <a:cs typeface="Times New Roman" panose="02020603050405020304" pitchFamily="18" charset="0"/>
                        </a:rPr>
                        <a:t>离子晶体</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FF00FF"/>
                          </a:solidFill>
                          <a:effectLst/>
                          <a:latin typeface="Times New Roman" panose="02020603050405020304" pitchFamily="18" charset="0"/>
                          <a:ea typeface="楷体_GB2312" pitchFamily="49" charset="-122"/>
                          <a:cs typeface="Times New Roman" panose="02020603050405020304" pitchFamily="18" charset="0"/>
                        </a:rPr>
                        <a:t>分子晶体</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FF00FF"/>
                          </a:solidFill>
                          <a:effectLst/>
                          <a:latin typeface="Times New Roman" panose="02020603050405020304" pitchFamily="18" charset="0"/>
                          <a:ea typeface="楷体_GB2312" pitchFamily="49" charset="-122"/>
                          <a:cs typeface="Times New Roman" panose="02020603050405020304" pitchFamily="18" charset="0"/>
                        </a:rPr>
                        <a:t>金属晶体</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62025">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粒子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原子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正、负</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离子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极性分子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非极性分子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原子、正离子（自由电子）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6750">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结合力</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共价键</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离子键</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分子间力、氢键</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分子</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间力</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金属键</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0063">
                <a:tc rowSpan="5">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性</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质</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特</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征</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m.b.p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很高</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高</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很低</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较高</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1650">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硬度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很硬</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硬</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很软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较硬</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6925">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机械</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性能</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不太脆</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脆</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很软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延展性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5338">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导电</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非</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导电</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水溶液</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导电</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非</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良导体</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00100">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溶解性</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不溶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易溶</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极性溶剂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相似</a:t>
                      </a: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相容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相似相容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不溶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5313">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实例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C,SiC,AlN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MgO</a:t>
                      </a: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NaCl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HCl,NH</a:t>
                      </a:r>
                      <a:r>
                        <a:rPr kumimoji="0" lang="en-US" altLang="zh-CN" sz="2000" b="1" i="0" u="none" strike="noStrike" cap="none" normalizeH="0" baseline="-2500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CO</a:t>
                      </a:r>
                      <a:r>
                        <a:rPr kumimoji="0" lang="en-US" altLang="zh-CN" sz="2000" b="1" i="0" u="none" strike="noStrike" cap="none" normalizeH="0" baseline="-2500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2</a:t>
                      </a:r>
                      <a:r>
                        <a:rPr kumimoji="0" lang="zh-CN" altLang="en-US"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H</a:t>
                      </a:r>
                      <a:r>
                        <a:rPr kumimoji="0" lang="en-US" altLang="zh-CN" sz="2000" b="1" i="0" u="none" strike="noStrike" cap="none" normalizeH="0" baseline="-2500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800000"/>
                          </a:solidFill>
                          <a:effectLst/>
                          <a:latin typeface="Times New Roman" panose="02020603050405020304" pitchFamily="18" charset="0"/>
                          <a:ea typeface="楷体_GB2312" pitchFamily="49" charset="-122"/>
                          <a:cs typeface="Times New Roman" panose="02020603050405020304" pitchFamily="18" charset="0"/>
                        </a:rPr>
                        <a:t>W,Cu,Ag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72" name="Rectangle 16"/>
          <p:cNvSpPr/>
          <p:nvPr/>
        </p:nvSpPr>
        <p:spPr>
          <a:xfrm>
            <a:off x="0" y="0"/>
            <a:ext cx="3124200" cy="554038"/>
          </a:xfrm>
          <a:prstGeom prst="rect">
            <a:avLst/>
          </a:prstGeom>
          <a:solidFill>
            <a:srgbClr val="FFC000"/>
          </a:solidFill>
          <a:ln w="9525">
            <a:noFill/>
          </a:ln>
        </p:spPr>
        <p:txBody>
          <a:bodyPr>
            <a:spAutoFit/>
          </a:bodyPr>
          <a:lstStyle/>
          <a:p>
            <a:r>
              <a:rPr lang="zh-CN" altLang="en-US" sz="3000" dirty="0">
                <a:solidFill>
                  <a:srgbClr val="C00000"/>
                </a:solidFill>
                <a:latin typeface="Times New Roman" panose="02020603050405020304" pitchFamily="18" charset="0"/>
              </a:rPr>
              <a:t>五、晶格能</a:t>
            </a:r>
          </a:p>
        </p:txBody>
      </p:sp>
      <p:grpSp>
        <p:nvGrpSpPr>
          <p:cNvPr id="16388" name="组合 10"/>
          <p:cNvGrpSpPr/>
          <p:nvPr/>
        </p:nvGrpSpPr>
        <p:grpSpPr>
          <a:xfrm>
            <a:off x="179388" y="836613"/>
            <a:ext cx="8713787" cy="5370512"/>
            <a:chOff x="179388" y="836613"/>
            <a:chExt cx="8713787" cy="5370512"/>
          </a:xfrm>
        </p:grpSpPr>
        <p:sp>
          <p:nvSpPr>
            <p:cNvPr id="16389" name="Rectangle 8"/>
            <p:cNvSpPr/>
            <p:nvPr/>
          </p:nvSpPr>
          <p:spPr>
            <a:xfrm>
              <a:off x="179388" y="836613"/>
              <a:ext cx="8640762" cy="488950"/>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离子间的静电作用的强度大小可用晶格能来表示。</a:t>
              </a:r>
            </a:p>
          </p:txBody>
        </p:sp>
        <p:sp>
          <p:nvSpPr>
            <p:cNvPr id="16390" name="Rectangle 9"/>
            <p:cNvSpPr/>
            <p:nvPr/>
          </p:nvSpPr>
          <p:spPr>
            <a:xfrm>
              <a:off x="179388" y="1628775"/>
              <a:ext cx="8713787" cy="1282700"/>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         1.  </a:t>
              </a:r>
              <a:r>
                <a:rPr lang="zh-CN" altLang="en-US" sz="2600" dirty="0">
                  <a:solidFill>
                    <a:srgbClr val="C00000"/>
                  </a:solidFill>
                  <a:latin typeface="Times New Roman" panose="02020603050405020304" pitchFamily="18" charset="0"/>
                </a:rPr>
                <a:t>晶格能</a:t>
              </a:r>
              <a:r>
                <a:rPr lang="zh-CN" altLang="en-US" sz="2600" i="0" dirty="0">
                  <a:solidFill>
                    <a:schemeClr val="tx1"/>
                  </a:solidFill>
                  <a:latin typeface="Times New Roman" panose="02020603050405020304" pitchFamily="18" charset="0"/>
                </a:rPr>
                <a:t>的定义</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在标准状态下，</a:t>
              </a:r>
              <a:r>
                <a:rPr lang="en-US" altLang="zh-CN" sz="2600" i="0" dirty="0">
                  <a:solidFill>
                    <a:schemeClr val="tx1"/>
                  </a:solidFill>
                  <a:latin typeface="Times New Roman" panose="02020603050405020304" pitchFamily="18" charset="0"/>
                </a:rPr>
                <a:t>1mol</a:t>
              </a:r>
              <a:r>
                <a:rPr lang="zh-CN" altLang="en-US" sz="2600" i="0" dirty="0">
                  <a:solidFill>
                    <a:schemeClr val="tx1"/>
                  </a:solidFill>
                  <a:latin typeface="Times New Roman" panose="02020603050405020304" pitchFamily="18" charset="0"/>
                </a:rPr>
                <a:t>离子晶体变为气态正离子和气态负离子时所吸收的能量称为晶格能（</a:t>
              </a:r>
              <a:r>
                <a:rPr lang="en-US" altLang="zh-CN" sz="2600" i="0" dirty="0">
                  <a:solidFill>
                    <a:srgbClr val="C00000"/>
                  </a:solidFill>
                  <a:latin typeface="Times New Roman" panose="02020603050405020304" pitchFamily="18" charset="0"/>
                </a:rPr>
                <a:t>U</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——lattice energy (U </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0)</a:t>
              </a:r>
              <a:endParaRPr lang="zh-CN" altLang="en-US" sz="2600" i="0" dirty="0">
                <a:solidFill>
                  <a:schemeClr val="tx1"/>
                </a:solidFill>
                <a:latin typeface="Times New Roman" panose="02020603050405020304" pitchFamily="18" charset="0"/>
              </a:endParaRPr>
            </a:p>
          </p:txBody>
        </p:sp>
        <p:sp>
          <p:nvSpPr>
            <p:cNvPr id="16391" name="Rectangle 12"/>
            <p:cNvSpPr/>
            <p:nvPr/>
          </p:nvSpPr>
          <p:spPr>
            <a:xfrm>
              <a:off x="900113" y="4221163"/>
              <a:ext cx="2743200" cy="488950"/>
            </a:xfrm>
            <a:prstGeom prst="rect">
              <a:avLst/>
            </a:prstGeom>
            <a:noFill/>
            <a:ln w="9525">
              <a:noFill/>
            </a:ln>
          </p:spPr>
          <p:txBody>
            <a:bodyPr wrap="none">
              <a:spAutoFit/>
            </a:bodyPr>
            <a:lstStyle/>
            <a:p>
              <a:pPr algn="l"/>
              <a:r>
                <a:rPr lang="en-US" altLang="zh-CN" sz="2600" i="0" dirty="0">
                  <a:solidFill>
                    <a:schemeClr val="tx1"/>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晶格能</a:t>
              </a:r>
              <a:r>
                <a:rPr lang="en-US" altLang="zh-CN" sz="2600" i="0" dirty="0">
                  <a:solidFill>
                    <a:schemeClr val="tx1"/>
                  </a:solidFill>
                  <a:latin typeface="Times New Roman" panose="02020603050405020304" pitchFamily="18" charset="0"/>
                </a:rPr>
                <a:t>U</a:t>
              </a:r>
              <a:r>
                <a:rPr lang="zh-CN" altLang="en-US" sz="2600" i="0" dirty="0">
                  <a:solidFill>
                    <a:schemeClr val="tx1"/>
                  </a:solidFill>
                  <a:latin typeface="Times New Roman" panose="02020603050405020304" pitchFamily="18" charset="0"/>
                </a:rPr>
                <a:t>的计算</a:t>
              </a:r>
            </a:p>
          </p:txBody>
        </p:sp>
        <p:sp>
          <p:nvSpPr>
            <p:cNvPr id="16392" name="Rectangle 13"/>
            <p:cNvSpPr/>
            <p:nvPr/>
          </p:nvSpPr>
          <p:spPr>
            <a:xfrm>
              <a:off x="827088" y="5013325"/>
              <a:ext cx="3833812" cy="488950"/>
            </a:xfrm>
            <a:prstGeom prst="rect">
              <a:avLst/>
            </a:prstGeom>
            <a:noFill/>
            <a:ln w="9525">
              <a:noFill/>
            </a:ln>
          </p:spPr>
          <p:txBody>
            <a:bodyPr wrap="none">
              <a:spAutoFit/>
            </a:bodyPr>
            <a:lstStyle/>
            <a:p>
              <a:pPr algn="l"/>
              <a:r>
                <a:rPr lang="zh-CN" altLang="en-US" sz="2600" i="0" dirty="0">
                  <a:solidFill>
                    <a:schemeClr val="tx1"/>
                  </a:solidFill>
                  <a:latin typeface="Times New Roman" panose="02020603050405020304" pitchFamily="18" charset="0"/>
                </a:rPr>
                <a:t>计算晶格能有两种方式：</a:t>
              </a:r>
            </a:p>
          </p:txBody>
        </p:sp>
        <p:sp>
          <p:nvSpPr>
            <p:cNvPr id="16393" name="Rectangle 14"/>
            <p:cNvSpPr/>
            <p:nvPr/>
          </p:nvSpPr>
          <p:spPr>
            <a:xfrm>
              <a:off x="1000125" y="5715000"/>
              <a:ext cx="6248400" cy="492125"/>
            </a:xfrm>
            <a:prstGeom prst="rect">
              <a:avLst/>
            </a:prstGeom>
            <a:noFill/>
            <a:ln w="9525">
              <a:noFill/>
            </a:ln>
          </p:spPr>
          <p:txBody>
            <a:bodyPr wrap="none">
              <a:spAutoFit/>
            </a:bodyPr>
            <a:lstStyle/>
            <a:p>
              <a:pPr algn="l"/>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Born –Haber</a:t>
              </a:r>
              <a:r>
                <a:rPr lang="zh-CN" altLang="en-US" sz="2600" i="0" dirty="0">
                  <a:solidFill>
                    <a:schemeClr val="tx1"/>
                  </a:solidFill>
                  <a:latin typeface="Times New Roman" panose="02020603050405020304" pitchFamily="18" charset="0"/>
                </a:rPr>
                <a:t>循环法</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实验晶格能</a:t>
              </a:r>
            </a:p>
          </p:txBody>
        </p:sp>
        <p:grpSp>
          <p:nvGrpSpPr>
            <p:cNvPr id="16394" name="Group 22"/>
            <p:cNvGrpSpPr/>
            <p:nvPr/>
          </p:nvGrpSpPr>
          <p:grpSpPr>
            <a:xfrm>
              <a:off x="714375" y="3214688"/>
              <a:ext cx="7704138" cy="488950"/>
              <a:chOff x="431" y="1706"/>
              <a:chExt cx="4853" cy="308"/>
            </a:xfrm>
          </p:grpSpPr>
          <p:sp>
            <p:nvSpPr>
              <p:cNvPr id="16395" name="Rectangle 11"/>
              <p:cNvSpPr/>
              <p:nvPr/>
            </p:nvSpPr>
            <p:spPr>
              <a:xfrm>
                <a:off x="431" y="1706"/>
                <a:ext cx="4853" cy="308"/>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M</a:t>
                </a:r>
                <a:r>
                  <a:rPr lang="en-US" altLang="zh-CN" sz="2600" i="0" baseline="-25000" dirty="0">
                    <a:solidFill>
                      <a:schemeClr val="tx1"/>
                    </a:solidFill>
                    <a:latin typeface="Times New Roman" panose="02020603050405020304" pitchFamily="18" charset="0"/>
                  </a:rPr>
                  <a:t>a </a:t>
                </a:r>
                <a:r>
                  <a:rPr lang="en-US" altLang="zh-CN" sz="2600" i="0" dirty="0">
                    <a:solidFill>
                      <a:schemeClr val="tx1"/>
                    </a:solidFill>
                    <a:latin typeface="Times New Roman" panose="02020603050405020304" pitchFamily="18" charset="0"/>
                  </a:rPr>
                  <a:t>X</a:t>
                </a:r>
                <a:r>
                  <a:rPr lang="en-US" altLang="zh-CN" sz="2600" i="0" baseline="-25000" dirty="0">
                    <a:solidFill>
                      <a:schemeClr val="tx1"/>
                    </a:solidFill>
                    <a:latin typeface="Times New Roman" panose="02020603050405020304" pitchFamily="18" charset="0"/>
                  </a:rPr>
                  <a:t>b</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s</a:t>
                </a:r>
                <a:r>
                  <a:rPr lang="zh-CN" altLang="en-US"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aM</a:t>
                </a:r>
                <a:r>
                  <a:rPr lang="en-US" altLang="zh-CN" sz="2600" i="0" baseline="30000" dirty="0">
                    <a:solidFill>
                      <a:schemeClr val="tx1"/>
                    </a:solidFill>
                    <a:latin typeface="Times New Roman" panose="02020603050405020304" pitchFamily="18" charset="0"/>
                  </a:rPr>
                  <a:t>b+ </a:t>
                </a:r>
                <a:r>
                  <a:rPr lang="en-US" altLang="zh-CN" sz="2600" i="0" dirty="0">
                    <a:solidFill>
                      <a:schemeClr val="tx1"/>
                    </a:solidFill>
                    <a:latin typeface="Times New Roman" panose="02020603050405020304" pitchFamily="18" charset="0"/>
                  </a:rPr>
                  <a:t>(g)  +  bX</a:t>
                </a:r>
                <a:r>
                  <a:rPr lang="en-US" altLang="zh-CN" sz="2600" i="0" baseline="30000" dirty="0">
                    <a:solidFill>
                      <a:schemeClr val="tx1"/>
                    </a:solidFill>
                    <a:latin typeface="Times New Roman" panose="02020603050405020304" pitchFamily="18" charset="0"/>
                  </a:rPr>
                  <a:t>a- </a:t>
                </a:r>
                <a:r>
                  <a:rPr lang="en-US" altLang="zh-CN" sz="2600" i="0" dirty="0">
                    <a:solidFill>
                      <a:schemeClr val="tx1"/>
                    </a:solidFill>
                    <a:latin typeface="Times New Roman" panose="02020603050405020304" pitchFamily="18" charset="0"/>
                  </a:rPr>
                  <a:t>(g)              U </a:t>
                </a:r>
              </a:p>
            </p:txBody>
          </p:sp>
          <p:graphicFrame>
            <p:nvGraphicFramePr>
              <p:cNvPr id="16386" name="Object 20"/>
              <p:cNvGraphicFramePr>
                <a:graphicFrameLocks/>
              </p:cNvGraphicFramePr>
              <p:nvPr/>
            </p:nvGraphicFramePr>
            <p:xfrm>
              <a:off x="1565" y="1745"/>
              <a:ext cx="546" cy="227"/>
            </p:xfrm>
            <a:graphic>
              <a:graphicData uri="http://schemas.openxmlformats.org/presentationml/2006/ole">
                <p:oleObj spid="_x0000_s133121" r:id="rId4" imgW="858570" imgH="141838" progId="">
                  <p:embed/>
                </p:oleObj>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6272"/>
                                        </p:tgtEl>
                                        <p:attrNameLst>
                                          <p:attrName>style.visibility</p:attrName>
                                        </p:attrNameLst>
                                      </p:cBhvr>
                                      <p:to>
                                        <p:strVal val="visible"/>
                                      </p:to>
                                    </p:set>
                                    <p:animEffect transition="in" filter="diamond(in)">
                                      <p:cBhvr>
                                        <p:cTn id="7" dur="500"/>
                                        <p:tgtEl>
                                          <p:spTgt spid="96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7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15"/>
          <p:cNvGraphicFramePr>
            <a:graphicFrameLocks/>
          </p:cNvGraphicFramePr>
          <p:nvPr>
            <p:ph sz="half" idx="1"/>
          </p:nvPr>
        </p:nvGraphicFramePr>
        <p:xfrm>
          <a:off x="395288" y="260350"/>
          <a:ext cx="8424862" cy="6021388"/>
        </p:xfrm>
        <a:graphic>
          <a:graphicData uri="http://schemas.openxmlformats.org/presentationml/2006/ole">
            <p:oleObj spid="_x0000_s142337" r:id="rId4" imgW="4751832" imgH="2961132" progId="">
              <p:embed/>
            </p:oleObj>
          </a:graphicData>
        </a:graphic>
      </p:graphicFrame>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0"/>
          <p:cNvGraphicFramePr>
            <a:graphicFrameLocks/>
          </p:cNvGraphicFramePr>
          <p:nvPr>
            <p:ph/>
          </p:nvPr>
        </p:nvGraphicFramePr>
        <p:xfrm>
          <a:off x="0" y="1052513"/>
          <a:ext cx="9144000" cy="4005262"/>
        </p:xfrm>
        <a:graphic>
          <a:graphicData uri="http://schemas.openxmlformats.org/presentationml/2006/ole">
            <p:oleObj spid="_x0000_s144385" r:id="rId3" imgW="5926836" imgH="2532888" progId="">
              <p:embed/>
            </p:oleObj>
          </a:graphicData>
        </a:graphic>
      </p:graphicFrame>
      <p:sp>
        <p:nvSpPr>
          <p:cNvPr id="18435" name="Rectangle 14"/>
          <p:cNvSpPr/>
          <p:nvPr/>
        </p:nvSpPr>
        <p:spPr>
          <a:xfrm>
            <a:off x="684213" y="260350"/>
            <a:ext cx="7077075" cy="488950"/>
          </a:xfrm>
          <a:prstGeom prst="rect">
            <a:avLst/>
          </a:prstGeom>
          <a:noFill/>
          <a:ln w="9525">
            <a:noFill/>
          </a:ln>
        </p:spPr>
        <p:txBody>
          <a:bodyPr wrap="none">
            <a:spAutoFit/>
          </a:bodyPr>
          <a:lstStyle/>
          <a:p>
            <a:r>
              <a:rPr lang="zh-CN" altLang="en-US" sz="2600" i="0" dirty="0">
                <a:solidFill>
                  <a:schemeClr val="tx1"/>
                </a:solidFill>
                <a:latin typeface="Times New Roman" panose="02020603050405020304" pitchFamily="18" charset="0"/>
              </a:rPr>
              <a:t>根据</a:t>
            </a:r>
            <a:r>
              <a:rPr lang="en-US" altLang="zh-CN" sz="2600" i="0" dirty="0">
                <a:solidFill>
                  <a:schemeClr val="tx1"/>
                </a:solidFill>
                <a:latin typeface="Times New Roman" panose="02020603050405020304" pitchFamily="18" charset="0"/>
              </a:rPr>
              <a:t>H</a:t>
            </a:r>
            <a:r>
              <a:rPr lang="zh-CN" altLang="en-US" sz="2600" i="0" dirty="0">
                <a:solidFill>
                  <a:schemeClr val="tx1"/>
                </a:solidFill>
                <a:latin typeface="Times New Roman" panose="02020603050405020304" pitchFamily="18" charset="0"/>
              </a:rPr>
              <a:t>是状态函数的性质，可以得到如下式子：</a:t>
            </a:r>
          </a:p>
        </p:txBody>
      </p:sp>
      <p:sp>
        <p:nvSpPr>
          <p:cNvPr id="18436" name="Rectangle 15"/>
          <p:cNvSpPr/>
          <p:nvPr/>
        </p:nvSpPr>
        <p:spPr>
          <a:xfrm>
            <a:off x="827088" y="5516563"/>
            <a:ext cx="7389812" cy="488950"/>
          </a:xfrm>
          <a:prstGeom prst="rect">
            <a:avLst/>
          </a:prstGeom>
          <a:noFill/>
          <a:ln w="9525">
            <a:noFill/>
          </a:ln>
        </p:spPr>
        <p:txBody>
          <a:bodyPr wrap="none">
            <a:spAutoFit/>
          </a:bodyPr>
          <a:lstStyle/>
          <a:p>
            <a:r>
              <a:rPr lang="zh-CN" altLang="en-US" sz="2600" i="0" dirty="0">
                <a:solidFill>
                  <a:schemeClr val="tx1"/>
                </a:solidFill>
                <a:latin typeface="Times New Roman" panose="02020603050405020304" pitchFamily="18" charset="0"/>
              </a:rPr>
              <a:t>用相似的方法可以计算许多其它离子晶体的</a:t>
            </a:r>
            <a:r>
              <a:rPr lang="en-US" altLang="zh-CN" sz="2600" i="0" dirty="0">
                <a:solidFill>
                  <a:schemeClr val="tx1"/>
                </a:solidFill>
                <a:latin typeface="Times New Roman" panose="02020603050405020304" pitchFamily="18" charset="0"/>
              </a:rPr>
              <a:t>U</a:t>
            </a:r>
            <a:r>
              <a:rPr lang="zh-CN" altLang="en-US" sz="2600" i="0" dirty="0">
                <a:solidFill>
                  <a:schemeClr val="tx1"/>
                </a:solidFill>
                <a:latin typeface="Times New Roman" panose="02020603050405020304" pitchFamily="18" charset="0"/>
              </a:rPr>
              <a:t>值。</a:t>
            </a: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p:nvPr/>
        </p:nvSpPr>
        <p:spPr>
          <a:xfrm>
            <a:off x="250825" y="2565400"/>
            <a:ext cx="8642350" cy="885825"/>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从公式可知，其形式与库仑公式相似；</a:t>
            </a:r>
            <a:r>
              <a:rPr lang="en-US" altLang="zh-CN" sz="2600" i="0" dirty="0">
                <a:solidFill>
                  <a:schemeClr val="tx1"/>
                </a:solidFill>
                <a:latin typeface="Times New Roman" panose="02020603050405020304" pitchFamily="18" charset="0"/>
              </a:rPr>
              <a:t>U</a:t>
            </a:r>
            <a:r>
              <a:rPr lang="zh-CN" altLang="en-US" sz="2600" i="0" dirty="0">
                <a:solidFill>
                  <a:schemeClr val="tx1"/>
                </a:solidFill>
                <a:latin typeface="Times New Roman" panose="02020603050405020304" pitchFamily="18" charset="0"/>
              </a:rPr>
              <a:t>的大小主要与下列因素有关：       </a:t>
            </a:r>
          </a:p>
        </p:txBody>
      </p:sp>
      <p:sp>
        <p:nvSpPr>
          <p:cNvPr id="93187" name="Rectangle 12"/>
          <p:cNvSpPr/>
          <p:nvPr/>
        </p:nvSpPr>
        <p:spPr>
          <a:xfrm>
            <a:off x="1331913" y="3573463"/>
            <a:ext cx="4932362" cy="1292225"/>
          </a:xfrm>
          <a:prstGeom prst="rect">
            <a:avLst/>
          </a:prstGeom>
          <a:noFill/>
          <a:ln w="9525">
            <a:noFill/>
          </a:ln>
        </p:spPr>
        <p:txBody>
          <a:bodyPr>
            <a:spAutoFit/>
          </a:bodyPr>
          <a:lstStyle/>
          <a:p>
            <a:pPr algn="l"/>
            <a:r>
              <a:rPr lang="zh-CN" altLang="en-US" sz="2600" dirty="0">
                <a:solidFill>
                  <a:srgbClr val="0000FF"/>
                </a:solidFill>
                <a:latin typeface="Times New Roman" panose="02020603050405020304" pitchFamily="18" charset="0"/>
              </a:rPr>
              <a:t>（</a:t>
            </a:r>
            <a:r>
              <a:rPr lang="en-US" altLang="zh-CN" sz="2600" dirty="0">
                <a:solidFill>
                  <a:srgbClr val="0000FF"/>
                </a:solidFill>
                <a:latin typeface="Times New Roman" panose="02020603050405020304" pitchFamily="18" charset="0"/>
              </a:rPr>
              <a:t>1</a:t>
            </a:r>
            <a:r>
              <a:rPr lang="zh-CN" altLang="en-US" sz="2600" dirty="0">
                <a:solidFill>
                  <a:srgbClr val="0000FF"/>
                </a:solidFill>
                <a:latin typeface="Times New Roman" panose="02020603050405020304" pitchFamily="18" charset="0"/>
              </a:rPr>
              <a:t>）离子半径</a:t>
            </a:r>
            <a:r>
              <a:rPr lang="en-US" altLang="zh-CN" sz="2600" dirty="0">
                <a:solidFill>
                  <a:srgbClr val="0000FF"/>
                </a:solidFill>
                <a:latin typeface="Times New Roman" panose="02020603050405020304" pitchFamily="18" charset="0"/>
              </a:rPr>
              <a:t>(R</a:t>
            </a:r>
            <a:r>
              <a:rPr lang="en-US" altLang="zh-CN" sz="2600" baseline="-25000" dirty="0">
                <a:solidFill>
                  <a:srgbClr val="0000FF"/>
                </a:solidFill>
                <a:latin typeface="Times New Roman" panose="02020603050405020304" pitchFamily="18" charset="0"/>
              </a:rPr>
              <a:t>0</a:t>
            </a:r>
            <a:r>
              <a:rPr lang="en-US" altLang="zh-CN" sz="2600" dirty="0">
                <a:solidFill>
                  <a:srgbClr val="0000FF"/>
                </a:solidFill>
                <a:latin typeface="Times New Roman" panose="02020603050405020304" pitchFamily="18" charset="0"/>
              </a:rPr>
              <a:t>)(n)</a:t>
            </a:r>
          </a:p>
          <a:p>
            <a:pPr algn="l"/>
            <a:r>
              <a:rPr lang="zh-CN" altLang="en-US" sz="2600" dirty="0">
                <a:solidFill>
                  <a:srgbClr val="0000FF"/>
                </a:solidFill>
                <a:latin typeface="Times New Roman" panose="02020603050405020304" pitchFamily="18" charset="0"/>
              </a:rPr>
              <a:t>（</a:t>
            </a:r>
            <a:r>
              <a:rPr lang="en-US" altLang="zh-CN" sz="2600" dirty="0">
                <a:solidFill>
                  <a:srgbClr val="0000FF"/>
                </a:solidFill>
                <a:latin typeface="Times New Roman" panose="02020603050405020304" pitchFamily="18" charset="0"/>
              </a:rPr>
              <a:t>2</a:t>
            </a:r>
            <a:r>
              <a:rPr lang="zh-CN" altLang="en-US" sz="2600" dirty="0">
                <a:solidFill>
                  <a:srgbClr val="0000FF"/>
                </a:solidFill>
                <a:latin typeface="Times New Roman" panose="02020603050405020304" pitchFamily="18" charset="0"/>
              </a:rPr>
              <a:t>）离子电荷数</a:t>
            </a:r>
            <a:r>
              <a:rPr lang="en-US" altLang="zh-CN" sz="2600" dirty="0">
                <a:solidFill>
                  <a:srgbClr val="0000FF"/>
                </a:solidFill>
                <a:latin typeface="Times New Roman" panose="02020603050405020304" pitchFamily="18" charset="0"/>
              </a:rPr>
              <a:t>(z)</a:t>
            </a:r>
          </a:p>
          <a:p>
            <a:pPr algn="l"/>
            <a:r>
              <a:rPr lang="zh-CN" altLang="en-US" sz="2600" dirty="0">
                <a:solidFill>
                  <a:srgbClr val="0000FF"/>
                </a:solidFill>
                <a:latin typeface="Times New Roman" panose="02020603050405020304" pitchFamily="18" charset="0"/>
              </a:rPr>
              <a:t>（</a:t>
            </a:r>
            <a:r>
              <a:rPr lang="en-US" altLang="zh-CN" sz="2600" dirty="0">
                <a:solidFill>
                  <a:srgbClr val="0000FF"/>
                </a:solidFill>
                <a:latin typeface="Times New Roman" panose="02020603050405020304" pitchFamily="18" charset="0"/>
              </a:rPr>
              <a:t>3</a:t>
            </a:r>
            <a:r>
              <a:rPr lang="zh-CN" altLang="en-US" sz="2600" dirty="0">
                <a:solidFill>
                  <a:srgbClr val="0000FF"/>
                </a:solidFill>
                <a:latin typeface="Times New Roman" panose="02020603050405020304" pitchFamily="18" charset="0"/>
              </a:rPr>
              <a:t>）配位数</a:t>
            </a:r>
            <a:r>
              <a:rPr lang="en-US" altLang="zh-CN" sz="2600" dirty="0">
                <a:solidFill>
                  <a:srgbClr val="0000FF"/>
                </a:solidFill>
                <a:latin typeface="Times New Roman" panose="02020603050405020304" pitchFamily="18" charset="0"/>
              </a:rPr>
              <a:t>(A)</a:t>
            </a:r>
          </a:p>
        </p:txBody>
      </p:sp>
      <p:sp>
        <p:nvSpPr>
          <p:cNvPr id="93188" name="Rectangle 18"/>
          <p:cNvSpPr/>
          <p:nvPr/>
        </p:nvSpPr>
        <p:spPr>
          <a:xfrm>
            <a:off x="0" y="0"/>
            <a:ext cx="7929563" cy="492125"/>
          </a:xfrm>
          <a:prstGeom prst="rect">
            <a:avLst/>
          </a:prstGeom>
          <a:noFill/>
          <a:ln w="9525">
            <a:noFill/>
          </a:ln>
        </p:spPr>
        <p:txBody>
          <a:bodyPr>
            <a:spAutoFit/>
          </a:bodyPr>
          <a:lstStyle/>
          <a:p>
            <a:pPr algn="l"/>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Born –Lande </a:t>
            </a:r>
            <a:r>
              <a:rPr lang="zh-CN" altLang="en-US" sz="2600" i="0" dirty="0">
                <a:solidFill>
                  <a:schemeClr val="tx1"/>
                </a:solidFill>
                <a:latin typeface="Times New Roman" panose="02020603050405020304" pitchFamily="18" charset="0"/>
              </a:rPr>
              <a:t>公式法</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理论晶格能</a:t>
            </a:r>
          </a:p>
        </p:txBody>
      </p:sp>
      <p:pic>
        <p:nvPicPr>
          <p:cNvPr id="93189" name="Picture 19"/>
          <p:cNvPicPr>
            <a:picLocks noChangeAspect="1"/>
          </p:cNvPicPr>
          <p:nvPr/>
        </p:nvPicPr>
        <p:blipFill>
          <a:blip r:embed="rId3"/>
          <a:stretch>
            <a:fillRect/>
          </a:stretch>
        </p:blipFill>
        <p:spPr>
          <a:xfrm>
            <a:off x="1042988" y="620713"/>
            <a:ext cx="6761162" cy="1833562"/>
          </a:xfrm>
          <a:prstGeom prst="rect">
            <a:avLst/>
          </a:prstGeom>
          <a:solidFill>
            <a:srgbClr val="FF99CC"/>
          </a:solidFill>
          <a:ln w="9525">
            <a:noFill/>
          </a:ln>
        </p:spPr>
      </p:pic>
      <p:sp>
        <p:nvSpPr>
          <p:cNvPr id="93190" name="Rectangle 20"/>
          <p:cNvSpPr/>
          <p:nvPr/>
        </p:nvSpPr>
        <p:spPr>
          <a:xfrm>
            <a:off x="228600" y="5029200"/>
            <a:ext cx="8785225" cy="1282700"/>
          </a:xfrm>
          <a:prstGeom prst="rect">
            <a:avLst/>
          </a:prstGeom>
          <a:noFill/>
          <a:ln w="9525">
            <a:noFill/>
          </a:ln>
        </p:spPr>
        <p:txBody>
          <a:bodyPr>
            <a:spAutoFit/>
          </a:bodyPr>
          <a:lstStyle/>
          <a:p>
            <a:pPr algn="l"/>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其中，</a:t>
            </a:r>
            <a:r>
              <a:rPr lang="en-US" altLang="zh-CN" sz="2600" i="0" dirty="0">
                <a:solidFill>
                  <a:schemeClr val="tx1"/>
                </a:solidFill>
                <a:latin typeface="Times New Roman" panose="02020603050405020304" pitchFamily="18" charset="0"/>
              </a:rPr>
              <a:t>A</a:t>
            </a:r>
            <a:r>
              <a:rPr lang="zh-CN" altLang="en-US" sz="2600" i="0" dirty="0">
                <a:solidFill>
                  <a:schemeClr val="tx1"/>
                </a:solidFill>
                <a:latin typeface="Times New Roman" panose="02020603050405020304" pitchFamily="18" charset="0"/>
              </a:rPr>
              <a:t>与晶体构型有关，数值影响小；</a:t>
            </a:r>
            <a:r>
              <a:rPr lang="en-US" altLang="zh-CN" sz="2600" i="0" dirty="0">
                <a:solidFill>
                  <a:schemeClr val="tx1"/>
                </a:solidFill>
                <a:latin typeface="Times New Roman" panose="02020603050405020304" pitchFamily="18" charset="0"/>
              </a:rPr>
              <a:t>n</a:t>
            </a:r>
            <a:r>
              <a:rPr lang="zh-CN" altLang="en-US" sz="2600" i="0" dirty="0">
                <a:solidFill>
                  <a:schemeClr val="tx1"/>
                </a:solidFill>
                <a:latin typeface="Times New Roman" panose="02020603050405020304" pitchFamily="18" charset="0"/>
              </a:rPr>
              <a:t>与离子的电子层结构有关，影响也不大</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参考书上内容。所以，离子半径、离子电荷为影响的主要因素。</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5"/>
          <p:cNvSpPr/>
          <p:nvPr/>
        </p:nvSpPr>
        <p:spPr>
          <a:xfrm>
            <a:off x="381000" y="1981200"/>
            <a:ext cx="8462963" cy="512763"/>
          </a:xfrm>
          <a:prstGeom prst="rect">
            <a:avLst/>
          </a:prstGeom>
          <a:noFill/>
          <a:ln w="9525">
            <a:noFill/>
          </a:ln>
        </p:spPr>
        <p:txBody>
          <a:bodyPr>
            <a:spAutoFit/>
          </a:bodyPr>
          <a:lstStyle/>
          <a:p>
            <a:pPr algn="l">
              <a:lnSpc>
                <a:spcPts val="3600"/>
              </a:lnSpc>
            </a:pPr>
            <a:r>
              <a:rPr lang="zh-CN" altLang="en-US" sz="2600" i="0" dirty="0">
                <a:solidFill>
                  <a:schemeClr val="tx1"/>
                </a:solidFill>
                <a:latin typeface="Times New Roman" panose="02020603050405020304" pitchFamily="18" charset="0"/>
              </a:rPr>
              <a:t>利用公式可以定性地判断各种离子晶体晶格能的大小：</a:t>
            </a:r>
          </a:p>
        </p:txBody>
      </p:sp>
      <p:sp>
        <p:nvSpPr>
          <p:cNvPr id="94211" name="Rectangle 18"/>
          <p:cNvSpPr/>
          <p:nvPr/>
        </p:nvSpPr>
        <p:spPr>
          <a:xfrm>
            <a:off x="228600" y="2667000"/>
            <a:ext cx="8610600" cy="1477963"/>
          </a:xfrm>
          <a:prstGeom prst="rect">
            <a:avLst/>
          </a:prstGeom>
          <a:noFill/>
          <a:ln w="9525">
            <a:noFill/>
          </a:ln>
        </p:spPr>
        <p:txBody>
          <a:bodyPr>
            <a:spAutoFit/>
          </a:bodyPr>
          <a:lstStyle/>
          <a:p>
            <a:pPr>
              <a:lnSpc>
                <a:spcPts val="3600"/>
              </a:lnSpc>
            </a:pPr>
            <a:r>
              <a:rPr lang="zh-CN" altLang="en-US" sz="2600" dirty="0">
                <a:solidFill>
                  <a:srgbClr val="C00000"/>
                </a:solidFill>
                <a:latin typeface="Times New Roman" panose="02020603050405020304" pitchFamily="18" charset="0"/>
              </a:rPr>
              <a:t>离子的电荷（</a:t>
            </a:r>
            <a:r>
              <a:rPr lang="en-US" altLang="zh-CN" sz="2600" dirty="0">
                <a:solidFill>
                  <a:srgbClr val="C00000"/>
                </a:solidFill>
                <a:latin typeface="Times New Roman" panose="02020603050405020304" pitchFamily="18" charset="0"/>
              </a:rPr>
              <a:t>z</a:t>
            </a:r>
            <a:r>
              <a:rPr lang="zh-CN" altLang="en-US" sz="2600" dirty="0">
                <a:solidFill>
                  <a:srgbClr val="C00000"/>
                </a:solidFill>
                <a:latin typeface="Times New Roman" panose="02020603050405020304" pitchFamily="18" charset="0"/>
              </a:rPr>
              <a:t>）数越大</a:t>
            </a:r>
            <a:r>
              <a:rPr lang="zh-CN" altLang="en-US" sz="2600" dirty="0">
                <a:solidFill>
                  <a:schemeClr val="tx1"/>
                </a:solidFill>
                <a:latin typeface="Times New Roman" panose="02020603050405020304" pitchFamily="18" charset="0"/>
              </a:rPr>
              <a:t>（半径相似）</a:t>
            </a:r>
            <a:r>
              <a:rPr lang="zh-CN" altLang="en-US" sz="2600" dirty="0">
                <a:solidFill>
                  <a:srgbClr val="C00000"/>
                </a:solidFill>
                <a:latin typeface="Times New Roman" panose="02020603050405020304" pitchFamily="18" charset="0"/>
              </a:rPr>
              <a:t>、</a:t>
            </a:r>
            <a:endParaRPr lang="en-US" altLang="zh-CN" sz="2600" dirty="0">
              <a:solidFill>
                <a:srgbClr val="C00000"/>
              </a:solidFill>
              <a:latin typeface="Times New Roman" panose="02020603050405020304" pitchFamily="18" charset="0"/>
            </a:endParaRPr>
          </a:p>
          <a:p>
            <a:pPr>
              <a:lnSpc>
                <a:spcPts val="3600"/>
              </a:lnSpc>
            </a:pPr>
            <a:r>
              <a:rPr lang="zh-CN" altLang="en-US" sz="2600" dirty="0">
                <a:solidFill>
                  <a:srgbClr val="C00000"/>
                </a:solidFill>
                <a:latin typeface="Times New Roman" panose="02020603050405020304" pitchFamily="18" charset="0"/>
              </a:rPr>
              <a:t>半径（</a:t>
            </a:r>
            <a:r>
              <a:rPr lang="en-US" altLang="zh-CN" sz="2600" dirty="0">
                <a:solidFill>
                  <a:srgbClr val="C00000"/>
                </a:solidFill>
                <a:latin typeface="Times New Roman" panose="02020603050405020304" pitchFamily="18" charset="0"/>
              </a:rPr>
              <a:t>R</a:t>
            </a:r>
            <a:r>
              <a:rPr lang="en-US" altLang="zh-CN" sz="2600" baseline="-25000" dirty="0">
                <a:solidFill>
                  <a:srgbClr val="C00000"/>
                </a:solidFill>
                <a:latin typeface="Times New Roman" panose="02020603050405020304" pitchFamily="18" charset="0"/>
              </a:rPr>
              <a:t>0</a:t>
            </a:r>
            <a:r>
              <a:rPr lang="zh-CN" altLang="en-US" sz="2600" dirty="0">
                <a:solidFill>
                  <a:srgbClr val="C00000"/>
                </a:solidFill>
                <a:latin typeface="Times New Roman" panose="02020603050405020304" pitchFamily="18" charset="0"/>
              </a:rPr>
              <a:t>）越小</a:t>
            </a:r>
            <a:r>
              <a:rPr lang="zh-CN" altLang="en-US" sz="2600" dirty="0">
                <a:solidFill>
                  <a:schemeClr val="tx1"/>
                </a:solidFill>
                <a:latin typeface="Times New Roman" panose="02020603050405020304" pitchFamily="18" charset="0"/>
              </a:rPr>
              <a:t>（电荷相近）</a:t>
            </a:r>
            <a:r>
              <a:rPr lang="zh-CN" altLang="en-US" sz="2600" dirty="0">
                <a:solidFill>
                  <a:srgbClr val="C00000"/>
                </a:solidFill>
                <a:latin typeface="Times New Roman" panose="02020603050405020304" pitchFamily="18" charset="0"/>
              </a:rPr>
              <a:t>，</a:t>
            </a:r>
            <a:endParaRPr lang="en-US" altLang="zh-CN" sz="2600" dirty="0">
              <a:solidFill>
                <a:srgbClr val="C00000"/>
              </a:solidFill>
              <a:latin typeface="Times New Roman" panose="02020603050405020304" pitchFamily="18" charset="0"/>
            </a:endParaRPr>
          </a:p>
          <a:p>
            <a:pPr>
              <a:lnSpc>
                <a:spcPts val="3600"/>
              </a:lnSpc>
            </a:pPr>
            <a:r>
              <a:rPr lang="en-US" altLang="zh-CN" sz="2600" dirty="0">
                <a:solidFill>
                  <a:srgbClr val="C00000"/>
                </a:solidFill>
                <a:latin typeface="Times New Roman" panose="02020603050405020304" pitchFamily="18" charset="0"/>
              </a:rPr>
              <a:t>U</a:t>
            </a:r>
            <a:r>
              <a:rPr lang="zh-CN" altLang="en-US" sz="2600" dirty="0">
                <a:solidFill>
                  <a:srgbClr val="C00000"/>
                </a:solidFill>
                <a:latin typeface="Times New Roman" panose="02020603050405020304" pitchFamily="18" charset="0"/>
              </a:rPr>
              <a:t>值越大</a:t>
            </a:r>
          </a:p>
        </p:txBody>
      </p:sp>
      <p:sp>
        <p:nvSpPr>
          <p:cNvPr id="94212" name="Rectangle 21"/>
          <p:cNvSpPr/>
          <p:nvPr/>
        </p:nvSpPr>
        <p:spPr>
          <a:xfrm>
            <a:off x="250825" y="188913"/>
            <a:ext cx="3455988" cy="512762"/>
          </a:xfrm>
          <a:prstGeom prst="rect">
            <a:avLst/>
          </a:prstGeom>
          <a:noFill/>
          <a:ln w="9525">
            <a:noFill/>
          </a:ln>
        </p:spPr>
        <p:txBody>
          <a:bodyPr>
            <a:spAutoFit/>
          </a:bodyPr>
          <a:lstStyle/>
          <a:p>
            <a:pPr marL="342900" indent="-342900" algn="l">
              <a:lnSpc>
                <a:spcPts val="3600"/>
              </a:lnSpc>
            </a:pPr>
            <a:r>
              <a:rPr lang="en-US" altLang="zh-CN" sz="2600" i="0" dirty="0">
                <a:solidFill>
                  <a:schemeClr val="tx1"/>
                </a:solidFill>
                <a:latin typeface="Times New Roman" panose="02020603050405020304" pitchFamily="18" charset="0"/>
                <a:sym typeface="Symbol" panose="05050102010706020507" pitchFamily="18" charset="2"/>
              </a:rPr>
              <a:t>(</a:t>
            </a:r>
            <a:r>
              <a:rPr lang="en-US" altLang="en-US" sz="2600" i="0" dirty="0">
                <a:solidFill>
                  <a:schemeClr val="tx1"/>
                </a:solidFill>
                <a:latin typeface="Times New Roman" panose="02020603050405020304" pitchFamily="18" charset="0"/>
                <a:sym typeface="Symbol" panose="05050102010706020507" pitchFamily="18" charset="2"/>
              </a:rPr>
              <a:t>3</a:t>
            </a:r>
            <a:r>
              <a:rPr lang="en-US" altLang="zh-CN" sz="2600" i="0" dirty="0">
                <a:solidFill>
                  <a:schemeClr val="tx1"/>
                </a:solidFill>
                <a:latin typeface="Times New Roman" panose="02020603050405020304" pitchFamily="18" charset="0"/>
                <a:sym typeface="Symbol" panose="05050102010706020507" pitchFamily="18" charset="2"/>
              </a:rPr>
              <a:t>)</a:t>
            </a:r>
            <a:r>
              <a:rPr lang="zh-CN" altLang="en-US" sz="2600" i="0" dirty="0">
                <a:solidFill>
                  <a:schemeClr val="tx1"/>
                </a:solidFill>
                <a:latin typeface="Times New Roman" panose="02020603050405020304" pitchFamily="18" charset="0"/>
                <a:sym typeface="Symbol" panose="05050102010706020507" pitchFamily="18" charset="2"/>
              </a:rPr>
              <a:t>晶格能的应用：</a:t>
            </a:r>
          </a:p>
        </p:txBody>
      </p:sp>
      <p:sp>
        <p:nvSpPr>
          <p:cNvPr id="94213" name="Rectangle 22"/>
          <p:cNvSpPr/>
          <p:nvPr/>
        </p:nvSpPr>
        <p:spPr>
          <a:xfrm>
            <a:off x="609600" y="762000"/>
            <a:ext cx="7826375" cy="1016000"/>
          </a:xfrm>
          <a:prstGeom prst="rect">
            <a:avLst/>
          </a:prstGeom>
          <a:noFill/>
          <a:ln w="9525">
            <a:noFill/>
          </a:ln>
        </p:spPr>
        <p:txBody>
          <a:bodyPr>
            <a:spAutoFit/>
          </a:bodyPr>
          <a:lstStyle/>
          <a:p>
            <a:pPr>
              <a:lnSpc>
                <a:spcPts val="3600"/>
              </a:lnSpc>
            </a:pPr>
            <a:r>
              <a:rPr lang="zh-CN" altLang="en-US" sz="2600" i="0" dirty="0">
                <a:solidFill>
                  <a:schemeClr val="tx1"/>
                </a:solidFill>
                <a:latin typeface="Times New Roman" panose="02020603050405020304" pitchFamily="18" charset="0"/>
                <a:sym typeface="Symbol" panose="05050102010706020507" pitchFamily="18" charset="2"/>
              </a:rPr>
              <a:t>可以比较离子键的强度和晶体的稳定性。</a:t>
            </a:r>
          </a:p>
          <a:p>
            <a:pPr>
              <a:lnSpc>
                <a:spcPts val="3600"/>
              </a:lnSpc>
            </a:pPr>
            <a:r>
              <a:rPr lang="zh-CN" altLang="en-US" sz="2600" i="0" dirty="0">
                <a:solidFill>
                  <a:schemeClr val="tx1"/>
                </a:solidFill>
                <a:latin typeface="Times New Roman" panose="02020603050405020304" pitchFamily="18" charset="0"/>
                <a:sym typeface="Symbol" panose="05050102010706020507" pitchFamily="18" charset="2"/>
              </a:rPr>
              <a:t>晶格能越大，晶体的熔点越高，硬度越大</a:t>
            </a: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0"/>
          <p:cNvSpPr/>
          <p:nvPr/>
        </p:nvSpPr>
        <p:spPr>
          <a:xfrm>
            <a:off x="533400" y="152400"/>
            <a:ext cx="8424863" cy="2862263"/>
          </a:xfrm>
          <a:prstGeom prst="rect">
            <a:avLst/>
          </a:prstGeom>
          <a:noFill/>
          <a:ln w="9525">
            <a:noFill/>
          </a:ln>
        </p:spPr>
        <p:txBody>
          <a:bodyPr>
            <a:spAutoFit/>
          </a:bodyPr>
          <a:lstStyle/>
          <a:p>
            <a:pPr algn="l">
              <a:lnSpc>
                <a:spcPts val="3600"/>
              </a:lnSpc>
            </a:pPr>
            <a:r>
              <a:rPr lang="en-US" altLang="zh-CN" sz="2600" i="0" dirty="0">
                <a:solidFill>
                  <a:schemeClr val="tx1"/>
                </a:solidFill>
                <a:latin typeface="Times New Roman" panose="02020603050405020304" pitchFamily="18" charset="0"/>
                <a:sym typeface="Symbol" panose="05050102010706020507" pitchFamily="18" charset="2"/>
              </a:rPr>
              <a:t>        </a:t>
            </a:r>
            <a:r>
              <a:rPr lang="zh-CN" altLang="en-US" sz="2600" i="0" dirty="0">
                <a:solidFill>
                  <a:schemeClr val="tx1"/>
                </a:solidFill>
                <a:latin typeface="Times New Roman" panose="02020603050405020304" pitchFamily="18" charset="0"/>
                <a:sym typeface="Symbol" panose="05050102010706020507" pitchFamily="18" charset="2"/>
              </a:rPr>
              <a:t>说明：</a:t>
            </a:r>
            <a:r>
              <a:rPr lang="en-US" altLang="zh-CN" sz="2600" i="0" dirty="0">
                <a:solidFill>
                  <a:schemeClr val="tx1"/>
                </a:solidFill>
                <a:latin typeface="Times New Roman" panose="02020603050405020304" pitchFamily="18" charset="0"/>
                <a:sym typeface="Symbol" panose="05050102010706020507" pitchFamily="18" charset="2"/>
              </a:rPr>
              <a:t>1</a:t>
            </a:r>
            <a:r>
              <a:rPr lang="zh-CN" altLang="en-US" sz="2600" i="0" dirty="0">
                <a:solidFill>
                  <a:schemeClr val="tx1"/>
                </a:solidFill>
                <a:latin typeface="Times New Roman" panose="02020603050405020304" pitchFamily="18" charset="0"/>
                <a:sym typeface="Symbol" panose="05050102010706020507" pitchFamily="18" charset="2"/>
              </a:rPr>
              <a:t>、一般可以近似认为</a:t>
            </a:r>
            <a:r>
              <a:rPr lang="en-US" altLang="zh-CN" sz="2600" i="0" dirty="0">
                <a:solidFill>
                  <a:schemeClr val="tx1"/>
                </a:solidFill>
                <a:latin typeface="Times New Roman" panose="02020603050405020304" pitchFamily="18" charset="0"/>
                <a:sym typeface="Symbol" panose="05050102010706020507" pitchFamily="18" charset="2"/>
              </a:rPr>
              <a:t>[</a:t>
            </a:r>
            <a:r>
              <a:rPr lang="en-US" altLang="zh-CN" sz="2600" dirty="0">
                <a:solidFill>
                  <a:srgbClr val="0000FF"/>
                </a:solidFill>
                <a:latin typeface="Times New Roman" panose="02020603050405020304" pitchFamily="18" charset="0"/>
                <a:sym typeface="Symbol" panose="05050102010706020507" pitchFamily="18" charset="2"/>
              </a:rPr>
              <a:t>O</a:t>
            </a:r>
            <a:r>
              <a:rPr lang="zh-CN" altLang="en-US" sz="2600" dirty="0">
                <a:solidFill>
                  <a:srgbClr val="0000FF"/>
                </a:solidFill>
                <a:latin typeface="Times New Roman" panose="02020603050405020304" pitchFamily="18" charset="0"/>
                <a:sym typeface="Symbol" panose="05050102010706020507" pitchFamily="18" charset="2"/>
              </a:rPr>
              <a:t>、</a:t>
            </a:r>
            <a:r>
              <a:rPr lang="en-US" altLang="zh-CN" sz="2600" dirty="0">
                <a:solidFill>
                  <a:srgbClr val="0000FF"/>
                </a:solidFill>
                <a:latin typeface="Times New Roman" panose="02020603050405020304" pitchFamily="18" charset="0"/>
                <a:sym typeface="Symbol" panose="05050102010706020507" pitchFamily="18" charset="2"/>
              </a:rPr>
              <a:t>F</a:t>
            </a:r>
            <a:r>
              <a:rPr lang="zh-CN" altLang="en-US" sz="2600" smtClean="0">
                <a:solidFill>
                  <a:srgbClr val="0000FF"/>
                </a:solidFill>
                <a:latin typeface="Times New Roman" panose="02020603050405020304" pitchFamily="18" charset="0"/>
                <a:sym typeface="Symbol" panose="05050102010706020507" pitchFamily="18" charset="2"/>
              </a:rPr>
              <a:t>与相对活泼</a:t>
            </a:r>
            <a:r>
              <a:rPr lang="zh-CN" altLang="en-US" sz="2600" dirty="0">
                <a:solidFill>
                  <a:srgbClr val="0000FF"/>
                </a:solidFill>
                <a:latin typeface="Times New Roman" panose="02020603050405020304" pitchFamily="18" charset="0"/>
                <a:sym typeface="Symbol" panose="05050102010706020507" pitchFamily="18" charset="2"/>
              </a:rPr>
              <a:t>金属</a:t>
            </a:r>
            <a:r>
              <a:rPr lang="en-US" altLang="zh-CN" sz="2600" dirty="0">
                <a:solidFill>
                  <a:srgbClr val="0000FF"/>
                </a:solidFill>
                <a:latin typeface="Times New Roman" panose="02020603050405020304" pitchFamily="18" charset="0"/>
                <a:sym typeface="Symbol" panose="05050102010706020507" pitchFamily="18" charset="2"/>
              </a:rPr>
              <a:t>+K/NaX</a:t>
            </a:r>
            <a:r>
              <a:rPr lang="en-US" altLang="zh-CN" sz="2600" i="0" dirty="0">
                <a:solidFill>
                  <a:schemeClr val="tx1"/>
                </a:solidFill>
                <a:latin typeface="Times New Roman" panose="02020603050405020304" pitchFamily="18" charset="0"/>
                <a:sym typeface="Symbol" panose="05050102010706020507" pitchFamily="18" charset="2"/>
              </a:rPr>
              <a:t>]</a:t>
            </a:r>
            <a:r>
              <a:rPr lang="zh-CN" altLang="en-US" sz="2600" i="0" dirty="0">
                <a:solidFill>
                  <a:schemeClr val="tx1"/>
                </a:solidFill>
                <a:latin typeface="Times New Roman" panose="02020603050405020304" pitchFamily="18" charset="0"/>
                <a:sym typeface="Symbol" panose="05050102010706020507" pitchFamily="18" charset="2"/>
              </a:rPr>
              <a:t>两类为典型的离子化合物（</a:t>
            </a:r>
            <a:r>
              <a:rPr lang="zh-CN" altLang="en-US" sz="2600" dirty="0">
                <a:solidFill>
                  <a:srgbClr val="0000FF"/>
                </a:solidFill>
                <a:latin typeface="Times New Roman" panose="02020603050405020304" pitchFamily="18" charset="0"/>
                <a:sym typeface="Symbol" panose="05050102010706020507" pitchFamily="18" charset="2"/>
              </a:rPr>
              <a:t>也就是说，对于它们，我们只考虑晶格能，不考虑极化</a:t>
            </a:r>
            <a:r>
              <a:rPr lang="zh-CN" altLang="en-US" sz="2600" i="0" dirty="0">
                <a:solidFill>
                  <a:schemeClr val="tx1"/>
                </a:solidFill>
                <a:latin typeface="Times New Roman" panose="02020603050405020304" pitchFamily="18" charset="0"/>
                <a:sym typeface="Symbol" panose="05050102010706020507" pitchFamily="18" charset="2"/>
              </a:rPr>
              <a:t>）；</a:t>
            </a:r>
            <a:endParaRPr lang="en-US" altLang="zh-CN" sz="2600" i="0" dirty="0">
              <a:solidFill>
                <a:schemeClr val="tx1"/>
              </a:solidFill>
              <a:latin typeface="Times New Roman" panose="02020603050405020304" pitchFamily="18" charset="0"/>
              <a:sym typeface="Symbol" panose="05050102010706020507" pitchFamily="18" charset="2"/>
            </a:endParaRPr>
          </a:p>
          <a:p>
            <a:pPr algn="l">
              <a:lnSpc>
                <a:spcPts val="3600"/>
              </a:lnSpc>
            </a:pPr>
            <a:r>
              <a:rPr lang="en-US" altLang="zh-CN" sz="2600" i="0" dirty="0">
                <a:solidFill>
                  <a:schemeClr val="tx1"/>
                </a:solidFill>
                <a:latin typeface="Times New Roman" panose="02020603050405020304" pitchFamily="18" charset="0"/>
                <a:sym typeface="Symbol" panose="05050102010706020507" pitchFamily="18" charset="2"/>
              </a:rPr>
              <a:t>                    2</a:t>
            </a:r>
            <a:r>
              <a:rPr lang="zh-CN" altLang="en-US" sz="2600" i="0" dirty="0">
                <a:solidFill>
                  <a:schemeClr val="tx1"/>
                </a:solidFill>
                <a:latin typeface="Times New Roman" panose="02020603050405020304" pitchFamily="18" charset="0"/>
                <a:sym typeface="Symbol" panose="05050102010706020507" pitchFamily="18" charset="2"/>
              </a:rPr>
              <a:t>、由于离子间的相互极化的影响，离子化合物中存在一定的共价成分，实验晶格能往往与理论计算有差异（</a:t>
            </a:r>
            <a:r>
              <a:rPr lang="zh-CN" altLang="en-US" sz="2600" dirty="0">
                <a:solidFill>
                  <a:schemeClr val="tx1"/>
                </a:solidFill>
                <a:latin typeface="Times New Roman" panose="02020603050405020304" pitchFamily="18" charset="0"/>
                <a:sym typeface="Symbol" panose="05050102010706020507" pitchFamily="18" charset="2"/>
              </a:rPr>
              <a:t>也就是说，我们只考虑理论</a:t>
            </a:r>
            <a:r>
              <a:rPr lang="zh-CN" altLang="en-US" sz="2600" i="0" dirty="0">
                <a:solidFill>
                  <a:schemeClr val="tx1"/>
                </a:solidFill>
                <a:latin typeface="Times New Roman" panose="02020603050405020304" pitchFamily="18" charset="0"/>
                <a:sym typeface="Symbol" panose="05050102010706020507" pitchFamily="18" charset="2"/>
              </a:rPr>
              <a:t>）。</a:t>
            </a:r>
          </a:p>
        </p:txBody>
      </p:sp>
      <p:sp>
        <p:nvSpPr>
          <p:cNvPr id="5" name="Rectangle 16"/>
          <p:cNvSpPr/>
          <p:nvPr/>
        </p:nvSpPr>
        <p:spPr>
          <a:xfrm>
            <a:off x="685800" y="3429000"/>
            <a:ext cx="7993063" cy="1576388"/>
          </a:xfrm>
          <a:prstGeom prst="rect">
            <a:avLst/>
          </a:prstGeom>
          <a:noFill/>
          <a:ln w="9525">
            <a:noFill/>
          </a:ln>
        </p:spPr>
        <p:txBody>
          <a:bodyPr>
            <a:spAutoFit/>
          </a:bodyPr>
          <a:lstStyle/>
          <a:p>
            <a:pPr algn="l">
              <a:lnSpc>
                <a:spcPts val="4000"/>
              </a:lnSpc>
            </a:pPr>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、试比较氧化物</a:t>
            </a:r>
            <a:r>
              <a:rPr lang="en-US" altLang="zh-CN" sz="2600" i="0" dirty="0">
                <a:solidFill>
                  <a:schemeClr val="tx1"/>
                </a:solidFill>
                <a:latin typeface="Times New Roman" panose="02020603050405020304" pitchFamily="18" charset="0"/>
              </a:rPr>
              <a:t>Na</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MgO</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Al</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r>
              <a:rPr lang="en-US" altLang="zh-CN" sz="2600" i="0" baseline="-25000" dirty="0">
                <a:solidFill>
                  <a:schemeClr val="tx1"/>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熔点的高低</a:t>
            </a:r>
            <a:endParaRPr lang="en-US" altLang="zh-CN" sz="2600" i="0" dirty="0">
              <a:solidFill>
                <a:schemeClr val="tx1"/>
              </a:solidFill>
              <a:latin typeface="Times New Roman" panose="02020603050405020304" pitchFamily="18" charset="0"/>
            </a:endParaRPr>
          </a:p>
          <a:p>
            <a:pPr algn="l">
              <a:lnSpc>
                <a:spcPts val="4000"/>
              </a:lnSpc>
            </a:pPr>
            <a:r>
              <a:rPr lang="en-US" altLang="zh-CN" sz="2600" i="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、四种离子化合物中：</a:t>
            </a:r>
            <a:r>
              <a:rPr lang="en-US" altLang="zh-CN" sz="2600" i="0" dirty="0">
                <a:solidFill>
                  <a:schemeClr val="tx1"/>
                </a:solidFill>
                <a:latin typeface="Times New Roman" panose="02020603050405020304" pitchFamily="18" charset="0"/>
              </a:rPr>
              <a:t>NaCl</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KCl</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KBr</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MgO</a:t>
            </a:r>
            <a:r>
              <a:rPr lang="zh-CN" altLang="en-US" sz="2600" i="0" dirty="0">
                <a:solidFill>
                  <a:schemeClr val="tx1"/>
                </a:solidFill>
                <a:latin typeface="Times New Roman" panose="02020603050405020304" pitchFamily="18" charset="0"/>
              </a:rPr>
              <a:t>，何者的熔点最低？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ChangeArrowheads="1"/>
          </p:cNvSpPr>
          <p:nvPr/>
        </p:nvSpPr>
        <p:spPr bwMode="auto">
          <a:xfrm>
            <a:off x="304800" y="228600"/>
            <a:ext cx="8458200" cy="4114800"/>
          </a:xfrm>
          <a:prstGeom prst="rect">
            <a:avLst/>
          </a:prstGeom>
          <a:solidFill>
            <a:schemeClr val="bg1"/>
          </a:solidFill>
          <a:ln w="9525">
            <a:noFill/>
            <a:miter lim="800000"/>
            <a:headEnd/>
            <a:tailEnd/>
          </a:ln>
        </p:spPr>
        <p:txBody>
          <a:bodyPr/>
          <a:lstStyle/>
          <a:p>
            <a:pPr marL="609600" indent="-609600">
              <a:lnSpc>
                <a:spcPts val="3800"/>
              </a:lnSpc>
              <a:spcBef>
                <a:spcPct val="20000"/>
              </a:spcBef>
            </a:pPr>
            <a:r>
              <a:rPr lang="zh-CN" altLang="en-US" sz="2800" dirty="0" smtClean="0">
                <a:solidFill>
                  <a:srgbClr val="0000FF"/>
                </a:solidFill>
                <a:latin typeface="Times New Roman" pitchFamily="18" charset="0"/>
                <a:ea typeface="楷体_GB2312" charset="-122"/>
              </a:rPr>
              <a:t>离子</a:t>
            </a:r>
            <a:r>
              <a:rPr lang="zh-CN" altLang="en-US" sz="2800" dirty="0">
                <a:solidFill>
                  <a:srgbClr val="0000FF"/>
                </a:solidFill>
                <a:latin typeface="Times New Roman" pitchFamily="18" charset="0"/>
                <a:ea typeface="楷体_GB2312" charset="-122"/>
              </a:rPr>
              <a:t>的电子构型</a:t>
            </a:r>
            <a:r>
              <a:rPr lang="en-US" altLang="zh-CN" sz="2800" dirty="0">
                <a:solidFill>
                  <a:srgbClr val="0000FF"/>
                </a:solidFill>
                <a:latin typeface="Times New Roman" pitchFamily="18" charset="0"/>
                <a:ea typeface="楷体_GB2312" charset="-122"/>
              </a:rPr>
              <a:t> </a:t>
            </a:r>
            <a:r>
              <a:rPr lang="en-US" altLang="zh-CN" sz="2600" dirty="0">
                <a:solidFill>
                  <a:schemeClr val="tx1"/>
                </a:solidFill>
                <a:latin typeface="Times New Roman" pitchFamily="18" charset="0"/>
                <a:ea typeface="楷体_GB2312" charset="-122"/>
              </a:rPr>
              <a:t>(</a:t>
            </a:r>
            <a:r>
              <a:rPr lang="zh-CN" altLang="en-US" sz="2600" dirty="0">
                <a:solidFill>
                  <a:schemeClr val="tx1"/>
                </a:solidFill>
                <a:latin typeface="Times New Roman" pitchFamily="18" charset="0"/>
                <a:ea typeface="楷体_GB2312" charset="-122"/>
              </a:rPr>
              <a:t>简称</a:t>
            </a:r>
            <a:r>
              <a:rPr lang="zh-CN" altLang="en-US" sz="2600" dirty="0">
                <a:solidFill>
                  <a:srgbClr val="993300"/>
                </a:solidFill>
                <a:latin typeface="Times New Roman" pitchFamily="18" charset="0"/>
                <a:ea typeface="楷体_GB2312" charset="-122"/>
              </a:rPr>
              <a:t>离子构型</a:t>
            </a:r>
            <a:r>
              <a:rPr lang="en-US" altLang="zh-CN" sz="2600" dirty="0">
                <a:solidFill>
                  <a:schemeClr val="tx1"/>
                </a:solidFill>
                <a:latin typeface="Times New Roman" pitchFamily="18" charset="0"/>
                <a:ea typeface="楷体_GB2312" charset="-122"/>
              </a:rPr>
              <a:t>): </a:t>
            </a:r>
          </a:p>
          <a:p>
            <a:pPr marL="609600" indent="-609600">
              <a:lnSpc>
                <a:spcPts val="3800"/>
              </a:lnSpc>
              <a:spcBef>
                <a:spcPct val="20000"/>
              </a:spcBef>
            </a:pPr>
            <a:r>
              <a:rPr lang="en-US" altLang="zh-CN" sz="2600" dirty="0">
                <a:solidFill>
                  <a:srgbClr val="993300"/>
                </a:solidFill>
                <a:latin typeface="Times New Roman" pitchFamily="18" charset="0"/>
                <a:ea typeface="楷体_GB2312" charset="-122"/>
              </a:rPr>
              <a:t>          </a:t>
            </a:r>
            <a:r>
              <a:rPr lang="en-US" altLang="zh-CN" sz="2600" i="1" dirty="0">
                <a:solidFill>
                  <a:srgbClr val="993300"/>
                </a:solidFill>
                <a:latin typeface="Times New Roman" pitchFamily="18" charset="0"/>
                <a:ea typeface="楷体_GB2312" charset="-122"/>
              </a:rPr>
              <a:t>2e </a:t>
            </a:r>
            <a:r>
              <a:rPr lang="en-US" altLang="zh-CN" sz="2600" i="1" baseline="30000" dirty="0">
                <a:solidFill>
                  <a:srgbClr val="993300"/>
                </a:solidFill>
                <a:latin typeface="Times New Roman" pitchFamily="18" charset="0"/>
                <a:ea typeface="楷体_GB2312" charset="-122"/>
              </a:rPr>
              <a:t>-</a:t>
            </a:r>
            <a:r>
              <a:rPr lang="zh-CN" altLang="en-US" sz="2600" i="1" dirty="0">
                <a:solidFill>
                  <a:srgbClr val="993300"/>
                </a:solidFill>
                <a:latin typeface="Times New Roman" pitchFamily="18" charset="0"/>
                <a:ea typeface="楷体_GB2312" charset="-122"/>
              </a:rPr>
              <a:t>构型</a:t>
            </a:r>
            <a:r>
              <a:rPr lang="en-US" altLang="zh-CN" sz="2600" i="1" dirty="0">
                <a:solidFill>
                  <a:schemeClr val="tx1"/>
                </a:solidFill>
                <a:latin typeface="Times New Roman" pitchFamily="18" charset="0"/>
                <a:ea typeface="楷体_GB2312" charset="-122"/>
              </a:rPr>
              <a:t>:   Li</a:t>
            </a:r>
            <a:r>
              <a:rPr lang="en-US" altLang="zh-CN" sz="2600" i="1" baseline="30000" dirty="0">
                <a:solidFill>
                  <a:schemeClr val="tx1"/>
                </a:solidFill>
                <a:latin typeface="Times New Roman" pitchFamily="18" charset="0"/>
                <a:ea typeface="楷体_GB2312" charset="-122"/>
              </a:rPr>
              <a:t>+</a:t>
            </a:r>
            <a:r>
              <a:rPr lang="zh-CN" altLang="en-US" sz="2600" i="1" dirty="0">
                <a:solidFill>
                  <a:schemeClr val="tx1"/>
                </a:solidFill>
                <a:latin typeface="Times New Roman" pitchFamily="18" charset="0"/>
                <a:ea typeface="楷体_GB2312" charset="-122"/>
              </a:rPr>
              <a:t>、</a:t>
            </a:r>
            <a:r>
              <a:rPr lang="en-US" altLang="zh-CN" sz="2600" i="1" dirty="0">
                <a:solidFill>
                  <a:schemeClr val="tx1"/>
                </a:solidFill>
                <a:latin typeface="Times New Roman" pitchFamily="18" charset="0"/>
                <a:ea typeface="楷体_GB2312" charset="-122"/>
              </a:rPr>
              <a:t>Be</a:t>
            </a:r>
            <a:r>
              <a:rPr lang="en-US" altLang="zh-CN" sz="2600" i="1" baseline="30000" dirty="0">
                <a:solidFill>
                  <a:schemeClr val="tx1"/>
                </a:solidFill>
                <a:latin typeface="Times New Roman" pitchFamily="18" charset="0"/>
                <a:ea typeface="楷体_GB2312" charset="-122"/>
              </a:rPr>
              <a:t>2+</a:t>
            </a:r>
            <a:r>
              <a:rPr lang="zh-CN" altLang="en-US" sz="2600" i="1" dirty="0">
                <a:solidFill>
                  <a:schemeClr val="tx1"/>
                </a:solidFill>
                <a:latin typeface="Times New Roman" pitchFamily="18" charset="0"/>
                <a:ea typeface="楷体_GB2312" charset="-122"/>
              </a:rPr>
              <a:t>等</a:t>
            </a:r>
            <a:endParaRPr lang="zh-CN" altLang="en-US" sz="2600" dirty="0">
              <a:solidFill>
                <a:schemeClr val="tx1"/>
              </a:solidFill>
              <a:latin typeface="Times New Roman" pitchFamily="18" charset="0"/>
              <a:ea typeface="楷体_GB2312" charset="-122"/>
            </a:endParaRPr>
          </a:p>
          <a:p>
            <a:pPr marL="1066800" lvl="1" indent="-609600">
              <a:lnSpc>
                <a:spcPts val="3800"/>
              </a:lnSpc>
              <a:spcBef>
                <a:spcPct val="20000"/>
              </a:spcBef>
            </a:pPr>
            <a:r>
              <a:rPr lang="en-US" altLang="zh-CN" sz="2600" dirty="0">
                <a:solidFill>
                  <a:srgbClr val="993300"/>
                </a:solidFill>
                <a:latin typeface="Times New Roman" pitchFamily="18" charset="0"/>
                <a:ea typeface="楷体_GB2312" charset="-122"/>
              </a:rPr>
              <a:t>   </a:t>
            </a:r>
            <a:r>
              <a:rPr lang="en-US" altLang="zh-CN" sz="2600" i="1" dirty="0">
                <a:solidFill>
                  <a:srgbClr val="993300"/>
                </a:solidFill>
                <a:latin typeface="Times New Roman" pitchFamily="18" charset="0"/>
                <a:ea typeface="楷体_GB2312" charset="-122"/>
              </a:rPr>
              <a:t>8e </a:t>
            </a:r>
            <a:r>
              <a:rPr lang="en-US" altLang="zh-CN" sz="2600" i="1" baseline="30000" dirty="0">
                <a:solidFill>
                  <a:srgbClr val="993300"/>
                </a:solidFill>
                <a:latin typeface="Times New Roman" pitchFamily="18" charset="0"/>
                <a:ea typeface="楷体_GB2312" charset="-122"/>
              </a:rPr>
              <a:t>-</a:t>
            </a:r>
            <a:r>
              <a:rPr lang="zh-CN" altLang="en-US" sz="2600" i="1" dirty="0">
                <a:solidFill>
                  <a:srgbClr val="993300"/>
                </a:solidFill>
                <a:latin typeface="Times New Roman" pitchFamily="18" charset="0"/>
                <a:ea typeface="楷体_GB2312" charset="-122"/>
              </a:rPr>
              <a:t>构型</a:t>
            </a:r>
            <a:r>
              <a:rPr lang="zh-CN" altLang="en-US" sz="2600" dirty="0">
                <a:solidFill>
                  <a:schemeClr val="tx1"/>
                </a:solidFill>
                <a:latin typeface="Times New Roman" pitchFamily="18" charset="0"/>
                <a:ea typeface="楷体_GB2312" charset="-122"/>
              </a:rPr>
              <a:t>：</a:t>
            </a:r>
            <a:r>
              <a:rPr lang="en-US" altLang="zh-CN" sz="2600" i="1" dirty="0">
                <a:solidFill>
                  <a:schemeClr val="tx1"/>
                </a:solidFill>
                <a:latin typeface="Times New Roman" pitchFamily="18" charset="0"/>
                <a:ea typeface="楷体_GB2312" charset="-122"/>
              </a:rPr>
              <a:t>s</a:t>
            </a:r>
            <a:r>
              <a:rPr lang="zh-CN" altLang="en-US" sz="2600" dirty="0">
                <a:solidFill>
                  <a:schemeClr val="tx1"/>
                </a:solidFill>
                <a:latin typeface="Times New Roman" pitchFamily="18" charset="0"/>
                <a:ea typeface="楷体_GB2312" charset="-122"/>
              </a:rPr>
              <a:t>区正离子，</a:t>
            </a:r>
            <a:r>
              <a:rPr lang="en-US" altLang="zh-CN" sz="2600" i="1" dirty="0">
                <a:solidFill>
                  <a:schemeClr val="tx1"/>
                </a:solidFill>
                <a:latin typeface="Times New Roman" pitchFamily="18" charset="0"/>
                <a:ea typeface="楷体_GB2312" charset="-122"/>
              </a:rPr>
              <a:t>p</a:t>
            </a:r>
            <a:r>
              <a:rPr lang="zh-CN" altLang="en-US" sz="2600" dirty="0">
                <a:solidFill>
                  <a:schemeClr val="tx1"/>
                </a:solidFill>
                <a:latin typeface="Times New Roman" pitchFamily="18" charset="0"/>
                <a:ea typeface="楷体_GB2312" charset="-122"/>
              </a:rPr>
              <a:t>区负离子（除</a:t>
            </a:r>
            <a:r>
              <a:rPr lang="en-US" altLang="zh-CN" sz="2600" dirty="0" err="1">
                <a:solidFill>
                  <a:schemeClr val="tx1"/>
                </a:solidFill>
                <a:latin typeface="Times New Roman" pitchFamily="18" charset="0"/>
                <a:ea typeface="楷体_GB2312" charset="-122"/>
              </a:rPr>
              <a:t>H</a:t>
            </a:r>
            <a:r>
              <a:rPr lang="en-US" altLang="zh-CN" sz="2600" baseline="30000" dirty="0" err="1">
                <a:solidFill>
                  <a:schemeClr val="tx1"/>
                </a:solidFill>
                <a:latin typeface="Times New Roman" pitchFamily="18" charset="0"/>
                <a:ea typeface="楷体_GB2312" charset="-122"/>
              </a:rPr>
              <a:t>+</a:t>
            </a:r>
            <a:r>
              <a:rPr lang="en-US" altLang="zh-CN" sz="2600" dirty="0" err="1">
                <a:solidFill>
                  <a:schemeClr val="tx1"/>
                </a:solidFill>
                <a:latin typeface="Times New Roman" pitchFamily="18" charset="0"/>
                <a:ea typeface="楷体_GB2312" charset="-122"/>
              </a:rPr>
              <a:t>,Li</a:t>
            </a:r>
            <a:r>
              <a:rPr lang="zh-CN" altLang="en-US" sz="2600" baseline="30000" dirty="0">
                <a:solidFill>
                  <a:schemeClr val="tx1"/>
                </a:solidFill>
                <a:latin typeface="Times New Roman" pitchFamily="18" charset="0"/>
                <a:ea typeface="楷体_GB2312" charset="-122"/>
              </a:rPr>
              <a:t>＋</a:t>
            </a:r>
            <a:r>
              <a:rPr lang="en-US" altLang="zh-CN" sz="2600" dirty="0">
                <a:solidFill>
                  <a:schemeClr val="tx1"/>
                </a:solidFill>
                <a:latin typeface="Times New Roman" pitchFamily="18" charset="0"/>
                <a:ea typeface="楷体_GB2312" charset="-122"/>
              </a:rPr>
              <a:t>,Be</a:t>
            </a:r>
            <a:r>
              <a:rPr lang="en-US" altLang="zh-CN" sz="2600" baseline="30000" dirty="0">
                <a:solidFill>
                  <a:schemeClr val="tx1"/>
                </a:solidFill>
                <a:latin typeface="Times New Roman" pitchFamily="18" charset="0"/>
                <a:ea typeface="楷体_GB2312" charset="-122"/>
              </a:rPr>
              <a:t>2+</a:t>
            </a:r>
            <a:r>
              <a:rPr lang="zh-CN" altLang="en-US" sz="2600" dirty="0">
                <a:solidFill>
                  <a:schemeClr val="tx1"/>
                </a:solidFill>
                <a:latin typeface="Times New Roman" pitchFamily="18" charset="0"/>
                <a:ea typeface="楷体_GB2312" charset="-122"/>
              </a:rPr>
              <a:t>） </a:t>
            </a:r>
          </a:p>
          <a:p>
            <a:pPr marL="1066800" lvl="1" indent="-609600">
              <a:lnSpc>
                <a:spcPts val="3800"/>
              </a:lnSpc>
              <a:spcBef>
                <a:spcPct val="20000"/>
              </a:spcBef>
            </a:pPr>
            <a:r>
              <a:rPr lang="zh-CN" altLang="en-US" sz="2600" dirty="0">
                <a:solidFill>
                  <a:srgbClr val="993300"/>
                </a:solidFill>
                <a:latin typeface="Times New Roman" pitchFamily="18" charset="0"/>
                <a:ea typeface="楷体_GB2312" charset="-122"/>
              </a:rPr>
              <a:t>   </a:t>
            </a:r>
            <a:r>
              <a:rPr lang="en-US" altLang="zh-CN" sz="2600" dirty="0">
                <a:solidFill>
                  <a:srgbClr val="993300"/>
                </a:solidFill>
                <a:latin typeface="Times New Roman" pitchFamily="18" charset="0"/>
                <a:ea typeface="楷体_GB2312" charset="-122"/>
              </a:rPr>
              <a:t>(</a:t>
            </a:r>
            <a:r>
              <a:rPr lang="en-US" altLang="zh-CN" sz="2600" i="1" dirty="0">
                <a:solidFill>
                  <a:srgbClr val="993300"/>
                </a:solidFill>
                <a:latin typeface="Times New Roman" pitchFamily="18" charset="0"/>
                <a:ea typeface="楷体_GB2312" charset="-122"/>
              </a:rPr>
              <a:t>9</a:t>
            </a:r>
            <a:r>
              <a:rPr lang="zh-CN" altLang="en-US" sz="2600" i="1" dirty="0">
                <a:solidFill>
                  <a:srgbClr val="993300"/>
                </a:solidFill>
                <a:latin typeface="Times New Roman" pitchFamily="18" charset="0"/>
                <a:ea typeface="楷体_GB2312" charset="-122"/>
              </a:rPr>
              <a:t>～</a:t>
            </a:r>
            <a:r>
              <a:rPr lang="en-US" altLang="zh-CN" sz="2600" i="1" dirty="0">
                <a:solidFill>
                  <a:srgbClr val="993300"/>
                </a:solidFill>
                <a:latin typeface="Times New Roman" pitchFamily="18" charset="0"/>
                <a:ea typeface="楷体_GB2312" charset="-122"/>
              </a:rPr>
              <a:t>17) e </a:t>
            </a:r>
            <a:r>
              <a:rPr lang="en-US" altLang="zh-CN" sz="2600" i="1" baseline="30000" dirty="0">
                <a:solidFill>
                  <a:srgbClr val="993300"/>
                </a:solidFill>
                <a:latin typeface="Times New Roman" pitchFamily="18" charset="0"/>
                <a:ea typeface="楷体_GB2312" charset="-122"/>
              </a:rPr>
              <a:t>-</a:t>
            </a:r>
            <a:r>
              <a:rPr lang="zh-CN" altLang="en-US" sz="2600" i="1" dirty="0">
                <a:solidFill>
                  <a:srgbClr val="993300"/>
                </a:solidFill>
                <a:latin typeface="Times New Roman" pitchFamily="18" charset="0"/>
                <a:ea typeface="楷体_GB2312" charset="-122"/>
              </a:rPr>
              <a:t>电子构型</a:t>
            </a:r>
            <a:r>
              <a:rPr lang="zh-CN" altLang="en-US" sz="2600" dirty="0">
                <a:solidFill>
                  <a:schemeClr val="tx1"/>
                </a:solidFill>
                <a:latin typeface="Times New Roman" pitchFamily="18" charset="0"/>
                <a:ea typeface="楷体_GB2312" charset="-122"/>
              </a:rPr>
              <a:t>：</a:t>
            </a:r>
            <a:r>
              <a:rPr lang="en-US" altLang="zh-CN" sz="2600" i="1" dirty="0">
                <a:solidFill>
                  <a:schemeClr val="tx1"/>
                </a:solidFill>
                <a:latin typeface="Times New Roman" pitchFamily="18" charset="0"/>
                <a:ea typeface="楷体_GB2312" charset="-122"/>
              </a:rPr>
              <a:t>d</a:t>
            </a:r>
            <a:r>
              <a:rPr lang="zh-CN" altLang="en-US" sz="2600" dirty="0">
                <a:solidFill>
                  <a:schemeClr val="tx1"/>
                </a:solidFill>
                <a:latin typeface="Times New Roman" pitchFamily="18" charset="0"/>
                <a:ea typeface="楷体_GB2312" charset="-122"/>
              </a:rPr>
              <a:t>区正离子 </a:t>
            </a:r>
          </a:p>
          <a:p>
            <a:pPr marL="1066800" lvl="1" indent="-609600">
              <a:lnSpc>
                <a:spcPts val="3800"/>
              </a:lnSpc>
              <a:spcBef>
                <a:spcPct val="20000"/>
              </a:spcBef>
            </a:pPr>
            <a:r>
              <a:rPr lang="zh-CN" altLang="en-US" sz="2600" dirty="0">
                <a:latin typeface="Times New Roman" pitchFamily="18" charset="0"/>
                <a:ea typeface="楷体_GB2312" charset="-122"/>
              </a:rPr>
              <a:t>   </a:t>
            </a:r>
            <a:r>
              <a:rPr lang="en-US" altLang="zh-CN" sz="2600" i="1" dirty="0">
                <a:solidFill>
                  <a:srgbClr val="993300"/>
                </a:solidFill>
                <a:latin typeface="Times New Roman" pitchFamily="18" charset="0"/>
                <a:ea typeface="楷体_GB2312" charset="-122"/>
              </a:rPr>
              <a:t>18 e </a:t>
            </a:r>
            <a:r>
              <a:rPr lang="en-US" altLang="zh-CN" sz="2600" i="1" baseline="30000" dirty="0">
                <a:solidFill>
                  <a:srgbClr val="993300"/>
                </a:solidFill>
                <a:latin typeface="Times New Roman" pitchFamily="18" charset="0"/>
                <a:ea typeface="楷体_GB2312" charset="-122"/>
              </a:rPr>
              <a:t>-</a:t>
            </a:r>
            <a:r>
              <a:rPr lang="zh-CN" altLang="en-US" sz="2600" i="1" dirty="0">
                <a:solidFill>
                  <a:srgbClr val="993300"/>
                </a:solidFill>
                <a:latin typeface="Times New Roman" pitchFamily="18" charset="0"/>
                <a:ea typeface="楷体_GB2312" charset="-122"/>
              </a:rPr>
              <a:t>构型</a:t>
            </a:r>
            <a:r>
              <a:rPr lang="zh-CN" altLang="en-US" sz="2600" dirty="0">
                <a:solidFill>
                  <a:schemeClr val="tx1"/>
                </a:solidFill>
                <a:latin typeface="Times New Roman" pitchFamily="18" charset="0"/>
                <a:ea typeface="楷体_GB2312" charset="-122"/>
              </a:rPr>
              <a:t>：</a:t>
            </a:r>
            <a:r>
              <a:rPr lang="en-US" altLang="zh-CN" sz="2600" i="1" dirty="0" err="1">
                <a:solidFill>
                  <a:schemeClr val="tx1"/>
                </a:solidFill>
                <a:latin typeface="Times New Roman" pitchFamily="18" charset="0"/>
                <a:ea typeface="楷体_GB2312" charset="-122"/>
              </a:rPr>
              <a:t>ds</a:t>
            </a:r>
            <a:r>
              <a:rPr lang="zh-CN" altLang="en-US" sz="2600" dirty="0">
                <a:solidFill>
                  <a:schemeClr val="tx1"/>
                </a:solidFill>
                <a:latin typeface="Times New Roman" pitchFamily="18" charset="0"/>
                <a:ea typeface="楷体_GB2312" charset="-122"/>
              </a:rPr>
              <a:t>区（＋</a:t>
            </a:r>
            <a:r>
              <a:rPr lang="en-US" altLang="zh-CN" sz="2600" dirty="0">
                <a:solidFill>
                  <a:schemeClr val="tx1"/>
                </a:solidFill>
                <a:latin typeface="Times New Roman" pitchFamily="18" charset="0"/>
                <a:ea typeface="楷体_GB2312" charset="-122"/>
              </a:rPr>
              <a:t>1</a:t>
            </a:r>
            <a:r>
              <a:rPr lang="zh-CN" altLang="en-US" sz="2600" dirty="0">
                <a:solidFill>
                  <a:schemeClr val="tx1"/>
                </a:solidFill>
                <a:latin typeface="Times New Roman" pitchFamily="18" charset="0"/>
                <a:ea typeface="楷体_GB2312" charset="-122"/>
              </a:rPr>
              <a:t>价</a:t>
            </a:r>
            <a:r>
              <a:rPr lang="en-US" altLang="zh-CN" sz="2600" dirty="0">
                <a:solidFill>
                  <a:schemeClr val="tx1"/>
                </a:solidFill>
                <a:latin typeface="Times New Roman" pitchFamily="18" charset="0"/>
                <a:ea typeface="楷体_GB2312" charset="-122"/>
              </a:rPr>
              <a:t>IB</a:t>
            </a:r>
            <a:r>
              <a:rPr lang="zh-CN" altLang="en-US" sz="2600" dirty="0">
                <a:solidFill>
                  <a:schemeClr val="tx1"/>
                </a:solidFill>
                <a:latin typeface="Times New Roman" pitchFamily="18" charset="0"/>
                <a:ea typeface="楷体_GB2312" charset="-122"/>
              </a:rPr>
              <a:t>族和＋</a:t>
            </a:r>
            <a:r>
              <a:rPr lang="en-US" altLang="zh-CN" sz="2600" dirty="0">
                <a:solidFill>
                  <a:schemeClr val="tx1"/>
                </a:solidFill>
                <a:latin typeface="Times New Roman" pitchFamily="18" charset="0"/>
                <a:ea typeface="楷体_GB2312" charset="-122"/>
              </a:rPr>
              <a:t>2</a:t>
            </a:r>
            <a:r>
              <a:rPr lang="zh-CN" altLang="en-US" sz="2600" dirty="0">
                <a:solidFill>
                  <a:schemeClr val="tx1"/>
                </a:solidFill>
                <a:latin typeface="Times New Roman" pitchFamily="18" charset="0"/>
                <a:ea typeface="楷体_GB2312" charset="-122"/>
              </a:rPr>
              <a:t>价</a:t>
            </a:r>
            <a:r>
              <a:rPr lang="en-US" altLang="zh-CN" sz="2600" dirty="0" err="1">
                <a:solidFill>
                  <a:schemeClr val="tx1"/>
                </a:solidFill>
                <a:latin typeface="Times New Roman" pitchFamily="18" charset="0"/>
                <a:ea typeface="楷体_GB2312" charset="-122"/>
              </a:rPr>
              <a:t>ⅡB</a:t>
            </a:r>
            <a:r>
              <a:rPr lang="zh-CN" altLang="en-US" sz="2600" dirty="0">
                <a:solidFill>
                  <a:schemeClr val="tx1"/>
                </a:solidFill>
                <a:latin typeface="Times New Roman" pitchFamily="18" charset="0"/>
                <a:ea typeface="楷体_GB2312" charset="-122"/>
              </a:rPr>
              <a:t>族离子）</a:t>
            </a:r>
          </a:p>
          <a:p>
            <a:pPr marL="1066800" lvl="1" indent="-609600">
              <a:lnSpc>
                <a:spcPts val="3800"/>
              </a:lnSpc>
              <a:spcBef>
                <a:spcPct val="20000"/>
              </a:spcBef>
            </a:pPr>
            <a:r>
              <a:rPr lang="zh-CN" altLang="en-US" sz="2600" dirty="0">
                <a:latin typeface="Times New Roman" pitchFamily="18" charset="0"/>
                <a:ea typeface="楷体_GB2312" charset="-122"/>
              </a:rPr>
              <a:t>   </a:t>
            </a:r>
            <a:r>
              <a:rPr lang="en-US" altLang="zh-CN" sz="2600" dirty="0">
                <a:solidFill>
                  <a:srgbClr val="993300"/>
                </a:solidFill>
                <a:latin typeface="Times New Roman" pitchFamily="18" charset="0"/>
                <a:ea typeface="楷体_GB2312" charset="-122"/>
              </a:rPr>
              <a:t>(</a:t>
            </a:r>
            <a:r>
              <a:rPr lang="en-US" altLang="zh-CN" sz="2600" i="1" dirty="0">
                <a:solidFill>
                  <a:srgbClr val="993300"/>
                </a:solidFill>
                <a:latin typeface="Times New Roman" pitchFamily="18" charset="0"/>
                <a:ea typeface="楷体_GB2312" charset="-122"/>
              </a:rPr>
              <a:t>18</a:t>
            </a:r>
            <a:r>
              <a:rPr lang="zh-CN" altLang="en-US" sz="2600" i="1" dirty="0">
                <a:solidFill>
                  <a:srgbClr val="993300"/>
                </a:solidFill>
                <a:latin typeface="Times New Roman" pitchFamily="18" charset="0"/>
                <a:ea typeface="楷体_GB2312" charset="-122"/>
              </a:rPr>
              <a:t>＋</a:t>
            </a:r>
            <a:r>
              <a:rPr lang="en-US" altLang="zh-CN" sz="2600" i="1" dirty="0">
                <a:solidFill>
                  <a:srgbClr val="993300"/>
                </a:solidFill>
                <a:latin typeface="Times New Roman" pitchFamily="18" charset="0"/>
                <a:ea typeface="楷体_GB2312" charset="-122"/>
              </a:rPr>
              <a:t>2) e </a:t>
            </a:r>
            <a:r>
              <a:rPr lang="en-US" altLang="zh-CN" sz="2600" i="1" baseline="30000" dirty="0">
                <a:solidFill>
                  <a:srgbClr val="993300"/>
                </a:solidFill>
                <a:latin typeface="Times New Roman" pitchFamily="18" charset="0"/>
                <a:ea typeface="楷体_GB2312" charset="-122"/>
              </a:rPr>
              <a:t>-</a:t>
            </a:r>
            <a:r>
              <a:rPr lang="zh-CN" altLang="en-US" sz="2600" i="1" dirty="0">
                <a:solidFill>
                  <a:srgbClr val="993300"/>
                </a:solidFill>
                <a:latin typeface="Times New Roman" pitchFamily="18" charset="0"/>
                <a:ea typeface="楷体_GB2312" charset="-122"/>
              </a:rPr>
              <a:t>构型</a:t>
            </a:r>
            <a:r>
              <a:rPr lang="zh-CN" altLang="en-US" sz="2600" dirty="0">
                <a:solidFill>
                  <a:schemeClr val="tx1"/>
                </a:solidFill>
                <a:latin typeface="Times New Roman" pitchFamily="18" charset="0"/>
                <a:ea typeface="楷体_GB2312" charset="-122"/>
              </a:rPr>
              <a:t>：大部分</a:t>
            </a:r>
            <a:r>
              <a:rPr lang="en-US" altLang="zh-CN" sz="2600" i="1" dirty="0">
                <a:solidFill>
                  <a:schemeClr val="tx1"/>
                </a:solidFill>
                <a:latin typeface="Times New Roman" pitchFamily="18" charset="0"/>
                <a:ea typeface="楷体_GB2312" charset="-122"/>
              </a:rPr>
              <a:t>p</a:t>
            </a:r>
            <a:r>
              <a:rPr lang="zh-CN" altLang="en-US" sz="2600" dirty="0">
                <a:solidFill>
                  <a:schemeClr val="tx1"/>
                </a:solidFill>
                <a:latin typeface="Times New Roman" pitchFamily="18" charset="0"/>
                <a:ea typeface="楷体_GB2312" charset="-122"/>
              </a:rPr>
              <a:t>区正离子 </a:t>
            </a:r>
            <a:endParaRPr lang="en-US" altLang="zh-CN" sz="2600" dirty="0">
              <a:solidFill>
                <a:schemeClr val="tx1"/>
              </a:solidFill>
              <a:latin typeface="Times New Roman" pitchFamily="18" charset="0"/>
              <a:ea typeface="楷体_GB2312" charset="-122"/>
            </a:endParaRPr>
          </a:p>
          <a:p>
            <a:pPr marL="1066800" lvl="1" indent="-609600">
              <a:lnSpc>
                <a:spcPts val="3800"/>
              </a:lnSpc>
              <a:spcBef>
                <a:spcPct val="20000"/>
              </a:spcBef>
            </a:pPr>
            <a:r>
              <a:rPr lang="zh-CN" altLang="en-US" sz="2600" dirty="0">
                <a:solidFill>
                  <a:srgbClr val="0000FF"/>
                </a:solidFill>
                <a:latin typeface="Times New Roman" pitchFamily="18" charset="0"/>
                <a:ea typeface="楷体_GB2312" charset="-122"/>
              </a:rPr>
              <a:t>离子的电子构型与离子</a:t>
            </a:r>
            <a:r>
              <a:rPr lang="zh-CN" altLang="en-US" sz="2600" dirty="0" smtClean="0">
                <a:solidFill>
                  <a:srgbClr val="0000FF"/>
                </a:solidFill>
                <a:latin typeface="Times New Roman" pitchFamily="18" charset="0"/>
                <a:ea typeface="楷体_GB2312" charset="-122"/>
              </a:rPr>
              <a:t>极化</a:t>
            </a:r>
            <a:r>
              <a:rPr lang="zh-CN" altLang="en-US" sz="2600" dirty="0" smtClean="0">
                <a:solidFill>
                  <a:srgbClr val="0000FF"/>
                </a:solidFill>
                <a:ea typeface="楷体_GB2312" charset="-122"/>
              </a:rPr>
              <a:t>紧密</a:t>
            </a:r>
            <a:r>
              <a:rPr lang="zh-CN" altLang="en-US" sz="2600" dirty="0" smtClean="0">
                <a:solidFill>
                  <a:srgbClr val="0000FF"/>
                </a:solidFill>
                <a:latin typeface="Times New Roman" pitchFamily="18" charset="0"/>
                <a:ea typeface="楷体_GB2312" charset="-122"/>
              </a:rPr>
              <a:t>相</a:t>
            </a:r>
            <a:r>
              <a:rPr lang="zh-CN" altLang="en-US" sz="2600" dirty="0">
                <a:solidFill>
                  <a:srgbClr val="0000FF"/>
                </a:solidFill>
                <a:latin typeface="Times New Roman" pitchFamily="18" charset="0"/>
                <a:ea typeface="楷体_GB2312" charset="-122"/>
              </a:rPr>
              <a:t>联系</a:t>
            </a:r>
            <a:r>
              <a:rPr lang="zh-CN" altLang="en-US" sz="2600" dirty="0" smtClean="0">
                <a:solidFill>
                  <a:srgbClr val="0000FF"/>
                </a:solidFill>
                <a:latin typeface="Times New Roman" pitchFamily="18" charset="0"/>
                <a:ea typeface="楷体_GB2312" charset="-122"/>
              </a:rPr>
              <a:t>！</a:t>
            </a:r>
            <a:endParaRPr lang="zh-CN" altLang="en-US" sz="2600" dirty="0">
              <a:solidFill>
                <a:srgbClr val="0000FF"/>
              </a:solidFill>
              <a:latin typeface="Times New Roman" pitchFamily="18" charset="0"/>
              <a:ea typeface="楷体_GB2312"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
          <p:cNvSpPr>
            <a:spLocks noChangeArrowheads="1"/>
          </p:cNvSpPr>
          <p:nvPr/>
        </p:nvSpPr>
        <p:spPr bwMode="auto">
          <a:xfrm>
            <a:off x="0" y="76200"/>
            <a:ext cx="9072594" cy="1816100"/>
          </a:xfrm>
          <a:prstGeom prst="rect">
            <a:avLst/>
          </a:prstGeom>
          <a:noFill/>
          <a:ln w="9525">
            <a:noFill/>
            <a:miter lim="800000"/>
            <a:headEnd/>
            <a:tailEnd/>
          </a:ln>
        </p:spPr>
        <p:txBody>
          <a:bodyPr wrap="square" anchor="ctr">
            <a:spAutoFit/>
          </a:bodyPr>
          <a:lstStyle/>
          <a:p>
            <a:pPr indent="355600" algn="l" eaLnBrk="0" hangingPunct="0">
              <a:lnSpc>
                <a:spcPts val="3600"/>
              </a:lnSpc>
            </a:pPr>
            <a:r>
              <a:rPr lang="zh-CN" altLang="en-US" sz="2600" dirty="0" smtClean="0">
                <a:solidFill>
                  <a:schemeClr val="tx1"/>
                </a:solidFill>
                <a:latin typeface="Times New Roman" pitchFamily="18" charset="0"/>
              </a:rPr>
              <a:t>    下列</a:t>
            </a:r>
            <a:r>
              <a:rPr lang="zh-CN" altLang="en-US" sz="2600" dirty="0">
                <a:solidFill>
                  <a:schemeClr val="tx1"/>
                </a:solidFill>
                <a:latin typeface="Times New Roman" pitchFamily="18" charset="0"/>
              </a:rPr>
              <a:t>离子何者具有</a:t>
            </a:r>
            <a:r>
              <a:rPr lang="en-US" altLang="zh-CN" sz="2600" dirty="0" err="1">
                <a:solidFill>
                  <a:schemeClr val="tx1"/>
                </a:solidFill>
                <a:latin typeface="Times New Roman" pitchFamily="18" charset="0"/>
              </a:rPr>
              <a:t>Ar</a:t>
            </a:r>
            <a:r>
              <a:rPr lang="zh-CN" altLang="en-US" sz="2600" dirty="0">
                <a:solidFill>
                  <a:schemeClr val="tx1"/>
                </a:solidFill>
                <a:latin typeface="Times New Roman" pitchFamily="18" charset="0"/>
              </a:rPr>
              <a:t>的电子构型（     ），何者具有</a:t>
            </a:r>
            <a:r>
              <a:rPr lang="en-US" altLang="zh-CN" sz="2600" dirty="0">
                <a:solidFill>
                  <a:schemeClr val="tx1"/>
                </a:solidFill>
                <a:latin typeface="Times New Roman" pitchFamily="18" charset="0"/>
              </a:rPr>
              <a:t>Ne</a:t>
            </a:r>
            <a:r>
              <a:rPr lang="zh-CN" altLang="en-US" sz="2600" dirty="0">
                <a:solidFill>
                  <a:schemeClr val="tx1"/>
                </a:solidFill>
                <a:latin typeface="Times New Roman" pitchFamily="18" charset="0"/>
              </a:rPr>
              <a:t>的电子构型（ </a:t>
            </a:r>
            <a:r>
              <a:rPr lang="en-US" altLang="zh-CN" sz="2600" dirty="0">
                <a:solidFill>
                  <a:schemeClr val="tx1"/>
                </a:solidFill>
                <a:latin typeface="Times New Roman" pitchFamily="18" charset="0"/>
              </a:rPr>
              <a:t>     </a:t>
            </a:r>
            <a:r>
              <a:rPr lang="zh-CN" altLang="en-US" sz="2600" dirty="0">
                <a:solidFill>
                  <a:schemeClr val="tx1"/>
                </a:solidFill>
                <a:latin typeface="Times New Roman" pitchFamily="18" charset="0"/>
              </a:rPr>
              <a:t>）。</a:t>
            </a:r>
            <a:endParaRPr lang="zh-CN" altLang="en-US" sz="2600" dirty="0">
              <a:solidFill>
                <a:schemeClr val="tx1"/>
              </a:solidFill>
            </a:endParaRPr>
          </a:p>
          <a:p>
            <a:pPr indent="355600" algn="l" eaLnBrk="0" hangingPunct="0"/>
            <a:r>
              <a:rPr lang="en-US" altLang="zh-CN" sz="2600" dirty="0" smtClean="0">
                <a:solidFill>
                  <a:schemeClr val="tx1"/>
                </a:solidFill>
                <a:latin typeface="Times New Roman" pitchFamily="18" charset="0"/>
              </a:rPr>
              <a:t>     A</a:t>
            </a:r>
            <a:r>
              <a:rPr lang="zh-CN" altLang="en-US" sz="2600" dirty="0">
                <a:solidFill>
                  <a:schemeClr val="tx1"/>
                </a:solidFill>
                <a:latin typeface="Times New Roman" pitchFamily="18" charset="0"/>
              </a:rPr>
              <a:t>、</a:t>
            </a:r>
            <a:r>
              <a:rPr lang="en-US" altLang="zh-CN" sz="2600" dirty="0">
                <a:solidFill>
                  <a:schemeClr val="tx1"/>
                </a:solidFill>
                <a:latin typeface="Times New Roman" pitchFamily="18" charset="0"/>
              </a:rPr>
              <a:t>Ti</a:t>
            </a:r>
            <a:r>
              <a:rPr lang="en-US" altLang="zh-CN" sz="2600" baseline="30000" dirty="0">
                <a:solidFill>
                  <a:schemeClr val="tx1"/>
                </a:solidFill>
                <a:latin typeface="Times New Roman" pitchFamily="18" charset="0"/>
              </a:rPr>
              <a:t>4+</a:t>
            </a:r>
            <a:r>
              <a:rPr lang="en-US" altLang="zh-CN" sz="2600" dirty="0">
                <a:solidFill>
                  <a:schemeClr val="tx1"/>
                </a:solidFill>
                <a:latin typeface="Times New Roman" pitchFamily="18" charset="0"/>
              </a:rPr>
              <a:t>                  B</a:t>
            </a:r>
            <a:r>
              <a:rPr lang="zh-CN" altLang="en-US" sz="2600" dirty="0">
                <a:solidFill>
                  <a:schemeClr val="tx1"/>
                </a:solidFill>
                <a:latin typeface="Times New Roman" pitchFamily="18" charset="0"/>
              </a:rPr>
              <a:t>、</a:t>
            </a:r>
            <a:r>
              <a:rPr lang="en-US" altLang="zh-CN" sz="2600" dirty="0">
                <a:solidFill>
                  <a:schemeClr val="tx1"/>
                </a:solidFill>
                <a:latin typeface="Times New Roman" pitchFamily="18" charset="0"/>
              </a:rPr>
              <a:t>Al</a:t>
            </a:r>
            <a:r>
              <a:rPr lang="en-US" altLang="zh-CN" sz="2600" baseline="30000" dirty="0">
                <a:solidFill>
                  <a:schemeClr val="tx1"/>
                </a:solidFill>
                <a:latin typeface="Times New Roman" pitchFamily="18" charset="0"/>
              </a:rPr>
              <a:t>3+</a:t>
            </a:r>
            <a:r>
              <a:rPr lang="en-US" altLang="zh-CN" sz="2600" dirty="0">
                <a:solidFill>
                  <a:schemeClr val="tx1"/>
                </a:solidFill>
                <a:latin typeface="Times New Roman" pitchFamily="18" charset="0"/>
              </a:rPr>
              <a:t>              C</a:t>
            </a:r>
            <a:r>
              <a:rPr lang="zh-CN" altLang="en-US" sz="2600" dirty="0">
                <a:solidFill>
                  <a:schemeClr val="tx1"/>
                </a:solidFill>
                <a:latin typeface="Times New Roman" pitchFamily="18" charset="0"/>
              </a:rPr>
              <a:t>、</a:t>
            </a:r>
            <a:r>
              <a:rPr lang="en-US" altLang="zh-CN" sz="2600" dirty="0">
                <a:solidFill>
                  <a:schemeClr val="tx1"/>
                </a:solidFill>
                <a:latin typeface="Times New Roman" pitchFamily="18" charset="0"/>
              </a:rPr>
              <a:t>Ga</a:t>
            </a:r>
            <a:r>
              <a:rPr lang="en-US" altLang="zh-CN" sz="2600" baseline="30000" dirty="0">
                <a:solidFill>
                  <a:schemeClr val="tx1"/>
                </a:solidFill>
                <a:latin typeface="Times New Roman" pitchFamily="18" charset="0"/>
              </a:rPr>
              <a:t>3+</a:t>
            </a:r>
            <a:r>
              <a:rPr lang="en-US" altLang="zh-CN" sz="2600" dirty="0">
                <a:solidFill>
                  <a:schemeClr val="tx1"/>
                </a:solidFill>
                <a:latin typeface="Times New Roman" pitchFamily="18" charset="0"/>
              </a:rPr>
              <a:t>                 </a:t>
            </a:r>
          </a:p>
          <a:p>
            <a:pPr indent="355600" algn="l" eaLnBrk="0" hangingPunct="0"/>
            <a:r>
              <a:rPr lang="en-US" altLang="zh-CN" sz="2600" dirty="0" smtClean="0">
                <a:solidFill>
                  <a:schemeClr val="tx1"/>
                </a:solidFill>
                <a:latin typeface="Times New Roman" pitchFamily="18" charset="0"/>
              </a:rPr>
              <a:t>    D</a:t>
            </a:r>
            <a:r>
              <a:rPr lang="zh-CN" altLang="en-US" sz="2600" dirty="0">
                <a:solidFill>
                  <a:schemeClr val="tx1"/>
                </a:solidFill>
                <a:latin typeface="Times New Roman" pitchFamily="18" charset="0"/>
              </a:rPr>
              <a:t>、</a:t>
            </a:r>
            <a:r>
              <a:rPr lang="en-US" altLang="zh-CN" sz="2600" dirty="0">
                <a:solidFill>
                  <a:schemeClr val="tx1"/>
                </a:solidFill>
                <a:latin typeface="Times New Roman" pitchFamily="18" charset="0"/>
              </a:rPr>
              <a:t>P</a:t>
            </a:r>
            <a:r>
              <a:rPr lang="en-US" altLang="zh-CN" sz="2600" baseline="30000" dirty="0">
                <a:solidFill>
                  <a:schemeClr val="tx1"/>
                </a:solidFill>
                <a:latin typeface="Times New Roman" pitchFamily="18" charset="0"/>
              </a:rPr>
              <a:t>3−</a:t>
            </a:r>
            <a:r>
              <a:rPr lang="en-US" altLang="zh-CN" sz="2600" dirty="0">
                <a:solidFill>
                  <a:schemeClr val="tx1"/>
                </a:solidFill>
                <a:latin typeface="Times New Roman" pitchFamily="18" charset="0"/>
              </a:rPr>
              <a:t>                   E</a:t>
            </a:r>
            <a:r>
              <a:rPr lang="zh-CN" altLang="en-US" sz="2600" dirty="0">
                <a:solidFill>
                  <a:schemeClr val="tx1"/>
                </a:solidFill>
                <a:latin typeface="Times New Roman" pitchFamily="18" charset="0"/>
              </a:rPr>
              <a:t>、</a:t>
            </a:r>
            <a:r>
              <a:rPr lang="en-US" altLang="zh-CN" sz="2600" dirty="0">
                <a:solidFill>
                  <a:schemeClr val="tx1"/>
                </a:solidFill>
                <a:latin typeface="Times New Roman" pitchFamily="18" charset="0"/>
              </a:rPr>
              <a:t>Sc</a:t>
            </a:r>
            <a:r>
              <a:rPr lang="en-US" altLang="zh-CN" sz="2600" baseline="30000" dirty="0">
                <a:solidFill>
                  <a:schemeClr val="tx1"/>
                </a:solidFill>
                <a:latin typeface="Times New Roman" pitchFamily="18" charset="0"/>
              </a:rPr>
              <a:t>3+</a:t>
            </a:r>
            <a:r>
              <a:rPr lang="zh-CN" altLang="en-US" sz="2600" dirty="0">
                <a:solidFill>
                  <a:schemeClr val="tx1"/>
                </a:solidFill>
                <a:latin typeface="Times New Roman" pitchFamily="18" charset="0"/>
              </a:rPr>
              <a:t>    </a:t>
            </a:r>
            <a:r>
              <a:rPr lang="en-US" altLang="zh-CN" sz="2600" dirty="0">
                <a:solidFill>
                  <a:schemeClr val="tx1"/>
                </a:solidFill>
                <a:latin typeface="Times New Roman" pitchFamily="18" charset="0"/>
              </a:rPr>
              <a:t>           F</a:t>
            </a:r>
            <a:r>
              <a:rPr lang="zh-CN" altLang="en-US" sz="2600" dirty="0">
                <a:solidFill>
                  <a:schemeClr val="tx1"/>
                </a:solidFill>
                <a:latin typeface="Times New Roman" pitchFamily="18" charset="0"/>
              </a:rPr>
              <a:t>、 </a:t>
            </a:r>
            <a:r>
              <a:rPr lang="en-US" altLang="zh-CN" sz="2600" dirty="0">
                <a:solidFill>
                  <a:schemeClr val="tx1"/>
                </a:solidFill>
                <a:latin typeface="Times New Roman" pitchFamily="18" charset="0"/>
              </a:rPr>
              <a:t>Zn</a:t>
            </a:r>
            <a:r>
              <a:rPr lang="en-US" altLang="zh-CN" sz="2600" baseline="30000" dirty="0">
                <a:solidFill>
                  <a:schemeClr val="tx1"/>
                </a:solidFill>
                <a:latin typeface="Times New Roman" pitchFamily="18" charset="0"/>
              </a:rPr>
              <a:t>2+</a:t>
            </a:r>
            <a:r>
              <a:rPr lang="en-US" altLang="zh-CN" sz="2600" dirty="0">
                <a:solidFill>
                  <a:schemeClr val="tx1"/>
                </a:solidFill>
                <a:latin typeface="Times New Roman" pitchFamily="18" charset="0"/>
              </a:rPr>
              <a:t> </a:t>
            </a:r>
            <a:endParaRPr lang="en-US" altLang="zh-CN" sz="2600" dirty="0">
              <a:solidFill>
                <a:schemeClr val="tx1"/>
              </a:solidFill>
            </a:endParaRPr>
          </a:p>
        </p:txBody>
      </p:sp>
      <p:sp>
        <p:nvSpPr>
          <p:cNvPr id="114691" name="Rectangle 2"/>
          <p:cNvSpPr>
            <a:spLocks noChangeArrowheads="1"/>
          </p:cNvSpPr>
          <p:nvPr/>
        </p:nvSpPr>
        <p:spPr bwMode="auto">
          <a:xfrm>
            <a:off x="285720" y="2214554"/>
            <a:ext cx="8229600" cy="1939925"/>
          </a:xfrm>
          <a:prstGeom prst="rect">
            <a:avLst/>
          </a:prstGeom>
          <a:noFill/>
          <a:ln w="9525">
            <a:noFill/>
            <a:miter lim="800000"/>
            <a:headEnd/>
            <a:tailEnd/>
          </a:ln>
        </p:spPr>
        <p:txBody>
          <a:bodyPr anchor="ctr">
            <a:spAutoFit/>
          </a:bodyPr>
          <a:lstStyle/>
          <a:p>
            <a:pPr indent="355600" algn="l" eaLnBrk="0" hangingPunct="0">
              <a:lnSpc>
                <a:spcPts val="3600"/>
              </a:lnSpc>
            </a:pPr>
            <a:r>
              <a:rPr lang="pt-BR" altLang="zh-CN" sz="2600" dirty="0">
                <a:solidFill>
                  <a:schemeClr val="tx1"/>
                </a:solidFill>
                <a:latin typeface="Times New Roman" pitchFamily="18" charset="0"/>
              </a:rPr>
              <a:t>   </a:t>
            </a:r>
            <a:r>
              <a:rPr lang="zh-CN" altLang="pt-BR" sz="2600" dirty="0">
                <a:solidFill>
                  <a:schemeClr val="tx1"/>
                </a:solidFill>
                <a:latin typeface="Times New Roman" pitchFamily="18" charset="0"/>
              </a:rPr>
              <a:t>指出下列离子中，何者属于</a:t>
            </a:r>
            <a:r>
              <a:rPr lang="pt-BR" altLang="zh-CN" sz="2600" dirty="0">
                <a:solidFill>
                  <a:schemeClr val="tx1"/>
                </a:solidFill>
                <a:latin typeface="Times New Roman" pitchFamily="18" charset="0"/>
              </a:rPr>
              <a:t>8e</a:t>
            </a:r>
            <a:r>
              <a:rPr lang="pt-BR" altLang="zh-CN" sz="2600" baseline="30000" dirty="0">
                <a:solidFill>
                  <a:schemeClr val="tx1"/>
                </a:solidFill>
                <a:latin typeface="Times New Roman" pitchFamily="18" charset="0"/>
              </a:rPr>
              <a:t>−</a:t>
            </a:r>
            <a:r>
              <a:rPr lang="zh-CN" altLang="pt-BR" sz="2600" dirty="0">
                <a:solidFill>
                  <a:schemeClr val="tx1"/>
                </a:solidFill>
                <a:latin typeface="Times New Roman" pitchFamily="18" charset="0"/>
              </a:rPr>
              <a:t>构型（ </a:t>
            </a:r>
            <a:r>
              <a:rPr lang="pt-BR" altLang="zh-CN" sz="2600" dirty="0">
                <a:solidFill>
                  <a:schemeClr val="tx1"/>
                </a:solidFill>
                <a:latin typeface="Times New Roman" pitchFamily="18" charset="0"/>
              </a:rPr>
              <a:t>   </a:t>
            </a:r>
            <a:r>
              <a:rPr lang="zh-CN" altLang="pt-BR" sz="2600" dirty="0">
                <a:solidFill>
                  <a:schemeClr val="tx1"/>
                </a:solidFill>
                <a:latin typeface="Times New Roman" pitchFamily="18" charset="0"/>
              </a:rPr>
              <a:t>），何者属于</a:t>
            </a:r>
            <a:r>
              <a:rPr lang="pt-BR" altLang="zh-CN" sz="2600" dirty="0">
                <a:solidFill>
                  <a:schemeClr val="tx1"/>
                </a:solidFill>
                <a:latin typeface="Times New Roman" pitchFamily="18" charset="0"/>
              </a:rPr>
              <a:t>18e</a:t>
            </a:r>
            <a:r>
              <a:rPr lang="pt-BR" altLang="zh-CN" sz="2600" baseline="30000" dirty="0">
                <a:solidFill>
                  <a:schemeClr val="tx1"/>
                </a:solidFill>
                <a:latin typeface="Times New Roman" pitchFamily="18" charset="0"/>
              </a:rPr>
              <a:t>−</a:t>
            </a:r>
            <a:r>
              <a:rPr lang="zh-CN" altLang="pt-BR" sz="2600" dirty="0">
                <a:solidFill>
                  <a:schemeClr val="tx1"/>
                </a:solidFill>
                <a:latin typeface="Times New Roman" pitchFamily="18" charset="0"/>
              </a:rPr>
              <a:t>构型（  </a:t>
            </a:r>
            <a:r>
              <a:rPr lang="pt-BR" altLang="zh-CN" sz="2600" dirty="0">
                <a:solidFill>
                  <a:schemeClr val="tx1"/>
                </a:solidFill>
                <a:latin typeface="Times New Roman" pitchFamily="18" charset="0"/>
              </a:rPr>
              <a:t>   </a:t>
            </a:r>
            <a:r>
              <a:rPr lang="zh-CN" altLang="pt-BR" sz="2600" dirty="0">
                <a:solidFill>
                  <a:schemeClr val="tx1"/>
                </a:solidFill>
                <a:latin typeface="Times New Roman" pitchFamily="18" charset="0"/>
              </a:rPr>
              <a:t>）</a:t>
            </a:r>
            <a:endParaRPr lang="zh-CN" altLang="pt-BR" sz="2600" dirty="0">
              <a:solidFill>
                <a:schemeClr val="tx1"/>
              </a:solidFill>
            </a:endParaRPr>
          </a:p>
          <a:p>
            <a:pPr indent="355600" algn="l" eaLnBrk="0" hangingPunct="0">
              <a:lnSpc>
                <a:spcPts val="3600"/>
              </a:lnSpc>
            </a:pPr>
            <a:r>
              <a:rPr lang="pt-BR" altLang="zh-CN" sz="2600" dirty="0">
                <a:solidFill>
                  <a:schemeClr val="tx1"/>
                </a:solidFill>
                <a:latin typeface="Times New Roman" pitchFamily="18" charset="0"/>
              </a:rPr>
              <a:t>   A</a:t>
            </a:r>
            <a:r>
              <a:rPr lang="zh-CN" altLang="pt-BR" sz="2600" dirty="0">
                <a:solidFill>
                  <a:schemeClr val="tx1"/>
                </a:solidFill>
                <a:latin typeface="Times New Roman" pitchFamily="18" charset="0"/>
              </a:rPr>
              <a:t>、</a:t>
            </a:r>
            <a:r>
              <a:rPr lang="pt-BR" altLang="zh-CN" sz="2600" dirty="0">
                <a:solidFill>
                  <a:schemeClr val="tx1"/>
                </a:solidFill>
                <a:latin typeface="Times New Roman" pitchFamily="18" charset="0"/>
              </a:rPr>
              <a:t>Ba</a:t>
            </a:r>
            <a:r>
              <a:rPr lang="pt-BR" altLang="zh-CN" sz="2600" baseline="30000" dirty="0">
                <a:solidFill>
                  <a:schemeClr val="tx1"/>
                </a:solidFill>
                <a:latin typeface="Times New Roman" pitchFamily="18" charset="0"/>
              </a:rPr>
              <a:t>2+</a:t>
            </a:r>
            <a:r>
              <a:rPr lang="pt-BR" altLang="zh-CN" sz="2600" dirty="0">
                <a:solidFill>
                  <a:schemeClr val="tx1"/>
                </a:solidFill>
                <a:latin typeface="Times New Roman" pitchFamily="18" charset="0"/>
              </a:rPr>
              <a:t>             B</a:t>
            </a:r>
            <a:r>
              <a:rPr lang="zh-CN" altLang="pt-BR" sz="2600" dirty="0">
                <a:solidFill>
                  <a:schemeClr val="tx1"/>
                </a:solidFill>
                <a:latin typeface="Times New Roman" pitchFamily="18" charset="0"/>
              </a:rPr>
              <a:t>、</a:t>
            </a:r>
            <a:r>
              <a:rPr lang="pt-BR" altLang="zh-CN" sz="2600" dirty="0">
                <a:solidFill>
                  <a:schemeClr val="tx1"/>
                </a:solidFill>
                <a:latin typeface="Times New Roman" pitchFamily="18" charset="0"/>
              </a:rPr>
              <a:t>Cr</a:t>
            </a:r>
            <a:r>
              <a:rPr lang="pt-BR" altLang="zh-CN" sz="2600" baseline="30000" dirty="0">
                <a:solidFill>
                  <a:schemeClr val="tx1"/>
                </a:solidFill>
                <a:latin typeface="Times New Roman" pitchFamily="18" charset="0"/>
              </a:rPr>
              <a:t>3+</a:t>
            </a:r>
            <a:r>
              <a:rPr lang="pt-BR" altLang="zh-CN" sz="2600" dirty="0">
                <a:solidFill>
                  <a:schemeClr val="tx1"/>
                </a:solidFill>
                <a:latin typeface="Times New Roman" pitchFamily="18" charset="0"/>
              </a:rPr>
              <a:t>           C</a:t>
            </a:r>
            <a:r>
              <a:rPr lang="zh-CN" altLang="pt-BR" sz="2600" dirty="0">
                <a:solidFill>
                  <a:schemeClr val="tx1"/>
                </a:solidFill>
                <a:latin typeface="Times New Roman" pitchFamily="18" charset="0"/>
              </a:rPr>
              <a:t>、</a:t>
            </a:r>
            <a:r>
              <a:rPr lang="pt-BR" altLang="zh-CN" sz="2600" dirty="0">
                <a:solidFill>
                  <a:schemeClr val="tx1"/>
                </a:solidFill>
                <a:latin typeface="Times New Roman" pitchFamily="18" charset="0"/>
              </a:rPr>
              <a:t>Ga</a:t>
            </a:r>
            <a:r>
              <a:rPr lang="pt-BR" altLang="zh-CN" sz="2600" baseline="30000" dirty="0">
                <a:solidFill>
                  <a:schemeClr val="tx1"/>
                </a:solidFill>
                <a:latin typeface="Times New Roman" pitchFamily="18" charset="0"/>
              </a:rPr>
              <a:t>3+</a:t>
            </a:r>
            <a:r>
              <a:rPr lang="pt-BR" altLang="zh-CN" sz="2600" dirty="0">
                <a:solidFill>
                  <a:schemeClr val="tx1"/>
                </a:solidFill>
                <a:latin typeface="Times New Roman" pitchFamily="18" charset="0"/>
              </a:rPr>
              <a:t>     </a:t>
            </a:r>
            <a:endParaRPr lang="pt-BR" altLang="zh-CN" sz="2600" dirty="0">
              <a:solidFill>
                <a:schemeClr val="tx1"/>
              </a:solidFill>
            </a:endParaRPr>
          </a:p>
          <a:p>
            <a:pPr indent="355600" algn="l" eaLnBrk="0" hangingPunct="0">
              <a:lnSpc>
                <a:spcPts val="3600"/>
              </a:lnSpc>
            </a:pPr>
            <a:r>
              <a:rPr lang="pt-BR" altLang="zh-CN" sz="2600" dirty="0">
                <a:solidFill>
                  <a:schemeClr val="tx1"/>
                </a:solidFill>
                <a:latin typeface="Times New Roman" pitchFamily="18" charset="0"/>
              </a:rPr>
              <a:t>   D</a:t>
            </a:r>
            <a:r>
              <a:rPr lang="zh-CN" altLang="pt-BR" sz="2600" dirty="0">
                <a:solidFill>
                  <a:schemeClr val="tx1"/>
                </a:solidFill>
                <a:latin typeface="Times New Roman" pitchFamily="18" charset="0"/>
              </a:rPr>
              <a:t>、</a:t>
            </a:r>
            <a:r>
              <a:rPr lang="pt-BR" altLang="zh-CN" sz="2600" dirty="0">
                <a:solidFill>
                  <a:schemeClr val="tx1"/>
                </a:solidFill>
                <a:latin typeface="Times New Roman" pitchFamily="18" charset="0"/>
              </a:rPr>
              <a:t>Pb</a:t>
            </a:r>
            <a:r>
              <a:rPr lang="pt-BR" altLang="zh-CN" sz="2600" baseline="30000" dirty="0">
                <a:solidFill>
                  <a:schemeClr val="tx1"/>
                </a:solidFill>
                <a:latin typeface="Times New Roman" pitchFamily="18" charset="0"/>
              </a:rPr>
              <a:t>2+</a:t>
            </a:r>
            <a:r>
              <a:rPr lang="pt-BR" altLang="zh-CN" sz="2600" dirty="0">
                <a:solidFill>
                  <a:schemeClr val="tx1"/>
                </a:solidFill>
                <a:latin typeface="Times New Roman" pitchFamily="18" charset="0"/>
              </a:rPr>
              <a:t>             E</a:t>
            </a:r>
            <a:r>
              <a:rPr lang="zh-CN" altLang="pt-BR" sz="2600" dirty="0">
                <a:solidFill>
                  <a:schemeClr val="tx1"/>
                </a:solidFill>
                <a:latin typeface="Times New Roman" pitchFamily="18" charset="0"/>
              </a:rPr>
              <a:t>、</a:t>
            </a:r>
            <a:r>
              <a:rPr lang="pt-BR" altLang="zh-CN" sz="2600" dirty="0">
                <a:solidFill>
                  <a:schemeClr val="tx1"/>
                </a:solidFill>
                <a:latin typeface="Times New Roman" pitchFamily="18" charset="0"/>
              </a:rPr>
              <a:t>Cd</a:t>
            </a:r>
            <a:r>
              <a:rPr lang="pt-BR" altLang="zh-CN" sz="2600" baseline="30000" dirty="0">
                <a:solidFill>
                  <a:schemeClr val="tx1"/>
                </a:solidFill>
                <a:latin typeface="Times New Roman" pitchFamily="18" charset="0"/>
              </a:rPr>
              <a:t>2+</a:t>
            </a:r>
            <a:r>
              <a:rPr lang="pt-BR" altLang="zh-CN" sz="2600" dirty="0">
                <a:solidFill>
                  <a:schemeClr val="tx1"/>
                </a:solidFill>
                <a:latin typeface="Times New Roman" pitchFamily="18" charset="0"/>
              </a:rPr>
              <a:t>           F</a:t>
            </a:r>
            <a:r>
              <a:rPr lang="zh-CN" altLang="pt-BR" sz="2600" dirty="0">
                <a:solidFill>
                  <a:schemeClr val="tx1"/>
                </a:solidFill>
                <a:latin typeface="Times New Roman" pitchFamily="18" charset="0"/>
              </a:rPr>
              <a:t>、</a:t>
            </a:r>
            <a:r>
              <a:rPr lang="pt-BR" altLang="zh-CN" sz="2600" dirty="0">
                <a:solidFill>
                  <a:schemeClr val="tx1"/>
                </a:solidFill>
                <a:latin typeface="Times New Roman" pitchFamily="18" charset="0"/>
              </a:rPr>
              <a:t>Ti</a:t>
            </a:r>
            <a:r>
              <a:rPr lang="pt-BR" altLang="zh-CN" sz="2600" baseline="30000" dirty="0">
                <a:solidFill>
                  <a:schemeClr val="tx1"/>
                </a:solidFill>
                <a:latin typeface="Times New Roman" pitchFamily="18" charset="0"/>
              </a:rPr>
              <a:t>4+</a:t>
            </a:r>
            <a:endParaRPr lang="pt-BR" altLang="zh-CN" sz="2600" dirty="0">
              <a:solidFill>
                <a:schemeClr val="tx1"/>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p:nvPr/>
        </p:nvGrpSpPr>
        <p:grpSpPr>
          <a:xfrm>
            <a:off x="228600" y="152400"/>
            <a:ext cx="8424863" cy="1508125"/>
            <a:chOff x="228600" y="152400"/>
            <a:chExt cx="8424863" cy="1507769"/>
          </a:xfrm>
        </p:grpSpPr>
        <p:sp>
          <p:nvSpPr>
            <p:cNvPr id="96263" name="Rectangle 2"/>
            <p:cNvSpPr/>
            <p:nvPr/>
          </p:nvSpPr>
          <p:spPr>
            <a:xfrm>
              <a:off x="228600" y="685800"/>
              <a:ext cx="8424863" cy="974369"/>
            </a:xfrm>
            <a:prstGeom prst="rect">
              <a:avLst/>
            </a:prstGeom>
            <a:solidFill>
              <a:schemeClr val="bg1"/>
            </a:solidFill>
            <a:ln w="9525">
              <a:noFill/>
            </a:ln>
          </p:spPr>
          <p:txBody>
            <a:bodyPr>
              <a:spAutoFit/>
            </a:bodyPr>
            <a:lstStyle/>
            <a:p>
              <a:pPr algn="l">
                <a:lnSpc>
                  <a:spcPts val="3600"/>
                </a:lnSpc>
              </a:pPr>
              <a:r>
                <a:rPr lang="zh-CN" altLang="en-US" sz="2600" i="0" dirty="0">
                  <a:solidFill>
                    <a:schemeClr val="tx1"/>
                  </a:solidFill>
                  <a:latin typeface="Times New Roman" panose="02020603050405020304" pitchFamily="18" charset="0"/>
                </a:rPr>
                <a:t>        我们发现，</a:t>
              </a:r>
              <a:r>
                <a:rPr lang="en-US" altLang="zh-CN" sz="2600" i="0" dirty="0">
                  <a:solidFill>
                    <a:schemeClr val="tx1"/>
                  </a:solidFill>
                  <a:latin typeface="Times New Roman" panose="02020603050405020304" pitchFamily="18" charset="0"/>
                </a:rPr>
                <a:t>CuCl</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NaCl</a:t>
              </a:r>
              <a:r>
                <a:rPr lang="zh-CN" altLang="en-US" sz="2600" i="0" dirty="0">
                  <a:solidFill>
                    <a:schemeClr val="tx1"/>
                  </a:solidFill>
                  <a:latin typeface="Times New Roman" panose="02020603050405020304" pitchFamily="18" charset="0"/>
                </a:rPr>
                <a:t>都为离子晶体，且离子电荷与半径都相近，但性质却相差很大，原因何在？</a:t>
              </a:r>
            </a:p>
          </p:txBody>
        </p:sp>
        <p:sp>
          <p:nvSpPr>
            <p:cNvPr id="96264" name="Rectangle 3"/>
            <p:cNvSpPr/>
            <p:nvPr/>
          </p:nvSpPr>
          <p:spPr>
            <a:xfrm>
              <a:off x="304800" y="152400"/>
              <a:ext cx="2667000" cy="492443"/>
            </a:xfrm>
            <a:prstGeom prst="rect">
              <a:avLst/>
            </a:prstGeom>
            <a:solidFill>
              <a:srgbClr val="FFC000"/>
            </a:solidFill>
            <a:ln w="9525">
              <a:noFill/>
            </a:ln>
          </p:spPr>
          <p:txBody>
            <a:bodyPr>
              <a:spAutoFit/>
            </a:bodyPr>
            <a:lstStyle/>
            <a:p>
              <a:pPr algn="l"/>
              <a:r>
                <a:rPr lang="zh-CN" altLang="en-US" sz="2600" dirty="0">
                  <a:solidFill>
                    <a:srgbClr val="C00000"/>
                  </a:solidFill>
                  <a:latin typeface="Times New Roman" panose="02020603050405020304" pitchFamily="18" charset="0"/>
                </a:rPr>
                <a:t>六、离子极化</a:t>
              </a:r>
            </a:p>
          </p:txBody>
        </p:sp>
      </p:grpSp>
      <p:grpSp>
        <p:nvGrpSpPr>
          <p:cNvPr id="3" name="组合 7"/>
          <p:cNvGrpSpPr/>
          <p:nvPr/>
        </p:nvGrpSpPr>
        <p:grpSpPr>
          <a:xfrm>
            <a:off x="304800" y="1828800"/>
            <a:ext cx="8496300" cy="3522663"/>
            <a:chOff x="304800" y="1828800"/>
            <a:chExt cx="8496300" cy="3522663"/>
          </a:xfrm>
        </p:grpSpPr>
        <p:sp>
          <p:nvSpPr>
            <p:cNvPr id="96260" name="Rectangle 4"/>
            <p:cNvSpPr/>
            <p:nvPr/>
          </p:nvSpPr>
          <p:spPr>
            <a:xfrm>
              <a:off x="381000" y="2438400"/>
              <a:ext cx="8353425" cy="1800225"/>
            </a:xfrm>
            <a:prstGeom prst="rect">
              <a:avLst/>
            </a:prstGeom>
            <a:solidFill>
              <a:schemeClr val="bg1"/>
            </a:solidFill>
            <a:ln w="9525">
              <a:noFill/>
            </a:ln>
          </p:spPr>
          <p:txBody>
            <a:bodyPr anchor="ctr" anchorCtr="0"/>
            <a:lstStyle/>
            <a:p>
              <a:pPr algn="l" eaLnBrk="0" hangingPunct="0">
                <a:lnSpc>
                  <a:spcPts val="3600"/>
                </a:lnSpc>
              </a:pPr>
              <a:r>
                <a:rPr lang="zh-CN" altLang="en-US" sz="2600" i="0" dirty="0">
                  <a:solidFill>
                    <a:schemeClr val="tx1"/>
                  </a:solidFill>
                  <a:latin typeface="Times New Roman" panose="02020603050405020304" pitchFamily="18" charset="0"/>
                </a:rPr>
                <a:t>        与分子极化相似，离子晶体里的离子本身无极性（正负电荷中心重合）。但在外电场的作用下，会产生诱导偶极（正负电荷中心不重合），使</a:t>
              </a:r>
              <a:r>
                <a:rPr lang="zh-CN" altLang="en-US" sz="2600" i="0" dirty="0">
                  <a:solidFill>
                    <a:srgbClr val="0000FF"/>
                  </a:solidFill>
                  <a:latin typeface="Times New Roman" panose="02020603050405020304" pitchFamily="18" charset="0"/>
                </a:rPr>
                <a:t>离子变形</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见图</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，这种现象称为离子的极化。</a:t>
              </a:r>
            </a:p>
          </p:txBody>
        </p:sp>
        <p:sp>
          <p:nvSpPr>
            <p:cNvPr id="96261" name="Rectangle 5"/>
            <p:cNvSpPr/>
            <p:nvPr/>
          </p:nvSpPr>
          <p:spPr>
            <a:xfrm>
              <a:off x="685800" y="1828800"/>
              <a:ext cx="2863284" cy="512704"/>
            </a:xfrm>
            <a:prstGeom prst="rect">
              <a:avLst/>
            </a:prstGeom>
            <a:solidFill>
              <a:schemeClr val="bg1"/>
            </a:solidFill>
            <a:ln w="9525">
              <a:noFill/>
            </a:ln>
          </p:spPr>
          <p:txBody>
            <a:bodyPr wrap="none">
              <a:spAutoFit/>
            </a:bodyPr>
            <a:lstStyle/>
            <a:p>
              <a:pPr algn="l">
                <a:lnSpc>
                  <a:spcPts val="3600"/>
                </a:lnSpc>
              </a:pPr>
              <a:r>
                <a:rPr lang="en-US" altLang="zh-CN" sz="2600" i="0" dirty="0">
                  <a:solidFill>
                    <a:srgbClr val="C00000"/>
                  </a:solidFill>
                  <a:latin typeface="Times New Roman" panose="02020603050405020304" pitchFamily="18" charset="0"/>
                </a:rPr>
                <a:t>1. </a:t>
              </a:r>
              <a:r>
                <a:rPr lang="zh-CN" altLang="en-US" sz="2600" i="0" dirty="0">
                  <a:solidFill>
                    <a:srgbClr val="C00000"/>
                  </a:solidFill>
                  <a:latin typeface="Times New Roman" panose="02020603050405020304" pitchFamily="18" charset="0"/>
                </a:rPr>
                <a:t>离子极化的定义</a:t>
              </a:r>
            </a:p>
          </p:txBody>
        </p:sp>
        <p:sp>
          <p:nvSpPr>
            <p:cNvPr id="96262" name="Rectangle 6"/>
            <p:cNvSpPr/>
            <p:nvPr/>
          </p:nvSpPr>
          <p:spPr>
            <a:xfrm>
              <a:off x="304800" y="4343400"/>
              <a:ext cx="8496300" cy="1008063"/>
            </a:xfrm>
            <a:prstGeom prst="rect">
              <a:avLst/>
            </a:prstGeom>
            <a:solidFill>
              <a:schemeClr val="bg1"/>
            </a:solidFill>
            <a:ln w="9525">
              <a:noFill/>
            </a:ln>
          </p:spPr>
          <p:txBody>
            <a:bodyPr anchor="ctr" anchorCtr="0"/>
            <a:lstStyle/>
            <a:p>
              <a:pPr algn="l" eaLnBrk="0" hangingPunct="0">
                <a:lnSpc>
                  <a:spcPts val="3600"/>
                </a:lnSpc>
              </a:pPr>
              <a:r>
                <a:rPr lang="zh-CN" altLang="en-US" sz="2600" i="0" dirty="0">
                  <a:solidFill>
                    <a:schemeClr val="tx1"/>
                  </a:solidFill>
                  <a:latin typeface="Times New Roman" panose="02020603050405020304" pitchFamily="18" charset="0"/>
                </a:rPr>
                <a:t>         由于离子本身有电荷而产生电场，从而正负离子间相互诱导而产生相互极化的作用而变形。</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p:cNvGraphicFramePr>
          <p:nvPr>
            <p:ph idx="1"/>
          </p:nvPr>
        </p:nvGraphicFramePr>
        <p:xfrm>
          <a:off x="250825" y="260350"/>
          <a:ext cx="8569325" cy="6192838"/>
        </p:xfrm>
        <a:graphic>
          <a:graphicData uri="http://schemas.openxmlformats.org/presentationml/2006/ole">
            <p:oleObj spid="_x0000_s146433" r:id="rId4" imgW="3966972" imgH="2627376" progId="">
              <p:embed/>
            </p:oleObj>
          </a:graphicData>
        </a:graphic>
      </p:graphicFrame>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p:cNvSpPr/>
          <p:nvPr/>
        </p:nvSpPr>
        <p:spPr>
          <a:xfrm>
            <a:off x="179388" y="228600"/>
            <a:ext cx="4697412" cy="492125"/>
          </a:xfrm>
          <a:prstGeom prst="rect">
            <a:avLst/>
          </a:prstGeom>
          <a:solidFill>
            <a:schemeClr val="bg1"/>
          </a:solidFill>
          <a:ln w="9525">
            <a:noFill/>
          </a:ln>
        </p:spPr>
        <p:txBody>
          <a:bodyPr>
            <a:spAutoFit/>
          </a:bodyPr>
          <a:lstStyle/>
          <a:p>
            <a:r>
              <a:rPr lang="en-US" altLang="zh-CN" sz="2600" dirty="0">
                <a:solidFill>
                  <a:srgbClr val="C00000"/>
                </a:solidFill>
                <a:latin typeface="Times New Roman" panose="02020603050405020304" pitchFamily="18" charset="0"/>
              </a:rPr>
              <a:t>2. </a:t>
            </a:r>
            <a:r>
              <a:rPr lang="zh-CN" altLang="en-US" sz="2600" dirty="0">
                <a:solidFill>
                  <a:srgbClr val="C00000"/>
                </a:solidFill>
                <a:latin typeface="Times New Roman" panose="02020603050405020304" pitchFamily="18" charset="0"/>
              </a:rPr>
              <a:t>离子极化的相对强弱</a:t>
            </a:r>
          </a:p>
        </p:txBody>
      </p:sp>
      <p:grpSp>
        <p:nvGrpSpPr>
          <p:cNvPr id="2" name="组合 7"/>
          <p:cNvGrpSpPr/>
          <p:nvPr/>
        </p:nvGrpSpPr>
        <p:grpSpPr>
          <a:xfrm>
            <a:off x="457200" y="876300"/>
            <a:ext cx="8208963" cy="5011750"/>
            <a:chOff x="457200" y="876300"/>
            <a:chExt cx="8208963" cy="5011691"/>
          </a:xfrm>
        </p:grpSpPr>
        <p:sp>
          <p:nvSpPr>
            <p:cNvPr id="97284" name="Rectangle 2"/>
            <p:cNvSpPr/>
            <p:nvPr/>
          </p:nvSpPr>
          <p:spPr>
            <a:xfrm>
              <a:off x="457200" y="1447800"/>
              <a:ext cx="7862888" cy="1149350"/>
            </a:xfrm>
            <a:prstGeom prst="rect">
              <a:avLst/>
            </a:prstGeom>
            <a:solidFill>
              <a:schemeClr val="bg1"/>
            </a:solidFill>
            <a:ln w="9525">
              <a:noFill/>
            </a:ln>
          </p:spPr>
          <p:txBody>
            <a:bodyPr anchor="ctr" anchorCtr="0"/>
            <a:lstStyle/>
            <a:p>
              <a:pPr algn="l" eaLnBrk="0" hangingPunct="0">
                <a:lnSpc>
                  <a:spcPts val="3600"/>
                </a:lnSpc>
              </a:pPr>
              <a:r>
                <a:rPr lang="zh-CN" altLang="en-US" sz="2600" i="0" dirty="0">
                  <a:solidFill>
                    <a:schemeClr val="tx1"/>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A. </a:t>
              </a:r>
              <a:r>
                <a:rPr lang="zh-CN" altLang="en-US" sz="2600" i="0" dirty="0">
                  <a:solidFill>
                    <a:schemeClr val="tx1"/>
                  </a:solidFill>
                  <a:latin typeface="Times New Roman" panose="02020603050405020304" pitchFamily="18" charset="0"/>
                </a:rPr>
                <a:t>电荷越高，半径越小，则极化力越强。如：</a:t>
              </a:r>
              <a:br>
                <a:rPr lang="zh-CN" altLang="en-US" sz="2600" i="0" dirty="0">
                  <a:solidFill>
                    <a:schemeClr val="tx1"/>
                  </a:solidFill>
                  <a:latin typeface="Times New Roman" panose="02020603050405020304" pitchFamily="18" charset="0"/>
                </a:rPr>
              </a:br>
              <a:r>
                <a:rPr lang="zh-CN" altLang="en-US"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Al</a:t>
              </a:r>
              <a:r>
                <a:rPr lang="en-US" altLang="zh-CN" sz="2600" i="0" baseline="30000" dirty="0">
                  <a:solidFill>
                    <a:schemeClr val="tx1"/>
                  </a:solidFill>
                  <a:latin typeface="Times New Roman" panose="02020603050405020304" pitchFamily="18" charset="0"/>
                </a:rPr>
                <a:t>3+ </a:t>
              </a:r>
              <a:r>
                <a:rPr lang="en-US" altLang="zh-CN" sz="2600" i="0" dirty="0">
                  <a:solidFill>
                    <a:schemeClr val="tx1"/>
                  </a:solidFill>
                  <a:latin typeface="Times New Roman" panose="02020603050405020304" pitchFamily="18" charset="0"/>
                </a:rPr>
                <a:t>   ﹥Mg</a:t>
              </a:r>
              <a:r>
                <a:rPr lang="en-US" altLang="zh-CN" sz="2600" i="0" baseline="30000" dirty="0">
                  <a:solidFill>
                    <a:schemeClr val="tx1"/>
                  </a:solidFill>
                  <a:latin typeface="Times New Roman" panose="02020603050405020304" pitchFamily="18" charset="0"/>
                </a:rPr>
                <a:t>2+ </a:t>
              </a:r>
              <a:r>
                <a:rPr lang="en-US" altLang="zh-CN" sz="2600" i="0" dirty="0">
                  <a:solidFill>
                    <a:schemeClr val="tx1"/>
                  </a:solidFill>
                  <a:latin typeface="Times New Roman" panose="02020603050405020304" pitchFamily="18" charset="0"/>
                </a:rPr>
                <a:t>  ﹥Na</a:t>
              </a:r>
              <a:r>
                <a:rPr lang="en-US" altLang="zh-CN" sz="2600" i="0" baseline="30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  </a:t>
              </a:r>
            </a:p>
          </p:txBody>
        </p:sp>
        <p:sp>
          <p:nvSpPr>
            <p:cNvPr id="97285" name="Rectangle 4"/>
            <p:cNvSpPr/>
            <p:nvPr/>
          </p:nvSpPr>
          <p:spPr>
            <a:xfrm>
              <a:off x="468313" y="876300"/>
              <a:ext cx="5292725" cy="512704"/>
            </a:xfrm>
            <a:prstGeom prst="rect">
              <a:avLst/>
            </a:prstGeom>
            <a:solidFill>
              <a:schemeClr val="bg1"/>
            </a:solidFill>
            <a:ln w="9525">
              <a:noFill/>
            </a:ln>
          </p:spPr>
          <p:txBody>
            <a:bodyPr>
              <a:spAutoFit/>
            </a:bodyPr>
            <a:lstStyle/>
            <a:p>
              <a:pPr algn="l">
                <a:lnSpc>
                  <a:spcPts val="3600"/>
                </a:lnSpc>
              </a:pPr>
              <a:r>
                <a:rPr lang="zh-CN" altLang="en-US" sz="2600" dirty="0">
                  <a:solidFill>
                    <a:srgbClr val="0000FF"/>
                  </a:solidFill>
                  <a:latin typeface="Times New Roman" panose="02020603050405020304" pitchFamily="18" charset="0"/>
                </a:rPr>
                <a:t>（</a:t>
              </a:r>
              <a:r>
                <a:rPr lang="en-US" altLang="zh-CN" sz="2600" dirty="0">
                  <a:solidFill>
                    <a:srgbClr val="0000FF"/>
                  </a:solidFill>
                  <a:latin typeface="Times New Roman" panose="02020603050405020304" pitchFamily="18" charset="0"/>
                </a:rPr>
                <a:t>1</a:t>
              </a:r>
              <a:r>
                <a:rPr lang="zh-CN" altLang="en-US" sz="2600" dirty="0">
                  <a:solidFill>
                    <a:srgbClr val="0000FF"/>
                  </a:solidFill>
                  <a:latin typeface="Times New Roman" panose="02020603050405020304" pitchFamily="18" charset="0"/>
                </a:rPr>
                <a:t>）离子的极化力（正电荷为主）</a:t>
              </a:r>
            </a:p>
          </p:txBody>
        </p:sp>
        <p:sp>
          <p:nvSpPr>
            <p:cNvPr id="97286" name="Rectangle 5"/>
            <p:cNvSpPr/>
            <p:nvPr/>
          </p:nvSpPr>
          <p:spPr>
            <a:xfrm>
              <a:off x="838200" y="2743200"/>
              <a:ext cx="7369175" cy="1436034"/>
            </a:xfrm>
            <a:prstGeom prst="rect">
              <a:avLst/>
            </a:prstGeom>
            <a:solidFill>
              <a:schemeClr val="bg1"/>
            </a:solidFill>
            <a:ln w="9525">
              <a:noFill/>
            </a:ln>
          </p:spPr>
          <p:txBody>
            <a:bodyPr>
              <a:spAutoFit/>
            </a:bodyPr>
            <a:lstStyle/>
            <a:p>
              <a:pPr algn="l">
                <a:lnSpc>
                  <a:spcPts val="3600"/>
                </a:lnSpc>
              </a:pPr>
              <a:r>
                <a:rPr lang="zh-CN" altLang="en-US" sz="2600" i="0" dirty="0">
                  <a:solidFill>
                    <a:schemeClr val="tx1"/>
                  </a:solidFill>
                  <a:latin typeface="Times New Roman" panose="02020603050405020304" pitchFamily="18" charset="0"/>
                </a:rPr>
                <a:t>        </a:t>
              </a:r>
              <a:r>
                <a:rPr lang="en-US" altLang="zh-CN" sz="2600" i="0" dirty="0">
                  <a:solidFill>
                    <a:srgbClr val="C00000"/>
                  </a:solidFill>
                  <a:latin typeface="Times New Roman" panose="02020603050405020304" pitchFamily="18" charset="0"/>
                </a:rPr>
                <a:t>B. </a:t>
              </a:r>
              <a:r>
                <a:rPr lang="zh-CN" altLang="en-US" sz="2600" i="0" dirty="0">
                  <a:solidFill>
                    <a:schemeClr val="tx1"/>
                  </a:solidFill>
                  <a:latin typeface="Times New Roman" panose="02020603050405020304" pitchFamily="18" charset="0"/>
                </a:rPr>
                <a:t>若结构相似，则看离子的电子构型</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称为</a:t>
              </a:r>
              <a:r>
                <a:rPr lang="zh-CN" altLang="en-US" sz="2600" i="0" dirty="0">
                  <a:solidFill>
                    <a:srgbClr val="0000FF"/>
                  </a:solidFill>
                  <a:latin typeface="Times New Roman" panose="02020603050405020304" pitchFamily="18" charset="0"/>
                </a:rPr>
                <a:t>离子构型</a:t>
              </a:r>
              <a:r>
                <a:rPr lang="zh-CN" altLang="en-US" sz="2600" i="0" dirty="0">
                  <a:solidFill>
                    <a:schemeClr val="tx1"/>
                  </a:solidFill>
                  <a:latin typeface="Times New Roman" panose="02020603050405020304" pitchFamily="18" charset="0"/>
                </a:rPr>
                <a:t>，它们极化力大小的次序为（</a:t>
              </a:r>
              <a:r>
                <a:rPr lang="zh-CN" altLang="en-US" sz="2600" dirty="0">
                  <a:solidFill>
                    <a:srgbClr val="0000FF"/>
                  </a:solidFill>
                  <a:latin typeface="Times New Roman" panose="02020603050405020304" pitchFamily="18" charset="0"/>
                </a:rPr>
                <a:t>周期表中从右到左</a:t>
              </a:r>
              <a:r>
                <a:rPr lang="zh-CN" altLang="en-US" sz="2600" i="0" dirty="0">
                  <a:solidFill>
                    <a:schemeClr val="tx1"/>
                  </a:solidFill>
                  <a:latin typeface="Times New Roman" panose="02020603050405020304" pitchFamily="18" charset="0"/>
                </a:rPr>
                <a:t>）：</a:t>
              </a:r>
            </a:p>
          </p:txBody>
        </p:sp>
        <p:sp>
          <p:nvSpPr>
            <p:cNvPr id="97287" name="Rectangle 7"/>
            <p:cNvSpPr/>
            <p:nvPr/>
          </p:nvSpPr>
          <p:spPr>
            <a:xfrm>
              <a:off x="4572000" y="5334000"/>
              <a:ext cx="4094163" cy="553991"/>
            </a:xfrm>
            <a:prstGeom prst="rect">
              <a:avLst/>
            </a:prstGeom>
            <a:solidFill>
              <a:schemeClr val="bg1"/>
            </a:solidFill>
            <a:ln w="9525">
              <a:noFill/>
            </a:ln>
          </p:spPr>
          <p:txBody>
            <a:bodyPr>
              <a:spAutoFit/>
            </a:bodyPr>
            <a:lstStyle/>
            <a:p>
              <a:pPr algn="l">
                <a:lnSpc>
                  <a:spcPts val="3600"/>
                </a:lnSpc>
              </a:pPr>
              <a:r>
                <a:rPr lang="en-US" altLang="zh-CN" sz="260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参考书</a:t>
              </a:r>
              <a:r>
                <a:rPr lang="zh-CN" altLang="en-US" sz="2600" dirty="0" smtClean="0">
                  <a:solidFill>
                    <a:schemeClr val="tx1"/>
                  </a:solidFill>
                  <a:latin typeface="Times New Roman" panose="02020603050405020304" pitchFamily="18" charset="0"/>
                </a:rPr>
                <a:t>上</a:t>
              </a:r>
              <a:r>
                <a:rPr lang="en-US" altLang="zh-CN" sz="2600" dirty="0" smtClean="0">
                  <a:solidFill>
                    <a:schemeClr val="tx1"/>
                  </a:solidFill>
                  <a:latin typeface="Times New Roman" panose="02020603050405020304" pitchFamily="18" charset="0"/>
                </a:rPr>
                <a:t>273</a:t>
              </a:r>
              <a:r>
                <a:rPr lang="zh-CN" altLang="en-US" sz="2600" dirty="0" smtClean="0">
                  <a:solidFill>
                    <a:schemeClr val="tx1"/>
                  </a:solidFill>
                  <a:latin typeface="Times New Roman" panose="02020603050405020304" pitchFamily="18" charset="0"/>
                </a:rPr>
                <a:t>页</a:t>
              </a:r>
              <a:endParaRPr lang="zh-CN" altLang="en-US" sz="2600" dirty="0">
                <a:solidFill>
                  <a:schemeClr val="tx1"/>
                </a:solidFill>
                <a:latin typeface="Times New Roman" panose="02020603050405020304" pitchFamily="18" charset="0"/>
              </a:endParaRPr>
            </a:p>
          </p:txBody>
        </p:sp>
        <p:sp>
          <p:nvSpPr>
            <p:cNvPr id="9" name="Rectangle 8"/>
            <p:cNvSpPr>
              <a:spLocks noChangeArrowheads="1"/>
            </p:cNvSpPr>
            <p:nvPr/>
          </p:nvSpPr>
          <p:spPr bwMode="auto">
            <a:xfrm>
              <a:off x="762000" y="4190961"/>
              <a:ext cx="7426325" cy="990588"/>
            </a:xfrm>
            <a:prstGeom prst="rect">
              <a:avLst/>
            </a:prstGeom>
            <a:solidFill>
              <a:schemeClr val="bg1"/>
            </a:solidFill>
            <a:ln w="9525">
              <a:noFill/>
              <a:miter lim="800000"/>
            </a:ln>
            <a:effectLst/>
          </p:spPr>
          <p:txBody>
            <a:bodyPr anchor="ct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18e</a:t>
              </a:r>
              <a:r>
                <a:rPr kumimoji="0" lang="zh-CN" altLang="en-US"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(18+2)e</a:t>
              </a:r>
              <a:r>
                <a:rPr kumimoji="0" lang="zh-CN" altLang="en-US"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1" u="none" strike="noStrike" kern="1200" cap="none" spc="0" normalizeH="0" baseline="0" noProof="0" dirty="0">
                  <a:ln>
                    <a:noFill/>
                  </a:ln>
                  <a:solidFill>
                    <a:schemeClr val="tx1"/>
                  </a:solidFill>
                  <a:effectLst/>
                  <a:uLnTx/>
                  <a:uFillTx/>
                  <a:latin typeface="+mj-lt"/>
                  <a:ea typeface="楷体_GB2312" pitchFamily="49" charset="-122"/>
                  <a:cs typeface="+mn-cs"/>
                </a:rPr>
                <a:t> →    </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(9-17)e</a:t>
              </a:r>
              <a:r>
                <a:rPr kumimoji="0" lang="zh-CN" altLang="en-US"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1" u="none" strike="noStrike" kern="1200" cap="none" spc="0" normalizeH="0" baseline="0" noProof="0" dirty="0">
                  <a:ln>
                    <a:noFill/>
                  </a:ln>
                  <a:solidFill>
                    <a:schemeClr val="tx1"/>
                  </a:solidFill>
                  <a:effectLst/>
                  <a:uLnTx/>
                  <a:uFillTx/>
                  <a:latin typeface="+mj-lt"/>
                  <a:ea typeface="楷体_GB2312" pitchFamily="49" charset="-122"/>
                  <a:cs typeface="+mn-cs"/>
                </a:rPr>
                <a:t>     →    </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8e</a:t>
              </a:r>
              <a:r>
                <a:rPr kumimoji="0" lang="zh-CN" altLang="en-US"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1" u="none" strike="noStrike" kern="1200" cap="none" spc="0" normalizeH="0" baseline="0" noProof="0" dirty="0">
                  <a:ln>
                    <a:noFill/>
                  </a:ln>
                  <a:solidFill>
                    <a:schemeClr val="tx1"/>
                  </a:solidFill>
                  <a:effectLst/>
                  <a:uLnTx/>
                  <a:uFillTx/>
                  <a:latin typeface="+mj-lt"/>
                  <a:ea typeface="楷体_GB2312" pitchFamily="49" charset="-122"/>
                  <a:cs typeface="+mn-cs"/>
                </a:rPr>
                <a:t> </a:t>
              </a:r>
              <a:endPar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endParaRPr>
            </a:p>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Cu</a:t>
              </a:r>
              <a:r>
                <a:rPr kumimoji="0" lang="en-US"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1"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Pb</a:t>
              </a:r>
              <a:r>
                <a:rPr kumimoji="0" lang="en-US"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2+</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Mn</a:t>
              </a:r>
              <a:r>
                <a:rPr kumimoji="0" lang="en-US"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2+</a:t>
              </a:r>
              <a:r>
                <a:rPr kumimoji="0" lang="zh-CN" altLang="en-US" sz="2600" b="1" i="1"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Fe</a:t>
              </a:r>
              <a:r>
                <a:rPr kumimoji="0" lang="en-US"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2+ </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Mg</a:t>
              </a:r>
              <a:r>
                <a:rPr kumimoji="0" lang="en-US"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2+</a:t>
              </a:r>
              <a:r>
                <a:rPr kumimoji="0"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a:t>
              </a:r>
              <a:endParaRPr kumimoji="0" lang="zh-CN" altLang="en-US" sz="2600" b="1" i="1" u="none" strike="noStrike" kern="1200" cap="none" spc="0" normalizeH="0" baseline="0" noProof="0" dirty="0">
                <a:ln>
                  <a:noFill/>
                </a:ln>
                <a:solidFill>
                  <a:schemeClr val="tx1"/>
                </a:solidFill>
                <a:effectLst/>
                <a:uLnTx/>
                <a:uFillTx/>
                <a:latin typeface="+mj-lt"/>
                <a:ea typeface="楷体_GB2312" pitchFamily="49"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39971"/>
                                        </p:tgtEl>
                                        <p:attrNameLst>
                                          <p:attrName>style.visibility</p:attrName>
                                        </p:attrNameLst>
                                      </p:cBhvr>
                                      <p:to>
                                        <p:strVal val="visible"/>
                                      </p:to>
                                    </p:set>
                                    <p:animEffect transition="in" filter="diamond(in)">
                                      <p:cBhvr>
                                        <p:cTn id="7" dur="500"/>
                                        <p:tgtEl>
                                          <p:spTgt spid="3399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组合 9"/>
          <p:cNvGrpSpPr/>
          <p:nvPr/>
        </p:nvGrpSpPr>
        <p:grpSpPr>
          <a:xfrm>
            <a:off x="533400" y="457200"/>
            <a:ext cx="8153400" cy="2846388"/>
            <a:chOff x="228600" y="193085"/>
            <a:chExt cx="8153400" cy="1815775"/>
          </a:xfrm>
        </p:grpSpPr>
        <p:sp>
          <p:nvSpPr>
            <p:cNvPr id="103445" name="Rectangle 21"/>
            <p:cNvSpPr>
              <a:spLocks noChangeArrowheads="1"/>
            </p:cNvSpPr>
            <p:nvPr/>
          </p:nvSpPr>
          <p:spPr bwMode="auto">
            <a:xfrm>
              <a:off x="2133600" y="1294905"/>
              <a:ext cx="6248400" cy="713955"/>
            </a:xfrm>
            <a:prstGeom prst="rect">
              <a:avLst/>
            </a:prstGeom>
            <a:noFill/>
            <a:ln w="9525">
              <a:noFill/>
              <a:miter lim="800000"/>
            </a:ln>
          </p:spPr>
          <p:txBody>
            <a:bodyPr>
              <a:spAutoFit/>
            </a:bodyPr>
            <a:lstStyle/>
            <a:p>
              <a:pPr marL="0" marR="0" lvl="0" indent="0" algn="ctr" defTabSz="914400" rtl="0" eaLnBrk="1" fontAlgn="base" latinLnBrk="0" hangingPunct="1">
                <a:lnSpc>
                  <a:spcPts val="4000"/>
                </a:lnSpc>
                <a:spcBef>
                  <a:spcPct val="0"/>
                </a:spcBef>
                <a:spcAft>
                  <a:spcPct val="0"/>
                </a:spcAft>
                <a:buClrTx/>
                <a:buSzTx/>
                <a:buFontTx/>
                <a:buNone/>
                <a:defRPr/>
              </a:pP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rgbClr val="C00000"/>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最外层是</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18e</a:t>
              </a:r>
              <a:r>
                <a:rPr kumimoji="0" lang="en-US" altLang="zh-CN" sz="2600" b="1" i="0"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的阳离子也易变形。</a:t>
              </a:r>
            </a:p>
            <a:p>
              <a:pPr marL="0" marR="0" lvl="0" indent="0" algn="ctr" defTabSz="914400" rtl="0" eaLnBrk="1" fontAlgn="base" latinLnBrk="0" hangingPunct="1">
                <a:lnSpc>
                  <a:spcPts val="40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（如</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Cu</a:t>
              </a:r>
              <a:r>
                <a:rPr kumimoji="0" lang="en-US" altLang="zh-CN" sz="2600" b="1" i="0"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Ag</a:t>
              </a:r>
              <a:r>
                <a:rPr kumimoji="0" lang="en-US" altLang="zh-CN" sz="2600" b="1" i="0"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Zn</a:t>
              </a:r>
              <a:r>
                <a:rPr kumimoji="0" lang="en-US" altLang="zh-CN" sz="2600" b="1" i="0" u="none" strike="noStrike" kern="1200" cap="none" spc="0" normalizeH="0" baseline="30000" noProof="0" dirty="0">
                  <a:ln>
                    <a:noFill/>
                  </a:ln>
                  <a:solidFill>
                    <a:schemeClr val="tx1"/>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Hg</a:t>
              </a:r>
              <a:r>
                <a:rPr kumimoji="0" lang="en-US" altLang="zh-CN" sz="2600" b="1" i="0" u="none" strike="noStrike" kern="1200" cap="none" spc="0" normalizeH="0" baseline="30000" noProof="0" dirty="0">
                  <a:ln>
                    <a:noFill/>
                  </a:ln>
                  <a:solidFill>
                    <a:schemeClr val="tx1"/>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p>
          </p:txBody>
        </p:sp>
        <p:sp>
          <p:nvSpPr>
            <p:cNvPr id="103446" name="Rectangle 22"/>
            <p:cNvSpPr>
              <a:spLocks noChangeArrowheads="1"/>
            </p:cNvSpPr>
            <p:nvPr/>
          </p:nvSpPr>
          <p:spPr bwMode="auto">
            <a:xfrm>
              <a:off x="990600" y="686271"/>
              <a:ext cx="5711825" cy="385839"/>
            </a:xfrm>
            <a:prstGeom prst="rect">
              <a:avLst/>
            </a:prstGeom>
            <a:noFill/>
            <a:ln w="9525">
              <a:noFill/>
              <a:miter lim="800000"/>
            </a:ln>
          </p:spPr>
          <p:txBody>
            <a:bodyPr wrap="none">
              <a:spAutoFit/>
            </a:bodyPr>
            <a:lstStyle/>
            <a:p>
              <a:pPr marL="0" marR="0" lvl="0" indent="0" algn="ctr" defTabSz="914400" rtl="0" eaLnBrk="1" fontAlgn="base" latinLnBrk="0" hangingPunct="1">
                <a:lnSpc>
                  <a:spcPts val="40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规律为：</a:t>
              </a: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rgbClr val="C00000"/>
                  </a:solidFill>
                  <a:effectLst/>
                  <a:uLnTx/>
                  <a:uFillTx/>
                  <a:latin typeface="+mj-lt"/>
                  <a:ea typeface="楷体_GB2312" pitchFamily="49" charset="-122"/>
                  <a:cs typeface="+mn-cs"/>
                </a:rPr>
                <a:t>1</a:t>
              </a: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半径越大，越易变形。</a:t>
              </a:r>
            </a:p>
          </p:txBody>
        </p:sp>
        <p:sp>
          <p:nvSpPr>
            <p:cNvPr id="103447" name="Rectangle 23"/>
            <p:cNvSpPr>
              <a:spLocks noChangeArrowheads="1"/>
            </p:cNvSpPr>
            <p:nvPr/>
          </p:nvSpPr>
          <p:spPr bwMode="auto">
            <a:xfrm>
              <a:off x="228600" y="193085"/>
              <a:ext cx="6716713" cy="550910"/>
            </a:xfrm>
            <a:prstGeom prst="rect">
              <a:avLst/>
            </a:prstGeom>
            <a:noFill/>
            <a:ln w="9525">
              <a:noFill/>
              <a:miter lim="800000"/>
            </a:ln>
          </p:spPr>
          <p:txBody>
            <a:bodyPr wrap="none">
              <a:spAutoFit/>
            </a:bodyPr>
            <a:lstStyle/>
            <a:p>
              <a:pPr marL="0" marR="0" lvl="0" indent="0" algn="ctr" defTabSz="914400" rtl="0" eaLnBrk="1" fontAlgn="base" latinLnBrk="0" hangingPunct="1">
                <a:lnSpc>
                  <a:spcPts val="4000"/>
                </a:lnSpc>
                <a:spcBef>
                  <a:spcPct val="0"/>
                </a:spcBef>
                <a:spcAft>
                  <a:spcPct val="0"/>
                </a:spcAft>
                <a:buClrTx/>
                <a:buSzTx/>
                <a:buFontTx/>
                <a:buNone/>
                <a:defRPr/>
              </a:pPr>
              <a:r>
                <a:rPr kumimoji="0" lang="zh-CN" altLang="en-US" sz="2600" b="1" i="0" u="none" strike="noStrike" kern="1200" cap="none" spc="0" normalizeH="0" baseline="0" noProof="0" dirty="0">
                  <a:ln>
                    <a:noFill/>
                  </a:ln>
                  <a:solidFill>
                    <a:srgbClr val="0000FF"/>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rgbClr val="0000FF"/>
                  </a:solidFill>
                  <a:effectLst/>
                  <a:uLnTx/>
                  <a:uFillTx/>
                  <a:latin typeface="+mj-lt"/>
                  <a:ea typeface="楷体_GB2312" pitchFamily="49" charset="-122"/>
                  <a:cs typeface="+mn-cs"/>
                </a:rPr>
                <a:t>2</a:t>
              </a:r>
              <a:r>
                <a:rPr kumimoji="0" lang="zh-CN" altLang="en-US" sz="2600" b="1" i="0" u="none" strike="noStrike" kern="1200" cap="none" spc="0" normalizeH="0" baseline="0" noProof="0" dirty="0">
                  <a:ln>
                    <a:noFill/>
                  </a:ln>
                  <a:solidFill>
                    <a:srgbClr val="0000FF"/>
                  </a:solidFill>
                  <a:effectLst/>
                  <a:uLnTx/>
                  <a:uFillTx/>
                  <a:latin typeface="+mj-lt"/>
                  <a:ea typeface="楷体_GB2312" pitchFamily="49" charset="-122"/>
                  <a:cs typeface="+mn-cs"/>
                </a:rPr>
                <a:t>）离子的极化率或变形性（负电荷为主）</a:t>
              </a:r>
            </a:p>
          </p:txBody>
        </p:sp>
      </p:gr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0" name="组合 3"/>
          <p:cNvGrpSpPr/>
          <p:nvPr/>
        </p:nvGrpSpPr>
        <p:grpSpPr>
          <a:xfrm>
            <a:off x="228600" y="304800"/>
            <a:ext cx="8604250" cy="4111625"/>
            <a:chOff x="250825" y="2349500"/>
            <a:chExt cx="8604250" cy="4111288"/>
          </a:xfrm>
        </p:grpSpPr>
        <p:sp>
          <p:nvSpPr>
            <p:cNvPr id="5" name="Rectangle 24"/>
            <p:cNvSpPr>
              <a:spLocks noChangeArrowheads="1"/>
            </p:cNvSpPr>
            <p:nvPr/>
          </p:nvSpPr>
          <p:spPr bwMode="auto">
            <a:xfrm>
              <a:off x="250825" y="2349500"/>
              <a:ext cx="8604250" cy="1015917"/>
            </a:xfrm>
            <a:prstGeom prst="rect">
              <a:avLst/>
            </a:prstGeom>
            <a:noFill/>
            <a:ln w="9525">
              <a:noFill/>
              <a:miter lim="800000"/>
            </a:ln>
          </p:spPr>
          <p:txBody>
            <a:bodyPr>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zh-CN" altLang="en-US" sz="2600" b="1" i="0" u="none" strike="noStrike" kern="1200" cap="none" spc="0" normalizeH="0" baseline="0" noProof="0" dirty="0">
                  <a:ln>
                    <a:noFill/>
                  </a:ln>
                  <a:solidFill>
                    <a:srgbClr val="0000FF"/>
                  </a:solidFill>
                  <a:effectLst/>
                  <a:uLnTx/>
                  <a:uFillTx/>
                  <a:latin typeface="+mj-lt"/>
                  <a:ea typeface="楷体_GB2312" pitchFamily="49" charset="-122"/>
                  <a:cs typeface="+mn-cs"/>
                </a:rPr>
                <a:t>（</a:t>
              </a:r>
              <a:r>
                <a:rPr kumimoji="0" lang="en-US" altLang="zh-CN" sz="2600" b="1" i="0" u="none" strike="noStrike" kern="1200" cap="none" spc="0" normalizeH="0" baseline="0" noProof="0" dirty="0">
                  <a:ln>
                    <a:noFill/>
                  </a:ln>
                  <a:solidFill>
                    <a:srgbClr val="0000FF"/>
                  </a:solidFill>
                  <a:effectLst/>
                  <a:uLnTx/>
                  <a:uFillTx/>
                  <a:latin typeface="+mj-lt"/>
                  <a:ea typeface="楷体_GB2312" pitchFamily="49" charset="-122"/>
                  <a:cs typeface="+mn-cs"/>
                </a:rPr>
                <a:t>3</a:t>
              </a:r>
              <a:r>
                <a:rPr kumimoji="0" lang="zh-CN" altLang="en-US" sz="2600" b="1" i="0" u="none" strike="noStrike" kern="1200" cap="none" spc="0" normalizeH="0" baseline="0" noProof="0" dirty="0">
                  <a:ln>
                    <a:noFill/>
                  </a:ln>
                  <a:solidFill>
                    <a:srgbClr val="0000FF"/>
                  </a:solidFill>
                  <a:effectLst/>
                  <a:uLnTx/>
                  <a:uFillTx/>
                  <a:latin typeface="+mj-lt"/>
                  <a:ea typeface="楷体_GB2312" pitchFamily="49" charset="-122"/>
                  <a:cs typeface="+mn-cs"/>
                </a:rPr>
                <a:t>）离子极化对化合物性质的影响</a:t>
              </a:r>
            </a:p>
            <a:p>
              <a:pPr marL="0" marR="0" lvl="0" indent="0" algn="l" defTabSz="914400" rtl="0" eaLnBrk="1" fontAlgn="base" latinLnBrk="0" hangingPunct="1">
                <a:lnSpc>
                  <a:spcPts val="36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见元素及化合物内容</a:t>
              </a:r>
            </a:p>
          </p:txBody>
        </p:sp>
        <p:sp>
          <p:nvSpPr>
            <p:cNvPr id="6" name="Rectangle 25"/>
            <p:cNvSpPr>
              <a:spLocks noChangeArrowheads="1"/>
            </p:cNvSpPr>
            <p:nvPr/>
          </p:nvSpPr>
          <p:spPr bwMode="auto">
            <a:xfrm>
              <a:off x="971550" y="3284461"/>
              <a:ext cx="5121275" cy="553992"/>
            </a:xfrm>
            <a:prstGeom prst="rect">
              <a:avLst/>
            </a:prstGeom>
            <a:noFill/>
            <a:ln w="9525">
              <a:noFill/>
              <a:miter lim="800000"/>
            </a:ln>
          </p:spPr>
          <p:txBody>
            <a:bodyPr wrap="none">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0" u="none" strike="noStrike" kern="1200" cap="none" spc="0" normalizeH="0" baseline="0" noProof="0" dirty="0">
                  <a:ln>
                    <a:noFill/>
                  </a:ln>
                  <a:solidFill>
                    <a:srgbClr val="C00000"/>
                  </a:solidFill>
                  <a:effectLst/>
                  <a:uLnTx/>
                  <a:uFillTx/>
                  <a:latin typeface="+mj-lt"/>
                  <a:ea typeface="楷体_GB2312" pitchFamily="49" charset="-122"/>
                  <a:cs typeface="+mn-cs"/>
                </a:rPr>
                <a:t>a.  </a:t>
              </a: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键型的转化 </a:t>
              </a:r>
              <a:r>
                <a:rPr kumimoji="0" lang="zh-CN" altLang="en-US" sz="2600" b="1" i="0" u="none" strike="noStrike" kern="1200" cap="none" spc="0" normalizeH="0" baseline="0" noProof="0" dirty="0">
                  <a:ln>
                    <a:noFill/>
                  </a:ln>
                  <a:solidFill>
                    <a:srgbClr val="0000FF"/>
                  </a:solidFill>
                  <a:effectLst/>
                  <a:uLnTx/>
                  <a:uFillTx/>
                  <a:latin typeface="+mj-lt"/>
                  <a:ea typeface="楷体_GB2312" pitchFamily="49" charset="-122"/>
                  <a:cs typeface="+mn-cs"/>
                </a:rPr>
                <a:t>→ 晶体类型的转变</a:t>
              </a:r>
            </a:p>
          </p:txBody>
        </p:sp>
        <p:sp>
          <p:nvSpPr>
            <p:cNvPr id="7" name="Rectangle 26"/>
            <p:cNvSpPr>
              <a:spLocks noChangeArrowheads="1"/>
            </p:cNvSpPr>
            <p:nvPr/>
          </p:nvSpPr>
          <p:spPr bwMode="auto">
            <a:xfrm>
              <a:off x="468313" y="3933695"/>
              <a:ext cx="7526337" cy="1436570"/>
            </a:xfrm>
            <a:prstGeom prst="rect">
              <a:avLst/>
            </a:prstGeom>
            <a:noFill/>
            <a:ln w="9525">
              <a:noFill/>
              <a:miter lim="800000"/>
            </a:ln>
          </p:spPr>
          <p:txBody>
            <a:bodyPr>
              <a:spAutoFit/>
            </a:bodyPr>
            <a:lstStyle/>
            <a:p>
              <a:pPr marL="0" marR="0" lvl="0" indent="0" algn="l" defTabSz="914400" rtl="0" eaLnBrk="1" fontAlgn="base" latinLnBrk="0" hangingPunct="1">
                <a:lnSpc>
                  <a:spcPts val="36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一般由离子键向共价键转化，离子的电子云相互重叠，缩短了离子间的距离，所以</a:t>
              </a:r>
              <a:r>
                <a:rPr kumimoji="0" lang="zh-CN" altLang="en-US" sz="2600" b="1" i="1" u="none" strike="noStrike" kern="1200" cap="none" spc="0" normalizeH="0" baseline="0" noProof="0" dirty="0">
                  <a:ln>
                    <a:noFill/>
                  </a:ln>
                  <a:solidFill>
                    <a:srgbClr val="0000FF"/>
                  </a:solidFill>
                  <a:effectLst/>
                  <a:uLnTx/>
                  <a:uFillTx/>
                  <a:latin typeface="+mj-lt"/>
                  <a:ea typeface="楷体_GB2312" pitchFamily="49" charset="-122"/>
                  <a:cs typeface="+mn-cs"/>
                </a:rPr>
                <a:t>一般晶体熔点降低</a:t>
              </a: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。晶体的配位数减小。</a:t>
              </a:r>
            </a:p>
          </p:txBody>
        </p:sp>
        <p:sp>
          <p:nvSpPr>
            <p:cNvPr id="8" name="Rectangle 27"/>
            <p:cNvSpPr>
              <a:spLocks noChangeArrowheads="1"/>
            </p:cNvSpPr>
            <p:nvPr/>
          </p:nvSpPr>
          <p:spPr bwMode="auto">
            <a:xfrm>
              <a:off x="900113" y="5444871"/>
              <a:ext cx="7561262" cy="1015917"/>
            </a:xfrm>
            <a:prstGeom prst="rect">
              <a:avLst/>
            </a:prstGeom>
            <a:noFill/>
            <a:ln w="9525">
              <a:noFill/>
              <a:miter lim="800000"/>
            </a:ln>
          </p:spPr>
          <p:txBody>
            <a:bodyPr>
              <a:spAutoFit/>
            </a:bodyPr>
            <a:lstStyle/>
            <a:p>
              <a:pPr marL="514350" marR="0" lvl="0" indent="-514350" algn="l" defTabSz="914400" rtl="0" eaLnBrk="1" fontAlgn="base" latinLnBrk="0" hangingPunct="1">
                <a:lnSpc>
                  <a:spcPts val="3600"/>
                </a:lnSpc>
                <a:spcBef>
                  <a:spcPct val="0"/>
                </a:spcBef>
                <a:spcAft>
                  <a:spcPct val="0"/>
                </a:spcAft>
                <a:buClrTx/>
                <a:buSzTx/>
                <a:buFontTx/>
                <a:buAutoNum type="alphaLcPeriod" startAt="2"/>
                <a:defRPr/>
              </a:pPr>
              <a:r>
                <a:rPr kumimoji="0" lang="zh-CN" altLang="en-US" sz="2600" b="1" i="0" u="none" strike="noStrike" kern="1200" cap="none" spc="0" normalizeH="0" baseline="0" noProof="0" dirty="0">
                  <a:ln>
                    <a:noFill/>
                  </a:ln>
                  <a:solidFill>
                    <a:srgbClr val="C00000"/>
                  </a:solidFill>
                  <a:effectLst/>
                  <a:uLnTx/>
                  <a:uFillTx/>
                  <a:latin typeface="+mj-lt"/>
                  <a:ea typeface="楷体_GB2312" pitchFamily="49" charset="-122"/>
                  <a:cs typeface="+mn-cs"/>
                </a:rPr>
                <a:t>化合物颜色加深和溶解度降低：</a:t>
              </a:r>
              <a:endParaRPr kumimoji="0" lang="en-US" altLang="zh-CN" sz="2600" b="1" i="0" u="none" strike="noStrike" kern="1200" cap="none" spc="0" normalizeH="0" baseline="0" noProof="0" dirty="0">
                <a:ln>
                  <a:noFill/>
                </a:ln>
                <a:solidFill>
                  <a:srgbClr val="C00000"/>
                </a:solidFill>
                <a:effectLst/>
                <a:uLnTx/>
                <a:uFillTx/>
                <a:latin typeface="+mj-lt"/>
                <a:ea typeface="楷体_GB2312" pitchFamily="49" charset="-122"/>
                <a:cs typeface="+mn-cs"/>
              </a:endParaRPr>
            </a:p>
            <a:p>
              <a:pPr marL="514350" marR="0" lvl="0" indent="-514350" algn="ctr" defTabSz="914400" rtl="0" eaLnBrk="1" fontAlgn="base" latinLnBrk="0" hangingPunct="1">
                <a:lnSpc>
                  <a:spcPts val="36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如卤化银</a:t>
              </a:r>
            </a:p>
          </p:txBody>
        </p:sp>
      </p:gr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6"/>
          <p:cNvSpPr/>
          <p:nvPr/>
        </p:nvSpPr>
        <p:spPr>
          <a:xfrm>
            <a:off x="500063" y="285750"/>
            <a:ext cx="7993062" cy="4256405"/>
          </a:xfrm>
          <a:prstGeom prst="rect">
            <a:avLst/>
          </a:prstGeom>
          <a:noFill/>
          <a:ln w="9525">
            <a:noFill/>
          </a:ln>
        </p:spPr>
        <p:txBody>
          <a:bodyPr>
            <a:spAutoFit/>
          </a:bodyPr>
          <a:lstStyle/>
          <a:p>
            <a:pPr algn="l">
              <a:lnSpc>
                <a:spcPts val="4000"/>
              </a:lnSpc>
            </a:pPr>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、试比较四种离子：</a:t>
            </a:r>
            <a:r>
              <a:rPr lang="en-US" altLang="zh-CN" sz="2600" i="0" dirty="0">
                <a:solidFill>
                  <a:schemeClr val="tx1"/>
                </a:solidFill>
                <a:latin typeface="Times New Roman" panose="02020603050405020304" pitchFamily="18" charset="0"/>
              </a:rPr>
              <a:t>Na</a:t>
            </a:r>
            <a:r>
              <a:rPr lang="en-US" altLang="zh-CN" sz="2600" i="0" baseline="300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I</a:t>
            </a:r>
            <a:r>
              <a:rPr lang="en-US" altLang="zh-CN" sz="2600" i="0" baseline="30000" dirty="0">
                <a:solidFill>
                  <a:schemeClr val="tx1"/>
                </a:solidFill>
                <a:latin typeface="Times New Roman" panose="02020603050405020304" pitchFamily="18" charset="0"/>
              </a:rPr>
              <a:t> </a:t>
            </a:r>
            <a:r>
              <a:rPr lang="zh-CN" altLang="en-US" sz="2600" i="0" baseline="3000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Rb</a:t>
            </a:r>
            <a:r>
              <a:rPr lang="en-US" altLang="zh-CN" sz="2600" i="0" baseline="300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Cl</a:t>
            </a:r>
            <a:r>
              <a:rPr lang="en-US" altLang="zh-CN" sz="2600" i="0" baseline="30000" dirty="0">
                <a:solidFill>
                  <a:schemeClr val="tx1"/>
                </a:solidFill>
                <a:latin typeface="Times New Roman" panose="02020603050405020304" pitchFamily="18" charset="0"/>
              </a:rPr>
              <a:t> </a:t>
            </a:r>
            <a:r>
              <a:rPr lang="zh-CN" altLang="en-US" sz="2600" i="0" baseline="300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，何者的</a:t>
            </a:r>
            <a:endParaRPr lang="en-US" altLang="zh-CN" sz="2600" i="0" dirty="0">
              <a:solidFill>
                <a:schemeClr val="tx1"/>
              </a:solidFill>
              <a:latin typeface="Times New Roman" panose="02020603050405020304" pitchFamily="18" charset="0"/>
            </a:endParaRPr>
          </a:p>
          <a:p>
            <a:pPr algn="l">
              <a:lnSpc>
                <a:spcPts val="40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极化率最大？</a:t>
            </a:r>
            <a:endParaRPr lang="en-US" altLang="zh-CN" sz="2600" i="0" dirty="0">
              <a:solidFill>
                <a:schemeClr val="tx1"/>
              </a:solidFill>
              <a:latin typeface="Times New Roman" panose="02020603050405020304" pitchFamily="18" charset="0"/>
            </a:endParaRPr>
          </a:p>
          <a:p>
            <a:pPr algn="l">
              <a:lnSpc>
                <a:spcPts val="4000"/>
              </a:lnSpc>
            </a:pPr>
            <a:r>
              <a:rPr lang="en-US" altLang="zh-CN" sz="2600" i="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、四种物质的离子极化作用大小排序：</a:t>
            </a:r>
            <a:r>
              <a:rPr lang="en-US" altLang="zh-CN" sz="2600" i="0" dirty="0">
                <a:solidFill>
                  <a:schemeClr val="tx1"/>
                </a:solidFill>
                <a:latin typeface="Times New Roman" panose="02020603050405020304" pitchFamily="18" charset="0"/>
              </a:rPr>
              <a:t> </a:t>
            </a:r>
          </a:p>
          <a:p>
            <a:pPr>
              <a:lnSpc>
                <a:spcPts val="4000"/>
              </a:lnSpc>
            </a:pPr>
            <a:r>
              <a:rPr lang="en-US" altLang="zh-CN" sz="2600" i="0" dirty="0">
                <a:solidFill>
                  <a:schemeClr val="tx1"/>
                </a:solidFill>
                <a:latin typeface="Times New Roman" panose="02020603050405020304" pitchFamily="18" charset="0"/>
              </a:rPr>
              <a:t>MgCl</a:t>
            </a:r>
            <a:r>
              <a:rPr lang="en-US" altLang="zh-CN" sz="2600" i="0" baseline="-2500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AlCl</a:t>
            </a:r>
            <a:r>
              <a:rPr lang="en-US" altLang="zh-CN" sz="2600" i="0" baseline="-25000" dirty="0">
                <a:solidFill>
                  <a:schemeClr val="tx1"/>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NaCl</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SiCl</a:t>
            </a:r>
            <a:r>
              <a:rPr lang="en-US" altLang="zh-CN" sz="2600" i="0" baseline="-25000" dirty="0">
                <a:solidFill>
                  <a:schemeClr val="tx1"/>
                </a:solidFill>
                <a:latin typeface="Times New Roman" panose="02020603050405020304" pitchFamily="18" charset="0"/>
              </a:rPr>
              <a:t>4  </a:t>
            </a:r>
            <a:endParaRPr lang="en-US" altLang="zh-CN" sz="2600" i="0" dirty="0">
              <a:solidFill>
                <a:schemeClr val="tx1"/>
              </a:solidFill>
              <a:latin typeface="Times New Roman" panose="02020603050405020304" pitchFamily="18" charset="0"/>
            </a:endParaRPr>
          </a:p>
          <a:p>
            <a:pPr algn="l">
              <a:lnSpc>
                <a:spcPts val="4000"/>
              </a:lnSpc>
            </a:pPr>
            <a:r>
              <a:rPr lang="en-US" altLang="zh-CN" sz="2600" i="0" dirty="0">
                <a:solidFill>
                  <a:schemeClr val="tx1"/>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a:t>
            </a:r>
            <a:r>
              <a:rPr lang="zh-CN" altLang="en-US" sz="2600" i="0" dirty="0">
                <a:solidFill>
                  <a:srgbClr val="000000"/>
                </a:solidFill>
                <a:sym typeface="+mn-ea"/>
              </a:rPr>
              <a:t>对下列各组物质的性质差异给出合理的解释</a:t>
            </a:r>
            <a:endParaRPr lang="en-US" altLang="zh-CN" sz="2600" i="0" dirty="0">
              <a:solidFill>
                <a:srgbClr val="000000"/>
              </a:solidFill>
              <a:latin typeface="Times New Roman" panose="02020603050405020304" pitchFamily="18" charset="0"/>
            </a:endParaRPr>
          </a:p>
          <a:p>
            <a:pPr indent="304800" algn="l" defTabSz="914400" eaLnBrk="0" hangingPunct="0">
              <a:tabLst>
                <a:tab pos="1943100" algn="l"/>
                <a:tab pos="2286000" algn="l"/>
              </a:tabLst>
            </a:pPr>
            <a:r>
              <a:rPr lang="en-US" altLang="zh-CN" sz="2600" i="0" dirty="0">
                <a:solidFill>
                  <a:srgbClr val="000000"/>
                </a:solidFill>
                <a:sym typeface="+mn-ea"/>
              </a:rPr>
              <a:t>      (1) </a:t>
            </a:r>
            <a:r>
              <a:rPr lang="zh-CN" altLang="en-US" sz="2600" i="0" dirty="0">
                <a:solidFill>
                  <a:srgbClr val="000000"/>
                </a:solidFill>
                <a:sym typeface="+mn-ea"/>
              </a:rPr>
              <a:t>熔沸点：对硝基苯甲酸 ＞ 邻硝基苯甲酸</a:t>
            </a:r>
            <a:endParaRPr lang="en-US" altLang="zh-CN" sz="2600" i="0" dirty="0">
              <a:solidFill>
                <a:srgbClr val="000000"/>
              </a:solidFill>
              <a:latin typeface="Times New Roman" panose="02020603050405020304" pitchFamily="18" charset="0"/>
            </a:endParaRPr>
          </a:p>
          <a:p>
            <a:pPr indent="304800" algn="l" defTabSz="914400" eaLnBrk="0" hangingPunct="0">
              <a:tabLst>
                <a:tab pos="1943100" algn="l"/>
                <a:tab pos="2286000" algn="l"/>
              </a:tabLst>
            </a:pPr>
            <a:r>
              <a:rPr lang="en-US" altLang="zh-CN" sz="2600" i="0" dirty="0">
                <a:solidFill>
                  <a:srgbClr val="000000"/>
                </a:solidFill>
                <a:sym typeface="+mn-ea"/>
              </a:rPr>
              <a:t>          </a:t>
            </a:r>
            <a:r>
              <a:rPr lang="zh-CN" altLang="en-US" sz="2600" i="0" dirty="0">
                <a:solidFill>
                  <a:srgbClr val="000000"/>
                </a:solidFill>
                <a:sym typeface="+mn-ea"/>
              </a:rPr>
              <a:t>（或</a:t>
            </a:r>
            <a:r>
              <a:rPr lang="en-US" altLang="zh-CN" sz="2600" i="0" dirty="0">
                <a:solidFill>
                  <a:srgbClr val="000000"/>
                </a:solidFill>
                <a:sym typeface="+mn-ea"/>
              </a:rPr>
              <a:t>H</a:t>
            </a:r>
            <a:r>
              <a:rPr lang="en-US" altLang="zh-CN" sz="2600" i="0" baseline="-25000" dirty="0">
                <a:solidFill>
                  <a:srgbClr val="000000"/>
                </a:solidFill>
                <a:sym typeface="+mn-ea"/>
              </a:rPr>
              <a:t>2</a:t>
            </a:r>
            <a:r>
              <a:rPr lang="en-US" altLang="zh-CN" sz="2600" i="0" dirty="0">
                <a:solidFill>
                  <a:srgbClr val="000000"/>
                </a:solidFill>
                <a:sym typeface="+mn-ea"/>
              </a:rPr>
              <a:t>O</a:t>
            </a:r>
            <a:r>
              <a:rPr lang="zh-CN" altLang="en-US" sz="2600" i="0" dirty="0">
                <a:solidFill>
                  <a:srgbClr val="000000"/>
                </a:solidFill>
                <a:sym typeface="+mn-ea"/>
              </a:rPr>
              <a:t>与</a:t>
            </a:r>
            <a:r>
              <a:rPr lang="en-US" altLang="zh-CN" sz="2600" i="0" dirty="0">
                <a:solidFill>
                  <a:srgbClr val="000000"/>
                </a:solidFill>
                <a:sym typeface="+mn-ea"/>
              </a:rPr>
              <a:t>HF</a:t>
            </a:r>
            <a:r>
              <a:rPr lang="zh-CN" altLang="en-US" sz="2600" i="0" dirty="0">
                <a:solidFill>
                  <a:srgbClr val="000000"/>
                </a:solidFill>
                <a:sym typeface="+mn-ea"/>
              </a:rPr>
              <a:t>）；            </a:t>
            </a:r>
            <a:endParaRPr lang="zh-CN" altLang="en-US" sz="2600" i="0" dirty="0">
              <a:solidFill>
                <a:srgbClr val="000000"/>
              </a:solidFill>
              <a:latin typeface="Times New Roman" panose="02020603050405020304" pitchFamily="18" charset="0"/>
            </a:endParaRPr>
          </a:p>
          <a:p>
            <a:pPr indent="304800" algn="l" defTabSz="914400" eaLnBrk="0" hangingPunct="0">
              <a:tabLst>
                <a:tab pos="1943100" algn="l"/>
                <a:tab pos="2286000" algn="l"/>
              </a:tabLst>
            </a:pPr>
            <a:r>
              <a:rPr lang="en-US" altLang="zh-CN" sz="2600" i="0" dirty="0">
                <a:solidFill>
                  <a:srgbClr val="000000"/>
                </a:solidFill>
                <a:sym typeface="+mn-ea"/>
              </a:rPr>
              <a:t>      (2) </a:t>
            </a:r>
            <a:r>
              <a:rPr lang="zh-CN" altLang="en-US" sz="2600" i="0" dirty="0">
                <a:solidFill>
                  <a:srgbClr val="000000"/>
                </a:solidFill>
                <a:sym typeface="+mn-ea"/>
              </a:rPr>
              <a:t>沸点</a:t>
            </a:r>
            <a:r>
              <a:rPr lang="en-US" altLang="zh-CN" sz="2600" i="0" dirty="0">
                <a:solidFill>
                  <a:srgbClr val="000000"/>
                </a:solidFill>
                <a:sym typeface="+mn-ea"/>
              </a:rPr>
              <a:t>NaF(1600℃) </a:t>
            </a:r>
            <a:r>
              <a:rPr lang="zh-CN" altLang="en-US" sz="2600" i="0" dirty="0">
                <a:solidFill>
                  <a:srgbClr val="000000"/>
                </a:solidFill>
                <a:sym typeface="+mn-ea"/>
              </a:rPr>
              <a:t>＞ </a:t>
            </a:r>
            <a:r>
              <a:rPr lang="en-US" altLang="zh-CN" sz="2600" i="0" dirty="0">
                <a:solidFill>
                  <a:srgbClr val="000000"/>
                </a:solidFill>
                <a:sym typeface="+mn-ea"/>
              </a:rPr>
              <a:t>CsF(1400℃)</a:t>
            </a:r>
            <a:r>
              <a:rPr lang="zh-CN" altLang="en-US" sz="2600" i="0" dirty="0">
                <a:solidFill>
                  <a:srgbClr val="000000"/>
                </a:solidFill>
                <a:sym typeface="+mn-ea"/>
              </a:rPr>
              <a:t>；             </a:t>
            </a:r>
            <a:endParaRPr lang="zh-CN" altLang="en-US" sz="2600" i="0" dirty="0">
              <a:solidFill>
                <a:srgbClr val="000000"/>
              </a:solidFill>
              <a:latin typeface="Times New Roman" panose="02020603050405020304" pitchFamily="18" charset="0"/>
            </a:endParaRPr>
          </a:p>
          <a:p>
            <a:pPr indent="304800" algn="l" defTabSz="914400" eaLnBrk="0" hangingPunct="0">
              <a:tabLst>
                <a:tab pos="1943100" algn="l"/>
                <a:tab pos="2286000" algn="l"/>
              </a:tabLst>
            </a:pPr>
            <a:r>
              <a:rPr lang="en-US" altLang="zh-CN" sz="2600" i="0" dirty="0">
                <a:solidFill>
                  <a:srgbClr val="000000"/>
                </a:solidFill>
                <a:sym typeface="+mn-ea"/>
              </a:rPr>
              <a:t>      (3) </a:t>
            </a:r>
            <a:r>
              <a:rPr lang="zh-CN" altLang="en-US" sz="2600" i="0" dirty="0">
                <a:solidFill>
                  <a:srgbClr val="000000"/>
                </a:solidFill>
                <a:sym typeface="+mn-ea"/>
              </a:rPr>
              <a:t>沸点</a:t>
            </a:r>
            <a:r>
              <a:rPr lang="en-US" altLang="zh-CN" sz="2600" i="0" dirty="0">
                <a:solidFill>
                  <a:srgbClr val="000000"/>
                </a:solidFill>
                <a:sym typeface="+mn-ea"/>
              </a:rPr>
              <a:t>TiCl</a:t>
            </a:r>
            <a:r>
              <a:rPr lang="en-US" altLang="zh-CN" sz="2600" i="0" baseline="-25000" dirty="0">
                <a:solidFill>
                  <a:srgbClr val="000000"/>
                </a:solidFill>
                <a:sym typeface="+mn-ea"/>
              </a:rPr>
              <a:t>4</a:t>
            </a:r>
            <a:r>
              <a:rPr lang="en-US" altLang="zh-CN" sz="2600" i="0" dirty="0">
                <a:solidFill>
                  <a:srgbClr val="000000"/>
                </a:solidFill>
                <a:sym typeface="+mn-ea"/>
              </a:rPr>
              <a:t>(130℃) </a:t>
            </a:r>
            <a:r>
              <a:rPr lang="zh-CN" altLang="en-US" sz="2600" i="0" dirty="0">
                <a:solidFill>
                  <a:srgbClr val="000000"/>
                </a:solidFill>
                <a:sym typeface="+mn-ea"/>
              </a:rPr>
              <a:t>＞ </a:t>
            </a:r>
            <a:r>
              <a:rPr lang="en-US" altLang="zh-CN" sz="2600" i="0" dirty="0">
                <a:solidFill>
                  <a:srgbClr val="000000"/>
                </a:solidFill>
                <a:sym typeface="+mn-ea"/>
              </a:rPr>
              <a:t>LiCl(1300℃) </a:t>
            </a:r>
            <a:r>
              <a:rPr lang="zh-CN" altLang="en-US" sz="2600" i="0" dirty="0">
                <a:solidFill>
                  <a:srgbClr val="000000"/>
                </a:solidFill>
                <a:sym typeface="+mn-ea"/>
              </a:rPr>
              <a:t>。</a:t>
            </a:r>
            <a:endParaRPr lang="zh-CN" altLang="en-US" sz="2600" i="0" dirty="0">
              <a:solidFill>
                <a:schemeClr val="tx1"/>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Text Box 21"/>
          <p:cNvSpPr txBox="1"/>
          <p:nvPr/>
        </p:nvSpPr>
        <p:spPr>
          <a:xfrm>
            <a:off x="457200" y="914400"/>
            <a:ext cx="8153400" cy="3170238"/>
          </a:xfrm>
          <a:prstGeom prst="rect">
            <a:avLst/>
          </a:prstGeom>
          <a:solidFill>
            <a:srgbClr val="FFCC99"/>
          </a:solidFill>
          <a:ln w="12700">
            <a:noFill/>
          </a:ln>
        </p:spPr>
        <p:txBody>
          <a:bodyPr>
            <a:spAutoFit/>
          </a:bodyPr>
          <a:lstStyle/>
          <a:p>
            <a:pPr algn="l" eaLnBrk="0" hangingPunct="0"/>
            <a:r>
              <a:rPr lang="en-US" altLang="zh-CN" sz="4000" dirty="0">
                <a:solidFill>
                  <a:srgbClr val="0000FF"/>
                </a:solidFill>
                <a:latin typeface="Times New Roman" panose="02020603050405020304" pitchFamily="18" charset="0"/>
                <a:ea typeface="宋体" panose="02010600030101010101" pitchFamily="2" charset="-122"/>
              </a:rPr>
              <a:t>exercises:</a:t>
            </a:r>
          </a:p>
          <a:p>
            <a:pPr algn="l" eaLnBrk="0" hangingPunct="0"/>
            <a:r>
              <a:rPr lang="en-US" altLang="zh-CN" sz="4000" dirty="0">
                <a:solidFill>
                  <a:srgbClr val="0000FF"/>
                </a:solidFill>
                <a:latin typeface="Times New Roman" panose="02020603050405020304" pitchFamily="18" charset="0"/>
                <a:ea typeface="宋体" panose="02010600030101010101" pitchFamily="2" charset="-122"/>
              </a:rPr>
              <a:t>P</a:t>
            </a:r>
            <a:r>
              <a:rPr lang="en-US" altLang="zh-CN" sz="4000" baseline="-25000" dirty="0">
                <a:solidFill>
                  <a:srgbClr val="0000FF"/>
                </a:solidFill>
                <a:latin typeface="Times New Roman" panose="02020603050405020304" pitchFamily="18" charset="0"/>
                <a:ea typeface="宋体" panose="02010600030101010101" pitchFamily="2" charset="-122"/>
              </a:rPr>
              <a:t>251</a:t>
            </a:r>
            <a:r>
              <a:rPr lang="en-US" altLang="zh-CN" sz="4000" dirty="0">
                <a:solidFill>
                  <a:srgbClr val="0000FF"/>
                </a:solidFill>
                <a:latin typeface="Times New Roman" panose="02020603050405020304" pitchFamily="18" charset="0"/>
                <a:ea typeface="宋体" panose="02010600030101010101" pitchFamily="2" charset="-122"/>
              </a:rPr>
              <a:t>——</a:t>
            </a:r>
          </a:p>
          <a:p>
            <a:pPr eaLnBrk="0" hangingPunct="0"/>
            <a:r>
              <a:rPr lang="en-US" altLang="zh-CN" sz="4000" dirty="0">
                <a:solidFill>
                  <a:srgbClr val="FF00FF"/>
                </a:solidFill>
                <a:latin typeface="Times New Roman" panose="02020603050405020304" pitchFamily="18" charset="0"/>
                <a:ea typeface="宋体" panose="02010600030101010101" pitchFamily="2" charset="-122"/>
              </a:rPr>
              <a:t>1</a:t>
            </a:r>
            <a:r>
              <a:rPr lang="zh-CN" altLang="en-US" sz="4000" dirty="0">
                <a:solidFill>
                  <a:srgbClr val="FF00FF"/>
                </a:solidFill>
                <a:latin typeface="Times New Roman" panose="02020603050405020304" pitchFamily="18" charset="0"/>
                <a:ea typeface="宋体" panose="02010600030101010101" pitchFamily="2" charset="-122"/>
              </a:rPr>
              <a:t>、</a:t>
            </a:r>
            <a:r>
              <a:rPr lang="en-US" altLang="zh-CN" sz="4000" dirty="0">
                <a:solidFill>
                  <a:srgbClr val="FF00FF"/>
                </a:solidFill>
                <a:latin typeface="Times New Roman" panose="02020603050405020304" pitchFamily="18" charset="0"/>
                <a:ea typeface="宋体" panose="02010600030101010101" pitchFamily="2" charset="-122"/>
              </a:rPr>
              <a:t>6--12</a:t>
            </a:r>
          </a:p>
          <a:p>
            <a:pPr algn="l" eaLnBrk="0" hangingPunct="0"/>
            <a:r>
              <a:rPr lang="en-US" altLang="zh-CN" sz="4000" dirty="0">
                <a:solidFill>
                  <a:srgbClr val="0000FF"/>
                </a:solidFill>
                <a:latin typeface="Times New Roman" panose="02020603050405020304" pitchFamily="18" charset="0"/>
                <a:ea typeface="宋体" panose="02010600030101010101" pitchFamily="2" charset="-122"/>
              </a:rPr>
              <a:t>P</a:t>
            </a:r>
            <a:r>
              <a:rPr lang="en-US" altLang="zh-CN" sz="4000" baseline="-25000" dirty="0">
                <a:solidFill>
                  <a:srgbClr val="0000FF"/>
                </a:solidFill>
                <a:latin typeface="Times New Roman" panose="02020603050405020304" pitchFamily="18" charset="0"/>
                <a:ea typeface="宋体" panose="02010600030101010101" pitchFamily="2" charset="-122"/>
              </a:rPr>
              <a:t>284</a:t>
            </a:r>
            <a:r>
              <a:rPr lang="en-US" altLang="zh-CN" sz="4000" dirty="0">
                <a:solidFill>
                  <a:srgbClr val="0000FF"/>
                </a:solidFill>
                <a:latin typeface="Times New Roman" panose="02020603050405020304" pitchFamily="18" charset="0"/>
                <a:ea typeface="宋体" panose="02010600030101010101" pitchFamily="2" charset="-122"/>
              </a:rPr>
              <a:t>——</a:t>
            </a:r>
          </a:p>
          <a:p>
            <a:pPr eaLnBrk="0" hangingPunct="0"/>
            <a:r>
              <a:rPr lang="en-US" altLang="zh-CN" sz="4000" dirty="0">
                <a:solidFill>
                  <a:srgbClr val="FF00FF"/>
                </a:solidFill>
                <a:latin typeface="Times New Roman" panose="02020603050405020304" pitchFamily="18" charset="0"/>
                <a:ea typeface="宋体" panose="02010600030101010101" pitchFamily="2" charset="-122"/>
              </a:rPr>
              <a:t>7---17</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47a19421-8613-4837-8d1c-617ccec02b1b"/>
  <p:tag name="COMMONDATA" val="eyJoZGlkIjoiNGQ3Y2FkMzBhOWQzYzNlMDlhNTg0YjExZjlmYTdlOTgifQ=="/>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1" i="1" u="none" strike="noStrike" cap="none" normalizeH="0" baseline="0" smtClean="0">
            <a:ln>
              <a:noFill/>
            </a:ln>
            <a:solidFill>
              <a:srgbClr val="00FF00"/>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400" b="1" i="1" u="none" strike="noStrike" cap="none" normalizeH="0" baseline="0" smtClean="0">
            <a:ln>
              <a:noFill/>
            </a:ln>
            <a:solidFill>
              <a:srgbClr val="00FF00"/>
            </a:solidFill>
            <a:effectLst/>
            <a:latin typeface="Times New Roman" panose="02020603050405020304" pitchFamily="18"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5512</Words>
  <Application>WPS 演示</Application>
  <PresentationFormat>全屏显示(4:3)</PresentationFormat>
  <Paragraphs>718</Paragraphs>
  <Slides>90</Slides>
  <Notes>56</Notes>
  <HiddenSlides>0</HiddenSlides>
  <MMClips>4</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90</vt:i4>
      </vt:variant>
    </vt:vector>
  </HeadingPairs>
  <TitlesOfParts>
    <vt:vector size="92" baseType="lpstr">
      <vt:lpstr>1_默认设计模板</vt:lpstr>
      <vt:lpstr>Microsoft 公式 3.0</vt:lpstr>
      <vt:lpstr>第九章  分子结构     (Structure  of  Molecules)</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        两个原子轨道沿着核间连线且相互平行而进行同号重叠形成的键称为键——“肩并肩”重叠。</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Windows User</cp:lastModifiedBy>
  <cp:revision>251</cp:revision>
  <dcterms:created xsi:type="dcterms:W3CDTF">2022-12-12T12:22:00Z</dcterms:created>
  <dcterms:modified xsi:type="dcterms:W3CDTF">2023-12-22T00:14:17Z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9C228CB27B474C4EA190EE19358E4605</vt:lpwstr>
  </property>
  <property fmtid="{D5CDD505-2E9C-101B-9397-08002B2CF9AE}" pid="4" name="KSOProductBuildVer">
    <vt:lpwstr>2052-11.1.0.12763</vt:lpwstr>
  </property>
</Properties>
</file>