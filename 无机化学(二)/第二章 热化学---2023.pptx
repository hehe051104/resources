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Layouts/slideLayout15.xml" ContentType="application/vnd.openxmlformats-officedocument.presentationml.slideLayout+xml"/>
  <Default Extension="wmf" ContentType="image/x-wmf"/>
  <Override PartName="/ppt/slideLayouts/slideLayout26.xml" ContentType="application/vnd.openxmlformats-officedocument.presentationml.slideLayout+xml"/>
  <Override PartName="/ppt/tags/tag2.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Layouts/slideLayout22.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2"/>
  </p:sldMasterIdLst>
  <p:notesMasterIdLst>
    <p:notesMasterId r:id="rId60"/>
  </p:notesMasterIdLst>
  <p:sldIdLst>
    <p:sldId id="257" r:id="rId3"/>
    <p:sldId id="258" r:id="rId4"/>
    <p:sldId id="259" r:id="rId5"/>
    <p:sldId id="260" r:id="rId6"/>
    <p:sldId id="307" r:id="rId7"/>
    <p:sldId id="308" r:id="rId8"/>
    <p:sldId id="309" r:id="rId9"/>
    <p:sldId id="310" r:id="rId10"/>
    <p:sldId id="311" r:id="rId11"/>
    <p:sldId id="312" r:id="rId12"/>
    <p:sldId id="313" r:id="rId13"/>
    <p:sldId id="314" r:id="rId14"/>
    <p:sldId id="315" r:id="rId15"/>
    <p:sldId id="268" r:id="rId16"/>
    <p:sldId id="269" r:id="rId17"/>
    <p:sldId id="387" r:id="rId18"/>
    <p:sldId id="270" r:id="rId19"/>
    <p:sldId id="271" r:id="rId20"/>
    <p:sldId id="272" r:id="rId21"/>
    <p:sldId id="273" r:id="rId22"/>
    <p:sldId id="274" r:id="rId23"/>
    <p:sldId id="275" r:id="rId24"/>
    <p:sldId id="276" r:id="rId25"/>
    <p:sldId id="277" r:id="rId26"/>
    <p:sldId id="278" r:id="rId27"/>
    <p:sldId id="279" r:id="rId28"/>
    <p:sldId id="357"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316" r:id="rId45"/>
    <p:sldId id="389" r:id="rId46"/>
    <p:sldId id="388" r:id="rId47"/>
    <p:sldId id="390" r:id="rId48"/>
    <p:sldId id="297" r:id="rId49"/>
    <p:sldId id="298" r:id="rId50"/>
    <p:sldId id="299" r:id="rId51"/>
    <p:sldId id="300" r:id="rId52"/>
    <p:sldId id="301" r:id="rId53"/>
    <p:sldId id="302" r:id="rId54"/>
    <p:sldId id="303" r:id="rId55"/>
    <p:sldId id="317" r:id="rId56"/>
    <p:sldId id="304" r:id="rId57"/>
    <p:sldId id="305" r:id="rId58"/>
    <p:sldId id="306" r:id="rId59"/>
  </p:sldIdLst>
  <p:sldSz cx="9144000" cy="6858000" type="screen4x3"/>
  <p:notesSz cx="6858000" cy="9144000"/>
  <p:custDataLst>
    <p:tags r:id="rId6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09C9"/>
    <a:srgbClr val="F3F30D"/>
    <a:srgbClr val="0066FF"/>
    <a:srgbClr val="80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howOutlineIcons="0" vertBarState="maximized">
    <p:restoredLeft sz="15620"/>
    <p:restoredTop sz="94644" autoAdjust="0"/>
  </p:normalViewPr>
  <p:slideViewPr>
    <p:cSldViewPr>
      <p:cViewPr varScale="1">
        <p:scale>
          <a:sx n="123" d="100"/>
          <a:sy n="123" d="100"/>
        </p:scale>
        <p:origin x="-1680" y="-38"/>
      </p:cViewPr>
      <p:guideLst>
        <p:guide orient="horz" pos="2160"/>
        <p:guide pos="2942"/>
      </p:guideLst>
    </p:cSldViewPr>
  </p:slideViewPr>
  <p:notesTextViewPr>
    <p:cViewPr>
      <p:scale>
        <a:sx n="100" d="100"/>
        <a:sy n="100" d="100"/>
      </p:scale>
      <p:origin x="0" y="0"/>
    </p:cViewPr>
  </p:notesTextViewPr>
  <p:sorterViewPr>
    <p:cViewPr>
      <p:scale>
        <a:sx n="100" d="100"/>
        <a:sy n="100" d="100"/>
      </p:scale>
      <p:origin x="0" y="4651"/>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D117D3-A9F0-4E91-8C11-EB71B37738CB}" type="datetimeFigureOut">
              <a:rPr lang="zh-CN" altLang="en-US" smtClean="0"/>
              <a:pPr/>
              <a:t>2023/10/10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F0CDA0-68DA-41A0-8B12-D79B0DFB404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kumimoji="1" sz="2600" b="1" i="1">
                <a:solidFill>
                  <a:srgbClr val="CC3300"/>
                </a:solidFill>
                <a:latin typeface="Times New Roman" panose="02020603050405020304" pitchFamily="18" charset="0"/>
                <a:ea typeface="楷体_GB2312" pitchFamily="49" charset="-122"/>
              </a:defRPr>
            </a:lvl1pPr>
            <a:lvl2pPr marL="742950" indent="-285750" eaLnBrk="0" hangingPunct="0">
              <a:defRPr kumimoji="1" sz="2600" b="1" i="1">
                <a:solidFill>
                  <a:srgbClr val="CC3300"/>
                </a:solidFill>
                <a:latin typeface="Times New Roman" panose="02020603050405020304" pitchFamily="18" charset="0"/>
                <a:ea typeface="楷体_GB2312" pitchFamily="49" charset="-122"/>
              </a:defRPr>
            </a:lvl2pPr>
            <a:lvl3pPr marL="1143000" indent="-228600" eaLnBrk="0" hangingPunct="0">
              <a:defRPr kumimoji="1" sz="2600" b="1" i="1">
                <a:solidFill>
                  <a:srgbClr val="CC3300"/>
                </a:solidFill>
                <a:latin typeface="Times New Roman" panose="02020603050405020304" pitchFamily="18" charset="0"/>
                <a:ea typeface="楷体_GB2312" pitchFamily="49" charset="-122"/>
              </a:defRPr>
            </a:lvl3pPr>
            <a:lvl4pPr marL="1600200" indent="-228600" eaLnBrk="0" hangingPunct="0">
              <a:defRPr kumimoji="1" sz="2600" b="1" i="1">
                <a:solidFill>
                  <a:srgbClr val="CC3300"/>
                </a:solidFill>
                <a:latin typeface="Times New Roman" panose="02020603050405020304" pitchFamily="18" charset="0"/>
                <a:ea typeface="楷体_GB2312" pitchFamily="49" charset="-122"/>
              </a:defRPr>
            </a:lvl4pPr>
            <a:lvl5pPr marL="2057400" indent="-228600" eaLnBrk="0" hangingPunct="0">
              <a:defRPr kumimoji="1" sz="2600" b="1" i="1">
                <a:solidFill>
                  <a:srgbClr val="CC33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9pPr>
          </a:lstStyle>
          <a:p>
            <a:pPr eaLnBrk="1" hangingPunct="1"/>
            <a:fld id="{8B4BCB5A-A2D7-439B-93F0-E26FD8B7928F}" type="slidenum">
              <a:rPr kumimoji="0" lang="en-US" altLang="zh-CN" sz="1200" b="0" i="0">
                <a:solidFill>
                  <a:prstClr val="black"/>
                </a:solidFill>
                <a:latin typeface="Arial" panose="020B0604020202020204" pitchFamily="34" charset="0"/>
                <a:ea typeface="宋体" panose="02010600030101010101" pitchFamily="2" charset="-122"/>
              </a:rPr>
              <a:pPr eaLnBrk="1" hangingPunct="1"/>
              <a:t>9</a:t>
            </a:fld>
            <a:endParaRPr kumimoji="0" lang="en-US" altLang="zh-CN" sz="1200" b="0" i="0">
              <a:solidFill>
                <a:prstClr val="black"/>
              </a:solidFill>
              <a:latin typeface="Arial" panose="020B0604020202020204" pitchFamily="34" charset="0"/>
              <a:ea typeface="宋体" panose="02010600030101010101" pitchFamily="2" charset="-122"/>
            </a:endParaRPr>
          </a:p>
        </p:txBody>
      </p:sp>
      <p:sp>
        <p:nvSpPr>
          <p:cNvPr id="159747" name="Rectangle 2"/>
          <p:cNvSpPr>
            <a:spLocks noGrp="1" noRot="1" noChangeAspect="1" noChangeArrowheads="1" noTextEdit="1"/>
          </p:cNvSpPr>
          <p:nvPr>
            <p:ph type="sldImg"/>
          </p:nvPr>
        </p:nvSpPr>
        <p:spPr/>
      </p:sp>
      <p:sp>
        <p:nvSpPr>
          <p:cNvPr id="159748"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p:sp>
      <p:sp>
        <p:nvSpPr>
          <p:cNvPr id="70659" name="备注占位符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smtClean="0"/>
          </a:p>
        </p:txBody>
      </p:sp>
      <p:sp>
        <p:nvSpPr>
          <p:cNvPr id="70660" name="灯片编号占位符 3"/>
          <p:cNvSpPr>
            <a:spLocks noGrp="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fld id="{EAFF8C89-0B6C-457E-B84E-80DF59D83FAF}" type="slidenum">
              <a:rPr kumimoji="0" lang="en-US" altLang="zh-CN" sz="1200" b="0">
                <a:solidFill>
                  <a:prstClr val="black"/>
                </a:solidFill>
                <a:latin typeface="Arial" panose="020B0604020202020204" pitchFamily="34" charset="0"/>
                <a:ea typeface="宋体" panose="02010600030101010101" pitchFamily="2" charset="-122"/>
              </a:rPr>
              <a:pPr/>
              <a:t>22</a:t>
            </a:fld>
            <a:endParaRPr kumimoji="0" lang="en-US" altLang="zh-CN" sz="1200" b="0">
              <a:solidFill>
                <a:prstClr val="black"/>
              </a:solidFill>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fld id="{8A9D65BE-71FE-433E-8A7A-8F1A6012C7C6}" type="slidenum">
              <a:rPr kumimoji="0" lang="en-US" altLang="zh-CN" sz="1200" b="0">
                <a:solidFill>
                  <a:prstClr val="black"/>
                </a:solidFill>
                <a:latin typeface="Arial" panose="020B0604020202020204" pitchFamily="34" charset="0"/>
                <a:ea typeface="宋体" panose="02010600030101010101" pitchFamily="2" charset="-122"/>
              </a:rPr>
              <a:pPr/>
              <a:t>30</a:t>
            </a:fld>
            <a:endParaRPr kumimoji="0" lang="en-US" altLang="zh-CN" sz="1200" b="0">
              <a:solidFill>
                <a:prstClr val="black"/>
              </a:solidFill>
              <a:latin typeface="Arial" panose="020B0604020202020204" pitchFamily="34" charset="0"/>
              <a:ea typeface="宋体" panose="02010600030101010101" pitchFamily="2" charset="-122"/>
            </a:endParaRPr>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fld id="{7E80F7DE-ADB0-4C2E-AC4F-574CF9AD52B5}" type="slidenum">
              <a:rPr kumimoji="0" lang="en-US" altLang="zh-CN" sz="1200" b="0">
                <a:solidFill>
                  <a:prstClr val="black"/>
                </a:solidFill>
                <a:latin typeface="Arial" panose="020B0604020202020204" pitchFamily="34" charset="0"/>
                <a:ea typeface="宋体" panose="02010600030101010101" pitchFamily="2" charset="-122"/>
              </a:rPr>
              <a:pPr/>
              <a:t>32</a:t>
            </a:fld>
            <a:endParaRPr kumimoji="0" lang="en-US" altLang="zh-CN" sz="1200" b="0">
              <a:solidFill>
                <a:prstClr val="black"/>
              </a:solidFill>
              <a:latin typeface="Arial" panose="020B0604020202020204" pitchFamily="34" charset="0"/>
              <a:ea typeface="宋体" panose="02010600030101010101" pitchFamily="2" charset="-122"/>
            </a:endParaRPr>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fld id="{0290C984-47B3-4078-9D61-219A10BA78CC}" type="slidenum">
              <a:rPr kumimoji="0" lang="en-US" altLang="zh-CN" sz="1200" b="0">
                <a:solidFill>
                  <a:prstClr val="black"/>
                </a:solidFill>
                <a:latin typeface="Arial" panose="020B0604020202020204" pitchFamily="34" charset="0"/>
                <a:ea typeface="宋体" panose="02010600030101010101" pitchFamily="2" charset="-122"/>
              </a:rPr>
              <a:pPr/>
              <a:t>34</a:t>
            </a:fld>
            <a:endParaRPr kumimoji="0" lang="en-US" altLang="zh-CN" sz="1200" b="0">
              <a:solidFill>
                <a:prstClr val="black"/>
              </a:solidFill>
              <a:latin typeface="Arial" panose="020B0604020202020204" pitchFamily="34" charset="0"/>
              <a:ea typeface="宋体" panose="02010600030101010101" pitchFamily="2" charset="-122"/>
            </a:endParaRPr>
          </a:p>
        </p:txBody>
      </p:sp>
      <p:sp>
        <p:nvSpPr>
          <p:cNvPr id="73731" name="Rectangle 2"/>
          <p:cNvSpPr>
            <a:spLocks noGrp="1" noRot="1" noChangeAspect="1" noChangeArrowheads="1" noTextEdit="1"/>
          </p:cNvSpPr>
          <p:nvPr>
            <p:ph type="sldImg"/>
          </p:nvPr>
        </p:nvSpPr>
        <p:spPr/>
      </p:sp>
      <p:sp>
        <p:nvSpPr>
          <p:cNvPr id="73732"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fld id="{DA7D82AF-3EB0-4328-9FA4-5854FFC6BC1E}" type="slidenum">
              <a:rPr kumimoji="0" lang="en-US" altLang="zh-CN" sz="1200" b="0">
                <a:solidFill>
                  <a:prstClr val="black"/>
                </a:solidFill>
                <a:latin typeface="Arial" panose="020B0604020202020204" pitchFamily="34" charset="0"/>
                <a:ea typeface="宋体" panose="02010600030101010101" pitchFamily="2" charset="-122"/>
              </a:rPr>
              <a:pPr/>
              <a:t>35</a:t>
            </a:fld>
            <a:endParaRPr kumimoji="0" lang="en-US" altLang="zh-CN" sz="1200" b="0">
              <a:solidFill>
                <a:prstClr val="black"/>
              </a:solidFill>
              <a:latin typeface="Arial" panose="020B0604020202020204" pitchFamily="34" charset="0"/>
              <a:ea typeface="宋体" panose="02010600030101010101" pitchFamily="2" charset="-122"/>
            </a:endParaRPr>
          </a:p>
        </p:txBody>
      </p:sp>
      <p:sp>
        <p:nvSpPr>
          <p:cNvPr id="74755" name="Rectangle 2"/>
          <p:cNvSpPr>
            <a:spLocks noGrp="1" noRot="1" noChangeAspect="1" noChangeArrowheads="1" noTextEdit="1"/>
          </p:cNvSpPr>
          <p:nvPr>
            <p:ph type="sldImg"/>
          </p:nvPr>
        </p:nvSpPr>
        <p:spPr/>
      </p:sp>
      <p:sp>
        <p:nvSpPr>
          <p:cNvPr id="74756"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fld id="{22D774C9-2BD5-48DF-881B-5349EE01B82D}" type="slidenum">
              <a:rPr kumimoji="0" lang="en-US" altLang="zh-CN" sz="1200" b="0">
                <a:solidFill>
                  <a:prstClr val="black"/>
                </a:solidFill>
                <a:latin typeface="Arial" panose="020B0604020202020204" pitchFamily="34" charset="0"/>
                <a:ea typeface="宋体" panose="02010600030101010101" pitchFamily="2" charset="-122"/>
              </a:rPr>
              <a:pPr/>
              <a:t>36</a:t>
            </a:fld>
            <a:endParaRPr kumimoji="0" lang="en-US" altLang="zh-CN" sz="1200" b="0">
              <a:solidFill>
                <a:prstClr val="black"/>
              </a:solidFill>
              <a:latin typeface="Arial" panose="020B0604020202020204" pitchFamily="34" charset="0"/>
              <a:ea typeface="宋体" panose="02010600030101010101" pitchFamily="2" charset="-122"/>
            </a:endParaRPr>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fld id="{7823E1D5-94C1-45DA-A504-3199B558B765}" type="slidenum">
              <a:rPr kumimoji="0" lang="en-US" altLang="zh-CN" sz="1200" b="0">
                <a:solidFill>
                  <a:prstClr val="black"/>
                </a:solidFill>
                <a:latin typeface="Arial" panose="020B0604020202020204" pitchFamily="34" charset="0"/>
                <a:ea typeface="宋体" panose="02010600030101010101" pitchFamily="2" charset="-122"/>
              </a:rPr>
              <a:pPr/>
              <a:t>37</a:t>
            </a:fld>
            <a:endParaRPr kumimoji="0" lang="en-US" altLang="zh-CN" sz="1200" b="0">
              <a:solidFill>
                <a:prstClr val="black"/>
              </a:solidFill>
              <a:latin typeface="Arial" panose="020B0604020202020204" pitchFamily="34" charset="0"/>
              <a:ea typeface="宋体" panose="02010600030101010101" pitchFamily="2" charset="-122"/>
            </a:endParaRPr>
          </a:p>
        </p:txBody>
      </p:sp>
      <p:sp>
        <p:nvSpPr>
          <p:cNvPr id="76803" name="Rectangle 2"/>
          <p:cNvSpPr>
            <a:spLocks noGrp="1" noRot="1" noChangeAspect="1" noChangeArrowheads="1" noTextEdit="1"/>
          </p:cNvSpPr>
          <p:nvPr>
            <p:ph type="sldImg"/>
          </p:nvPr>
        </p:nvSpPr>
        <p:spPr/>
      </p:sp>
      <p:sp>
        <p:nvSpPr>
          <p:cNvPr id="76804"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fld id="{8DE9A01F-9E12-4AD9-9B90-96B28D01DA46}" type="slidenum">
              <a:rPr kumimoji="0" lang="en-US" altLang="zh-CN" sz="1200" b="0">
                <a:solidFill>
                  <a:prstClr val="black"/>
                </a:solidFill>
                <a:latin typeface="Arial" panose="020B0604020202020204" pitchFamily="34" charset="0"/>
                <a:ea typeface="宋体" panose="02010600030101010101" pitchFamily="2" charset="-122"/>
              </a:rPr>
              <a:pPr/>
              <a:t>38</a:t>
            </a:fld>
            <a:endParaRPr kumimoji="0" lang="en-US" altLang="zh-CN" sz="1200" b="0">
              <a:solidFill>
                <a:prstClr val="black"/>
              </a:solidFill>
              <a:latin typeface="Arial" panose="020B0604020202020204" pitchFamily="34" charset="0"/>
              <a:ea typeface="宋体" panose="02010600030101010101" pitchFamily="2" charset="-122"/>
            </a:endParaRPr>
          </a:p>
        </p:txBody>
      </p:sp>
      <p:sp>
        <p:nvSpPr>
          <p:cNvPr id="77827" name="Rectangle 2"/>
          <p:cNvSpPr>
            <a:spLocks noGrp="1" noRot="1" noChangeAspect="1" noChangeArrowheads="1" noTextEdit="1"/>
          </p:cNvSpPr>
          <p:nvPr>
            <p:ph type="sldImg"/>
          </p:nvPr>
        </p:nvSpPr>
        <p:spPr/>
      </p:sp>
      <p:sp>
        <p:nvSpPr>
          <p:cNvPr id="77828"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fld id="{638F35B2-52EF-4CD6-A539-8B13353012B3}" type="slidenum">
              <a:rPr kumimoji="0" lang="en-US" altLang="zh-CN" sz="1200" b="0">
                <a:solidFill>
                  <a:prstClr val="black"/>
                </a:solidFill>
                <a:latin typeface="Arial" panose="020B0604020202020204" pitchFamily="34" charset="0"/>
                <a:ea typeface="宋体" panose="02010600030101010101" pitchFamily="2" charset="-122"/>
              </a:rPr>
              <a:pPr/>
              <a:t>39</a:t>
            </a:fld>
            <a:endParaRPr kumimoji="0" lang="en-US" altLang="zh-CN" sz="1200" b="0">
              <a:solidFill>
                <a:prstClr val="black"/>
              </a:solidFill>
              <a:latin typeface="Arial" panose="020B0604020202020204" pitchFamily="34" charset="0"/>
              <a:ea typeface="宋体" panose="02010600030101010101" pitchFamily="2" charset="-122"/>
            </a:endParaRPr>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fld id="{16CC4FF9-588F-486C-AEFA-EAF3791DA3E0}" type="slidenum">
              <a:rPr kumimoji="0" lang="en-US" altLang="zh-CN" sz="1200" b="0">
                <a:solidFill>
                  <a:prstClr val="black"/>
                </a:solidFill>
                <a:latin typeface="Arial" panose="020B0604020202020204" pitchFamily="34" charset="0"/>
                <a:ea typeface="宋体" panose="02010600030101010101" pitchFamily="2" charset="-122"/>
              </a:rPr>
              <a:pPr/>
              <a:t>41</a:t>
            </a:fld>
            <a:endParaRPr kumimoji="0" lang="en-US" altLang="zh-CN" sz="1200" b="0">
              <a:solidFill>
                <a:prstClr val="black"/>
              </a:solidFill>
              <a:latin typeface="Arial" panose="020B0604020202020204" pitchFamily="34" charset="0"/>
              <a:ea typeface="宋体" panose="02010600030101010101" pitchFamily="2" charset="-122"/>
            </a:endParaRPr>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fld id="{EF9FE63C-9247-453E-AA3A-CAC66CE50712}" type="slidenum">
              <a:rPr kumimoji="0" lang="en-US" altLang="zh-CN" sz="1200" b="0">
                <a:solidFill>
                  <a:prstClr val="black"/>
                </a:solidFill>
                <a:latin typeface="Arial" panose="020B0604020202020204" pitchFamily="34" charset="0"/>
                <a:ea typeface="宋体" panose="02010600030101010101" pitchFamily="2" charset="-122"/>
              </a:rPr>
              <a:pPr/>
              <a:t>53</a:t>
            </a:fld>
            <a:endParaRPr kumimoji="0" lang="en-US" altLang="zh-CN" sz="1200" b="0">
              <a:solidFill>
                <a:prstClr val="black"/>
              </a:solidFill>
              <a:latin typeface="Arial" panose="020B0604020202020204" pitchFamily="34" charset="0"/>
              <a:ea typeface="宋体" panose="02010600030101010101" pitchFamily="2" charset="-122"/>
            </a:endParaRPr>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fld id="{610A5D62-C836-4232-A76D-5A2850114092}" type="slidenum">
              <a:rPr kumimoji="0" lang="en-US" altLang="zh-CN" sz="1200" b="0">
                <a:solidFill>
                  <a:prstClr val="black"/>
                </a:solidFill>
                <a:latin typeface="Arial" panose="020B0604020202020204" pitchFamily="34" charset="0"/>
                <a:ea typeface="宋体" panose="02010600030101010101" pitchFamily="2" charset="-122"/>
              </a:rPr>
              <a:pPr/>
              <a:t>55</a:t>
            </a:fld>
            <a:endParaRPr kumimoji="0" lang="en-US" altLang="zh-CN" sz="1200" b="0">
              <a:solidFill>
                <a:prstClr val="black"/>
              </a:solidFill>
              <a:latin typeface="Arial" panose="020B0604020202020204" pitchFamily="34" charset="0"/>
              <a:ea typeface="宋体" panose="02010600030101010101" pitchFamily="2" charset="-122"/>
            </a:endParaRPr>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slideMaster" Target="../slideMasters/slideMaster2.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slide" Target="../slides/slide2.xml"/><Relationship Id="rId4" Type="http://schemas.openxmlformats.org/officeDocument/2006/relationships/oleObject" Target="../embeddings/oleObject5.bin"/></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600200"/>
            <a:ext cx="4038600" cy="2185988"/>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57200" y="3938588"/>
            <a:ext cx="4038600" cy="218757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648200" y="3938588"/>
            <a:ext cx="4038600" cy="218757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600200"/>
            <a:ext cx="8229600" cy="4525963"/>
          </a:xfrm>
          <a:prstGeom prst="rect">
            <a:avLst/>
          </a:prstGeom>
        </p:spPr>
        <p:txBody>
          <a:bodyPr/>
          <a:lstStyle/>
          <a:p>
            <a:pPr lvl="0"/>
            <a:endParaRPr lang="zh-CN" altLang="en-US" noProof="0" smtClean="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438400" y="304800"/>
            <a:ext cx="6467475" cy="6248400"/>
          </a:xfrm>
          <a:prstGeom prst="rect">
            <a:avLst/>
          </a:prstGeom>
          <a:solidFill>
            <a:srgbClr val="EDEEE9"/>
          </a:solidFill>
          <a:ln w="9525">
            <a:noFill/>
            <a:miter lim="800000"/>
          </a:ln>
        </p:spPr>
        <p:txBody>
          <a:bodyPr wrap="none" anchor="ctr"/>
          <a:lstStyle/>
          <a:p>
            <a:pPr algn="ctr" fontAlgn="base">
              <a:spcBef>
                <a:spcPct val="0"/>
              </a:spcBef>
              <a:spcAft>
                <a:spcPct val="0"/>
              </a:spcAft>
              <a:defRPr/>
            </a:pPr>
            <a:endParaRPr lang="zh-CN" altLang="zh-CN" sz="2200" b="1">
              <a:solidFill>
                <a:srgbClr val="080808"/>
              </a:solidFill>
              <a:latin typeface="Times New Roman" panose="02020603050405020304" pitchFamily="18" charset="0"/>
              <a:ea typeface="楷体_GB2312" pitchFamily="49" charset="-122"/>
            </a:endParaRPr>
          </a:p>
        </p:txBody>
      </p:sp>
      <p:grpSp>
        <p:nvGrpSpPr>
          <p:cNvPr id="5" name="Group 8"/>
          <p:cNvGrpSpPr/>
          <p:nvPr userDrawn="1"/>
        </p:nvGrpSpPr>
        <p:grpSpPr bwMode="auto">
          <a:xfrm>
            <a:off x="2189163" y="914400"/>
            <a:ext cx="6958012" cy="76200"/>
            <a:chOff x="1920" y="849"/>
            <a:chExt cx="4992" cy="63"/>
          </a:xfrm>
        </p:grpSpPr>
        <p:sp>
          <p:nvSpPr>
            <p:cNvPr id="6" name="Rectangle 9"/>
            <p:cNvSpPr>
              <a:spLocks noChangeArrowheads="1"/>
            </p:cNvSpPr>
            <p:nvPr/>
          </p:nvSpPr>
          <p:spPr bwMode="auto">
            <a:xfrm>
              <a:off x="1920" y="849"/>
              <a:ext cx="4992" cy="49"/>
            </a:xfrm>
            <a:prstGeom prst="rect">
              <a:avLst/>
            </a:prstGeom>
            <a:gradFill rotWithShape="1">
              <a:gsLst>
                <a:gs pos="0">
                  <a:srgbClr val="8488C4"/>
                </a:gs>
                <a:gs pos="26500">
                  <a:srgbClr val="D4DEFF"/>
                </a:gs>
                <a:gs pos="41499">
                  <a:srgbClr val="D4DEFF"/>
                </a:gs>
                <a:gs pos="50000">
                  <a:srgbClr val="96AB94"/>
                </a:gs>
                <a:gs pos="58501">
                  <a:srgbClr val="D4DEFF"/>
                </a:gs>
                <a:gs pos="73500">
                  <a:srgbClr val="D4DEFF"/>
                </a:gs>
                <a:gs pos="100000">
                  <a:srgbClr val="8488C4"/>
                </a:gs>
              </a:gsLst>
              <a:lin ang="5400000" scaled="1"/>
            </a:gradFill>
            <a:ln w="57150" cap="rnd" cmpd="thinThick">
              <a:noFill/>
              <a:prstDash val="sysDot"/>
              <a:miter lim="800000"/>
              <a:headEnd type="none" w="sm" len="sm"/>
              <a:tailEnd type="none" w="sm" len="sm"/>
            </a:ln>
          </p:spPr>
          <p:txBody>
            <a:bodyPr wrap="none" anchor="ctr"/>
            <a:lstStyle/>
            <a:p>
              <a:pPr fontAlgn="base">
                <a:spcBef>
                  <a:spcPct val="0"/>
                </a:spcBef>
                <a:spcAft>
                  <a:spcPct val="0"/>
                </a:spcAft>
                <a:defRPr/>
              </a:pPr>
              <a:endParaRPr kumimoji="1" lang="zh-CN" altLang="en-US" sz="2600" b="1" i="1">
                <a:solidFill>
                  <a:srgbClr val="CC3300"/>
                </a:solidFill>
                <a:latin typeface="Times New Roman" panose="02020603050405020304" pitchFamily="18" charset="0"/>
                <a:ea typeface="楷体_GB2312" pitchFamily="49" charset="-122"/>
              </a:endParaRPr>
            </a:p>
          </p:txBody>
        </p:sp>
        <p:sp>
          <p:nvSpPr>
            <p:cNvPr id="7" name="Rectangle 10"/>
            <p:cNvSpPr>
              <a:spLocks noChangeArrowheads="1"/>
            </p:cNvSpPr>
            <p:nvPr/>
          </p:nvSpPr>
          <p:spPr bwMode="white">
            <a:xfrm>
              <a:off x="1920" y="864"/>
              <a:ext cx="4992" cy="48"/>
            </a:xfrm>
            <a:prstGeom prst="rect">
              <a:avLst/>
            </a:prstGeom>
            <a:gradFill rotWithShape="1">
              <a:gsLst>
                <a:gs pos="0">
                  <a:srgbClr val="8488C4"/>
                </a:gs>
                <a:gs pos="26500">
                  <a:srgbClr val="D4DEFF">
                    <a:alpha val="68730"/>
                  </a:srgbClr>
                </a:gs>
                <a:gs pos="41500">
                  <a:srgbClr val="D4DEFF">
                    <a:alpha val="51030"/>
                  </a:srgbClr>
                </a:gs>
                <a:gs pos="50000">
                  <a:srgbClr val="96AB94">
                    <a:alpha val="41000"/>
                  </a:srgbClr>
                </a:gs>
                <a:gs pos="58500">
                  <a:srgbClr val="D4DEFF">
                    <a:alpha val="51030"/>
                  </a:srgbClr>
                </a:gs>
                <a:gs pos="73500">
                  <a:srgbClr val="D4DEFF">
                    <a:alpha val="68730"/>
                  </a:srgbClr>
                </a:gs>
                <a:gs pos="100000">
                  <a:srgbClr val="8488C4"/>
                </a:gs>
              </a:gsLst>
              <a:lin ang="5400000" scaled="1"/>
            </a:gradFill>
            <a:ln w="57150" cap="rnd" cmpd="thinThick">
              <a:noFill/>
              <a:prstDash val="sysDot"/>
              <a:miter lim="800000"/>
              <a:headEnd type="none" w="sm" len="sm"/>
              <a:tailEnd type="none" w="sm" len="sm"/>
            </a:ln>
            <a:effectLst/>
          </p:spPr>
          <p:txBody>
            <a:bodyPr wrap="none" anchor="ctr"/>
            <a:lstStyle/>
            <a:p>
              <a:pPr fontAlgn="base">
                <a:spcBef>
                  <a:spcPct val="0"/>
                </a:spcBef>
                <a:spcAft>
                  <a:spcPct val="0"/>
                </a:spcAft>
                <a:defRPr/>
              </a:pPr>
              <a:endParaRPr kumimoji="1" lang="zh-CN" altLang="en-US" sz="2600" b="1" i="1">
                <a:solidFill>
                  <a:srgbClr val="CC3300"/>
                </a:solidFill>
                <a:latin typeface="Times New Roman" panose="02020603050405020304" pitchFamily="18" charset="0"/>
                <a:ea typeface="楷体_GB2312" pitchFamily="49" charset="-122"/>
              </a:endParaRPr>
            </a:p>
          </p:txBody>
        </p:sp>
      </p:grpSp>
      <p:grpSp>
        <p:nvGrpSpPr>
          <p:cNvPr id="8" name="Group 11"/>
          <p:cNvGrpSpPr/>
          <p:nvPr userDrawn="1"/>
        </p:nvGrpSpPr>
        <p:grpSpPr bwMode="auto">
          <a:xfrm>
            <a:off x="0" y="-1588"/>
            <a:ext cx="9155113" cy="6858001"/>
            <a:chOff x="0" y="-1"/>
            <a:chExt cx="6925" cy="4320"/>
          </a:xfrm>
        </p:grpSpPr>
        <p:sp>
          <p:nvSpPr>
            <p:cNvPr id="9" name="Rectangle 12"/>
            <p:cNvSpPr>
              <a:spLocks noChangeArrowheads="1"/>
            </p:cNvSpPr>
            <p:nvPr userDrawn="1"/>
          </p:nvSpPr>
          <p:spPr bwMode="auto">
            <a:xfrm>
              <a:off x="0" y="188"/>
              <a:ext cx="1637" cy="3936"/>
            </a:xfrm>
            <a:prstGeom prst="rect">
              <a:avLst/>
            </a:prstGeom>
            <a:solidFill>
              <a:srgbClr val="EDEEE9"/>
            </a:solidFill>
            <a:ln w="9525">
              <a:noFill/>
              <a:miter lim="800000"/>
            </a:ln>
          </p:spPr>
          <p:txBody>
            <a:bodyPr wrap="none" anchor="ctr"/>
            <a:lstStyle/>
            <a:p>
              <a:pPr algn="ctr" fontAlgn="base">
                <a:spcBef>
                  <a:spcPct val="0"/>
                </a:spcBef>
                <a:spcAft>
                  <a:spcPct val="0"/>
                </a:spcAft>
                <a:defRPr/>
              </a:pPr>
              <a:endParaRPr lang="zh-CN" altLang="zh-CN" sz="2200" b="1">
                <a:solidFill>
                  <a:srgbClr val="080808"/>
                </a:solidFill>
                <a:latin typeface="Times New Roman" panose="02020603050405020304" pitchFamily="18" charset="0"/>
                <a:ea typeface="楷体_GB2312" pitchFamily="49" charset="-122"/>
              </a:endParaRPr>
            </a:p>
          </p:txBody>
        </p:sp>
        <p:grpSp>
          <p:nvGrpSpPr>
            <p:cNvPr id="10" name="Group 13"/>
            <p:cNvGrpSpPr/>
            <p:nvPr userDrawn="1"/>
          </p:nvGrpSpPr>
          <p:grpSpPr bwMode="auto">
            <a:xfrm>
              <a:off x="0" y="-1"/>
              <a:ext cx="6925" cy="4320"/>
              <a:chOff x="0" y="-1"/>
              <a:chExt cx="6925" cy="4320"/>
            </a:xfrm>
          </p:grpSpPr>
          <p:sp>
            <p:nvSpPr>
              <p:cNvPr id="11" name="Rectangle 14"/>
              <p:cNvSpPr>
                <a:spLocks noChangeArrowheads="1"/>
              </p:cNvSpPr>
              <p:nvPr userDrawn="1"/>
            </p:nvSpPr>
            <p:spPr bwMode="blackWhite">
              <a:xfrm>
                <a:off x="11" y="4138"/>
                <a:ext cx="6914" cy="181"/>
              </a:xfrm>
              <a:prstGeom prst="rect">
                <a:avLst/>
              </a:prstGeom>
              <a:solidFill>
                <a:srgbClr val="D7E5ED"/>
              </a:solidFill>
              <a:ln w="9525">
                <a:noFill/>
                <a:miter lim="800000"/>
              </a:ln>
            </p:spPr>
            <p:txBody>
              <a:bodyPr/>
              <a:lstStyle/>
              <a:p>
                <a:pPr fontAlgn="base">
                  <a:spcBef>
                    <a:spcPct val="0"/>
                  </a:spcBef>
                  <a:spcAft>
                    <a:spcPct val="0"/>
                  </a:spcAft>
                  <a:defRPr/>
                </a:pPr>
                <a:endParaRPr kumimoji="1" lang="zh-CN" altLang="zh-CN" sz="2400">
                  <a:solidFill>
                    <a:srgbClr val="080808"/>
                  </a:solidFill>
                  <a:latin typeface="Times New Roman" panose="02020603050405020304" pitchFamily="18" charset="0"/>
                </a:endParaRPr>
              </a:p>
            </p:txBody>
          </p:sp>
          <p:sp>
            <p:nvSpPr>
              <p:cNvPr id="12" name="Rectangle 15"/>
              <p:cNvSpPr>
                <a:spLocks noChangeArrowheads="1"/>
              </p:cNvSpPr>
              <p:nvPr userDrawn="1"/>
            </p:nvSpPr>
            <p:spPr bwMode="blackWhite">
              <a:xfrm>
                <a:off x="0" y="-1"/>
                <a:ext cx="6914" cy="181"/>
              </a:xfrm>
              <a:prstGeom prst="rect">
                <a:avLst/>
              </a:prstGeom>
              <a:solidFill>
                <a:srgbClr val="D7E5ED"/>
              </a:solidFill>
              <a:ln w="9525">
                <a:noFill/>
                <a:miter lim="800000"/>
              </a:ln>
            </p:spPr>
            <p:txBody>
              <a:bodyPr wrap="none" lIns="92075" tIns="0" rIns="92075" bIns="46037"/>
              <a:lstStyle/>
              <a:p>
                <a:pPr fontAlgn="base">
                  <a:spcBef>
                    <a:spcPct val="0"/>
                  </a:spcBef>
                  <a:spcAft>
                    <a:spcPct val="0"/>
                  </a:spcAft>
                  <a:defRPr/>
                </a:pPr>
                <a:r>
                  <a:rPr lang="en-US" altLang="zh-CN" sz="1200" i="1">
                    <a:solidFill>
                      <a:srgbClr val="FFCC66"/>
                    </a:solidFill>
                    <a:latin typeface="Times New Roman" panose="02020603050405020304" pitchFamily="18" charset="0"/>
                  </a:rPr>
                  <a:t>				                                                                            Department of Material and Engineering, Soochow University</a:t>
                </a:r>
              </a:p>
            </p:txBody>
          </p:sp>
          <p:sp>
            <p:nvSpPr>
              <p:cNvPr id="13" name="Rectangle 16"/>
              <p:cNvSpPr>
                <a:spLocks noChangeArrowheads="1"/>
              </p:cNvSpPr>
              <p:nvPr userDrawn="1"/>
            </p:nvSpPr>
            <p:spPr bwMode="blackWhite">
              <a:xfrm rot="5400000">
                <a:off x="4670" y="2068"/>
                <a:ext cx="4320" cy="181"/>
              </a:xfrm>
              <a:prstGeom prst="rect">
                <a:avLst/>
              </a:prstGeom>
              <a:solidFill>
                <a:srgbClr val="D7E5ED"/>
              </a:solidFill>
              <a:ln w="9525">
                <a:noFill/>
                <a:miter lim="800000"/>
              </a:ln>
            </p:spPr>
            <p:txBody>
              <a:bodyPr rot="10800000" vert="eaVert"/>
              <a:lstStyle/>
              <a:p>
                <a:pPr fontAlgn="base">
                  <a:spcBef>
                    <a:spcPct val="0"/>
                  </a:spcBef>
                  <a:spcAft>
                    <a:spcPct val="0"/>
                  </a:spcAft>
                  <a:defRPr/>
                </a:pPr>
                <a:endParaRPr kumimoji="1" lang="zh-CN" altLang="zh-CN" sz="2400">
                  <a:solidFill>
                    <a:srgbClr val="080808"/>
                  </a:solidFill>
                  <a:latin typeface="Times New Roman" panose="02020603050405020304" pitchFamily="18" charset="0"/>
                </a:endParaRPr>
              </a:p>
            </p:txBody>
          </p:sp>
          <p:sp>
            <p:nvSpPr>
              <p:cNvPr id="14" name="Rectangle 17"/>
              <p:cNvSpPr>
                <a:spLocks noChangeArrowheads="1"/>
              </p:cNvSpPr>
              <p:nvPr userDrawn="1"/>
            </p:nvSpPr>
            <p:spPr bwMode="blackWhite">
              <a:xfrm rot="5400000">
                <a:off x="6735" y="-1"/>
                <a:ext cx="181" cy="181"/>
              </a:xfrm>
              <a:prstGeom prst="rect">
                <a:avLst/>
              </a:prstGeom>
              <a:gradFill rotWithShape="1">
                <a:gsLst>
                  <a:gs pos="0">
                    <a:srgbClr val="FFFCFF"/>
                  </a:gs>
                  <a:gs pos="100000">
                    <a:srgbClr val="D7E5ED"/>
                  </a:gs>
                </a:gsLst>
                <a:path path="shape">
                  <a:fillToRect l="50000" t="50000" r="50000" b="50000"/>
                </a:path>
              </a:gradFill>
              <a:ln w="9525">
                <a:noFill/>
                <a:miter lim="800000"/>
              </a:ln>
            </p:spPr>
            <p:txBody>
              <a:bodyPr rot="10800000" vert="eaVert"/>
              <a:lstStyle/>
              <a:p>
                <a:pPr fontAlgn="base">
                  <a:spcBef>
                    <a:spcPct val="0"/>
                  </a:spcBef>
                  <a:spcAft>
                    <a:spcPct val="0"/>
                  </a:spcAft>
                  <a:defRPr/>
                </a:pPr>
                <a:endParaRPr kumimoji="1" lang="zh-CN" altLang="zh-CN" sz="2400">
                  <a:solidFill>
                    <a:srgbClr val="080808"/>
                  </a:solidFill>
                  <a:latin typeface="Times New Roman" panose="02020603050405020304" pitchFamily="18" charset="0"/>
                </a:endParaRPr>
              </a:p>
            </p:txBody>
          </p:sp>
          <p:sp>
            <p:nvSpPr>
              <p:cNvPr id="15" name="Rectangle 18"/>
              <p:cNvSpPr>
                <a:spLocks noChangeArrowheads="1"/>
              </p:cNvSpPr>
              <p:nvPr userDrawn="1"/>
            </p:nvSpPr>
            <p:spPr bwMode="blackWhite">
              <a:xfrm rot="5400000">
                <a:off x="-425" y="2068"/>
                <a:ext cx="4320" cy="181"/>
              </a:xfrm>
              <a:prstGeom prst="rect">
                <a:avLst/>
              </a:prstGeom>
              <a:solidFill>
                <a:srgbClr val="D7E5ED"/>
              </a:solidFill>
              <a:ln w="9525">
                <a:noFill/>
                <a:miter lim="800000"/>
              </a:ln>
            </p:spPr>
            <p:txBody>
              <a:bodyPr rot="10800000" vert="eaVert"/>
              <a:lstStyle/>
              <a:p>
                <a:pPr fontAlgn="base">
                  <a:spcBef>
                    <a:spcPct val="0"/>
                  </a:spcBef>
                  <a:spcAft>
                    <a:spcPct val="0"/>
                  </a:spcAft>
                  <a:defRPr/>
                </a:pPr>
                <a:endParaRPr kumimoji="1" lang="zh-CN" altLang="zh-CN" sz="2400">
                  <a:solidFill>
                    <a:srgbClr val="080808"/>
                  </a:solidFill>
                  <a:latin typeface="Times New Roman" panose="02020603050405020304" pitchFamily="18" charset="0"/>
                </a:endParaRPr>
              </a:p>
            </p:txBody>
          </p:sp>
          <p:sp>
            <p:nvSpPr>
              <p:cNvPr id="16" name="Rectangle 19"/>
              <p:cNvSpPr>
                <a:spLocks noChangeArrowheads="1"/>
              </p:cNvSpPr>
              <p:nvPr userDrawn="1"/>
            </p:nvSpPr>
            <p:spPr bwMode="blackWhite">
              <a:xfrm rot="5400000">
                <a:off x="1656" y="4138"/>
                <a:ext cx="181" cy="181"/>
              </a:xfrm>
              <a:prstGeom prst="rect">
                <a:avLst/>
              </a:prstGeom>
              <a:gradFill rotWithShape="1">
                <a:gsLst>
                  <a:gs pos="0">
                    <a:srgbClr val="FFFCFF"/>
                  </a:gs>
                  <a:gs pos="100000">
                    <a:srgbClr val="D7E5ED"/>
                  </a:gs>
                </a:gsLst>
                <a:path path="shape">
                  <a:fillToRect l="50000" t="50000" r="50000" b="50000"/>
                </a:path>
              </a:gradFill>
              <a:ln w="9525">
                <a:noFill/>
                <a:miter lim="800000"/>
              </a:ln>
            </p:spPr>
            <p:txBody>
              <a:bodyPr rot="10800000" vert="eaVert"/>
              <a:lstStyle/>
              <a:p>
                <a:pPr fontAlgn="base">
                  <a:spcBef>
                    <a:spcPct val="0"/>
                  </a:spcBef>
                  <a:spcAft>
                    <a:spcPct val="0"/>
                  </a:spcAft>
                  <a:defRPr/>
                </a:pPr>
                <a:endParaRPr kumimoji="1" lang="zh-CN" altLang="zh-CN" sz="2400">
                  <a:solidFill>
                    <a:srgbClr val="080808"/>
                  </a:solidFill>
                  <a:latin typeface="Times New Roman" panose="02020603050405020304" pitchFamily="18" charset="0"/>
                </a:endParaRPr>
              </a:p>
            </p:txBody>
          </p:sp>
          <p:sp>
            <p:nvSpPr>
              <p:cNvPr id="17" name="Rectangle 20"/>
              <p:cNvSpPr>
                <a:spLocks noChangeArrowheads="1"/>
              </p:cNvSpPr>
              <p:nvPr userDrawn="1"/>
            </p:nvSpPr>
            <p:spPr bwMode="blackWhite">
              <a:xfrm rot="5400000">
                <a:off x="1656" y="-1"/>
                <a:ext cx="181" cy="181"/>
              </a:xfrm>
              <a:prstGeom prst="rect">
                <a:avLst/>
              </a:prstGeom>
              <a:gradFill rotWithShape="1">
                <a:gsLst>
                  <a:gs pos="0">
                    <a:srgbClr val="FFFCFF"/>
                  </a:gs>
                  <a:gs pos="100000">
                    <a:srgbClr val="D7E5ED"/>
                  </a:gs>
                </a:gsLst>
                <a:path path="shape">
                  <a:fillToRect l="50000" t="50000" r="50000" b="50000"/>
                </a:path>
              </a:gradFill>
              <a:ln w="9525">
                <a:noFill/>
                <a:miter lim="800000"/>
              </a:ln>
            </p:spPr>
            <p:txBody>
              <a:bodyPr rot="10800000" vert="eaVert"/>
              <a:lstStyle/>
              <a:p>
                <a:pPr fontAlgn="base">
                  <a:spcBef>
                    <a:spcPct val="0"/>
                  </a:spcBef>
                  <a:spcAft>
                    <a:spcPct val="0"/>
                  </a:spcAft>
                  <a:defRPr/>
                </a:pPr>
                <a:endParaRPr kumimoji="1" lang="zh-CN" altLang="zh-CN" sz="2400">
                  <a:solidFill>
                    <a:srgbClr val="080808"/>
                  </a:solidFill>
                  <a:latin typeface="Times New Roman" panose="02020603050405020304" pitchFamily="18" charset="0"/>
                </a:endParaRPr>
              </a:p>
            </p:txBody>
          </p:sp>
          <p:sp>
            <p:nvSpPr>
              <p:cNvPr id="18" name="Rectangle 21"/>
              <p:cNvSpPr>
                <a:spLocks noChangeArrowheads="1"/>
              </p:cNvSpPr>
              <p:nvPr userDrawn="1"/>
            </p:nvSpPr>
            <p:spPr bwMode="blackWhite">
              <a:xfrm rot="5400000">
                <a:off x="6735" y="4138"/>
                <a:ext cx="181" cy="181"/>
              </a:xfrm>
              <a:prstGeom prst="rect">
                <a:avLst/>
              </a:prstGeom>
              <a:gradFill rotWithShape="1">
                <a:gsLst>
                  <a:gs pos="0">
                    <a:srgbClr val="FFFCFF"/>
                  </a:gs>
                  <a:gs pos="100000">
                    <a:srgbClr val="D7E5ED"/>
                  </a:gs>
                </a:gsLst>
                <a:path path="shape">
                  <a:fillToRect l="50000" t="50000" r="50000" b="50000"/>
                </a:path>
              </a:gradFill>
              <a:ln w="9525">
                <a:noFill/>
                <a:miter lim="800000"/>
              </a:ln>
            </p:spPr>
            <p:txBody>
              <a:bodyPr rot="10800000" vert="eaVert"/>
              <a:lstStyle/>
              <a:p>
                <a:pPr fontAlgn="base">
                  <a:spcBef>
                    <a:spcPct val="0"/>
                  </a:spcBef>
                  <a:spcAft>
                    <a:spcPct val="0"/>
                  </a:spcAft>
                  <a:defRPr/>
                </a:pPr>
                <a:endParaRPr kumimoji="1" lang="zh-CN" altLang="zh-CN" sz="2400">
                  <a:solidFill>
                    <a:srgbClr val="080808"/>
                  </a:solidFill>
                  <a:latin typeface="Times New Roman" panose="02020603050405020304" pitchFamily="18" charset="0"/>
                </a:endParaRPr>
              </a:p>
            </p:txBody>
          </p:sp>
        </p:grpSp>
      </p:grpSp>
      <p:graphicFrame>
        <p:nvGraphicFramePr>
          <p:cNvPr id="19" name="Object 22">
            <a:hlinkClick r:id="rId3" action="ppaction://hlinksldjump"/>
          </p:cNvPr>
          <p:cNvGraphicFramePr>
            <a:graphicFrameLocks noChangeAspect="1"/>
          </p:cNvGraphicFramePr>
          <p:nvPr userDrawn="1"/>
        </p:nvGraphicFramePr>
        <p:xfrm>
          <a:off x="309563" y="-42863"/>
          <a:ext cx="790575" cy="377826"/>
        </p:xfrm>
        <a:graphic>
          <a:graphicData uri="http://schemas.openxmlformats.org/presentationml/2006/ole">
            <p:oleObj spid="_x0000_s18434" name="CS ChemDraw Drawing" r:id="rId4" imgW="3314700" imgH="1581150" progId="">
              <p:embed/>
            </p:oleObj>
          </a:graphicData>
        </a:graphic>
      </p:graphicFrame>
      <p:graphicFrame>
        <p:nvGraphicFramePr>
          <p:cNvPr id="20" name="Object 23">
            <a:hlinkClick r:id="rId5" action="ppaction://hlinksldjump"/>
          </p:cNvPr>
          <p:cNvGraphicFramePr>
            <a:graphicFrameLocks noChangeAspect="1"/>
          </p:cNvGraphicFramePr>
          <p:nvPr userDrawn="1"/>
        </p:nvGraphicFramePr>
        <p:xfrm>
          <a:off x="1146175" y="-42863"/>
          <a:ext cx="796925" cy="377826"/>
        </p:xfrm>
        <a:graphic>
          <a:graphicData uri="http://schemas.openxmlformats.org/presentationml/2006/ole">
            <p:oleObj spid="_x0000_s18433" name="CS ChemDraw Drawing" r:id="rId6" imgW="3314700" imgH="1571625" progId="">
              <p:embed/>
            </p:oleObj>
          </a:graphicData>
        </a:graphic>
      </p:graphicFrame>
      <p:sp>
        <p:nvSpPr>
          <p:cNvPr id="21" name="Rectangle 24"/>
          <p:cNvSpPr>
            <a:spLocks noChangeArrowheads="1"/>
          </p:cNvSpPr>
          <p:nvPr userDrawn="1"/>
        </p:nvSpPr>
        <p:spPr bwMode="auto">
          <a:xfrm>
            <a:off x="152400" y="457200"/>
            <a:ext cx="1212850" cy="641350"/>
          </a:xfrm>
          <a:prstGeom prst="rect">
            <a:avLst/>
          </a:prstGeom>
          <a:noFill/>
          <a:ln w="9525">
            <a:noFill/>
            <a:miter lim="800000"/>
          </a:ln>
        </p:spPr>
        <p:txBody>
          <a:bodyPr wrap="none">
            <a:spAutoFit/>
          </a:bodyPr>
          <a:lstStyle/>
          <a:p>
            <a:pPr algn="ctr" fontAlgn="base">
              <a:spcBef>
                <a:spcPct val="0"/>
              </a:spcBef>
              <a:spcAft>
                <a:spcPct val="0"/>
              </a:spcAft>
              <a:defRPr/>
            </a:pPr>
            <a:r>
              <a:rPr lang="en-US" altLang="zh-CN" b="1" i="1">
                <a:solidFill>
                  <a:srgbClr val="FF00FF"/>
                </a:solidFill>
                <a:latin typeface="隶书" panose="02010509060101010101" pitchFamily="49" charset="-122"/>
                <a:ea typeface="隶书" panose="02010509060101010101" pitchFamily="49" charset="-122"/>
              </a:rPr>
              <a:t>Inorganic</a:t>
            </a:r>
          </a:p>
          <a:p>
            <a:pPr algn="ctr" fontAlgn="base">
              <a:spcBef>
                <a:spcPct val="0"/>
              </a:spcBef>
              <a:spcAft>
                <a:spcPct val="0"/>
              </a:spcAft>
              <a:defRPr/>
            </a:pPr>
            <a:r>
              <a:rPr lang="en-US" altLang="zh-CN" b="1" i="1">
                <a:solidFill>
                  <a:srgbClr val="FF00FF"/>
                </a:solidFill>
                <a:latin typeface="隶书" panose="02010509060101010101" pitchFamily="49" charset="-122"/>
                <a:ea typeface="隶书" panose="02010509060101010101" pitchFamily="49" charset="-122"/>
              </a:rPr>
              <a:t>chemistry</a:t>
            </a:r>
          </a:p>
        </p:txBody>
      </p:sp>
      <p:sp>
        <p:nvSpPr>
          <p:cNvPr id="120834" name="Rectangle 2"/>
          <p:cNvSpPr>
            <a:spLocks noGrp="1" noRot="1" noChangeArrowheads="1"/>
          </p:cNvSpPr>
          <p:nvPr>
            <p:ph type="ctrTitle"/>
          </p:nvPr>
        </p:nvSpPr>
        <p:spPr>
          <a:xfrm>
            <a:off x="685800" y="2286000"/>
            <a:ext cx="7772400" cy="1143000"/>
          </a:xfrm>
        </p:spPr>
        <p:txBody>
          <a:bodyPr/>
          <a:lstStyle>
            <a:lvl1pPr>
              <a:defRPr/>
            </a:lvl1pPr>
          </a:lstStyle>
          <a:p>
            <a:r>
              <a:rPr lang="zh-CN" altLang="en-US"/>
              <a:t>单击此处编辑母版标题样式</a:t>
            </a:r>
          </a:p>
        </p:txBody>
      </p:sp>
      <p:sp>
        <p:nvSpPr>
          <p:cNvPr id="120835" name="Rectangle 3"/>
          <p:cNvSpPr>
            <a:spLocks noGrp="1" noRot="1" noChangeArrowheads="1"/>
          </p:cNvSpPr>
          <p:nvPr>
            <p:ph type="subTitle" idx="1"/>
          </p:nvPr>
        </p:nvSpPr>
        <p:spPr>
          <a:xfrm>
            <a:off x="1371600" y="3886200"/>
            <a:ext cx="6400800" cy="1752600"/>
          </a:xfrm>
        </p:spPr>
        <p:txBody>
          <a:bodyPr/>
          <a:lstStyle>
            <a:lvl1pPr marL="0" indent="0" algn="ctr">
              <a:buFont typeface="Wingdings 2" panose="05020102010507070707" pitchFamily="18" charset="2"/>
              <a:buNone/>
              <a:defRPr/>
            </a:lvl1pPr>
          </a:lstStyle>
          <a:p>
            <a:r>
              <a:rPr lang="zh-CN" altLang="en-US"/>
              <a:t>单击此处编辑母版副标题样式</a:t>
            </a:r>
          </a:p>
        </p:txBody>
      </p:sp>
      <p:sp>
        <p:nvSpPr>
          <p:cNvPr id="22" name="Rectangle 4"/>
          <p:cNvSpPr>
            <a:spLocks noGrp="1" noChangeArrowheads="1"/>
          </p:cNvSpPr>
          <p:nvPr>
            <p:ph type="dt" sz="half" idx="10"/>
          </p:nvPr>
        </p:nvSpPr>
        <p:spPr/>
        <p:txBody>
          <a:bodyPr/>
          <a:lstStyle>
            <a:lvl1pPr>
              <a:defRPr/>
            </a:lvl1pPr>
          </a:lstStyle>
          <a:p>
            <a:pPr>
              <a:defRPr/>
            </a:pPr>
            <a:endParaRPr lang="en-US" altLang="zh-CN">
              <a:solidFill>
                <a:srgbClr val="080808"/>
              </a:solidFill>
            </a:endParaRPr>
          </a:p>
        </p:txBody>
      </p:sp>
      <p:sp>
        <p:nvSpPr>
          <p:cNvPr id="23" name="Rectangle 5"/>
          <p:cNvSpPr>
            <a:spLocks noGrp="1" noChangeArrowheads="1"/>
          </p:cNvSpPr>
          <p:nvPr>
            <p:ph type="ftr" sz="quarter" idx="11"/>
          </p:nvPr>
        </p:nvSpPr>
        <p:spPr/>
        <p:txBody>
          <a:bodyPr/>
          <a:lstStyle>
            <a:lvl1pPr>
              <a:defRPr/>
            </a:lvl1pPr>
          </a:lstStyle>
          <a:p>
            <a:pPr>
              <a:defRPr/>
            </a:pPr>
            <a:endParaRPr lang="en-US" altLang="zh-CN">
              <a:solidFill>
                <a:srgbClr val="080808"/>
              </a:solidFill>
            </a:endParaRPr>
          </a:p>
        </p:txBody>
      </p:sp>
      <p:sp>
        <p:nvSpPr>
          <p:cNvPr id="24" name="Rectangle 6"/>
          <p:cNvSpPr>
            <a:spLocks noGrp="1" noChangeArrowheads="1"/>
          </p:cNvSpPr>
          <p:nvPr>
            <p:ph type="sldNum" sz="quarter" idx="12"/>
          </p:nvPr>
        </p:nvSpPr>
        <p:spPr/>
        <p:txBody>
          <a:bodyPr/>
          <a:lstStyle>
            <a:lvl1pPr>
              <a:defRPr/>
            </a:lvl1pPr>
          </a:lstStyle>
          <a:p>
            <a:pPr>
              <a:defRPr/>
            </a:pPr>
            <a:fld id="{57B1CA3F-A4A6-4663-8A25-3CA730B12E16}" type="slidenum">
              <a:rPr lang="en-US" altLang="zh-CN">
                <a:solidFill>
                  <a:srgbClr val="080808"/>
                </a:solidFill>
              </a:rPr>
              <a:pPr>
                <a:defRPr/>
              </a:pPr>
              <a:t>‹#›</a:t>
            </a:fld>
            <a:endParaRPr lang="en-US" altLang="zh-CN">
              <a:solidFill>
                <a:srgbClr val="080808"/>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solidFill>
                <a:srgbClr val="080808"/>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srgbClr val="080808"/>
              </a:solidFill>
            </a:endParaRPr>
          </a:p>
        </p:txBody>
      </p:sp>
      <p:sp>
        <p:nvSpPr>
          <p:cNvPr id="6" name="灯片编号占位符 5"/>
          <p:cNvSpPr>
            <a:spLocks noGrp="1"/>
          </p:cNvSpPr>
          <p:nvPr>
            <p:ph type="sldNum" sz="quarter" idx="12"/>
          </p:nvPr>
        </p:nvSpPr>
        <p:spPr/>
        <p:txBody>
          <a:bodyPr/>
          <a:lstStyle>
            <a:lvl1pPr>
              <a:defRPr/>
            </a:lvl1pPr>
          </a:lstStyle>
          <a:p>
            <a:pPr>
              <a:defRPr/>
            </a:pPr>
            <a:fld id="{6BA0943D-6037-4FCF-8864-97D7038C8400}" type="slidenum">
              <a:rPr lang="en-US" altLang="zh-CN">
                <a:solidFill>
                  <a:srgbClr val="080808"/>
                </a:solidFill>
              </a:rPr>
              <a:pPr>
                <a:defRPr/>
              </a:pPr>
              <a:t>‹#›</a:t>
            </a:fld>
            <a:endParaRPr lang="en-US" altLang="zh-CN">
              <a:solidFill>
                <a:srgbClr val="080808"/>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solidFill>
                <a:srgbClr val="080808"/>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srgbClr val="080808"/>
              </a:solidFill>
            </a:endParaRPr>
          </a:p>
        </p:txBody>
      </p:sp>
      <p:sp>
        <p:nvSpPr>
          <p:cNvPr id="6" name="灯片编号占位符 5"/>
          <p:cNvSpPr>
            <a:spLocks noGrp="1"/>
          </p:cNvSpPr>
          <p:nvPr>
            <p:ph type="sldNum" sz="quarter" idx="12"/>
          </p:nvPr>
        </p:nvSpPr>
        <p:spPr/>
        <p:txBody>
          <a:bodyPr/>
          <a:lstStyle>
            <a:lvl1pPr>
              <a:defRPr/>
            </a:lvl1pPr>
          </a:lstStyle>
          <a:p>
            <a:pPr>
              <a:defRPr/>
            </a:pPr>
            <a:fld id="{FFFFDF5C-2315-4426-B605-55656573C113}" type="slidenum">
              <a:rPr lang="en-US" altLang="zh-CN">
                <a:solidFill>
                  <a:srgbClr val="080808"/>
                </a:solidFill>
              </a:rPr>
              <a:pPr>
                <a:defRPr/>
              </a:pPr>
              <a:t>‹#›</a:t>
            </a:fld>
            <a:endParaRPr lang="en-US" altLang="zh-CN">
              <a:solidFill>
                <a:srgbClr val="080808"/>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pPr>
              <a:defRPr/>
            </a:pPr>
            <a:endParaRPr lang="en-US" altLang="zh-CN">
              <a:solidFill>
                <a:srgbClr val="080808"/>
              </a:solidFill>
            </a:endParaRPr>
          </a:p>
        </p:txBody>
      </p:sp>
      <p:sp>
        <p:nvSpPr>
          <p:cNvPr id="6" name="页脚占位符 5"/>
          <p:cNvSpPr>
            <a:spLocks noGrp="1"/>
          </p:cNvSpPr>
          <p:nvPr>
            <p:ph type="ftr" sz="quarter" idx="11"/>
          </p:nvPr>
        </p:nvSpPr>
        <p:spPr/>
        <p:txBody>
          <a:bodyPr/>
          <a:lstStyle>
            <a:lvl1pPr>
              <a:defRPr/>
            </a:lvl1pPr>
          </a:lstStyle>
          <a:p>
            <a:pPr>
              <a:defRPr/>
            </a:pPr>
            <a:endParaRPr lang="en-US" altLang="zh-CN">
              <a:solidFill>
                <a:srgbClr val="080808"/>
              </a:solidFill>
            </a:endParaRPr>
          </a:p>
        </p:txBody>
      </p:sp>
      <p:sp>
        <p:nvSpPr>
          <p:cNvPr id="7" name="灯片编号占位符 6"/>
          <p:cNvSpPr>
            <a:spLocks noGrp="1"/>
          </p:cNvSpPr>
          <p:nvPr>
            <p:ph type="sldNum" sz="quarter" idx="12"/>
          </p:nvPr>
        </p:nvSpPr>
        <p:spPr/>
        <p:txBody>
          <a:bodyPr/>
          <a:lstStyle>
            <a:lvl1pPr>
              <a:defRPr/>
            </a:lvl1pPr>
          </a:lstStyle>
          <a:p>
            <a:pPr>
              <a:defRPr/>
            </a:pPr>
            <a:fld id="{ACA49376-5041-4893-8F23-B7FAF42E2B4A}" type="slidenum">
              <a:rPr lang="en-US" altLang="zh-CN">
                <a:solidFill>
                  <a:srgbClr val="080808"/>
                </a:solidFill>
              </a:rPr>
              <a:pPr>
                <a:defRPr/>
              </a:pPr>
              <a:t>‹#›</a:t>
            </a:fld>
            <a:endParaRPr lang="en-US" altLang="zh-CN">
              <a:solidFill>
                <a:srgbClr val="080808"/>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pPr>
              <a:defRPr/>
            </a:pPr>
            <a:endParaRPr lang="en-US" altLang="zh-CN">
              <a:solidFill>
                <a:srgbClr val="080808"/>
              </a:solidFill>
            </a:endParaRPr>
          </a:p>
        </p:txBody>
      </p:sp>
      <p:sp>
        <p:nvSpPr>
          <p:cNvPr id="8" name="页脚占位符 7"/>
          <p:cNvSpPr>
            <a:spLocks noGrp="1"/>
          </p:cNvSpPr>
          <p:nvPr>
            <p:ph type="ftr" sz="quarter" idx="11"/>
          </p:nvPr>
        </p:nvSpPr>
        <p:spPr/>
        <p:txBody>
          <a:bodyPr/>
          <a:lstStyle>
            <a:lvl1pPr>
              <a:defRPr/>
            </a:lvl1pPr>
          </a:lstStyle>
          <a:p>
            <a:pPr>
              <a:defRPr/>
            </a:pPr>
            <a:endParaRPr lang="en-US" altLang="zh-CN">
              <a:solidFill>
                <a:srgbClr val="080808"/>
              </a:solidFill>
            </a:endParaRPr>
          </a:p>
        </p:txBody>
      </p:sp>
      <p:sp>
        <p:nvSpPr>
          <p:cNvPr id="9" name="灯片编号占位符 8"/>
          <p:cNvSpPr>
            <a:spLocks noGrp="1"/>
          </p:cNvSpPr>
          <p:nvPr>
            <p:ph type="sldNum" sz="quarter" idx="12"/>
          </p:nvPr>
        </p:nvSpPr>
        <p:spPr/>
        <p:txBody>
          <a:bodyPr/>
          <a:lstStyle>
            <a:lvl1pPr>
              <a:defRPr/>
            </a:lvl1pPr>
          </a:lstStyle>
          <a:p>
            <a:pPr>
              <a:defRPr/>
            </a:pPr>
            <a:fld id="{562CBC67-240F-419E-ABFD-FE882355FF1D}" type="slidenum">
              <a:rPr lang="en-US" altLang="zh-CN">
                <a:solidFill>
                  <a:srgbClr val="080808"/>
                </a:solidFill>
              </a:rPr>
              <a:pPr>
                <a:defRPr/>
              </a:pPr>
              <a:t>‹#›</a:t>
            </a:fld>
            <a:endParaRPr lang="en-US" altLang="zh-CN">
              <a:solidFill>
                <a:srgbClr val="080808"/>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endParaRPr lang="en-US" altLang="zh-CN">
              <a:solidFill>
                <a:srgbClr val="080808"/>
              </a:solidFill>
            </a:endParaRPr>
          </a:p>
        </p:txBody>
      </p:sp>
      <p:sp>
        <p:nvSpPr>
          <p:cNvPr id="4" name="页脚占位符 3"/>
          <p:cNvSpPr>
            <a:spLocks noGrp="1"/>
          </p:cNvSpPr>
          <p:nvPr>
            <p:ph type="ftr" sz="quarter" idx="11"/>
          </p:nvPr>
        </p:nvSpPr>
        <p:spPr/>
        <p:txBody>
          <a:bodyPr/>
          <a:lstStyle>
            <a:lvl1pPr>
              <a:defRPr/>
            </a:lvl1pPr>
          </a:lstStyle>
          <a:p>
            <a:pPr>
              <a:defRPr/>
            </a:pPr>
            <a:endParaRPr lang="en-US" altLang="zh-CN">
              <a:solidFill>
                <a:srgbClr val="080808"/>
              </a:solidFill>
            </a:endParaRPr>
          </a:p>
        </p:txBody>
      </p:sp>
      <p:sp>
        <p:nvSpPr>
          <p:cNvPr id="5" name="灯片编号占位符 4"/>
          <p:cNvSpPr>
            <a:spLocks noGrp="1"/>
          </p:cNvSpPr>
          <p:nvPr>
            <p:ph type="sldNum" sz="quarter" idx="12"/>
          </p:nvPr>
        </p:nvSpPr>
        <p:spPr/>
        <p:txBody>
          <a:bodyPr/>
          <a:lstStyle>
            <a:lvl1pPr>
              <a:defRPr/>
            </a:lvl1pPr>
          </a:lstStyle>
          <a:p>
            <a:pPr>
              <a:defRPr/>
            </a:pPr>
            <a:fld id="{C4390F3B-5A19-4F9E-BAA4-1F5891E0F0EA}" type="slidenum">
              <a:rPr lang="en-US" altLang="zh-CN">
                <a:solidFill>
                  <a:srgbClr val="080808"/>
                </a:solidFill>
              </a:rPr>
              <a:pPr>
                <a:defRPr/>
              </a:pPr>
              <a:t>‹#›</a:t>
            </a:fld>
            <a:endParaRPr lang="en-US" altLang="zh-CN">
              <a:solidFill>
                <a:srgbClr val="080808"/>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endParaRPr lang="en-US" altLang="zh-CN">
              <a:solidFill>
                <a:srgbClr val="080808"/>
              </a:solidFill>
            </a:endParaRPr>
          </a:p>
        </p:txBody>
      </p:sp>
      <p:sp>
        <p:nvSpPr>
          <p:cNvPr id="3" name="页脚占位符 2"/>
          <p:cNvSpPr>
            <a:spLocks noGrp="1"/>
          </p:cNvSpPr>
          <p:nvPr>
            <p:ph type="ftr" sz="quarter" idx="11"/>
          </p:nvPr>
        </p:nvSpPr>
        <p:spPr/>
        <p:txBody>
          <a:bodyPr/>
          <a:lstStyle>
            <a:lvl1pPr>
              <a:defRPr/>
            </a:lvl1pPr>
          </a:lstStyle>
          <a:p>
            <a:pPr>
              <a:defRPr/>
            </a:pPr>
            <a:endParaRPr lang="en-US" altLang="zh-CN">
              <a:solidFill>
                <a:srgbClr val="080808"/>
              </a:solidFill>
            </a:endParaRPr>
          </a:p>
        </p:txBody>
      </p:sp>
      <p:sp>
        <p:nvSpPr>
          <p:cNvPr id="4" name="灯片编号占位符 3"/>
          <p:cNvSpPr>
            <a:spLocks noGrp="1"/>
          </p:cNvSpPr>
          <p:nvPr>
            <p:ph type="sldNum" sz="quarter" idx="12"/>
          </p:nvPr>
        </p:nvSpPr>
        <p:spPr/>
        <p:txBody>
          <a:bodyPr/>
          <a:lstStyle>
            <a:lvl1pPr>
              <a:defRPr/>
            </a:lvl1pPr>
          </a:lstStyle>
          <a:p>
            <a:pPr>
              <a:defRPr/>
            </a:pPr>
            <a:fld id="{565AE680-6B80-415D-8311-4637536F5844}" type="slidenum">
              <a:rPr lang="en-US" altLang="zh-CN">
                <a:solidFill>
                  <a:srgbClr val="080808"/>
                </a:solidFill>
              </a:rPr>
              <a:pPr>
                <a:defRPr/>
              </a:pPr>
              <a:t>‹#›</a:t>
            </a:fld>
            <a:endParaRPr lang="en-US" altLang="zh-CN">
              <a:solidFill>
                <a:srgbClr val="080808"/>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pPr>
              <a:defRPr/>
            </a:pPr>
            <a:endParaRPr lang="en-US" altLang="zh-CN">
              <a:solidFill>
                <a:srgbClr val="080808"/>
              </a:solidFill>
            </a:endParaRPr>
          </a:p>
        </p:txBody>
      </p:sp>
      <p:sp>
        <p:nvSpPr>
          <p:cNvPr id="6" name="页脚占位符 5"/>
          <p:cNvSpPr>
            <a:spLocks noGrp="1"/>
          </p:cNvSpPr>
          <p:nvPr>
            <p:ph type="ftr" sz="quarter" idx="11"/>
          </p:nvPr>
        </p:nvSpPr>
        <p:spPr/>
        <p:txBody>
          <a:bodyPr/>
          <a:lstStyle>
            <a:lvl1pPr>
              <a:defRPr/>
            </a:lvl1pPr>
          </a:lstStyle>
          <a:p>
            <a:pPr>
              <a:defRPr/>
            </a:pPr>
            <a:endParaRPr lang="en-US" altLang="zh-CN">
              <a:solidFill>
                <a:srgbClr val="080808"/>
              </a:solidFill>
            </a:endParaRPr>
          </a:p>
        </p:txBody>
      </p:sp>
      <p:sp>
        <p:nvSpPr>
          <p:cNvPr id="7" name="灯片编号占位符 6"/>
          <p:cNvSpPr>
            <a:spLocks noGrp="1"/>
          </p:cNvSpPr>
          <p:nvPr>
            <p:ph type="sldNum" sz="quarter" idx="12"/>
          </p:nvPr>
        </p:nvSpPr>
        <p:spPr/>
        <p:txBody>
          <a:bodyPr/>
          <a:lstStyle>
            <a:lvl1pPr>
              <a:defRPr/>
            </a:lvl1pPr>
          </a:lstStyle>
          <a:p>
            <a:pPr>
              <a:defRPr/>
            </a:pPr>
            <a:fld id="{1A6C81B0-C75E-4889-AA3F-BB3F068A997F}" type="slidenum">
              <a:rPr lang="en-US" altLang="zh-CN">
                <a:solidFill>
                  <a:srgbClr val="080808"/>
                </a:solidFill>
              </a:rPr>
              <a:pPr>
                <a:defRPr/>
              </a:pPr>
              <a:t>‹#›</a:t>
            </a:fld>
            <a:endParaRPr lang="en-US" altLang="zh-CN">
              <a:solidFill>
                <a:srgbClr val="080808"/>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pPr>
              <a:defRPr/>
            </a:pPr>
            <a:endParaRPr lang="en-US" altLang="zh-CN">
              <a:solidFill>
                <a:srgbClr val="080808"/>
              </a:solidFill>
            </a:endParaRPr>
          </a:p>
        </p:txBody>
      </p:sp>
      <p:sp>
        <p:nvSpPr>
          <p:cNvPr id="6" name="页脚占位符 5"/>
          <p:cNvSpPr>
            <a:spLocks noGrp="1"/>
          </p:cNvSpPr>
          <p:nvPr>
            <p:ph type="ftr" sz="quarter" idx="11"/>
          </p:nvPr>
        </p:nvSpPr>
        <p:spPr/>
        <p:txBody>
          <a:bodyPr/>
          <a:lstStyle>
            <a:lvl1pPr>
              <a:defRPr/>
            </a:lvl1pPr>
          </a:lstStyle>
          <a:p>
            <a:pPr>
              <a:defRPr/>
            </a:pPr>
            <a:endParaRPr lang="en-US" altLang="zh-CN">
              <a:solidFill>
                <a:srgbClr val="080808"/>
              </a:solidFill>
            </a:endParaRPr>
          </a:p>
        </p:txBody>
      </p:sp>
      <p:sp>
        <p:nvSpPr>
          <p:cNvPr id="7" name="灯片编号占位符 6"/>
          <p:cNvSpPr>
            <a:spLocks noGrp="1"/>
          </p:cNvSpPr>
          <p:nvPr>
            <p:ph type="sldNum" sz="quarter" idx="12"/>
          </p:nvPr>
        </p:nvSpPr>
        <p:spPr/>
        <p:txBody>
          <a:bodyPr/>
          <a:lstStyle>
            <a:lvl1pPr>
              <a:defRPr/>
            </a:lvl1pPr>
          </a:lstStyle>
          <a:p>
            <a:pPr>
              <a:defRPr/>
            </a:pPr>
            <a:fld id="{7B90C69E-73B7-4BD5-9EB6-972703F5C09F}" type="slidenum">
              <a:rPr lang="en-US" altLang="zh-CN">
                <a:solidFill>
                  <a:srgbClr val="080808"/>
                </a:solidFill>
              </a:rPr>
              <a:pPr>
                <a:defRPr/>
              </a:pPr>
              <a:t>‹#›</a:t>
            </a:fld>
            <a:endParaRPr lang="en-US" altLang="zh-CN">
              <a:solidFill>
                <a:srgbClr val="080808"/>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solidFill>
                <a:srgbClr val="080808"/>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srgbClr val="080808"/>
              </a:solidFill>
            </a:endParaRPr>
          </a:p>
        </p:txBody>
      </p:sp>
      <p:sp>
        <p:nvSpPr>
          <p:cNvPr id="6" name="灯片编号占位符 5"/>
          <p:cNvSpPr>
            <a:spLocks noGrp="1"/>
          </p:cNvSpPr>
          <p:nvPr>
            <p:ph type="sldNum" sz="quarter" idx="12"/>
          </p:nvPr>
        </p:nvSpPr>
        <p:spPr/>
        <p:txBody>
          <a:bodyPr/>
          <a:lstStyle>
            <a:lvl1pPr>
              <a:defRPr/>
            </a:lvl1pPr>
          </a:lstStyle>
          <a:p>
            <a:pPr>
              <a:defRPr/>
            </a:pPr>
            <a:fld id="{01F1488E-44DB-4718-938C-5F2F1A3089BF}" type="slidenum">
              <a:rPr lang="en-US" altLang="zh-CN">
                <a:solidFill>
                  <a:srgbClr val="080808"/>
                </a:solidFill>
              </a:rPr>
              <a:pPr>
                <a:defRPr/>
              </a:pPr>
              <a:t>‹#›</a:t>
            </a:fld>
            <a:endParaRPr lang="en-US" altLang="zh-CN">
              <a:solidFill>
                <a:srgbClr val="080808"/>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228600"/>
            <a:ext cx="2135187" cy="5870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228600"/>
            <a:ext cx="6253163" cy="58705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solidFill>
                <a:srgbClr val="080808"/>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srgbClr val="080808"/>
              </a:solidFill>
            </a:endParaRPr>
          </a:p>
        </p:txBody>
      </p:sp>
      <p:sp>
        <p:nvSpPr>
          <p:cNvPr id="6" name="灯片编号占位符 5"/>
          <p:cNvSpPr>
            <a:spLocks noGrp="1"/>
          </p:cNvSpPr>
          <p:nvPr>
            <p:ph type="sldNum" sz="quarter" idx="12"/>
          </p:nvPr>
        </p:nvSpPr>
        <p:spPr/>
        <p:txBody>
          <a:bodyPr/>
          <a:lstStyle>
            <a:lvl1pPr>
              <a:defRPr/>
            </a:lvl1pPr>
          </a:lstStyle>
          <a:p>
            <a:pPr>
              <a:defRPr/>
            </a:pPr>
            <a:fld id="{D7C9863D-D25F-4704-871D-0344B3144A90}" type="slidenum">
              <a:rPr lang="en-US" altLang="zh-CN">
                <a:solidFill>
                  <a:srgbClr val="080808"/>
                </a:solidFill>
              </a:rPr>
              <a:pPr>
                <a:defRPr/>
              </a:pPr>
              <a:t>‹#›</a:t>
            </a:fld>
            <a:endParaRPr lang="en-US" altLang="zh-CN">
              <a:solidFill>
                <a:srgbClr val="080808"/>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228600"/>
            <a:ext cx="8540750" cy="5870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lvl1pPr>
              <a:defRPr/>
            </a:lvl1pPr>
          </a:lstStyle>
          <a:p>
            <a:pPr>
              <a:defRPr/>
            </a:pPr>
            <a:endParaRPr lang="en-US" altLang="zh-CN">
              <a:solidFill>
                <a:srgbClr val="080808"/>
              </a:solidFill>
            </a:endParaRPr>
          </a:p>
        </p:txBody>
      </p:sp>
      <p:sp>
        <p:nvSpPr>
          <p:cNvPr id="4" name="页脚占位符 3"/>
          <p:cNvSpPr>
            <a:spLocks noGrp="1"/>
          </p:cNvSpPr>
          <p:nvPr>
            <p:ph type="ftr" sz="quarter" idx="11"/>
          </p:nvPr>
        </p:nvSpPr>
        <p:spPr/>
        <p:txBody>
          <a:bodyPr/>
          <a:lstStyle>
            <a:lvl1pPr>
              <a:defRPr/>
            </a:lvl1pPr>
          </a:lstStyle>
          <a:p>
            <a:pPr>
              <a:defRPr/>
            </a:pPr>
            <a:endParaRPr lang="en-US" altLang="zh-CN">
              <a:solidFill>
                <a:srgbClr val="080808"/>
              </a:solidFill>
            </a:endParaRPr>
          </a:p>
        </p:txBody>
      </p:sp>
      <p:sp>
        <p:nvSpPr>
          <p:cNvPr id="5" name="灯片编号占位符 4"/>
          <p:cNvSpPr>
            <a:spLocks noGrp="1"/>
          </p:cNvSpPr>
          <p:nvPr>
            <p:ph type="sldNum" sz="quarter" idx="12"/>
          </p:nvPr>
        </p:nvSpPr>
        <p:spPr/>
        <p:txBody>
          <a:bodyPr/>
          <a:lstStyle>
            <a:lvl1pPr>
              <a:defRPr/>
            </a:lvl1pPr>
          </a:lstStyle>
          <a:p>
            <a:pPr>
              <a:defRPr/>
            </a:pPr>
            <a:fld id="{6CD0650D-E232-46F4-B89B-35BE3B102526}" type="slidenum">
              <a:rPr lang="en-US" altLang="zh-CN">
                <a:solidFill>
                  <a:srgbClr val="080808"/>
                </a:solidFill>
              </a:rPr>
              <a:pPr>
                <a:defRPr/>
              </a:pPr>
              <a:t>‹#›</a:t>
            </a:fld>
            <a:endParaRPr lang="en-US" altLang="zh-CN">
              <a:solidFill>
                <a:srgbClr val="080808"/>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228600"/>
            <a:ext cx="8540750" cy="114300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600200"/>
            <a:ext cx="4194175" cy="44989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194175" cy="2173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25888"/>
            <a:ext cx="4194175" cy="21732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p:txBody>
          <a:bodyPr/>
          <a:lstStyle>
            <a:lvl1pPr>
              <a:defRPr/>
            </a:lvl1pPr>
          </a:lstStyle>
          <a:p>
            <a:pPr>
              <a:defRPr/>
            </a:pPr>
            <a:endParaRPr lang="en-US" altLang="zh-CN">
              <a:solidFill>
                <a:srgbClr val="080808"/>
              </a:solidFill>
            </a:endParaRPr>
          </a:p>
        </p:txBody>
      </p:sp>
      <p:sp>
        <p:nvSpPr>
          <p:cNvPr id="7" name="页脚占位符 6"/>
          <p:cNvSpPr>
            <a:spLocks noGrp="1"/>
          </p:cNvSpPr>
          <p:nvPr>
            <p:ph type="ftr" sz="quarter" idx="11"/>
          </p:nvPr>
        </p:nvSpPr>
        <p:spPr/>
        <p:txBody>
          <a:bodyPr/>
          <a:lstStyle>
            <a:lvl1pPr>
              <a:defRPr/>
            </a:lvl1pPr>
          </a:lstStyle>
          <a:p>
            <a:pPr>
              <a:defRPr/>
            </a:pPr>
            <a:endParaRPr lang="en-US" altLang="zh-CN">
              <a:solidFill>
                <a:srgbClr val="080808"/>
              </a:solidFill>
            </a:endParaRPr>
          </a:p>
        </p:txBody>
      </p:sp>
      <p:sp>
        <p:nvSpPr>
          <p:cNvPr id="8" name="灯片编号占位符 7"/>
          <p:cNvSpPr>
            <a:spLocks noGrp="1"/>
          </p:cNvSpPr>
          <p:nvPr>
            <p:ph type="sldNum" sz="quarter" idx="12"/>
          </p:nvPr>
        </p:nvSpPr>
        <p:spPr/>
        <p:txBody>
          <a:bodyPr/>
          <a:lstStyle>
            <a:lvl1pPr>
              <a:defRPr/>
            </a:lvl1pPr>
          </a:lstStyle>
          <a:p>
            <a:pPr>
              <a:defRPr/>
            </a:pPr>
            <a:fld id="{DFDB7B4C-9823-4453-8E13-093928F1D417}" type="slidenum">
              <a:rPr lang="en-US" altLang="zh-CN">
                <a:solidFill>
                  <a:srgbClr val="080808"/>
                </a:solidFill>
              </a:rPr>
              <a:pPr>
                <a:defRPr/>
              </a:pPr>
              <a:t>‹#›</a:t>
            </a:fld>
            <a:endParaRPr lang="en-US" altLang="zh-CN">
              <a:solidFill>
                <a:srgbClr val="080808"/>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 Target="../slides/slide26.xml"/><Relationship Id="rId3" Type="http://schemas.openxmlformats.org/officeDocument/2006/relationships/slideLayout" Target="../slideLayouts/slideLayout3.xml"/><Relationship Id="rId21" Type="http://schemas.openxmlformats.org/officeDocument/2006/relationships/oleObject" Target="../embeddings/oleObject2.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vmlDrawing" Target="../drawings/vmlDrawing1.vml"/><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slide" Target="../slides/slide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 Target="../slides/slid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oleObject" Target="../embeddings/oleObject3.bin"/><Relationship Id="rId2" Type="http://schemas.openxmlformats.org/officeDocument/2006/relationships/slideLayout" Target="../slideLayouts/slideLayout17.xml"/><Relationship Id="rId16" Type="http://schemas.openxmlformats.org/officeDocument/2006/relationships/slide" Target="../slides/slide26.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vmlDrawing" Target="../drawings/vmlDrawing2.vml"/><Relationship Id="rId10" Type="http://schemas.openxmlformats.org/officeDocument/2006/relationships/slideLayout" Target="../slideLayouts/slideLayout25.xml"/><Relationship Id="rId19" Type="http://schemas.openxmlformats.org/officeDocument/2006/relationships/oleObject" Target="../embeddings/oleObject4.bin"/><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ChangeArrowheads="1"/>
          </p:cNvSpPr>
          <p:nvPr userDrawn="1"/>
        </p:nvSpPr>
        <p:spPr bwMode="auto">
          <a:xfrm>
            <a:off x="2438400" y="304800"/>
            <a:ext cx="6467475" cy="6248400"/>
          </a:xfrm>
          <a:prstGeom prst="rect">
            <a:avLst/>
          </a:prstGeom>
          <a:solidFill>
            <a:srgbClr val="EDEEE9"/>
          </a:solidFill>
          <a:ln w="9525">
            <a:noFill/>
            <a:miter lim="800000"/>
          </a:ln>
          <a:effectLst/>
        </p:spPr>
        <p:txBody>
          <a:bodyPr wrap="none" anchor="ctr"/>
          <a:lstStyle/>
          <a:p>
            <a:pPr algn="ctr" fontAlgn="base">
              <a:spcBef>
                <a:spcPct val="0"/>
              </a:spcBef>
              <a:spcAft>
                <a:spcPct val="0"/>
              </a:spcAft>
              <a:defRPr/>
            </a:pPr>
            <a:endParaRPr lang="zh-CN" altLang="zh-CN" sz="2200" b="1">
              <a:solidFill>
                <a:srgbClr val="000000"/>
              </a:solidFill>
              <a:latin typeface="Times New Roman" panose="02020603050405020304" pitchFamily="18" charset="0"/>
              <a:ea typeface="楷体_GB2312" pitchFamily="49" charset="-122"/>
            </a:endParaRPr>
          </a:p>
        </p:txBody>
      </p:sp>
      <p:grpSp>
        <p:nvGrpSpPr>
          <p:cNvPr id="1030" name="Group 3"/>
          <p:cNvGrpSpPr/>
          <p:nvPr userDrawn="1"/>
        </p:nvGrpSpPr>
        <p:grpSpPr bwMode="auto">
          <a:xfrm>
            <a:off x="2189163" y="914400"/>
            <a:ext cx="6958012" cy="76200"/>
            <a:chOff x="1920" y="849"/>
            <a:chExt cx="4992" cy="63"/>
          </a:xfrm>
        </p:grpSpPr>
        <p:sp>
          <p:nvSpPr>
            <p:cNvPr id="5124" name="Rectangle 4"/>
            <p:cNvSpPr>
              <a:spLocks noChangeArrowheads="1"/>
            </p:cNvSpPr>
            <p:nvPr/>
          </p:nvSpPr>
          <p:spPr bwMode="auto">
            <a:xfrm>
              <a:off x="1920" y="849"/>
              <a:ext cx="4992" cy="49"/>
            </a:xfrm>
            <a:prstGeom prst="rect">
              <a:avLst/>
            </a:prstGeom>
            <a:gradFill rotWithShape="1">
              <a:gsLst>
                <a:gs pos="0">
                  <a:srgbClr val="8488C4"/>
                </a:gs>
                <a:gs pos="26500">
                  <a:srgbClr val="D4DEFF"/>
                </a:gs>
                <a:gs pos="41500">
                  <a:srgbClr val="D4DEFF"/>
                </a:gs>
                <a:gs pos="50000">
                  <a:srgbClr val="96AB94"/>
                </a:gs>
                <a:gs pos="58500">
                  <a:srgbClr val="D4DEFF"/>
                </a:gs>
                <a:gs pos="73500">
                  <a:srgbClr val="D4DEFF"/>
                </a:gs>
                <a:gs pos="100000">
                  <a:srgbClr val="8488C4"/>
                </a:gs>
              </a:gsLst>
              <a:lin ang="5400000" scaled="1"/>
            </a:gradFill>
            <a:ln w="57150" cap="rnd" cmpd="thinThick">
              <a:noFill/>
              <a:prstDash val="sysDot"/>
              <a:miter lim="800000"/>
              <a:headEnd type="none" w="sm" len="sm"/>
              <a:tailEnd type="none" w="sm" len="sm"/>
            </a:ln>
            <a:effectLst/>
          </p:spPr>
          <p:txBody>
            <a:bodyPr wrap="none" anchor="ctr"/>
            <a:lstStyle/>
            <a:p>
              <a:pPr eaLnBrk="0" fontAlgn="base" hangingPunct="0">
                <a:lnSpc>
                  <a:spcPct val="80000"/>
                </a:lnSpc>
                <a:spcBef>
                  <a:spcPct val="50000"/>
                </a:spcBef>
                <a:spcAft>
                  <a:spcPct val="0"/>
                </a:spcAft>
                <a:defRPr/>
              </a:pPr>
              <a:endParaRPr kumimoji="1" lang="zh-CN" altLang="en-US" sz="3000" b="1">
                <a:solidFill>
                  <a:srgbClr val="0000FF"/>
                </a:solidFill>
                <a:latin typeface="Times New Roman" panose="02020603050405020304" pitchFamily="18" charset="0"/>
                <a:ea typeface="楷体_GB2312" pitchFamily="49" charset="-122"/>
              </a:endParaRPr>
            </a:p>
          </p:txBody>
        </p:sp>
        <p:sp>
          <p:nvSpPr>
            <p:cNvPr id="5125" name="Rectangle 5"/>
            <p:cNvSpPr>
              <a:spLocks noChangeArrowheads="1"/>
            </p:cNvSpPr>
            <p:nvPr/>
          </p:nvSpPr>
          <p:spPr bwMode="white">
            <a:xfrm>
              <a:off x="1920" y="864"/>
              <a:ext cx="4992" cy="48"/>
            </a:xfrm>
            <a:prstGeom prst="rect">
              <a:avLst/>
            </a:prstGeom>
            <a:gradFill rotWithShape="1">
              <a:gsLst>
                <a:gs pos="0">
                  <a:srgbClr val="8488C4"/>
                </a:gs>
                <a:gs pos="26500">
                  <a:srgbClr val="D4DEFF">
                    <a:alpha val="68730"/>
                  </a:srgbClr>
                </a:gs>
                <a:gs pos="41500">
                  <a:srgbClr val="D4DEFF">
                    <a:alpha val="51030"/>
                  </a:srgbClr>
                </a:gs>
                <a:gs pos="50000">
                  <a:srgbClr val="96AB94">
                    <a:alpha val="41000"/>
                  </a:srgbClr>
                </a:gs>
                <a:gs pos="58500">
                  <a:srgbClr val="D4DEFF">
                    <a:alpha val="51030"/>
                  </a:srgbClr>
                </a:gs>
                <a:gs pos="73500">
                  <a:srgbClr val="D4DEFF">
                    <a:alpha val="68730"/>
                  </a:srgbClr>
                </a:gs>
                <a:gs pos="100000">
                  <a:srgbClr val="8488C4"/>
                </a:gs>
              </a:gsLst>
              <a:lin ang="5400000" scaled="1"/>
            </a:gradFill>
            <a:ln w="57150" cap="rnd" cmpd="thinThick">
              <a:noFill/>
              <a:prstDash val="sysDot"/>
              <a:miter lim="800000"/>
              <a:headEnd type="none" w="sm" len="sm"/>
              <a:tailEnd type="none" w="sm" len="sm"/>
            </a:ln>
            <a:effectLst/>
          </p:spPr>
          <p:txBody>
            <a:bodyPr wrap="none" anchor="ctr"/>
            <a:lstStyle/>
            <a:p>
              <a:pPr eaLnBrk="0" fontAlgn="base" hangingPunct="0">
                <a:lnSpc>
                  <a:spcPct val="80000"/>
                </a:lnSpc>
                <a:spcBef>
                  <a:spcPct val="50000"/>
                </a:spcBef>
                <a:spcAft>
                  <a:spcPct val="0"/>
                </a:spcAft>
                <a:defRPr/>
              </a:pPr>
              <a:endParaRPr kumimoji="1" lang="zh-CN" altLang="en-US" sz="3000" b="1">
                <a:solidFill>
                  <a:srgbClr val="0000FF"/>
                </a:solidFill>
                <a:latin typeface="Times New Roman" panose="02020603050405020304" pitchFamily="18" charset="0"/>
                <a:ea typeface="楷体_GB2312" pitchFamily="49" charset="-122"/>
              </a:endParaRPr>
            </a:p>
          </p:txBody>
        </p:sp>
      </p:grpSp>
      <p:grpSp>
        <p:nvGrpSpPr>
          <p:cNvPr id="1031" name="Group 6"/>
          <p:cNvGrpSpPr/>
          <p:nvPr userDrawn="1"/>
        </p:nvGrpSpPr>
        <p:grpSpPr bwMode="auto">
          <a:xfrm>
            <a:off x="0" y="-1588"/>
            <a:ext cx="9155113" cy="6858001"/>
            <a:chOff x="0" y="-1"/>
            <a:chExt cx="6925" cy="4320"/>
          </a:xfrm>
        </p:grpSpPr>
        <p:sp>
          <p:nvSpPr>
            <p:cNvPr id="5127" name="Rectangle 7"/>
            <p:cNvSpPr>
              <a:spLocks noChangeArrowheads="1"/>
            </p:cNvSpPr>
            <p:nvPr userDrawn="1"/>
          </p:nvSpPr>
          <p:spPr bwMode="auto">
            <a:xfrm>
              <a:off x="0" y="188"/>
              <a:ext cx="1637" cy="3936"/>
            </a:xfrm>
            <a:prstGeom prst="rect">
              <a:avLst/>
            </a:prstGeom>
            <a:solidFill>
              <a:srgbClr val="EDEEE9"/>
            </a:solidFill>
            <a:ln w="9525">
              <a:noFill/>
              <a:miter lim="800000"/>
            </a:ln>
            <a:effectLst/>
          </p:spPr>
          <p:txBody>
            <a:bodyPr wrap="none" anchor="ctr"/>
            <a:lstStyle/>
            <a:p>
              <a:pPr algn="ctr" fontAlgn="base">
                <a:spcBef>
                  <a:spcPct val="0"/>
                </a:spcBef>
                <a:spcAft>
                  <a:spcPct val="0"/>
                </a:spcAft>
                <a:defRPr/>
              </a:pPr>
              <a:endParaRPr lang="zh-CN" altLang="zh-CN" sz="2200" b="1">
                <a:solidFill>
                  <a:srgbClr val="000000"/>
                </a:solidFill>
                <a:latin typeface="Times New Roman" panose="02020603050405020304" pitchFamily="18" charset="0"/>
                <a:ea typeface="楷体_GB2312" pitchFamily="49" charset="-122"/>
              </a:endParaRPr>
            </a:p>
          </p:txBody>
        </p:sp>
        <p:grpSp>
          <p:nvGrpSpPr>
            <p:cNvPr id="1034" name="Group 8"/>
            <p:cNvGrpSpPr/>
            <p:nvPr userDrawn="1"/>
          </p:nvGrpSpPr>
          <p:grpSpPr bwMode="auto">
            <a:xfrm>
              <a:off x="0" y="-1"/>
              <a:ext cx="6925" cy="4320"/>
              <a:chOff x="0" y="-1"/>
              <a:chExt cx="6925" cy="4320"/>
            </a:xfrm>
          </p:grpSpPr>
          <p:sp>
            <p:nvSpPr>
              <p:cNvPr id="5129" name="Rectangle 9"/>
              <p:cNvSpPr>
                <a:spLocks noChangeArrowheads="1"/>
              </p:cNvSpPr>
              <p:nvPr userDrawn="1"/>
            </p:nvSpPr>
            <p:spPr bwMode="blackWhite">
              <a:xfrm>
                <a:off x="11" y="4138"/>
                <a:ext cx="6914" cy="181"/>
              </a:xfrm>
              <a:prstGeom prst="rect">
                <a:avLst/>
              </a:prstGeom>
              <a:solidFill>
                <a:srgbClr val="D7E5ED"/>
              </a:solidFill>
              <a:ln w="9525">
                <a:noFill/>
                <a:miter lim="800000"/>
              </a:ln>
            </p:spPr>
            <p:txBody>
              <a:bodyPr/>
              <a:lstStyle/>
              <a:p>
                <a:pPr fontAlgn="base">
                  <a:spcBef>
                    <a:spcPct val="0"/>
                  </a:spcBef>
                  <a:spcAft>
                    <a:spcPct val="0"/>
                  </a:spcAft>
                  <a:defRPr/>
                </a:pPr>
                <a:endParaRPr kumimoji="1" lang="zh-CN" altLang="zh-CN" sz="2400">
                  <a:solidFill>
                    <a:srgbClr val="000000"/>
                  </a:solidFill>
                  <a:latin typeface="Times New Roman" panose="02020603050405020304" pitchFamily="18" charset="0"/>
                </a:endParaRPr>
              </a:p>
            </p:txBody>
          </p:sp>
          <p:sp>
            <p:nvSpPr>
              <p:cNvPr id="5130" name="Rectangle 10"/>
              <p:cNvSpPr>
                <a:spLocks noChangeArrowheads="1"/>
              </p:cNvSpPr>
              <p:nvPr userDrawn="1"/>
            </p:nvSpPr>
            <p:spPr bwMode="blackWhite">
              <a:xfrm>
                <a:off x="0" y="-1"/>
                <a:ext cx="6914" cy="181"/>
              </a:xfrm>
              <a:prstGeom prst="rect">
                <a:avLst/>
              </a:prstGeom>
              <a:solidFill>
                <a:srgbClr val="D7E5ED"/>
              </a:solidFill>
              <a:ln w="9525">
                <a:noFill/>
                <a:miter lim="800000"/>
              </a:ln>
            </p:spPr>
            <p:txBody>
              <a:bodyPr wrap="none" lIns="92075" tIns="0" rIns="92075" bIns="46037"/>
              <a:lstStyle/>
              <a:p>
                <a:pPr fontAlgn="base">
                  <a:spcBef>
                    <a:spcPct val="0"/>
                  </a:spcBef>
                  <a:spcAft>
                    <a:spcPct val="0"/>
                  </a:spcAft>
                  <a:defRPr/>
                </a:pPr>
                <a:r>
                  <a:rPr lang="en-US" altLang="zh-CN" sz="1200" i="1">
                    <a:solidFill>
                      <a:srgbClr val="333399"/>
                    </a:solidFill>
                    <a:latin typeface="Times New Roman" panose="02020603050405020304" pitchFamily="18" charset="0"/>
                  </a:rPr>
                  <a:t>				                                                                            Department of Material and Engineering, Soochow University</a:t>
                </a:r>
              </a:p>
            </p:txBody>
          </p:sp>
          <p:sp>
            <p:nvSpPr>
              <p:cNvPr id="5131" name="Rectangle 11"/>
              <p:cNvSpPr>
                <a:spLocks noChangeArrowheads="1"/>
              </p:cNvSpPr>
              <p:nvPr userDrawn="1"/>
            </p:nvSpPr>
            <p:spPr bwMode="blackWhite">
              <a:xfrm rot="5400000">
                <a:off x="4670" y="2068"/>
                <a:ext cx="4320" cy="181"/>
              </a:xfrm>
              <a:prstGeom prst="rect">
                <a:avLst/>
              </a:prstGeom>
              <a:solidFill>
                <a:srgbClr val="D7E5ED"/>
              </a:solidFill>
              <a:ln w="9525">
                <a:noFill/>
                <a:miter lim="800000"/>
              </a:ln>
            </p:spPr>
            <p:txBody>
              <a:bodyPr rot="10800000" vert="eaVert"/>
              <a:lstStyle/>
              <a:p>
                <a:pPr fontAlgn="base">
                  <a:spcBef>
                    <a:spcPct val="0"/>
                  </a:spcBef>
                  <a:spcAft>
                    <a:spcPct val="0"/>
                  </a:spcAft>
                  <a:defRPr/>
                </a:pPr>
                <a:endParaRPr kumimoji="1" lang="zh-CN" altLang="zh-CN" sz="2400">
                  <a:solidFill>
                    <a:srgbClr val="000000"/>
                  </a:solidFill>
                  <a:latin typeface="Times New Roman" panose="02020603050405020304" pitchFamily="18" charset="0"/>
                </a:endParaRPr>
              </a:p>
            </p:txBody>
          </p:sp>
          <p:sp>
            <p:nvSpPr>
              <p:cNvPr id="5132" name="Rectangle 12"/>
              <p:cNvSpPr>
                <a:spLocks noChangeArrowheads="1"/>
              </p:cNvSpPr>
              <p:nvPr userDrawn="1"/>
            </p:nvSpPr>
            <p:spPr bwMode="blackWhite">
              <a:xfrm rot="5400000">
                <a:off x="6735" y="-1"/>
                <a:ext cx="181" cy="181"/>
              </a:xfrm>
              <a:prstGeom prst="rect">
                <a:avLst/>
              </a:prstGeom>
              <a:gradFill rotWithShape="1">
                <a:gsLst>
                  <a:gs pos="0">
                    <a:srgbClr val="FFFCFF"/>
                  </a:gs>
                  <a:gs pos="100000">
                    <a:srgbClr val="D7E5ED"/>
                  </a:gs>
                </a:gsLst>
                <a:path path="shape">
                  <a:fillToRect l="50000" t="50000" r="50000" b="50000"/>
                </a:path>
              </a:gradFill>
              <a:ln w="9525">
                <a:noFill/>
                <a:miter lim="800000"/>
              </a:ln>
            </p:spPr>
            <p:txBody>
              <a:bodyPr rot="10800000" vert="eaVert"/>
              <a:lstStyle/>
              <a:p>
                <a:pPr fontAlgn="base">
                  <a:spcBef>
                    <a:spcPct val="0"/>
                  </a:spcBef>
                  <a:spcAft>
                    <a:spcPct val="0"/>
                  </a:spcAft>
                  <a:defRPr/>
                </a:pPr>
                <a:endParaRPr kumimoji="1" lang="zh-CN" altLang="zh-CN" sz="2400">
                  <a:solidFill>
                    <a:srgbClr val="000000"/>
                  </a:solidFill>
                  <a:latin typeface="Times New Roman" panose="02020603050405020304" pitchFamily="18" charset="0"/>
                </a:endParaRPr>
              </a:p>
            </p:txBody>
          </p:sp>
          <p:sp>
            <p:nvSpPr>
              <p:cNvPr id="5133" name="Rectangle 13"/>
              <p:cNvSpPr>
                <a:spLocks noChangeArrowheads="1"/>
              </p:cNvSpPr>
              <p:nvPr userDrawn="1"/>
            </p:nvSpPr>
            <p:spPr bwMode="blackWhite">
              <a:xfrm rot="5400000">
                <a:off x="-425" y="2068"/>
                <a:ext cx="4320" cy="181"/>
              </a:xfrm>
              <a:prstGeom prst="rect">
                <a:avLst/>
              </a:prstGeom>
              <a:solidFill>
                <a:srgbClr val="D7E5ED"/>
              </a:solidFill>
              <a:ln w="9525">
                <a:noFill/>
                <a:miter lim="800000"/>
              </a:ln>
            </p:spPr>
            <p:txBody>
              <a:bodyPr rot="10800000" vert="eaVert"/>
              <a:lstStyle/>
              <a:p>
                <a:pPr fontAlgn="base">
                  <a:spcBef>
                    <a:spcPct val="0"/>
                  </a:spcBef>
                  <a:spcAft>
                    <a:spcPct val="0"/>
                  </a:spcAft>
                  <a:defRPr/>
                </a:pPr>
                <a:endParaRPr kumimoji="1" lang="zh-CN" altLang="zh-CN" sz="2400">
                  <a:solidFill>
                    <a:srgbClr val="000000"/>
                  </a:solidFill>
                  <a:latin typeface="Times New Roman" panose="02020603050405020304" pitchFamily="18" charset="0"/>
                </a:endParaRPr>
              </a:p>
            </p:txBody>
          </p:sp>
          <p:sp>
            <p:nvSpPr>
              <p:cNvPr id="5134" name="Rectangle 14"/>
              <p:cNvSpPr>
                <a:spLocks noChangeArrowheads="1"/>
              </p:cNvSpPr>
              <p:nvPr userDrawn="1"/>
            </p:nvSpPr>
            <p:spPr bwMode="blackWhite">
              <a:xfrm rot="5400000">
                <a:off x="1656" y="4138"/>
                <a:ext cx="181" cy="181"/>
              </a:xfrm>
              <a:prstGeom prst="rect">
                <a:avLst/>
              </a:prstGeom>
              <a:gradFill rotWithShape="1">
                <a:gsLst>
                  <a:gs pos="0">
                    <a:srgbClr val="FFFCFF"/>
                  </a:gs>
                  <a:gs pos="100000">
                    <a:srgbClr val="D7E5ED"/>
                  </a:gs>
                </a:gsLst>
                <a:path path="shape">
                  <a:fillToRect l="50000" t="50000" r="50000" b="50000"/>
                </a:path>
              </a:gradFill>
              <a:ln w="9525">
                <a:noFill/>
                <a:miter lim="800000"/>
              </a:ln>
            </p:spPr>
            <p:txBody>
              <a:bodyPr rot="10800000" vert="eaVert"/>
              <a:lstStyle/>
              <a:p>
                <a:pPr fontAlgn="base">
                  <a:spcBef>
                    <a:spcPct val="0"/>
                  </a:spcBef>
                  <a:spcAft>
                    <a:spcPct val="0"/>
                  </a:spcAft>
                  <a:defRPr/>
                </a:pPr>
                <a:endParaRPr kumimoji="1" lang="zh-CN" altLang="zh-CN" sz="2400">
                  <a:solidFill>
                    <a:srgbClr val="000000"/>
                  </a:solidFill>
                  <a:latin typeface="Times New Roman" panose="02020603050405020304" pitchFamily="18" charset="0"/>
                </a:endParaRPr>
              </a:p>
            </p:txBody>
          </p:sp>
          <p:sp>
            <p:nvSpPr>
              <p:cNvPr id="5135" name="Rectangle 15"/>
              <p:cNvSpPr>
                <a:spLocks noChangeArrowheads="1"/>
              </p:cNvSpPr>
              <p:nvPr userDrawn="1"/>
            </p:nvSpPr>
            <p:spPr bwMode="blackWhite">
              <a:xfrm rot="5400000">
                <a:off x="1656" y="-1"/>
                <a:ext cx="181" cy="181"/>
              </a:xfrm>
              <a:prstGeom prst="rect">
                <a:avLst/>
              </a:prstGeom>
              <a:gradFill rotWithShape="1">
                <a:gsLst>
                  <a:gs pos="0">
                    <a:srgbClr val="FFFCFF"/>
                  </a:gs>
                  <a:gs pos="100000">
                    <a:srgbClr val="D7E5ED"/>
                  </a:gs>
                </a:gsLst>
                <a:path path="shape">
                  <a:fillToRect l="50000" t="50000" r="50000" b="50000"/>
                </a:path>
              </a:gradFill>
              <a:ln w="9525">
                <a:noFill/>
                <a:miter lim="800000"/>
              </a:ln>
            </p:spPr>
            <p:txBody>
              <a:bodyPr rot="10800000" vert="eaVert"/>
              <a:lstStyle/>
              <a:p>
                <a:pPr fontAlgn="base">
                  <a:spcBef>
                    <a:spcPct val="0"/>
                  </a:spcBef>
                  <a:spcAft>
                    <a:spcPct val="0"/>
                  </a:spcAft>
                  <a:defRPr/>
                </a:pPr>
                <a:endParaRPr kumimoji="1" lang="zh-CN" altLang="zh-CN" sz="2400">
                  <a:solidFill>
                    <a:srgbClr val="000000"/>
                  </a:solidFill>
                  <a:latin typeface="Times New Roman" panose="02020603050405020304" pitchFamily="18" charset="0"/>
                </a:endParaRPr>
              </a:p>
            </p:txBody>
          </p:sp>
          <p:sp>
            <p:nvSpPr>
              <p:cNvPr id="5136" name="Rectangle 16"/>
              <p:cNvSpPr>
                <a:spLocks noChangeArrowheads="1"/>
              </p:cNvSpPr>
              <p:nvPr userDrawn="1"/>
            </p:nvSpPr>
            <p:spPr bwMode="blackWhite">
              <a:xfrm rot="5400000">
                <a:off x="6735" y="4138"/>
                <a:ext cx="181" cy="181"/>
              </a:xfrm>
              <a:prstGeom prst="rect">
                <a:avLst/>
              </a:prstGeom>
              <a:gradFill rotWithShape="1">
                <a:gsLst>
                  <a:gs pos="0">
                    <a:srgbClr val="FFFCFF"/>
                  </a:gs>
                  <a:gs pos="100000">
                    <a:srgbClr val="D7E5ED"/>
                  </a:gs>
                </a:gsLst>
                <a:path path="shape">
                  <a:fillToRect l="50000" t="50000" r="50000" b="50000"/>
                </a:path>
              </a:gradFill>
              <a:ln w="9525">
                <a:noFill/>
                <a:miter lim="800000"/>
              </a:ln>
            </p:spPr>
            <p:txBody>
              <a:bodyPr rot="10800000" vert="eaVert"/>
              <a:lstStyle/>
              <a:p>
                <a:pPr fontAlgn="base">
                  <a:spcBef>
                    <a:spcPct val="0"/>
                  </a:spcBef>
                  <a:spcAft>
                    <a:spcPct val="0"/>
                  </a:spcAft>
                  <a:defRPr/>
                </a:pPr>
                <a:endParaRPr kumimoji="1" lang="zh-CN" altLang="zh-CN" sz="2400">
                  <a:solidFill>
                    <a:srgbClr val="000000"/>
                  </a:solidFill>
                  <a:latin typeface="Times New Roman" panose="02020603050405020304" pitchFamily="18" charset="0"/>
                </a:endParaRPr>
              </a:p>
            </p:txBody>
          </p:sp>
        </p:grpSp>
      </p:grpSp>
      <p:graphicFrame>
        <p:nvGraphicFramePr>
          <p:cNvPr id="1026" name="Object 19">
            <a:hlinkClick r:id="rId18" action="ppaction://hlinksldjump"/>
          </p:cNvPr>
          <p:cNvGraphicFramePr>
            <a:graphicFrameLocks noChangeAspect="1"/>
          </p:cNvGraphicFramePr>
          <p:nvPr userDrawn="1"/>
        </p:nvGraphicFramePr>
        <p:xfrm>
          <a:off x="309563" y="-42863"/>
          <a:ext cx="790575" cy="377826"/>
        </p:xfrm>
        <a:graphic>
          <a:graphicData uri="http://schemas.openxmlformats.org/presentationml/2006/ole">
            <p:oleObj spid="_x0000_s1025" name="CS ChemDraw Drawing" r:id="rId19" imgW="3314700" imgH="1581150" progId="">
              <p:embed/>
            </p:oleObj>
          </a:graphicData>
        </a:graphic>
      </p:graphicFrame>
      <p:graphicFrame>
        <p:nvGraphicFramePr>
          <p:cNvPr id="1027" name="Object 20">
            <a:hlinkClick r:id="rId20" action="ppaction://hlinksldjump"/>
          </p:cNvPr>
          <p:cNvGraphicFramePr>
            <a:graphicFrameLocks noChangeAspect="1"/>
          </p:cNvGraphicFramePr>
          <p:nvPr userDrawn="1"/>
        </p:nvGraphicFramePr>
        <p:xfrm>
          <a:off x="1146175" y="-42863"/>
          <a:ext cx="796925" cy="377826"/>
        </p:xfrm>
        <a:graphic>
          <a:graphicData uri="http://schemas.openxmlformats.org/presentationml/2006/ole">
            <p:oleObj spid="_x0000_s1037" name="CS ChemDraw Drawing" r:id="rId21" imgW="3314700" imgH="1571625" progId="">
              <p:embed/>
            </p:oleObj>
          </a:graphicData>
        </a:graphic>
      </p:graphicFrame>
      <p:sp>
        <p:nvSpPr>
          <p:cNvPr id="5141" name="Rectangle 21"/>
          <p:cNvSpPr>
            <a:spLocks noChangeArrowheads="1"/>
          </p:cNvSpPr>
          <p:nvPr userDrawn="1"/>
        </p:nvSpPr>
        <p:spPr bwMode="auto">
          <a:xfrm>
            <a:off x="152400" y="457200"/>
            <a:ext cx="1212850" cy="641350"/>
          </a:xfrm>
          <a:prstGeom prst="rect">
            <a:avLst/>
          </a:prstGeom>
          <a:noFill/>
          <a:ln w="9525">
            <a:noFill/>
            <a:miter lim="800000"/>
          </a:ln>
          <a:effectLst/>
        </p:spPr>
        <p:txBody>
          <a:bodyPr wrap="none">
            <a:spAutoFit/>
          </a:bodyPr>
          <a:lstStyle/>
          <a:p>
            <a:pPr algn="ctr" fontAlgn="base">
              <a:spcBef>
                <a:spcPct val="0"/>
              </a:spcBef>
              <a:spcAft>
                <a:spcPct val="0"/>
              </a:spcAft>
              <a:defRPr/>
            </a:pPr>
            <a:r>
              <a:rPr lang="en-US" altLang="zh-CN" b="1" i="1">
                <a:solidFill>
                  <a:srgbClr val="FF00FF"/>
                </a:solidFill>
                <a:latin typeface="隶书" panose="02010509060101010101" pitchFamily="49" charset="-122"/>
                <a:ea typeface="隶书" panose="02010509060101010101" pitchFamily="49" charset="-122"/>
              </a:rPr>
              <a:t>Inorganic</a:t>
            </a:r>
          </a:p>
          <a:p>
            <a:pPr algn="ctr" fontAlgn="base">
              <a:spcBef>
                <a:spcPct val="0"/>
              </a:spcBef>
              <a:spcAft>
                <a:spcPct val="0"/>
              </a:spcAft>
              <a:defRPr/>
            </a:pPr>
            <a:r>
              <a:rPr lang="en-US" altLang="zh-CN" b="1" i="1">
                <a:solidFill>
                  <a:srgbClr val="FF00FF"/>
                </a:solidFill>
                <a:latin typeface="隶书" panose="02010509060101010101" pitchFamily="49" charset="-122"/>
                <a:ea typeface="隶书" panose="02010509060101010101" pitchFamily="49" charset="-122"/>
              </a:rPr>
              <a:t>chemistry</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iming>
    <p:tnLst>
      <p:par>
        <p:cTn id="1" dur="indefinite" restart="never" nodeType="tmRoot"/>
      </p:par>
    </p:tnLst>
  </p:timing>
  <p:txStyles>
    <p:titleStyle>
      <a:lvl1pPr algn="l" rtl="0" eaLnBrk="0" fontAlgn="base" hangingPunct="0">
        <a:spcBef>
          <a:spcPct val="0"/>
        </a:spcBef>
        <a:spcAft>
          <a:spcPct val="0"/>
        </a:spcAft>
        <a:defRPr sz="2400" b="1" i="1">
          <a:solidFill>
            <a:srgbClr val="FF3300"/>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5pPr>
      <a:lvl6pPr marL="457200" algn="l" rtl="0" fontAlgn="base">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6pPr>
      <a:lvl7pPr marL="914400" algn="l" rtl="0" fontAlgn="base">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400" b="1">
          <a:solidFill>
            <a:schemeClr val="tx1"/>
          </a:solidFill>
          <a:latin typeface="+mn-lt"/>
          <a:ea typeface="+mn-ea"/>
        </a:defRPr>
      </a:lvl4pPr>
      <a:lvl5pPr marL="2057400" indent="-228600" algn="l" rtl="0" eaLnBrk="0" fontAlgn="base" hangingPunct="0">
        <a:spcBef>
          <a:spcPct val="20000"/>
        </a:spcBef>
        <a:spcAft>
          <a:spcPct val="0"/>
        </a:spcAft>
        <a:buChar char="»"/>
        <a:defRPr sz="2400" b="1">
          <a:solidFill>
            <a:schemeClr val="tx1"/>
          </a:solidFill>
          <a:latin typeface="+mn-lt"/>
          <a:ea typeface="+mn-ea"/>
        </a:defRPr>
      </a:lvl5pPr>
      <a:lvl6pPr marL="2514600" indent="-228600" algn="l" rtl="0" fontAlgn="base">
        <a:spcBef>
          <a:spcPct val="20000"/>
        </a:spcBef>
        <a:spcAft>
          <a:spcPct val="0"/>
        </a:spcAft>
        <a:buChar char="»"/>
        <a:defRPr sz="2400" b="1">
          <a:solidFill>
            <a:schemeClr val="tx1"/>
          </a:solidFill>
          <a:latin typeface="+mn-lt"/>
          <a:ea typeface="+mn-ea"/>
        </a:defRPr>
      </a:lvl6pPr>
      <a:lvl7pPr marL="2971800" indent="-228600" algn="l" rtl="0" fontAlgn="base">
        <a:spcBef>
          <a:spcPct val="20000"/>
        </a:spcBef>
        <a:spcAft>
          <a:spcPct val="0"/>
        </a:spcAft>
        <a:buChar char="»"/>
        <a:defRPr sz="2400" b="1">
          <a:solidFill>
            <a:schemeClr val="tx1"/>
          </a:solidFill>
          <a:latin typeface="+mn-lt"/>
          <a:ea typeface="+mn-ea"/>
        </a:defRPr>
      </a:lvl7pPr>
      <a:lvl8pPr marL="3429000" indent="-228600" algn="l" rtl="0" fontAlgn="base">
        <a:spcBef>
          <a:spcPct val="20000"/>
        </a:spcBef>
        <a:spcAft>
          <a:spcPct val="0"/>
        </a:spcAft>
        <a:buChar char="»"/>
        <a:defRPr sz="2400" b="1">
          <a:solidFill>
            <a:schemeClr val="tx1"/>
          </a:solidFill>
          <a:latin typeface="+mn-lt"/>
          <a:ea typeface="+mn-ea"/>
        </a:defRPr>
      </a:lvl8pPr>
      <a:lvl9pPr marL="3886200" indent="-228600" algn="l" rtl="0" fontAlgn="base">
        <a:spcBef>
          <a:spcPct val="20000"/>
        </a:spcBef>
        <a:spcAft>
          <a:spcPct val="0"/>
        </a:spcAft>
        <a:buChar char="»"/>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3" name="Rectangle 2"/>
          <p:cNvSpPr>
            <a:spLocks noGrp="1" noRot="1" noChangeArrowheads="1"/>
          </p:cNvSpPr>
          <p:nvPr>
            <p:ph type="title"/>
          </p:nvPr>
        </p:nvSpPr>
        <p:spPr bwMode="auto">
          <a:xfrm>
            <a:off x="301625" y="228600"/>
            <a:ext cx="854075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p>
        </p:txBody>
      </p:sp>
      <p:sp>
        <p:nvSpPr>
          <p:cNvPr id="2054" name="Rectangle 3"/>
          <p:cNvSpPr>
            <a:spLocks noGrp="1" noRot="1" noChangeArrowheads="1"/>
          </p:cNvSpPr>
          <p:nvPr>
            <p:ph type="body" idx="1"/>
          </p:nvPr>
        </p:nvSpPr>
        <p:spPr bwMode="auto">
          <a:xfrm>
            <a:off x="301625" y="1600200"/>
            <a:ext cx="8540750" cy="4498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19812" name="Rectangle 4"/>
          <p:cNvSpPr>
            <a:spLocks noGrp="1" noChangeArrowheads="1"/>
          </p:cNvSpPr>
          <p:nvPr>
            <p:ph type="dt" sz="half" idx="2"/>
          </p:nvPr>
        </p:nvSpPr>
        <p:spPr bwMode="auto">
          <a:xfrm>
            <a:off x="301625" y="6245225"/>
            <a:ext cx="2289175" cy="476250"/>
          </a:xfrm>
          <a:prstGeom prst="rect">
            <a:avLst/>
          </a:prstGeom>
          <a:noFill/>
          <a:ln w="9525">
            <a:noFill/>
            <a:miter lim="800000"/>
          </a:ln>
          <a:effectLst/>
        </p:spPr>
        <p:txBody>
          <a:bodyPr vert="horz" wrap="square" lIns="91440" tIns="45720" rIns="91440" bIns="45720" numCol="1" anchor="t" anchorCtr="0" compatLnSpc="1"/>
          <a:lstStyle>
            <a:lvl1pPr>
              <a:defRPr kumimoji="0" sz="1400" b="0" i="0">
                <a:solidFill>
                  <a:schemeClr val="tx1"/>
                </a:solidFill>
                <a:latin typeface="+mn-lt"/>
                <a:ea typeface="+mn-ea"/>
              </a:defRPr>
            </a:lvl1pPr>
          </a:lstStyle>
          <a:p>
            <a:pPr fontAlgn="base">
              <a:spcBef>
                <a:spcPct val="0"/>
              </a:spcBef>
              <a:spcAft>
                <a:spcPct val="0"/>
              </a:spcAft>
              <a:defRPr/>
            </a:pPr>
            <a:endParaRPr lang="en-US" altLang="zh-CN">
              <a:solidFill>
                <a:srgbClr val="080808"/>
              </a:solidFill>
            </a:endParaRPr>
          </a:p>
        </p:txBody>
      </p:sp>
      <p:sp>
        <p:nvSpPr>
          <p:cNvPr id="119813"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kumimoji="0" sz="1400" b="0" i="0">
                <a:solidFill>
                  <a:schemeClr val="tx1"/>
                </a:solidFill>
                <a:latin typeface="+mn-lt"/>
                <a:ea typeface="+mn-ea"/>
              </a:defRPr>
            </a:lvl1pPr>
          </a:lstStyle>
          <a:p>
            <a:pPr fontAlgn="base">
              <a:spcBef>
                <a:spcPct val="0"/>
              </a:spcBef>
              <a:spcAft>
                <a:spcPct val="0"/>
              </a:spcAft>
              <a:defRPr/>
            </a:pPr>
            <a:endParaRPr lang="en-US" altLang="zh-CN">
              <a:solidFill>
                <a:srgbClr val="080808"/>
              </a:solidFill>
            </a:endParaRPr>
          </a:p>
        </p:txBody>
      </p:sp>
      <p:sp>
        <p:nvSpPr>
          <p:cNvPr id="119814" name="Rectangle 6"/>
          <p:cNvSpPr>
            <a:spLocks noGrp="1" noChangeArrowheads="1"/>
          </p:cNvSpPr>
          <p:nvPr>
            <p:ph type="sldNum" sz="quarter" idx="4"/>
          </p:nvPr>
        </p:nvSpPr>
        <p:spPr bwMode="auto">
          <a:xfrm>
            <a:off x="6553200" y="6245225"/>
            <a:ext cx="2289175" cy="476250"/>
          </a:xfrm>
          <a:prstGeom prst="rect">
            <a:avLst/>
          </a:prstGeom>
          <a:noFill/>
          <a:ln w="9525">
            <a:noFill/>
            <a:miter lim="800000"/>
          </a:ln>
          <a:effectLst/>
        </p:spPr>
        <p:txBody>
          <a:bodyPr vert="horz" wrap="square" lIns="91440" tIns="45720" rIns="91440" bIns="45720" numCol="1" anchor="t" anchorCtr="0" compatLnSpc="1"/>
          <a:lstStyle>
            <a:lvl1pPr algn="r">
              <a:defRPr kumimoji="0" sz="1400" b="0" i="0">
                <a:solidFill>
                  <a:schemeClr val="tx1"/>
                </a:solidFill>
                <a:latin typeface="+mn-lt"/>
                <a:ea typeface="+mn-ea"/>
              </a:defRPr>
            </a:lvl1pPr>
          </a:lstStyle>
          <a:p>
            <a:pPr fontAlgn="base">
              <a:spcBef>
                <a:spcPct val="0"/>
              </a:spcBef>
              <a:spcAft>
                <a:spcPct val="0"/>
              </a:spcAft>
              <a:defRPr/>
            </a:pPr>
            <a:fld id="{D7D71B9B-11C1-4F9D-A7FA-39133ABB4583}" type="slidenum">
              <a:rPr lang="en-US" altLang="zh-CN">
                <a:solidFill>
                  <a:srgbClr val="080808"/>
                </a:solidFill>
              </a:rPr>
              <a:pPr fontAlgn="base">
                <a:spcBef>
                  <a:spcPct val="0"/>
                </a:spcBef>
                <a:spcAft>
                  <a:spcPct val="0"/>
                </a:spcAft>
                <a:defRPr/>
              </a:pPr>
              <a:t>‹#›</a:t>
            </a:fld>
            <a:endParaRPr lang="en-US" altLang="zh-CN">
              <a:solidFill>
                <a:srgbClr val="080808"/>
              </a:solidFill>
            </a:endParaRPr>
          </a:p>
        </p:txBody>
      </p:sp>
      <p:sp>
        <p:nvSpPr>
          <p:cNvPr id="2055" name="Rectangle 7"/>
          <p:cNvSpPr>
            <a:spLocks noChangeArrowheads="1"/>
          </p:cNvSpPr>
          <p:nvPr userDrawn="1"/>
        </p:nvSpPr>
        <p:spPr bwMode="auto">
          <a:xfrm>
            <a:off x="2438400" y="304800"/>
            <a:ext cx="6467475" cy="6248400"/>
          </a:xfrm>
          <a:prstGeom prst="rect">
            <a:avLst/>
          </a:prstGeom>
          <a:solidFill>
            <a:srgbClr val="EDEEE9"/>
          </a:solidFill>
          <a:ln w="9525">
            <a:noFill/>
            <a:miter lim="800000"/>
          </a:ln>
        </p:spPr>
        <p:txBody>
          <a:bodyPr wrap="none" anchor="ctr"/>
          <a:lstStyle/>
          <a:p>
            <a:pPr algn="ctr" fontAlgn="base">
              <a:spcBef>
                <a:spcPct val="0"/>
              </a:spcBef>
              <a:spcAft>
                <a:spcPct val="0"/>
              </a:spcAft>
              <a:defRPr/>
            </a:pPr>
            <a:endParaRPr lang="zh-CN" altLang="zh-CN" sz="2200" b="1">
              <a:solidFill>
                <a:srgbClr val="080808"/>
              </a:solidFill>
              <a:latin typeface="Times New Roman" panose="02020603050405020304" pitchFamily="18" charset="0"/>
              <a:ea typeface="楷体_GB2312" pitchFamily="49" charset="-122"/>
            </a:endParaRPr>
          </a:p>
        </p:txBody>
      </p:sp>
      <p:grpSp>
        <p:nvGrpSpPr>
          <p:cNvPr id="2059" name="Group 8"/>
          <p:cNvGrpSpPr/>
          <p:nvPr userDrawn="1"/>
        </p:nvGrpSpPr>
        <p:grpSpPr bwMode="auto">
          <a:xfrm>
            <a:off x="2189163" y="914400"/>
            <a:ext cx="6958012" cy="76200"/>
            <a:chOff x="1920" y="849"/>
            <a:chExt cx="4992" cy="63"/>
          </a:xfrm>
        </p:grpSpPr>
        <p:sp>
          <p:nvSpPr>
            <p:cNvPr id="2071" name="Rectangle 9"/>
            <p:cNvSpPr>
              <a:spLocks noChangeArrowheads="1"/>
            </p:cNvSpPr>
            <p:nvPr/>
          </p:nvSpPr>
          <p:spPr bwMode="auto">
            <a:xfrm>
              <a:off x="1920" y="849"/>
              <a:ext cx="4992" cy="49"/>
            </a:xfrm>
            <a:prstGeom prst="rect">
              <a:avLst/>
            </a:prstGeom>
            <a:gradFill rotWithShape="1">
              <a:gsLst>
                <a:gs pos="0">
                  <a:srgbClr val="8488C4"/>
                </a:gs>
                <a:gs pos="26500">
                  <a:srgbClr val="D4DEFF"/>
                </a:gs>
                <a:gs pos="41499">
                  <a:srgbClr val="D4DEFF"/>
                </a:gs>
                <a:gs pos="50000">
                  <a:srgbClr val="96AB94"/>
                </a:gs>
                <a:gs pos="58501">
                  <a:srgbClr val="D4DEFF"/>
                </a:gs>
                <a:gs pos="73500">
                  <a:srgbClr val="D4DEFF"/>
                </a:gs>
                <a:gs pos="100000">
                  <a:srgbClr val="8488C4"/>
                </a:gs>
              </a:gsLst>
              <a:lin ang="5400000" scaled="1"/>
            </a:gradFill>
            <a:ln w="57150" cap="rnd" cmpd="thinThick">
              <a:noFill/>
              <a:prstDash val="sysDot"/>
              <a:miter lim="800000"/>
              <a:headEnd type="none" w="sm" len="sm"/>
              <a:tailEnd type="none" w="sm" len="sm"/>
            </a:ln>
          </p:spPr>
          <p:txBody>
            <a:bodyPr wrap="none" anchor="ctr"/>
            <a:lstStyle/>
            <a:p>
              <a:pPr fontAlgn="base">
                <a:spcBef>
                  <a:spcPct val="0"/>
                </a:spcBef>
                <a:spcAft>
                  <a:spcPct val="0"/>
                </a:spcAft>
                <a:defRPr/>
              </a:pPr>
              <a:endParaRPr kumimoji="1" lang="zh-CN" altLang="en-US" sz="2600" b="1" i="1">
                <a:solidFill>
                  <a:srgbClr val="CC3300"/>
                </a:solidFill>
                <a:latin typeface="Times New Roman" panose="02020603050405020304" pitchFamily="18" charset="0"/>
                <a:ea typeface="楷体_GB2312" pitchFamily="49" charset="-122"/>
              </a:endParaRPr>
            </a:p>
          </p:txBody>
        </p:sp>
        <p:sp>
          <p:nvSpPr>
            <p:cNvPr id="119818" name="Rectangle 10"/>
            <p:cNvSpPr>
              <a:spLocks noChangeArrowheads="1"/>
            </p:cNvSpPr>
            <p:nvPr/>
          </p:nvSpPr>
          <p:spPr bwMode="white">
            <a:xfrm>
              <a:off x="1920" y="864"/>
              <a:ext cx="4992" cy="48"/>
            </a:xfrm>
            <a:prstGeom prst="rect">
              <a:avLst/>
            </a:prstGeom>
            <a:gradFill rotWithShape="1">
              <a:gsLst>
                <a:gs pos="0">
                  <a:srgbClr val="8488C4"/>
                </a:gs>
                <a:gs pos="26500">
                  <a:srgbClr val="D4DEFF">
                    <a:alpha val="68730"/>
                  </a:srgbClr>
                </a:gs>
                <a:gs pos="41500">
                  <a:srgbClr val="D4DEFF">
                    <a:alpha val="51030"/>
                  </a:srgbClr>
                </a:gs>
                <a:gs pos="50000">
                  <a:srgbClr val="96AB94">
                    <a:alpha val="41000"/>
                  </a:srgbClr>
                </a:gs>
                <a:gs pos="58500">
                  <a:srgbClr val="D4DEFF">
                    <a:alpha val="51030"/>
                  </a:srgbClr>
                </a:gs>
                <a:gs pos="73500">
                  <a:srgbClr val="D4DEFF">
                    <a:alpha val="68730"/>
                  </a:srgbClr>
                </a:gs>
                <a:gs pos="100000">
                  <a:srgbClr val="8488C4"/>
                </a:gs>
              </a:gsLst>
              <a:lin ang="5400000" scaled="1"/>
            </a:gradFill>
            <a:ln w="57150" cap="rnd" cmpd="thinThick">
              <a:noFill/>
              <a:prstDash val="sysDot"/>
              <a:miter lim="800000"/>
              <a:headEnd type="none" w="sm" len="sm"/>
              <a:tailEnd type="none" w="sm" len="sm"/>
            </a:ln>
            <a:effectLst/>
          </p:spPr>
          <p:txBody>
            <a:bodyPr wrap="none" anchor="ctr"/>
            <a:lstStyle/>
            <a:p>
              <a:pPr fontAlgn="base">
                <a:spcBef>
                  <a:spcPct val="0"/>
                </a:spcBef>
                <a:spcAft>
                  <a:spcPct val="0"/>
                </a:spcAft>
                <a:defRPr/>
              </a:pPr>
              <a:endParaRPr kumimoji="1" lang="zh-CN" altLang="en-US" sz="2600" b="1" i="1">
                <a:solidFill>
                  <a:srgbClr val="CC3300"/>
                </a:solidFill>
                <a:latin typeface="Times New Roman" panose="02020603050405020304" pitchFamily="18" charset="0"/>
                <a:ea typeface="楷体_GB2312" pitchFamily="49" charset="-122"/>
              </a:endParaRPr>
            </a:p>
          </p:txBody>
        </p:sp>
      </p:grpSp>
      <p:grpSp>
        <p:nvGrpSpPr>
          <p:cNvPr id="2060" name="Group 11"/>
          <p:cNvGrpSpPr/>
          <p:nvPr userDrawn="1"/>
        </p:nvGrpSpPr>
        <p:grpSpPr bwMode="auto">
          <a:xfrm>
            <a:off x="0" y="-1588"/>
            <a:ext cx="9155113" cy="6858001"/>
            <a:chOff x="0" y="-1"/>
            <a:chExt cx="6925" cy="4320"/>
          </a:xfrm>
        </p:grpSpPr>
        <p:sp>
          <p:nvSpPr>
            <p:cNvPr id="2061" name="Rectangle 12"/>
            <p:cNvSpPr>
              <a:spLocks noChangeArrowheads="1"/>
            </p:cNvSpPr>
            <p:nvPr userDrawn="1"/>
          </p:nvSpPr>
          <p:spPr bwMode="auto">
            <a:xfrm>
              <a:off x="0" y="188"/>
              <a:ext cx="1637" cy="3936"/>
            </a:xfrm>
            <a:prstGeom prst="rect">
              <a:avLst/>
            </a:prstGeom>
            <a:solidFill>
              <a:srgbClr val="EDEEE9"/>
            </a:solidFill>
            <a:ln w="9525">
              <a:noFill/>
              <a:miter lim="800000"/>
            </a:ln>
          </p:spPr>
          <p:txBody>
            <a:bodyPr wrap="none" anchor="ctr"/>
            <a:lstStyle/>
            <a:p>
              <a:pPr algn="ctr" fontAlgn="base">
                <a:spcBef>
                  <a:spcPct val="0"/>
                </a:spcBef>
                <a:spcAft>
                  <a:spcPct val="0"/>
                </a:spcAft>
                <a:defRPr/>
              </a:pPr>
              <a:endParaRPr lang="zh-CN" altLang="zh-CN" sz="2200" b="1">
                <a:solidFill>
                  <a:srgbClr val="080808"/>
                </a:solidFill>
                <a:latin typeface="Times New Roman" panose="02020603050405020304" pitchFamily="18" charset="0"/>
                <a:ea typeface="楷体_GB2312" pitchFamily="49" charset="-122"/>
              </a:endParaRPr>
            </a:p>
          </p:txBody>
        </p:sp>
        <p:grpSp>
          <p:nvGrpSpPr>
            <p:cNvPr id="2063" name="Group 13"/>
            <p:cNvGrpSpPr/>
            <p:nvPr userDrawn="1"/>
          </p:nvGrpSpPr>
          <p:grpSpPr bwMode="auto">
            <a:xfrm>
              <a:off x="0" y="-1"/>
              <a:ext cx="6925" cy="4320"/>
              <a:chOff x="0" y="-1"/>
              <a:chExt cx="6925" cy="4320"/>
            </a:xfrm>
          </p:grpSpPr>
          <p:sp>
            <p:nvSpPr>
              <p:cNvPr id="2" name="Rectangle 14"/>
              <p:cNvSpPr>
                <a:spLocks noChangeArrowheads="1"/>
              </p:cNvSpPr>
              <p:nvPr userDrawn="1"/>
            </p:nvSpPr>
            <p:spPr bwMode="blackWhite">
              <a:xfrm>
                <a:off x="11" y="4138"/>
                <a:ext cx="6914" cy="181"/>
              </a:xfrm>
              <a:prstGeom prst="rect">
                <a:avLst/>
              </a:prstGeom>
              <a:solidFill>
                <a:srgbClr val="D7E5ED"/>
              </a:solidFill>
              <a:ln w="9525">
                <a:noFill/>
                <a:miter lim="800000"/>
              </a:ln>
            </p:spPr>
            <p:txBody>
              <a:bodyPr/>
              <a:lstStyle/>
              <a:p>
                <a:pPr fontAlgn="base">
                  <a:spcBef>
                    <a:spcPct val="0"/>
                  </a:spcBef>
                  <a:spcAft>
                    <a:spcPct val="0"/>
                  </a:spcAft>
                  <a:defRPr/>
                </a:pPr>
                <a:endParaRPr kumimoji="1" lang="zh-CN" altLang="zh-CN" sz="2400">
                  <a:solidFill>
                    <a:srgbClr val="080808"/>
                  </a:solidFill>
                  <a:latin typeface="Times New Roman" panose="02020603050405020304" pitchFamily="18" charset="0"/>
                </a:endParaRPr>
              </a:p>
            </p:txBody>
          </p:sp>
          <p:sp>
            <p:nvSpPr>
              <p:cNvPr id="2064" name="Rectangle 15"/>
              <p:cNvSpPr>
                <a:spLocks noChangeArrowheads="1"/>
              </p:cNvSpPr>
              <p:nvPr userDrawn="1"/>
            </p:nvSpPr>
            <p:spPr bwMode="blackWhite">
              <a:xfrm>
                <a:off x="0" y="-1"/>
                <a:ext cx="6914" cy="181"/>
              </a:xfrm>
              <a:prstGeom prst="rect">
                <a:avLst/>
              </a:prstGeom>
              <a:solidFill>
                <a:srgbClr val="D7E5ED"/>
              </a:solidFill>
              <a:ln w="9525">
                <a:noFill/>
                <a:miter lim="800000"/>
              </a:ln>
            </p:spPr>
            <p:txBody>
              <a:bodyPr wrap="none" lIns="92075" tIns="0" rIns="92075" bIns="46037"/>
              <a:lstStyle/>
              <a:p>
                <a:pPr fontAlgn="base">
                  <a:spcBef>
                    <a:spcPct val="0"/>
                  </a:spcBef>
                  <a:spcAft>
                    <a:spcPct val="0"/>
                  </a:spcAft>
                  <a:defRPr/>
                </a:pPr>
                <a:r>
                  <a:rPr lang="en-US" altLang="zh-CN" sz="1200" i="1">
                    <a:solidFill>
                      <a:srgbClr val="FFCC66"/>
                    </a:solidFill>
                    <a:latin typeface="Times New Roman" panose="02020603050405020304" pitchFamily="18" charset="0"/>
                  </a:rPr>
                  <a:t>				                                                                            Department of Material and Engineering, Soochow University</a:t>
                </a:r>
              </a:p>
            </p:txBody>
          </p:sp>
          <p:sp>
            <p:nvSpPr>
              <p:cNvPr id="2065" name="Rectangle 16"/>
              <p:cNvSpPr>
                <a:spLocks noChangeArrowheads="1"/>
              </p:cNvSpPr>
              <p:nvPr userDrawn="1"/>
            </p:nvSpPr>
            <p:spPr bwMode="blackWhite">
              <a:xfrm rot="5400000">
                <a:off x="4670" y="2068"/>
                <a:ext cx="4320" cy="181"/>
              </a:xfrm>
              <a:prstGeom prst="rect">
                <a:avLst/>
              </a:prstGeom>
              <a:solidFill>
                <a:srgbClr val="D7E5ED"/>
              </a:solidFill>
              <a:ln w="9525">
                <a:noFill/>
                <a:miter lim="800000"/>
              </a:ln>
            </p:spPr>
            <p:txBody>
              <a:bodyPr rot="10800000" vert="eaVert"/>
              <a:lstStyle/>
              <a:p>
                <a:pPr fontAlgn="base">
                  <a:spcBef>
                    <a:spcPct val="0"/>
                  </a:spcBef>
                  <a:spcAft>
                    <a:spcPct val="0"/>
                  </a:spcAft>
                  <a:defRPr/>
                </a:pPr>
                <a:endParaRPr kumimoji="1" lang="zh-CN" altLang="zh-CN" sz="2400">
                  <a:solidFill>
                    <a:srgbClr val="080808"/>
                  </a:solidFill>
                  <a:latin typeface="Times New Roman" panose="02020603050405020304" pitchFamily="18" charset="0"/>
                </a:endParaRPr>
              </a:p>
            </p:txBody>
          </p:sp>
          <p:sp>
            <p:nvSpPr>
              <p:cNvPr id="2066" name="Rectangle 17"/>
              <p:cNvSpPr>
                <a:spLocks noChangeArrowheads="1"/>
              </p:cNvSpPr>
              <p:nvPr userDrawn="1"/>
            </p:nvSpPr>
            <p:spPr bwMode="blackWhite">
              <a:xfrm rot="5400000">
                <a:off x="6735" y="-1"/>
                <a:ext cx="181" cy="181"/>
              </a:xfrm>
              <a:prstGeom prst="rect">
                <a:avLst/>
              </a:prstGeom>
              <a:gradFill rotWithShape="1">
                <a:gsLst>
                  <a:gs pos="0">
                    <a:srgbClr val="FFFCFF"/>
                  </a:gs>
                  <a:gs pos="100000">
                    <a:srgbClr val="D7E5ED"/>
                  </a:gs>
                </a:gsLst>
                <a:path path="shape">
                  <a:fillToRect l="50000" t="50000" r="50000" b="50000"/>
                </a:path>
              </a:gradFill>
              <a:ln w="9525">
                <a:noFill/>
                <a:miter lim="800000"/>
              </a:ln>
            </p:spPr>
            <p:txBody>
              <a:bodyPr rot="10800000" vert="eaVert"/>
              <a:lstStyle/>
              <a:p>
                <a:pPr fontAlgn="base">
                  <a:spcBef>
                    <a:spcPct val="0"/>
                  </a:spcBef>
                  <a:spcAft>
                    <a:spcPct val="0"/>
                  </a:spcAft>
                  <a:defRPr/>
                </a:pPr>
                <a:endParaRPr kumimoji="1" lang="zh-CN" altLang="zh-CN" sz="2400">
                  <a:solidFill>
                    <a:srgbClr val="080808"/>
                  </a:solidFill>
                  <a:latin typeface="Times New Roman" panose="02020603050405020304" pitchFamily="18" charset="0"/>
                </a:endParaRPr>
              </a:p>
            </p:txBody>
          </p:sp>
          <p:sp>
            <p:nvSpPr>
              <p:cNvPr id="2067" name="Rectangle 18"/>
              <p:cNvSpPr>
                <a:spLocks noChangeArrowheads="1"/>
              </p:cNvSpPr>
              <p:nvPr userDrawn="1"/>
            </p:nvSpPr>
            <p:spPr bwMode="blackWhite">
              <a:xfrm rot="5400000">
                <a:off x="-425" y="2068"/>
                <a:ext cx="4320" cy="181"/>
              </a:xfrm>
              <a:prstGeom prst="rect">
                <a:avLst/>
              </a:prstGeom>
              <a:solidFill>
                <a:srgbClr val="D7E5ED"/>
              </a:solidFill>
              <a:ln w="9525">
                <a:noFill/>
                <a:miter lim="800000"/>
              </a:ln>
            </p:spPr>
            <p:txBody>
              <a:bodyPr rot="10800000" vert="eaVert"/>
              <a:lstStyle/>
              <a:p>
                <a:pPr fontAlgn="base">
                  <a:spcBef>
                    <a:spcPct val="0"/>
                  </a:spcBef>
                  <a:spcAft>
                    <a:spcPct val="0"/>
                  </a:spcAft>
                  <a:defRPr/>
                </a:pPr>
                <a:endParaRPr kumimoji="1" lang="zh-CN" altLang="zh-CN" sz="2400">
                  <a:solidFill>
                    <a:srgbClr val="080808"/>
                  </a:solidFill>
                  <a:latin typeface="Times New Roman" panose="02020603050405020304" pitchFamily="18" charset="0"/>
                </a:endParaRPr>
              </a:p>
            </p:txBody>
          </p:sp>
          <p:sp>
            <p:nvSpPr>
              <p:cNvPr id="2068" name="Rectangle 19"/>
              <p:cNvSpPr>
                <a:spLocks noChangeArrowheads="1"/>
              </p:cNvSpPr>
              <p:nvPr userDrawn="1"/>
            </p:nvSpPr>
            <p:spPr bwMode="blackWhite">
              <a:xfrm rot="5400000">
                <a:off x="1656" y="4138"/>
                <a:ext cx="181" cy="181"/>
              </a:xfrm>
              <a:prstGeom prst="rect">
                <a:avLst/>
              </a:prstGeom>
              <a:gradFill rotWithShape="1">
                <a:gsLst>
                  <a:gs pos="0">
                    <a:srgbClr val="FFFCFF"/>
                  </a:gs>
                  <a:gs pos="100000">
                    <a:srgbClr val="D7E5ED"/>
                  </a:gs>
                </a:gsLst>
                <a:path path="shape">
                  <a:fillToRect l="50000" t="50000" r="50000" b="50000"/>
                </a:path>
              </a:gradFill>
              <a:ln w="9525">
                <a:noFill/>
                <a:miter lim="800000"/>
              </a:ln>
            </p:spPr>
            <p:txBody>
              <a:bodyPr rot="10800000" vert="eaVert"/>
              <a:lstStyle/>
              <a:p>
                <a:pPr fontAlgn="base">
                  <a:spcBef>
                    <a:spcPct val="0"/>
                  </a:spcBef>
                  <a:spcAft>
                    <a:spcPct val="0"/>
                  </a:spcAft>
                  <a:defRPr/>
                </a:pPr>
                <a:endParaRPr kumimoji="1" lang="zh-CN" altLang="zh-CN" sz="2400">
                  <a:solidFill>
                    <a:srgbClr val="080808"/>
                  </a:solidFill>
                  <a:latin typeface="Times New Roman" panose="02020603050405020304" pitchFamily="18" charset="0"/>
                </a:endParaRPr>
              </a:p>
            </p:txBody>
          </p:sp>
          <p:sp>
            <p:nvSpPr>
              <p:cNvPr id="2069" name="Rectangle 20"/>
              <p:cNvSpPr>
                <a:spLocks noChangeArrowheads="1"/>
              </p:cNvSpPr>
              <p:nvPr userDrawn="1"/>
            </p:nvSpPr>
            <p:spPr bwMode="blackWhite">
              <a:xfrm rot="5400000">
                <a:off x="1656" y="-1"/>
                <a:ext cx="181" cy="181"/>
              </a:xfrm>
              <a:prstGeom prst="rect">
                <a:avLst/>
              </a:prstGeom>
              <a:gradFill rotWithShape="1">
                <a:gsLst>
                  <a:gs pos="0">
                    <a:srgbClr val="FFFCFF"/>
                  </a:gs>
                  <a:gs pos="100000">
                    <a:srgbClr val="D7E5ED"/>
                  </a:gs>
                </a:gsLst>
                <a:path path="shape">
                  <a:fillToRect l="50000" t="50000" r="50000" b="50000"/>
                </a:path>
              </a:gradFill>
              <a:ln w="9525">
                <a:noFill/>
                <a:miter lim="800000"/>
              </a:ln>
            </p:spPr>
            <p:txBody>
              <a:bodyPr rot="10800000" vert="eaVert"/>
              <a:lstStyle/>
              <a:p>
                <a:pPr fontAlgn="base">
                  <a:spcBef>
                    <a:spcPct val="0"/>
                  </a:spcBef>
                  <a:spcAft>
                    <a:spcPct val="0"/>
                  </a:spcAft>
                  <a:defRPr/>
                </a:pPr>
                <a:endParaRPr kumimoji="1" lang="zh-CN" altLang="zh-CN" sz="2400">
                  <a:solidFill>
                    <a:srgbClr val="080808"/>
                  </a:solidFill>
                  <a:latin typeface="Times New Roman" panose="02020603050405020304" pitchFamily="18" charset="0"/>
                </a:endParaRPr>
              </a:p>
            </p:txBody>
          </p:sp>
          <p:sp>
            <p:nvSpPr>
              <p:cNvPr id="2070" name="Rectangle 21"/>
              <p:cNvSpPr>
                <a:spLocks noChangeArrowheads="1"/>
              </p:cNvSpPr>
              <p:nvPr userDrawn="1"/>
            </p:nvSpPr>
            <p:spPr bwMode="blackWhite">
              <a:xfrm rot="5400000">
                <a:off x="6735" y="4138"/>
                <a:ext cx="181" cy="181"/>
              </a:xfrm>
              <a:prstGeom prst="rect">
                <a:avLst/>
              </a:prstGeom>
              <a:gradFill rotWithShape="1">
                <a:gsLst>
                  <a:gs pos="0">
                    <a:srgbClr val="FFFCFF"/>
                  </a:gs>
                  <a:gs pos="100000">
                    <a:srgbClr val="D7E5ED"/>
                  </a:gs>
                </a:gsLst>
                <a:path path="shape">
                  <a:fillToRect l="50000" t="50000" r="50000" b="50000"/>
                </a:path>
              </a:gradFill>
              <a:ln w="9525">
                <a:noFill/>
                <a:miter lim="800000"/>
              </a:ln>
            </p:spPr>
            <p:txBody>
              <a:bodyPr rot="10800000" vert="eaVert"/>
              <a:lstStyle/>
              <a:p>
                <a:pPr fontAlgn="base">
                  <a:spcBef>
                    <a:spcPct val="0"/>
                  </a:spcBef>
                  <a:spcAft>
                    <a:spcPct val="0"/>
                  </a:spcAft>
                  <a:defRPr/>
                </a:pPr>
                <a:endParaRPr kumimoji="1" lang="zh-CN" altLang="zh-CN" sz="2400">
                  <a:solidFill>
                    <a:srgbClr val="080808"/>
                  </a:solidFill>
                  <a:latin typeface="Times New Roman" panose="02020603050405020304" pitchFamily="18" charset="0"/>
                </a:endParaRPr>
              </a:p>
            </p:txBody>
          </p:sp>
        </p:grpSp>
      </p:grpSp>
      <p:graphicFrame>
        <p:nvGraphicFramePr>
          <p:cNvPr id="2050" name="Object 22">
            <a:hlinkClick r:id="rId16" action="ppaction://hlinksldjump"/>
          </p:cNvPr>
          <p:cNvGraphicFramePr>
            <a:graphicFrameLocks noChangeAspect="1"/>
          </p:cNvGraphicFramePr>
          <p:nvPr userDrawn="1"/>
        </p:nvGraphicFramePr>
        <p:xfrm>
          <a:off x="309563" y="-42863"/>
          <a:ext cx="790575" cy="377826"/>
        </p:xfrm>
        <a:graphic>
          <a:graphicData uri="http://schemas.openxmlformats.org/presentationml/2006/ole">
            <p:oleObj spid="_x0000_s2049" name="CS ChemDraw Drawing" r:id="rId17" imgW="3314700" imgH="1581150" progId="">
              <p:embed/>
            </p:oleObj>
          </a:graphicData>
        </a:graphic>
      </p:graphicFrame>
      <p:graphicFrame>
        <p:nvGraphicFramePr>
          <p:cNvPr id="2051" name="Object 23">
            <a:hlinkClick r:id="rId18" action="ppaction://hlinksldjump"/>
          </p:cNvPr>
          <p:cNvGraphicFramePr>
            <a:graphicFrameLocks noChangeAspect="1"/>
          </p:cNvGraphicFramePr>
          <p:nvPr userDrawn="1"/>
        </p:nvGraphicFramePr>
        <p:xfrm>
          <a:off x="1146175" y="-42863"/>
          <a:ext cx="796925" cy="377826"/>
        </p:xfrm>
        <a:graphic>
          <a:graphicData uri="http://schemas.openxmlformats.org/presentationml/2006/ole">
            <p:oleObj spid="_x0000_s2052" name="CS ChemDraw Drawing" r:id="rId19" imgW="3314700" imgH="1571625" progId="">
              <p:embed/>
            </p:oleObj>
          </a:graphicData>
        </a:graphic>
      </p:graphicFrame>
      <p:sp>
        <p:nvSpPr>
          <p:cNvPr id="3" name="Rectangle 24"/>
          <p:cNvSpPr>
            <a:spLocks noChangeArrowheads="1"/>
          </p:cNvSpPr>
          <p:nvPr userDrawn="1"/>
        </p:nvSpPr>
        <p:spPr bwMode="auto">
          <a:xfrm>
            <a:off x="152400" y="457200"/>
            <a:ext cx="1212850" cy="641350"/>
          </a:xfrm>
          <a:prstGeom prst="rect">
            <a:avLst/>
          </a:prstGeom>
          <a:noFill/>
          <a:ln w="9525">
            <a:noFill/>
            <a:miter lim="800000"/>
          </a:ln>
        </p:spPr>
        <p:txBody>
          <a:bodyPr wrap="none">
            <a:spAutoFit/>
          </a:bodyPr>
          <a:lstStyle/>
          <a:p>
            <a:pPr algn="ctr" fontAlgn="base">
              <a:spcBef>
                <a:spcPct val="0"/>
              </a:spcBef>
              <a:spcAft>
                <a:spcPct val="0"/>
              </a:spcAft>
              <a:defRPr/>
            </a:pPr>
            <a:r>
              <a:rPr lang="en-US" altLang="zh-CN" b="1" i="1">
                <a:solidFill>
                  <a:srgbClr val="FF00FF"/>
                </a:solidFill>
                <a:latin typeface="隶书" panose="02010509060101010101" pitchFamily="49" charset="-122"/>
                <a:ea typeface="隶书" panose="02010509060101010101" pitchFamily="49" charset="-122"/>
              </a:rPr>
              <a:t>Inorganic</a:t>
            </a:r>
          </a:p>
          <a:p>
            <a:pPr algn="ctr" fontAlgn="base">
              <a:spcBef>
                <a:spcPct val="0"/>
              </a:spcBef>
              <a:spcAft>
                <a:spcPct val="0"/>
              </a:spcAft>
              <a:defRPr/>
            </a:pPr>
            <a:r>
              <a:rPr lang="en-US" altLang="zh-CN" b="1" i="1">
                <a:solidFill>
                  <a:srgbClr val="FF00FF"/>
                </a:solidFill>
                <a:latin typeface="隶书" panose="02010509060101010101" pitchFamily="49" charset="-122"/>
                <a:ea typeface="隶书" panose="02010509060101010101" pitchFamily="49" charset="-122"/>
              </a:rPr>
              <a:t>chemistry</a:t>
            </a:r>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4.v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5.v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oleObject" Target="../embeddings/oleObject10.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hyperlink" Target="https://en.wikipedia.org/wiki/Disappearance_of_Harold_Holt" TargetMode="External"/><Relationship Id="rId2" Type="http://schemas.openxmlformats.org/officeDocument/2006/relationships/hyperlink" Target="https://en.wikipedia.org/wiki/List_of_Prime_Ministers_of_Australia" TargetMode="External"/><Relationship Id="rId1" Type="http://schemas.openxmlformats.org/officeDocument/2006/relationships/slideLayout" Target="../slideLayouts/slideLayout12.xml"/><Relationship Id="rId4" Type="http://schemas.openxmlformats.org/officeDocument/2006/relationships/hyperlink" Target="https://en.wikipedia.org/wiki/The_Prime_Minister_Was_a_Spy" TargetMode="Externa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4.xml"/><Relationship Id="rId1" Type="http://schemas.openxmlformats.org/officeDocument/2006/relationships/vmlDrawing" Target="../drawings/vmlDrawing8.v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vmlDrawing" Target="../drawings/vmlDrawing9.vml"/><Relationship Id="rId4" Type="http://schemas.openxmlformats.org/officeDocument/2006/relationships/oleObject" Target="../embeddings/oleObject14.bin"/></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image" Target="../media/image19.png"/><Relationship Id="rId5" Type="http://schemas.openxmlformats.org/officeDocument/2006/relationships/oleObject" Target="../embeddings/oleObject17.bin"/><Relationship Id="rId4" Type="http://schemas.openxmlformats.org/officeDocument/2006/relationships/oleObject" Target="../embeddings/oleObject16.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vmlDrawing" Target="../drawings/vmlDrawing11.vml"/><Relationship Id="rId4" Type="http://schemas.openxmlformats.org/officeDocument/2006/relationships/oleObject" Target="../embeddings/oleObject18.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vmlDrawing" Target="../drawings/vmlDrawing12.vml"/><Relationship Id="rId4" Type="http://schemas.openxmlformats.org/officeDocument/2006/relationships/oleObject" Target="../embeddings/oleObject19.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3.v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vmlDrawing" Target="../drawings/vmlDrawing14.vml"/><Relationship Id="rId4" Type="http://schemas.openxmlformats.org/officeDocument/2006/relationships/oleObject" Target="../embeddings/oleObject21.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26.jpeg"/><Relationship Id="rId4" Type="http://schemas.openxmlformats.org/officeDocument/2006/relationships/image" Target="../media/image25.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2.bin"/><Relationship Id="rId7" Type="http://schemas.openxmlformats.org/officeDocument/2006/relationships/oleObject" Target="../embeddings/oleObject26.bin"/><Relationship Id="rId2" Type="http://schemas.openxmlformats.org/officeDocument/2006/relationships/slideLayout" Target="../slideLayouts/slideLayout12.xml"/><Relationship Id="rId1" Type="http://schemas.openxmlformats.org/officeDocument/2006/relationships/vmlDrawing" Target="../drawings/vmlDrawing15.vml"/><Relationship Id="rId6" Type="http://schemas.openxmlformats.org/officeDocument/2006/relationships/oleObject" Target="../embeddings/oleObject25.bin"/><Relationship Id="rId5" Type="http://schemas.openxmlformats.org/officeDocument/2006/relationships/oleObject" Target="../embeddings/oleObject24.bin"/><Relationship Id="rId4" Type="http://schemas.openxmlformats.org/officeDocument/2006/relationships/oleObject" Target="../embeddings/oleObject23.bin"/></Relationships>
</file>

<file path=ppt/slides/_rels/slide4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slideLayout" Target="../slideLayouts/slideLayout12.xml"/><Relationship Id="rId1" Type="http://schemas.openxmlformats.org/officeDocument/2006/relationships/vmlDrawing" Target="../drawings/vmlDrawing16.vml"/><Relationship Id="rId4" Type="http://schemas.openxmlformats.org/officeDocument/2006/relationships/oleObject" Target="../embeddings/oleObject27.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7.v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oleObject" Target="../embeddings/oleObject30.bin"/></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9.v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vmlDrawing" Target="../drawings/vmlDrawing20.vml"/><Relationship Id="rId4" Type="http://schemas.openxmlformats.org/officeDocument/2006/relationships/oleObject" Target="../embeddings/oleObject32.bin"/></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12.xml"/><Relationship Id="rId1" Type="http://schemas.openxmlformats.org/officeDocument/2006/relationships/vmlDrawing" Target="../drawings/vmlDrawing21.vml"/><Relationship Id="rId4" Type="http://schemas.openxmlformats.org/officeDocument/2006/relationships/oleObject" Target="../embeddings/oleObject34.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4818" name="组合 11"/>
          <p:cNvGrpSpPr/>
          <p:nvPr/>
        </p:nvGrpSpPr>
        <p:grpSpPr bwMode="auto">
          <a:xfrm>
            <a:off x="735330" y="222885"/>
            <a:ext cx="7162800" cy="1096645"/>
            <a:chOff x="762000" y="228600"/>
            <a:chExt cx="7162800" cy="1096645"/>
          </a:xfrm>
        </p:grpSpPr>
        <p:sp>
          <p:nvSpPr>
            <p:cNvPr id="116740" name="Rectangle 4"/>
            <p:cNvSpPr>
              <a:spLocks noChangeArrowheads="1"/>
            </p:cNvSpPr>
            <p:nvPr/>
          </p:nvSpPr>
          <p:spPr bwMode="auto">
            <a:xfrm>
              <a:off x="762000" y="228600"/>
              <a:ext cx="7162800" cy="533400"/>
            </a:xfrm>
            <a:prstGeom prst="rect">
              <a:avLst/>
            </a:prstGeom>
            <a:solidFill>
              <a:schemeClr val="bg2">
                <a:lumMod val="60000"/>
                <a:lumOff val="40000"/>
              </a:schemeClr>
            </a:solidFill>
            <a:ln w="9525">
              <a:noFill/>
              <a:miter lim="800000"/>
            </a:ln>
          </p:spPr>
          <p:txBody>
            <a:bodyPr/>
            <a:lstStyle/>
            <a:p>
              <a:pPr algn="ctr" fontAlgn="base">
                <a:spcBef>
                  <a:spcPct val="0"/>
                </a:spcBef>
                <a:spcAft>
                  <a:spcPct val="0"/>
                </a:spcAft>
                <a:defRPr/>
              </a:pPr>
              <a:r>
                <a:rPr lang="en-US" altLang="zh-CN" sz="3000" b="1" i="1" dirty="0">
                  <a:solidFill>
                    <a:srgbClr val="FF0000"/>
                  </a:solidFill>
                  <a:latin typeface="Times New Roman" panose="02020603050405020304"/>
                  <a:ea typeface="楷体_GB2312" pitchFamily="49" charset="-122"/>
                </a:rPr>
                <a:t>Chapter Two    </a:t>
              </a:r>
              <a:r>
                <a:rPr lang="en-US" altLang="zh-CN" sz="3000" b="1" i="1" dirty="0" err="1">
                  <a:solidFill>
                    <a:srgbClr val="FF0000"/>
                  </a:solidFill>
                  <a:latin typeface="Times New Roman" panose="02020603050405020304"/>
                  <a:ea typeface="楷体_GB2312" pitchFamily="49" charset="-122"/>
                </a:rPr>
                <a:t>Thermochemistry</a:t>
              </a:r>
              <a:r>
                <a:rPr lang="zh-CN" altLang="en-US" sz="3000" b="1" i="1" dirty="0">
                  <a:solidFill>
                    <a:srgbClr val="FF0000"/>
                  </a:solidFill>
                  <a:latin typeface="Times New Roman" panose="02020603050405020304"/>
                  <a:ea typeface="楷体_GB2312" pitchFamily="49" charset="-122"/>
                </a:rPr>
                <a:t> </a:t>
              </a:r>
              <a:endParaRPr lang="zh-CN" altLang="en-US" sz="2400" b="1" i="1" dirty="0">
                <a:solidFill>
                  <a:srgbClr val="FF0000"/>
                </a:solidFill>
                <a:latin typeface="Times New Roman" panose="02020603050405020304"/>
                <a:ea typeface="楷体_GB2312" pitchFamily="49" charset="-122"/>
              </a:endParaRPr>
            </a:p>
          </p:txBody>
        </p:sp>
        <p:sp>
          <p:nvSpPr>
            <p:cNvPr id="38915" name="矩形 9"/>
            <p:cNvSpPr>
              <a:spLocks noChangeArrowheads="1"/>
            </p:cNvSpPr>
            <p:nvPr/>
          </p:nvSpPr>
          <p:spPr bwMode="auto">
            <a:xfrm>
              <a:off x="2438400" y="914400"/>
              <a:ext cx="4531360" cy="410845"/>
            </a:xfrm>
            <a:prstGeom prst="rect">
              <a:avLst/>
            </a:prstGeom>
            <a:solidFill>
              <a:schemeClr val="bg2">
                <a:lumMod val="40000"/>
                <a:lumOff val="60000"/>
              </a:schemeClr>
            </a:solidFill>
            <a:ln w="9525">
              <a:noFill/>
              <a:miter lim="800000"/>
            </a:ln>
          </p:spPr>
          <p:txBody>
            <a:bodyPr wrap="square">
              <a:spAutoFit/>
            </a:bodyPr>
            <a:lstStyle/>
            <a:p>
              <a:pPr eaLnBrk="0" fontAlgn="base" hangingPunct="0">
                <a:lnSpc>
                  <a:spcPct val="80000"/>
                </a:lnSpc>
                <a:spcBef>
                  <a:spcPct val="50000"/>
                </a:spcBef>
                <a:spcAft>
                  <a:spcPct val="0"/>
                </a:spcAft>
                <a:defRPr/>
              </a:pPr>
              <a:r>
                <a:rPr lang="en-US" altLang="zh-CN" sz="2600" b="1" i="1" dirty="0">
                  <a:solidFill>
                    <a:srgbClr val="C00000"/>
                  </a:solidFill>
                  <a:latin typeface="Times New Roman" panose="02020603050405020304" pitchFamily="18" charset="0"/>
                  <a:ea typeface="楷体_GB2312" pitchFamily="49" charset="-122"/>
                </a:rPr>
                <a:t>Chemical  Thermodynamics-1</a:t>
              </a:r>
            </a:p>
          </p:txBody>
        </p:sp>
      </p:grpSp>
      <p:sp>
        <p:nvSpPr>
          <p:cNvPr id="34819" name="Rectangle 4"/>
          <p:cNvSpPr>
            <a:spLocks noChangeArrowheads="1"/>
          </p:cNvSpPr>
          <p:nvPr/>
        </p:nvSpPr>
        <p:spPr bwMode="auto">
          <a:xfrm>
            <a:off x="762000" y="2133600"/>
            <a:ext cx="7772400" cy="27432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fontAlgn="base">
              <a:lnSpc>
                <a:spcPts val="4000"/>
              </a:lnSpc>
              <a:spcBef>
                <a:spcPct val="0"/>
              </a:spcBef>
              <a:spcAft>
                <a:spcPct val="0"/>
              </a:spcAft>
            </a:pPr>
            <a:r>
              <a:rPr lang="zh-CN" altLang="en-US" sz="2600" b="1" smtClean="0">
                <a:solidFill>
                  <a:srgbClr val="000000"/>
                </a:solidFill>
                <a:latin typeface="Times New Roman" panose="02020603050405020304" pitchFamily="18" charset="0"/>
              </a:rPr>
              <a:t>要解决三大问题：</a:t>
            </a:r>
            <a:endParaRPr lang="en-US" altLang="zh-CN" sz="2600" b="1" smtClean="0">
              <a:solidFill>
                <a:srgbClr val="000000"/>
              </a:solidFill>
              <a:latin typeface="Times New Roman" panose="02020603050405020304" pitchFamily="18" charset="0"/>
            </a:endParaRPr>
          </a:p>
          <a:p>
            <a:pPr fontAlgn="base">
              <a:lnSpc>
                <a:spcPts val="4000"/>
              </a:lnSpc>
              <a:spcBef>
                <a:spcPct val="0"/>
              </a:spcBef>
              <a:spcAft>
                <a:spcPct val="0"/>
              </a:spcAft>
            </a:pPr>
            <a:r>
              <a:rPr lang="en-US" altLang="zh-CN" sz="2600" b="1" smtClean="0">
                <a:solidFill>
                  <a:srgbClr val="000000"/>
                </a:solidFill>
                <a:latin typeface="Times New Roman" panose="02020603050405020304" pitchFamily="18" charset="0"/>
              </a:rPr>
              <a:t>                          1</a:t>
            </a:r>
            <a:r>
              <a:rPr lang="zh-CN" altLang="en-US" sz="2600" b="1" smtClean="0">
                <a:solidFill>
                  <a:srgbClr val="000000"/>
                </a:solidFill>
                <a:latin typeface="Times New Roman" panose="02020603050405020304" pitchFamily="18" charset="0"/>
              </a:rPr>
              <a:t>、吸热放热的多少</a:t>
            </a:r>
            <a:r>
              <a:rPr lang="en-US" altLang="zh-CN" sz="2600" b="1" smtClean="0">
                <a:solidFill>
                  <a:srgbClr val="000000"/>
                </a:solidFill>
                <a:latin typeface="Times New Roman" panose="02020603050405020304" pitchFamily="18" charset="0"/>
              </a:rPr>
              <a:t>---</a:t>
            </a:r>
            <a:r>
              <a:rPr lang="zh-CN" altLang="en-US" sz="2600" b="1" i="1" smtClean="0">
                <a:solidFill>
                  <a:srgbClr val="C00000"/>
                </a:solidFill>
                <a:latin typeface="Times New Roman" panose="02020603050405020304" pitchFamily="18" charset="0"/>
              </a:rPr>
              <a:t> △</a:t>
            </a:r>
            <a:r>
              <a:rPr lang="en-US" altLang="zh-CN" sz="2600" b="1" i="1" baseline="-25000" smtClean="0">
                <a:solidFill>
                  <a:srgbClr val="C00000"/>
                </a:solidFill>
                <a:latin typeface="Times New Roman" panose="02020603050405020304" pitchFamily="18" charset="0"/>
              </a:rPr>
              <a:t>r</a:t>
            </a:r>
            <a:r>
              <a:rPr lang="en-US" altLang="zh-CN" sz="2600" b="1" i="1" smtClean="0">
                <a:solidFill>
                  <a:srgbClr val="C00000"/>
                </a:solidFill>
                <a:latin typeface="Times New Roman" panose="02020603050405020304" pitchFamily="18" charset="0"/>
              </a:rPr>
              <a:t>H</a:t>
            </a:r>
            <a:r>
              <a:rPr lang="en-US" altLang="zh-CN" sz="2600" b="1" i="1" baseline="-25000" smtClean="0">
                <a:solidFill>
                  <a:srgbClr val="C00000"/>
                </a:solidFill>
                <a:latin typeface="Times New Roman" panose="02020603050405020304" pitchFamily="18" charset="0"/>
              </a:rPr>
              <a:t>m</a:t>
            </a:r>
            <a:r>
              <a:rPr lang="el-GR" altLang="zh-CN" sz="2600" b="1" i="1" baseline="30000" smtClean="0">
                <a:solidFill>
                  <a:srgbClr val="C00000"/>
                </a:solidFill>
                <a:latin typeface="Times New Roman" panose="02020603050405020304" pitchFamily="18" charset="0"/>
              </a:rPr>
              <a:t>Θ</a:t>
            </a:r>
            <a:r>
              <a:rPr lang="en-US" altLang="zh-CN" sz="2600" b="1" smtClean="0">
                <a:solidFill>
                  <a:srgbClr val="000000"/>
                </a:solidFill>
                <a:latin typeface="Times New Roman" panose="02020603050405020304" pitchFamily="18" charset="0"/>
              </a:rPr>
              <a:t>                         </a:t>
            </a:r>
          </a:p>
          <a:p>
            <a:pPr fontAlgn="base">
              <a:lnSpc>
                <a:spcPts val="4000"/>
              </a:lnSpc>
              <a:spcBef>
                <a:spcPct val="0"/>
              </a:spcBef>
              <a:spcAft>
                <a:spcPct val="0"/>
              </a:spcAft>
            </a:pPr>
            <a:r>
              <a:rPr lang="en-US" altLang="zh-CN" sz="2600" b="1" smtClean="0">
                <a:solidFill>
                  <a:srgbClr val="000000"/>
                </a:solidFill>
                <a:latin typeface="Times New Roman" panose="02020603050405020304" pitchFamily="18" charset="0"/>
              </a:rPr>
              <a:t>                          2</a:t>
            </a:r>
            <a:r>
              <a:rPr lang="zh-CN" altLang="en-US" sz="2600" b="1" smtClean="0">
                <a:solidFill>
                  <a:srgbClr val="000000"/>
                </a:solidFill>
                <a:latin typeface="Times New Roman" panose="02020603050405020304" pitchFamily="18" charset="0"/>
              </a:rPr>
              <a:t>、化学反应的判据</a:t>
            </a:r>
            <a:r>
              <a:rPr lang="en-US" altLang="zh-CN" sz="2600" b="1" smtClean="0">
                <a:solidFill>
                  <a:srgbClr val="000000"/>
                </a:solidFill>
                <a:latin typeface="Times New Roman" panose="02020603050405020304" pitchFamily="18" charset="0"/>
              </a:rPr>
              <a:t>---</a:t>
            </a:r>
            <a:r>
              <a:rPr lang="zh-CN" altLang="en-US" sz="2600" b="1" i="1" smtClean="0">
                <a:solidFill>
                  <a:srgbClr val="000000"/>
                </a:solidFill>
                <a:latin typeface="Times New Roman" panose="02020603050405020304" pitchFamily="18" charset="0"/>
              </a:rPr>
              <a:t> </a:t>
            </a:r>
            <a:r>
              <a:rPr lang="zh-CN" altLang="en-US" sz="2600" b="1" i="1" smtClean="0">
                <a:solidFill>
                  <a:srgbClr val="C00000"/>
                </a:solidFill>
                <a:latin typeface="Times New Roman" panose="02020603050405020304" pitchFamily="18" charset="0"/>
              </a:rPr>
              <a:t>△</a:t>
            </a:r>
            <a:r>
              <a:rPr lang="en-US" altLang="zh-CN" sz="2600" b="1" i="1" baseline="-25000" smtClean="0">
                <a:solidFill>
                  <a:srgbClr val="C00000"/>
                </a:solidFill>
                <a:latin typeface="Times New Roman" panose="02020603050405020304" pitchFamily="18" charset="0"/>
              </a:rPr>
              <a:t>r</a:t>
            </a:r>
            <a:r>
              <a:rPr lang="en-US" altLang="zh-CN" sz="2600" b="1" i="1" smtClean="0">
                <a:solidFill>
                  <a:srgbClr val="C00000"/>
                </a:solidFill>
                <a:latin typeface="Times New Roman" panose="02020603050405020304" pitchFamily="18" charset="0"/>
              </a:rPr>
              <a:t>G</a:t>
            </a:r>
            <a:r>
              <a:rPr lang="en-US" altLang="zh-CN" sz="2600" b="1" i="1" baseline="-25000" smtClean="0">
                <a:solidFill>
                  <a:srgbClr val="C00000"/>
                </a:solidFill>
                <a:latin typeface="Times New Roman" panose="02020603050405020304" pitchFamily="18" charset="0"/>
              </a:rPr>
              <a:t>m</a:t>
            </a:r>
            <a:r>
              <a:rPr lang="el-GR" altLang="zh-CN" sz="2600" b="1" i="1" baseline="30000" smtClean="0">
                <a:solidFill>
                  <a:srgbClr val="C00000"/>
                </a:solidFill>
                <a:latin typeface="Times New Roman" panose="02020603050405020304" pitchFamily="18" charset="0"/>
              </a:rPr>
              <a:t>Θ</a:t>
            </a:r>
            <a:r>
              <a:rPr lang="en-US" altLang="zh-CN" sz="2600" b="1" i="1" smtClean="0">
                <a:solidFill>
                  <a:srgbClr val="C00000"/>
                </a:solidFill>
                <a:latin typeface="Times New Roman" panose="02020603050405020304" pitchFamily="18" charset="0"/>
              </a:rPr>
              <a:t> </a:t>
            </a:r>
            <a:endParaRPr lang="en-US" altLang="zh-CN" sz="2600" b="1" smtClean="0">
              <a:solidFill>
                <a:srgbClr val="C00000"/>
              </a:solidFill>
              <a:latin typeface="Times New Roman" panose="02020603050405020304" pitchFamily="18" charset="0"/>
            </a:endParaRPr>
          </a:p>
          <a:p>
            <a:pPr fontAlgn="base">
              <a:lnSpc>
                <a:spcPts val="4000"/>
              </a:lnSpc>
              <a:spcBef>
                <a:spcPct val="0"/>
              </a:spcBef>
              <a:spcAft>
                <a:spcPct val="0"/>
              </a:spcAft>
            </a:pPr>
            <a:r>
              <a:rPr lang="en-US" altLang="zh-CN" sz="2600" b="1" smtClean="0">
                <a:solidFill>
                  <a:srgbClr val="000000"/>
                </a:solidFill>
                <a:latin typeface="Times New Roman" panose="02020603050405020304" pitchFamily="18" charset="0"/>
              </a:rPr>
              <a:t>                          3</a:t>
            </a:r>
            <a:r>
              <a:rPr lang="zh-CN" altLang="en-US" sz="2600" b="1" smtClean="0">
                <a:solidFill>
                  <a:srgbClr val="000000"/>
                </a:solidFill>
                <a:latin typeface="Times New Roman" panose="02020603050405020304" pitchFamily="18" charset="0"/>
              </a:rPr>
              <a:t>、化学反应的程度</a:t>
            </a:r>
            <a:r>
              <a:rPr lang="en-US" altLang="zh-CN" sz="2600" b="1" smtClean="0">
                <a:solidFill>
                  <a:srgbClr val="000000"/>
                </a:solidFill>
                <a:latin typeface="Times New Roman" panose="02020603050405020304" pitchFamily="18" charset="0"/>
              </a:rPr>
              <a:t>---</a:t>
            </a:r>
            <a:r>
              <a:rPr lang="en-US" altLang="zh-CN" sz="2600" b="1" smtClean="0">
                <a:solidFill>
                  <a:srgbClr val="C00000"/>
                </a:solidFill>
                <a:latin typeface="Times New Roman" panose="02020603050405020304" pitchFamily="18" charset="0"/>
              </a:rPr>
              <a:t>K</a:t>
            </a:r>
            <a:r>
              <a:rPr lang="el-GR" altLang="zh-CN" sz="2600" b="1" i="1" baseline="30000" smtClean="0">
                <a:solidFill>
                  <a:srgbClr val="C00000"/>
                </a:solidFill>
                <a:latin typeface="Times New Roman" panose="02020603050405020304" pitchFamily="18" charset="0"/>
              </a:rPr>
              <a:t>Θ</a:t>
            </a:r>
            <a:endParaRPr lang="zh-CN" altLang="en-US" sz="2600" b="1" smtClean="0">
              <a:solidFill>
                <a:srgbClr val="C00000"/>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14" name="Line 14"/>
          <p:cNvSpPr>
            <a:spLocks noChangeShapeType="1"/>
          </p:cNvSpPr>
          <p:nvPr/>
        </p:nvSpPr>
        <p:spPr bwMode="auto">
          <a:xfrm>
            <a:off x="457200" y="6126163"/>
            <a:ext cx="8229600" cy="0"/>
          </a:xfrm>
          <a:prstGeom prst="line">
            <a:avLst/>
          </a:prstGeom>
          <a:noFill/>
          <a:ln w="9525">
            <a:noFill/>
            <a:round/>
          </a:ln>
          <a:effectLst>
            <a:outerShdw sy="50000" kx="2453608" rotWithShape="0">
              <a:srgbClr val="808080">
                <a:alpha val="50000"/>
              </a:srgbClr>
            </a:outerShdw>
          </a:effectLst>
        </p:spPr>
        <p:txBody>
          <a:bodyPr lIns="92075" tIns="46038" rIns="92075" bIns="46038">
            <a:spAutoFit/>
          </a:bodyPr>
          <a:lstStyle/>
          <a:p>
            <a:pPr eaLnBrk="0" fontAlgn="base" hangingPunct="0">
              <a:lnSpc>
                <a:spcPct val="80000"/>
              </a:lnSpc>
              <a:spcBef>
                <a:spcPct val="50000"/>
              </a:spcBef>
              <a:spcAft>
                <a:spcPct val="0"/>
              </a:spcAft>
              <a:defRPr/>
            </a:pPr>
            <a:endParaRPr kumimoji="1" lang="zh-CN" altLang="en-US" sz="2600" b="1" i="1">
              <a:solidFill>
                <a:srgbClr val="000000"/>
              </a:solidFill>
              <a:latin typeface="Times New Roman" panose="02020603050405020304" pitchFamily="18" charset="0"/>
              <a:ea typeface="楷体_GB2312" pitchFamily="49" charset="-122"/>
            </a:endParaRPr>
          </a:p>
        </p:txBody>
      </p:sp>
      <p:sp>
        <p:nvSpPr>
          <p:cNvPr id="256015" name="Line 15"/>
          <p:cNvSpPr>
            <a:spLocks noChangeShapeType="1"/>
          </p:cNvSpPr>
          <p:nvPr/>
        </p:nvSpPr>
        <p:spPr bwMode="auto">
          <a:xfrm>
            <a:off x="457200" y="274638"/>
            <a:ext cx="0" cy="5851525"/>
          </a:xfrm>
          <a:prstGeom prst="line">
            <a:avLst/>
          </a:prstGeom>
          <a:noFill/>
          <a:ln w="9525">
            <a:noFill/>
            <a:round/>
          </a:ln>
          <a:effectLst>
            <a:outerShdw sy="50000" kx="2453608" rotWithShape="0">
              <a:srgbClr val="808080">
                <a:alpha val="50000"/>
              </a:srgbClr>
            </a:outerShdw>
          </a:effectLst>
        </p:spPr>
        <p:txBody>
          <a:bodyPr lIns="92075" tIns="46038" rIns="92075" bIns="46038">
            <a:spAutoFit/>
          </a:bodyPr>
          <a:lstStyle/>
          <a:p>
            <a:pPr eaLnBrk="0" fontAlgn="base" hangingPunct="0">
              <a:lnSpc>
                <a:spcPct val="80000"/>
              </a:lnSpc>
              <a:spcBef>
                <a:spcPct val="50000"/>
              </a:spcBef>
              <a:spcAft>
                <a:spcPct val="0"/>
              </a:spcAft>
              <a:defRPr/>
            </a:pPr>
            <a:endParaRPr kumimoji="1" lang="zh-CN" altLang="en-US" sz="2600" b="1" i="1">
              <a:solidFill>
                <a:srgbClr val="000000"/>
              </a:solidFill>
              <a:latin typeface="Times New Roman" panose="02020603050405020304" pitchFamily="18" charset="0"/>
              <a:ea typeface="楷体_GB2312" pitchFamily="49" charset="-122"/>
            </a:endParaRPr>
          </a:p>
        </p:txBody>
      </p:sp>
      <p:grpSp>
        <p:nvGrpSpPr>
          <p:cNvPr id="35844" name="组合 10"/>
          <p:cNvGrpSpPr/>
          <p:nvPr/>
        </p:nvGrpSpPr>
        <p:grpSpPr bwMode="auto">
          <a:xfrm>
            <a:off x="357909" y="152400"/>
            <a:ext cx="8872538" cy="5638800"/>
            <a:chOff x="357909" y="152400"/>
            <a:chExt cx="8872538" cy="5851525"/>
          </a:xfrm>
        </p:grpSpPr>
        <p:grpSp>
          <p:nvGrpSpPr>
            <p:cNvPr id="35845" name="Group 21"/>
            <p:cNvGrpSpPr/>
            <p:nvPr/>
          </p:nvGrpSpPr>
          <p:grpSpPr bwMode="auto">
            <a:xfrm>
              <a:off x="357909" y="228600"/>
              <a:ext cx="8872538" cy="5775325"/>
              <a:chOff x="272" y="125"/>
              <a:chExt cx="5346" cy="3638"/>
            </a:xfrm>
          </p:grpSpPr>
          <p:sp>
            <p:nvSpPr>
              <p:cNvPr id="35847" name="Rectangle 12"/>
              <p:cNvSpPr>
                <a:spLocks noChangeArrowheads="1"/>
              </p:cNvSpPr>
              <p:nvPr/>
            </p:nvSpPr>
            <p:spPr bwMode="auto">
              <a:xfrm>
                <a:off x="338" y="2899"/>
                <a:ext cx="5280" cy="864"/>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nchor="ctr"/>
              <a:lstStyle/>
              <a:p>
                <a:pPr marL="342900" indent="-342900" fontAlgn="base">
                  <a:lnSpc>
                    <a:spcPts val="3600"/>
                  </a:lnSpc>
                  <a:spcBef>
                    <a:spcPct val="0"/>
                  </a:spcBef>
                  <a:spcAft>
                    <a:spcPct val="0"/>
                  </a:spcAft>
                </a:pPr>
                <a:r>
                  <a:rPr lang="en-US" altLang="zh-CN" sz="2600" b="1" i="1" smtClean="0">
                    <a:solidFill>
                      <a:srgbClr val="990000"/>
                    </a:solidFill>
                    <a:latin typeface="Times New Roman" panose="02020603050405020304" pitchFamily="18" charset="0"/>
                  </a:rPr>
                  <a:t>Third law: </a:t>
                </a:r>
              </a:p>
              <a:p>
                <a:pPr marL="342900" indent="-342900" fontAlgn="base">
                  <a:lnSpc>
                    <a:spcPts val="3600"/>
                  </a:lnSpc>
                  <a:spcBef>
                    <a:spcPct val="0"/>
                  </a:spcBef>
                  <a:spcAft>
                    <a:spcPct val="0"/>
                  </a:spcAft>
                </a:pPr>
                <a:r>
                  <a:rPr lang="en-US" altLang="zh-CN" sz="2600" b="1" i="1" smtClean="0">
                    <a:solidFill>
                      <a:srgbClr val="000000"/>
                    </a:solidFill>
                    <a:latin typeface="Times New Roman" panose="02020603050405020304" pitchFamily="18" charset="0"/>
                  </a:rPr>
                  <a:t>               The entropy of a perfect crystal is zero when the temperature of the crystal is equal to absolute zero (0 K).</a:t>
                </a:r>
                <a:endParaRPr lang="en-US" altLang="zh-CN" sz="2600" i="1" smtClean="0">
                  <a:solidFill>
                    <a:srgbClr val="000000"/>
                  </a:solidFill>
                  <a:latin typeface="Times New Roman" panose="02020603050405020304" pitchFamily="18" charset="0"/>
                </a:endParaRPr>
              </a:p>
            </p:txBody>
          </p:sp>
          <p:sp>
            <p:nvSpPr>
              <p:cNvPr id="35848" name="Rectangle 11"/>
              <p:cNvSpPr>
                <a:spLocks noChangeArrowheads="1"/>
              </p:cNvSpPr>
              <p:nvPr/>
            </p:nvSpPr>
            <p:spPr bwMode="auto">
              <a:xfrm>
                <a:off x="272" y="1565"/>
                <a:ext cx="5184" cy="1056"/>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nchor="ctr"/>
              <a:lstStyle/>
              <a:p>
                <a:pPr marL="342900" indent="-342900" fontAlgn="base">
                  <a:lnSpc>
                    <a:spcPts val="3600"/>
                  </a:lnSpc>
                  <a:spcBef>
                    <a:spcPct val="0"/>
                  </a:spcBef>
                  <a:spcAft>
                    <a:spcPct val="0"/>
                  </a:spcAft>
                </a:pPr>
                <a:r>
                  <a:rPr lang="en-US" altLang="zh-CN" sz="2600" b="1" i="1" dirty="0" smtClean="0">
                    <a:solidFill>
                      <a:srgbClr val="990000"/>
                    </a:solidFill>
                    <a:latin typeface="Times New Roman" panose="02020603050405020304" pitchFamily="18" charset="0"/>
                  </a:rPr>
                  <a:t>Second law: </a:t>
                </a:r>
              </a:p>
              <a:p>
                <a:pPr marL="342900" indent="-342900" fontAlgn="base">
                  <a:spcBef>
                    <a:spcPct val="0"/>
                  </a:spcBef>
                  <a:spcAft>
                    <a:spcPct val="0"/>
                  </a:spcAft>
                </a:pPr>
                <a:r>
                  <a:rPr lang="en-US" altLang="zh-CN" sz="2600" b="1" i="1" dirty="0" smtClean="0">
                    <a:solidFill>
                      <a:srgbClr val="000000"/>
                    </a:solidFill>
                    <a:latin typeface="Times New Roman" panose="02020603050405020304" pitchFamily="18" charset="0"/>
                  </a:rPr>
                  <a:t>                In an isolated system, natural processes are </a:t>
                </a:r>
                <a:r>
                  <a:rPr lang="en-US" altLang="zh-CN" sz="2600" b="1" i="1" dirty="0" smtClean="0">
                    <a:solidFill>
                      <a:schemeClr val="accent5">
                        <a:lumMod val="50000"/>
                      </a:schemeClr>
                    </a:solidFill>
                    <a:latin typeface="Times New Roman" panose="02020603050405020304" pitchFamily="18" charset="0"/>
                  </a:rPr>
                  <a:t>spontaneous</a:t>
                </a:r>
                <a:r>
                  <a:rPr lang="en-US" altLang="zh-CN" sz="2600" b="1" i="1" dirty="0" smtClean="0">
                    <a:solidFill>
                      <a:srgbClr val="000000"/>
                    </a:solidFill>
                    <a:latin typeface="Times New Roman" panose="02020603050405020304" pitchFamily="18" charset="0"/>
                  </a:rPr>
                  <a:t> when they lead to an increase in disorder, </a:t>
                </a:r>
              </a:p>
              <a:p>
                <a:pPr marL="342900" indent="-342900" fontAlgn="base">
                  <a:spcBef>
                    <a:spcPct val="0"/>
                  </a:spcBef>
                  <a:spcAft>
                    <a:spcPct val="0"/>
                  </a:spcAft>
                </a:pPr>
                <a:r>
                  <a:rPr lang="en-US" altLang="zh-CN" sz="2600" b="1" i="1" dirty="0" smtClean="0">
                    <a:solidFill>
                      <a:srgbClr val="000000"/>
                    </a:solidFill>
                    <a:latin typeface="Times New Roman" panose="02020603050405020304" pitchFamily="18" charset="0"/>
                  </a:rPr>
                  <a:t>    or entropy. </a:t>
                </a:r>
                <a:endParaRPr lang="en-US" altLang="zh-CN" b="1" i="1" dirty="0" smtClean="0">
                  <a:solidFill>
                    <a:srgbClr val="000000"/>
                  </a:solidFill>
                  <a:latin typeface="Times New Roman" panose="02020603050405020304" pitchFamily="18" charset="0"/>
                </a:endParaRPr>
              </a:p>
            </p:txBody>
          </p:sp>
          <p:sp>
            <p:nvSpPr>
              <p:cNvPr id="35849" name="Rectangle 10"/>
              <p:cNvSpPr>
                <a:spLocks noChangeArrowheads="1"/>
              </p:cNvSpPr>
              <p:nvPr/>
            </p:nvSpPr>
            <p:spPr bwMode="auto">
              <a:xfrm>
                <a:off x="336" y="557"/>
                <a:ext cx="5184" cy="746"/>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nchor="ctr"/>
              <a:lstStyle/>
              <a:p>
                <a:pPr marL="342900" indent="-342900" fontAlgn="base">
                  <a:spcBef>
                    <a:spcPct val="0"/>
                  </a:spcBef>
                  <a:spcAft>
                    <a:spcPct val="0"/>
                  </a:spcAft>
                </a:pPr>
                <a:r>
                  <a:rPr lang="en-US" altLang="zh-CN" sz="2600" b="1" i="1" smtClean="0">
                    <a:solidFill>
                      <a:srgbClr val="990000"/>
                    </a:solidFill>
                    <a:latin typeface="Times New Roman" panose="02020603050405020304" pitchFamily="18" charset="0"/>
                  </a:rPr>
                  <a:t>First law: </a:t>
                </a:r>
              </a:p>
              <a:p>
                <a:pPr marL="342900" indent="-342900" fontAlgn="base">
                  <a:lnSpc>
                    <a:spcPts val="3600"/>
                  </a:lnSpc>
                  <a:spcBef>
                    <a:spcPct val="0"/>
                  </a:spcBef>
                  <a:spcAft>
                    <a:spcPct val="0"/>
                  </a:spcAft>
                </a:pPr>
                <a:r>
                  <a:rPr lang="en-US" altLang="zh-CN" sz="2600" b="1" i="1" smtClean="0">
                    <a:solidFill>
                      <a:srgbClr val="000000"/>
                    </a:solidFill>
                    <a:latin typeface="Times New Roman" panose="02020603050405020304" pitchFamily="18" charset="0"/>
                  </a:rPr>
                  <a:t>              Energy is conserved; it can be neither created nor destroyed.</a:t>
                </a:r>
                <a:endParaRPr lang="en-US" altLang="zh-CN" sz="2600" i="1" smtClean="0">
                  <a:solidFill>
                    <a:srgbClr val="000000"/>
                  </a:solidFill>
                  <a:latin typeface="Times New Roman" panose="02020603050405020304" pitchFamily="18" charset="0"/>
                </a:endParaRPr>
              </a:p>
            </p:txBody>
          </p:sp>
          <p:sp>
            <p:nvSpPr>
              <p:cNvPr id="35850" name="Rectangle 9"/>
              <p:cNvSpPr>
                <a:spLocks noChangeArrowheads="1"/>
              </p:cNvSpPr>
              <p:nvPr/>
            </p:nvSpPr>
            <p:spPr bwMode="auto">
              <a:xfrm>
                <a:off x="720" y="125"/>
                <a:ext cx="4272" cy="47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nchor="ctr"/>
              <a:lstStyle/>
              <a:p>
                <a:pPr marL="342900" indent="-342900" algn="ctr" fontAlgn="base">
                  <a:spcBef>
                    <a:spcPct val="0"/>
                  </a:spcBef>
                  <a:spcAft>
                    <a:spcPct val="0"/>
                  </a:spcAft>
                </a:pPr>
                <a:r>
                  <a:rPr lang="en-US" altLang="zh-CN" sz="2600" b="1" i="1" u="sng" smtClean="0">
                    <a:solidFill>
                      <a:srgbClr val="990000"/>
                    </a:solidFill>
                    <a:latin typeface="Times New Roman" panose="02020603050405020304" pitchFamily="18" charset="0"/>
                  </a:rPr>
                  <a:t>The Laws of Thermodynamics</a:t>
                </a:r>
                <a:endParaRPr lang="en-US" altLang="zh-CN" sz="2600" i="1" smtClean="0">
                  <a:solidFill>
                    <a:srgbClr val="990000"/>
                  </a:solidFill>
                  <a:latin typeface="Times New Roman" panose="02020603050405020304" pitchFamily="18" charset="0"/>
                </a:endParaRPr>
              </a:p>
            </p:txBody>
          </p:sp>
          <p:sp>
            <p:nvSpPr>
              <p:cNvPr id="256013" name="Line 13"/>
              <p:cNvSpPr>
                <a:spLocks noChangeShapeType="1"/>
              </p:cNvSpPr>
              <p:nvPr/>
            </p:nvSpPr>
            <p:spPr bwMode="auto">
              <a:xfrm>
                <a:off x="288" y="166"/>
                <a:ext cx="5184" cy="0"/>
              </a:xfrm>
              <a:prstGeom prst="line">
                <a:avLst/>
              </a:prstGeom>
              <a:noFill/>
              <a:ln w="9525">
                <a:noFill/>
                <a:round/>
              </a:ln>
              <a:effectLst>
                <a:outerShdw sy="50000" kx="2453608" rotWithShape="0">
                  <a:srgbClr val="808080">
                    <a:alpha val="50000"/>
                  </a:srgbClr>
                </a:outerShdw>
              </a:effectLst>
            </p:spPr>
            <p:txBody>
              <a:bodyPr lIns="92075" tIns="46038" rIns="92075" bIns="46038">
                <a:spAutoFit/>
              </a:bodyPr>
              <a:lstStyle/>
              <a:p>
                <a:pPr eaLnBrk="0" fontAlgn="base" hangingPunct="0">
                  <a:lnSpc>
                    <a:spcPct val="80000"/>
                  </a:lnSpc>
                  <a:spcBef>
                    <a:spcPct val="50000"/>
                  </a:spcBef>
                  <a:spcAft>
                    <a:spcPct val="0"/>
                  </a:spcAft>
                  <a:defRPr/>
                </a:pPr>
                <a:endParaRPr kumimoji="1" lang="zh-CN" altLang="en-US" sz="2600" b="1" i="1">
                  <a:solidFill>
                    <a:srgbClr val="000000"/>
                  </a:solidFill>
                  <a:latin typeface="Times New Roman" panose="02020603050405020304" pitchFamily="18" charset="0"/>
                  <a:ea typeface="楷体_GB2312" pitchFamily="49" charset="-122"/>
                </a:endParaRPr>
              </a:p>
            </p:txBody>
          </p:sp>
        </p:grpSp>
        <p:sp>
          <p:nvSpPr>
            <p:cNvPr id="256016" name="Line 16"/>
            <p:cNvSpPr>
              <a:spLocks noChangeShapeType="1"/>
            </p:cNvSpPr>
            <p:nvPr/>
          </p:nvSpPr>
          <p:spPr bwMode="auto">
            <a:xfrm>
              <a:off x="8686800" y="152400"/>
              <a:ext cx="0" cy="5851525"/>
            </a:xfrm>
            <a:prstGeom prst="line">
              <a:avLst/>
            </a:prstGeom>
            <a:noFill/>
            <a:ln w="9525">
              <a:noFill/>
              <a:round/>
            </a:ln>
            <a:effectLst>
              <a:outerShdw sy="50000" kx="2453608" rotWithShape="0">
                <a:srgbClr val="808080">
                  <a:alpha val="50000"/>
                </a:srgbClr>
              </a:outerShdw>
            </a:effectLst>
          </p:spPr>
          <p:txBody>
            <a:bodyPr lIns="92075" tIns="46038" rIns="92075" bIns="46038">
              <a:spAutoFit/>
            </a:bodyPr>
            <a:lstStyle/>
            <a:p>
              <a:pPr eaLnBrk="0" fontAlgn="base" hangingPunct="0">
                <a:lnSpc>
                  <a:spcPct val="80000"/>
                </a:lnSpc>
                <a:spcBef>
                  <a:spcPct val="50000"/>
                </a:spcBef>
                <a:spcAft>
                  <a:spcPct val="0"/>
                </a:spcAft>
                <a:defRPr/>
              </a:pPr>
              <a:endParaRPr kumimoji="1" lang="zh-CN" altLang="en-US" sz="3000" b="1" i="1">
                <a:solidFill>
                  <a:srgbClr val="0000FF"/>
                </a:solidFill>
                <a:latin typeface="Times New Roman" panose="02020603050405020304" pitchFamily="18" charset="0"/>
                <a:ea typeface="楷体_GB2312" pitchFamily="49" charset="-122"/>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6866" name="组合 9"/>
          <p:cNvGrpSpPr/>
          <p:nvPr/>
        </p:nvGrpSpPr>
        <p:grpSpPr bwMode="auto">
          <a:xfrm>
            <a:off x="1285852" y="1214422"/>
            <a:ext cx="6094413" cy="2681288"/>
            <a:chOff x="1371600" y="1295400"/>
            <a:chExt cx="6095047" cy="2680547"/>
          </a:xfrm>
        </p:grpSpPr>
        <p:sp>
          <p:nvSpPr>
            <p:cNvPr id="36867" name="Rectangle 4"/>
            <p:cNvSpPr>
              <a:spLocks noChangeArrowheads="1"/>
            </p:cNvSpPr>
            <p:nvPr/>
          </p:nvSpPr>
          <p:spPr bwMode="auto">
            <a:xfrm>
              <a:off x="1371600" y="1295400"/>
              <a:ext cx="6095047" cy="623147"/>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fontAlgn="base">
                <a:spcBef>
                  <a:spcPct val="0"/>
                </a:spcBef>
                <a:spcAft>
                  <a:spcPct val="0"/>
                </a:spcAft>
              </a:pPr>
              <a:r>
                <a:rPr lang="zh-CN" altLang="en-US" sz="3000" b="1" dirty="0" smtClean="0">
                  <a:solidFill>
                    <a:srgbClr val="000000"/>
                  </a:solidFill>
                  <a:latin typeface="楷体_GB2312" pitchFamily="49" charset="-122"/>
                </a:rPr>
                <a:t>第一节  化学热力学的基本概念</a:t>
              </a:r>
              <a:endParaRPr lang="zh-CN" altLang="en-US" sz="2400" b="1" dirty="0" smtClean="0">
                <a:solidFill>
                  <a:srgbClr val="000000"/>
                </a:solidFill>
                <a:latin typeface="Times New Roman" panose="02020603050405020304" pitchFamily="18" charset="0"/>
              </a:endParaRPr>
            </a:p>
          </p:txBody>
        </p:sp>
        <p:sp>
          <p:nvSpPr>
            <p:cNvPr id="36868" name="Rectangle 5"/>
            <p:cNvSpPr>
              <a:spLocks noChangeArrowheads="1"/>
            </p:cNvSpPr>
            <p:nvPr/>
          </p:nvSpPr>
          <p:spPr bwMode="auto">
            <a:xfrm>
              <a:off x="1371600" y="1938164"/>
              <a:ext cx="5092064" cy="623147"/>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fontAlgn="base">
                <a:spcBef>
                  <a:spcPct val="0"/>
                </a:spcBef>
                <a:spcAft>
                  <a:spcPct val="0"/>
                </a:spcAft>
              </a:pPr>
              <a:r>
                <a:rPr lang="zh-CN" altLang="en-US" sz="3000" b="1" dirty="0" smtClean="0">
                  <a:solidFill>
                    <a:srgbClr val="000000"/>
                  </a:solidFill>
                  <a:latin typeface="楷体_GB2312" pitchFamily="49" charset="-122"/>
                </a:rPr>
                <a:t>第二节  热力学第一定律</a:t>
              </a:r>
              <a:endParaRPr lang="zh-CN" altLang="en-US" sz="2400" b="1" dirty="0" smtClean="0">
                <a:solidFill>
                  <a:srgbClr val="000000"/>
                </a:solidFill>
                <a:latin typeface="Times New Roman" panose="02020603050405020304" pitchFamily="18" charset="0"/>
              </a:endParaRPr>
            </a:p>
          </p:txBody>
        </p:sp>
        <p:sp>
          <p:nvSpPr>
            <p:cNvPr id="46086" name="Rectangle 6"/>
            <p:cNvSpPr>
              <a:spLocks noChangeArrowheads="1"/>
            </p:cNvSpPr>
            <p:nvPr/>
          </p:nvSpPr>
          <p:spPr bwMode="auto">
            <a:xfrm>
              <a:off x="1371600" y="2652347"/>
              <a:ext cx="5169438" cy="623716"/>
            </a:xfrm>
            <a:prstGeom prst="rect">
              <a:avLst/>
            </a:prstGeom>
            <a:solidFill>
              <a:schemeClr val="bg1"/>
            </a:solidFill>
            <a:ln w="9525">
              <a:noFill/>
              <a:miter lim="800000"/>
            </a:ln>
          </p:spPr>
          <p:txBody>
            <a:bodyPr/>
            <a:lstStyle/>
            <a:p>
              <a:pPr fontAlgn="base">
                <a:spcBef>
                  <a:spcPct val="0"/>
                </a:spcBef>
                <a:spcAft>
                  <a:spcPct val="0"/>
                </a:spcAft>
                <a:defRPr/>
              </a:pPr>
              <a:r>
                <a:rPr lang="zh-CN" altLang="en-US" sz="3000" b="1" dirty="0">
                  <a:solidFill>
                    <a:srgbClr val="000000"/>
                  </a:solidFill>
                  <a:latin typeface="Times New Roman" panose="02020603050405020304"/>
                  <a:ea typeface="楷体_GB2312" pitchFamily="49" charset="-122"/>
                </a:rPr>
                <a:t>第三节  </a:t>
              </a:r>
              <a:r>
                <a:rPr lang="zh-CN" altLang="en-US" sz="3000" b="1" dirty="0" smtClean="0">
                  <a:solidFill>
                    <a:srgbClr val="000000"/>
                  </a:solidFill>
                  <a:latin typeface="Times New Roman" panose="02020603050405020304"/>
                  <a:ea typeface="楷体_GB2312" pitchFamily="49" charset="-122"/>
                </a:rPr>
                <a:t>  </a:t>
              </a:r>
              <a:r>
                <a:rPr lang="en-US" altLang="zh-CN" sz="3000" b="1" dirty="0" smtClean="0">
                  <a:solidFill>
                    <a:srgbClr val="000000"/>
                  </a:solidFill>
                  <a:latin typeface="Times New Roman" panose="02020603050405020304"/>
                  <a:ea typeface="楷体_GB2312" pitchFamily="49" charset="-122"/>
                </a:rPr>
                <a:t>Hess</a:t>
              </a:r>
              <a:r>
                <a:rPr lang="zh-CN" altLang="en-US" sz="3000" b="1" dirty="0">
                  <a:solidFill>
                    <a:srgbClr val="000000"/>
                  </a:solidFill>
                  <a:latin typeface="Times New Roman" panose="02020603050405020304"/>
                  <a:ea typeface="楷体_GB2312" pitchFamily="49" charset="-122"/>
                </a:rPr>
                <a:t>定律</a:t>
              </a:r>
            </a:p>
          </p:txBody>
        </p:sp>
        <p:sp>
          <p:nvSpPr>
            <p:cNvPr id="36870" name="Rectangle 7"/>
            <p:cNvSpPr>
              <a:spLocks noChangeArrowheads="1"/>
            </p:cNvSpPr>
            <p:nvPr/>
          </p:nvSpPr>
          <p:spPr bwMode="auto">
            <a:xfrm>
              <a:off x="1371600" y="3352800"/>
              <a:ext cx="6095047" cy="623147"/>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fontAlgn="base">
                <a:spcBef>
                  <a:spcPct val="0"/>
                </a:spcBef>
                <a:spcAft>
                  <a:spcPct val="0"/>
                </a:spcAft>
              </a:pPr>
              <a:r>
                <a:rPr lang="zh-CN" altLang="en-US" sz="3000" b="1" smtClean="0">
                  <a:solidFill>
                    <a:srgbClr val="000000"/>
                  </a:solidFill>
                  <a:latin typeface="楷体_GB2312" pitchFamily="49" charset="-122"/>
                </a:rPr>
                <a:t>第四节  化学反应热的计算</a:t>
              </a:r>
              <a:endParaRPr lang="zh-CN" altLang="en-US" sz="2400" b="1" smtClean="0">
                <a:solidFill>
                  <a:srgbClr val="000000"/>
                </a:solidFill>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7890" name="组合 4"/>
          <p:cNvGrpSpPr/>
          <p:nvPr/>
        </p:nvGrpSpPr>
        <p:grpSpPr bwMode="auto">
          <a:xfrm>
            <a:off x="381000" y="76200"/>
            <a:ext cx="8382000" cy="5843052"/>
            <a:chOff x="381000" y="76200"/>
            <a:chExt cx="8382000" cy="5843052"/>
          </a:xfrm>
        </p:grpSpPr>
        <p:sp>
          <p:nvSpPr>
            <p:cNvPr id="37891" name="矩形 4"/>
            <p:cNvSpPr>
              <a:spLocks noChangeArrowheads="1"/>
            </p:cNvSpPr>
            <p:nvPr/>
          </p:nvSpPr>
          <p:spPr bwMode="auto">
            <a:xfrm>
              <a:off x="3352800" y="76200"/>
              <a:ext cx="1524000" cy="5127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fontAlgn="base">
                <a:lnSpc>
                  <a:spcPts val="3600"/>
                </a:lnSpc>
                <a:spcBef>
                  <a:spcPct val="0"/>
                </a:spcBef>
                <a:spcAft>
                  <a:spcPct val="0"/>
                </a:spcAft>
              </a:pPr>
              <a:r>
                <a:rPr kumimoji="1" lang="zh-CN" altLang="en-US" sz="2600" b="1" smtClean="0">
                  <a:solidFill>
                    <a:srgbClr val="FF0000"/>
                  </a:solidFill>
                  <a:latin typeface="Times New Roman" panose="02020603050405020304" pitchFamily="18" charset="0"/>
                  <a:ea typeface="楷体_GB2312" pitchFamily="49" charset="-122"/>
                </a:rPr>
                <a:t>本章要求</a:t>
              </a:r>
            </a:p>
          </p:txBody>
        </p:sp>
        <p:sp>
          <p:nvSpPr>
            <p:cNvPr id="37892" name="矩形 5"/>
            <p:cNvSpPr>
              <a:spLocks noChangeArrowheads="1"/>
            </p:cNvSpPr>
            <p:nvPr/>
          </p:nvSpPr>
          <p:spPr bwMode="auto">
            <a:xfrm>
              <a:off x="609600" y="609600"/>
              <a:ext cx="7467600" cy="14773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3600"/>
                </a:lnSpc>
                <a:spcBef>
                  <a:spcPct val="0"/>
                </a:spcBef>
                <a:spcAft>
                  <a:spcPct val="0"/>
                </a:spcAft>
              </a:pPr>
              <a:r>
                <a:rPr kumimoji="1" lang="en-US" altLang="zh-CN" sz="2600" b="1" dirty="0" smtClean="0">
                  <a:solidFill>
                    <a:srgbClr val="000000"/>
                  </a:solidFill>
                  <a:latin typeface="Times New Roman" panose="02020603050405020304" pitchFamily="18" charset="0"/>
                  <a:ea typeface="楷体_GB2312" pitchFamily="49" charset="-122"/>
                </a:rPr>
                <a:t>1. </a:t>
              </a:r>
              <a:r>
                <a:rPr kumimoji="1" lang="zh-CN" altLang="en-US" sz="2600" b="1" dirty="0" smtClean="0">
                  <a:solidFill>
                    <a:srgbClr val="000000"/>
                  </a:solidFill>
                  <a:latin typeface="Times New Roman" panose="02020603050405020304" pitchFamily="18" charset="0"/>
                  <a:ea typeface="楷体_GB2312" pitchFamily="49" charset="-122"/>
                </a:rPr>
                <a:t>掌握几个重要基本概念：</a:t>
              </a:r>
              <a:endParaRPr kumimoji="1" lang="en-US" altLang="zh-CN" sz="2600" b="1" dirty="0" smtClean="0">
                <a:solidFill>
                  <a:srgbClr val="000000"/>
                </a:solidFill>
                <a:latin typeface="Times New Roman" panose="02020603050405020304" pitchFamily="18" charset="0"/>
                <a:ea typeface="楷体_GB2312" pitchFamily="49" charset="-122"/>
              </a:endParaRPr>
            </a:p>
            <a:p>
              <a:pPr fontAlgn="base">
                <a:lnSpc>
                  <a:spcPts val="3600"/>
                </a:lnSpc>
                <a:spcBef>
                  <a:spcPct val="0"/>
                </a:spcBef>
                <a:spcAft>
                  <a:spcPct val="0"/>
                </a:spcAft>
              </a:pPr>
              <a:r>
                <a:rPr kumimoji="1" lang="zh-CN" altLang="en-US" sz="2600" b="1" dirty="0" smtClean="0">
                  <a:solidFill>
                    <a:srgbClr val="0000FF"/>
                  </a:solidFill>
                  <a:latin typeface="Times New Roman" panose="02020603050405020304" pitchFamily="18" charset="0"/>
                  <a:ea typeface="楷体_GB2312" pitchFamily="49" charset="-122"/>
                </a:rPr>
                <a:t>     </a:t>
              </a:r>
              <a:r>
                <a:rPr kumimoji="1" lang="zh-CN" altLang="en-US" sz="2600" b="1" dirty="0" smtClean="0">
                  <a:solidFill>
                    <a:srgbClr val="000000"/>
                  </a:solidFill>
                  <a:latin typeface="Times New Roman" panose="02020603050405020304" pitchFamily="18" charset="0"/>
                  <a:ea typeface="楷体_GB2312" pitchFamily="49" charset="-122"/>
                </a:rPr>
                <a:t>状态函数（</a:t>
              </a:r>
              <a:r>
                <a:rPr kumimoji="1" lang="en-US" altLang="zh-CN" sz="2600" b="1" dirty="0" smtClean="0">
                  <a:solidFill>
                    <a:srgbClr val="000000"/>
                  </a:solidFill>
                  <a:latin typeface="Times New Roman" panose="02020603050405020304" pitchFamily="18" charset="0"/>
                  <a:ea typeface="楷体_GB2312" pitchFamily="49" charset="-122"/>
                </a:rPr>
                <a:t>p</a:t>
              </a:r>
              <a:r>
                <a:rPr kumimoji="1" lang="zh-CN" altLang="en-US" sz="2600" b="1" dirty="0" smtClean="0">
                  <a:solidFill>
                    <a:srgbClr val="000000"/>
                  </a:solidFill>
                  <a:latin typeface="Times New Roman" panose="02020603050405020304" pitchFamily="18" charset="0"/>
                  <a:ea typeface="楷体_GB2312" pitchFamily="49" charset="-122"/>
                </a:rPr>
                <a:t>、</a:t>
              </a:r>
              <a:r>
                <a:rPr kumimoji="1" lang="en-US" altLang="zh-CN" sz="2600" b="1" dirty="0" smtClean="0">
                  <a:solidFill>
                    <a:srgbClr val="000000"/>
                  </a:solidFill>
                  <a:latin typeface="Times New Roman" panose="02020603050405020304" pitchFamily="18" charset="0"/>
                  <a:ea typeface="楷体_GB2312" pitchFamily="49" charset="-122"/>
                </a:rPr>
                <a:t>V</a:t>
              </a:r>
              <a:r>
                <a:rPr kumimoji="1" lang="zh-CN" altLang="en-US" sz="2600" b="1" dirty="0" smtClean="0">
                  <a:solidFill>
                    <a:srgbClr val="000000"/>
                  </a:solidFill>
                  <a:latin typeface="Times New Roman" panose="02020603050405020304" pitchFamily="18" charset="0"/>
                  <a:ea typeface="楷体_GB2312" pitchFamily="49" charset="-122"/>
                </a:rPr>
                <a:t>、</a:t>
              </a:r>
              <a:r>
                <a:rPr kumimoji="1" lang="en-US" altLang="zh-CN" sz="2600" b="1" dirty="0" smtClean="0">
                  <a:solidFill>
                    <a:srgbClr val="000000"/>
                  </a:solidFill>
                  <a:latin typeface="Times New Roman" panose="02020603050405020304" pitchFamily="18" charset="0"/>
                  <a:ea typeface="楷体_GB2312" pitchFamily="49" charset="-122"/>
                </a:rPr>
                <a:t> T</a:t>
              </a:r>
              <a:r>
                <a:rPr kumimoji="1" lang="zh-CN" altLang="en-US" sz="2600" b="1" dirty="0" smtClean="0">
                  <a:solidFill>
                    <a:srgbClr val="000000"/>
                  </a:solidFill>
                  <a:latin typeface="Times New Roman" panose="02020603050405020304" pitchFamily="18" charset="0"/>
                  <a:ea typeface="楷体_GB2312" pitchFamily="49" charset="-122"/>
                </a:rPr>
                <a:t>、</a:t>
              </a:r>
              <a:r>
                <a:rPr kumimoji="1" lang="en-US" altLang="zh-CN" sz="2600" b="1" dirty="0" smtClean="0">
                  <a:solidFill>
                    <a:srgbClr val="000000"/>
                  </a:solidFill>
                  <a:latin typeface="Times New Roman" panose="02020603050405020304" pitchFamily="18" charset="0"/>
                  <a:ea typeface="楷体_GB2312" pitchFamily="49" charset="-122"/>
                </a:rPr>
                <a:t>n</a:t>
              </a:r>
              <a:r>
                <a:rPr kumimoji="1" lang="zh-CN" altLang="en-US" sz="2600" b="1" dirty="0" smtClean="0">
                  <a:solidFill>
                    <a:srgbClr val="000000"/>
                  </a:solidFill>
                  <a:latin typeface="Times New Roman" panose="02020603050405020304" pitchFamily="18" charset="0"/>
                  <a:ea typeface="楷体_GB2312" pitchFamily="49" charset="-122"/>
                </a:rPr>
                <a:t>、</a:t>
              </a:r>
              <a:r>
                <a:rPr kumimoji="1" lang="en-US" altLang="zh-CN" sz="2600" b="1" dirty="0" smtClean="0">
                  <a:solidFill>
                    <a:srgbClr val="000000"/>
                  </a:solidFill>
                  <a:latin typeface="Times New Roman" panose="02020603050405020304" pitchFamily="18" charset="0"/>
                  <a:ea typeface="楷体_GB2312" pitchFamily="49" charset="-122"/>
                </a:rPr>
                <a:t>U</a:t>
              </a:r>
              <a:r>
                <a:rPr kumimoji="1" lang="zh-CN" altLang="en-US" sz="2600" b="1" dirty="0" smtClean="0">
                  <a:solidFill>
                    <a:srgbClr val="000000"/>
                  </a:solidFill>
                  <a:latin typeface="Times New Roman" panose="02020603050405020304" pitchFamily="18" charset="0"/>
                  <a:ea typeface="楷体_GB2312" pitchFamily="49" charset="-122"/>
                </a:rPr>
                <a:t>、</a:t>
              </a:r>
              <a:r>
                <a:rPr kumimoji="1" lang="en-US" altLang="zh-CN" sz="2600" b="1" i="1" dirty="0" smtClean="0">
                  <a:solidFill>
                    <a:srgbClr val="C00000"/>
                  </a:solidFill>
                  <a:latin typeface="Times New Roman" panose="02020603050405020304" pitchFamily="18" charset="0"/>
                  <a:ea typeface="楷体_GB2312" pitchFamily="49" charset="-122"/>
                </a:rPr>
                <a:t>H</a:t>
              </a:r>
              <a:r>
                <a:rPr kumimoji="1" lang="zh-CN" altLang="en-US" sz="2600" b="1" i="1" dirty="0" smtClean="0">
                  <a:solidFill>
                    <a:srgbClr val="C00000"/>
                  </a:solidFill>
                  <a:latin typeface="Times New Roman" panose="02020603050405020304" pitchFamily="18" charset="0"/>
                  <a:ea typeface="楷体_GB2312" pitchFamily="49" charset="-122"/>
                </a:rPr>
                <a:t>、</a:t>
              </a:r>
              <a:r>
                <a:rPr kumimoji="1" lang="en-US" altLang="zh-CN" sz="2600" b="1" i="1" dirty="0" smtClean="0">
                  <a:solidFill>
                    <a:srgbClr val="C00000"/>
                  </a:solidFill>
                  <a:latin typeface="Times New Roman" panose="02020603050405020304" pitchFamily="18" charset="0"/>
                  <a:ea typeface="楷体_GB2312" pitchFamily="49" charset="-122"/>
                </a:rPr>
                <a:t>S</a:t>
              </a:r>
              <a:r>
                <a:rPr kumimoji="1" lang="zh-CN" altLang="en-US" sz="2600" b="1" i="1" dirty="0" smtClean="0">
                  <a:solidFill>
                    <a:srgbClr val="C00000"/>
                  </a:solidFill>
                  <a:latin typeface="Times New Roman" panose="02020603050405020304" pitchFamily="18" charset="0"/>
                  <a:ea typeface="楷体_GB2312" pitchFamily="49" charset="-122"/>
                </a:rPr>
                <a:t>、</a:t>
              </a:r>
              <a:r>
                <a:rPr kumimoji="1" lang="en-US" altLang="zh-CN" sz="2600" b="1" i="1" dirty="0" smtClean="0">
                  <a:solidFill>
                    <a:srgbClr val="C00000"/>
                  </a:solidFill>
                  <a:latin typeface="Times New Roman" panose="02020603050405020304" pitchFamily="18" charset="0"/>
                  <a:ea typeface="楷体_GB2312" pitchFamily="49" charset="-122"/>
                </a:rPr>
                <a:t>G</a:t>
              </a:r>
              <a:r>
                <a:rPr kumimoji="1" lang="zh-CN" altLang="en-US" sz="2600" b="1" dirty="0" smtClean="0">
                  <a:solidFill>
                    <a:srgbClr val="000000"/>
                  </a:solidFill>
                  <a:latin typeface="Times New Roman" panose="02020603050405020304" pitchFamily="18" charset="0"/>
                  <a:ea typeface="楷体_GB2312" pitchFamily="49" charset="-122"/>
                </a:rPr>
                <a:t>）、</a:t>
              </a:r>
              <a:endParaRPr kumimoji="1" lang="en-US" altLang="zh-CN" sz="2600" b="1" dirty="0" smtClean="0">
                <a:solidFill>
                  <a:srgbClr val="000000"/>
                </a:solidFill>
                <a:latin typeface="Times New Roman" panose="02020603050405020304" pitchFamily="18" charset="0"/>
                <a:ea typeface="楷体_GB2312" pitchFamily="49" charset="-122"/>
              </a:endParaRPr>
            </a:p>
            <a:p>
              <a:pPr fontAlgn="base">
                <a:lnSpc>
                  <a:spcPts val="3600"/>
                </a:lnSpc>
                <a:spcBef>
                  <a:spcPct val="0"/>
                </a:spcBef>
                <a:spcAft>
                  <a:spcPct val="0"/>
                </a:spcAft>
              </a:pPr>
              <a:r>
                <a:rPr kumimoji="1" lang="zh-CN" altLang="en-US" sz="2600" b="1" dirty="0" smtClean="0">
                  <a:solidFill>
                    <a:srgbClr val="000000"/>
                  </a:solidFill>
                  <a:latin typeface="Times New Roman" panose="02020603050405020304" pitchFamily="18" charset="0"/>
                  <a:ea typeface="楷体_GB2312" pitchFamily="49" charset="-122"/>
                </a:rPr>
                <a:t>     焓</a:t>
              </a:r>
              <a:r>
                <a:rPr kumimoji="1" lang="en-US" altLang="zh-CN" sz="2600" b="1" dirty="0" smtClean="0">
                  <a:solidFill>
                    <a:srgbClr val="000000"/>
                  </a:solidFill>
                  <a:latin typeface="Times New Roman" panose="02020603050405020304" pitchFamily="18" charset="0"/>
                  <a:ea typeface="楷体_GB2312" pitchFamily="49" charset="-122"/>
                </a:rPr>
                <a:t>H</a:t>
              </a:r>
              <a:r>
                <a:rPr kumimoji="1" lang="zh-CN" altLang="en-US" sz="2600" b="1" dirty="0" smtClean="0">
                  <a:solidFill>
                    <a:srgbClr val="000000"/>
                  </a:solidFill>
                  <a:latin typeface="Times New Roman" panose="02020603050405020304" pitchFamily="18" charset="0"/>
                  <a:ea typeface="楷体_GB2312" pitchFamily="49" charset="-122"/>
                </a:rPr>
                <a:t>与焓变</a:t>
              </a:r>
              <a:r>
                <a:rPr lang="zh-CN" altLang="en-US" sz="2600" b="1" dirty="0" smtClean="0">
                  <a:solidFill>
                    <a:srgbClr val="000000"/>
                  </a:solidFill>
                  <a:latin typeface="Times New Roman" panose="02020603050405020304" pitchFamily="18" charset="0"/>
                  <a:ea typeface="楷体_GB2312" pitchFamily="49" charset="-122"/>
                </a:rPr>
                <a:t>△</a:t>
              </a:r>
              <a:r>
                <a:rPr lang="en-US" altLang="zh-CN" sz="2600" b="1" dirty="0" smtClean="0">
                  <a:solidFill>
                    <a:srgbClr val="000000"/>
                  </a:solidFill>
                  <a:latin typeface="Times New Roman" panose="02020603050405020304" pitchFamily="18" charset="0"/>
                  <a:ea typeface="楷体_GB2312" pitchFamily="49" charset="-122"/>
                </a:rPr>
                <a:t>H</a:t>
              </a:r>
              <a:r>
                <a:rPr lang="zh-CN" altLang="en-US" sz="2600" b="1" dirty="0" smtClean="0">
                  <a:solidFill>
                    <a:srgbClr val="000000"/>
                  </a:solidFill>
                  <a:latin typeface="Times New Roman" panose="02020603050405020304" pitchFamily="18" charset="0"/>
                  <a:ea typeface="楷体_GB2312" pitchFamily="49" charset="-122"/>
                </a:rPr>
                <a:t>、</a:t>
              </a:r>
              <a:endParaRPr kumimoji="1" lang="en-US" altLang="zh-CN" sz="2600" b="1" dirty="0" smtClean="0">
                <a:solidFill>
                  <a:srgbClr val="000000"/>
                </a:solidFill>
                <a:latin typeface="Times New Roman" panose="02020603050405020304" pitchFamily="18" charset="0"/>
                <a:ea typeface="楷体_GB2312" pitchFamily="49" charset="-122"/>
              </a:endParaRPr>
            </a:p>
          </p:txBody>
        </p:sp>
        <p:sp>
          <p:nvSpPr>
            <p:cNvPr id="37893" name="矩形 6"/>
            <p:cNvSpPr>
              <a:spLocks noChangeArrowheads="1"/>
            </p:cNvSpPr>
            <p:nvPr/>
          </p:nvSpPr>
          <p:spPr bwMode="auto">
            <a:xfrm>
              <a:off x="381000" y="2133600"/>
              <a:ext cx="8382000" cy="37856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3600"/>
                </a:lnSpc>
                <a:spcBef>
                  <a:spcPct val="0"/>
                </a:spcBef>
                <a:spcAft>
                  <a:spcPct val="0"/>
                </a:spcAft>
              </a:pPr>
              <a:r>
                <a:rPr kumimoji="1" lang="en-US" altLang="zh-CN" sz="2600" b="1" dirty="0" smtClean="0">
                  <a:solidFill>
                    <a:srgbClr val="000000"/>
                  </a:solidFill>
                  <a:latin typeface="Times New Roman" panose="02020603050405020304" pitchFamily="18" charset="0"/>
                  <a:ea typeface="楷体_GB2312" pitchFamily="49" charset="-122"/>
                </a:rPr>
                <a:t>2. </a:t>
              </a:r>
              <a:r>
                <a:rPr kumimoji="1" lang="zh-CN" altLang="en-US" sz="2600" b="1" dirty="0" smtClean="0">
                  <a:solidFill>
                    <a:srgbClr val="000000"/>
                  </a:solidFill>
                  <a:latin typeface="Times New Roman" panose="02020603050405020304" pitchFamily="18" charset="0"/>
                  <a:ea typeface="楷体_GB2312" pitchFamily="49" charset="-122"/>
                </a:rPr>
                <a:t>掌握</a:t>
              </a:r>
              <a:r>
                <a:rPr lang="zh-CN" altLang="en-US" sz="2600" b="1" dirty="0" smtClean="0">
                  <a:solidFill>
                    <a:srgbClr val="000000"/>
                  </a:solidFill>
                  <a:latin typeface="Times New Roman" panose="02020603050405020304" pitchFamily="18" charset="0"/>
                  <a:ea typeface="楷体_GB2312" pitchFamily="49" charset="-122"/>
                </a:rPr>
                <a:t>化学热力学的应用（计算）：</a:t>
              </a:r>
              <a:endParaRPr lang="en-US" altLang="zh-CN" sz="2600" b="1" dirty="0" smtClean="0">
                <a:solidFill>
                  <a:srgbClr val="000000"/>
                </a:solidFill>
                <a:latin typeface="Times New Roman" panose="02020603050405020304" pitchFamily="18" charset="0"/>
                <a:ea typeface="楷体_GB2312" pitchFamily="49" charset="-122"/>
              </a:endParaRPr>
            </a:p>
            <a:p>
              <a:pPr fontAlgn="base">
                <a:lnSpc>
                  <a:spcPts val="3600"/>
                </a:lnSpc>
                <a:spcBef>
                  <a:spcPct val="0"/>
                </a:spcBef>
                <a:spcAft>
                  <a:spcPct val="0"/>
                </a:spcAft>
              </a:pPr>
              <a:r>
                <a:rPr lang="zh-CN" altLang="en-US" sz="2600" b="1" dirty="0" smtClean="0">
                  <a:solidFill>
                    <a:srgbClr val="000000"/>
                  </a:solidFill>
                  <a:latin typeface="Times New Roman" panose="02020603050405020304" pitchFamily="18" charset="0"/>
                  <a:ea typeface="楷体_GB2312" pitchFamily="49" charset="-122"/>
                </a:rPr>
                <a:t>         ①由物质的标准摩尔生成焓变</a:t>
              </a:r>
              <a:r>
                <a:rPr lang="zh-CN" altLang="en-US" sz="2600" b="1" i="1" dirty="0" smtClean="0">
                  <a:solidFill>
                    <a:srgbClr val="C00000"/>
                  </a:solidFill>
                  <a:latin typeface="Times New Roman" panose="02020603050405020304" pitchFamily="18" charset="0"/>
                  <a:ea typeface="楷体_GB2312" pitchFamily="49" charset="-122"/>
                </a:rPr>
                <a:t>△</a:t>
              </a:r>
              <a:r>
                <a:rPr lang="en-US" altLang="zh-CN" sz="2600" b="1" i="1" baseline="-25000" dirty="0" err="1" smtClean="0">
                  <a:solidFill>
                    <a:srgbClr val="C00000"/>
                  </a:solidFill>
                  <a:latin typeface="Times New Roman" panose="02020603050405020304" pitchFamily="18" charset="0"/>
                  <a:ea typeface="楷体_GB2312" pitchFamily="49" charset="-122"/>
                </a:rPr>
                <a:t>f</a:t>
              </a:r>
              <a:r>
                <a:rPr lang="en-US" altLang="zh-CN" sz="2600" b="1" i="1" dirty="0" err="1" smtClean="0">
                  <a:solidFill>
                    <a:srgbClr val="C00000"/>
                  </a:solidFill>
                  <a:latin typeface="Times New Roman" panose="02020603050405020304" pitchFamily="18" charset="0"/>
                  <a:ea typeface="楷体_GB2312" pitchFamily="49" charset="-122"/>
                </a:rPr>
                <a:t>H</a:t>
              </a:r>
              <a:r>
                <a:rPr lang="en-US" altLang="zh-CN" sz="2600" b="1" i="1" baseline="-25000" dirty="0" err="1" smtClean="0">
                  <a:solidFill>
                    <a:srgbClr val="C00000"/>
                  </a:solidFill>
                  <a:latin typeface="Times New Roman" panose="02020603050405020304" pitchFamily="18" charset="0"/>
                  <a:ea typeface="楷体_GB2312" pitchFamily="49" charset="-122"/>
                </a:rPr>
                <a:t>m</a:t>
              </a:r>
              <a:r>
                <a:rPr lang="el-GR" altLang="zh-CN" sz="2600" b="1" i="1" baseline="30000" dirty="0" smtClean="0">
                  <a:solidFill>
                    <a:srgbClr val="C00000"/>
                  </a:solidFill>
                  <a:latin typeface="Times New Roman" panose="02020603050405020304" pitchFamily="18" charset="0"/>
                  <a:ea typeface="楷体_GB2312" pitchFamily="49" charset="-122"/>
                </a:rPr>
                <a:t>Θ</a:t>
              </a:r>
              <a:r>
                <a:rPr lang="en-US" altLang="zh-CN" sz="2600" b="1" i="1" dirty="0" smtClean="0">
                  <a:solidFill>
                    <a:srgbClr val="C00000"/>
                  </a:solidFill>
                  <a:latin typeface="Times New Roman" panose="02020603050405020304" pitchFamily="18" charset="0"/>
                  <a:ea typeface="楷体_GB2312" pitchFamily="49" charset="-122"/>
                </a:rPr>
                <a:t> </a:t>
              </a:r>
              <a:r>
                <a:rPr lang="zh-CN" altLang="en-US" sz="2600" b="1" dirty="0" smtClean="0">
                  <a:solidFill>
                    <a:srgbClr val="000000"/>
                  </a:solidFill>
                  <a:latin typeface="Times New Roman" panose="02020603050405020304" pitchFamily="18" charset="0"/>
                  <a:ea typeface="楷体_GB2312" pitchFamily="49" charset="-122"/>
                </a:rPr>
                <a:t>来计算化学反应标准摩尔反应</a:t>
              </a:r>
              <a:r>
                <a:rPr kumimoji="1" lang="zh-CN" altLang="en-US" sz="2600" b="1" dirty="0" smtClean="0">
                  <a:solidFill>
                    <a:srgbClr val="000000"/>
                  </a:solidFill>
                  <a:latin typeface="Times New Roman" panose="02020603050405020304" pitchFamily="18" charset="0"/>
                  <a:ea typeface="楷体_GB2312" pitchFamily="49" charset="-122"/>
                </a:rPr>
                <a:t>焓变</a:t>
              </a:r>
              <a:r>
                <a:rPr lang="zh-CN" altLang="en-US" sz="2600" b="1" i="1" dirty="0" smtClean="0">
                  <a:solidFill>
                    <a:srgbClr val="C00000"/>
                  </a:solidFill>
                  <a:latin typeface="Times New Roman" panose="02020603050405020304" pitchFamily="18" charset="0"/>
                  <a:ea typeface="楷体_GB2312" pitchFamily="49" charset="-122"/>
                </a:rPr>
                <a:t>△</a:t>
              </a:r>
              <a:r>
                <a:rPr lang="en-US" altLang="zh-CN" sz="2600" b="1" i="1" baseline="-25000" dirty="0" err="1" smtClean="0">
                  <a:solidFill>
                    <a:srgbClr val="C00000"/>
                  </a:solidFill>
                  <a:latin typeface="Times New Roman" panose="02020603050405020304" pitchFamily="18" charset="0"/>
                  <a:ea typeface="楷体_GB2312" pitchFamily="49" charset="-122"/>
                </a:rPr>
                <a:t>r</a:t>
              </a:r>
              <a:r>
                <a:rPr lang="en-US" altLang="zh-CN" sz="2600" b="1" i="1" dirty="0" err="1" smtClean="0">
                  <a:solidFill>
                    <a:srgbClr val="C00000"/>
                  </a:solidFill>
                  <a:latin typeface="Times New Roman" panose="02020603050405020304" pitchFamily="18" charset="0"/>
                  <a:ea typeface="楷体_GB2312" pitchFamily="49" charset="-122"/>
                </a:rPr>
                <a:t>H</a:t>
              </a:r>
              <a:r>
                <a:rPr lang="en-US" altLang="zh-CN" sz="2600" b="1" i="1" baseline="-25000" dirty="0" err="1" smtClean="0">
                  <a:solidFill>
                    <a:srgbClr val="C00000"/>
                  </a:solidFill>
                  <a:latin typeface="Times New Roman" panose="02020603050405020304" pitchFamily="18" charset="0"/>
                  <a:ea typeface="楷体_GB2312" pitchFamily="49" charset="-122"/>
                </a:rPr>
                <a:t>m</a:t>
              </a:r>
              <a:r>
                <a:rPr lang="el-GR" altLang="zh-CN" sz="2600" b="1" i="1" baseline="30000" dirty="0" smtClean="0">
                  <a:solidFill>
                    <a:srgbClr val="C00000"/>
                  </a:solidFill>
                  <a:latin typeface="Times New Roman" panose="02020603050405020304" pitchFamily="18" charset="0"/>
                  <a:ea typeface="楷体_GB2312" pitchFamily="49" charset="-122"/>
                </a:rPr>
                <a:t>Θ</a:t>
              </a:r>
              <a:r>
                <a:rPr lang="zh-CN" altLang="en-US" sz="2600" b="1" dirty="0" smtClean="0">
                  <a:solidFill>
                    <a:srgbClr val="000000"/>
                  </a:solidFill>
                  <a:latin typeface="Times New Roman" panose="02020603050405020304" pitchFamily="18" charset="0"/>
                  <a:ea typeface="楷体_GB2312" pitchFamily="49" charset="-122"/>
                </a:rPr>
                <a:t>（反之亦然）；</a:t>
              </a:r>
            </a:p>
            <a:p>
              <a:pPr fontAlgn="base">
                <a:lnSpc>
                  <a:spcPts val="3600"/>
                </a:lnSpc>
                <a:spcBef>
                  <a:spcPct val="0"/>
                </a:spcBef>
                <a:spcAft>
                  <a:spcPct val="0"/>
                </a:spcAft>
              </a:pPr>
              <a:r>
                <a:rPr lang="zh-CN" altLang="en-US" sz="2600" b="1" dirty="0" smtClean="0">
                  <a:solidFill>
                    <a:srgbClr val="000000"/>
                  </a:solidFill>
                  <a:latin typeface="Times New Roman" panose="02020603050405020304" pitchFamily="18" charset="0"/>
                  <a:ea typeface="楷体_GB2312" pitchFamily="49" charset="-122"/>
                </a:rPr>
                <a:t>         ② 根据</a:t>
              </a:r>
              <a:r>
                <a:rPr kumimoji="1" lang="en-US" altLang="zh-CN" sz="2600" b="1" dirty="0" smtClean="0">
                  <a:solidFill>
                    <a:srgbClr val="000000"/>
                  </a:solidFill>
                  <a:latin typeface="Times New Roman" panose="02020603050405020304" pitchFamily="18" charset="0"/>
                  <a:ea typeface="楷体_GB2312" pitchFamily="49" charset="-122"/>
                </a:rPr>
                <a:t>Hess</a:t>
              </a:r>
              <a:r>
                <a:rPr kumimoji="1" lang="zh-CN" altLang="en-US" sz="2600" b="1" dirty="0" smtClean="0">
                  <a:solidFill>
                    <a:srgbClr val="000000"/>
                  </a:solidFill>
                  <a:latin typeface="Times New Roman" panose="02020603050405020304" pitchFamily="18" charset="0"/>
                  <a:ea typeface="楷体_GB2312" pitchFamily="49" charset="-122"/>
                </a:rPr>
                <a:t>定律，通过化学反应方程式的组合（相加减）来计算未知化学反应的标准</a:t>
              </a:r>
              <a:r>
                <a:rPr lang="zh-CN" altLang="en-US" sz="2600" b="1" dirty="0" smtClean="0">
                  <a:solidFill>
                    <a:srgbClr val="000000"/>
                  </a:solidFill>
                  <a:latin typeface="Times New Roman" panose="02020603050405020304" pitchFamily="18" charset="0"/>
                  <a:ea typeface="楷体_GB2312" pitchFamily="49" charset="-122"/>
                </a:rPr>
                <a:t>摩尔</a:t>
              </a:r>
              <a:r>
                <a:rPr kumimoji="1" lang="zh-CN" altLang="en-US" sz="2600" b="1" dirty="0" smtClean="0">
                  <a:solidFill>
                    <a:srgbClr val="000000"/>
                  </a:solidFill>
                  <a:latin typeface="Times New Roman" panose="02020603050405020304" pitchFamily="18" charset="0"/>
                  <a:ea typeface="楷体_GB2312" pitchFamily="49" charset="-122"/>
                </a:rPr>
                <a:t>焓变</a:t>
              </a:r>
              <a:r>
                <a:rPr lang="zh-CN" altLang="en-US" sz="2600" b="1" i="1" dirty="0" smtClean="0">
                  <a:solidFill>
                    <a:srgbClr val="C00000"/>
                  </a:solidFill>
                  <a:latin typeface="Times New Roman" panose="02020603050405020304" pitchFamily="18" charset="0"/>
                  <a:ea typeface="楷体_GB2312" pitchFamily="49" charset="-122"/>
                </a:rPr>
                <a:t>△</a:t>
              </a:r>
              <a:r>
                <a:rPr lang="en-US" altLang="zh-CN" sz="2600" b="1" i="1" baseline="-25000" dirty="0" err="1" smtClean="0">
                  <a:solidFill>
                    <a:srgbClr val="C00000"/>
                  </a:solidFill>
                  <a:latin typeface="Times New Roman" panose="02020603050405020304" pitchFamily="18" charset="0"/>
                  <a:ea typeface="楷体_GB2312" pitchFamily="49" charset="-122"/>
                </a:rPr>
                <a:t>r</a:t>
              </a:r>
              <a:r>
                <a:rPr lang="en-US" altLang="zh-CN" sz="2600" b="1" i="1" dirty="0" err="1" smtClean="0">
                  <a:solidFill>
                    <a:srgbClr val="C00000"/>
                  </a:solidFill>
                  <a:latin typeface="Times New Roman" panose="02020603050405020304" pitchFamily="18" charset="0"/>
                  <a:ea typeface="楷体_GB2312" pitchFamily="49" charset="-122"/>
                </a:rPr>
                <a:t>H</a:t>
              </a:r>
              <a:r>
                <a:rPr lang="en-US" altLang="zh-CN" sz="2600" b="1" i="1" baseline="-25000" dirty="0" err="1" smtClean="0">
                  <a:solidFill>
                    <a:srgbClr val="C00000"/>
                  </a:solidFill>
                  <a:latin typeface="Times New Roman" panose="02020603050405020304" pitchFamily="18" charset="0"/>
                  <a:ea typeface="楷体_GB2312" pitchFamily="49" charset="-122"/>
                </a:rPr>
                <a:t>m</a:t>
              </a:r>
              <a:r>
                <a:rPr lang="el-GR" altLang="zh-CN" sz="2600" b="1" i="1" baseline="30000" dirty="0" smtClean="0">
                  <a:solidFill>
                    <a:srgbClr val="C00000"/>
                  </a:solidFill>
                  <a:latin typeface="Times New Roman" panose="02020603050405020304" pitchFamily="18" charset="0"/>
                  <a:ea typeface="楷体_GB2312" pitchFamily="49" charset="-122"/>
                </a:rPr>
                <a:t>Θ</a:t>
              </a:r>
              <a:r>
                <a:rPr lang="en-US" altLang="zh-CN" sz="2600" b="1" i="1" dirty="0" smtClean="0">
                  <a:solidFill>
                    <a:srgbClr val="C00000"/>
                  </a:solidFill>
                  <a:latin typeface="Times New Roman" panose="02020603050405020304" pitchFamily="18" charset="0"/>
                  <a:ea typeface="楷体_GB2312" pitchFamily="49" charset="-122"/>
                </a:rPr>
                <a:t> </a:t>
              </a:r>
              <a:r>
                <a:rPr lang="zh-CN" altLang="en-US" sz="2600" b="1" dirty="0">
                  <a:solidFill>
                    <a:srgbClr val="000000"/>
                  </a:solidFill>
                  <a:latin typeface="Times New Roman" panose="02020603050405020304" pitchFamily="18" charset="0"/>
                  <a:ea typeface="楷体_GB2312" pitchFamily="49" charset="-122"/>
                </a:rPr>
                <a:t>或</a:t>
              </a:r>
              <a:r>
                <a:rPr lang="zh-CN" altLang="en-US" sz="2600" b="1" dirty="0" smtClean="0">
                  <a:solidFill>
                    <a:srgbClr val="000000"/>
                  </a:solidFill>
                  <a:latin typeface="Times New Roman" panose="02020603050405020304" pitchFamily="18" charset="0"/>
                  <a:ea typeface="楷体_GB2312" pitchFamily="49" charset="-122"/>
                </a:rPr>
                <a:t>物质</a:t>
              </a:r>
              <a:r>
                <a:rPr lang="zh-CN" altLang="en-US" sz="2600" b="1" dirty="0">
                  <a:solidFill>
                    <a:srgbClr val="000000"/>
                  </a:solidFill>
                  <a:latin typeface="Times New Roman" panose="02020603050405020304" pitchFamily="18" charset="0"/>
                  <a:ea typeface="楷体_GB2312" pitchFamily="49" charset="-122"/>
                </a:rPr>
                <a:t>的标准摩尔生成焓变</a:t>
              </a:r>
              <a:r>
                <a:rPr lang="zh-CN" altLang="en-US" sz="2600" b="1" i="1" dirty="0">
                  <a:solidFill>
                    <a:srgbClr val="C00000"/>
                  </a:solidFill>
                  <a:latin typeface="Times New Roman" panose="02020603050405020304" pitchFamily="18" charset="0"/>
                  <a:ea typeface="楷体_GB2312" pitchFamily="49" charset="-122"/>
                </a:rPr>
                <a:t>△</a:t>
              </a:r>
              <a:r>
                <a:rPr lang="en-US" altLang="zh-CN" sz="2600" b="1" i="1" baseline="-25000" dirty="0" err="1">
                  <a:solidFill>
                    <a:srgbClr val="C00000"/>
                  </a:solidFill>
                  <a:latin typeface="Times New Roman" panose="02020603050405020304" pitchFamily="18" charset="0"/>
                  <a:ea typeface="楷体_GB2312" pitchFamily="49" charset="-122"/>
                </a:rPr>
                <a:t>f</a:t>
              </a:r>
              <a:r>
                <a:rPr lang="en-US" altLang="zh-CN" sz="2600" b="1" i="1" dirty="0" err="1">
                  <a:solidFill>
                    <a:srgbClr val="C00000"/>
                  </a:solidFill>
                  <a:latin typeface="Times New Roman" panose="02020603050405020304" pitchFamily="18" charset="0"/>
                  <a:ea typeface="楷体_GB2312" pitchFamily="49" charset="-122"/>
                </a:rPr>
                <a:t>H</a:t>
              </a:r>
              <a:r>
                <a:rPr lang="en-US" altLang="zh-CN" sz="2600" b="1" i="1" baseline="-25000" dirty="0" err="1">
                  <a:solidFill>
                    <a:srgbClr val="C00000"/>
                  </a:solidFill>
                  <a:latin typeface="Times New Roman" panose="02020603050405020304" pitchFamily="18" charset="0"/>
                  <a:ea typeface="楷体_GB2312" pitchFamily="49" charset="-122"/>
                </a:rPr>
                <a:t>m</a:t>
              </a:r>
              <a:r>
                <a:rPr lang="el-GR" altLang="zh-CN" sz="2600" b="1" i="1" baseline="30000" dirty="0">
                  <a:solidFill>
                    <a:srgbClr val="C00000"/>
                  </a:solidFill>
                  <a:latin typeface="Times New Roman" panose="02020603050405020304" pitchFamily="18" charset="0"/>
                  <a:ea typeface="楷体_GB2312" pitchFamily="49" charset="-122"/>
                </a:rPr>
                <a:t>Θ</a:t>
              </a:r>
              <a:r>
                <a:rPr lang="en-US" altLang="zh-CN" sz="2600" b="1" i="1" dirty="0">
                  <a:solidFill>
                    <a:srgbClr val="C00000"/>
                  </a:solidFill>
                  <a:latin typeface="Times New Roman" panose="02020603050405020304" pitchFamily="18" charset="0"/>
                  <a:ea typeface="楷体_GB2312" pitchFamily="49" charset="-122"/>
                </a:rPr>
                <a:t> </a:t>
              </a:r>
              <a:endParaRPr lang="en-US" altLang="zh-CN" sz="2600" b="1" dirty="0" smtClean="0">
                <a:solidFill>
                  <a:srgbClr val="000000"/>
                </a:solidFill>
                <a:latin typeface="Times New Roman" panose="02020603050405020304" pitchFamily="18" charset="0"/>
                <a:ea typeface="楷体_GB2312" pitchFamily="49" charset="-122"/>
              </a:endParaRPr>
            </a:p>
            <a:p>
              <a:pPr fontAlgn="base">
                <a:lnSpc>
                  <a:spcPts val="3600"/>
                </a:lnSpc>
                <a:spcBef>
                  <a:spcPct val="0"/>
                </a:spcBef>
                <a:spcAft>
                  <a:spcPct val="0"/>
                </a:spcAft>
              </a:pPr>
              <a:r>
                <a:rPr lang="en-US" altLang="zh-CN" sz="2600" b="1" dirty="0" smtClean="0">
                  <a:solidFill>
                    <a:srgbClr val="000000"/>
                  </a:solidFill>
                  <a:latin typeface="Times New Roman" panose="02020603050405020304" pitchFamily="18" charset="0"/>
                  <a:ea typeface="楷体_GB2312" pitchFamily="49" charset="-122"/>
                </a:rPr>
                <a:t>         </a:t>
              </a:r>
              <a:r>
                <a:rPr lang="zh-CN" altLang="en-US" sz="2600" b="1" dirty="0" smtClean="0">
                  <a:solidFill>
                    <a:srgbClr val="000000"/>
                  </a:solidFill>
                  <a:latin typeface="Times New Roman" panose="02020603050405020304" pitchFamily="18" charset="0"/>
                  <a:ea typeface="楷体_GB2312" pitchFamily="49" charset="-122"/>
                </a:rPr>
                <a:t>总之</a:t>
              </a:r>
              <a:r>
                <a:rPr lang="zh-CN" altLang="en-US" sz="2600" b="1" smtClean="0">
                  <a:solidFill>
                    <a:srgbClr val="000000"/>
                  </a:solidFill>
                  <a:latin typeface="Times New Roman" panose="02020603050405020304" pitchFamily="18" charset="0"/>
                  <a:ea typeface="楷体_GB2312" pitchFamily="49" charset="-122"/>
                </a:rPr>
                <a:t>，要熟练</a:t>
              </a:r>
              <a:r>
                <a:rPr lang="zh-CN" altLang="en-US" sz="2600" b="1" dirty="0" smtClean="0">
                  <a:solidFill>
                    <a:srgbClr val="000000"/>
                  </a:solidFill>
                  <a:latin typeface="Times New Roman" panose="02020603050405020304" pitchFamily="18" charset="0"/>
                  <a:ea typeface="楷体_GB2312" pitchFamily="49" charset="-122"/>
                </a:rPr>
                <a:t>掌握计算</a:t>
              </a:r>
              <a:r>
                <a:rPr lang="zh-CN" altLang="en-US" sz="2600" b="1" i="1" dirty="0">
                  <a:solidFill>
                    <a:srgbClr val="C00000"/>
                  </a:solidFill>
                  <a:latin typeface="Times New Roman" panose="02020603050405020304" pitchFamily="18" charset="0"/>
                  <a:ea typeface="楷体_GB2312" pitchFamily="49" charset="-122"/>
                </a:rPr>
                <a:t>△</a:t>
              </a:r>
              <a:r>
                <a:rPr lang="en-US" altLang="zh-CN" sz="2600" b="1" i="1" baseline="-25000" dirty="0" err="1">
                  <a:solidFill>
                    <a:srgbClr val="C00000"/>
                  </a:solidFill>
                  <a:latin typeface="Times New Roman" panose="02020603050405020304" pitchFamily="18" charset="0"/>
                  <a:ea typeface="楷体_GB2312" pitchFamily="49" charset="-122"/>
                </a:rPr>
                <a:t>f</a:t>
              </a:r>
              <a:r>
                <a:rPr lang="en-US" altLang="zh-CN" sz="2600" b="1" i="1" dirty="0" err="1">
                  <a:solidFill>
                    <a:srgbClr val="C00000"/>
                  </a:solidFill>
                  <a:latin typeface="Times New Roman" panose="02020603050405020304" pitchFamily="18" charset="0"/>
                  <a:ea typeface="楷体_GB2312" pitchFamily="49" charset="-122"/>
                </a:rPr>
                <a:t>H</a:t>
              </a:r>
              <a:r>
                <a:rPr lang="en-US" altLang="zh-CN" sz="2600" b="1" i="1" baseline="-25000" dirty="0" err="1">
                  <a:solidFill>
                    <a:srgbClr val="C00000"/>
                  </a:solidFill>
                  <a:latin typeface="Times New Roman" panose="02020603050405020304" pitchFamily="18" charset="0"/>
                  <a:ea typeface="楷体_GB2312" pitchFamily="49" charset="-122"/>
                </a:rPr>
                <a:t>m</a:t>
              </a:r>
              <a:r>
                <a:rPr lang="el-GR" altLang="zh-CN" sz="2600" b="1" i="1" baseline="30000" dirty="0">
                  <a:solidFill>
                    <a:srgbClr val="C00000"/>
                  </a:solidFill>
                  <a:latin typeface="Times New Roman" panose="02020603050405020304" pitchFamily="18" charset="0"/>
                  <a:ea typeface="楷体_GB2312" pitchFamily="49" charset="-122"/>
                </a:rPr>
                <a:t>Θ</a:t>
              </a:r>
              <a:r>
                <a:rPr lang="en-US" altLang="zh-CN" sz="2600" b="1" i="1" dirty="0">
                  <a:solidFill>
                    <a:srgbClr val="C00000"/>
                  </a:solidFill>
                  <a:latin typeface="Times New Roman" panose="02020603050405020304" pitchFamily="18" charset="0"/>
                  <a:ea typeface="楷体_GB2312" pitchFamily="49" charset="-122"/>
                </a:rPr>
                <a:t> </a:t>
              </a:r>
              <a:r>
                <a:rPr lang="zh-CN" altLang="en-US" sz="2600" b="1" dirty="0" smtClean="0">
                  <a:solidFill>
                    <a:srgbClr val="000000"/>
                  </a:solidFill>
                  <a:latin typeface="Times New Roman" panose="02020603050405020304" pitchFamily="18" charset="0"/>
                  <a:ea typeface="楷体_GB2312" pitchFamily="49" charset="-122"/>
                </a:rPr>
                <a:t>、</a:t>
              </a:r>
              <a:r>
                <a:rPr lang="zh-CN" altLang="en-US" sz="2600" b="1" i="1" dirty="0" smtClean="0">
                  <a:solidFill>
                    <a:srgbClr val="C00000"/>
                  </a:solidFill>
                  <a:latin typeface="Times New Roman" panose="02020603050405020304" pitchFamily="18" charset="0"/>
                  <a:ea typeface="楷体_GB2312" pitchFamily="49" charset="-122"/>
                </a:rPr>
                <a:t>△</a:t>
              </a:r>
              <a:r>
                <a:rPr lang="en-US" altLang="zh-CN" sz="2600" b="1" i="1" baseline="-25000" dirty="0" err="1" smtClean="0">
                  <a:solidFill>
                    <a:srgbClr val="C00000"/>
                  </a:solidFill>
                  <a:latin typeface="Times New Roman" panose="02020603050405020304" pitchFamily="18" charset="0"/>
                  <a:ea typeface="楷体_GB2312" pitchFamily="49" charset="-122"/>
                </a:rPr>
                <a:t>r</a:t>
              </a:r>
              <a:r>
                <a:rPr lang="en-US" altLang="zh-CN" sz="2600" b="1" i="1" dirty="0" err="1" smtClean="0">
                  <a:solidFill>
                    <a:srgbClr val="C00000"/>
                  </a:solidFill>
                  <a:latin typeface="Times New Roman" panose="02020603050405020304" pitchFamily="18" charset="0"/>
                  <a:ea typeface="楷体_GB2312" pitchFamily="49" charset="-122"/>
                </a:rPr>
                <a:t>H</a:t>
              </a:r>
              <a:r>
                <a:rPr lang="en-US" altLang="zh-CN" sz="2600" b="1" i="1" baseline="-25000" dirty="0" err="1" smtClean="0">
                  <a:solidFill>
                    <a:srgbClr val="C00000"/>
                  </a:solidFill>
                  <a:latin typeface="Times New Roman" panose="02020603050405020304" pitchFamily="18" charset="0"/>
                  <a:ea typeface="楷体_GB2312" pitchFamily="49" charset="-122"/>
                </a:rPr>
                <a:t>m</a:t>
              </a:r>
              <a:r>
                <a:rPr lang="el-GR" altLang="zh-CN" sz="2600" b="1" i="1" baseline="30000" dirty="0" smtClean="0">
                  <a:solidFill>
                    <a:srgbClr val="C00000"/>
                  </a:solidFill>
                  <a:latin typeface="Times New Roman" panose="02020603050405020304" pitchFamily="18" charset="0"/>
                  <a:ea typeface="楷体_GB2312" pitchFamily="49" charset="-122"/>
                </a:rPr>
                <a:t>Θ</a:t>
              </a:r>
              <a:r>
                <a:rPr lang="en-US" altLang="zh-CN" sz="2600" b="1" i="1" dirty="0" smtClean="0">
                  <a:solidFill>
                    <a:srgbClr val="C00000"/>
                  </a:solidFill>
                  <a:latin typeface="Times New Roman" panose="02020603050405020304" pitchFamily="18" charset="0"/>
                  <a:ea typeface="楷体_GB2312" pitchFamily="49" charset="-122"/>
                </a:rPr>
                <a:t>  </a:t>
              </a:r>
              <a:r>
                <a:rPr lang="en-US" altLang="zh-CN" sz="2600" b="1" i="1" dirty="0" smtClean="0">
                  <a:solidFill>
                    <a:srgbClr val="000000"/>
                  </a:solidFill>
                  <a:latin typeface="Times New Roman" panose="02020603050405020304" pitchFamily="18" charset="0"/>
                  <a:ea typeface="楷体_GB2312" pitchFamily="49" charset="-122"/>
                </a:rPr>
                <a:t>(</a:t>
              </a:r>
              <a:r>
                <a:rPr lang="zh-CN" altLang="en-US" sz="2600" b="1" i="1" dirty="0" smtClean="0">
                  <a:solidFill>
                    <a:srgbClr val="000000"/>
                  </a:solidFill>
                  <a:latin typeface="Times New Roman" panose="02020603050405020304" pitchFamily="18" charset="0"/>
                  <a:ea typeface="楷体_GB2312" pitchFamily="49" charset="-122"/>
                </a:rPr>
                <a:t>△</a:t>
              </a:r>
              <a:r>
                <a:rPr lang="en-US" altLang="zh-CN" sz="2600" b="1" i="1" baseline="-25000" dirty="0" err="1" smtClean="0">
                  <a:solidFill>
                    <a:srgbClr val="000000"/>
                  </a:solidFill>
                  <a:latin typeface="Times New Roman" panose="02020603050405020304" pitchFamily="18" charset="0"/>
                  <a:ea typeface="楷体_GB2312" pitchFamily="49" charset="-122"/>
                </a:rPr>
                <a:t>r</a:t>
              </a:r>
              <a:r>
                <a:rPr lang="en-US" altLang="zh-CN" sz="2600" b="1" i="1" dirty="0" err="1" smtClean="0">
                  <a:solidFill>
                    <a:srgbClr val="000000"/>
                  </a:solidFill>
                  <a:latin typeface="Times New Roman" panose="02020603050405020304" pitchFamily="18" charset="0"/>
                  <a:ea typeface="楷体_GB2312" pitchFamily="49" charset="-122"/>
                </a:rPr>
                <a:t>S</a:t>
              </a:r>
              <a:r>
                <a:rPr lang="en-US" altLang="zh-CN" sz="2600" b="1" i="1" baseline="-25000" dirty="0" err="1" smtClean="0">
                  <a:solidFill>
                    <a:srgbClr val="000000"/>
                  </a:solidFill>
                  <a:latin typeface="Times New Roman" panose="02020603050405020304" pitchFamily="18" charset="0"/>
                  <a:ea typeface="楷体_GB2312" pitchFamily="49" charset="-122"/>
                </a:rPr>
                <a:t>m</a:t>
              </a:r>
              <a:r>
                <a:rPr lang="el-GR" altLang="zh-CN" sz="2600" b="1" i="1" baseline="30000" dirty="0" smtClean="0">
                  <a:solidFill>
                    <a:srgbClr val="000000"/>
                  </a:solidFill>
                  <a:latin typeface="Times New Roman" panose="02020603050405020304" pitchFamily="18" charset="0"/>
                  <a:ea typeface="楷体_GB2312" pitchFamily="49" charset="-122"/>
                </a:rPr>
                <a:t>Θ</a:t>
              </a:r>
              <a:r>
                <a:rPr lang="en-US" altLang="zh-CN" sz="2600" b="1" i="1" dirty="0" smtClean="0">
                  <a:solidFill>
                    <a:srgbClr val="000000"/>
                  </a:solidFill>
                  <a:latin typeface="Times New Roman" panose="02020603050405020304" pitchFamily="18" charset="0"/>
                  <a:ea typeface="楷体_GB2312" pitchFamily="49" charset="-122"/>
                </a:rPr>
                <a:t> </a:t>
              </a:r>
              <a:r>
                <a:rPr kumimoji="1" lang="zh-CN" altLang="en-US" sz="2600" b="1" dirty="0" smtClean="0">
                  <a:solidFill>
                    <a:srgbClr val="000000"/>
                  </a:solidFill>
                  <a:latin typeface="Times New Roman" panose="02020603050405020304" pitchFamily="18" charset="0"/>
                  <a:ea typeface="楷体_GB2312" pitchFamily="49" charset="-122"/>
                </a:rPr>
                <a:t>、</a:t>
              </a:r>
              <a:r>
                <a:rPr lang="zh-CN" altLang="en-US" sz="2600" b="1" i="1" dirty="0" smtClean="0">
                  <a:solidFill>
                    <a:srgbClr val="000000"/>
                  </a:solidFill>
                  <a:latin typeface="Times New Roman" panose="02020603050405020304" pitchFamily="18" charset="0"/>
                  <a:ea typeface="楷体_GB2312" pitchFamily="49" charset="-122"/>
                </a:rPr>
                <a:t>△</a:t>
              </a:r>
              <a:r>
                <a:rPr lang="en-US" altLang="zh-CN" sz="2600" b="1" i="1" baseline="-25000" dirty="0" err="1" smtClean="0">
                  <a:solidFill>
                    <a:srgbClr val="000000"/>
                  </a:solidFill>
                  <a:latin typeface="Times New Roman" panose="02020603050405020304" pitchFamily="18" charset="0"/>
                  <a:ea typeface="楷体_GB2312" pitchFamily="49" charset="-122"/>
                </a:rPr>
                <a:t>r</a:t>
              </a:r>
              <a:r>
                <a:rPr lang="en-US" altLang="zh-CN" sz="2600" b="1" i="1" dirty="0" err="1" smtClean="0">
                  <a:solidFill>
                    <a:srgbClr val="000000"/>
                  </a:solidFill>
                  <a:latin typeface="Times New Roman" panose="02020603050405020304" pitchFamily="18" charset="0"/>
                  <a:ea typeface="楷体_GB2312" pitchFamily="49" charset="-122"/>
                </a:rPr>
                <a:t>G</a:t>
              </a:r>
              <a:r>
                <a:rPr lang="en-US" altLang="zh-CN" sz="2600" b="1" i="1" baseline="-25000" dirty="0" err="1" smtClean="0">
                  <a:solidFill>
                    <a:srgbClr val="000000"/>
                  </a:solidFill>
                  <a:latin typeface="Times New Roman" panose="02020603050405020304" pitchFamily="18" charset="0"/>
                  <a:ea typeface="楷体_GB2312" pitchFamily="49" charset="-122"/>
                </a:rPr>
                <a:t>m</a:t>
              </a:r>
              <a:r>
                <a:rPr lang="el-GR" altLang="zh-CN" sz="2600" b="1" i="1" baseline="30000" dirty="0" smtClean="0">
                  <a:solidFill>
                    <a:srgbClr val="000000"/>
                  </a:solidFill>
                  <a:latin typeface="Times New Roman" panose="02020603050405020304" pitchFamily="18" charset="0"/>
                  <a:ea typeface="楷体_GB2312" pitchFamily="49" charset="-122"/>
                </a:rPr>
                <a:t>Θ</a:t>
              </a:r>
              <a:r>
                <a:rPr lang="en-US" altLang="zh-CN" sz="2600" b="1" i="1" dirty="0" smtClean="0">
                  <a:solidFill>
                    <a:srgbClr val="000000"/>
                  </a:solidFill>
                  <a:latin typeface="Times New Roman" panose="02020603050405020304" pitchFamily="18" charset="0"/>
                  <a:ea typeface="楷体_GB2312" pitchFamily="49" charset="-122"/>
                </a:rPr>
                <a:t> </a:t>
              </a:r>
              <a:r>
                <a:rPr lang="zh-CN" altLang="en-US" sz="2600" b="1" i="1" dirty="0" smtClean="0">
                  <a:solidFill>
                    <a:srgbClr val="000000"/>
                  </a:solidFill>
                  <a:latin typeface="Times New Roman" panose="02020603050405020304" pitchFamily="18" charset="0"/>
                  <a:ea typeface="楷体_GB2312" pitchFamily="49" charset="-122"/>
                </a:rPr>
                <a:t>的计算相类似</a:t>
              </a:r>
              <a:r>
                <a:rPr lang="en-US" altLang="zh-CN" sz="2600" b="1" i="1" dirty="0" smtClean="0">
                  <a:solidFill>
                    <a:srgbClr val="000000"/>
                  </a:solidFill>
                  <a:latin typeface="Times New Roman" panose="02020603050405020304" pitchFamily="18" charset="0"/>
                  <a:ea typeface="楷体_GB2312" pitchFamily="49" charset="-122"/>
                </a:rPr>
                <a:t>)</a:t>
              </a:r>
              <a:r>
                <a:rPr lang="zh-CN" altLang="en-US" sz="2600" b="1" i="1" dirty="0" smtClean="0">
                  <a:solidFill>
                    <a:srgbClr val="000000"/>
                  </a:solidFill>
                  <a:latin typeface="Times New Roman" panose="02020603050405020304" pitchFamily="18" charset="0"/>
                  <a:ea typeface="楷体_GB2312" pitchFamily="49" charset="-122"/>
                </a:rPr>
                <a:t>。</a:t>
              </a:r>
              <a:endParaRPr lang="zh-CN" altLang="en-US" sz="2600" b="1" dirty="0" smtClean="0">
                <a:solidFill>
                  <a:srgbClr val="000000"/>
                </a:solidFill>
                <a:latin typeface="Times New Roman" panose="02020603050405020304" pitchFamily="18" charset="0"/>
                <a:ea typeface="楷体_GB2312" pitchFamily="49" charset="-122"/>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组合 7"/>
          <p:cNvGrpSpPr/>
          <p:nvPr/>
        </p:nvGrpSpPr>
        <p:grpSpPr bwMode="auto">
          <a:xfrm>
            <a:off x="1066800" y="1811977"/>
            <a:ext cx="7054850" cy="3444235"/>
            <a:chOff x="381000" y="1814243"/>
            <a:chExt cx="5715000" cy="3443557"/>
          </a:xfrm>
        </p:grpSpPr>
        <p:sp>
          <p:nvSpPr>
            <p:cNvPr id="72709" name="Rectangle 6"/>
            <p:cNvSpPr>
              <a:spLocks noChangeArrowheads="1"/>
            </p:cNvSpPr>
            <p:nvPr/>
          </p:nvSpPr>
          <p:spPr bwMode="auto">
            <a:xfrm>
              <a:off x="381000" y="1814243"/>
              <a:ext cx="5715000" cy="892376"/>
            </a:xfrm>
            <a:prstGeom prst="rect">
              <a:avLst/>
            </a:prstGeom>
            <a:solidFill>
              <a:srgbClr val="99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pPr marL="342900" indent="-342900" fontAlgn="base">
                <a:spcBef>
                  <a:spcPct val="0"/>
                </a:spcBef>
                <a:spcAft>
                  <a:spcPct val="0"/>
                </a:spcAft>
                <a:buFontTx/>
                <a:buAutoNum type="arabicPeriod"/>
              </a:pPr>
              <a:r>
                <a:rPr kumimoji="1" lang="zh-CN" altLang="en-US" sz="3000" b="1" dirty="0" smtClean="0">
                  <a:solidFill>
                    <a:srgbClr val="FF0000"/>
                  </a:solidFill>
                  <a:latin typeface="Times New Roman" panose="02020603050405020304" pitchFamily="18" charset="0"/>
                  <a:ea typeface="楷体_GB2312" pitchFamily="49" charset="-122"/>
                </a:rPr>
                <a:t>系统和环境</a:t>
              </a:r>
              <a:r>
                <a:rPr kumimoji="1" lang="en-US" altLang="zh-CN" sz="2200" b="1" dirty="0" smtClean="0">
                  <a:solidFill>
                    <a:srgbClr val="FF0000"/>
                  </a:solidFill>
                  <a:latin typeface="Times New Roman" panose="02020603050405020304" pitchFamily="18" charset="0"/>
                  <a:ea typeface="楷体_GB2312" pitchFamily="49" charset="-122"/>
                </a:rPr>
                <a:t>(</a:t>
              </a:r>
              <a:r>
                <a:rPr lang="en-US" altLang="zh-CN" sz="2200" b="1" dirty="0" smtClean="0">
                  <a:solidFill>
                    <a:srgbClr val="FF0000"/>
                  </a:solidFill>
                  <a:latin typeface="Times New Roman" panose="02020603050405020304" pitchFamily="18" charset="0"/>
                  <a:ea typeface="楷体_GB2312" pitchFamily="49" charset="-122"/>
                </a:rPr>
                <a:t>System and Surroundings</a:t>
              </a:r>
              <a:r>
                <a:rPr lang="en-US" altLang="zh-CN" sz="2200" b="1" dirty="0" smtClean="0">
                  <a:solidFill>
                    <a:srgbClr val="080808"/>
                  </a:solidFill>
                  <a:latin typeface="Times New Roman" panose="02020603050405020304" pitchFamily="18" charset="0"/>
                  <a:ea typeface="楷体_GB2312" pitchFamily="49" charset="-122"/>
                </a:rPr>
                <a:t>)</a:t>
              </a:r>
            </a:p>
            <a:p>
              <a:pPr fontAlgn="base">
                <a:spcBef>
                  <a:spcPct val="0"/>
                </a:spcBef>
                <a:spcAft>
                  <a:spcPct val="0"/>
                </a:spcAft>
              </a:pPr>
              <a:r>
                <a:rPr lang="en-US" altLang="zh-CN" sz="2200" b="1" dirty="0">
                  <a:solidFill>
                    <a:srgbClr val="080808"/>
                  </a:solidFill>
                  <a:latin typeface="Times New Roman" panose="02020603050405020304" pitchFamily="18" charset="0"/>
                  <a:ea typeface="楷体_GB2312" pitchFamily="49" charset="-122"/>
                </a:rPr>
                <a:t> </a:t>
              </a:r>
              <a:r>
                <a:rPr lang="en-US" altLang="zh-CN" sz="2200" b="1" dirty="0" smtClean="0">
                  <a:solidFill>
                    <a:srgbClr val="080808"/>
                  </a:solidFill>
                  <a:latin typeface="Times New Roman" panose="02020603050405020304" pitchFamily="18" charset="0"/>
                  <a:ea typeface="楷体_GB2312" pitchFamily="49" charset="-122"/>
                </a:rPr>
                <a:t>                                ——</a:t>
              </a:r>
              <a:r>
                <a:rPr lang="zh-CN" altLang="en-US" sz="2200" b="1" dirty="0" smtClean="0">
                  <a:solidFill>
                    <a:srgbClr val="080808"/>
                  </a:solidFill>
                  <a:latin typeface="Times New Roman" panose="02020603050405020304" pitchFamily="18" charset="0"/>
                  <a:ea typeface="楷体_GB2312" pitchFamily="49" charset="-122"/>
                </a:rPr>
                <a:t>以后专指化学反应的系统和环境</a:t>
              </a:r>
              <a:endParaRPr lang="en-US" altLang="zh-CN" sz="2200" b="1" dirty="0" smtClean="0">
                <a:solidFill>
                  <a:srgbClr val="080808"/>
                </a:solidFill>
                <a:latin typeface="Times New Roman" panose="02020603050405020304" pitchFamily="18" charset="0"/>
                <a:ea typeface="楷体_GB2312" pitchFamily="49" charset="-122"/>
              </a:endParaRPr>
            </a:p>
          </p:txBody>
        </p:sp>
        <p:pic>
          <p:nvPicPr>
            <p:cNvPr id="72710" name="Picture 7" descr="td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677162" y="3124200"/>
              <a:ext cx="3429000" cy="213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44036" name="矩形 6"/>
          <p:cNvSpPr>
            <a:spLocks noChangeArrowheads="1"/>
          </p:cNvSpPr>
          <p:nvPr/>
        </p:nvSpPr>
        <p:spPr bwMode="auto">
          <a:xfrm>
            <a:off x="1066800" y="1066800"/>
            <a:ext cx="6711950" cy="492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fontAlgn="base">
              <a:spcBef>
                <a:spcPct val="0"/>
              </a:spcBef>
              <a:spcAft>
                <a:spcPct val="0"/>
              </a:spcAft>
            </a:pPr>
            <a:r>
              <a:rPr lang="zh-CN" altLang="en-US" sz="2600" b="1" dirty="0" smtClean="0">
                <a:latin typeface="Times New Roman" panose="02020603050405020304" pitchFamily="18" charset="0"/>
                <a:ea typeface="楷体_GB2312" pitchFamily="49" charset="-122"/>
              </a:rPr>
              <a:t>掌握某些基本概念是学习无机化学的基础！</a:t>
            </a:r>
            <a:endParaRPr kumimoji="1" lang="zh-CN" altLang="en-US" sz="2600" b="1" dirty="0" smtClean="0">
              <a:latin typeface="Times New Roman" panose="02020603050405020304" pitchFamily="18" charset="0"/>
              <a:ea typeface="楷体_GB2312" pitchFamily="49" charset="-122"/>
            </a:endParaRPr>
          </a:p>
        </p:txBody>
      </p:sp>
      <p:sp>
        <p:nvSpPr>
          <p:cNvPr id="7" name="Text Box 4">
            <a:hlinkClick r:id="" action="ppaction://hlinkshowjump?jump=nextslide" highlightClick="1"/>
            <a:hlinkHover r:id="" action="ppaction://noaction" highlightClick="1"/>
          </p:cNvPr>
          <p:cNvSpPr txBox="1">
            <a:spLocks noChangeArrowheads="1"/>
          </p:cNvSpPr>
          <p:nvPr/>
        </p:nvSpPr>
        <p:spPr bwMode="auto">
          <a:xfrm>
            <a:off x="2286000" y="76200"/>
            <a:ext cx="3733800" cy="554038"/>
          </a:xfrm>
          <a:prstGeom prst="rect">
            <a:avLst/>
          </a:prstGeom>
          <a:gradFill rotWithShape="0">
            <a:gsLst>
              <a:gs pos="0">
                <a:srgbClr val="8488C4"/>
              </a:gs>
              <a:gs pos="53000">
                <a:srgbClr val="D4DEFF"/>
              </a:gs>
              <a:gs pos="83000">
                <a:srgbClr val="D4DEFF"/>
              </a:gs>
              <a:gs pos="100000">
                <a:srgbClr val="96AB94"/>
              </a:gs>
            </a:gsLst>
            <a:lin ang="5400000"/>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600" b="1" i="1">
                <a:solidFill>
                  <a:srgbClr val="CC3300"/>
                </a:solidFill>
                <a:latin typeface="Times New Roman" panose="02020603050405020304" pitchFamily="18" charset="0"/>
                <a:ea typeface="楷体_GB2312" pitchFamily="49" charset="-122"/>
              </a:defRPr>
            </a:lvl1pPr>
            <a:lvl2pPr marL="742950" indent="-285750" eaLnBrk="0" hangingPunct="0">
              <a:defRPr kumimoji="1" sz="2600" b="1" i="1">
                <a:solidFill>
                  <a:srgbClr val="CC3300"/>
                </a:solidFill>
                <a:latin typeface="Times New Roman" panose="02020603050405020304" pitchFamily="18" charset="0"/>
                <a:ea typeface="楷体_GB2312" pitchFamily="49" charset="-122"/>
              </a:defRPr>
            </a:lvl2pPr>
            <a:lvl3pPr marL="1143000" indent="-228600" eaLnBrk="0" hangingPunct="0">
              <a:defRPr kumimoji="1" sz="2600" b="1" i="1">
                <a:solidFill>
                  <a:srgbClr val="CC3300"/>
                </a:solidFill>
                <a:latin typeface="Times New Roman" panose="02020603050405020304" pitchFamily="18" charset="0"/>
                <a:ea typeface="楷体_GB2312" pitchFamily="49" charset="-122"/>
              </a:defRPr>
            </a:lvl3pPr>
            <a:lvl4pPr marL="1600200" indent="-228600" eaLnBrk="0" hangingPunct="0">
              <a:defRPr kumimoji="1" sz="2600" b="1" i="1">
                <a:solidFill>
                  <a:srgbClr val="CC3300"/>
                </a:solidFill>
                <a:latin typeface="Times New Roman" panose="02020603050405020304" pitchFamily="18" charset="0"/>
                <a:ea typeface="楷体_GB2312" pitchFamily="49" charset="-122"/>
              </a:defRPr>
            </a:lvl4pPr>
            <a:lvl5pPr marL="2057400" indent="-228600" eaLnBrk="0" hangingPunct="0">
              <a:defRPr kumimoji="1" sz="2600" b="1" i="1">
                <a:solidFill>
                  <a:srgbClr val="CC33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9pPr>
          </a:lstStyle>
          <a:p>
            <a:pPr algn="ctr" eaLnBrk="1" fontAlgn="base" hangingPunct="1">
              <a:spcBef>
                <a:spcPct val="50000"/>
              </a:spcBef>
              <a:spcAft>
                <a:spcPct val="0"/>
              </a:spcAft>
            </a:pPr>
            <a:r>
              <a:rPr lang="en-US" altLang="zh-CN" sz="3000" smtClean="0">
                <a:solidFill>
                  <a:srgbClr val="FF0000"/>
                </a:solidFill>
              </a:rPr>
              <a:t>1-1     </a:t>
            </a:r>
            <a:r>
              <a:rPr lang="zh-CN" altLang="en-US" sz="3000" smtClean="0">
                <a:solidFill>
                  <a:srgbClr val="FF0000"/>
                </a:solidFill>
              </a:rPr>
              <a:t>几个基本概念</a:t>
            </a:r>
            <a:endParaRPr lang="en-US" altLang="zh-CN" sz="3000" smtClean="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amond(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4036"/>
                                        </p:tgtEl>
                                        <p:attrNameLst>
                                          <p:attrName>style.visibility</p:attrName>
                                        </p:attrNameLst>
                                      </p:cBhvr>
                                      <p:to>
                                        <p:strVal val="visible"/>
                                      </p:to>
                                    </p:set>
                                    <p:animEffect transition="in" filter="blinds(horizontal)">
                                      <p:cBhvr>
                                        <p:cTn id="12" dur="500"/>
                                        <p:tgtEl>
                                          <p:spTgt spid="4403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6" grpId="0"/>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7"/>
          <p:cNvSpPr>
            <a:spLocks noChangeArrowheads="1"/>
          </p:cNvSpPr>
          <p:nvPr/>
        </p:nvSpPr>
        <p:spPr bwMode="auto">
          <a:xfrm>
            <a:off x="539552" y="304800"/>
            <a:ext cx="8424936" cy="2144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fontAlgn="base">
              <a:lnSpc>
                <a:spcPts val="4000"/>
              </a:lnSpc>
              <a:spcBef>
                <a:spcPct val="0"/>
              </a:spcBef>
              <a:spcAft>
                <a:spcPct val="0"/>
              </a:spcAft>
            </a:pPr>
            <a:r>
              <a:rPr lang="en-US" altLang="zh-CN" sz="2600" b="1" dirty="0" smtClean="0">
                <a:solidFill>
                  <a:srgbClr val="080808"/>
                </a:solidFill>
                <a:latin typeface="Times New Roman" panose="02020603050405020304" pitchFamily="18" charset="0"/>
                <a:ea typeface="楷体_GB2312" pitchFamily="49" charset="-122"/>
              </a:rPr>
              <a:t>         System(</a:t>
            </a:r>
            <a:r>
              <a:rPr lang="zh-CN" altLang="en-US" sz="2600" b="1" dirty="0" smtClean="0">
                <a:solidFill>
                  <a:srgbClr val="080808"/>
                </a:solidFill>
                <a:latin typeface="Times New Roman" panose="02020603050405020304" pitchFamily="18" charset="0"/>
                <a:ea typeface="楷体_GB2312" pitchFamily="49" charset="-122"/>
              </a:rPr>
              <a:t>系统或体系</a:t>
            </a:r>
            <a:r>
              <a:rPr lang="en-US" altLang="zh-CN" sz="2600" b="1" dirty="0" smtClean="0">
                <a:solidFill>
                  <a:srgbClr val="080808"/>
                </a:solidFill>
                <a:latin typeface="Times New Roman" panose="02020603050405020304" pitchFamily="18" charset="0"/>
                <a:ea typeface="楷体_GB2312" pitchFamily="49" charset="-122"/>
              </a:rPr>
              <a:t>) ——</a:t>
            </a:r>
            <a:r>
              <a:rPr lang="zh-CN" altLang="en-US" sz="2600" b="1" dirty="0" smtClean="0">
                <a:solidFill>
                  <a:srgbClr val="080808"/>
                </a:solidFill>
                <a:latin typeface="Times New Roman" panose="02020603050405020304" pitchFamily="18" charset="0"/>
                <a:ea typeface="楷体_GB2312" pitchFamily="49" charset="-122"/>
              </a:rPr>
              <a:t>研究的对象（物质）；一般是化学反应</a:t>
            </a:r>
            <a:r>
              <a:rPr lang="en-US" altLang="zh-CN" sz="2600" b="1" dirty="0" smtClean="0">
                <a:solidFill>
                  <a:srgbClr val="080808"/>
                </a:solidFill>
                <a:latin typeface="Times New Roman" panose="02020603050405020304" pitchFamily="18" charset="0"/>
                <a:ea typeface="楷体_GB2312" pitchFamily="49" charset="-122"/>
              </a:rPr>
              <a:t>…</a:t>
            </a:r>
          </a:p>
          <a:p>
            <a:pPr fontAlgn="base">
              <a:lnSpc>
                <a:spcPts val="4000"/>
              </a:lnSpc>
              <a:spcBef>
                <a:spcPct val="0"/>
              </a:spcBef>
              <a:spcAft>
                <a:spcPct val="0"/>
              </a:spcAft>
            </a:pPr>
            <a:r>
              <a:rPr lang="en-US" altLang="zh-CN" sz="2600" b="1" dirty="0" smtClean="0">
                <a:solidFill>
                  <a:srgbClr val="080808"/>
                </a:solidFill>
                <a:latin typeface="Times New Roman" panose="02020603050405020304" pitchFamily="18" charset="0"/>
                <a:ea typeface="楷体_GB2312" pitchFamily="49" charset="-122"/>
              </a:rPr>
              <a:t>        Surroundings</a:t>
            </a:r>
            <a:r>
              <a:rPr lang="zh-CN" altLang="en-US" sz="2600" b="1" dirty="0" smtClean="0">
                <a:solidFill>
                  <a:srgbClr val="080808"/>
                </a:solidFill>
                <a:latin typeface="Times New Roman" panose="02020603050405020304" pitchFamily="18" charset="0"/>
                <a:ea typeface="楷体_GB2312" pitchFamily="49" charset="-122"/>
              </a:rPr>
              <a:t>（环境）</a:t>
            </a:r>
            <a:r>
              <a:rPr lang="en-US" altLang="zh-CN" sz="2600" b="1" dirty="0" smtClean="0">
                <a:solidFill>
                  <a:srgbClr val="080808"/>
                </a:solidFill>
                <a:latin typeface="Times New Roman" panose="02020603050405020304" pitchFamily="18" charset="0"/>
                <a:ea typeface="楷体_GB2312" pitchFamily="49" charset="-122"/>
              </a:rPr>
              <a:t>—— </a:t>
            </a:r>
            <a:r>
              <a:rPr lang="zh-CN" altLang="en-US" sz="2600" b="1" dirty="0" smtClean="0">
                <a:solidFill>
                  <a:srgbClr val="080808"/>
                </a:solidFill>
                <a:latin typeface="Times New Roman" panose="02020603050405020304" pitchFamily="18" charset="0"/>
                <a:ea typeface="楷体_GB2312" pitchFamily="49" charset="-122"/>
              </a:rPr>
              <a:t>除系统外的物质，一般两者有关系。对于化学反应来说，一般指的是能量。</a:t>
            </a:r>
          </a:p>
        </p:txBody>
      </p:sp>
      <p:sp>
        <p:nvSpPr>
          <p:cNvPr id="5" name="矩形 8"/>
          <p:cNvSpPr>
            <a:spLocks noChangeArrowheads="1"/>
          </p:cNvSpPr>
          <p:nvPr/>
        </p:nvSpPr>
        <p:spPr bwMode="auto">
          <a:xfrm>
            <a:off x="323528" y="2819400"/>
            <a:ext cx="8424936" cy="16312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fontAlgn="base">
              <a:lnSpc>
                <a:spcPts val="4000"/>
              </a:lnSpc>
              <a:spcBef>
                <a:spcPct val="0"/>
              </a:spcBef>
              <a:spcAft>
                <a:spcPct val="0"/>
              </a:spcAft>
            </a:pPr>
            <a:r>
              <a:rPr lang="zh-CN" altLang="en-US" sz="2600" b="1" dirty="0" smtClean="0">
                <a:solidFill>
                  <a:srgbClr val="080808"/>
                </a:solidFill>
                <a:latin typeface="Times New Roman" panose="02020603050405020304" pitchFamily="18" charset="0"/>
                <a:ea typeface="楷体_GB2312" pitchFamily="49" charset="-122"/>
              </a:rPr>
              <a:t>         系统和环境之间的界限可以人为规定，</a:t>
            </a:r>
            <a:r>
              <a:rPr lang="en-US" altLang="zh-CN" sz="2600" b="1" dirty="0" smtClean="0">
                <a:solidFill>
                  <a:srgbClr val="080808"/>
                </a:solidFill>
                <a:latin typeface="Times New Roman" panose="02020603050405020304" pitchFamily="18" charset="0"/>
                <a:ea typeface="楷体_GB2312" pitchFamily="49" charset="-122"/>
              </a:rPr>
              <a:t>it can be as real as the walls of a beaker that separates a solution from the rest of the universe or just a imaginary boundary.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amond(in)">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754" name="组合 11"/>
          <p:cNvGrpSpPr/>
          <p:nvPr/>
        </p:nvGrpSpPr>
        <p:grpSpPr bwMode="auto">
          <a:xfrm>
            <a:off x="533400" y="304800"/>
            <a:ext cx="8458200" cy="4114800"/>
            <a:chOff x="533400" y="304800"/>
            <a:chExt cx="8458200" cy="3352800"/>
          </a:xfrm>
        </p:grpSpPr>
        <p:sp>
          <p:nvSpPr>
            <p:cNvPr id="74755" name="Rectangle 13"/>
            <p:cNvSpPr>
              <a:spLocks noChangeArrowheads="1"/>
            </p:cNvSpPr>
            <p:nvPr/>
          </p:nvSpPr>
          <p:spPr bwMode="auto">
            <a:xfrm>
              <a:off x="533400" y="304800"/>
              <a:ext cx="8458200" cy="1064137"/>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4000"/>
                </a:lnSpc>
                <a:spcBef>
                  <a:spcPct val="0"/>
                </a:spcBef>
                <a:spcAft>
                  <a:spcPct val="0"/>
                </a:spcAft>
              </a:pPr>
              <a:r>
                <a:rPr kumimoji="1" lang="en-US" altLang="zh-CN" sz="2600" b="1" smtClean="0">
                  <a:solidFill>
                    <a:srgbClr val="080808"/>
                  </a:solidFill>
                  <a:latin typeface="Times New Roman" panose="02020603050405020304" pitchFamily="18" charset="0"/>
                  <a:ea typeface="楷体_GB2312" pitchFamily="49" charset="-122"/>
                </a:rPr>
                <a:t>        </a:t>
              </a:r>
              <a:r>
                <a:rPr kumimoji="1" lang="zh-CN" altLang="en-US" sz="2600" b="1" smtClean="0">
                  <a:solidFill>
                    <a:srgbClr val="080808"/>
                  </a:solidFill>
                  <a:latin typeface="Times New Roman" panose="02020603050405020304" pitchFamily="18" charset="0"/>
                  <a:ea typeface="楷体_GB2312" pitchFamily="49" charset="-122"/>
                </a:rPr>
                <a:t>根据它们之间的物质</a:t>
              </a:r>
              <a:r>
                <a:rPr kumimoji="1" lang="en-US" altLang="zh-CN" sz="2600" b="1" smtClean="0">
                  <a:solidFill>
                    <a:srgbClr val="080808"/>
                  </a:solidFill>
                  <a:latin typeface="Times New Roman" panose="02020603050405020304" pitchFamily="18" charset="0"/>
                  <a:ea typeface="楷体_GB2312" pitchFamily="49" charset="-122"/>
                </a:rPr>
                <a:t>(M-matter)</a:t>
              </a:r>
              <a:r>
                <a:rPr kumimoji="1" lang="zh-CN" altLang="en-US" sz="2600" b="1" smtClean="0">
                  <a:solidFill>
                    <a:srgbClr val="080808"/>
                  </a:solidFill>
                  <a:latin typeface="Times New Roman" panose="02020603050405020304" pitchFamily="18" charset="0"/>
                  <a:ea typeface="楷体_GB2312" pitchFamily="49" charset="-122"/>
                </a:rPr>
                <a:t>和能量</a:t>
              </a:r>
              <a:r>
                <a:rPr kumimoji="1" lang="en-US" altLang="zh-CN" sz="2600" b="1" smtClean="0">
                  <a:solidFill>
                    <a:srgbClr val="080808"/>
                  </a:solidFill>
                  <a:latin typeface="Times New Roman" panose="02020603050405020304" pitchFamily="18" charset="0"/>
                  <a:ea typeface="楷体_GB2312" pitchFamily="49" charset="-122"/>
                </a:rPr>
                <a:t>(E-energy)</a:t>
              </a:r>
              <a:r>
                <a:rPr kumimoji="1" lang="zh-CN" altLang="en-US" sz="2600" b="1" smtClean="0">
                  <a:solidFill>
                    <a:srgbClr val="080808"/>
                  </a:solidFill>
                  <a:latin typeface="Times New Roman" panose="02020603050405020304" pitchFamily="18" charset="0"/>
                  <a:ea typeface="楷体_GB2312" pitchFamily="49" charset="-122"/>
                </a:rPr>
                <a:t>交换，可分三种类型：</a:t>
              </a:r>
            </a:p>
          </p:txBody>
        </p:sp>
        <p:grpSp>
          <p:nvGrpSpPr>
            <p:cNvPr id="74756" name="Group 12"/>
            <p:cNvGrpSpPr/>
            <p:nvPr/>
          </p:nvGrpSpPr>
          <p:grpSpPr bwMode="auto">
            <a:xfrm>
              <a:off x="2286000" y="1600200"/>
              <a:ext cx="3581400" cy="2057400"/>
              <a:chOff x="1632" y="666"/>
              <a:chExt cx="2256" cy="1590"/>
            </a:xfrm>
          </p:grpSpPr>
          <p:sp>
            <p:nvSpPr>
              <p:cNvPr id="74757" name="Oval 5"/>
              <p:cNvSpPr>
                <a:spLocks noChangeArrowheads="1"/>
              </p:cNvSpPr>
              <p:nvPr/>
            </p:nvSpPr>
            <p:spPr bwMode="auto">
              <a:xfrm>
                <a:off x="1632" y="666"/>
                <a:ext cx="788" cy="1590"/>
              </a:xfrm>
              <a:prstGeom prst="ellipse">
                <a:avLst/>
              </a:prstGeom>
              <a:gradFill rotWithShape="1">
                <a:gsLst>
                  <a:gs pos="0">
                    <a:srgbClr val="FF0066"/>
                  </a:gs>
                  <a:gs pos="100000">
                    <a:srgbClr val="76002F"/>
                  </a:gs>
                </a:gsLst>
                <a:path path="shape">
                  <a:fillToRect l="50000" t="50000" r="50000" b="50000"/>
                </a:path>
              </a:gradFill>
              <a:ln>
                <a:noFill/>
              </a:ln>
              <a:extLst>
                <a:ext uri="{91240B29-F687-4F45-9708-019B960494DF}">
                  <a14:hiddenLine xmlns:a14="http://schemas.microsoft.com/office/drawing/2010/main" xmlns="" w="9525">
                    <a:solidFill>
                      <a:srgbClr val="000000"/>
                    </a:solidFill>
                    <a:round/>
                  </a14:hiddenLine>
                </a:ext>
              </a:extLst>
            </p:spPr>
            <p:txBody>
              <a:bodyPr wrap="none" lIns="92075" tIns="46038" rIns="92075" bIns="46038" anchor="ctr">
                <a:spAutoFit/>
              </a:bodyPr>
              <a:lstStyle/>
              <a:p>
                <a:pPr fontAlgn="base">
                  <a:spcBef>
                    <a:spcPct val="0"/>
                  </a:spcBef>
                  <a:spcAft>
                    <a:spcPct val="0"/>
                  </a:spcAft>
                </a:pPr>
                <a:endParaRPr kumimoji="1" lang="zh-CN" altLang="en-US" sz="2600" b="1" i="1" smtClean="0">
                  <a:solidFill>
                    <a:srgbClr val="CC3300"/>
                  </a:solidFill>
                  <a:latin typeface="Times New Roman" panose="02020603050405020304" pitchFamily="18" charset="0"/>
                  <a:ea typeface="楷体_GB2312" pitchFamily="49" charset="-122"/>
                </a:endParaRPr>
              </a:p>
            </p:txBody>
          </p:sp>
          <p:sp>
            <p:nvSpPr>
              <p:cNvPr id="74758" name="Oval 6"/>
              <p:cNvSpPr>
                <a:spLocks noChangeArrowheads="1"/>
              </p:cNvSpPr>
              <p:nvPr/>
            </p:nvSpPr>
            <p:spPr bwMode="auto">
              <a:xfrm>
                <a:off x="3100" y="666"/>
                <a:ext cx="788" cy="1590"/>
              </a:xfrm>
              <a:prstGeom prst="ellipse">
                <a:avLst/>
              </a:prstGeom>
              <a:gradFill rotWithShape="1">
                <a:gsLst>
                  <a:gs pos="0">
                    <a:srgbClr val="00CC00"/>
                  </a:gs>
                  <a:gs pos="100000">
                    <a:srgbClr val="005E00"/>
                  </a:gs>
                </a:gsLst>
                <a:path path="shape">
                  <a:fillToRect l="50000" t="50000" r="50000" b="50000"/>
                </a:path>
              </a:gradFill>
              <a:ln>
                <a:noFill/>
              </a:ln>
              <a:extLst>
                <a:ext uri="{91240B29-F687-4F45-9708-019B960494DF}">
                  <a14:hiddenLine xmlns:a14="http://schemas.microsoft.com/office/drawing/2010/main" xmlns="" w="9525">
                    <a:solidFill>
                      <a:srgbClr val="000000"/>
                    </a:solidFill>
                    <a:round/>
                  </a14:hiddenLine>
                </a:ext>
              </a:extLst>
            </p:spPr>
            <p:txBody>
              <a:bodyPr wrap="none" lIns="92075" tIns="46038" rIns="92075" bIns="46038" anchor="ctr">
                <a:spAutoFit/>
              </a:bodyPr>
              <a:lstStyle/>
              <a:p>
                <a:pPr fontAlgn="base">
                  <a:spcBef>
                    <a:spcPct val="0"/>
                  </a:spcBef>
                  <a:spcAft>
                    <a:spcPct val="0"/>
                  </a:spcAft>
                </a:pPr>
                <a:endParaRPr kumimoji="1" lang="zh-CN" altLang="en-US" sz="2600" b="1" i="1" smtClean="0">
                  <a:solidFill>
                    <a:srgbClr val="CC3300"/>
                  </a:solidFill>
                  <a:latin typeface="Times New Roman" panose="02020603050405020304" pitchFamily="18" charset="0"/>
                  <a:ea typeface="楷体_GB2312" pitchFamily="49" charset="-122"/>
                </a:endParaRPr>
              </a:p>
            </p:txBody>
          </p:sp>
          <p:sp>
            <p:nvSpPr>
              <p:cNvPr id="74759" name="Line 7"/>
              <p:cNvSpPr>
                <a:spLocks noChangeShapeType="1"/>
              </p:cNvSpPr>
              <p:nvPr/>
            </p:nvSpPr>
            <p:spPr bwMode="auto">
              <a:xfrm>
                <a:off x="2420" y="1408"/>
                <a:ext cx="680" cy="0"/>
              </a:xfrm>
              <a:prstGeom prst="line">
                <a:avLst/>
              </a:prstGeom>
              <a:noFill/>
              <a:ln w="38100">
                <a:solidFill>
                  <a:schemeClr val="bg2"/>
                </a:solidFill>
                <a:round/>
                <a:headEnd type="triangle" w="med" len="med"/>
                <a:tailEnd type="triangle" w="med" len="med"/>
              </a:ln>
              <a:extLst>
                <a:ext uri="{909E8E84-426E-40DD-AFC4-6F175D3DCCD1}">
                  <a14:hiddenFill xmlns:a14="http://schemas.microsoft.com/office/drawing/2010/main" xmlns="">
                    <a:noFill/>
                  </a14:hiddenFill>
                </a:ext>
              </a:extLst>
            </p:spPr>
            <p:txBody>
              <a:bodyPr wrap="none" lIns="92075" tIns="46038" rIns="92075" bIns="46038" anchor="ctr">
                <a:spAutoFit/>
              </a:bodyPr>
              <a:lstStyle/>
              <a:p>
                <a:pPr fontAlgn="base">
                  <a:spcBef>
                    <a:spcPct val="0"/>
                  </a:spcBef>
                  <a:spcAft>
                    <a:spcPct val="0"/>
                  </a:spcAft>
                </a:pPr>
                <a:endParaRPr kumimoji="1" lang="zh-CN" altLang="en-US" sz="2600" b="1" i="1" smtClean="0">
                  <a:solidFill>
                    <a:srgbClr val="CC3300"/>
                  </a:solidFill>
                  <a:latin typeface="Times New Roman" panose="02020603050405020304" pitchFamily="18" charset="0"/>
                  <a:ea typeface="楷体_GB2312" pitchFamily="49" charset="-122"/>
                </a:endParaRPr>
              </a:p>
            </p:txBody>
          </p:sp>
          <p:sp>
            <p:nvSpPr>
              <p:cNvPr id="74760" name="Text Box 8"/>
              <p:cNvSpPr txBox="1">
                <a:spLocks noChangeArrowheads="1"/>
              </p:cNvSpPr>
              <p:nvPr/>
            </p:nvSpPr>
            <p:spPr bwMode="auto">
              <a:xfrm>
                <a:off x="1680" y="1248"/>
                <a:ext cx="680" cy="381"/>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eaLnBrk="0" hangingPunct="0">
                  <a:defRPr kumimoji="1" sz="2600" b="1" i="1">
                    <a:solidFill>
                      <a:srgbClr val="CC3300"/>
                    </a:solidFill>
                    <a:latin typeface="Times New Roman" panose="02020603050405020304" pitchFamily="18" charset="0"/>
                    <a:ea typeface="楷体_GB2312" pitchFamily="49" charset="-122"/>
                  </a:defRPr>
                </a:lvl1pPr>
                <a:lvl2pPr marL="742950" indent="-285750" eaLnBrk="0" hangingPunct="0">
                  <a:defRPr kumimoji="1" sz="2600" b="1" i="1">
                    <a:solidFill>
                      <a:srgbClr val="CC3300"/>
                    </a:solidFill>
                    <a:latin typeface="Times New Roman" panose="02020603050405020304" pitchFamily="18" charset="0"/>
                    <a:ea typeface="楷体_GB2312" pitchFamily="49" charset="-122"/>
                  </a:defRPr>
                </a:lvl2pPr>
                <a:lvl3pPr marL="1143000" indent="-228600" eaLnBrk="0" hangingPunct="0">
                  <a:defRPr kumimoji="1" sz="2600" b="1" i="1">
                    <a:solidFill>
                      <a:srgbClr val="CC3300"/>
                    </a:solidFill>
                    <a:latin typeface="Times New Roman" panose="02020603050405020304" pitchFamily="18" charset="0"/>
                    <a:ea typeface="楷体_GB2312" pitchFamily="49" charset="-122"/>
                  </a:defRPr>
                </a:lvl3pPr>
                <a:lvl4pPr marL="1600200" indent="-228600" eaLnBrk="0" hangingPunct="0">
                  <a:defRPr kumimoji="1" sz="2600" b="1" i="1">
                    <a:solidFill>
                      <a:srgbClr val="CC3300"/>
                    </a:solidFill>
                    <a:latin typeface="Times New Roman" panose="02020603050405020304" pitchFamily="18" charset="0"/>
                    <a:ea typeface="楷体_GB2312" pitchFamily="49" charset="-122"/>
                  </a:defRPr>
                </a:lvl4pPr>
                <a:lvl5pPr marL="2057400" indent="-228600" eaLnBrk="0" hangingPunct="0">
                  <a:defRPr kumimoji="1" sz="2600" b="1" i="1">
                    <a:solidFill>
                      <a:srgbClr val="CC33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mtClean="0">
                    <a:solidFill>
                      <a:srgbClr val="080808"/>
                    </a:solidFill>
                  </a:rPr>
                  <a:t>系统</a:t>
                </a:r>
              </a:p>
            </p:txBody>
          </p:sp>
          <p:sp>
            <p:nvSpPr>
              <p:cNvPr id="74761" name="Text Box 9"/>
              <p:cNvSpPr txBox="1">
                <a:spLocks noChangeArrowheads="1"/>
              </p:cNvSpPr>
              <p:nvPr/>
            </p:nvSpPr>
            <p:spPr bwMode="auto">
              <a:xfrm>
                <a:off x="3168" y="1248"/>
                <a:ext cx="645" cy="381"/>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eaLnBrk="0" hangingPunct="0">
                  <a:defRPr kumimoji="1" sz="2600" b="1" i="1">
                    <a:solidFill>
                      <a:srgbClr val="CC3300"/>
                    </a:solidFill>
                    <a:latin typeface="Times New Roman" panose="02020603050405020304" pitchFamily="18" charset="0"/>
                    <a:ea typeface="楷体_GB2312" pitchFamily="49" charset="-122"/>
                  </a:defRPr>
                </a:lvl1pPr>
                <a:lvl2pPr marL="742950" indent="-285750" eaLnBrk="0" hangingPunct="0">
                  <a:defRPr kumimoji="1" sz="2600" b="1" i="1">
                    <a:solidFill>
                      <a:srgbClr val="CC3300"/>
                    </a:solidFill>
                    <a:latin typeface="Times New Roman" panose="02020603050405020304" pitchFamily="18" charset="0"/>
                    <a:ea typeface="楷体_GB2312" pitchFamily="49" charset="-122"/>
                  </a:defRPr>
                </a:lvl2pPr>
                <a:lvl3pPr marL="1143000" indent="-228600" eaLnBrk="0" hangingPunct="0">
                  <a:defRPr kumimoji="1" sz="2600" b="1" i="1">
                    <a:solidFill>
                      <a:srgbClr val="CC3300"/>
                    </a:solidFill>
                    <a:latin typeface="Times New Roman" panose="02020603050405020304" pitchFamily="18" charset="0"/>
                    <a:ea typeface="楷体_GB2312" pitchFamily="49" charset="-122"/>
                  </a:defRPr>
                </a:lvl3pPr>
                <a:lvl4pPr marL="1600200" indent="-228600" eaLnBrk="0" hangingPunct="0">
                  <a:defRPr kumimoji="1" sz="2600" b="1" i="1">
                    <a:solidFill>
                      <a:srgbClr val="CC3300"/>
                    </a:solidFill>
                    <a:latin typeface="Times New Roman" panose="02020603050405020304" pitchFamily="18" charset="0"/>
                    <a:ea typeface="楷体_GB2312" pitchFamily="49" charset="-122"/>
                  </a:defRPr>
                </a:lvl4pPr>
                <a:lvl5pPr marL="2057400" indent="-228600" eaLnBrk="0" hangingPunct="0">
                  <a:defRPr kumimoji="1" sz="2600" b="1" i="1">
                    <a:solidFill>
                      <a:srgbClr val="CC33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mtClean="0">
                    <a:solidFill>
                      <a:srgbClr val="080808"/>
                    </a:solidFill>
                  </a:rPr>
                  <a:t>环境</a:t>
                </a:r>
              </a:p>
            </p:txBody>
          </p:sp>
          <p:sp>
            <p:nvSpPr>
              <p:cNvPr id="74762" name="Text Box 10"/>
              <p:cNvSpPr txBox="1">
                <a:spLocks noChangeArrowheads="1"/>
              </p:cNvSpPr>
              <p:nvPr/>
            </p:nvSpPr>
            <p:spPr bwMode="auto">
              <a:xfrm>
                <a:off x="2400" y="912"/>
                <a:ext cx="680" cy="381"/>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eaLnBrk="0" hangingPunct="0">
                  <a:defRPr kumimoji="1" sz="2600" b="1" i="1">
                    <a:solidFill>
                      <a:srgbClr val="CC3300"/>
                    </a:solidFill>
                    <a:latin typeface="Times New Roman" panose="02020603050405020304" pitchFamily="18" charset="0"/>
                    <a:ea typeface="楷体_GB2312" pitchFamily="49" charset="-122"/>
                  </a:defRPr>
                </a:lvl1pPr>
                <a:lvl2pPr marL="742950" indent="-285750" eaLnBrk="0" hangingPunct="0">
                  <a:defRPr kumimoji="1" sz="2600" b="1" i="1">
                    <a:solidFill>
                      <a:srgbClr val="CC3300"/>
                    </a:solidFill>
                    <a:latin typeface="Times New Roman" panose="02020603050405020304" pitchFamily="18" charset="0"/>
                    <a:ea typeface="楷体_GB2312" pitchFamily="49" charset="-122"/>
                  </a:defRPr>
                </a:lvl2pPr>
                <a:lvl3pPr marL="1143000" indent="-228600" eaLnBrk="0" hangingPunct="0">
                  <a:defRPr kumimoji="1" sz="2600" b="1" i="1">
                    <a:solidFill>
                      <a:srgbClr val="CC3300"/>
                    </a:solidFill>
                    <a:latin typeface="Times New Roman" panose="02020603050405020304" pitchFamily="18" charset="0"/>
                    <a:ea typeface="楷体_GB2312" pitchFamily="49" charset="-122"/>
                  </a:defRPr>
                </a:lvl3pPr>
                <a:lvl4pPr marL="1600200" indent="-228600" eaLnBrk="0" hangingPunct="0">
                  <a:defRPr kumimoji="1" sz="2600" b="1" i="1">
                    <a:solidFill>
                      <a:srgbClr val="CC3300"/>
                    </a:solidFill>
                    <a:latin typeface="Times New Roman" panose="02020603050405020304" pitchFamily="18" charset="0"/>
                    <a:ea typeface="楷体_GB2312" pitchFamily="49" charset="-122"/>
                  </a:defRPr>
                </a:lvl4pPr>
                <a:lvl5pPr marL="2057400" indent="-228600" eaLnBrk="0" hangingPunct="0">
                  <a:defRPr kumimoji="1" sz="2600" b="1" i="1">
                    <a:solidFill>
                      <a:srgbClr val="CC33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mtClean="0">
                    <a:solidFill>
                      <a:srgbClr val="080808"/>
                    </a:solidFill>
                  </a:rPr>
                  <a:t>物质</a:t>
                </a:r>
              </a:p>
            </p:txBody>
          </p:sp>
          <p:sp>
            <p:nvSpPr>
              <p:cNvPr id="74763" name="Text Box 11"/>
              <p:cNvSpPr txBox="1">
                <a:spLocks noChangeArrowheads="1"/>
              </p:cNvSpPr>
              <p:nvPr/>
            </p:nvSpPr>
            <p:spPr bwMode="auto">
              <a:xfrm>
                <a:off x="2400" y="1632"/>
                <a:ext cx="716" cy="381"/>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eaLnBrk="0" hangingPunct="0">
                  <a:defRPr kumimoji="1" sz="2600" b="1" i="1">
                    <a:solidFill>
                      <a:srgbClr val="CC3300"/>
                    </a:solidFill>
                    <a:latin typeface="Times New Roman" panose="02020603050405020304" pitchFamily="18" charset="0"/>
                    <a:ea typeface="楷体_GB2312" pitchFamily="49" charset="-122"/>
                  </a:defRPr>
                </a:lvl1pPr>
                <a:lvl2pPr marL="742950" indent="-285750" eaLnBrk="0" hangingPunct="0">
                  <a:defRPr kumimoji="1" sz="2600" b="1" i="1">
                    <a:solidFill>
                      <a:srgbClr val="CC3300"/>
                    </a:solidFill>
                    <a:latin typeface="Times New Roman" panose="02020603050405020304" pitchFamily="18" charset="0"/>
                    <a:ea typeface="楷体_GB2312" pitchFamily="49" charset="-122"/>
                  </a:defRPr>
                </a:lvl2pPr>
                <a:lvl3pPr marL="1143000" indent="-228600" eaLnBrk="0" hangingPunct="0">
                  <a:defRPr kumimoji="1" sz="2600" b="1" i="1">
                    <a:solidFill>
                      <a:srgbClr val="CC3300"/>
                    </a:solidFill>
                    <a:latin typeface="Times New Roman" panose="02020603050405020304" pitchFamily="18" charset="0"/>
                    <a:ea typeface="楷体_GB2312" pitchFamily="49" charset="-122"/>
                  </a:defRPr>
                </a:lvl3pPr>
                <a:lvl4pPr marL="1600200" indent="-228600" eaLnBrk="0" hangingPunct="0">
                  <a:defRPr kumimoji="1" sz="2600" b="1" i="1">
                    <a:solidFill>
                      <a:srgbClr val="CC3300"/>
                    </a:solidFill>
                    <a:latin typeface="Times New Roman" panose="02020603050405020304" pitchFamily="18" charset="0"/>
                    <a:ea typeface="楷体_GB2312" pitchFamily="49" charset="-122"/>
                  </a:defRPr>
                </a:lvl4pPr>
                <a:lvl5pPr marL="2057400" indent="-228600" eaLnBrk="0" hangingPunct="0">
                  <a:defRPr kumimoji="1" sz="2600" b="1" i="1">
                    <a:solidFill>
                      <a:srgbClr val="CC33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9pPr>
              </a:lstStyle>
              <a:p>
                <a:pPr algn="ctr" eaLnBrk="1" fontAlgn="base" hangingPunct="1">
                  <a:spcBef>
                    <a:spcPct val="0"/>
                  </a:spcBef>
                  <a:spcAft>
                    <a:spcPct val="0"/>
                  </a:spcAft>
                </a:pPr>
                <a:r>
                  <a:rPr lang="zh-CN" altLang="en-US" smtClean="0">
                    <a:solidFill>
                      <a:srgbClr val="080808"/>
                    </a:solidFill>
                  </a:rPr>
                  <a:t>能量</a:t>
                </a:r>
              </a:p>
            </p:txBody>
          </p:sp>
        </p:gr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18"/>
          <p:cNvGrpSpPr/>
          <p:nvPr/>
        </p:nvGrpSpPr>
        <p:grpSpPr bwMode="auto">
          <a:xfrm>
            <a:off x="1143000" y="609600"/>
            <a:ext cx="6613525" cy="1883296"/>
            <a:chOff x="576" y="2304"/>
            <a:chExt cx="4166" cy="1138"/>
          </a:xfrm>
        </p:grpSpPr>
        <p:sp>
          <p:nvSpPr>
            <p:cNvPr id="75781" name="Text Box 15"/>
            <p:cNvSpPr txBox="1">
              <a:spLocks noChangeArrowheads="1"/>
            </p:cNvSpPr>
            <p:nvPr/>
          </p:nvSpPr>
          <p:spPr bwMode="auto">
            <a:xfrm>
              <a:off x="576" y="2544"/>
              <a:ext cx="1444" cy="308"/>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eaLnBrk="0" hangingPunct="0">
                <a:defRPr kumimoji="1" sz="2600" b="1" i="1">
                  <a:solidFill>
                    <a:srgbClr val="CC3300"/>
                  </a:solidFill>
                  <a:latin typeface="Times New Roman" panose="02020603050405020304" pitchFamily="18" charset="0"/>
                  <a:ea typeface="楷体_GB2312" pitchFamily="49" charset="-122"/>
                </a:defRPr>
              </a:lvl1pPr>
              <a:lvl2pPr marL="742950" indent="-285750" eaLnBrk="0" hangingPunct="0">
                <a:defRPr kumimoji="1" sz="2600" b="1" i="1">
                  <a:solidFill>
                    <a:srgbClr val="CC3300"/>
                  </a:solidFill>
                  <a:latin typeface="Times New Roman" panose="02020603050405020304" pitchFamily="18" charset="0"/>
                  <a:ea typeface="楷体_GB2312" pitchFamily="49" charset="-122"/>
                </a:defRPr>
              </a:lvl2pPr>
              <a:lvl3pPr marL="1143000" indent="-228600" eaLnBrk="0" hangingPunct="0">
                <a:defRPr kumimoji="1" sz="2600" b="1" i="1">
                  <a:solidFill>
                    <a:srgbClr val="CC3300"/>
                  </a:solidFill>
                  <a:latin typeface="Times New Roman" panose="02020603050405020304" pitchFamily="18" charset="0"/>
                  <a:ea typeface="楷体_GB2312" pitchFamily="49" charset="-122"/>
                </a:defRPr>
              </a:lvl3pPr>
              <a:lvl4pPr marL="1600200" indent="-228600" eaLnBrk="0" hangingPunct="0">
                <a:defRPr kumimoji="1" sz="2600" b="1" i="1">
                  <a:solidFill>
                    <a:srgbClr val="CC3300"/>
                  </a:solidFill>
                  <a:latin typeface="Times New Roman" panose="02020603050405020304" pitchFamily="18" charset="0"/>
                  <a:ea typeface="楷体_GB2312" pitchFamily="49" charset="-122"/>
                </a:defRPr>
              </a:lvl4pPr>
              <a:lvl5pPr marL="2057400" indent="-228600" eaLnBrk="0" hangingPunct="0">
                <a:defRPr kumimoji="1" sz="2600" b="1" i="1">
                  <a:solidFill>
                    <a:srgbClr val="CC33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9pPr>
            </a:lstStyle>
            <a:p>
              <a:pPr eaLnBrk="1" fontAlgn="base" hangingPunct="1">
                <a:spcBef>
                  <a:spcPct val="0"/>
                </a:spcBef>
                <a:spcAft>
                  <a:spcPct val="0"/>
                </a:spcAft>
              </a:pPr>
              <a:r>
                <a:rPr lang="zh-CN" altLang="en-US" i="0" smtClean="0">
                  <a:solidFill>
                    <a:srgbClr val="080808"/>
                  </a:solidFill>
                </a:rPr>
                <a:t>系统</a:t>
              </a:r>
              <a:r>
                <a:rPr lang="en-US" altLang="zh-CN" i="0" smtClean="0">
                  <a:solidFill>
                    <a:srgbClr val="080808"/>
                  </a:solidFill>
                </a:rPr>
                <a:t>system</a:t>
              </a:r>
              <a:endParaRPr lang="zh-CN" altLang="en-US" i="0" dirty="0" smtClean="0">
                <a:solidFill>
                  <a:srgbClr val="080808"/>
                </a:solidFill>
              </a:endParaRPr>
            </a:p>
          </p:txBody>
        </p:sp>
        <p:sp>
          <p:nvSpPr>
            <p:cNvPr id="75782" name="Text Box 16"/>
            <p:cNvSpPr txBox="1">
              <a:spLocks noChangeArrowheads="1"/>
            </p:cNvSpPr>
            <p:nvPr/>
          </p:nvSpPr>
          <p:spPr bwMode="auto">
            <a:xfrm>
              <a:off x="1824" y="2304"/>
              <a:ext cx="2918" cy="1138"/>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eaLnBrk="0" hangingPunct="0">
                <a:defRPr kumimoji="1" sz="2600" b="1" i="1">
                  <a:solidFill>
                    <a:srgbClr val="CC3300"/>
                  </a:solidFill>
                  <a:latin typeface="Times New Roman" panose="02020603050405020304" pitchFamily="18" charset="0"/>
                  <a:ea typeface="楷体_GB2312" pitchFamily="49" charset="-122"/>
                </a:defRPr>
              </a:lvl1pPr>
              <a:lvl2pPr marL="742950" indent="-285750" eaLnBrk="0" hangingPunct="0">
                <a:defRPr kumimoji="1" sz="2600" b="1" i="1">
                  <a:solidFill>
                    <a:srgbClr val="CC3300"/>
                  </a:solidFill>
                  <a:latin typeface="Times New Roman" panose="02020603050405020304" pitchFamily="18" charset="0"/>
                  <a:ea typeface="楷体_GB2312" pitchFamily="49" charset="-122"/>
                </a:defRPr>
              </a:lvl2pPr>
              <a:lvl3pPr marL="1143000" indent="-228600" eaLnBrk="0" hangingPunct="0">
                <a:defRPr kumimoji="1" sz="2600" b="1" i="1">
                  <a:solidFill>
                    <a:srgbClr val="CC3300"/>
                  </a:solidFill>
                  <a:latin typeface="Times New Roman" panose="02020603050405020304" pitchFamily="18" charset="0"/>
                  <a:ea typeface="楷体_GB2312" pitchFamily="49" charset="-122"/>
                </a:defRPr>
              </a:lvl3pPr>
              <a:lvl4pPr marL="1600200" indent="-228600" eaLnBrk="0" hangingPunct="0">
                <a:defRPr kumimoji="1" sz="2600" b="1" i="1">
                  <a:solidFill>
                    <a:srgbClr val="CC3300"/>
                  </a:solidFill>
                  <a:latin typeface="Times New Roman" panose="02020603050405020304" pitchFamily="18" charset="0"/>
                  <a:ea typeface="楷体_GB2312" pitchFamily="49" charset="-122"/>
                </a:defRPr>
              </a:lvl4pPr>
              <a:lvl5pPr marL="2057400" indent="-228600" eaLnBrk="0" hangingPunct="0">
                <a:defRPr kumimoji="1" sz="2600" b="1" i="1">
                  <a:solidFill>
                    <a:srgbClr val="CC33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600" b="1" i="1">
                  <a:solidFill>
                    <a:srgbClr val="CC3300"/>
                  </a:solidFill>
                  <a:latin typeface="Times New Roman" panose="02020603050405020304" pitchFamily="18" charset="0"/>
                  <a:ea typeface="楷体_GB2312" pitchFamily="49" charset="-122"/>
                </a:defRPr>
              </a:lvl9pPr>
            </a:lstStyle>
            <a:p>
              <a:pPr eaLnBrk="1" fontAlgn="base" hangingPunct="1">
                <a:lnSpc>
                  <a:spcPts val="4000"/>
                </a:lnSpc>
                <a:spcBef>
                  <a:spcPct val="0"/>
                </a:spcBef>
                <a:spcAft>
                  <a:spcPct val="0"/>
                </a:spcAft>
              </a:pPr>
              <a:r>
                <a:rPr lang="zh-CN" altLang="en-US" i="0" dirty="0" smtClean="0">
                  <a:solidFill>
                    <a:srgbClr val="080808"/>
                  </a:solidFill>
                </a:rPr>
                <a:t>敞开</a:t>
              </a:r>
              <a:r>
                <a:rPr lang="en-US" altLang="zh-CN" i="0" dirty="0" smtClean="0">
                  <a:solidFill>
                    <a:srgbClr val="080808"/>
                  </a:solidFill>
                </a:rPr>
                <a:t>open</a:t>
              </a:r>
              <a:r>
                <a:rPr lang="zh-CN" altLang="en-US" i="0" dirty="0" smtClean="0">
                  <a:solidFill>
                    <a:srgbClr val="080808"/>
                  </a:solidFill>
                </a:rPr>
                <a:t>系统 </a:t>
              </a:r>
              <a:r>
                <a:rPr lang="en-US" altLang="zh-CN" i="0" dirty="0" smtClean="0">
                  <a:solidFill>
                    <a:srgbClr val="080808"/>
                  </a:solidFill>
                </a:rPr>
                <a:t>( M + E )</a:t>
              </a:r>
            </a:p>
            <a:p>
              <a:pPr eaLnBrk="1" fontAlgn="base" hangingPunct="1">
                <a:spcBef>
                  <a:spcPct val="0"/>
                </a:spcBef>
                <a:spcAft>
                  <a:spcPct val="0"/>
                </a:spcAft>
              </a:pPr>
              <a:r>
                <a:rPr lang="zh-CN" altLang="en-US" i="0" dirty="0" smtClean="0">
                  <a:solidFill>
                    <a:srgbClr val="C00000"/>
                  </a:solidFill>
                </a:rPr>
                <a:t>封闭</a:t>
              </a:r>
              <a:r>
                <a:rPr lang="en-US" altLang="zh-CN" i="0" dirty="0" smtClean="0">
                  <a:solidFill>
                    <a:srgbClr val="C00000"/>
                  </a:solidFill>
                </a:rPr>
                <a:t>closed</a:t>
              </a:r>
              <a:r>
                <a:rPr lang="zh-CN" altLang="en-US" i="0" dirty="0" smtClean="0">
                  <a:solidFill>
                    <a:srgbClr val="C00000"/>
                  </a:solidFill>
                </a:rPr>
                <a:t>系统 </a:t>
              </a:r>
              <a:r>
                <a:rPr lang="en-US" altLang="zh-CN" i="0" dirty="0" smtClean="0">
                  <a:solidFill>
                    <a:srgbClr val="C00000"/>
                  </a:solidFill>
                </a:rPr>
                <a:t>( E – M )</a:t>
              </a:r>
            </a:p>
            <a:p>
              <a:pPr eaLnBrk="1" fontAlgn="base" hangingPunct="1">
                <a:spcBef>
                  <a:spcPct val="0"/>
                </a:spcBef>
                <a:spcAft>
                  <a:spcPct val="0"/>
                </a:spcAft>
              </a:pPr>
              <a:r>
                <a:rPr lang="zh-CN" altLang="en-US" i="0" dirty="0" smtClean="0">
                  <a:solidFill>
                    <a:srgbClr val="080808"/>
                  </a:solidFill>
                </a:rPr>
                <a:t>隔离</a:t>
              </a:r>
              <a:r>
                <a:rPr lang="en-US" altLang="zh-CN" i="0" dirty="0" smtClean="0">
                  <a:solidFill>
                    <a:srgbClr val="080808"/>
                  </a:solidFill>
                </a:rPr>
                <a:t>isolated</a:t>
              </a:r>
              <a:r>
                <a:rPr lang="zh-CN" altLang="en-US" i="0" dirty="0" smtClean="0">
                  <a:solidFill>
                    <a:srgbClr val="080808"/>
                  </a:solidFill>
                </a:rPr>
                <a:t>系统 </a:t>
              </a:r>
              <a:r>
                <a:rPr lang="en-US" altLang="zh-CN" i="0" dirty="0" smtClean="0">
                  <a:solidFill>
                    <a:srgbClr val="080808"/>
                  </a:solidFill>
                </a:rPr>
                <a:t>( – E – M ) </a:t>
              </a:r>
            </a:p>
            <a:p>
              <a:pPr eaLnBrk="1" fontAlgn="base" hangingPunct="1">
                <a:spcBef>
                  <a:spcPct val="0"/>
                </a:spcBef>
                <a:spcAft>
                  <a:spcPct val="0"/>
                </a:spcAft>
              </a:pPr>
              <a:r>
                <a:rPr lang="en-US" altLang="zh-CN" i="0" dirty="0" smtClean="0">
                  <a:solidFill>
                    <a:srgbClr val="080808"/>
                  </a:solidFill>
                </a:rPr>
                <a:t>              —contagious diseases</a:t>
              </a:r>
            </a:p>
          </p:txBody>
        </p:sp>
      </p:grpSp>
      <p:grpSp>
        <p:nvGrpSpPr>
          <p:cNvPr id="3" name="Group 14"/>
          <p:cNvGrpSpPr/>
          <p:nvPr/>
        </p:nvGrpSpPr>
        <p:grpSpPr bwMode="auto">
          <a:xfrm flipH="1">
            <a:off x="683568" y="3501008"/>
            <a:ext cx="2866500" cy="2468178"/>
            <a:chOff x="339" y="2064"/>
            <a:chExt cx="1982" cy="1439"/>
          </a:xfrm>
          <a:solidFill>
            <a:schemeClr val="bg1"/>
          </a:solidFill>
        </p:grpSpPr>
        <p:pic>
          <p:nvPicPr>
            <p:cNvPr id="7" name="Picture 15" descr="DSCN0708-1"/>
            <p:cNvPicPr>
              <a:picLocks noChangeAspect="1" noChangeArrowheads="1"/>
            </p:cNvPicPr>
            <p:nvPr/>
          </p:nvPicPr>
          <p:blipFill>
            <a:blip r:embed="rId2" cstate="print">
              <a:lum bright="10000" contrast="38000"/>
            </a:blip>
            <a:srcRect l="10799"/>
            <a:stretch>
              <a:fillRect/>
            </a:stretch>
          </p:blipFill>
          <p:spPr bwMode="auto">
            <a:xfrm>
              <a:off x="624" y="2064"/>
              <a:ext cx="1345" cy="1132"/>
            </a:xfrm>
            <a:prstGeom prst="rect">
              <a:avLst/>
            </a:prstGeom>
            <a:grpFill/>
            <a:ln w="12700">
              <a:solidFill>
                <a:srgbClr val="FFFF99"/>
              </a:solidFill>
              <a:miter lim="800000"/>
              <a:headEnd/>
              <a:tailEnd/>
            </a:ln>
          </p:spPr>
        </p:pic>
        <p:sp>
          <p:nvSpPr>
            <p:cNvPr id="8" name="Text Box 16"/>
            <p:cNvSpPr txBox="1">
              <a:spLocks noChangeArrowheads="1"/>
            </p:cNvSpPr>
            <p:nvPr/>
          </p:nvSpPr>
          <p:spPr bwMode="auto">
            <a:xfrm>
              <a:off x="339" y="3216"/>
              <a:ext cx="1982" cy="287"/>
            </a:xfrm>
            <a:prstGeom prst="rect">
              <a:avLst/>
            </a:prstGeom>
            <a:grpFill/>
            <a:ln w="9525">
              <a:noFill/>
              <a:miter lim="800000"/>
            </a:ln>
          </p:spPr>
          <p:txBody>
            <a:bodyPr>
              <a:spAutoFit/>
            </a:bodyPr>
            <a:lstStyle/>
            <a:p>
              <a:pPr algn="ctr" fontAlgn="base">
                <a:spcBef>
                  <a:spcPct val="0"/>
                </a:spcBef>
                <a:spcAft>
                  <a:spcPct val="0"/>
                </a:spcAft>
                <a:defRPr/>
              </a:pPr>
              <a:r>
                <a:rPr kumimoji="1" lang="zh-CN" altLang="en-US" sz="2600" b="1" i="1" dirty="0">
                  <a:solidFill>
                    <a:srgbClr val="080808"/>
                  </a:solidFill>
                  <a:latin typeface="Times New Roman" panose="02020603050405020304" pitchFamily="18" charset="0"/>
                  <a:ea typeface="楷体_GB2312" pitchFamily="49" charset="-122"/>
                </a:rPr>
                <a:t>开放系统</a:t>
              </a:r>
            </a:p>
          </p:txBody>
        </p:sp>
      </p:grpSp>
      <p:grpSp>
        <p:nvGrpSpPr>
          <p:cNvPr id="4" name="Group 20"/>
          <p:cNvGrpSpPr/>
          <p:nvPr/>
        </p:nvGrpSpPr>
        <p:grpSpPr bwMode="auto">
          <a:xfrm flipH="1">
            <a:off x="4608004" y="3645024"/>
            <a:ext cx="3418609" cy="2242134"/>
            <a:chOff x="3756" y="1728"/>
            <a:chExt cx="1638" cy="1930"/>
          </a:xfrm>
          <a:solidFill>
            <a:schemeClr val="bg1"/>
          </a:solidFill>
        </p:grpSpPr>
        <p:sp>
          <p:nvSpPr>
            <p:cNvPr id="10" name="Rectangle 21"/>
            <p:cNvSpPr>
              <a:spLocks noChangeArrowheads="1"/>
            </p:cNvSpPr>
            <p:nvPr/>
          </p:nvSpPr>
          <p:spPr bwMode="auto">
            <a:xfrm>
              <a:off x="3756" y="3237"/>
              <a:ext cx="1638" cy="421"/>
            </a:xfrm>
            <a:prstGeom prst="rect">
              <a:avLst/>
            </a:prstGeom>
            <a:grpFill/>
            <a:ln w="9525">
              <a:noFill/>
              <a:miter lim="800000"/>
            </a:ln>
          </p:spPr>
          <p:txBody>
            <a:bodyPr>
              <a:spAutoFit/>
            </a:bodyPr>
            <a:lstStyle/>
            <a:p>
              <a:pPr algn="ctr" fontAlgn="base">
                <a:spcBef>
                  <a:spcPct val="0"/>
                </a:spcBef>
                <a:spcAft>
                  <a:spcPct val="0"/>
                </a:spcAft>
                <a:defRPr/>
              </a:pPr>
              <a:r>
                <a:rPr kumimoji="1" lang="zh-CN" altLang="en-US" sz="2600" b="1" i="1" dirty="0">
                  <a:solidFill>
                    <a:srgbClr val="080808"/>
                  </a:solidFill>
                  <a:latin typeface="Times New Roman" panose="02020603050405020304" pitchFamily="18" charset="0"/>
                  <a:ea typeface="楷体_GB2312" pitchFamily="49" charset="-122"/>
                </a:rPr>
                <a:t>隔离系统</a:t>
              </a:r>
            </a:p>
          </p:txBody>
        </p:sp>
        <p:pic>
          <p:nvPicPr>
            <p:cNvPr id="11" name="Picture 22" descr="baowenbei0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080" y="1728"/>
              <a:ext cx="948" cy="1526"/>
            </a:xfrm>
            <a:prstGeom prst="rect">
              <a:avLst/>
            </a:prstGeom>
            <a:grp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dissolv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checkerboard(across)">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17"/>
          <p:cNvGrpSpPr/>
          <p:nvPr/>
        </p:nvGrpSpPr>
        <p:grpSpPr bwMode="auto">
          <a:xfrm flipH="1">
            <a:off x="2819400" y="304800"/>
            <a:ext cx="3276296" cy="2618946"/>
            <a:chOff x="1914" y="2064"/>
            <a:chExt cx="2017" cy="1417"/>
          </a:xfrm>
          <a:solidFill>
            <a:schemeClr val="bg1"/>
          </a:solidFill>
        </p:grpSpPr>
        <p:pic>
          <p:nvPicPr>
            <p:cNvPr id="53255" name="Picture 18" descr="DSCN0709-1"/>
            <p:cNvPicPr>
              <a:picLocks noChangeAspect="1" noChangeArrowheads="1"/>
            </p:cNvPicPr>
            <p:nvPr/>
          </p:nvPicPr>
          <p:blipFill>
            <a:blip r:embed="rId3" cstate="print">
              <a:lum bright="10000"/>
            </a:blip>
            <a:srcRect l="2699"/>
            <a:stretch>
              <a:fillRect/>
            </a:stretch>
          </p:blipFill>
          <p:spPr bwMode="auto">
            <a:xfrm>
              <a:off x="2304" y="2064"/>
              <a:ext cx="1464" cy="1135"/>
            </a:xfrm>
            <a:prstGeom prst="rect">
              <a:avLst/>
            </a:prstGeom>
            <a:grpFill/>
            <a:ln w="12700">
              <a:solidFill>
                <a:srgbClr val="FFFF99"/>
              </a:solidFill>
              <a:miter lim="800000"/>
              <a:headEnd/>
              <a:tailEnd/>
            </a:ln>
          </p:spPr>
        </p:pic>
        <p:sp>
          <p:nvSpPr>
            <p:cNvPr id="53256" name="Rectangle 19"/>
            <p:cNvSpPr>
              <a:spLocks noChangeArrowheads="1"/>
            </p:cNvSpPr>
            <p:nvPr/>
          </p:nvSpPr>
          <p:spPr bwMode="auto">
            <a:xfrm>
              <a:off x="1914" y="3215"/>
              <a:ext cx="2017" cy="266"/>
            </a:xfrm>
            <a:prstGeom prst="rect">
              <a:avLst/>
            </a:prstGeom>
            <a:grpFill/>
            <a:ln w="9525">
              <a:noFill/>
              <a:miter lim="800000"/>
            </a:ln>
          </p:spPr>
          <p:txBody>
            <a:bodyPr>
              <a:spAutoFit/>
            </a:bodyPr>
            <a:lstStyle/>
            <a:p>
              <a:pPr algn="ctr" fontAlgn="base">
                <a:spcBef>
                  <a:spcPct val="0"/>
                </a:spcBef>
                <a:spcAft>
                  <a:spcPct val="0"/>
                </a:spcAft>
                <a:defRPr/>
              </a:pPr>
              <a:r>
                <a:rPr kumimoji="1" lang="zh-CN" altLang="en-US" sz="2600" b="1" i="1" dirty="0">
                  <a:solidFill>
                    <a:srgbClr val="080808"/>
                  </a:solidFill>
                  <a:latin typeface="Times New Roman" panose="02020603050405020304" pitchFamily="18" charset="0"/>
                  <a:ea typeface="楷体_GB2312" pitchFamily="49" charset="-122"/>
                </a:rPr>
                <a:t>封闭系统</a:t>
              </a:r>
            </a:p>
          </p:txBody>
        </p:sp>
      </p:grpSp>
      <p:sp>
        <p:nvSpPr>
          <p:cNvPr id="11" name="Rectangle 13"/>
          <p:cNvSpPr>
            <a:spLocks noChangeArrowheads="1"/>
          </p:cNvSpPr>
          <p:nvPr/>
        </p:nvSpPr>
        <p:spPr bwMode="auto">
          <a:xfrm>
            <a:off x="685800" y="3200400"/>
            <a:ext cx="7543800" cy="106838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4000"/>
              </a:lnSpc>
              <a:spcBef>
                <a:spcPct val="0"/>
              </a:spcBef>
              <a:spcAft>
                <a:spcPct val="0"/>
              </a:spcAft>
            </a:pPr>
            <a:r>
              <a:rPr kumimoji="1" lang="zh-CN" altLang="en-US" sz="2600" b="1" smtClean="0">
                <a:solidFill>
                  <a:srgbClr val="080808"/>
                </a:solidFill>
                <a:latin typeface="Times New Roman" panose="02020603050405020304" pitchFamily="18" charset="0"/>
                <a:ea typeface="楷体_GB2312" pitchFamily="49" charset="-122"/>
              </a:rPr>
              <a:t>           我们研究的化学反应基本上都是</a:t>
            </a:r>
            <a:r>
              <a:rPr kumimoji="1" lang="en-US" altLang="zh-CN" sz="2600" b="1" i="1" smtClean="0">
                <a:solidFill>
                  <a:srgbClr val="0000FF"/>
                </a:solidFill>
                <a:latin typeface="Times New Roman" panose="02020603050405020304" pitchFamily="18" charset="0"/>
                <a:ea typeface="楷体_GB2312" pitchFamily="49" charset="-122"/>
              </a:rPr>
              <a:t>the closed system</a:t>
            </a:r>
            <a:r>
              <a:rPr kumimoji="1" lang="en-US" altLang="zh-CN" sz="2600" b="1" smtClean="0">
                <a:solidFill>
                  <a:srgbClr val="080808"/>
                </a:solidFill>
                <a:latin typeface="Times New Roman" panose="02020603050405020304" pitchFamily="18" charset="0"/>
                <a:ea typeface="楷体_GB2312" pitchFamily="49" charset="-122"/>
              </a:rPr>
              <a:t>, why?</a:t>
            </a:r>
            <a:endParaRPr kumimoji="1" lang="zh-CN" altLang="en-US" sz="2600" b="1" smtClean="0">
              <a:solidFill>
                <a:srgbClr val="080808"/>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checkerboard(across)">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Rectangle 6"/>
          <p:cNvSpPr>
            <a:spLocks noChangeArrowheads="1"/>
          </p:cNvSpPr>
          <p:nvPr/>
        </p:nvSpPr>
        <p:spPr bwMode="auto">
          <a:xfrm>
            <a:off x="381000" y="457200"/>
            <a:ext cx="8229600" cy="496728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ct val="120000"/>
              </a:lnSpc>
              <a:spcBef>
                <a:spcPct val="0"/>
              </a:spcBef>
              <a:spcAft>
                <a:spcPct val="0"/>
              </a:spcAft>
            </a:pPr>
            <a:r>
              <a:rPr kumimoji="1" lang="en-US" altLang="zh-CN" sz="2600" b="1" i="1" smtClean="0">
                <a:solidFill>
                  <a:srgbClr val="080808"/>
                </a:solidFill>
                <a:latin typeface="Times New Roman" panose="02020603050405020304" pitchFamily="18" charset="0"/>
                <a:ea typeface="楷体_GB2312" pitchFamily="49" charset="-122"/>
              </a:rPr>
              <a:t>        </a:t>
            </a:r>
            <a:r>
              <a:rPr kumimoji="1" lang="en-US" altLang="zh-CN" sz="3000" b="1" i="1" smtClean="0">
                <a:solidFill>
                  <a:srgbClr val="0000FF"/>
                </a:solidFill>
                <a:latin typeface="Times New Roman" panose="02020603050405020304" pitchFamily="18" charset="0"/>
                <a:ea typeface="楷体_GB2312" pitchFamily="49" charset="-122"/>
              </a:rPr>
              <a:t>note: </a:t>
            </a:r>
          </a:p>
          <a:p>
            <a:pPr fontAlgn="base">
              <a:lnSpc>
                <a:spcPct val="120000"/>
              </a:lnSpc>
              <a:spcBef>
                <a:spcPct val="0"/>
              </a:spcBef>
              <a:spcAft>
                <a:spcPct val="0"/>
              </a:spcAft>
            </a:pPr>
            <a:r>
              <a:rPr kumimoji="1" lang="en-US" altLang="zh-CN" sz="2600" b="1" i="1" smtClean="0">
                <a:solidFill>
                  <a:srgbClr val="080808"/>
                </a:solidFill>
                <a:latin typeface="Times New Roman" panose="02020603050405020304" pitchFamily="18" charset="0"/>
                <a:ea typeface="楷体_GB2312" pitchFamily="49" charset="-122"/>
              </a:rPr>
              <a:t>          Scientists used to believe that these two(matter and energy)  were separate and distinct, but now they realize that matter and energy are linked. </a:t>
            </a:r>
          </a:p>
          <a:p>
            <a:pPr fontAlgn="base">
              <a:lnSpc>
                <a:spcPct val="120000"/>
              </a:lnSpc>
              <a:spcBef>
                <a:spcPct val="0"/>
              </a:spcBef>
              <a:spcAft>
                <a:spcPct val="0"/>
              </a:spcAft>
            </a:pPr>
            <a:r>
              <a:rPr kumimoji="1" lang="en-US" altLang="zh-CN" sz="2600" b="1" i="1" smtClean="0">
                <a:solidFill>
                  <a:srgbClr val="080808"/>
                </a:solidFill>
                <a:latin typeface="Times New Roman" panose="02020603050405020304" pitchFamily="18" charset="0"/>
                <a:ea typeface="楷体_GB2312" pitchFamily="49" charset="-122"/>
              </a:rPr>
              <a:t>           </a:t>
            </a:r>
            <a:r>
              <a:rPr kumimoji="1" lang="en-US" altLang="zh-CN" sz="2600" b="1" i="1" smtClean="0">
                <a:solidFill>
                  <a:srgbClr val="CC3300"/>
                </a:solidFill>
                <a:latin typeface="Times New Roman" panose="02020603050405020304" pitchFamily="18" charset="0"/>
                <a:ea typeface="楷体_GB2312" pitchFamily="49" charset="-122"/>
              </a:rPr>
              <a:t>In an atomic bomb or nuclear reactor, matter is converted into energy. </a:t>
            </a:r>
          </a:p>
          <a:p>
            <a:pPr fontAlgn="base">
              <a:lnSpc>
                <a:spcPct val="120000"/>
              </a:lnSpc>
              <a:spcBef>
                <a:spcPct val="0"/>
              </a:spcBef>
              <a:spcAft>
                <a:spcPct val="0"/>
              </a:spcAft>
            </a:pPr>
            <a:r>
              <a:rPr kumimoji="1" lang="en-US" altLang="zh-CN" sz="2600" b="1" i="1" smtClean="0">
                <a:solidFill>
                  <a:srgbClr val="080808"/>
                </a:solidFill>
                <a:latin typeface="Times New Roman" panose="02020603050405020304" pitchFamily="18" charset="0"/>
                <a:ea typeface="楷体_GB2312" pitchFamily="49" charset="-122"/>
              </a:rPr>
              <a:t>          Perhaps someday </a:t>
            </a:r>
            <a:r>
              <a:rPr kumimoji="1" lang="en-US" altLang="zh-CN" sz="2600" b="1" i="1" smtClean="0">
                <a:solidFill>
                  <a:srgbClr val="CC3300"/>
                </a:solidFill>
                <a:latin typeface="Times New Roman" panose="02020603050405020304" pitchFamily="18" charset="0"/>
                <a:ea typeface="楷体_GB2312" pitchFamily="49" charset="-122"/>
              </a:rPr>
              <a:t>the science fiction of Star Trek will become a reality and converting the human body into energy and back in a transporter will be commonplace.</a:t>
            </a:r>
          </a:p>
          <a:p>
            <a:pPr fontAlgn="base">
              <a:lnSpc>
                <a:spcPct val="120000"/>
              </a:lnSpc>
              <a:spcBef>
                <a:spcPct val="0"/>
              </a:spcBef>
              <a:spcAft>
                <a:spcPct val="0"/>
              </a:spcAft>
            </a:pPr>
            <a:r>
              <a:rPr kumimoji="1" lang="zh-CN" altLang="en-US" sz="2600" b="1" i="1" smtClean="0">
                <a:solidFill>
                  <a:srgbClr val="080808"/>
                </a:solidFill>
                <a:latin typeface="Times New Roman" panose="02020603050405020304" pitchFamily="18" charset="0"/>
                <a:ea typeface="楷体_GB2312" pitchFamily="49" charset="-122"/>
              </a:rPr>
              <a:t>如美国电视剧</a:t>
            </a:r>
            <a:r>
              <a:rPr kumimoji="1" lang="en-US" altLang="zh-CN" sz="2600" b="1" i="1" smtClean="0">
                <a:solidFill>
                  <a:srgbClr val="080808"/>
                </a:solidFill>
                <a:latin typeface="Times New Roman" panose="02020603050405020304" pitchFamily="18" charset="0"/>
                <a:ea typeface="楷体_GB2312" pitchFamily="49" charset="-122"/>
              </a:rPr>
              <a:t>——</a:t>
            </a:r>
            <a:r>
              <a:rPr kumimoji="1" lang="zh-CN" altLang="en-US" sz="2600" b="1" i="1" smtClean="0">
                <a:solidFill>
                  <a:srgbClr val="080808"/>
                </a:solidFill>
                <a:latin typeface="Times New Roman" panose="02020603050405020304" pitchFamily="18" charset="0"/>
                <a:ea typeface="楷体_GB2312" pitchFamily="49" charset="-122"/>
              </a:rPr>
              <a:t>星际之门</a:t>
            </a:r>
            <a:endParaRPr kumimoji="1" lang="en-US" altLang="zh-CN" sz="2600" b="1" i="1" smtClean="0">
              <a:solidFill>
                <a:srgbClr val="080808"/>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6197" name="Rectangle 5"/>
          <p:cNvSpPr>
            <a:spLocks noChangeArrowheads="1"/>
          </p:cNvSpPr>
          <p:nvPr/>
        </p:nvSpPr>
        <p:spPr bwMode="auto">
          <a:xfrm>
            <a:off x="304800" y="990600"/>
            <a:ext cx="8382000" cy="163195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4000"/>
              </a:lnSpc>
              <a:spcBef>
                <a:spcPct val="0"/>
              </a:spcBef>
              <a:spcAft>
                <a:spcPct val="0"/>
              </a:spcAft>
            </a:pPr>
            <a:r>
              <a:rPr lang="en-US" altLang="zh-CN" sz="2600" b="1" smtClean="0">
                <a:solidFill>
                  <a:srgbClr val="080808"/>
                </a:solidFill>
                <a:latin typeface="Times New Roman" panose="02020603050405020304" pitchFamily="18" charset="0"/>
                <a:ea typeface="楷体_GB2312" pitchFamily="49" charset="-122"/>
              </a:rPr>
              <a:t>         </a:t>
            </a:r>
            <a:r>
              <a:rPr lang="zh-CN" altLang="en-US" sz="2600" b="1" smtClean="0">
                <a:solidFill>
                  <a:srgbClr val="080808"/>
                </a:solidFill>
                <a:latin typeface="Times New Roman" panose="02020603050405020304" pitchFamily="18" charset="0"/>
                <a:ea typeface="楷体_GB2312" pitchFamily="49" charset="-122"/>
              </a:rPr>
              <a:t>热力学系统</a:t>
            </a:r>
            <a:r>
              <a:rPr lang="en-US" altLang="zh-CN" sz="2600" b="1" smtClean="0">
                <a:solidFill>
                  <a:srgbClr val="080808"/>
                </a:solidFill>
                <a:latin typeface="Times New Roman" panose="02020603050405020304" pitchFamily="18" charset="0"/>
                <a:ea typeface="楷体_GB2312" pitchFamily="49" charset="-122"/>
              </a:rPr>
              <a:t>system——</a:t>
            </a:r>
            <a:r>
              <a:rPr lang="zh-CN" altLang="en-US" sz="2600" b="1" smtClean="0">
                <a:solidFill>
                  <a:srgbClr val="080808"/>
                </a:solidFill>
                <a:latin typeface="Times New Roman" panose="02020603050405020304" pitchFamily="18" charset="0"/>
                <a:ea typeface="楷体_GB2312" pitchFamily="49" charset="-122"/>
              </a:rPr>
              <a:t>由大量微观粒子组成的宏观集合体，一般用压力（</a:t>
            </a:r>
            <a:r>
              <a:rPr lang="en-US" altLang="zh-CN" sz="2600" b="1" smtClean="0">
                <a:solidFill>
                  <a:srgbClr val="080808"/>
                </a:solidFill>
                <a:latin typeface="Times New Roman" panose="02020603050405020304" pitchFamily="18" charset="0"/>
                <a:ea typeface="楷体_GB2312" pitchFamily="49" charset="-122"/>
              </a:rPr>
              <a:t>p</a:t>
            </a:r>
            <a:r>
              <a:rPr lang="zh-CN" altLang="en-US" sz="2600" b="1" smtClean="0">
                <a:solidFill>
                  <a:srgbClr val="080808"/>
                </a:solidFill>
                <a:latin typeface="Times New Roman" panose="02020603050405020304" pitchFamily="18" charset="0"/>
                <a:ea typeface="楷体_GB2312" pitchFamily="49" charset="-122"/>
              </a:rPr>
              <a:t>）、温度（</a:t>
            </a:r>
            <a:r>
              <a:rPr lang="en-US" altLang="zh-CN" sz="2600" b="1" smtClean="0">
                <a:solidFill>
                  <a:srgbClr val="080808"/>
                </a:solidFill>
                <a:latin typeface="Times New Roman" panose="02020603050405020304" pitchFamily="18" charset="0"/>
                <a:ea typeface="楷体_GB2312" pitchFamily="49" charset="-122"/>
              </a:rPr>
              <a:t>T</a:t>
            </a:r>
            <a:r>
              <a:rPr lang="zh-CN" altLang="en-US" sz="2600" b="1" smtClean="0">
                <a:solidFill>
                  <a:srgbClr val="080808"/>
                </a:solidFill>
                <a:latin typeface="Times New Roman" panose="02020603050405020304" pitchFamily="18" charset="0"/>
                <a:ea typeface="楷体_GB2312" pitchFamily="49" charset="-122"/>
              </a:rPr>
              <a:t>）、体积（</a:t>
            </a:r>
            <a:r>
              <a:rPr lang="en-US" altLang="zh-CN" sz="2600" b="1" smtClean="0">
                <a:solidFill>
                  <a:srgbClr val="080808"/>
                </a:solidFill>
                <a:latin typeface="Times New Roman" panose="02020603050405020304" pitchFamily="18" charset="0"/>
                <a:ea typeface="楷体_GB2312" pitchFamily="49" charset="-122"/>
              </a:rPr>
              <a:t>V</a:t>
            </a:r>
            <a:r>
              <a:rPr lang="zh-CN" altLang="en-US" sz="2600" b="1" smtClean="0">
                <a:solidFill>
                  <a:srgbClr val="080808"/>
                </a:solidFill>
                <a:latin typeface="Times New Roman" panose="02020603050405020304" pitchFamily="18" charset="0"/>
                <a:ea typeface="楷体_GB2312" pitchFamily="49" charset="-122"/>
              </a:rPr>
              <a:t>）物理量来表示其性质。</a:t>
            </a:r>
          </a:p>
        </p:txBody>
      </p:sp>
      <p:sp>
        <p:nvSpPr>
          <p:cNvPr id="136198" name="Rectangle 6"/>
          <p:cNvSpPr>
            <a:spLocks noChangeArrowheads="1"/>
          </p:cNvSpPr>
          <p:nvPr/>
        </p:nvSpPr>
        <p:spPr bwMode="auto">
          <a:xfrm>
            <a:off x="228600" y="2622550"/>
            <a:ext cx="8229600" cy="1631216"/>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4000"/>
              </a:lnSpc>
              <a:spcBef>
                <a:spcPct val="0"/>
              </a:spcBef>
              <a:spcAft>
                <a:spcPct val="0"/>
              </a:spcAft>
            </a:pPr>
            <a:r>
              <a:rPr kumimoji="1" lang="en-US" altLang="zh-CN" sz="2600" b="1" dirty="0" smtClean="0">
                <a:solidFill>
                  <a:srgbClr val="080808"/>
                </a:solidFill>
                <a:latin typeface="Times New Roman" panose="02020603050405020304" pitchFamily="18" charset="0"/>
                <a:ea typeface="楷体_GB2312" pitchFamily="49" charset="-122"/>
              </a:rPr>
              <a:t>        </a:t>
            </a:r>
            <a:r>
              <a:rPr kumimoji="1" lang="zh-CN" altLang="en-US" sz="2600" b="1" dirty="0" smtClean="0">
                <a:solidFill>
                  <a:srgbClr val="080808"/>
                </a:solidFill>
                <a:latin typeface="Times New Roman" panose="02020603050405020304" pitchFamily="18" charset="0"/>
                <a:ea typeface="楷体_GB2312" pitchFamily="49" charset="-122"/>
              </a:rPr>
              <a:t>当系统的性质一定</a:t>
            </a:r>
            <a:r>
              <a:rPr kumimoji="1" lang="en-US" altLang="zh-CN" sz="2600" b="1" dirty="0" smtClean="0">
                <a:solidFill>
                  <a:srgbClr val="080808"/>
                </a:solidFill>
                <a:latin typeface="Times New Roman" panose="02020603050405020304" pitchFamily="18" charset="0"/>
                <a:ea typeface="楷体_GB2312" pitchFamily="49" charset="-122"/>
              </a:rPr>
              <a:t>(</a:t>
            </a:r>
            <a:r>
              <a:rPr kumimoji="1" lang="zh-CN" altLang="en-US" sz="2600" b="1" dirty="0" smtClean="0">
                <a:solidFill>
                  <a:srgbClr val="080808"/>
                </a:solidFill>
                <a:latin typeface="Times New Roman" panose="02020603050405020304" pitchFamily="18" charset="0"/>
                <a:ea typeface="楷体_GB2312" pitchFamily="49" charset="-122"/>
              </a:rPr>
              <a:t>气体的</a:t>
            </a:r>
            <a:r>
              <a:rPr lang="en-US" altLang="zh-CN" sz="2600" b="1" dirty="0" smtClean="0">
                <a:solidFill>
                  <a:srgbClr val="080808"/>
                </a:solidFill>
                <a:latin typeface="Times New Roman" panose="02020603050405020304" pitchFamily="18" charset="0"/>
                <a:ea typeface="楷体_GB2312" pitchFamily="49" charset="-122"/>
              </a:rPr>
              <a:t>p</a:t>
            </a:r>
            <a:r>
              <a:rPr lang="zh-CN" altLang="en-US" sz="2600" b="1" dirty="0" smtClean="0">
                <a:solidFill>
                  <a:srgbClr val="080808"/>
                </a:solidFill>
                <a:latin typeface="Times New Roman" panose="02020603050405020304" pitchFamily="18" charset="0"/>
                <a:ea typeface="楷体_GB2312" pitchFamily="49" charset="-122"/>
              </a:rPr>
              <a:t>、</a:t>
            </a:r>
            <a:r>
              <a:rPr lang="en-US" altLang="zh-CN" sz="2600" b="1" dirty="0" smtClean="0">
                <a:solidFill>
                  <a:srgbClr val="080808"/>
                </a:solidFill>
                <a:latin typeface="Times New Roman" panose="02020603050405020304" pitchFamily="18" charset="0"/>
                <a:ea typeface="楷体_GB2312" pitchFamily="49" charset="-122"/>
              </a:rPr>
              <a:t>V</a:t>
            </a:r>
            <a:r>
              <a:rPr lang="zh-CN" altLang="en-US" sz="2600" b="1" dirty="0" smtClean="0">
                <a:solidFill>
                  <a:srgbClr val="080808"/>
                </a:solidFill>
                <a:latin typeface="Times New Roman" panose="02020603050405020304" pitchFamily="18" charset="0"/>
                <a:ea typeface="楷体_GB2312" pitchFamily="49" charset="-122"/>
              </a:rPr>
              <a:t>、</a:t>
            </a:r>
            <a:r>
              <a:rPr lang="en-US" altLang="zh-CN" sz="2600" b="1" dirty="0" smtClean="0">
                <a:solidFill>
                  <a:srgbClr val="080808"/>
                </a:solidFill>
                <a:latin typeface="Times New Roman" panose="02020603050405020304" pitchFamily="18" charset="0"/>
                <a:ea typeface="楷体_GB2312" pitchFamily="49" charset="-122"/>
              </a:rPr>
              <a:t>T</a:t>
            </a:r>
            <a:r>
              <a:rPr lang="zh-CN" altLang="en-US" sz="2600" b="1" dirty="0" smtClean="0">
                <a:solidFill>
                  <a:srgbClr val="080808"/>
                </a:solidFill>
                <a:latin typeface="Times New Roman" panose="02020603050405020304" pitchFamily="18" charset="0"/>
                <a:ea typeface="楷体_GB2312" pitchFamily="49" charset="-122"/>
              </a:rPr>
              <a:t>、</a:t>
            </a:r>
            <a:r>
              <a:rPr lang="en-US" altLang="zh-CN" sz="2600" b="1" dirty="0" smtClean="0">
                <a:solidFill>
                  <a:srgbClr val="080808"/>
                </a:solidFill>
                <a:latin typeface="Times New Roman" panose="02020603050405020304" pitchFamily="18" charset="0"/>
                <a:ea typeface="楷体_GB2312" pitchFamily="49" charset="-122"/>
              </a:rPr>
              <a:t>n</a:t>
            </a:r>
            <a:r>
              <a:rPr lang="zh-CN" altLang="en-US" sz="2600" b="1" dirty="0" smtClean="0">
                <a:solidFill>
                  <a:srgbClr val="080808"/>
                </a:solidFill>
                <a:latin typeface="Times New Roman" panose="02020603050405020304" pitchFamily="18" charset="0"/>
                <a:ea typeface="楷体_GB2312" pitchFamily="49" charset="-122"/>
              </a:rPr>
              <a:t>等物理量确定</a:t>
            </a:r>
            <a:r>
              <a:rPr lang="en-US" altLang="zh-CN" sz="2600" b="1" dirty="0" smtClean="0">
                <a:solidFill>
                  <a:srgbClr val="080808"/>
                </a:solidFill>
                <a:latin typeface="Times New Roman" panose="02020603050405020304" pitchFamily="18" charset="0"/>
                <a:ea typeface="楷体_GB2312" pitchFamily="49" charset="-122"/>
              </a:rPr>
              <a:t>)</a:t>
            </a:r>
            <a:r>
              <a:rPr kumimoji="1" lang="zh-CN" altLang="en-US" sz="2600" b="1" dirty="0" smtClean="0">
                <a:solidFill>
                  <a:srgbClr val="080808"/>
                </a:solidFill>
                <a:latin typeface="Times New Roman" panose="02020603050405020304" pitchFamily="18" charset="0"/>
                <a:ea typeface="楷体_GB2312" pitchFamily="49" charset="-122"/>
              </a:rPr>
              <a:t>，我们就说</a:t>
            </a:r>
            <a:r>
              <a:rPr kumimoji="1" lang="zh-CN" altLang="en-US" sz="2600" b="1" dirty="0" smtClean="0">
                <a:solidFill>
                  <a:srgbClr val="CC3300"/>
                </a:solidFill>
                <a:latin typeface="Times New Roman" panose="02020603050405020304" pitchFamily="18" charset="0"/>
                <a:ea typeface="楷体_GB2312" pitchFamily="49" charset="-122"/>
              </a:rPr>
              <a:t>系统处于一个确定的状态</a:t>
            </a:r>
            <a:r>
              <a:rPr kumimoji="1" lang="en-US" altLang="zh-CN" sz="2600" b="1" dirty="0" smtClean="0">
                <a:solidFill>
                  <a:srgbClr val="CC3300"/>
                </a:solidFill>
                <a:latin typeface="Times New Roman" panose="02020603050405020304" pitchFamily="18" charset="0"/>
                <a:ea typeface="楷体_GB2312" pitchFamily="49" charset="-122"/>
              </a:rPr>
              <a:t>(state)</a:t>
            </a:r>
            <a:r>
              <a:rPr kumimoji="1" lang="zh-CN" altLang="en-US" sz="2600" b="1" dirty="0" smtClean="0">
                <a:solidFill>
                  <a:srgbClr val="080808"/>
                </a:solidFill>
                <a:latin typeface="Times New Roman" panose="02020603050405020304" pitchFamily="18" charset="0"/>
                <a:ea typeface="楷体_GB2312" pitchFamily="49" charset="-122"/>
              </a:rPr>
              <a:t>（理想气体状态方程</a:t>
            </a:r>
            <a:r>
              <a:rPr kumimoji="1" lang="en-US" altLang="zh-CN" sz="2600" b="1" i="1" dirty="0" err="1" smtClean="0">
                <a:solidFill>
                  <a:srgbClr val="0000FF"/>
                </a:solidFill>
                <a:latin typeface="Times New Roman" panose="02020603050405020304" pitchFamily="18" charset="0"/>
                <a:ea typeface="楷体_GB2312" pitchFamily="49" charset="-122"/>
              </a:rPr>
              <a:t>pV</a:t>
            </a:r>
            <a:r>
              <a:rPr kumimoji="1" lang="en-US" altLang="zh-CN" sz="2600" b="1" i="1" dirty="0" smtClean="0">
                <a:solidFill>
                  <a:srgbClr val="0000FF"/>
                </a:solidFill>
                <a:latin typeface="Times New Roman" panose="02020603050405020304" pitchFamily="18" charset="0"/>
                <a:ea typeface="楷体_GB2312" pitchFamily="49" charset="-122"/>
              </a:rPr>
              <a:t>=</a:t>
            </a:r>
            <a:r>
              <a:rPr kumimoji="1" lang="en-US" altLang="zh-CN" sz="2600" b="1" i="1" dirty="0" err="1" smtClean="0">
                <a:solidFill>
                  <a:srgbClr val="0000FF"/>
                </a:solidFill>
                <a:latin typeface="Times New Roman" panose="02020603050405020304" pitchFamily="18" charset="0"/>
                <a:ea typeface="楷体_GB2312" pitchFamily="49" charset="-122"/>
              </a:rPr>
              <a:t>nRT</a:t>
            </a:r>
            <a:r>
              <a:rPr kumimoji="1" lang="zh-CN" altLang="en-US" sz="2600" b="1" dirty="0" smtClean="0">
                <a:solidFill>
                  <a:srgbClr val="080808"/>
                </a:solidFill>
                <a:latin typeface="Times New Roman" panose="02020603050405020304" pitchFamily="18" charset="0"/>
                <a:ea typeface="楷体_GB2312" pitchFamily="49" charset="-122"/>
              </a:rPr>
              <a:t>）。</a:t>
            </a:r>
          </a:p>
        </p:txBody>
      </p:sp>
      <p:sp>
        <p:nvSpPr>
          <p:cNvPr id="136200" name="Rectangle 8"/>
          <p:cNvSpPr>
            <a:spLocks noChangeArrowheads="1"/>
          </p:cNvSpPr>
          <p:nvPr/>
        </p:nvSpPr>
        <p:spPr bwMode="auto">
          <a:xfrm>
            <a:off x="228600" y="-17651"/>
            <a:ext cx="7620000" cy="892552"/>
          </a:xfrm>
          <a:prstGeom prst="rect">
            <a:avLst/>
          </a:prstGeom>
          <a:solidFill>
            <a:srgbClr val="99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pPr marL="514350" indent="-514350" fontAlgn="base">
              <a:spcBef>
                <a:spcPct val="0"/>
              </a:spcBef>
              <a:spcAft>
                <a:spcPct val="0"/>
              </a:spcAft>
              <a:buFontTx/>
              <a:buAutoNum type="arabicPeriod" startAt="2"/>
            </a:pPr>
            <a:r>
              <a:rPr lang="zh-CN" altLang="en-US" sz="3000" b="1" dirty="0" smtClean="0">
                <a:solidFill>
                  <a:srgbClr val="FF0000"/>
                </a:solidFill>
                <a:latin typeface="Times New Roman" panose="02020603050405020304" pitchFamily="18" charset="0"/>
                <a:ea typeface="楷体_GB2312" pitchFamily="49" charset="-122"/>
                <a:cs typeface="Times New Roman" panose="02020603050405020304" pitchFamily="18" charset="0"/>
              </a:rPr>
              <a:t>状</a:t>
            </a:r>
            <a:r>
              <a:rPr kumimoji="1" lang="zh-CN" altLang="en-US" sz="3000" b="1" dirty="0" smtClean="0">
                <a:solidFill>
                  <a:srgbClr val="FF0000"/>
                </a:solidFill>
                <a:latin typeface="Times New Roman" panose="02020603050405020304" pitchFamily="18" charset="0"/>
                <a:ea typeface="楷体_GB2312" pitchFamily="49" charset="-122"/>
                <a:cs typeface="Times New Roman" panose="02020603050405020304" pitchFamily="18" charset="0"/>
              </a:rPr>
              <a:t>态、</a:t>
            </a:r>
            <a:r>
              <a:rPr lang="zh-CN" altLang="en-US" sz="3000" b="1" dirty="0" smtClean="0">
                <a:solidFill>
                  <a:srgbClr val="FF0000"/>
                </a:solidFill>
                <a:latin typeface="Times New Roman" panose="02020603050405020304" pitchFamily="18" charset="0"/>
                <a:ea typeface="楷体_GB2312" pitchFamily="49" charset="-122"/>
                <a:cs typeface="Times New Roman" panose="02020603050405020304" pitchFamily="18" charset="0"/>
              </a:rPr>
              <a:t>过程和途径</a:t>
            </a:r>
            <a:r>
              <a:rPr lang="en-US" altLang="zh-CN" sz="2200" b="1" dirty="0" smtClean="0">
                <a:solidFill>
                  <a:srgbClr val="080808"/>
                </a:solidFill>
                <a:latin typeface="Times New Roman" panose="02020603050405020304" pitchFamily="18" charset="0"/>
                <a:ea typeface="楷体_GB2312" pitchFamily="49" charset="-122"/>
                <a:cs typeface="Times New Roman" panose="02020603050405020304" pitchFamily="18" charset="0"/>
              </a:rPr>
              <a:t>——</a:t>
            </a:r>
            <a:r>
              <a:rPr lang="zh-CN" altLang="en-US" sz="2200" b="1" dirty="0" smtClean="0">
                <a:solidFill>
                  <a:srgbClr val="080808"/>
                </a:solidFill>
                <a:latin typeface="Times New Roman" panose="02020603050405020304" pitchFamily="18" charset="0"/>
                <a:ea typeface="楷体_GB2312" pitchFamily="49" charset="-122"/>
                <a:cs typeface="Times New Roman" panose="02020603050405020304" pitchFamily="18" charset="0"/>
              </a:rPr>
              <a:t>对文字理解不用太较真，</a:t>
            </a:r>
            <a:endParaRPr lang="en-US" altLang="zh-CN" sz="2200" b="1" dirty="0" smtClean="0">
              <a:solidFill>
                <a:srgbClr val="080808"/>
              </a:solidFill>
              <a:latin typeface="Times New Roman" panose="02020603050405020304" pitchFamily="18" charset="0"/>
              <a:ea typeface="楷体_GB2312" pitchFamily="49" charset="-122"/>
              <a:cs typeface="Times New Roman" panose="02020603050405020304" pitchFamily="18" charset="0"/>
            </a:endParaRPr>
          </a:p>
          <a:p>
            <a:pPr fontAlgn="base">
              <a:spcBef>
                <a:spcPct val="0"/>
              </a:spcBef>
              <a:spcAft>
                <a:spcPct val="0"/>
              </a:spcAft>
            </a:pPr>
            <a:r>
              <a:rPr lang="en-US" altLang="zh-CN" sz="2200" b="1" dirty="0">
                <a:solidFill>
                  <a:srgbClr val="080808"/>
                </a:solidFill>
                <a:latin typeface="Times New Roman" panose="02020603050405020304" pitchFamily="18" charset="0"/>
                <a:ea typeface="楷体_GB2312" pitchFamily="49" charset="-122"/>
                <a:cs typeface="Times New Roman" panose="02020603050405020304" pitchFamily="18" charset="0"/>
              </a:rPr>
              <a:t> </a:t>
            </a:r>
            <a:r>
              <a:rPr lang="en-US" altLang="zh-CN" sz="2200" b="1" dirty="0" smtClean="0">
                <a:solidFill>
                  <a:srgbClr val="080808"/>
                </a:solidFill>
                <a:latin typeface="Times New Roman" panose="02020603050405020304" pitchFamily="18" charset="0"/>
                <a:ea typeface="楷体_GB2312" pitchFamily="49" charset="-122"/>
                <a:cs typeface="Times New Roman" panose="02020603050405020304" pitchFamily="18" charset="0"/>
              </a:rPr>
              <a:t>                                                  ——</a:t>
            </a:r>
            <a:r>
              <a:rPr lang="zh-CN" altLang="en-US" sz="2200" b="1" dirty="0" smtClean="0">
                <a:solidFill>
                  <a:srgbClr val="080808"/>
                </a:solidFill>
                <a:latin typeface="Times New Roman" panose="02020603050405020304" pitchFamily="18" charset="0"/>
                <a:ea typeface="楷体_GB2312" pitchFamily="49" charset="-122"/>
                <a:cs typeface="Times New Roman" panose="02020603050405020304" pitchFamily="18" charset="0"/>
              </a:rPr>
              <a:t>可以用化学反应来理解</a:t>
            </a:r>
            <a:endParaRPr kumimoji="1" lang="en-US" altLang="zh-CN" sz="2200" b="1" dirty="0" smtClean="0">
              <a:solidFill>
                <a:srgbClr val="080808"/>
              </a:solidFill>
              <a:latin typeface="Times New Roman" panose="02020603050405020304" pitchFamily="18" charset="0"/>
              <a:ea typeface="楷体_GB2312" pitchFamily="49" charset="-122"/>
              <a:cs typeface="Times New Roman" panose="02020603050405020304" pitchFamily="18" charset="0"/>
            </a:endParaRPr>
          </a:p>
        </p:txBody>
      </p:sp>
      <p:sp>
        <p:nvSpPr>
          <p:cNvPr id="48133" name="矩形 11"/>
          <p:cNvSpPr>
            <a:spLocks noChangeArrowheads="1"/>
          </p:cNvSpPr>
          <p:nvPr/>
        </p:nvSpPr>
        <p:spPr bwMode="auto">
          <a:xfrm>
            <a:off x="457200" y="4293096"/>
            <a:ext cx="8077200" cy="2144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4000"/>
              </a:lnSpc>
              <a:spcBef>
                <a:spcPct val="0"/>
              </a:spcBef>
              <a:spcAft>
                <a:spcPct val="0"/>
              </a:spcAft>
            </a:pPr>
            <a:r>
              <a:rPr lang="en-US" altLang="zh-CN" sz="2600" b="1" dirty="0" smtClean="0">
                <a:solidFill>
                  <a:srgbClr val="000000"/>
                </a:solidFill>
                <a:latin typeface="Times New Roman" panose="02020603050405020304" pitchFamily="18" charset="0"/>
                <a:ea typeface="楷体_GB2312" pitchFamily="49" charset="-122"/>
              </a:rPr>
              <a:t>          </a:t>
            </a:r>
            <a:r>
              <a:rPr lang="zh-CN" altLang="en-US" sz="2600" b="1" dirty="0" smtClean="0">
                <a:solidFill>
                  <a:srgbClr val="000000"/>
                </a:solidFill>
                <a:latin typeface="Times New Roman" panose="02020603050405020304" pitchFamily="18" charset="0"/>
                <a:ea typeface="楷体_GB2312" pitchFamily="49" charset="-122"/>
              </a:rPr>
              <a:t>系统状态发生任何的变化，这种变化称为</a:t>
            </a:r>
            <a:r>
              <a:rPr lang="zh-CN" altLang="en-US" sz="2600" b="1" dirty="0" smtClean="0">
                <a:solidFill>
                  <a:srgbClr val="CC3300"/>
                </a:solidFill>
                <a:latin typeface="Times New Roman" panose="02020603050405020304" pitchFamily="18" charset="0"/>
                <a:ea typeface="楷体_GB2312" pitchFamily="49" charset="-122"/>
              </a:rPr>
              <a:t>过程</a:t>
            </a:r>
            <a:r>
              <a:rPr lang="en-US" altLang="zh-CN" sz="2600" b="1" dirty="0" smtClean="0">
                <a:solidFill>
                  <a:srgbClr val="CC3300"/>
                </a:solidFill>
                <a:latin typeface="Times New Roman" panose="02020603050405020304" pitchFamily="18" charset="0"/>
                <a:ea typeface="楷体_GB2312" pitchFamily="49" charset="-122"/>
              </a:rPr>
              <a:t>(process)</a:t>
            </a:r>
            <a:r>
              <a:rPr lang="zh-CN" altLang="en-US" sz="2600" b="1" dirty="0" smtClean="0">
                <a:solidFill>
                  <a:srgbClr val="CC3300"/>
                </a:solidFill>
                <a:latin typeface="Times New Roman" panose="02020603050405020304" pitchFamily="18" charset="0"/>
                <a:ea typeface="楷体_GB2312" pitchFamily="49" charset="-122"/>
              </a:rPr>
              <a:t>。</a:t>
            </a:r>
            <a:r>
              <a:rPr lang="zh-CN" altLang="en-US" sz="2600" b="1" dirty="0" smtClean="0">
                <a:solidFill>
                  <a:srgbClr val="000000"/>
                </a:solidFill>
                <a:latin typeface="Times New Roman" panose="02020603050405020304" pitchFamily="18" charset="0"/>
                <a:ea typeface="楷体_GB2312" pitchFamily="49" charset="-122"/>
              </a:rPr>
              <a:t>如从一个状态</a:t>
            </a:r>
            <a:r>
              <a:rPr lang="en-US" altLang="zh-CN" sz="2600" b="1" dirty="0" smtClean="0">
                <a:solidFill>
                  <a:srgbClr val="000000"/>
                </a:solidFill>
                <a:latin typeface="Times New Roman" panose="02020603050405020304" pitchFamily="18" charset="0"/>
                <a:ea typeface="楷体_GB2312" pitchFamily="49" charset="-122"/>
              </a:rPr>
              <a:t>(</a:t>
            </a:r>
            <a:r>
              <a:rPr lang="zh-CN" altLang="en-US" sz="2600" b="1" dirty="0" smtClean="0">
                <a:solidFill>
                  <a:srgbClr val="0000FF"/>
                </a:solidFill>
                <a:latin typeface="Times New Roman" panose="02020603050405020304" pitchFamily="18" charset="0"/>
                <a:ea typeface="楷体_GB2312" pitchFamily="49" charset="-122"/>
              </a:rPr>
              <a:t>始态</a:t>
            </a:r>
            <a:r>
              <a:rPr lang="en-US" altLang="zh-CN" sz="2600" b="1" dirty="0" smtClean="0">
                <a:solidFill>
                  <a:srgbClr val="000000"/>
                </a:solidFill>
                <a:latin typeface="Times New Roman" panose="02020603050405020304" pitchFamily="18" charset="0"/>
                <a:ea typeface="楷体_GB2312" pitchFamily="49" charset="-122"/>
              </a:rPr>
              <a:t>)</a:t>
            </a:r>
            <a:r>
              <a:rPr lang="zh-CN" altLang="en-US" sz="2600" b="1" dirty="0" smtClean="0">
                <a:solidFill>
                  <a:srgbClr val="000000"/>
                </a:solidFill>
                <a:latin typeface="Times New Roman" panose="02020603050405020304" pitchFamily="18" charset="0"/>
                <a:ea typeface="楷体_GB2312" pitchFamily="49" charset="-122"/>
              </a:rPr>
              <a:t>变成另一个状态</a:t>
            </a:r>
            <a:r>
              <a:rPr lang="en-US" altLang="zh-CN" sz="2600" b="1" dirty="0" smtClean="0">
                <a:solidFill>
                  <a:srgbClr val="000000"/>
                </a:solidFill>
                <a:latin typeface="Times New Roman" panose="02020603050405020304" pitchFamily="18" charset="0"/>
                <a:ea typeface="楷体_GB2312" pitchFamily="49" charset="-122"/>
              </a:rPr>
              <a:t>(</a:t>
            </a:r>
            <a:r>
              <a:rPr lang="zh-CN" altLang="en-US" sz="2600" b="1" dirty="0" smtClean="0">
                <a:solidFill>
                  <a:srgbClr val="0000FF"/>
                </a:solidFill>
                <a:latin typeface="Times New Roman" panose="02020603050405020304" pitchFamily="18" charset="0"/>
                <a:ea typeface="楷体_GB2312" pitchFamily="49" charset="-122"/>
              </a:rPr>
              <a:t>终态</a:t>
            </a:r>
            <a:r>
              <a:rPr lang="en-US" altLang="zh-CN" sz="2600" b="1" dirty="0" smtClean="0">
                <a:solidFill>
                  <a:srgbClr val="000000"/>
                </a:solidFill>
                <a:latin typeface="Times New Roman" panose="02020603050405020304" pitchFamily="18" charset="0"/>
                <a:ea typeface="楷体_GB2312" pitchFamily="49" charset="-122"/>
              </a:rPr>
              <a:t>)——</a:t>
            </a:r>
            <a:r>
              <a:rPr lang="zh-CN" altLang="en-US" sz="2600" b="1" dirty="0" smtClean="0">
                <a:solidFill>
                  <a:srgbClr val="000000"/>
                </a:solidFill>
                <a:latin typeface="Times New Roman" panose="02020603050405020304" pitchFamily="18" charset="0"/>
                <a:ea typeface="楷体_GB2312" pitchFamily="49" charset="-122"/>
              </a:rPr>
              <a:t>化学反应：</a:t>
            </a:r>
            <a:r>
              <a:rPr lang="zh-CN" altLang="en-US" sz="2600" b="1" dirty="0" smtClean="0">
                <a:solidFill>
                  <a:srgbClr val="0000FF"/>
                </a:solidFill>
                <a:latin typeface="Times New Roman" panose="02020603050405020304" pitchFamily="18" charset="0"/>
                <a:ea typeface="楷体_GB2312" pitchFamily="49" charset="-122"/>
              </a:rPr>
              <a:t>反应物</a:t>
            </a:r>
            <a:r>
              <a:rPr lang="en-US" altLang="zh-CN" sz="2600" b="1" dirty="0" smtClean="0">
                <a:solidFill>
                  <a:srgbClr val="000000"/>
                </a:solidFill>
                <a:latin typeface="Times New Roman" panose="02020603050405020304" pitchFamily="18" charset="0"/>
                <a:ea typeface="楷体_GB2312" pitchFamily="49" charset="-122"/>
              </a:rPr>
              <a:t>(</a:t>
            </a:r>
            <a:r>
              <a:rPr lang="zh-CN" altLang="en-US" sz="2600" b="1" dirty="0" smtClean="0">
                <a:solidFill>
                  <a:srgbClr val="0000FF"/>
                </a:solidFill>
                <a:latin typeface="Times New Roman" panose="02020603050405020304" pitchFamily="18" charset="0"/>
                <a:ea typeface="楷体_GB2312" pitchFamily="49" charset="-122"/>
              </a:rPr>
              <a:t>始态</a:t>
            </a:r>
            <a:r>
              <a:rPr lang="en-US" altLang="zh-CN" sz="2600" b="1" dirty="0" smtClean="0">
                <a:solidFill>
                  <a:srgbClr val="000000"/>
                </a:solidFill>
                <a:latin typeface="Times New Roman" panose="02020603050405020304" pitchFamily="18" charset="0"/>
                <a:ea typeface="楷体_GB2312" pitchFamily="49" charset="-122"/>
              </a:rPr>
              <a:t>)</a:t>
            </a:r>
            <a:r>
              <a:rPr lang="zh-CN" altLang="en-US" sz="2600" b="1" dirty="0" smtClean="0">
                <a:solidFill>
                  <a:srgbClr val="000000"/>
                </a:solidFill>
                <a:latin typeface="Times New Roman" panose="02020603050405020304" pitchFamily="18" charset="0"/>
                <a:ea typeface="楷体_GB2312" pitchFamily="49" charset="-122"/>
              </a:rPr>
              <a:t>到</a:t>
            </a:r>
            <a:r>
              <a:rPr lang="zh-CN" altLang="en-US" sz="2600" b="1" dirty="0" smtClean="0">
                <a:solidFill>
                  <a:srgbClr val="0000FF"/>
                </a:solidFill>
                <a:latin typeface="Times New Roman" panose="02020603050405020304" pitchFamily="18" charset="0"/>
                <a:ea typeface="楷体_GB2312" pitchFamily="49" charset="-122"/>
              </a:rPr>
              <a:t>生成物</a:t>
            </a:r>
            <a:r>
              <a:rPr lang="en-US" altLang="zh-CN" sz="2600" b="1" dirty="0" smtClean="0">
                <a:solidFill>
                  <a:srgbClr val="000000"/>
                </a:solidFill>
                <a:latin typeface="Times New Roman" panose="02020603050405020304" pitchFamily="18" charset="0"/>
                <a:ea typeface="楷体_GB2312" pitchFamily="49" charset="-122"/>
              </a:rPr>
              <a:t>(</a:t>
            </a:r>
            <a:r>
              <a:rPr lang="zh-CN" altLang="en-US" sz="2600" b="1" dirty="0" smtClean="0">
                <a:solidFill>
                  <a:srgbClr val="0000FF"/>
                </a:solidFill>
                <a:latin typeface="Times New Roman" panose="02020603050405020304" pitchFamily="18" charset="0"/>
                <a:ea typeface="楷体_GB2312" pitchFamily="49" charset="-122"/>
              </a:rPr>
              <a:t>终态</a:t>
            </a:r>
            <a:r>
              <a:rPr lang="en-US" altLang="zh-CN" sz="2600" b="1" dirty="0" smtClean="0">
                <a:solidFill>
                  <a:srgbClr val="000000"/>
                </a:solidFill>
                <a:latin typeface="Times New Roman" panose="02020603050405020304" pitchFamily="18" charset="0"/>
                <a:ea typeface="楷体_GB2312" pitchFamily="49" charset="-122"/>
              </a:rPr>
              <a:t>)</a:t>
            </a:r>
            <a:r>
              <a:rPr lang="zh-CN" altLang="en-US" sz="2600" b="1" dirty="0" smtClean="0">
                <a:solidFill>
                  <a:srgbClr val="000000"/>
                </a:solidFill>
                <a:latin typeface="Times New Roman" panose="02020603050405020304" pitchFamily="18" charset="0"/>
                <a:ea typeface="楷体_GB2312" pitchFamily="49" charset="-122"/>
              </a:rPr>
              <a:t>就是一个过程。</a:t>
            </a:r>
            <a:endParaRPr kumimoji="1" lang="zh-CN" altLang="en-US" sz="2600" b="1" dirty="0" smtClean="0">
              <a:solidFill>
                <a:srgbClr val="CC3300"/>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6200"/>
                                        </p:tgtEl>
                                        <p:attrNameLst>
                                          <p:attrName>style.visibility</p:attrName>
                                        </p:attrNameLst>
                                      </p:cBhvr>
                                      <p:to>
                                        <p:strVal val="visible"/>
                                      </p:to>
                                    </p:set>
                                    <p:animEffect transition="in" filter="checkerboard(across)">
                                      <p:cBhvr>
                                        <p:cTn id="7" dur="500"/>
                                        <p:tgtEl>
                                          <p:spTgt spid="13620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6197"/>
                                        </p:tgtEl>
                                        <p:attrNameLst>
                                          <p:attrName>style.visibility</p:attrName>
                                        </p:attrNameLst>
                                      </p:cBhvr>
                                      <p:to>
                                        <p:strVal val="visible"/>
                                      </p:to>
                                    </p:set>
                                    <p:animEffect transition="in" filter="box(in)">
                                      <p:cBhvr>
                                        <p:cTn id="12" dur="500"/>
                                        <p:tgtEl>
                                          <p:spTgt spid="13619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36198"/>
                                        </p:tgtEl>
                                        <p:attrNameLst>
                                          <p:attrName>style.visibility</p:attrName>
                                        </p:attrNameLst>
                                      </p:cBhvr>
                                      <p:to>
                                        <p:strVal val="visible"/>
                                      </p:to>
                                    </p:set>
                                    <p:anim calcmode="lin" valueType="num">
                                      <p:cBhvr additive="base">
                                        <p:cTn id="17" dur="500" fill="hold"/>
                                        <p:tgtEl>
                                          <p:spTgt spid="136198"/>
                                        </p:tgtEl>
                                        <p:attrNameLst>
                                          <p:attrName>ppt_x</p:attrName>
                                        </p:attrNameLst>
                                      </p:cBhvr>
                                      <p:tavLst>
                                        <p:tav tm="0">
                                          <p:val>
                                            <p:strVal val="0-#ppt_w/2"/>
                                          </p:val>
                                        </p:tav>
                                        <p:tav tm="100000">
                                          <p:val>
                                            <p:strVal val="#ppt_x"/>
                                          </p:val>
                                        </p:tav>
                                      </p:tavLst>
                                    </p:anim>
                                    <p:anim calcmode="lin" valueType="num">
                                      <p:cBhvr additive="base">
                                        <p:cTn id="18" dur="500" fill="hold"/>
                                        <p:tgtEl>
                                          <p:spTgt spid="13619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8133"/>
                                        </p:tgtEl>
                                        <p:attrNameLst>
                                          <p:attrName>style.visibility</p:attrName>
                                        </p:attrNameLst>
                                      </p:cBhvr>
                                      <p:to>
                                        <p:strVal val="visible"/>
                                      </p:to>
                                    </p:set>
                                    <p:animEffect transition="in" filter="blinds(horizontal)">
                                      <p:cBhvr>
                                        <p:cTn id="23" dur="500"/>
                                        <p:tgtEl>
                                          <p:spTgt spid="48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7" grpId="0" animBg="1"/>
      <p:bldP spid="136198" grpId="0" animBg="1" autoUpdateAnimBg="0"/>
      <p:bldP spid="136200" grpId="0" animBg="1"/>
      <p:bldP spid="48133"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组合 8"/>
          <p:cNvGrpSpPr/>
          <p:nvPr/>
        </p:nvGrpSpPr>
        <p:grpSpPr bwMode="auto">
          <a:xfrm>
            <a:off x="304800" y="228600"/>
            <a:ext cx="8458200" cy="3916776"/>
            <a:chOff x="304800" y="228591"/>
            <a:chExt cx="8458200" cy="3917094"/>
          </a:xfrm>
        </p:grpSpPr>
        <p:sp>
          <p:nvSpPr>
            <p:cNvPr id="79876" name="矩形 11"/>
            <p:cNvSpPr>
              <a:spLocks noChangeArrowheads="1"/>
            </p:cNvSpPr>
            <p:nvPr/>
          </p:nvSpPr>
          <p:spPr bwMode="auto">
            <a:xfrm>
              <a:off x="1295400" y="228591"/>
              <a:ext cx="5257800" cy="5511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4000"/>
                </a:lnSpc>
                <a:spcBef>
                  <a:spcPct val="0"/>
                </a:spcBef>
                <a:spcAft>
                  <a:spcPct val="0"/>
                </a:spcAft>
              </a:pPr>
              <a:r>
                <a:rPr lang="zh-CN" altLang="en-US" sz="2600" b="1" smtClean="0">
                  <a:solidFill>
                    <a:srgbClr val="000000"/>
                  </a:solidFill>
                  <a:latin typeface="Times New Roman" panose="02020603050405020304" pitchFamily="18" charset="0"/>
                  <a:ea typeface="楷体_GB2312" pitchFamily="49" charset="-122"/>
                </a:rPr>
                <a:t>系统状态变化的过程，一般分为：</a:t>
              </a:r>
            </a:p>
          </p:txBody>
        </p:sp>
        <p:sp>
          <p:nvSpPr>
            <p:cNvPr id="79877" name="矩形 12"/>
            <p:cNvSpPr>
              <a:spLocks noChangeArrowheads="1"/>
            </p:cNvSpPr>
            <p:nvPr/>
          </p:nvSpPr>
          <p:spPr bwMode="auto">
            <a:xfrm>
              <a:off x="1676400" y="685741"/>
              <a:ext cx="4114800" cy="6052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marL="342900" indent="-342900" fontAlgn="base">
                <a:lnSpc>
                  <a:spcPts val="4000"/>
                </a:lnSpc>
                <a:spcBef>
                  <a:spcPct val="0"/>
                </a:spcBef>
                <a:spcAft>
                  <a:spcPct val="0"/>
                </a:spcAft>
              </a:pPr>
              <a:r>
                <a:rPr lang="en-US" altLang="zh-CN" sz="2600" b="1" smtClean="0">
                  <a:solidFill>
                    <a:srgbClr val="C00000"/>
                  </a:solidFill>
                  <a:latin typeface="Times New Roman" panose="02020603050405020304" pitchFamily="18" charset="0"/>
                  <a:ea typeface="楷体_GB2312" pitchFamily="49" charset="-122"/>
                </a:rPr>
                <a:t>A.    </a:t>
              </a:r>
              <a:r>
                <a:rPr lang="en-US" altLang="zh-CN" sz="2600" b="1" smtClean="0">
                  <a:solidFill>
                    <a:srgbClr val="000000"/>
                  </a:solidFill>
                  <a:latin typeface="Times New Roman" panose="02020603050405020304" pitchFamily="18" charset="0"/>
                  <a:ea typeface="楷体_GB2312" pitchFamily="49" charset="-122"/>
                </a:rPr>
                <a:t>ΔT = 0    (</a:t>
              </a:r>
              <a:r>
                <a:rPr lang="zh-CN" altLang="en-US" sz="2600" b="1" smtClean="0">
                  <a:solidFill>
                    <a:srgbClr val="000000"/>
                  </a:solidFill>
                  <a:latin typeface="Times New Roman" panose="02020603050405020304" pitchFamily="18" charset="0"/>
                  <a:ea typeface="楷体_GB2312" pitchFamily="49" charset="-122"/>
                </a:rPr>
                <a:t>等温过程</a:t>
              </a:r>
              <a:r>
                <a:rPr lang="en-US" altLang="zh-CN" sz="2600" b="1" smtClean="0">
                  <a:solidFill>
                    <a:srgbClr val="000000"/>
                  </a:solidFill>
                  <a:latin typeface="Times New Roman" panose="02020603050405020304" pitchFamily="18" charset="0"/>
                  <a:ea typeface="楷体_GB2312" pitchFamily="49" charset="-122"/>
                </a:rPr>
                <a:t>)</a:t>
              </a:r>
            </a:p>
          </p:txBody>
        </p:sp>
        <p:sp>
          <p:nvSpPr>
            <p:cNvPr id="79878" name="矩形 13"/>
            <p:cNvSpPr>
              <a:spLocks noChangeArrowheads="1"/>
            </p:cNvSpPr>
            <p:nvPr/>
          </p:nvSpPr>
          <p:spPr bwMode="auto">
            <a:xfrm>
              <a:off x="1676400" y="1219081"/>
              <a:ext cx="3886200" cy="5511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marL="342900" indent="-342900" fontAlgn="base">
                <a:lnSpc>
                  <a:spcPts val="4000"/>
                </a:lnSpc>
                <a:spcBef>
                  <a:spcPct val="0"/>
                </a:spcBef>
                <a:spcAft>
                  <a:spcPct val="0"/>
                </a:spcAft>
              </a:pPr>
              <a:r>
                <a:rPr lang="en-US" altLang="zh-CN" sz="2600" b="1" smtClean="0">
                  <a:solidFill>
                    <a:srgbClr val="C00000"/>
                  </a:solidFill>
                  <a:latin typeface="Times New Roman" panose="02020603050405020304" pitchFamily="18" charset="0"/>
                  <a:ea typeface="楷体_GB2312" pitchFamily="49" charset="-122"/>
                </a:rPr>
                <a:t>B.    </a:t>
              </a:r>
              <a:r>
                <a:rPr lang="en-US" altLang="zh-CN" sz="2600" b="1" smtClean="0">
                  <a:solidFill>
                    <a:srgbClr val="000000"/>
                  </a:solidFill>
                  <a:latin typeface="Times New Roman" panose="02020603050405020304" pitchFamily="18" charset="0"/>
                  <a:ea typeface="楷体_GB2312" pitchFamily="49" charset="-122"/>
                </a:rPr>
                <a:t>Δp = 0     (</a:t>
              </a:r>
              <a:r>
                <a:rPr lang="zh-CN" altLang="en-US" sz="2600" b="1" smtClean="0">
                  <a:solidFill>
                    <a:srgbClr val="000000"/>
                  </a:solidFill>
                  <a:latin typeface="Times New Roman" panose="02020603050405020304" pitchFamily="18" charset="0"/>
                  <a:ea typeface="楷体_GB2312" pitchFamily="49" charset="-122"/>
                </a:rPr>
                <a:t>等压过程</a:t>
              </a:r>
              <a:r>
                <a:rPr lang="en-US" altLang="zh-CN" sz="2600" b="1" smtClean="0">
                  <a:solidFill>
                    <a:srgbClr val="000000"/>
                  </a:solidFill>
                  <a:latin typeface="Times New Roman" panose="02020603050405020304" pitchFamily="18" charset="0"/>
                  <a:ea typeface="楷体_GB2312" pitchFamily="49" charset="-122"/>
                </a:rPr>
                <a:t>)</a:t>
              </a:r>
            </a:p>
          </p:txBody>
        </p:sp>
        <p:sp>
          <p:nvSpPr>
            <p:cNvPr id="79879" name="矩形 14"/>
            <p:cNvSpPr>
              <a:spLocks noChangeArrowheads="1"/>
            </p:cNvSpPr>
            <p:nvPr/>
          </p:nvSpPr>
          <p:spPr bwMode="auto">
            <a:xfrm>
              <a:off x="1676400" y="1828613"/>
              <a:ext cx="3810000" cy="5511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4000"/>
                </a:lnSpc>
                <a:spcBef>
                  <a:spcPct val="0"/>
                </a:spcBef>
                <a:spcAft>
                  <a:spcPct val="0"/>
                </a:spcAft>
              </a:pPr>
              <a:r>
                <a:rPr lang="en-US" altLang="zh-CN" sz="2600" b="1" smtClean="0">
                  <a:solidFill>
                    <a:srgbClr val="C00000"/>
                  </a:solidFill>
                  <a:latin typeface="Times New Roman" panose="02020603050405020304" pitchFamily="18" charset="0"/>
                  <a:ea typeface="楷体_GB2312" pitchFamily="49" charset="-122"/>
                </a:rPr>
                <a:t>C.    </a:t>
              </a:r>
              <a:r>
                <a:rPr lang="en-US" altLang="zh-CN" sz="2600" b="1" smtClean="0">
                  <a:solidFill>
                    <a:srgbClr val="000000"/>
                  </a:solidFill>
                  <a:latin typeface="Times New Roman" panose="02020603050405020304" pitchFamily="18" charset="0"/>
                  <a:ea typeface="楷体_GB2312" pitchFamily="49" charset="-122"/>
                </a:rPr>
                <a:t>ΔV = 0    (</a:t>
              </a:r>
              <a:r>
                <a:rPr lang="zh-CN" altLang="en-US" sz="2600" b="1" smtClean="0">
                  <a:solidFill>
                    <a:srgbClr val="000000"/>
                  </a:solidFill>
                  <a:latin typeface="Times New Roman" panose="02020603050405020304" pitchFamily="18" charset="0"/>
                  <a:ea typeface="楷体_GB2312" pitchFamily="49" charset="-122"/>
                </a:rPr>
                <a:t>等容过程</a:t>
              </a:r>
              <a:r>
                <a:rPr lang="en-US" altLang="zh-CN" sz="2600" b="1" smtClean="0">
                  <a:solidFill>
                    <a:srgbClr val="000000"/>
                  </a:solidFill>
                  <a:latin typeface="Times New Roman" panose="02020603050405020304" pitchFamily="18" charset="0"/>
                  <a:ea typeface="楷体_GB2312" pitchFamily="49" charset="-122"/>
                </a:rPr>
                <a:t>)</a:t>
              </a:r>
            </a:p>
          </p:txBody>
        </p:sp>
        <p:sp>
          <p:nvSpPr>
            <p:cNvPr id="79880" name="矩形 15"/>
            <p:cNvSpPr>
              <a:spLocks noChangeArrowheads="1"/>
            </p:cNvSpPr>
            <p:nvPr/>
          </p:nvSpPr>
          <p:spPr bwMode="auto">
            <a:xfrm>
              <a:off x="304800" y="2514337"/>
              <a:ext cx="8458200" cy="16313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4000"/>
                </a:lnSpc>
                <a:spcBef>
                  <a:spcPct val="0"/>
                </a:spcBef>
                <a:spcAft>
                  <a:spcPct val="0"/>
                </a:spcAft>
              </a:pPr>
              <a:r>
                <a:rPr lang="zh-CN" altLang="en-US" sz="2600" b="1" dirty="0" smtClean="0">
                  <a:solidFill>
                    <a:srgbClr val="000000"/>
                  </a:solidFill>
                  <a:latin typeface="Times New Roman" panose="02020603050405020304" pitchFamily="18" charset="0"/>
                  <a:ea typeface="楷体_GB2312" pitchFamily="49" charset="-122"/>
                </a:rPr>
                <a:t>      注：</a:t>
              </a:r>
              <a:r>
                <a:rPr lang="zh-CN" altLang="en-US" sz="2600" b="1" dirty="0" smtClean="0">
                  <a:solidFill>
                    <a:srgbClr val="0000FF"/>
                  </a:solidFill>
                  <a:latin typeface="Times New Roman" panose="02020603050405020304" pitchFamily="18" charset="0"/>
                  <a:ea typeface="楷体_GB2312" pitchFamily="49" charset="-122"/>
                </a:rPr>
                <a:t>等温过程（反应）</a:t>
              </a:r>
              <a:r>
                <a:rPr lang="en-US" altLang="zh-CN" sz="2600" b="1" dirty="0" smtClean="0">
                  <a:solidFill>
                    <a:srgbClr val="000000"/>
                  </a:solidFill>
                  <a:latin typeface="Times New Roman" panose="02020603050405020304" pitchFamily="18" charset="0"/>
                  <a:ea typeface="楷体_GB2312" pitchFamily="49" charset="-122"/>
                </a:rPr>
                <a:t>——T</a:t>
              </a:r>
              <a:r>
                <a:rPr lang="zh-CN" altLang="en-US" sz="2600" b="1" dirty="0" smtClean="0">
                  <a:solidFill>
                    <a:srgbClr val="000000"/>
                  </a:solidFill>
                  <a:latin typeface="Times New Roman" panose="02020603050405020304" pitchFamily="18" charset="0"/>
                  <a:ea typeface="楷体_GB2312" pitchFamily="49" charset="-122"/>
                </a:rPr>
                <a:t>一直保持不变；</a:t>
              </a:r>
              <a:endParaRPr lang="en-US" altLang="zh-CN" sz="2600" b="1" dirty="0" smtClean="0">
                <a:solidFill>
                  <a:srgbClr val="000000"/>
                </a:solidFill>
                <a:latin typeface="Times New Roman" panose="02020603050405020304" pitchFamily="18" charset="0"/>
                <a:ea typeface="楷体_GB2312" pitchFamily="49" charset="-122"/>
              </a:endParaRPr>
            </a:p>
            <a:p>
              <a:pPr fontAlgn="base">
                <a:lnSpc>
                  <a:spcPts val="4000"/>
                </a:lnSpc>
                <a:spcBef>
                  <a:spcPct val="0"/>
                </a:spcBef>
                <a:spcAft>
                  <a:spcPct val="0"/>
                </a:spcAft>
              </a:pPr>
              <a:r>
                <a:rPr lang="en-US" altLang="zh-CN" sz="2600" b="1" dirty="0" smtClean="0">
                  <a:solidFill>
                    <a:srgbClr val="0000FF"/>
                  </a:solidFill>
                  <a:latin typeface="Times New Roman" panose="02020603050405020304" pitchFamily="18" charset="0"/>
                  <a:ea typeface="楷体_GB2312" pitchFamily="49" charset="-122"/>
                </a:rPr>
                <a:t>              </a:t>
              </a:r>
              <a:r>
                <a:rPr lang="zh-CN" altLang="en-US" sz="2600" b="1" dirty="0" smtClean="0">
                  <a:solidFill>
                    <a:srgbClr val="0000FF"/>
                  </a:solidFill>
                  <a:latin typeface="Times New Roman" panose="02020603050405020304" pitchFamily="18" charset="0"/>
                  <a:ea typeface="楷体_GB2312" pitchFamily="49" charset="-122"/>
                </a:rPr>
                <a:t>等温变化</a:t>
              </a:r>
              <a:r>
                <a:rPr lang="en-US" altLang="zh-CN" sz="2600" b="1" dirty="0" smtClean="0">
                  <a:solidFill>
                    <a:srgbClr val="080808"/>
                  </a:solidFill>
                  <a:latin typeface="Times New Roman" panose="02020603050405020304" pitchFamily="18" charset="0"/>
                  <a:ea typeface="楷体_GB2312" pitchFamily="49" charset="-122"/>
                </a:rPr>
                <a:t>——</a:t>
              </a:r>
              <a:r>
                <a:rPr lang="zh-CN" altLang="en-US" sz="2600" b="1" dirty="0" smtClean="0">
                  <a:solidFill>
                    <a:srgbClr val="000000"/>
                  </a:solidFill>
                  <a:latin typeface="Times New Roman" panose="02020603050405020304" pitchFamily="18" charset="0"/>
                  <a:ea typeface="楷体_GB2312" pitchFamily="49" charset="-122"/>
                </a:rPr>
                <a:t>只要</a:t>
              </a:r>
              <a:r>
                <a:rPr lang="zh-CN" altLang="en-US" sz="2600" b="1" i="1" dirty="0" smtClean="0">
                  <a:solidFill>
                    <a:srgbClr val="C00000"/>
                  </a:solidFill>
                  <a:latin typeface="Times New Roman" panose="02020603050405020304" pitchFamily="18" charset="0"/>
                  <a:ea typeface="楷体_GB2312" pitchFamily="49" charset="-122"/>
                </a:rPr>
                <a:t>始态和终态</a:t>
              </a:r>
              <a:r>
                <a:rPr lang="zh-CN" altLang="en-US" sz="2600" b="1" dirty="0" smtClean="0">
                  <a:solidFill>
                    <a:srgbClr val="000000"/>
                  </a:solidFill>
                  <a:latin typeface="Times New Roman" panose="02020603050405020304" pitchFamily="18" charset="0"/>
                  <a:ea typeface="楷体_GB2312" pitchFamily="49" charset="-122"/>
                </a:rPr>
                <a:t>温度保持不变就行</a:t>
              </a:r>
              <a:r>
                <a:rPr lang="en-US" altLang="zh-CN" sz="2600" b="1" dirty="0" smtClean="0">
                  <a:solidFill>
                    <a:srgbClr val="000000"/>
                  </a:solidFill>
                  <a:latin typeface="Times New Roman" panose="02020603050405020304" pitchFamily="18" charset="0"/>
                  <a:ea typeface="楷体_GB2312" pitchFamily="49" charset="-122"/>
                </a:rPr>
                <a:t>——</a:t>
              </a:r>
              <a:r>
                <a:rPr lang="zh-CN" altLang="en-US" sz="2600" b="1" i="1" dirty="0" smtClean="0">
                  <a:solidFill>
                    <a:srgbClr val="000000"/>
                  </a:solidFill>
                  <a:latin typeface="Times New Roman" panose="02020603050405020304" pitchFamily="18" charset="0"/>
                  <a:ea typeface="楷体_GB2312" pitchFamily="49" charset="-122"/>
                </a:rPr>
                <a:t>既然是变化，过程中就不会保持不变</a:t>
              </a:r>
              <a:r>
                <a:rPr lang="zh-CN" altLang="en-US" sz="2600" b="1" dirty="0" smtClean="0">
                  <a:solidFill>
                    <a:srgbClr val="000000"/>
                  </a:solidFill>
                  <a:latin typeface="Times New Roman" panose="02020603050405020304" pitchFamily="18" charset="0"/>
                  <a:ea typeface="楷体_GB2312" pitchFamily="49" charset="-122"/>
                </a:rPr>
                <a:t>。</a:t>
              </a:r>
              <a:endParaRPr kumimoji="1" lang="zh-CN" altLang="en-US" sz="2600" b="1" dirty="0" smtClean="0">
                <a:solidFill>
                  <a:srgbClr val="000000"/>
                </a:solidFill>
                <a:latin typeface="Times New Roman" panose="02020603050405020304" pitchFamily="18" charset="0"/>
                <a:ea typeface="楷体_GB2312" pitchFamily="49" charset="-122"/>
              </a:endParaRPr>
            </a:p>
          </p:txBody>
        </p:sp>
      </p:grpSp>
      <p:sp>
        <p:nvSpPr>
          <p:cNvPr id="78851" name="矩形 18"/>
          <p:cNvSpPr>
            <a:spLocks noChangeArrowheads="1"/>
          </p:cNvSpPr>
          <p:nvPr/>
        </p:nvSpPr>
        <p:spPr bwMode="auto">
          <a:xfrm>
            <a:off x="609600" y="4221088"/>
            <a:ext cx="8001000" cy="1117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4000"/>
              </a:lnSpc>
              <a:spcBef>
                <a:spcPct val="0"/>
              </a:spcBef>
              <a:spcAft>
                <a:spcPct val="0"/>
              </a:spcAft>
            </a:pPr>
            <a:r>
              <a:rPr lang="zh-CN" altLang="en-US" sz="2600" b="1" dirty="0" smtClean="0">
                <a:solidFill>
                  <a:srgbClr val="080808"/>
                </a:solidFill>
                <a:latin typeface="Times New Roman" panose="02020603050405020304" pitchFamily="18" charset="0"/>
                <a:ea typeface="楷体_GB2312" pitchFamily="49" charset="-122"/>
              </a:rPr>
              <a:t>         过程还可以分为：可逆与不可逆过程；自发与非自发过程。</a:t>
            </a:r>
            <a:endParaRPr kumimoji="1" lang="zh-CN" altLang="en-US" sz="2600" b="1" dirty="0" smtClean="0">
              <a:solidFill>
                <a:srgbClr val="080808"/>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8851"/>
                                        </p:tgtEl>
                                        <p:attrNameLst>
                                          <p:attrName>style.visibility</p:attrName>
                                        </p:attrNameLst>
                                      </p:cBhvr>
                                      <p:to>
                                        <p:strVal val="visible"/>
                                      </p:to>
                                    </p:set>
                                    <p:animEffect transition="in" filter="blinds(horizontal)">
                                      <p:cBhvr>
                                        <p:cTn id="13" dur="500"/>
                                        <p:tgtEl>
                                          <p:spTgt spid="788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685800" y="304800"/>
            <a:ext cx="8153400" cy="1064137"/>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4000"/>
              </a:lnSpc>
              <a:spcBef>
                <a:spcPct val="0"/>
              </a:spcBef>
              <a:spcAft>
                <a:spcPct val="0"/>
              </a:spcAft>
            </a:pPr>
            <a:r>
              <a:rPr lang="zh-CN" altLang="en-US" sz="2600" b="1" dirty="0" smtClean="0">
                <a:solidFill>
                  <a:srgbClr val="080808"/>
                </a:solidFill>
                <a:latin typeface="Times New Roman" panose="02020603050405020304" pitchFamily="18" charset="0"/>
                <a:ea typeface="楷体_GB2312" pitchFamily="49" charset="-122"/>
              </a:rPr>
              <a:t>        系统从一个状态</a:t>
            </a:r>
            <a:r>
              <a:rPr lang="en-US" altLang="zh-CN" sz="2600" b="1" dirty="0" smtClean="0">
                <a:solidFill>
                  <a:srgbClr val="080808"/>
                </a:solidFill>
                <a:latin typeface="Times New Roman" panose="02020603050405020304" pitchFamily="18" charset="0"/>
                <a:ea typeface="楷体_GB2312" pitchFamily="49" charset="-122"/>
              </a:rPr>
              <a:t>(</a:t>
            </a:r>
            <a:r>
              <a:rPr lang="zh-CN" altLang="en-US" sz="2600" b="1" dirty="0" smtClean="0">
                <a:solidFill>
                  <a:srgbClr val="080808"/>
                </a:solidFill>
                <a:latin typeface="Times New Roman" panose="02020603050405020304" pitchFamily="18" charset="0"/>
                <a:ea typeface="楷体_GB2312" pitchFamily="49" charset="-122"/>
              </a:rPr>
              <a:t>始态</a:t>
            </a:r>
            <a:r>
              <a:rPr lang="en-US" altLang="zh-CN" sz="2600" b="1" dirty="0" smtClean="0">
                <a:solidFill>
                  <a:srgbClr val="080808"/>
                </a:solidFill>
                <a:latin typeface="Times New Roman" panose="02020603050405020304" pitchFamily="18" charset="0"/>
                <a:ea typeface="楷体_GB2312" pitchFamily="49" charset="-122"/>
              </a:rPr>
              <a:t>)</a:t>
            </a:r>
            <a:r>
              <a:rPr lang="zh-CN" altLang="en-US" sz="2600" b="1" dirty="0" smtClean="0">
                <a:solidFill>
                  <a:srgbClr val="080808"/>
                </a:solidFill>
                <a:latin typeface="Times New Roman" panose="02020603050405020304" pitchFamily="18" charset="0"/>
                <a:ea typeface="楷体_GB2312" pitchFamily="49" charset="-122"/>
              </a:rPr>
              <a:t>变成另一个状态</a:t>
            </a:r>
            <a:r>
              <a:rPr lang="en-US" altLang="zh-CN" sz="2600" b="1" dirty="0" smtClean="0">
                <a:solidFill>
                  <a:srgbClr val="080808"/>
                </a:solidFill>
                <a:latin typeface="Times New Roman" panose="02020603050405020304" pitchFamily="18" charset="0"/>
                <a:ea typeface="楷体_GB2312" pitchFamily="49" charset="-122"/>
              </a:rPr>
              <a:t>(</a:t>
            </a:r>
            <a:r>
              <a:rPr lang="zh-CN" altLang="en-US" sz="2600" b="1" dirty="0" smtClean="0">
                <a:solidFill>
                  <a:srgbClr val="080808"/>
                </a:solidFill>
                <a:latin typeface="Times New Roman" panose="02020603050405020304" pitchFamily="18" charset="0"/>
                <a:ea typeface="楷体_GB2312" pitchFamily="49" charset="-122"/>
              </a:rPr>
              <a:t>终态</a:t>
            </a:r>
            <a:r>
              <a:rPr lang="en-US" altLang="zh-CN" sz="2600" b="1" dirty="0" smtClean="0">
                <a:solidFill>
                  <a:srgbClr val="080808"/>
                </a:solidFill>
                <a:latin typeface="Times New Roman" panose="02020603050405020304" pitchFamily="18" charset="0"/>
                <a:ea typeface="楷体_GB2312" pitchFamily="49" charset="-122"/>
              </a:rPr>
              <a:t>)</a:t>
            </a:r>
            <a:r>
              <a:rPr lang="zh-CN" altLang="en-US" sz="2600" b="1" dirty="0" smtClean="0">
                <a:solidFill>
                  <a:srgbClr val="080808"/>
                </a:solidFill>
                <a:latin typeface="Times New Roman" panose="02020603050405020304" pitchFamily="18" charset="0"/>
                <a:ea typeface="楷体_GB2312" pitchFamily="49" charset="-122"/>
              </a:rPr>
              <a:t>，可以采取不同的方式，而每一个具体的方式则称为</a:t>
            </a:r>
            <a:r>
              <a:rPr lang="zh-CN" altLang="en-US" sz="2600" b="1" dirty="0" smtClean="0">
                <a:solidFill>
                  <a:srgbClr val="CC3300"/>
                </a:solidFill>
                <a:latin typeface="Times New Roman" panose="02020603050405020304" pitchFamily="18" charset="0"/>
                <a:ea typeface="楷体_GB2312" pitchFamily="49" charset="-122"/>
              </a:rPr>
              <a:t>途径</a:t>
            </a:r>
            <a:r>
              <a:rPr lang="zh-CN" altLang="en-US" sz="2600" b="1" dirty="0" smtClean="0">
                <a:solidFill>
                  <a:srgbClr val="080808"/>
                </a:solidFill>
                <a:latin typeface="Times New Roman" panose="02020603050405020304" pitchFamily="18" charset="0"/>
                <a:ea typeface="楷体_GB2312" pitchFamily="49" charset="-122"/>
              </a:rPr>
              <a:t>。</a:t>
            </a:r>
            <a:endParaRPr lang="en-US" altLang="zh-CN" sz="2600" b="1" dirty="0" smtClean="0">
              <a:solidFill>
                <a:srgbClr val="080808"/>
              </a:solidFill>
              <a:latin typeface="Times New Roman" panose="02020603050405020304" pitchFamily="18" charset="0"/>
              <a:ea typeface="楷体_GB2312" pitchFamily="49" charset="-122"/>
            </a:endParaRPr>
          </a:p>
        </p:txBody>
      </p:sp>
      <p:grpSp>
        <p:nvGrpSpPr>
          <p:cNvPr id="2" name="组合 11"/>
          <p:cNvGrpSpPr/>
          <p:nvPr/>
        </p:nvGrpSpPr>
        <p:grpSpPr bwMode="auto">
          <a:xfrm>
            <a:off x="899592" y="1498288"/>
            <a:ext cx="7467600" cy="1160463"/>
            <a:chOff x="152400" y="1752600"/>
            <a:chExt cx="5870677" cy="1161103"/>
          </a:xfrm>
        </p:grpSpPr>
        <p:sp>
          <p:nvSpPr>
            <p:cNvPr id="80901" name="矩形 6"/>
            <p:cNvSpPr>
              <a:spLocks noChangeArrowheads="1"/>
            </p:cNvSpPr>
            <p:nvPr/>
          </p:nvSpPr>
          <p:spPr bwMode="auto">
            <a:xfrm>
              <a:off x="152400" y="1752600"/>
              <a:ext cx="1295400" cy="551392"/>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4000"/>
                </a:lnSpc>
                <a:spcBef>
                  <a:spcPct val="0"/>
                </a:spcBef>
                <a:spcAft>
                  <a:spcPct val="0"/>
                </a:spcAft>
              </a:pPr>
              <a:r>
                <a:rPr lang="zh-CN" altLang="en-US" sz="2600" b="1" smtClean="0">
                  <a:solidFill>
                    <a:srgbClr val="080808"/>
                  </a:solidFill>
                  <a:latin typeface="Times New Roman" panose="02020603050405020304" pitchFamily="18" charset="0"/>
                  <a:ea typeface="楷体_GB2312" pitchFamily="49" charset="-122"/>
                </a:rPr>
                <a:t>例如：</a:t>
              </a:r>
              <a:endParaRPr kumimoji="1" lang="zh-CN" altLang="en-US" sz="2600" b="1" smtClean="0">
                <a:solidFill>
                  <a:srgbClr val="080808"/>
                </a:solidFill>
                <a:latin typeface="Times New Roman" panose="02020603050405020304" pitchFamily="18" charset="0"/>
                <a:ea typeface="楷体_GB2312" pitchFamily="49" charset="-122"/>
              </a:endParaRPr>
            </a:p>
          </p:txBody>
        </p:sp>
        <p:sp>
          <p:nvSpPr>
            <p:cNvPr id="80902" name="矩形 7"/>
            <p:cNvSpPr>
              <a:spLocks noChangeArrowheads="1"/>
            </p:cNvSpPr>
            <p:nvPr/>
          </p:nvSpPr>
          <p:spPr bwMode="auto">
            <a:xfrm>
              <a:off x="1832077" y="1752603"/>
              <a:ext cx="4191000" cy="551392"/>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fontAlgn="base">
                <a:lnSpc>
                  <a:spcPts val="4000"/>
                </a:lnSpc>
                <a:spcBef>
                  <a:spcPct val="0"/>
                </a:spcBef>
                <a:spcAft>
                  <a:spcPct val="0"/>
                </a:spcAft>
              </a:pPr>
              <a:r>
                <a:rPr kumimoji="1" lang="zh-CN" altLang="en-US" sz="2600" b="1" dirty="0" smtClean="0">
                  <a:solidFill>
                    <a:srgbClr val="080808"/>
                  </a:solidFill>
                  <a:latin typeface="Times New Roman" panose="02020603050405020304" pitchFamily="18" charset="0"/>
                  <a:ea typeface="楷体_GB2312" pitchFamily="49" charset="-122"/>
                </a:rPr>
                <a:t>苏州（</a:t>
              </a:r>
              <a:r>
                <a:rPr lang="zh-CN" altLang="en-US" sz="2600" b="1" dirty="0" smtClean="0">
                  <a:solidFill>
                    <a:srgbClr val="080808"/>
                  </a:solidFill>
                  <a:latin typeface="Times New Roman" panose="02020603050405020304" pitchFamily="18" charset="0"/>
                  <a:ea typeface="楷体_GB2312" pitchFamily="49" charset="-122"/>
                </a:rPr>
                <a:t>状态</a:t>
              </a:r>
              <a:r>
                <a:rPr lang="en-US" altLang="zh-CN" sz="2600" b="1" dirty="0" smtClean="0">
                  <a:solidFill>
                    <a:srgbClr val="080808"/>
                  </a:solidFill>
                  <a:latin typeface="Times New Roman" panose="02020603050405020304" pitchFamily="18" charset="0"/>
                  <a:ea typeface="楷体_GB2312" pitchFamily="49" charset="-122"/>
                </a:rPr>
                <a:t>①</a:t>
              </a:r>
              <a:r>
                <a:rPr kumimoji="1" lang="zh-CN" altLang="en-US" sz="2600" b="1" dirty="0" smtClean="0">
                  <a:solidFill>
                    <a:srgbClr val="080808"/>
                  </a:solidFill>
                  <a:latin typeface="Times New Roman" panose="02020603050405020304" pitchFamily="18" charset="0"/>
                  <a:ea typeface="楷体_GB2312" pitchFamily="49" charset="-122"/>
                </a:rPr>
                <a:t>）</a:t>
              </a:r>
              <a:r>
                <a:rPr kumimoji="1" lang="en-US" altLang="zh-CN" sz="2600" b="1" dirty="0" smtClean="0">
                  <a:solidFill>
                    <a:srgbClr val="080808"/>
                  </a:solidFill>
                  <a:latin typeface="Times New Roman" panose="02020603050405020304" pitchFamily="18" charset="0"/>
                  <a:ea typeface="楷体_GB2312" pitchFamily="49" charset="-122"/>
                </a:rPr>
                <a:t>-------</a:t>
              </a:r>
              <a:r>
                <a:rPr kumimoji="1" lang="zh-CN" altLang="en-US" sz="2600" b="1" dirty="0" smtClean="0">
                  <a:solidFill>
                    <a:srgbClr val="080808"/>
                  </a:solidFill>
                  <a:latin typeface="Times New Roman" panose="02020603050405020304" pitchFamily="18" charset="0"/>
                  <a:ea typeface="楷体_GB2312" pitchFamily="49" charset="-122"/>
                </a:rPr>
                <a:t>无锡（</a:t>
              </a:r>
              <a:r>
                <a:rPr lang="zh-CN" altLang="en-US" sz="2600" b="1" dirty="0" smtClean="0">
                  <a:solidFill>
                    <a:srgbClr val="080808"/>
                  </a:solidFill>
                  <a:latin typeface="Times New Roman" panose="02020603050405020304" pitchFamily="18" charset="0"/>
                  <a:ea typeface="楷体_GB2312" pitchFamily="49" charset="-122"/>
                </a:rPr>
                <a:t>状态</a:t>
              </a:r>
              <a:r>
                <a:rPr lang="en-US" altLang="zh-CN" sz="2600" b="1" dirty="0" smtClean="0">
                  <a:solidFill>
                    <a:srgbClr val="080808"/>
                  </a:solidFill>
                  <a:latin typeface="Times New Roman" panose="02020603050405020304" pitchFamily="18" charset="0"/>
                  <a:ea typeface="楷体_GB2312" pitchFamily="49" charset="-122"/>
                </a:rPr>
                <a:t>②</a:t>
              </a:r>
              <a:r>
                <a:rPr kumimoji="1" lang="zh-CN" altLang="en-US" sz="2600" b="1" dirty="0" smtClean="0">
                  <a:solidFill>
                    <a:srgbClr val="080808"/>
                  </a:solidFill>
                  <a:latin typeface="Times New Roman" panose="02020603050405020304" pitchFamily="18" charset="0"/>
                  <a:ea typeface="楷体_GB2312" pitchFamily="49" charset="-122"/>
                </a:rPr>
                <a:t>）</a:t>
              </a:r>
              <a:endParaRPr kumimoji="1" lang="en-US" altLang="zh-CN" sz="2600" b="1" dirty="0" smtClean="0">
                <a:solidFill>
                  <a:srgbClr val="080808"/>
                </a:solidFill>
                <a:latin typeface="Times New Roman" panose="02020603050405020304" pitchFamily="18" charset="0"/>
                <a:ea typeface="楷体_GB2312" pitchFamily="49" charset="-122"/>
              </a:endParaRPr>
            </a:p>
          </p:txBody>
        </p:sp>
        <p:sp>
          <p:nvSpPr>
            <p:cNvPr id="80903" name="矩形 9"/>
            <p:cNvSpPr>
              <a:spLocks noChangeArrowheads="1"/>
            </p:cNvSpPr>
            <p:nvPr/>
          </p:nvSpPr>
          <p:spPr bwMode="auto">
            <a:xfrm>
              <a:off x="1709927" y="2362311"/>
              <a:ext cx="3852862" cy="551392"/>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fontAlgn="base">
                <a:lnSpc>
                  <a:spcPts val="4000"/>
                </a:lnSpc>
                <a:spcBef>
                  <a:spcPct val="0"/>
                </a:spcBef>
                <a:spcAft>
                  <a:spcPct val="0"/>
                </a:spcAft>
              </a:pPr>
              <a:r>
                <a:rPr kumimoji="1" lang="zh-CN" altLang="en-US" sz="2600" b="1" smtClean="0">
                  <a:solidFill>
                    <a:srgbClr val="080808"/>
                  </a:solidFill>
                  <a:latin typeface="Times New Roman" panose="02020603050405020304" pitchFamily="18" charset="0"/>
                  <a:ea typeface="楷体_GB2312" pitchFamily="49" charset="-122"/>
                </a:rPr>
                <a:t>都有多种</a:t>
              </a:r>
              <a:r>
                <a:rPr kumimoji="1" lang="zh-CN" altLang="en-US" sz="2600" b="1" smtClean="0">
                  <a:solidFill>
                    <a:srgbClr val="0000FF"/>
                  </a:solidFill>
                  <a:latin typeface="Times New Roman" panose="02020603050405020304" pitchFamily="18" charset="0"/>
                  <a:ea typeface="楷体_GB2312" pitchFamily="49" charset="-122"/>
                </a:rPr>
                <a:t>途径</a:t>
              </a:r>
              <a:r>
                <a:rPr kumimoji="1" lang="en-US" altLang="zh-CN" sz="2600" b="1" smtClean="0">
                  <a:solidFill>
                    <a:srgbClr val="0000FF"/>
                  </a:solidFill>
                  <a:latin typeface="Times New Roman" panose="02020603050405020304" pitchFamily="18" charset="0"/>
                  <a:ea typeface="楷体_GB2312" pitchFamily="49" charset="-122"/>
                </a:rPr>
                <a:t>/</a:t>
              </a:r>
              <a:r>
                <a:rPr kumimoji="1" lang="zh-CN" altLang="en-US" sz="2600" b="1" smtClean="0">
                  <a:solidFill>
                    <a:srgbClr val="0000FF"/>
                  </a:solidFill>
                  <a:latin typeface="Times New Roman" panose="02020603050405020304" pitchFamily="18" charset="0"/>
                  <a:ea typeface="楷体_GB2312" pitchFamily="49" charset="-122"/>
                </a:rPr>
                <a:t>路线</a:t>
              </a:r>
              <a:r>
                <a:rPr kumimoji="1" lang="zh-CN" altLang="en-US" sz="2600" b="1" smtClean="0">
                  <a:solidFill>
                    <a:srgbClr val="080808"/>
                  </a:solidFill>
                  <a:latin typeface="Times New Roman" panose="02020603050405020304" pitchFamily="18" charset="0"/>
                  <a:ea typeface="楷体_GB2312" pitchFamily="49" charset="-122"/>
                </a:rPr>
                <a:t>来完成</a:t>
              </a:r>
            </a:p>
          </p:txBody>
        </p:sp>
      </p:grpSp>
      <p:sp>
        <p:nvSpPr>
          <p:cNvPr id="8" name="矩形 7"/>
          <p:cNvSpPr>
            <a:spLocks noChangeArrowheads="1"/>
          </p:cNvSpPr>
          <p:nvPr/>
        </p:nvSpPr>
        <p:spPr bwMode="auto">
          <a:xfrm>
            <a:off x="546177" y="4581128"/>
            <a:ext cx="8001000" cy="1117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4000"/>
              </a:lnSpc>
              <a:spcBef>
                <a:spcPct val="0"/>
              </a:spcBef>
              <a:spcAft>
                <a:spcPct val="0"/>
              </a:spcAft>
            </a:pPr>
            <a:r>
              <a:rPr lang="zh-CN" altLang="en-US" sz="2600" b="1" smtClean="0">
                <a:solidFill>
                  <a:srgbClr val="CC3300"/>
                </a:solidFill>
                <a:latin typeface="Times New Roman" panose="02020603050405020304" pitchFamily="18" charset="0"/>
                <a:ea typeface="楷体_GB2312" pitchFamily="49" charset="-122"/>
              </a:rPr>
              <a:t>        </a:t>
            </a:r>
            <a:r>
              <a:rPr lang="zh-CN" altLang="en-US" sz="2600" b="1" smtClean="0">
                <a:solidFill>
                  <a:srgbClr val="080808"/>
                </a:solidFill>
                <a:latin typeface="Times New Roman" panose="02020603050405020304" pitchFamily="18" charset="0"/>
                <a:ea typeface="楷体_GB2312" pitchFamily="49" charset="-122"/>
              </a:rPr>
              <a:t>本章主要研究</a:t>
            </a:r>
            <a:r>
              <a:rPr lang="en-US" altLang="zh-CN" sz="2600" b="1" smtClean="0">
                <a:solidFill>
                  <a:srgbClr val="080808"/>
                </a:solidFill>
                <a:latin typeface="Times New Roman" panose="02020603050405020304" pitchFamily="18" charset="0"/>
                <a:ea typeface="楷体_GB2312" pitchFamily="49" charset="-122"/>
              </a:rPr>
              <a:t>——</a:t>
            </a:r>
            <a:r>
              <a:rPr lang="zh-CN" altLang="en-US" sz="2600" b="1" smtClean="0">
                <a:solidFill>
                  <a:srgbClr val="CC3300"/>
                </a:solidFill>
                <a:latin typeface="Times New Roman" panose="02020603050405020304" pitchFamily="18" charset="0"/>
                <a:ea typeface="楷体_GB2312" pitchFamily="49" charset="-122"/>
              </a:rPr>
              <a:t>封闭系统、等温过程，</a:t>
            </a:r>
            <a:r>
              <a:rPr lang="zh-CN" altLang="en-US" sz="2600" b="1" smtClean="0">
                <a:solidFill>
                  <a:srgbClr val="080808"/>
                </a:solidFill>
                <a:latin typeface="Times New Roman" panose="02020603050405020304" pitchFamily="18" charset="0"/>
                <a:ea typeface="楷体_GB2312" pitchFamily="49" charset="-122"/>
              </a:rPr>
              <a:t>不探讨具体的途径！</a:t>
            </a:r>
            <a:endParaRPr kumimoji="1" lang="zh-CN" altLang="en-US" sz="2600" b="1" smtClean="0">
              <a:solidFill>
                <a:srgbClr val="080808"/>
              </a:solidFill>
              <a:latin typeface="Times New Roman" panose="02020603050405020304" pitchFamily="18" charset="0"/>
              <a:ea typeface="楷体_GB2312" pitchFamily="49" charset="-122"/>
            </a:endParaRPr>
          </a:p>
        </p:txBody>
      </p:sp>
      <p:sp>
        <p:nvSpPr>
          <p:cNvPr id="3" name="矩形 2"/>
          <p:cNvSpPr/>
          <p:nvPr/>
        </p:nvSpPr>
        <p:spPr>
          <a:xfrm>
            <a:off x="665350" y="2852936"/>
            <a:ext cx="8083113" cy="1118255"/>
          </a:xfrm>
          <a:prstGeom prst="rect">
            <a:avLst/>
          </a:prstGeom>
        </p:spPr>
        <p:txBody>
          <a:bodyPr wrap="square">
            <a:spAutoFit/>
          </a:bodyPr>
          <a:lstStyle/>
          <a:p>
            <a:pPr fontAlgn="base">
              <a:lnSpc>
                <a:spcPts val="4000"/>
              </a:lnSpc>
              <a:spcBef>
                <a:spcPct val="0"/>
              </a:spcBef>
              <a:spcAft>
                <a:spcPct val="0"/>
              </a:spcAft>
            </a:pPr>
            <a:r>
              <a:rPr lang="zh-CN" altLang="en-US" sz="2600" b="1" dirty="0" smtClean="0">
                <a:solidFill>
                  <a:srgbClr val="080808"/>
                </a:solidFill>
                <a:latin typeface="Times New Roman" panose="02020603050405020304" pitchFamily="18" charset="0"/>
                <a:ea typeface="楷体_GB2312" pitchFamily="49" charset="-122"/>
              </a:rPr>
              <a:t>        对于</a:t>
            </a:r>
            <a:r>
              <a:rPr lang="zh-CN" altLang="en-US" sz="2600" b="1" dirty="0">
                <a:solidFill>
                  <a:srgbClr val="080808"/>
                </a:solidFill>
                <a:latin typeface="Times New Roman" panose="02020603050405020304" pitchFamily="18" charset="0"/>
                <a:ea typeface="楷体_GB2312" pitchFamily="49" charset="-122"/>
              </a:rPr>
              <a:t>化学反应来说，途径就是反应的类型（化合、加成、复分解</a:t>
            </a:r>
            <a:r>
              <a:rPr lang="en-US" altLang="zh-CN" sz="2600" b="1" dirty="0">
                <a:solidFill>
                  <a:srgbClr val="080808"/>
                </a:solidFill>
                <a:latin typeface="Times New Roman" panose="02020603050405020304" pitchFamily="18" charset="0"/>
                <a:ea typeface="楷体_GB2312" pitchFamily="49" charset="-122"/>
              </a:rPr>
              <a:t>…</a:t>
            </a:r>
            <a:r>
              <a:rPr lang="zh-CN" altLang="en-US" sz="2600" b="1" dirty="0">
                <a:solidFill>
                  <a:srgbClr val="080808"/>
                </a:solidFill>
                <a:latin typeface="Times New Roman" panose="02020603050405020304" pitchFamily="18" charset="0"/>
                <a:ea typeface="楷体_GB2312" pitchFamily="49" charset="-122"/>
              </a:rPr>
              <a:t>）</a:t>
            </a:r>
            <a:endParaRPr lang="en-US" altLang="zh-CN" sz="2600" b="1" dirty="0">
              <a:solidFill>
                <a:srgbClr val="080808"/>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5"/>
          <p:cNvSpPr>
            <a:spLocks noChangeArrowheads="1"/>
          </p:cNvSpPr>
          <p:nvPr/>
        </p:nvSpPr>
        <p:spPr bwMode="auto">
          <a:xfrm>
            <a:off x="443205" y="554412"/>
            <a:ext cx="8534400" cy="14779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3600"/>
              </a:lnSpc>
              <a:spcBef>
                <a:spcPct val="0"/>
              </a:spcBef>
              <a:spcAft>
                <a:spcPct val="0"/>
              </a:spcAft>
            </a:pPr>
            <a:r>
              <a:rPr kumimoji="1" lang="en-US" altLang="zh-CN" sz="2600" b="1" smtClean="0">
                <a:solidFill>
                  <a:srgbClr val="000000"/>
                </a:solidFill>
                <a:latin typeface="Times New Roman" panose="02020603050405020304" pitchFamily="18" charset="0"/>
                <a:ea typeface="幼圆" panose="02010509060101010101" pitchFamily="49" charset="-122"/>
              </a:rPr>
              <a:t>         </a:t>
            </a:r>
            <a:r>
              <a:rPr lang="zh-CN" altLang="en-US" sz="2600" b="1" smtClean="0">
                <a:solidFill>
                  <a:srgbClr val="000000"/>
                </a:solidFill>
                <a:latin typeface="Times New Roman" panose="02020603050405020304" pitchFamily="18" charset="0"/>
                <a:ea typeface="楷体_GB2312" pitchFamily="49" charset="-122"/>
              </a:rPr>
              <a:t>决定</a:t>
            </a:r>
            <a:r>
              <a:rPr kumimoji="1" lang="zh-CN" altLang="en-US" sz="2600" b="1" smtClean="0">
                <a:solidFill>
                  <a:srgbClr val="000000"/>
                </a:solidFill>
                <a:latin typeface="Times New Roman" panose="02020603050405020304" pitchFamily="18" charset="0"/>
                <a:ea typeface="楷体_GB2312" pitchFamily="49" charset="-122"/>
              </a:rPr>
              <a:t>系统</a:t>
            </a:r>
            <a:r>
              <a:rPr lang="zh-CN" altLang="en-US" sz="2600" b="1" smtClean="0">
                <a:solidFill>
                  <a:srgbClr val="000000"/>
                </a:solidFill>
                <a:latin typeface="Times New Roman" panose="02020603050405020304" pitchFamily="18" charset="0"/>
                <a:ea typeface="楷体_GB2312" pitchFamily="49" charset="-122"/>
              </a:rPr>
              <a:t>热力学状态</a:t>
            </a:r>
            <a:r>
              <a:rPr kumimoji="1" lang="zh-CN" altLang="en-US" sz="2600" b="1" smtClean="0">
                <a:solidFill>
                  <a:srgbClr val="000000"/>
                </a:solidFill>
                <a:latin typeface="Times New Roman" panose="02020603050405020304" pitchFamily="18" charset="0"/>
                <a:ea typeface="楷体_GB2312" pitchFamily="49" charset="-122"/>
              </a:rPr>
              <a:t>的物理量</a:t>
            </a:r>
            <a:r>
              <a:rPr kumimoji="1" lang="en-US" altLang="zh-CN" sz="2600" b="1" smtClean="0">
                <a:solidFill>
                  <a:srgbClr val="000000"/>
                </a:solidFill>
                <a:latin typeface="Times New Roman" panose="02020603050405020304" pitchFamily="18" charset="0"/>
                <a:ea typeface="楷体_GB2312" pitchFamily="49" charset="-122"/>
              </a:rPr>
              <a:t>X</a:t>
            </a:r>
            <a:r>
              <a:rPr kumimoji="1" lang="zh-CN" altLang="en-US" sz="2600" b="1" smtClean="0">
                <a:solidFill>
                  <a:srgbClr val="000000"/>
                </a:solidFill>
                <a:latin typeface="Times New Roman" panose="02020603050405020304" pitchFamily="18" charset="0"/>
                <a:ea typeface="楷体_GB2312" pitchFamily="49" charset="-122"/>
              </a:rPr>
              <a:t>称为</a:t>
            </a:r>
            <a:r>
              <a:rPr kumimoji="1" lang="zh-CN" altLang="en-US" sz="2600" b="1" i="1" smtClean="0">
                <a:solidFill>
                  <a:srgbClr val="C00000"/>
                </a:solidFill>
                <a:latin typeface="Times New Roman" panose="02020603050405020304" pitchFamily="18" charset="0"/>
                <a:ea typeface="楷体_GB2312" pitchFamily="49" charset="-122"/>
              </a:rPr>
              <a:t>状态函数</a:t>
            </a:r>
            <a:r>
              <a:rPr kumimoji="1" lang="en-US" altLang="zh-CN" sz="2600" b="1" i="1" smtClean="0">
                <a:solidFill>
                  <a:srgbClr val="C00000"/>
                </a:solidFill>
                <a:latin typeface="Times New Roman" panose="02020603050405020304" pitchFamily="18" charset="0"/>
                <a:ea typeface="楷体_GB2312" pitchFamily="49" charset="-122"/>
              </a:rPr>
              <a:t>(state function)</a:t>
            </a:r>
            <a:r>
              <a:rPr kumimoji="1" lang="zh-CN" altLang="en-US" sz="2600" b="1" smtClean="0">
                <a:solidFill>
                  <a:srgbClr val="000000"/>
                </a:solidFill>
                <a:latin typeface="Times New Roman" panose="02020603050405020304" pitchFamily="18" charset="0"/>
                <a:ea typeface="楷体_GB2312" pitchFamily="49" charset="-122"/>
              </a:rPr>
              <a:t>，有</a:t>
            </a:r>
            <a:r>
              <a:rPr kumimoji="1" lang="en-US" altLang="zh-CN" sz="2600" b="1" smtClean="0">
                <a:solidFill>
                  <a:srgbClr val="000000"/>
                </a:solidFill>
                <a:latin typeface="Times New Roman" panose="02020603050405020304" pitchFamily="18" charset="0"/>
                <a:ea typeface="楷体_GB2312" pitchFamily="49" charset="-122"/>
              </a:rPr>
              <a:t>:</a:t>
            </a:r>
            <a:r>
              <a:rPr kumimoji="1" lang="zh-CN" altLang="en-US" sz="2600" b="1" smtClean="0">
                <a:solidFill>
                  <a:srgbClr val="000000"/>
                </a:solidFill>
                <a:latin typeface="Times New Roman" panose="02020603050405020304" pitchFamily="18" charset="0"/>
                <a:ea typeface="楷体_GB2312" pitchFamily="49" charset="-122"/>
              </a:rPr>
              <a:t>物质的量</a:t>
            </a:r>
            <a:r>
              <a:rPr kumimoji="1" lang="en-US" altLang="zh-CN" sz="2600" b="1" smtClean="0">
                <a:solidFill>
                  <a:srgbClr val="000000"/>
                </a:solidFill>
                <a:latin typeface="Times New Roman" panose="02020603050405020304" pitchFamily="18" charset="0"/>
                <a:ea typeface="楷体_GB2312" pitchFamily="49" charset="-122"/>
              </a:rPr>
              <a:t>n</a:t>
            </a:r>
            <a:r>
              <a:rPr kumimoji="1" lang="zh-CN" altLang="en-US" sz="2600" b="1" smtClean="0">
                <a:solidFill>
                  <a:srgbClr val="000000"/>
                </a:solidFill>
                <a:latin typeface="Times New Roman" panose="02020603050405020304" pitchFamily="18" charset="0"/>
                <a:ea typeface="楷体_GB2312" pitchFamily="49" charset="-122"/>
              </a:rPr>
              <a:t>、压力</a:t>
            </a:r>
            <a:r>
              <a:rPr kumimoji="1" lang="en-US" altLang="zh-CN" sz="2600" b="1" smtClean="0">
                <a:solidFill>
                  <a:srgbClr val="000000"/>
                </a:solidFill>
                <a:latin typeface="Times New Roman" panose="02020603050405020304" pitchFamily="18" charset="0"/>
                <a:ea typeface="楷体_GB2312" pitchFamily="49" charset="-122"/>
              </a:rPr>
              <a:t>p</a:t>
            </a:r>
            <a:r>
              <a:rPr kumimoji="1" lang="zh-CN" altLang="en-US" sz="2600" b="1" smtClean="0">
                <a:solidFill>
                  <a:srgbClr val="000000"/>
                </a:solidFill>
                <a:latin typeface="Times New Roman" panose="02020603050405020304" pitchFamily="18" charset="0"/>
                <a:ea typeface="楷体_GB2312" pitchFamily="49" charset="-122"/>
              </a:rPr>
              <a:t>、体积</a:t>
            </a:r>
            <a:r>
              <a:rPr kumimoji="1" lang="en-US" altLang="zh-CN" sz="2600" b="1" smtClean="0">
                <a:solidFill>
                  <a:srgbClr val="000000"/>
                </a:solidFill>
                <a:latin typeface="Times New Roman" panose="02020603050405020304" pitchFamily="18" charset="0"/>
                <a:ea typeface="楷体_GB2312" pitchFamily="49" charset="-122"/>
              </a:rPr>
              <a:t>V</a:t>
            </a:r>
            <a:r>
              <a:rPr kumimoji="1" lang="zh-CN" altLang="en-US" sz="2600" b="1" smtClean="0">
                <a:solidFill>
                  <a:srgbClr val="000000"/>
                </a:solidFill>
                <a:latin typeface="Times New Roman" panose="02020603050405020304" pitchFamily="18" charset="0"/>
                <a:ea typeface="楷体_GB2312" pitchFamily="49" charset="-122"/>
              </a:rPr>
              <a:t>、温度</a:t>
            </a:r>
            <a:r>
              <a:rPr kumimoji="1" lang="en-US" altLang="zh-CN" sz="2600" b="1" smtClean="0">
                <a:solidFill>
                  <a:srgbClr val="000000"/>
                </a:solidFill>
                <a:latin typeface="Times New Roman" panose="02020603050405020304" pitchFamily="18" charset="0"/>
                <a:ea typeface="楷体_GB2312" pitchFamily="49" charset="-122"/>
              </a:rPr>
              <a:t>T</a:t>
            </a:r>
            <a:r>
              <a:rPr kumimoji="1" lang="zh-CN" altLang="en-US" sz="2600" b="1" smtClean="0">
                <a:solidFill>
                  <a:srgbClr val="000000"/>
                </a:solidFill>
                <a:latin typeface="Times New Roman" panose="02020603050405020304" pitchFamily="18" charset="0"/>
                <a:ea typeface="楷体_GB2312" pitchFamily="49" charset="-122"/>
              </a:rPr>
              <a:t>、</a:t>
            </a:r>
            <a:r>
              <a:rPr kumimoji="1" lang="en-US" altLang="zh-CN" sz="2600" b="1" smtClean="0">
                <a:solidFill>
                  <a:srgbClr val="000000"/>
                </a:solidFill>
                <a:latin typeface="Times New Roman" panose="02020603050405020304" pitchFamily="18" charset="0"/>
                <a:ea typeface="楷体_GB2312" pitchFamily="49" charset="-122"/>
              </a:rPr>
              <a:t>U</a:t>
            </a:r>
            <a:r>
              <a:rPr kumimoji="1" lang="zh-CN" altLang="en-US" sz="2600" b="1" smtClean="0">
                <a:solidFill>
                  <a:srgbClr val="000000"/>
                </a:solidFill>
                <a:latin typeface="Times New Roman" panose="02020603050405020304" pitchFamily="18" charset="0"/>
                <a:ea typeface="楷体_GB2312" pitchFamily="49" charset="-122"/>
              </a:rPr>
              <a:t>、</a:t>
            </a:r>
            <a:r>
              <a:rPr kumimoji="1" lang="en-US" altLang="zh-CN" sz="2600" b="1" smtClean="0">
                <a:solidFill>
                  <a:srgbClr val="000000"/>
                </a:solidFill>
                <a:latin typeface="Times New Roman" panose="02020603050405020304" pitchFamily="18" charset="0"/>
                <a:ea typeface="楷体_GB2312" pitchFamily="49" charset="-122"/>
              </a:rPr>
              <a:t>H</a:t>
            </a:r>
            <a:r>
              <a:rPr kumimoji="1" lang="zh-CN" altLang="en-US" sz="2600" b="1" smtClean="0">
                <a:solidFill>
                  <a:srgbClr val="000000"/>
                </a:solidFill>
                <a:latin typeface="Times New Roman" panose="02020603050405020304" pitchFamily="18" charset="0"/>
                <a:ea typeface="楷体_GB2312" pitchFamily="49" charset="-122"/>
              </a:rPr>
              <a:t>、</a:t>
            </a:r>
            <a:r>
              <a:rPr kumimoji="1" lang="en-US" altLang="zh-CN" sz="2600" b="1" smtClean="0">
                <a:solidFill>
                  <a:srgbClr val="000000"/>
                </a:solidFill>
                <a:latin typeface="Times New Roman" panose="02020603050405020304" pitchFamily="18" charset="0"/>
                <a:ea typeface="楷体_GB2312" pitchFamily="49" charset="-122"/>
              </a:rPr>
              <a:t>S</a:t>
            </a:r>
            <a:r>
              <a:rPr kumimoji="1" lang="zh-CN" altLang="en-US" sz="2600" b="1" smtClean="0">
                <a:solidFill>
                  <a:srgbClr val="000000"/>
                </a:solidFill>
                <a:latin typeface="Times New Roman" panose="02020603050405020304" pitchFamily="18" charset="0"/>
                <a:ea typeface="楷体_GB2312" pitchFamily="49" charset="-122"/>
              </a:rPr>
              <a:t>、</a:t>
            </a:r>
            <a:r>
              <a:rPr kumimoji="1" lang="en-US" altLang="zh-CN" sz="2600" b="1" smtClean="0">
                <a:solidFill>
                  <a:srgbClr val="000000"/>
                </a:solidFill>
                <a:latin typeface="Times New Roman" panose="02020603050405020304" pitchFamily="18" charset="0"/>
                <a:ea typeface="楷体_GB2312" pitchFamily="49" charset="-122"/>
              </a:rPr>
              <a:t>G</a:t>
            </a:r>
            <a:r>
              <a:rPr kumimoji="1" lang="zh-CN" altLang="en-US" sz="2600" b="1" smtClean="0">
                <a:solidFill>
                  <a:srgbClr val="000000"/>
                </a:solidFill>
                <a:latin typeface="Times New Roman" panose="02020603050405020304" pitchFamily="18" charset="0"/>
                <a:ea typeface="楷体_GB2312" pitchFamily="49" charset="-122"/>
              </a:rPr>
              <a:t>（后面陆续要学到的四个重要状态函数）。</a:t>
            </a:r>
            <a:endParaRPr kumimoji="1" lang="en-US" altLang="zh-CN" sz="2600" b="1" smtClean="0">
              <a:solidFill>
                <a:srgbClr val="000000"/>
              </a:solidFill>
              <a:latin typeface="Times New Roman" panose="02020603050405020304" pitchFamily="18" charset="0"/>
              <a:ea typeface="楷体_GB2312" pitchFamily="49" charset="-122"/>
            </a:endParaRPr>
          </a:p>
        </p:txBody>
      </p:sp>
      <p:sp>
        <p:nvSpPr>
          <p:cNvPr id="50184" name="矩形 8"/>
          <p:cNvSpPr>
            <a:spLocks noChangeArrowheads="1"/>
          </p:cNvSpPr>
          <p:nvPr/>
        </p:nvSpPr>
        <p:spPr bwMode="auto">
          <a:xfrm>
            <a:off x="55032" y="116632"/>
            <a:ext cx="2362200" cy="412750"/>
          </a:xfrm>
          <a:prstGeom prst="rect">
            <a:avLst/>
          </a:prstGeom>
          <a:solidFill>
            <a:srgbClr val="99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ct val="80000"/>
              </a:lnSpc>
              <a:spcBef>
                <a:spcPct val="50000"/>
              </a:spcBef>
              <a:spcAft>
                <a:spcPct val="0"/>
              </a:spcAft>
            </a:pPr>
            <a:r>
              <a:rPr kumimoji="1" lang="en-US" altLang="zh-CN" sz="2600" b="1" i="1" smtClean="0">
                <a:solidFill>
                  <a:srgbClr val="CC3300"/>
                </a:solidFill>
                <a:latin typeface="Times New Roman" panose="02020603050405020304" pitchFamily="18" charset="0"/>
                <a:ea typeface="楷体_GB2312" pitchFamily="49" charset="-122"/>
              </a:rPr>
              <a:t>3</a:t>
            </a:r>
            <a:r>
              <a:rPr kumimoji="1" lang="zh-CN" altLang="en-US" sz="2600" b="1" i="1" smtClean="0">
                <a:solidFill>
                  <a:srgbClr val="CC3300"/>
                </a:solidFill>
                <a:latin typeface="Times New Roman" panose="02020603050405020304" pitchFamily="18" charset="0"/>
                <a:ea typeface="楷体_GB2312" pitchFamily="49" charset="-122"/>
              </a:rPr>
              <a:t>、状态函数</a:t>
            </a:r>
            <a:endParaRPr kumimoji="1" lang="zh-CN" altLang="en-US" sz="2600" b="1" i="1" smtClean="0">
              <a:solidFill>
                <a:srgbClr val="0000FF"/>
              </a:solidFill>
              <a:latin typeface="Times New Roman" panose="02020603050405020304" pitchFamily="18" charset="0"/>
              <a:ea typeface="楷体_GB2312" pitchFamily="49" charset="-122"/>
            </a:endParaRPr>
          </a:p>
        </p:txBody>
      </p:sp>
      <p:sp>
        <p:nvSpPr>
          <p:cNvPr id="12" name="Rectangle 6"/>
          <p:cNvSpPr>
            <a:spLocks noChangeArrowheads="1"/>
          </p:cNvSpPr>
          <p:nvPr/>
        </p:nvSpPr>
        <p:spPr bwMode="auto">
          <a:xfrm>
            <a:off x="248874" y="2171328"/>
            <a:ext cx="2971800" cy="511175"/>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3600"/>
              </a:lnSpc>
              <a:spcBef>
                <a:spcPct val="0"/>
              </a:spcBef>
              <a:spcAft>
                <a:spcPct val="0"/>
              </a:spcAft>
            </a:pPr>
            <a:r>
              <a:rPr kumimoji="1" lang="zh-CN" altLang="en-US" sz="2600" b="1" smtClean="0">
                <a:solidFill>
                  <a:srgbClr val="000000"/>
                </a:solidFill>
                <a:ea typeface="楷体_GB2312" pitchFamily="49" charset="-122"/>
              </a:rPr>
              <a:t>状态函数的特点：</a:t>
            </a:r>
          </a:p>
        </p:txBody>
      </p:sp>
      <p:sp>
        <p:nvSpPr>
          <p:cNvPr id="13" name="Text Box 7"/>
          <p:cNvSpPr txBox="1">
            <a:spLocks noChangeArrowheads="1"/>
          </p:cNvSpPr>
          <p:nvPr/>
        </p:nvSpPr>
        <p:spPr bwMode="auto">
          <a:xfrm>
            <a:off x="934674" y="2780928"/>
            <a:ext cx="7543800" cy="55403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eaLnBrk="0" fontAlgn="base" hangingPunct="0">
              <a:lnSpc>
                <a:spcPts val="3600"/>
              </a:lnSpc>
              <a:spcBef>
                <a:spcPct val="0"/>
              </a:spcBef>
              <a:spcAft>
                <a:spcPct val="0"/>
              </a:spcAft>
            </a:pPr>
            <a:r>
              <a:rPr lang="en-US" altLang="zh-CN" sz="2600" i="1" smtClean="0">
                <a:solidFill>
                  <a:srgbClr val="C00000"/>
                </a:solidFill>
              </a:rPr>
              <a:t>A</a:t>
            </a:r>
            <a:r>
              <a:rPr lang="zh-CN" altLang="en-US" sz="2600" i="1" smtClean="0">
                <a:solidFill>
                  <a:srgbClr val="C00000"/>
                </a:solidFill>
              </a:rPr>
              <a:t>、</a:t>
            </a:r>
            <a:r>
              <a:rPr lang="en-US" altLang="zh-CN" sz="2600" smtClean="0">
                <a:solidFill>
                  <a:srgbClr val="000000"/>
                </a:solidFill>
              </a:rPr>
              <a:t> </a:t>
            </a:r>
            <a:r>
              <a:rPr lang="zh-CN" altLang="en-US" sz="2600" smtClean="0">
                <a:solidFill>
                  <a:srgbClr val="000000"/>
                </a:solidFill>
                <a:latin typeface="楷体_GB2312" pitchFamily="49" charset="-122"/>
              </a:rPr>
              <a:t>系统的状态一确定，各状态函数均有确定值。</a:t>
            </a:r>
          </a:p>
        </p:txBody>
      </p:sp>
      <p:sp>
        <p:nvSpPr>
          <p:cNvPr id="14" name="Text Box 8"/>
          <p:cNvSpPr txBox="1">
            <a:spLocks noChangeArrowheads="1"/>
          </p:cNvSpPr>
          <p:nvPr/>
        </p:nvSpPr>
        <p:spPr bwMode="auto">
          <a:xfrm>
            <a:off x="325074" y="3390528"/>
            <a:ext cx="8382000" cy="14779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eaLnBrk="0" fontAlgn="base" hangingPunct="0">
              <a:lnSpc>
                <a:spcPts val="3600"/>
              </a:lnSpc>
              <a:spcBef>
                <a:spcPct val="0"/>
              </a:spcBef>
              <a:spcAft>
                <a:spcPct val="0"/>
              </a:spcAft>
            </a:pPr>
            <a:r>
              <a:rPr kumimoji="0" lang="en-US" altLang="zh-CN" sz="2600" dirty="0" smtClean="0">
                <a:solidFill>
                  <a:srgbClr val="800000"/>
                </a:solidFill>
              </a:rPr>
              <a:t>        </a:t>
            </a:r>
            <a:r>
              <a:rPr kumimoji="0" lang="en-US" altLang="zh-CN" sz="2600" i="1" dirty="0" smtClean="0">
                <a:solidFill>
                  <a:srgbClr val="C00000"/>
                </a:solidFill>
              </a:rPr>
              <a:t>B</a:t>
            </a:r>
            <a:r>
              <a:rPr kumimoji="0" lang="zh-CN" altLang="en-US" sz="2600" i="1" dirty="0" smtClean="0">
                <a:solidFill>
                  <a:srgbClr val="C00000"/>
                </a:solidFill>
              </a:rPr>
              <a:t>、</a:t>
            </a:r>
            <a:r>
              <a:rPr lang="zh-CN" altLang="en-US" sz="2600" i="1" dirty="0" smtClean="0">
                <a:solidFill>
                  <a:srgbClr val="800000"/>
                </a:solidFill>
              </a:rPr>
              <a:t>系统状态发生变化时，各状态函数的改变量</a:t>
            </a:r>
            <a:r>
              <a:rPr lang="en-US" altLang="zh-CN" sz="2600" i="1" dirty="0" smtClean="0">
                <a:solidFill>
                  <a:srgbClr val="800000"/>
                </a:solidFill>
              </a:rPr>
              <a:t>(</a:t>
            </a:r>
            <a:r>
              <a:rPr lang="en-US" altLang="en-US" sz="2600" i="1" dirty="0" smtClean="0">
                <a:solidFill>
                  <a:srgbClr val="800000"/>
                </a:solidFill>
              </a:rPr>
              <a:t>△</a:t>
            </a:r>
            <a:r>
              <a:rPr lang="en-US" altLang="zh-CN" sz="2600" i="1" dirty="0" smtClean="0">
                <a:solidFill>
                  <a:srgbClr val="800000"/>
                </a:solidFill>
              </a:rPr>
              <a:t>X)</a:t>
            </a:r>
            <a:r>
              <a:rPr lang="zh-CN" altLang="en-US" sz="2600" i="1" dirty="0" smtClean="0">
                <a:solidFill>
                  <a:srgbClr val="800000"/>
                </a:solidFill>
              </a:rPr>
              <a:t>，只与始态</a:t>
            </a:r>
            <a:r>
              <a:rPr lang="en-US" altLang="zh-CN" sz="2600" i="1" dirty="0" smtClean="0">
                <a:solidFill>
                  <a:srgbClr val="800000"/>
                </a:solidFill>
              </a:rPr>
              <a:t>(X</a:t>
            </a:r>
            <a:r>
              <a:rPr lang="en-US" altLang="zh-CN" sz="2600" i="1" baseline="-25000" dirty="0" smtClean="0">
                <a:solidFill>
                  <a:srgbClr val="800000"/>
                </a:solidFill>
              </a:rPr>
              <a:t>1</a:t>
            </a:r>
            <a:r>
              <a:rPr lang="en-US" altLang="zh-CN" sz="2600" i="1" dirty="0" smtClean="0">
                <a:solidFill>
                  <a:srgbClr val="800000"/>
                </a:solidFill>
              </a:rPr>
              <a:t>)</a:t>
            </a:r>
            <a:r>
              <a:rPr lang="zh-CN" altLang="en-US" sz="2600" i="1" dirty="0" smtClean="0">
                <a:solidFill>
                  <a:srgbClr val="800000"/>
                </a:solidFill>
              </a:rPr>
              <a:t>和终态</a:t>
            </a:r>
            <a:r>
              <a:rPr lang="en-US" altLang="zh-CN" sz="2600" i="1" dirty="0" smtClean="0">
                <a:solidFill>
                  <a:srgbClr val="800000"/>
                </a:solidFill>
              </a:rPr>
              <a:t>(X</a:t>
            </a:r>
            <a:r>
              <a:rPr lang="en-US" altLang="zh-CN" sz="2600" i="1" baseline="-25000" dirty="0" smtClean="0">
                <a:solidFill>
                  <a:srgbClr val="800000"/>
                </a:solidFill>
              </a:rPr>
              <a:t>2</a:t>
            </a:r>
            <a:r>
              <a:rPr lang="en-US" altLang="zh-CN" sz="2600" i="1" dirty="0" smtClean="0">
                <a:solidFill>
                  <a:srgbClr val="800000"/>
                </a:solidFill>
              </a:rPr>
              <a:t>)</a:t>
            </a:r>
            <a:r>
              <a:rPr lang="zh-CN" altLang="en-US" sz="2600" i="1" dirty="0" smtClean="0">
                <a:solidFill>
                  <a:srgbClr val="800000"/>
                </a:solidFill>
              </a:rPr>
              <a:t>有关，与变化的途径无关。</a:t>
            </a:r>
          </a:p>
        </p:txBody>
      </p:sp>
      <p:sp>
        <p:nvSpPr>
          <p:cNvPr id="15" name="Text Box 9"/>
          <p:cNvSpPr txBox="1">
            <a:spLocks noChangeArrowheads="1"/>
          </p:cNvSpPr>
          <p:nvPr/>
        </p:nvSpPr>
        <p:spPr bwMode="auto">
          <a:xfrm>
            <a:off x="2417232" y="4914528"/>
            <a:ext cx="2895600" cy="554038"/>
          </a:xfrm>
          <a:prstGeom prst="rect">
            <a:avLst/>
          </a:prstGeom>
          <a:solidFill>
            <a:schemeClr val="accent5">
              <a:lumMod val="90000"/>
            </a:schemeClr>
          </a:solidFill>
          <a:ln w="9525">
            <a:noFill/>
            <a:miter lim="800000"/>
          </a:ln>
        </p:spPr>
        <p:txBody>
          <a:bodyPr lIns="92075" tIns="46038" rIns="92075" bIns="46038">
            <a:spAutoFit/>
          </a:bodyPr>
          <a:lstStyle/>
          <a:p>
            <a:pPr algn="ctr" eaLnBrk="0" fontAlgn="base" hangingPunct="0">
              <a:lnSpc>
                <a:spcPts val="3600"/>
              </a:lnSpc>
              <a:spcBef>
                <a:spcPct val="0"/>
              </a:spcBef>
              <a:spcAft>
                <a:spcPct val="0"/>
              </a:spcAft>
              <a:defRPr/>
            </a:pPr>
            <a:r>
              <a:rPr kumimoji="1" lang="en-US" altLang="en-US" sz="3000" b="1" i="1">
                <a:solidFill>
                  <a:srgbClr val="FF0000"/>
                </a:solidFill>
                <a:latin typeface="Times New Roman" panose="02020603050405020304" pitchFamily="18" charset="0"/>
                <a:ea typeface="楷体_GB2312" pitchFamily="49" charset="-122"/>
              </a:rPr>
              <a:t>△</a:t>
            </a:r>
            <a:r>
              <a:rPr kumimoji="1" lang="en-US" altLang="zh-CN" sz="3000" b="1" i="1">
                <a:solidFill>
                  <a:srgbClr val="FF0000"/>
                </a:solidFill>
                <a:latin typeface="Times New Roman" panose="02020603050405020304" pitchFamily="18" charset="0"/>
                <a:ea typeface="楷体_GB2312" pitchFamily="49" charset="-122"/>
              </a:rPr>
              <a:t>X = X</a:t>
            </a:r>
            <a:r>
              <a:rPr kumimoji="1" lang="en-US" altLang="zh-CN" sz="3000" b="1" i="1" baseline="-25000">
                <a:solidFill>
                  <a:srgbClr val="FF0000"/>
                </a:solidFill>
                <a:latin typeface="Times New Roman" panose="02020603050405020304" pitchFamily="18" charset="0"/>
                <a:ea typeface="楷体_GB2312" pitchFamily="49" charset="-122"/>
              </a:rPr>
              <a:t>2</a:t>
            </a:r>
            <a:r>
              <a:rPr kumimoji="1" lang="en-US" altLang="en-US" sz="3000" b="1" i="1">
                <a:solidFill>
                  <a:srgbClr val="FF0000"/>
                </a:solidFill>
                <a:latin typeface="Times New Roman" panose="02020603050405020304" pitchFamily="18" charset="0"/>
                <a:ea typeface="楷体_GB2312" pitchFamily="49" charset="-122"/>
              </a:rPr>
              <a:t>－</a:t>
            </a:r>
            <a:r>
              <a:rPr kumimoji="1" lang="en-US" altLang="zh-CN" sz="3000" b="1" i="1">
                <a:solidFill>
                  <a:srgbClr val="FF0000"/>
                </a:solidFill>
                <a:latin typeface="Times New Roman" panose="02020603050405020304" pitchFamily="18" charset="0"/>
                <a:ea typeface="楷体_GB2312" pitchFamily="49" charset="-122"/>
              </a:rPr>
              <a:t>X</a:t>
            </a:r>
            <a:r>
              <a:rPr kumimoji="1" lang="en-US" altLang="zh-CN" sz="3000" b="1" i="1" baseline="-25000">
                <a:solidFill>
                  <a:srgbClr val="FF0000"/>
                </a:solidFill>
                <a:latin typeface="Times New Roman" panose="02020603050405020304" pitchFamily="18" charset="0"/>
                <a:ea typeface="楷体_GB2312" pitchFamily="49" charset="-122"/>
              </a:rPr>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184"/>
                                        </p:tgtEl>
                                        <p:attrNameLst>
                                          <p:attrName>style.visibility</p:attrName>
                                        </p:attrNameLst>
                                      </p:cBhvr>
                                      <p:to>
                                        <p:strVal val="visible"/>
                                      </p:to>
                                    </p:set>
                                    <p:animEffect transition="in" filter="blinds(horizontal)">
                                      <p:cBhvr>
                                        <p:cTn id="7" dur="500"/>
                                        <p:tgtEl>
                                          <p:spTgt spid="50184"/>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amond(i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amond(in)">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amond(in)">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diamond(in)">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diamond(in)">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50184" grpId="0" animBg="1"/>
      <p:bldP spid="12" grpId="0" animBg="1"/>
      <p:bldP spid="13" grpId="0" animBg="1"/>
      <p:bldP spid="14"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39269" name="Object 5"/>
          <p:cNvGraphicFramePr>
            <a:graphicFrameLocks noGrp="1" noChangeAspect="1"/>
          </p:cNvGraphicFramePr>
          <p:nvPr/>
        </p:nvGraphicFramePr>
        <p:xfrm>
          <a:off x="2247900" y="404664"/>
          <a:ext cx="4648200" cy="2667000"/>
        </p:xfrm>
        <a:graphic>
          <a:graphicData uri="http://schemas.openxmlformats.org/presentationml/2006/ole">
            <p:oleObj spid="_x0000_s19457" name="CS ChemDraw Drawing" r:id="rId3" imgW="20145375" imgH="10572750" progId="">
              <p:embed/>
            </p:oleObj>
          </a:graphicData>
        </a:graphic>
      </p:graphicFrame>
      <p:sp>
        <p:nvSpPr>
          <p:cNvPr id="10" name="Text Box 7"/>
          <p:cNvSpPr txBox="1">
            <a:spLocks noChangeArrowheads="1"/>
          </p:cNvSpPr>
          <p:nvPr/>
        </p:nvSpPr>
        <p:spPr bwMode="auto">
          <a:xfrm>
            <a:off x="2123728" y="3356992"/>
            <a:ext cx="3581400" cy="10160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algn="ctr" eaLnBrk="0" fontAlgn="base" hangingPunct="0">
              <a:lnSpc>
                <a:spcPts val="3600"/>
              </a:lnSpc>
              <a:spcBef>
                <a:spcPct val="0"/>
              </a:spcBef>
              <a:spcAft>
                <a:spcPct val="0"/>
              </a:spcAft>
            </a:pPr>
            <a:r>
              <a:rPr lang="en-US" altLang="en-US" sz="2600" dirty="0" smtClean="0">
                <a:solidFill>
                  <a:srgbClr val="000000"/>
                </a:solidFill>
              </a:rPr>
              <a:t>△</a:t>
            </a:r>
            <a:r>
              <a:rPr lang="en-US" altLang="zh-CN" sz="2600" dirty="0" smtClean="0">
                <a:solidFill>
                  <a:srgbClr val="000000"/>
                </a:solidFill>
              </a:rPr>
              <a:t>T= T</a:t>
            </a:r>
            <a:r>
              <a:rPr lang="en-US" altLang="zh-CN" sz="2600" baseline="-25000" dirty="0" smtClean="0">
                <a:solidFill>
                  <a:srgbClr val="000000"/>
                </a:solidFill>
              </a:rPr>
              <a:t>2</a:t>
            </a:r>
            <a:r>
              <a:rPr lang="en-US" altLang="en-US" sz="2600" dirty="0" smtClean="0">
                <a:solidFill>
                  <a:srgbClr val="000000"/>
                </a:solidFill>
              </a:rPr>
              <a:t>－</a:t>
            </a:r>
            <a:r>
              <a:rPr lang="en-US" altLang="zh-CN" sz="2600" dirty="0" smtClean="0">
                <a:solidFill>
                  <a:srgbClr val="000000"/>
                </a:solidFill>
              </a:rPr>
              <a:t>T</a:t>
            </a:r>
            <a:r>
              <a:rPr lang="en-US" altLang="zh-CN" sz="2600" baseline="-25000" dirty="0" smtClean="0">
                <a:solidFill>
                  <a:srgbClr val="000000"/>
                </a:solidFill>
              </a:rPr>
              <a:t>1</a:t>
            </a:r>
            <a:r>
              <a:rPr lang="en-US" altLang="zh-CN" sz="2600" dirty="0" smtClean="0">
                <a:solidFill>
                  <a:srgbClr val="000000"/>
                </a:solidFill>
              </a:rPr>
              <a:t> = 50K</a:t>
            </a:r>
            <a:r>
              <a:rPr lang="zh-CN" altLang="en-US" sz="2600" dirty="0" smtClean="0">
                <a:solidFill>
                  <a:srgbClr val="000000"/>
                </a:solidFill>
              </a:rPr>
              <a:t>，</a:t>
            </a:r>
            <a:endParaRPr lang="en-US" altLang="zh-CN" sz="2600" dirty="0" smtClean="0">
              <a:solidFill>
                <a:srgbClr val="000000"/>
              </a:solidFill>
            </a:endParaRPr>
          </a:p>
          <a:p>
            <a:pPr algn="ctr" eaLnBrk="0" fontAlgn="base" hangingPunct="0">
              <a:lnSpc>
                <a:spcPts val="3600"/>
              </a:lnSpc>
              <a:spcBef>
                <a:spcPct val="0"/>
              </a:spcBef>
              <a:spcAft>
                <a:spcPct val="0"/>
              </a:spcAft>
            </a:pPr>
            <a:r>
              <a:rPr lang="zh-CN" altLang="en-US" sz="2600" dirty="0" smtClean="0">
                <a:solidFill>
                  <a:srgbClr val="000000"/>
                </a:solidFill>
              </a:rPr>
              <a:t>我们说</a:t>
            </a:r>
            <a:r>
              <a:rPr lang="en-US" altLang="zh-CN" sz="2600" dirty="0" smtClean="0">
                <a:solidFill>
                  <a:srgbClr val="000000"/>
                </a:solidFill>
              </a:rPr>
              <a:t>T</a:t>
            </a:r>
            <a:r>
              <a:rPr lang="zh-CN" altLang="en-US" sz="2600" dirty="0" smtClean="0">
                <a:solidFill>
                  <a:srgbClr val="000000"/>
                </a:solidFill>
              </a:rPr>
              <a:t>是状态函数</a:t>
            </a:r>
            <a:endParaRPr lang="zh-CN" altLang="en-US" sz="2600" baseline="-25000" dirty="0" smtClean="0">
              <a:solidFill>
                <a:srgbClr val="000000"/>
              </a:solidFill>
            </a:endParaRPr>
          </a:p>
        </p:txBody>
      </p:sp>
      <p:sp>
        <p:nvSpPr>
          <p:cNvPr id="11" name="Text Box 7"/>
          <p:cNvSpPr txBox="1">
            <a:spLocks noChangeArrowheads="1"/>
          </p:cNvSpPr>
          <p:nvPr/>
        </p:nvSpPr>
        <p:spPr bwMode="auto">
          <a:xfrm>
            <a:off x="1785918" y="4357694"/>
            <a:ext cx="4724400" cy="55403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algn="ctr" eaLnBrk="0" fontAlgn="base" hangingPunct="0">
              <a:lnSpc>
                <a:spcPts val="3600"/>
              </a:lnSpc>
              <a:spcBef>
                <a:spcPct val="0"/>
              </a:spcBef>
              <a:spcAft>
                <a:spcPct val="0"/>
              </a:spcAft>
            </a:pPr>
            <a:r>
              <a:rPr lang="en-US" altLang="en-US" sz="2600" i="1" dirty="0" smtClean="0"/>
              <a:t>△</a:t>
            </a:r>
            <a:r>
              <a:rPr lang="en-US" altLang="zh-CN" sz="2600" i="1" dirty="0" smtClean="0"/>
              <a:t>X</a:t>
            </a:r>
            <a:r>
              <a:rPr lang="zh-CN" altLang="en-US" sz="2600" i="1" dirty="0" smtClean="0"/>
              <a:t>与化学反应紧密相关！</a:t>
            </a:r>
          </a:p>
        </p:txBody>
      </p:sp>
      <p:sp>
        <p:nvSpPr>
          <p:cNvPr id="5" name="矩形 4"/>
          <p:cNvSpPr/>
          <p:nvPr/>
        </p:nvSpPr>
        <p:spPr>
          <a:xfrm>
            <a:off x="714348" y="5286388"/>
            <a:ext cx="7929618" cy="892552"/>
          </a:xfrm>
          <a:prstGeom prst="rect">
            <a:avLst/>
          </a:prstGeom>
          <a:noFill/>
          <a:ln w="9525">
            <a:noFill/>
          </a:ln>
        </p:spPr>
        <p:txBody>
          <a:bodyPr wrap="square" anchor="t" anchorCtr="0">
            <a:spAutoFit/>
          </a:bodyPr>
          <a:lstStyle/>
          <a:p>
            <a:r>
              <a:rPr lang="zh-CN" altLang="en-US" sz="2600" b="1" i="1" dirty="0" smtClean="0">
                <a:solidFill>
                  <a:schemeClr val="tx1"/>
                </a:solidFill>
                <a:latin typeface="Times New Roman" panose="02020603050405020304" pitchFamily="18" charset="0"/>
                <a:ea typeface="楷体_GB2312" charset="-122"/>
              </a:rPr>
              <a:t>        </a:t>
            </a:r>
            <a:r>
              <a:rPr lang="zh-CN" altLang="en-US" sz="2600" b="1" i="1" dirty="0" smtClean="0">
                <a:solidFill>
                  <a:schemeClr val="tx1"/>
                </a:solidFill>
                <a:latin typeface="+mj-lt"/>
                <a:ea typeface="楷体_GB2312" charset="-122"/>
              </a:rPr>
              <a:t>注意</a:t>
            </a:r>
            <a:r>
              <a:rPr lang="en-US" altLang="zh-CN" sz="2600" b="1" i="1" dirty="0" smtClean="0">
                <a:solidFill>
                  <a:schemeClr val="tx1"/>
                </a:solidFill>
                <a:latin typeface="+mj-lt"/>
                <a:ea typeface="楷体_GB2312" charset="-122"/>
              </a:rPr>
              <a:t>——X</a:t>
            </a:r>
            <a:r>
              <a:rPr lang="zh-CN" altLang="en-US" sz="2600" b="1" i="1" dirty="0" smtClean="0">
                <a:solidFill>
                  <a:schemeClr val="tx1"/>
                </a:solidFill>
                <a:latin typeface="+mj-lt"/>
                <a:ea typeface="楷体_GB2312" charset="-122"/>
              </a:rPr>
              <a:t>是状态函数，而</a:t>
            </a:r>
            <a:r>
              <a:rPr lang="en-US" altLang="en-US" sz="2600" b="1" i="1" dirty="0" smtClean="0">
                <a:solidFill>
                  <a:srgbClr val="0000FF"/>
                </a:solidFill>
                <a:latin typeface="+mj-lt"/>
              </a:rPr>
              <a:t>△</a:t>
            </a:r>
            <a:r>
              <a:rPr lang="en-US" altLang="zh-CN" sz="2600" b="1" i="1" dirty="0" smtClean="0">
                <a:solidFill>
                  <a:srgbClr val="0000FF"/>
                </a:solidFill>
                <a:latin typeface="+mj-lt"/>
              </a:rPr>
              <a:t>X</a:t>
            </a:r>
            <a:r>
              <a:rPr lang="zh-CN" altLang="en-US" sz="2600" b="1" i="1" dirty="0" smtClean="0">
                <a:solidFill>
                  <a:srgbClr val="0000FF"/>
                </a:solidFill>
                <a:latin typeface="+mj-lt"/>
              </a:rPr>
              <a:t>只是个值</a:t>
            </a:r>
            <a:r>
              <a:rPr lang="en-US" altLang="zh-CN" sz="2600" b="1" i="1" dirty="0" smtClean="0">
                <a:solidFill>
                  <a:srgbClr val="0000FF"/>
                </a:solidFill>
                <a:latin typeface="+mj-lt"/>
              </a:rPr>
              <a:t>/value/</a:t>
            </a:r>
            <a:r>
              <a:rPr lang="zh-CN" altLang="en-US" sz="2600" b="1" i="1" dirty="0" smtClean="0">
                <a:solidFill>
                  <a:srgbClr val="0000FF"/>
                </a:solidFill>
                <a:latin typeface="+mj-lt"/>
              </a:rPr>
              <a:t>改变量，</a:t>
            </a:r>
            <a:r>
              <a:rPr lang="en-US" altLang="en-US" sz="2600" b="1" i="1" dirty="0" smtClean="0">
                <a:solidFill>
                  <a:srgbClr val="0000FF"/>
                </a:solidFill>
                <a:latin typeface="+mj-lt"/>
              </a:rPr>
              <a:t>△</a:t>
            </a:r>
            <a:r>
              <a:rPr lang="en-US" altLang="zh-CN" sz="2600" b="1" i="1" dirty="0" smtClean="0">
                <a:solidFill>
                  <a:srgbClr val="0000FF"/>
                </a:solidFill>
                <a:latin typeface="+mj-lt"/>
              </a:rPr>
              <a:t>X</a:t>
            </a:r>
            <a:r>
              <a:rPr lang="zh-CN" altLang="en-US" sz="2600" b="1" i="1" dirty="0" smtClean="0">
                <a:solidFill>
                  <a:srgbClr val="0000FF"/>
                </a:solidFill>
                <a:latin typeface="+mj-lt"/>
              </a:rPr>
              <a:t>不是状态函数</a:t>
            </a:r>
            <a:r>
              <a:rPr lang="zh-CN" altLang="en-US" sz="2600" b="1" i="1" dirty="0" smtClean="0">
                <a:solidFill>
                  <a:schemeClr val="tx1"/>
                </a:solidFill>
                <a:latin typeface="+mj-lt"/>
              </a:rPr>
              <a:t>！</a:t>
            </a:r>
            <a:endParaRPr lang="zh-CN" altLang="en-US" sz="2600" b="1" i="1" dirty="0">
              <a:solidFill>
                <a:schemeClr val="tx1"/>
              </a:solidFill>
              <a:latin typeface="+mj-lt"/>
              <a:ea typeface="楷体_GB231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39269"/>
                                        </p:tgtEl>
                                        <p:attrNameLst>
                                          <p:attrName>style.visibility</p:attrName>
                                        </p:attrNameLst>
                                      </p:cBhvr>
                                      <p:to>
                                        <p:strVal val="visible"/>
                                      </p:to>
                                    </p:set>
                                    <p:animEffect transition="in" filter="strips(downLeft)">
                                      <p:cBhvr>
                                        <p:cTn id="7" dur="500"/>
                                        <p:tgtEl>
                                          <p:spTgt spid="13926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amond(i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amond(i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8" name="矩形 9"/>
          <p:cNvSpPr/>
          <p:nvPr/>
        </p:nvSpPr>
        <p:spPr>
          <a:xfrm>
            <a:off x="838200" y="304800"/>
            <a:ext cx="6858001" cy="410845"/>
          </a:xfrm>
          <a:prstGeom prst="rect">
            <a:avLst/>
          </a:prstGeom>
          <a:noFill/>
          <a:ln w="9525">
            <a:noFill/>
          </a:ln>
        </p:spPr>
        <p:txBody>
          <a:bodyPr anchor="t" anchorCtr="0">
            <a:spAutoFit/>
          </a:bodyPr>
          <a:lstStyle/>
          <a:p>
            <a:pPr eaLnBrk="0" hangingPunct="0">
              <a:lnSpc>
                <a:spcPct val="80000"/>
              </a:lnSpc>
              <a:spcBef>
                <a:spcPct val="50000"/>
              </a:spcBef>
            </a:pPr>
            <a:endParaRPr lang="zh-CN" altLang="en-US" dirty="0">
              <a:solidFill>
                <a:schemeClr val="tx1"/>
              </a:solidFill>
              <a:latin typeface="楷体_GB2312" pitchFamily="49" charset="-122"/>
              <a:ea typeface="楷体_GB2312" pitchFamily="49" charset="-122"/>
            </a:endParaRPr>
          </a:p>
        </p:txBody>
      </p:sp>
      <p:sp>
        <p:nvSpPr>
          <p:cNvPr id="5" name="Rectangle 14"/>
          <p:cNvSpPr/>
          <p:nvPr/>
        </p:nvSpPr>
        <p:spPr>
          <a:xfrm>
            <a:off x="1000100" y="714356"/>
            <a:ext cx="6934201" cy="1158875"/>
          </a:xfrm>
          <a:prstGeom prst="rect">
            <a:avLst/>
          </a:prstGeom>
          <a:solidFill>
            <a:srgbClr val="FF99CC"/>
          </a:solidFill>
          <a:ln w="9525">
            <a:noFill/>
          </a:ln>
        </p:spPr>
        <p:txBody>
          <a:bodyPr anchor="t" anchorCtr="0">
            <a:spAutoFit/>
          </a:bodyPr>
          <a:lstStyle/>
          <a:p>
            <a:pPr>
              <a:lnSpc>
                <a:spcPct val="125000"/>
              </a:lnSpc>
            </a:pPr>
            <a:r>
              <a:rPr lang="en-US" altLang="zh-CN" sz="2800" dirty="0" err="1" smtClean="0">
                <a:solidFill>
                  <a:srgbClr val="0000FF"/>
                </a:solidFill>
                <a:latin typeface="Times New Roman" panose="02020603050405020304" pitchFamily="18" charset="0"/>
                <a:ea typeface="楷体_GB2312" pitchFamily="49" charset="-122"/>
              </a:rPr>
              <a:t>Δ</a:t>
            </a:r>
            <a:r>
              <a:rPr lang="en-US" altLang="zh-CN" sz="2800" baseline="-25000" dirty="0" err="1" smtClean="0">
                <a:solidFill>
                  <a:srgbClr val="0000FF"/>
                </a:solidFill>
                <a:latin typeface="Times New Roman" panose="02020603050405020304" pitchFamily="18" charset="0"/>
                <a:ea typeface="楷体_GB2312" pitchFamily="49" charset="-122"/>
              </a:rPr>
              <a:t>r</a:t>
            </a:r>
            <a:r>
              <a:rPr lang="en-US" altLang="zh-CN" sz="2800" dirty="0" err="1" smtClean="0">
                <a:solidFill>
                  <a:srgbClr val="0000FF"/>
                </a:solidFill>
                <a:latin typeface="Times New Roman" panose="02020603050405020304" pitchFamily="18" charset="0"/>
                <a:ea typeface="楷体_GB2312" pitchFamily="49" charset="-122"/>
              </a:rPr>
              <a:t>H</a:t>
            </a:r>
            <a:r>
              <a:rPr lang="en-US" altLang="zh-CN" sz="2800" baseline="-25000" dirty="0" err="1" smtClean="0">
                <a:solidFill>
                  <a:srgbClr val="0000FF"/>
                </a:solidFill>
                <a:latin typeface="Times New Roman" panose="02020603050405020304" pitchFamily="18" charset="0"/>
                <a:ea typeface="楷体_GB2312" pitchFamily="49" charset="-122"/>
              </a:rPr>
              <a:t>m</a:t>
            </a:r>
            <a:r>
              <a:rPr lang="ru-RU" altLang="zh-CN" sz="2800" i="0" baseline="30000" dirty="0">
                <a:solidFill>
                  <a:srgbClr val="0000FF"/>
                </a:solidFill>
                <a:latin typeface="Times New Roman" panose="02020603050405020304" pitchFamily="18" charset="0"/>
                <a:ea typeface="楷体_GB2312" pitchFamily="49" charset="-122"/>
              </a:rPr>
              <a:t>Ө</a:t>
            </a:r>
            <a:r>
              <a:rPr lang="en-US" altLang="zh-CN" sz="2800" dirty="0">
                <a:solidFill>
                  <a:srgbClr val="0000FF"/>
                </a:solidFill>
                <a:latin typeface="Times New Roman" panose="02020603050405020304" pitchFamily="18" charset="0"/>
                <a:ea typeface="楷体_GB2312" pitchFamily="49" charset="-122"/>
              </a:rPr>
              <a:t> =∑</a:t>
            </a:r>
            <a:r>
              <a:rPr lang="el-GR" altLang="zh-CN" sz="2800" dirty="0">
                <a:solidFill>
                  <a:srgbClr val="0000FF"/>
                </a:solidFill>
                <a:latin typeface="Times New Roman" panose="02020603050405020304" pitchFamily="18" charset="0"/>
                <a:ea typeface="楷体_GB2312" pitchFamily="49" charset="-122"/>
              </a:rPr>
              <a:t>ν</a:t>
            </a:r>
            <a:r>
              <a:rPr lang="en-US" altLang="zh-CN" sz="2800" baseline="-25000" dirty="0" err="1" smtClean="0">
                <a:solidFill>
                  <a:srgbClr val="0000FF"/>
                </a:solidFill>
                <a:latin typeface="Times New Roman" panose="02020603050405020304" pitchFamily="18" charset="0"/>
                <a:ea typeface="楷体_GB2312" pitchFamily="49" charset="-122"/>
              </a:rPr>
              <a:t>i</a:t>
            </a:r>
            <a:r>
              <a:rPr lang="en-US" altLang="zh-CN" sz="2800" dirty="0" err="1" smtClean="0">
                <a:solidFill>
                  <a:srgbClr val="0000FF"/>
                </a:solidFill>
                <a:latin typeface="Times New Roman" panose="02020603050405020304" pitchFamily="18" charset="0"/>
                <a:ea typeface="楷体_GB2312" pitchFamily="49" charset="-122"/>
              </a:rPr>
              <a:t>Δ</a:t>
            </a:r>
            <a:r>
              <a:rPr lang="en-US" altLang="zh-CN" sz="2800" baseline="-25000" dirty="0" err="1" smtClean="0">
                <a:solidFill>
                  <a:srgbClr val="0000FF"/>
                </a:solidFill>
                <a:latin typeface="Times New Roman" panose="02020603050405020304" pitchFamily="18" charset="0"/>
                <a:ea typeface="楷体_GB2312" pitchFamily="49" charset="-122"/>
              </a:rPr>
              <a:t>f</a:t>
            </a:r>
            <a:r>
              <a:rPr lang="en-US" altLang="zh-CN" sz="2800" dirty="0" err="1" smtClean="0">
                <a:solidFill>
                  <a:srgbClr val="0000FF"/>
                </a:solidFill>
                <a:latin typeface="Times New Roman" panose="02020603050405020304" pitchFamily="18" charset="0"/>
                <a:ea typeface="楷体_GB2312" pitchFamily="49" charset="-122"/>
              </a:rPr>
              <a:t>H</a:t>
            </a:r>
            <a:r>
              <a:rPr lang="en-US" altLang="zh-CN" sz="2800" baseline="-25000" dirty="0" err="1" smtClean="0">
                <a:solidFill>
                  <a:srgbClr val="0000FF"/>
                </a:solidFill>
                <a:latin typeface="Times New Roman" panose="02020603050405020304" pitchFamily="18" charset="0"/>
                <a:ea typeface="楷体_GB2312" pitchFamily="49" charset="-122"/>
              </a:rPr>
              <a:t>m</a:t>
            </a:r>
            <a:r>
              <a:rPr lang="ru-RU" altLang="zh-CN" sz="2800" i="0" baseline="30000" dirty="0">
                <a:solidFill>
                  <a:srgbClr val="0000FF"/>
                </a:solidFill>
                <a:latin typeface="Times New Roman" panose="02020603050405020304" pitchFamily="18" charset="0"/>
                <a:ea typeface="楷体_GB2312" pitchFamily="49" charset="-122"/>
              </a:rPr>
              <a:t>Ө</a:t>
            </a:r>
            <a:r>
              <a:rPr lang="en-US" altLang="zh-CN" sz="2800" dirty="0">
                <a:solidFill>
                  <a:srgbClr val="0000FF"/>
                </a:solidFill>
                <a:latin typeface="Times New Roman" panose="02020603050405020304" pitchFamily="18" charset="0"/>
                <a:ea typeface="楷体_GB2312" pitchFamily="49" charset="-122"/>
              </a:rPr>
              <a:t>(</a:t>
            </a:r>
            <a:r>
              <a:rPr lang="zh-CN" altLang="en-US" sz="2800" dirty="0">
                <a:solidFill>
                  <a:srgbClr val="0000FF"/>
                </a:solidFill>
                <a:latin typeface="Times New Roman" panose="02020603050405020304" pitchFamily="18" charset="0"/>
                <a:ea typeface="楷体_GB2312" pitchFamily="49" charset="-122"/>
              </a:rPr>
              <a:t>生成物</a:t>
            </a:r>
            <a:r>
              <a:rPr lang="en-US" altLang="zh-CN" sz="2800" dirty="0">
                <a:solidFill>
                  <a:srgbClr val="0000FF"/>
                </a:solidFill>
                <a:latin typeface="Times New Roman" panose="02020603050405020304" pitchFamily="18" charset="0"/>
                <a:ea typeface="楷体_GB2312" pitchFamily="49" charset="-122"/>
              </a:rPr>
              <a:t>)  </a:t>
            </a:r>
          </a:p>
          <a:p>
            <a:pPr>
              <a:lnSpc>
                <a:spcPct val="125000"/>
              </a:lnSpc>
            </a:pPr>
            <a:r>
              <a:rPr lang="en-US" altLang="zh-CN" sz="2800" dirty="0">
                <a:solidFill>
                  <a:srgbClr val="0000FF"/>
                </a:solidFill>
                <a:latin typeface="Times New Roman" panose="02020603050405020304" pitchFamily="18" charset="0"/>
                <a:ea typeface="楷体_GB2312" pitchFamily="49" charset="-122"/>
              </a:rPr>
              <a:t>                                  +</a:t>
            </a:r>
            <a:r>
              <a:rPr lang="el-GR" altLang="zh-CN" sz="2800" dirty="0">
                <a:solidFill>
                  <a:srgbClr val="0000FF"/>
                </a:solidFill>
                <a:latin typeface="Times New Roman" panose="02020603050405020304" pitchFamily="18" charset="0"/>
                <a:ea typeface="楷体_GB2312" pitchFamily="49" charset="-122"/>
              </a:rPr>
              <a:t>∑ν</a:t>
            </a:r>
            <a:r>
              <a:rPr lang="en-US" altLang="zh-CN" sz="2800" baseline="-25000" dirty="0" err="1" smtClean="0">
                <a:solidFill>
                  <a:srgbClr val="0000FF"/>
                </a:solidFill>
                <a:latin typeface="Times New Roman" panose="02020603050405020304" pitchFamily="18" charset="0"/>
                <a:ea typeface="楷体_GB2312" pitchFamily="49" charset="-122"/>
              </a:rPr>
              <a:t>i</a:t>
            </a:r>
            <a:r>
              <a:rPr lang="en-US" altLang="zh-CN" sz="2800" dirty="0" err="1" smtClean="0">
                <a:solidFill>
                  <a:srgbClr val="0000FF"/>
                </a:solidFill>
                <a:latin typeface="Times New Roman" panose="02020603050405020304" pitchFamily="18" charset="0"/>
                <a:ea typeface="楷体_GB2312" pitchFamily="49" charset="-122"/>
              </a:rPr>
              <a:t>Δ</a:t>
            </a:r>
            <a:r>
              <a:rPr lang="en-US" altLang="zh-CN" sz="2800" baseline="-25000" dirty="0" err="1" smtClean="0">
                <a:solidFill>
                  <a:srgbClr val="0000FF"/>
                </a:solidFill>
                <a:latin typeface="Times New Roman" panose="02020603050405020304" pitchFamily="18" charset="0"/>
                <a:ea typeface="楷体_GB2312" pitchFamily="49" charset="-122"/>
              </a:rPr>
              <a:t>f</a:t>
            </a:r>
            <a:r>
              <a:rPr lang="en-US" altLang="zh-CN" sz="2800" dirty="0" err="1" smtClean="0">
                <a:solidFill>
                  <a:srgbClr val="0000FF"/>
                </a:solidFill>
                <a:latin typeface="Times New Roman" panose="02020603050405020304" pitchFamily="18" charset="0"/>
                <a:ea typeface="楷体_GB2312" pitchFamily="49" charset="-122"/>
              </a:rPr>
              <a:t>H</a:t>
            </a:r>
            <a:r>
              <a:rPr lang="en-US" altLang="zh-CN" sz="2800" baseline="-25000" dirty="0" err="1" smtClean="0">
                <a:solidFill>
                  <a:srgbClr val="0000FF"/>
                </a:solidFill>
                <a:latin typeface="Times New Roman" panose="02020603050405020304" pitchFamily="18" charset="0"/>
                <a:ea typeface="楷体_GB2312" pitchFamily="49" charset="-122"/>
              </a:rPr>
              <a:t>m</a:t>
            </a:r>
            <a:r>
              <a:rPr lang="ru-RU" altLang="zh-CN" sz="2800" i="0" baseline="30000" dirty="0">
                <a:solidFill>
                  <a:srgbClr val="0000FF"/>
                </a:solidFill>
                <a:latin typeface="Times New Roman" panose="02020603050405020304" pitchFamily="18" charset="0"/>
                <a:ea typeface="楷体_GB2312" pitchFamily="49" charset="-122"/>
              </a:rPr>
              <a:t>Ө </a:t>
            </a:r>
            <a:r>
              <a:rPr lang="en-US" altLang="zh-CN" sz="2800" dirty="0">
                <a:solidFill>
                  <a:srgbClr val="0000FF"/>
                </a:solidFill>
                <a:latin typeface="Times New Roman" panose="02020603050405020304" pitchFamily="18" charset="0"/>
                <a:ea typeface="楷体_GB2312" pitchFamily="49" charset="-122"/>
              </a:rPr>
              <a:t>(</a:t>
            </a:r>
            <a:r>
              <a:rPr lang="zh-CN" altLang="en-US" sz="2800" dirty="0">
                <a:solidFill>
                  <a:srgbClr val="0000FF"/>
                </a:solidFill>
                <a:latin typeface="Times New Roman" panose="02020603050405020304" pitchFamily="18" charset="0"/>
                <a:ea typeface="楷体_GB2312" pitchFamily="49" charset="-122"/>
              </a:rPr>
              <a:t>反应物</a:t>
            </a:r>
            <a:r>
              <a:rPr lang="en-US" altLang="zh-CN" sz="2800" dirty="0">
                <a:solidFill>
                  <a:srgbClr val="0000FF"/>
                </a:solidFill>
                <a:latin typeface="Times New Roman" panose="02020603050405020304" pitchFamily="18" charset="0"/>
                <a:ea typeface="楷体_GB2312" pitchFamily="49" charset="-122"/>
              </a:rPr>
              <a:t>)</a:t>
            </a:r>
          </a:p>
        </p:txBody>
      </p:sp>
      <p:sp>
        <p:nvSpPr>
          <p:cNvPr id="6" name="Rectangle 14"/>
          <p:cNvSpPr/>
          <p:nvPr/>
        </p:nvSpPr>
        <p:spPr>
          <a:xfrm>
            <a:off x="1000100" y="3643314"/>
            <a:ext cx="6934201" cy="1158875"/>
          </a:xfrm>
          <a:prstGeom prst="rect">
            <a:avLst/>
          </a:prstGeom>
          <a:solidFill>
            <a:srgbClr val="FF99CC"/>
          </a:solidFill>
          <a:ln w="9525">
            <a:noFill/>
          </a:ln>
        </p:spPr>
        <p:txBody>
          <a:bodyPr anchor="t" anchorCtr="0">
            <a:spAutoFit/>
          </a:bodyPr>
          <a:lstStyle/>
          <a:p>
            <a:pPr>
              <a:lnSpc>
                <a:spcPct val="125000"/>
              </a:lnSpc>
            </a:pPr>
            <a:r>
              <a:rPr lang="en-US" altLang="zh-CN" sz="2800" dirty="0" err="1" smtClean="0">
                <a:solidFill>
                  <a:srgbClr val="0000FF"/>
                </a:solidFill>
                <a:latin typeface="Times New Roman" panose="02020603050405020304" pitchFamily="18" charset="0"/>
                <a:ea typeface="楷体_GB2312" pitchFamily="49" charset="-122"/>
              </a:rPr>
              <a:t>Δ</a:t>
            </a:r>
            <a:r>
              <a:rPr lang="en-US" altLang="zh-CN" sz="2800" baseline="-25000" dirty="0" err="1" smtClean="0">
                <a:solidFill>
                  <a:srgbClr val="0000FF"/>
                </a:solidFill>
                <a:latin typeface="Times New Roman" panose="02020603050405020304" pitchFamily="18" charset="0"/>
                <a:ea typeface="楷体_GB2312" pitchFamily="49" charset="-122"/>
              </a:rPr>
              <a:t>r</a:t>
            </a:r>
            <a:r>
              <a:rPr lang="en-US" altLang="zh-CN" sz="2800" dirty="0" err="1" smtClean="0">
                <a:solidFill>
                  <a:srgbClr val="0000FF"/>
                </a:solidFill>
                <a:latin typeface="Times New Roman" panose="02020603050405020304" pitchFamily="18" charset="0"/>
                <a:ea typeface="楷体_GB2312" pitchFamily="49" charset="-122"/>
              </a:rPr>
              <a:t>G</a:t>
            </a:r>
            <a:r>
              <a:rPr lang="en-US" altLang="zh-CN" sz="2800" baseline="-25000" dirty="0" err="1" smtClean="0">
                <a:solidFill>
                  <a:srgbClr val="0000FF"/>
                </a:solidFill>
                <a:latin typeface="Times New Roman" panose="02020603050405020304" pitchFamily="18" charset="0"/>
                <a:ea typeface="楷体_GB2312" pitchFamily="49" charset="-122"/>
              </a:rPr>
              <a:t>m</a:t>
            </a:r>
            <a:r>
              <a:rPr lang="ru-RU" altLang="zh-CN" sz="2800" i="0" baseline="30000" dirty="0">
                <a:solidFill>
                  <a:srgbClr val="0000FF"/>
                </a:solidFill>
                <a:latin typeface="Times New Roman" panose="02020603050405020304" pitchFamily="18" charset="0"/>
                <a:ea typeface="楷体_GB2312" pitchFamily="49" charset="-122"/>
              </a:rPr>
              <a:t>Ө</a:t>
            </a:r>
            <a:r>
              <a:rPr lang="en-US" altLang="zh-CN" sz="2800" dirty="0">
                <a:solidFill>
                  <a:srgbClr val="0000FF"/>
                </a:solidFill>
                <a:latin typeface="Times New Roman" panose="02020603050405020304" pitchFamily="18" charset="0"/>
                <a:ea typeface="楷体_GB2312" pitchFamily="49" charset="-122"/>
              </a:rPr>
              <a:t> =∑</a:t>
            </a:r>
            <a:r>
              <a:rPr lang="el-GR" altLang="zh-CN" sz="2800" dirty="0">
                <a:solidFill>
                  <a:srgbClr val="0000FF"/>
                </a:solidFill>
                <a:latin typeface="Times New Roman" panose="02020603050405020304" pitchFamily="18" charset="0"/>
                <a:ea typeface="楷体_GB2312" pitchFamily="49" charset="-122"/>
              </a:rPr>
              <a:t>ν</a:t>
            </a:r>
            <a:r>
              <a:rPr lang="en-US" altLang="zh-CN" sz="2800" baseline="-25000" dirty="0" err="1" smtClean="0">
                <a:solidFill>
                  <a:srgbClr val="0000FF"/>
                </a:solidFill>
                <a:latin typeface="Times New Roman" panose="02020603050405020304" pitchFamily="18" charset="0"/>
                <a:ea typeface="楷体_GB2312" pitchFamily="49" charset="-122"/>
              </a:rPr>
              <a:t>i</a:t>
            </a:r>
            <a:r>
              <a:rPr lang="en-US" altLang="zh-CN" sz="2800" dirty="0" err="1" smtClean="0">
                <a:solidFill>
                  <a:srgbClr val="0000FF"/>
                </a:solidFill>
                <a:latin typeface="Times New Roman" panose="02020603050405020304" pitchFamily="18" charset="0"/>
                <a:ea typeface="楷体_GB2312" pitchFamily="49" charset="-122"/>
              </a:rPr>
              <a:t>Δ</a:t>
            </a:r>
            <a:r>
              <a:rPr lang="en-US" altLang="zh-CN" sz="2800" baseline="-25000" dirty="0" err="1" smtClean="0">
                <a:solidFill>
                  <a:srgbClr val="0000FF"/>
                </a:solidFill>
                <a:latin typeface="Times New Roman" panose="02020603050405020304" pitchFamily="18" charset="0"/>
                <a:ea typeface="楷体_GB2312" pitchFamily="49" charset="-122"/>
              </a:rPr>
              <a:t>f</a:t>
            </a:r>
            <a:r>
              <a:rPr lang="en-US" altLang="zh-CN" sz="2800" dirty="0" err="1" smtClean="0">
                <a:solidFill>
                  <a:srgbClr val="0000FF"/>
                </a:solidFill>
                <a:latin typeface="Times New Roman" panose="02020603050405020304" pitchFamily="18" charset="0"/>
                <a:ea typeface="楷体_GB2312" pitchFamily="49" charset="-122"/>
              </a:rPr>
              <a:t>G</a:t>
            </a:r>
            <a:r>
              <a:rPr lang="en-US" altLang="zh-CN" sz="2800" baseline="-25000" dirty="0" err="1" smtClean="0">
                <a:solidFill>
                  <a:srgbClr val="0000FF"/>
                </a:solidFill>
                <a:latin typeface="Times New Roman" panose="02020603050405020304" pitchFamily="18" charset="0"/>
                <a:ea typeface="楷体_GB2312" pitchFamily="49" charset="-122"/>
              </a:rPr>
              <a:t>m</a:t>
            </a:r>
            <a:r>
              <a:rPr lang="ru-RU" altLang="zh-CN" sz="2800" i="0" baseline="30000" dirty="0">
                <a:solidFill>
                  <a:srgbClr val="0000FF"/>
                </a:solidFill>
                <a:latin typeface="Times New Roman" panose="02020603050405020304" pitchFamily="18" charset="0"/>
                <a:ea typeface="楷体_GB2312" pitchFamily="49" charset="-122"/>
              </a:rPr>
              <a:t>Ө</a:t>
            </a:r>
            <a:r>
              <a:rPr lang="en-US" altLang="zh-CN" sz="2800" dirty="0">
                <a:solidFill>
                  <a:srgbClr val="0000FF"/>
                </a:solidFill>
                <a:latin typeface="Times New Roman" panose="02020603050405020304" pitchFamily="18" charset="0"/>
                <a:ea typeface="楷体_GB2312" pitchFamily="49" charset="-122"/>
              </a:rPr>
              <a:t>(</a:t>
            </a:r>
            <a:r>
              <a:rPr lang="zh-CN" altLang="en-US" sz="2800" dirty="0">
                <a:solidFill>
                  <a:srgbClr val="0000FF"/>
                </a:solidFill>
                <a:latin typeface="Times New Roman" panose="02020603050405020304" pitchFamily="18" charset="0"/>
                <a:ea typeface="楷体_GB2312" pitchFamily="49" charset="-122"/>
              </a:rPr>
              <a:t>生成物</a:t>
            </a:r>
            <a:r>
              <a:rPr lang="en-US" altLang="zh-CN" sz="2800" dirty="0">
                <a:solidFill>
                  <a:srgbClr val="0000FF"/>
                </a:solidFill>
                <a:latin typeface="Times New Roman" panose="02020603050405020304" pitchFamily="18" charset="0"/>
                <a:ea typeface="楷体_GB2312" pitchFamily="49" charset="-122"/>
              </a:rPr>
              <a:t>)  </a:t>
            </a:r>
          </a:p>
          <a:p>
            <a:pPr>
              <a:lnSpc>
                <a:spcPct val="125000"/>
              </a:lnSpc>
            </a:pPr>
            <a:r>
              <a:rPr lang="en-US" altLang="zh-CN" sz="2800" dirty="0">
                <a:solidFill>
                  <a:srgbClr val="0000FF"/>
                </a:solidFill>
                <a:latin typeface="Times New Roman" panose="02020603050405020304" pitchFamily="18" charset="0"/>
                <a:ea typeface="楷体_GB2312" pitchFamily="49" charset="-122"/>
              </a:rPr>
              <a:t>                                  +</a:t>
            </a:r>
            <a:r>
              <a:rPr lang="el-GR" altLang="zh-CN" sz="2800" dirty="0">
                <a:solidFill>
                  <a:srgbClr val="0000FF"/>
                </a:solidFill>
                <a:latin typeface="Times New Roman" panose="02020603050405020304" pitchFamily="18" charset="0"/>
                <a:ea typeface="楷体_GB2312" pitchFamily="49" charset="-122"/>
              </a:rPr>
              <a:t>∑ν</a:t>
            </a:r>
            <a:r>
              <a:rPr lang="en-US" altLang="zh-CN" sz="2800" baseline="-25000" dirty="0" err="1" smtClean="0">
                <a:solidFill>
                  <a:srgbClr val="0000FF"/>
                </a:solidFill>
                <a:latin typeface="Times New Roman" panose="02020603050405020304" pitchFamily="18" charset="0"/>
                <a:ea typeface="楷体_GB2312" pitchFamily="49" charset="-122"/>
              </a:rPr>
              <a:t>i</a:t>
            </a:r>
            <a:r>
              <a:rPr lang="en-US" altLang="zh-CN" sz="2800" dirty="0" err="1" smtClean="0">
                <a:solidFill>
                  <a:srgbClr val="0000FF"/>
                </a:solidFill>
                <a:latin typeface="Times New Roman" panose="02020603050405020304" pitchFamily="18" charset="0"/>
                <a:ea typeface="楷体_GB2312" pitchFamily="49" charset="-122"/>
              </a:rPr>
              <a:t>Δ</a:t>
            </a:r>
            <a:r>
              <a:rPr lang="en-US" altLang="zh-CN" sz="2800" baseline="-25000" dirty="0" err="1" smtClean="0">
                <a:solidFill>
                  <a:srgbClr val="0000FF"/>
                </a:solidFill>
                <a:latin typeface="Times New Roman" panose="02020603050405020304" pitchFamily="18" charset="0"/>
                <a:ea typeface="楷体_GB2312" pitchFamily="49" charset="-122"/>
              </a:rPr>
              <a:t>f</a:t>
            </a:r>
            <a:r>
              <a:rPr lang="en-US" altLang="zh-CN" sz="2800" dirty="0" err="1" smtClean="0">
                <a:solidFill>
                  <a:srgbClr val="0000FF"/>
                </a:solidFill>
                <a:latin typeface="Times New Roman" panose="02020603050405020304" pitchFamily="18" charset="0"/>
                <a:ea typeface="楷体_GB2312" pitchFamily="49" charset="-122"/>
              </a:rPr>
              <a:t>G</a:t>
            </a:r>
            <a:r>
              <a:rPr lang="en-US" altLang="zh-CN" sz="2800" baseline="-25000" dirty="0" err="1" smtClean="0">
                <a:solidFill>
                  <a:srgbClr val="0000FF"/>
                </a:solidFill>
                <a:latin typeface="Times New Roman" panose="02020603050405020304" pitchFamily="18" charset="0"/>
                <a:ea typeface="楷体_GB2312" pitchFamily="49" charset="-122"/>
              </a:rPr>
              <a:t>m</a:t>
            </a:r>
            <a:r>
              <a:rPr lang="ru-RU" altLang="zh-CN" sz="2800" i="0" baseline="30000" dirty="0">
                <a:solidFill>
                  <a:srgbClr val="0000FF"/>
                </a:solidFill>
                <a:latin typeface="Times New Roman" panose="02020603050405020304" pitchFamily="18" charset="0"/>
                <a:ea typeface="楷体_GB2312" pitchFamily="49" charset="-122"/>
              </a:rPr>
              <a:t>Ө </a:t>
            </a:r>
            <a:r>
              <a:rPr lang="en-US" altLang="zh-CN" sz="2800" dirty="0">
                <a:solidFill>
                  <a:srgbClr val="0000FF"/>
                </a:solidFill>
                <a:latin typeface="Times New Roman" panose="02020603050405020304" pitchFamily="18" charset="0"/>
                <a:ea typeface="楷体_GB2312" pitchFamily="49" charset="-122"/>
              </a:rPr>
              <a:t>(</a:t>
            </a:r>
            <a:r>
              <a:rPr lang="zh-CN" altLang="en-US" sz="2800" dirty="0">
                <a:solidFill>
                  <a:srgbClr val="0000FF"/>
                </a:solidFill>
                <a:latin typeface="Times New Roman" panose="02020603050405020304" pitchFamily="18" charset="0"/>
                <a:ea typeface="楷体_GB2312" pitchFamily="49" charset="-122"/>
              </a:rPr>
              <a:t>反应物</a:t>
            </a:r>
            <a:r>
              <a:rPr lang="en-US" altLang="zh-CN" sz="2800" dirty="0">
                <a:solidFill>
                  <a:srgbClr val="0000FF"/>
                </a:solidFill>
                <a:latin typeface="Times New Roman" panose="02020603050405020304" pitchFamily="18" charset="0"/>
                <a:ea typeface="楷体_GB2312" pitchFamily="49" charset="-122"/>
              </a:rPr>
              <a:t>)</a:t>
            </a:r>
          </a:p>
        </p:txBody>
      </p:sp>
      <p:sp>
        <p:nvSpPr>
          <p:cNvPr id="7" name="Rectangle 14"/>
          <p:cNvSpPr/>
          <p:nvPr/>
        </p:nvSpPr>
        <p:spPr>
          <a:xfrm>
            <a:off x="928662" y="2214554"/>
            <a:ext cx="6934201" cy="1158875"/>
          </a:xfrm>
          <a:prstGeom prst="rect">
            <a:avLst/>
          </a:prstGeom>
          <a:solidFill>
            <a:srgbClr val="FF99CC"/>
          </a:solidFill>
          <a:ln w="9525">
            <a:noFill/>
          </a:ln>
        </p:spPr>
        <p:txBody>
          <a:bodyPr anchor="t" anchorCtr="0">
            <a:spAutoFit/>
          </a:bodyPr>
          <a:lstStyle/>
          <a:p>
            <a:pPr>
              <a:lnSpc>
                <a:spcPct val="125000"/>
              </a:lnSpc>
            </a:pPr>
            <a:r>
              <a:rPr lang="en-US" altLang="zh-CN" sz="2800" dirty="0" err="1" smtClean="0">
                <a:solidFill>
                  <a:srgbClr val="0000FF"/>
                </a:solidFill>
                <a:latin typeface="Times New Roman" panose="02020603050405020304" pitchFamily="18" charset="0"/>
                <a:ea typeface="楷体_GB2312" pitchFamily="49" charset="-122"/>
              </a:rPr>
              <a:t>Δ</a:t>
            </a:r>
            <a:r>
              <a:rPr lang="en-US" altLang="zh-CN" sz="2800" baseline="-25000" dirty="0" err="1" smtClean="0">
                <a:solidFill>
                  <a:srgbClr val="0000FF"/>
                </a:solidFill>
                <a:latin typeface="Times New Roman" panose="02020603050405020304" pitchFamily="18" charset="0"/>
                <a:ea typeface="楷体_GB2312" pitchFamily="49" charset="-122"/>
              </a:rPr>
              <a:t>r</a:t>
            </a:r>
            <a:r>
              <a:rPr lang="en-US" altLang="zh-CN" sz="2800" dirty="0" err="1" smtClean="0">
                <a:solidFill>
                  <a:srgbClr val="0000FF"/>
                </a:solidFill>
                <a:latin typeface="Times New Roman" panose="02020603050405020304" pitchFamily="18" charset="0"/>
                <a:ea typeface="楷体_GB2312" pitchFamily="49" charset="-122"/>
              </a:rPr>
              <a:t>S</a:t>
            </a:r>
            <a:r>
              <a:rPr lang="en-US" altLang="zh-CN" sz="2800" baseline="-25000" dirty="0" err="1" smtClean="0">
                <a:solidFill>
                  <a:srgbClr val="0000FF"/>
                </a:solidFill>
                <a:latin typeface="Times New Roman" panose="02020603050405020304" pitchFamily="18" charset="0"/>
                <a:ea typeface="楷体_GB2312" pitchFamily="49" charset="-122"/>
              </a:rPr>
              <a:t>m</a:t>
            </a:r>
            <a:r>
              <a:rPr lang="ru-RU" altLang="zh-CN" sz="2800" i="0" baseline="30000" dirty="0">
                <a:solidFill>
                  <a:srgbClr val="0000FF"/>
                </a:solidFill>
                <a:latin typeface="Times New Roman" panose="02020603050405020304" pitchFamily="18" charset="0"/>
                <a:ea typeface="楷体_GB2312" pitchFamily="49" charset="-122"/>
              </a:rPr>
              <a:t>Ө</a:t>
            </a:r>
            <a:r>
              <a:rPr lang="en-US" altLang="zh-CN" sz="2800" dirty="0">
                <a:solidFill>
                  <a:srgbClr val="0000FF"/>
                </a:solidFill>
                <a:latin typeface="Times New Roman" panose="02020603050405020304" pitchFamily="18" charset="0"/>
                <a:ea typeface="楷体_GB2312" pitchFamily="49" charset="-122"/>
              </a:rPr>
              <a:t> =∑</a:t>
            </a:r>
            <a:r>
              <a:rPr lang="el-GR" altLang="zh-CN" sz="2800" dirty="0">
                <a:solidFill>
                  <a:srgbClr val="0000FF"/>
                </a:solidFill>
                <a:latin typeface="Times New Roman" panose="02020603050405020304" pitchFamily="18" charset="0"/>
                <a:ea typeface="楷体_GB2312" pitchFamily="49" charset="-122"/>
              </a:rPr>
              <a:t>ν</a:t>
            </a:r>
            <a:r>
              <a:rPr lang="en-US" altLang="zh-CN" sz="2800" baseline="-25000" dirty="0" err="1" smtClean="0">
                <a:solidFill>
                  <a:srgbClr val="0000FF"/>
                </a:solidFill>
                <a:latin typeface="Times New Roman" panose="02020603050405020304" pitchFamily="18" charset="0"/>
                <a:ea typeface="楷体_GB2312" pitchFamily="49" charset="-122"/>
              </a:rPr>
              <a:t>i</a:t>
            </a:r>
            <a:r>
              <a:rPr lang="en-US" altLang="zh-CN" sz="2800" dirty="0" err="1" smtClean="0">
                <a:solidFill>
                  <a:srgbClr val="0000FF"/>
                </a:solidFill>
                <a:latin typeface="Times New Roman" panose="02020603050405020304" pitchFamily="18" charset="0"/>
                <a:ea typeface="楷体_GB2312" pitchFamily="49" charset="-122"/>
              </a:rPr>
              <a:t>S</a:t>
            </a:r>
            <a:r>
              <a:rPr lang="en-US" altLang="zh-CN" sz="2800" baseline="-25000" dirty="0" err="1" smtClean="0">
                <a:solidFill>
                  <a:srgbClr val="0000FF"/>
                </a:solidFill>
                <a:latin typeface="Times New Roman" panose="02020603050405020304" pitchFamily="18" charset="0"/>
                <a:ea typeface="楷体_GB2312" pitchFamily="49" charset="-122"/>
              </a:rPr>
              <a:t>m</a:t>
            </a:r>
            <a:r>
              <a:rPr lang="ru-RU" altLang="zh-CN" sz="2800" i="0" baseline="30000" dirty="0">
                <a:solidFill>
                  <a:srgbClr val="0000FF"/>
                </a:solidFill>
                <a:latin typeface="Times New Roman" panose="02020603050405020304" pitchFamily="18" charset="0"/>
                <a:ea typeface="楷体_GB2312" pitchFamily="49" charset="-122"/>
              </a:rPr>
              <a:t>Ө</a:t>
            </a:r>
            <a:r>
              <a:rPr lang="en-US" altLang="zh-CN" sz="2800" dirty="0">
                <a:solidFill>
                  <a:srgbClr val="0000FF"/>
                </a:solidFill>
                <a:latin typeface="Times New Roman" panose="02020603050405020304" pitchFamily="18" charset="0"/>
                <a:ea typeface="楷体_GB2312" pitchFamily="49" charset="-122"/>
              </a:rPr>
              <a:t>(</a:t>
            </a:r>
            <a:r>
              <a:rPr lang="zh-CN" altLang="en-US" sz="2800" dirty="0">
                <a:solidFill>
                  <a:srgbClr val="0000FF"/>
                </a:solidFill>
                <a:latin typeface="Times New Roman" panose="02020603050405020304" pitchFamily="18" charset="0"/>
                <a:ea typeface="楷体_GB2312" pitchFamily="49" charset="-122"/>
              </a:rPr>
              <a:t>生成物</a:t>
            </a:r>
            <a:r>
              <a:rPr lang="en-US" altLang="zh-CN" sz="2800" dirty="0">
                <a:solidFill>
                  <a:srgbClr val="0000FF"/>
                </a:solidFill>
                <a:latin typeface="Times New Roman" panose="02020603050405020304" pitchFamily="18" charset="0"/>
                <a:ea typeface="楷体_GB2312" pitchFamily="49" charset="-122"/>
              </a:rPr>
              <a:t>)  </a:t>
            </a:r>
          </a:p>
          <a:p>
            <a:pPr>
              <a:lnSpc>
                <a:spcPct val="125000"/>
              </a:lnSpc>
            </a:pPr>
            <a:r>
              <a:rPr lang="en-US" altLang="zh-CN" sz="2800" dirty="0">
                <a:solidFill>
                  <a:srgbClr val="0000FF"/>
                </a:solidFill>
                <a:latin typeface="Times New Roman" panose="02020603050405020304" pitchFamily="18" charset="0"/>
                <a:ea typeface="楷体_GB2312" pitchFamily="49" charset="-122"/>
              </a:rPr>
              <a:t>                                  +</a:t>
            </a:r>
            <a:r>
              <a:rPr lang="el-GR" altLang="zh-CN" sz="2800" dirty="0">
                <a:solidFill>
                  <a:srgbClr val="0000FF"/>
                </a:solidFill>
                <a:latin typeface="Times New Roman" panose="02020603050405020304" pitchFamily="18" charset="0"/>
                <a:ea typeface="楷体_GB2312" pitchFamily="49" charset="-122"/>
              </a:rPr>
              <a:t>∑ν</a:t>
            </a:r>
            <a:r>
              <a:rPr lang="en-US" altLang="zh-CN" sz="2800" baseline="-25000" dirty="0" err="1" smtClean="0">
                <a:solidFill>
                  <a:srgbClr val="0000FF"/>
                </a:solidFill>
                <a:latin typeface="Times New Roman" panose="02020603050405020304" pitchFamily="18" charset="0"/>
                <a:ea typeface="楷体_GB2312" pitchFamily="49" charset="-122"/>
              </a:rPr>
              <a:t>i</a:t>
            </a:r>
            <a:r>
              <a:rPr lang="en-US" altLang="zh-CN" sz="2800" dirty="0" err="1" smtClean="0">
                <a:solidFill>
                  <a:srgbClr val="0000FF"/>
                </a:solidFill>
                <a:latin typeface="Times New Roman" panose="02020603050405020304" pitchFamily="18" charset="0"/>
                <a:ea typeface="楷体_GB2312" pitchFamily="49" charset="-122"/>
              </a:rPr>
              <a:t>S</a:t>
            </a:r>
            <a:r>
              <a:rPr lang="en-US" altLang="zh-CN" sz="2800" baseline="-25000" dirty="0" err="1" smtClean="0">
                <a:solidFill>
                  <a:srgbClr val="0000FF"/>
                </a:solidFill>
                <a:latin typeface="Times New Roman" panose="02020603050405020304" pitchFamily="18" charset="0"/>
                <a:ea typeface="楷体_GB2312" pitchFamily="49" charset="-122"/>
              </a:rPr>
              <a:t>m</a:t>
            </a:r>
            <a:r>
              <a:rPr lang="ru-RU" altLang="zh-CN" sz="2800" i="0" baseline="30000" dirty="0">
                <a:solidFill>
                  <a:srgbClr val="0000FF"/>
                </a:solidFill>
                <a:latin typeface="Times New Roman" panose="02020603050405020304" pitchFamily="18" charset="0"/>
                <a:ea typeface="楷体_GB2312" pitchFamily="49" charset="-122"/>
              </a:rPr>
              <a:t>Ө </a:t>
            </a:r>
            <a:r>
              <a:rPr lang="en-US" altLang="zh-CN" sz="2800" dirty="0">
                <a:solidFill>
                  <a:srgbClr val="0000FF"/>
                </a:solidFill>
                <a:latin typeface="Times New Roman" panose="02020603050405020304" pitchFamily="18" charset="0"/>
                <a:ea typeface="楷体_GB2312" pitchFamily="49" charset="-122"/>
              </a:rPr>
              <a:t>(</a:t>
            </a:r>
            <a:r>
              <a:rPr lang="zh-CN" altLang="en-US" sz="2800" dirty="0">
                <a:solidFill>
                  <a:srgbClr val="0000FF"/>
                </a:solidFill>
                <a:latin typeface="Times New Roman" panose="02020603050405020304" pitchFamily="18" charset="0"/>
                <a:ea typeface="楷体_GB2312" pitchFamily="49" charset="-122"/>
              </a:rPr>
              <a:t>反应物</a:t>
            </a:r>
            <a:r>
              <a:rPr lang="en-US" altLang="zh-CN" sz="2800" dirty="0">
                <a:solidFill>
                  <a:srgbClr val="0000FF"/>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39272" name="Object 8"/>
          <p:cNvGraphicFramePr>
            <a:graphicFrameLocks noGrp="1" noChangeAspect="1"/>
          </p:cNvGraphicFramePr>
          <p:nvPr>
            <p:ph sz="half" idx="2"/>
          </p:nvPr>
        </p:nvGraphicFramePr>
        <p:xfrm>
          <a:off x="4953000" y="1600200"/>
          <a:ext cx="4038600" cy="2743200"/>
        </p:xfrm>
        <a:graphic>
          <a:graphicData uri="http://schemas.openxmlformats.org/presentationml/2006/ole">
            <p:oleObj spid="_x0000_s49153" name="Flash Document" r:id="rId3" imgW="113595150" imgH="69437250" progId="">
              <p:embed/>
            </p:oleObj>
          </a:graphicData>
        </a:graphic>
      </p:graphicFrame>
      <p:sp>
        <p:nvSpPr>
          <p:cNvPr id="139275" name="Text Box 11"/>
          <p:cNvSpPr txBox="1">
            <a:spLocks noChangeArrowheads="1"/>
          </p:cNvSpPr>
          <p:nvPr/>
        </p:nvSpPr>
        <p:spPr bwMode="auto">
          <a:xfrm>
            <a:off x="381000" y="1981200"/>
            <a:ext cx="4419600" cy="24003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lnSpc>
                <a:spcPts val="3600"/>
              </a:lnSpc>
              <a:spcBef>
                <a:spcPct val="0"/>
              </a:spcBef>
              <a:spcAft>
                <a:spcPct val="0"/>
              </a:spcAft>
            </a:pPr>
            <a:r>
              <a:rPr kumimoji="0" lang="en-US" altLang="zh-CN" sz="2600" smtClean="0">
                <a:solidFill>
                  <a:srgbClr val="000000"/>
                </a:solidFill>
              </a:rPr>
              <a:t>        </a:t>
            </a:r>
            <a:r>
              <a:rPr kumimoji="0" lang="zh-CN" altLang="en-US" sz="2600" smtClean="0">
                <a:solidFill>
                  <a:srgbClr val="000000"/>
                </a:solidFill>
              </a:rPr>
              <a:t>例如，途径</a:t>
            </a:r>
            <a:r>
              <a:rPr kumimoji="0" lang="en-US" altLang="zh-CN" sz="2600" smtClean="0">
                <a:solidFill>
                  <a:srgbClr val="000000"/>
                </a:solidFill>
              </a:rPr>
              <a:t>a</a:t>
            </a:r>
            <a:r>
              <a:rPr kumimoji="0" lang="zh-CN" altLang="en-US" sz="2600" smtClean="0">
                <a:solidFill>
                  <a:srgbClr val="000000"/>
                </a:solidFill>
              </a:rPr>
              <a:t>、</a:t>
            </a:r>
            <a:r>
              <a:rPr kumimoji="0" lang="en-US" altLang="zh-CN" sz="2600" smtClean="0">
                <a:solidFill>
                  <a:srgbClr val="000000"/>
                </a:solidFill>
              </a:rPr>
              <a:t>b</a:t>
            </a:r>
            <a:r>
              <a:rPr kumimoji="0" lang="zh-CN" altLang="en-US" sz="2600" smtClean="0">
                <a:solidFill>
                  <a:srgbClr val="000000"/>
                </a:solidFill>
              </a:rPr>
              <a:t>不同， 所做的膨胀功不同</a:t>
            </a:r>
            <a:r>
              <a:rPr kumimoji="0" lang="en-US" altLang="zh-CN" sz="2600" smtClean="0">
                <a:solidFill>
                  <a:srgbClr val="000000"/>
                </a:solidFill>
              </a:rPr>
              <a:t>(</a:t>
            </a:r>
            <a:r>
              <a:rPr kumimoji="0" lang="zh-CN" altLang="en-US" sz="2600" smtClean="0">
                <a:solidFill>
                  <a:srgbClr val="000000"/>
                </a:solidFill>
              </a:rPr>
              <a:t>阴影部分面积不同</a:t>
            </a:r>
            <a:r>
              <a:rPr kumimoji="0" lang="en-US" altLang="zh-CN" sz="2600" smtClean="0">
                <a:solidFill>
                  <a:srgbClr val="000000"/>
                </a:solidFill>
              </a:rPr>
              <a:t>)</a:t>
            </a:r>
            <a:r>
              <a:rPr kumimoji="0" lang="zh-CN" altLang="en-US" sz="2600" smtClean="0">
                <a:solidFill>
                  <a:srgbClr val="000000"/>
                </a:solidFill>
              </a:rPr>
              <a:t>，但始态、终态相同， 故功是过程量，不是状态函数。</a:t>
            </a:r>
          </a:p>
        </p:txBody>
      </p:sp>
      <p:sp>
        <p:nvSpPr>
          <p:cNvPr id="6" name="Text Box 7"/>
          <p:cNvSpPr txBox="1">
            <a:spLocks noChangeArrowheads="1"/>
          </p:cNvSpPr>
          <p:nvPr/>
        </p:nvSpPr>
        <p:spPr bwMode="auto">
          <a:xfrm>
            <a:off x="304800" y="4724400"/>
            <a:ext cx="8686800" cy="974725"/>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eaLnBrk="0" fontAlgn="base" hangingPunct="0">
              <a:lnSpc>
                <a:spcPts val="3600"/>
              </a:lnSpc>
              <a:spcBef>
                <a:spcPct val="0"/>
              </a:spcBef>
              <a:spcAft>
                <a:spcPct val="0"/>
              </a:spcAft>
            </a:pPr>
            <a:r>
              <a:rPr lang="en-US" altLang="zh-CN" sz="2600" smtClean="0">
                <a:solidFill>
                  <a:srgbClr val="000000"/>
                </a:solidFill>
              </a:rPr>
              <a:t>          P</a:t>
            </a:r>
            <a:r>
              <a:rPr lang="zh-CN" altLang="en-US" sz="2600" smtClean="0">
                <a:solidFill>
                  <a:srgbClr val="000000"/>
                </a:solidFill>
              </a:rPr>
              <a:t>、</a:t>
            </a:r>
            <a:r>
              <a:rPr lang="en-US" altLang="zh-CN" sz="2600" smtClean="0">
                <a:solidFill>
                  <a:srgbClr val="000000"/>
                </a:solidFill>
              </a:rPr>
              <a:t>T</a:t>
            </a:r>
            <a:r>
              <a:rPr lang="zh-CN" altLang="en-US" sz="2600" smtClean="0">
                <a:solidFill>
                  <a:srgbClr val="000000"/>
                </a:solidFill>
              </a:rPr>
              <a:t>具有强度性质</a:t>
            </a:r>
            <a:r>
              <a:rPr lang="en-US" altLang="zh-CN" sz="2600" smtClean="0">
                <a:solidFill>
                  <a:srgbClr val="000000"/>
                </a:solidFill>
              </a:rPr>
              <a:t>(intensive property)</a:t>
            </a:r>
            <a:r>
              <a:rPr lang="zh-CN" altLang="en-US" sz="2600" smtClean="0">
                <a:solidFill>
                  <a:srgbClr val="000000"/>
                </a:solidFill>
              </a:rPr>
              <a:t>；</a:t>
            </a:r>
            <a:r>
              <a:rPr lang="en-US" altLang="zh-CN" sz="2600" smtClean="0">
                <a:solidFill>
                  <a:srgbClr val="000000"/>
                </a:solidFill>
              </a:rPr>
              <a:t>n</a:t>
            </a:r>
            <a:r>
              <a:rPr lang="zh-CN" altLang="en-US" sz="2600" smtClean="0">
                <a:solidFill>
                  <a:srgbClr val="000000"/>
                </a:solidFill>
              </a:rPr>
              <a:t>、</a:t>
            </a:r>
            <a:r>
              <a:rPr lang="en-US" altLang="zh-CN" sz="2600" smtClean="0">
                <a:solidFill>
                  <a:srgbClr val="000000"/>
                </a:solidFill>
              </a:rPr>
              <a:t>V</a:t>
            </a:r>
            <a:r>
              <a:rPr lang="zh-CN" altLang="en-US" sz="2600" smtClean="0">
                <a:solidFill>
                  <a:srgbClr val="000000"/>
                </a:solidFill>
              </a:rPr>
              <a:t>、</a:t>
            </a:r>
            <a:r>
              <a:rPr lang="en-US" altLang="zh-CN" sz="2600" smtClean="0">
                <a:solidFill>
                  <a:srgbClr val="000000"/>
                </a:solidFill>
              </a:rPr>
              <a:t>H</a:t>
            </a:r>
            <a:r>
              <a:rPr lang="zh-CN" altLang="en-US" sz="2600" smtClean="0">
                <a:solidFill>
                  <a:srgbClr val="000000"/>
                </a:solidFill>
              </a:rPr>
              <a:t>、</a:t>
            </a:r>
            <a:r>
              <a:rPr lang="en-US" altLang="zh-CN" sz="2600" smtClean="0">
                <a:solidFill>
                  <a:srgbClr val="000000"/>
                </a:solidFill>
              </a:rPr>
              <a:t>S</a:t>
            </a:r>
            <a:r>
              <a:rPr lang="zh-CN" altLang="en-US" sz="2600" smtClean="0">
                <a:solidFill>
                  <a:srgbClr val="000000"/>
                </a:solidFill>
              </a:rPr>
              <a:t>、</a:t>
            </a:r>
            <a:r>
              <a:rPr lang="en-US" altLang="zh-CN" sz="2600" smtClean="0">
                <a:solidFill>
                  <a:srgbClr val="000000"/>
                </a:solidFill>
              </a:rPr>
              <a:t>G</a:t>
            </a:r>
            <a:r>
              <a:rPr lang="zh-CN" altLang="en-US" sz="2600" smtClean="0">
                <a:solidFill>
                  <a:srgbClr val="000000"/>
                </a:solidFill>
              </a:rPr>
              <a:t>则具有广度性质</a:t>
            </a:r>
            <a:r>
              <a:rPr lang="en-US" altLang="zh-CN" sz="2600" smtClean="0">
                <a:solidFill>
                  <a:srgbClr val="000000"/>
                </a:solidFill>
              </a:rPr>
              <a:t>(extensive property)</a:t>
            </a:r>
            <a:r>
              <a:rPr lang="zh-CN" altLang="en-US" sz="2600" smtClean="0">
                <a:solidFill>
                  <a:srgbClr val="000000"/>
                </a:solidFill>
              </a:rPr>
              <a:t>。</a:t>
            </a:r>
            <a:endParaRPr lang="zh-CN" altLang="en-US" sz="2600" baseline="-25000" smtClean="0">
              <a:solidFill>
                <a:srgbClr val="000000"/>
              </a:solidFill>
            </a:endParaRPr>
          </a:p>
        </p:txBody>
      </p:sp>
      <p:sp>
        <p:nvSpPr>
          <p:cNvPr id="7" name="Text Box 16"/>
          <p:cNvSpPr txBox="1">
            <a:spLocks noChangeArrowheads="1"/>
          </p:cNvSpPr>
          <p:nvPr/>
        </p:nvSpPr>
        <p:spPr bwMode="auto">
          <a:xfrm>
            <a:off x="381000" y="152400"/>
            <a:ext cx="8458200" cy="974725"/>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eaLnBrk="0" fontAlgn="base" hangingPunct="0">
              <a:lnSpc>
                <a:spcPts val="3600"/>
              </a:lnSpc>
              <a:spcBef>
                <a:spcPct val="0"/>
              </a:spcBef>
              <a:spcAft>
                <a:spcPct val="0"/>
              </a:spcAft>
            </a:pPr>
            <a:r>
              <a:rPr lang="en-US" altLang="zh-CN" sz="2600" i="1" smtClean="0">
                <a:solidFill>
                  <a:srgbClr val="C00000"/>
                </a:solidFill>
                <a:ea typeface="幼圆" panose="02010509060101010101" pitchFamily="49" charset="-122"/>
              </a:rPr>
              <a:t>        C</a:t>
            </a:r>
            <a:r>
              <a:rPr lang="zh-CN" altLang="en-US" sz="2600" i="1" smtClean="0">
                <a:solidFill>
                  <a:srgbClr val="C00000"/>
                </a:solidFill>
                <a:ea typeface="幼圆" panose="02010509060101010101" pitchFamily="49" charset="-122"/>
              </a:rPr>
              <a:t>、</a:t>
            </a:r>
            <a:r>
              <a:rPr lang="zh-CN" altLang="en-US" sz="2600" smtClean="0">
                <a:solidFill>
                  <a:srgbClr val="000000"/>
                </a:solidFill>
                <a:latin typeface="楷体_GB2312" pitchFamily="49" charset="-122"/>
              </a:rPr>
              <a:t>描述系统所处状态的各状态函数之间往往是有联系的，如理想气体的</a:t>
            </a:r>
            <a:r>
              <a:rPr lang="zh-CN" altLang="en-US" sz="2600" smtClean="0">
                <a:solidFill>
                  <a:srgbClr val="000000"/>
                </a:solidFill>
              </a:rPr>
              <a:t>压力</a:t>
            </a:r>
            <a:r>
              <a:rPr lang="en-US" altLang="zh-CN" sz="2600" smtClean="0">
                <a:solidFill>
                  <a:srgbClr val="000000"/>
                </a:solidFill>
              </a:rPr>
              <a:t>p</a:t>
            </a:r>
            <a:r>
              <a:rPr lang="zh-CN" altLang="en-US" sz="2600" smtClean="0">
                <a:solidFill>
                  <a:srgbClr val="000000"/>
                </a:solidFill>
              </a:rPr>
              <a:t>、体积</a:t>
            </a:r>
            <a:r>
              <a:rPr lang="en-US" altLang="zh-CN" sz="2600" smtClean="0">
                <a:solidFill>
                  <a:srgbClr val="000000"/>
                </a:solidFill>
              </a:rPr>
              <a:t>V</a:t>
            </a:r>
            <a:r>
              <a:rPr lang="zh-CN" altLang="en-US" sz="2600" smtClean="0">
                <a:solidFill>
                  <a:srgbClr val="000000"/>
                </a:solidFill>
              </a:rPr>
              <a:t>、温度</a:t>
            </a:r>
            <a:r>
              <a:rPr lang="en-US" altLang="zh-CN" sz="2600" smtClean="0">
                <a:solidFill>
                  <a:srgbClr val="000000"/>
                </a:solidFill>
              </a:rPr>
              <a:t>T</a:t>
            </a:r>
            <a:r>
              <a:rPr lang="zh-CN" altLang="en-US" sz="2600" smtClean="0">
                <a:solidFill>
                  <a:srgbClr val="000000"/>
                </a:solidFill>
              </a:rPr>
              <a:t>之间。</a:t>
            </a:r>
          </a:p>
        </p:txBody>
      </p:sp>
      <p:sp>
        <p:nvSpPr>
          <p:cNvPr id="8" name="Text Box 7"/>
          <p:cNvSpPr txBox="1">
            <a:spLocks noChangeArrowheads="1"/>
          </p:cNvSpPr>
          <p:nvPr/>
        </p:nvSpPr>
        <p:spPr bwMode="auto">
          <a:xfrm>
            <a:off x="381000" y="1219200"/>
            <a:ext cx="4876800" cy="5127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algn="ctr" eaLnBrk="0" fontAlgn="base" hangingPunct="0">
              <a:lnSpc>
                <a:spcPts val="3600"/>
              </a:lnSpc>
              <a:spcBef>
                <a:spcPct val="0"/>
              </a:spcBef>
              <a:spcAft>
                <a:spcPct val="0"/>
              </a:spcAft>
            </a:pPr>
            <a:r>
              <a:rPr lang="zh-CN" altLang="en-US" sz="2600" smtClean="0">
                <a:solidFill>
                  <a:srgbClr val="000000"/>
                </a:solidFill>
              </a:rPr>
              <a:t>功和热是不是状态函数呢？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amond(i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39272"/>
                                        </p:tgtEl>
                                        <p:attrNameLst>
                                          <p:attrName>style.visibility</p:attrName>
                                        </p:attrNameLst>
                                      </p:cBhvr>
                                      <p:to>
                                        <p:strVal val="visible"/>
                                      </p:to>
                                    </p:set>
                                    <p:animEffect transition="in" filter="checkerboard(across)">
                                      <p:cBhvr>
                                        <p:cTn id="17" dur="500"/>
                                        <p:tgtEl>
                                          <p:spTgt spid="13927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39275"/>
                                        </p:tgtEl>
                                        <p:attrNameLst>
                                          <p:attrName>style.visibility</p:attrName>
                                        </p:attrNameLst>
                                      </p:cBhvr>
                                      <p:to>
                                        <p:strVal val="visible"/>
                                      </p:to>
                                    </p:set>
                                    <p:animEffect transition="in" filter="checkerboard(across)">
                                      <p:cBhvr>
                                        <p:cTn id="22" dur="500"/>
                                        <p:tgtEl>
                                          <p:spTgt spid="139275"/>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diamond(in)">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75" grpId="0" animBg="1"/>
      <p:bldP spid="6" grpId="0" animBg="1"/>
      <p:bldP spid="7"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矩形 9"/>
          <p:cNvSpPr>
            <a:spLocks noChangeArrowheads="1"/>
          </p:cNvSpPr>
          <p:nvPr/>
        </p:nvSpPr>
        <p:spPr bwMode="auto">
          <a:xfrm>
            <a:off x="152400" y="152400"/>
            <a:ext cx="5181600" cy="412750"/>
          </a:xfrm>
          <a:prstGeom prst="rect">
            <a:avLst/>
          </a:prstGeom>
          <a:solidFill>
            <a:srgbClr val="99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ct val="80000"/>
              </a:lnSpc>
              <a:spcBef>
                <a:spcPct val="50000"/>
              </a:spcBef>
              <a:spcAft>
                <a:spcPct val="0"/>
              </a:spcAft>
            </a:pPr>
            <a:r>
              <a:rPr kumimoji="1" lang="en-US" altLang="zh-CN" sz="2600" b="1" i="1" smtClean="0">
                <a:solidFill>
                  <a:srgbClr val="FF0000"/>
                </a:solidFill>
                <a:latin typeface="Times New Roman" panose="02020603050405020304" pitchFamily="18" charset="0"/>
                <a:ea typeface="楷体_GB2312" pitchFamily="49" charset="-122"/>
              </a:rPr>
              <a:t>4</a:t>
            </a:r>
            <a:r>
              <a:rPr kumimoji="1" lang="zh-CN" altLang="en-US" sz="2600" b="1" i="1" smtClean="0">
                <a:solidFill>
                  <a:srgbClr val="FF0000"/>
                </a:solidFill>
                <a:latin typeface="Times New Roman" panose="02020603050405020304" pitchFamily="18" charset="0"/>
                <a:ea typeface="楷体_GB2312" pitchFamily="49" charset="-122"/>
              </a:rPr>
              <a:t>、化学反应计量式和反应进度</a:t>
            </a:r>
            <a:endParaRPr kumimoji="1" lang="zh-CN" altLang="en-US" sz="3000" b="1" i="1" smtClean="0">
              <a:solidFill>
                <a:srgbClr val="FF0000"/>
              </a:solidFill>
              <a:latin typeface="Times New Roman" panose="02020603050405020304" pitchFamily="18" charset="0"/>
              <a:ea typeface="楷体_GB2312" pitchFamily="49" charset="-122"/>
            </a:endParaRPr>
          </a:p>
        </p:txBody>
      </p:sp>
      <p:grpSp>
        <p:nvGrpSpPr>
          <p:cNvPr id="2" name="组合 8"/>
          <p:cNvGrpSpPr/>
          <p:nvPr/>
        </p:nvGrpSpPr>
        <p:grpSpPr bwMode="auto">
          <a:xfrm>
            <a:off x="457200" y="1981200"/>
            <a:ext cx="8382000" cy="3125788"/>
            <a:chOff x="457200" y="1981200"/>
            <a:chExt cx="8382000" cy="3125788"/>
          </a:xfrm>
        </p:grpSpPr>
        <p:sp>
          <p:nvSpPr>
            <p:cNvPr id="4104" name="矩形 12"/>
            <p:cNvSpPr>
              <a:spLocks noChangeArrowheads="1"/>
            </p:cNvSpPr>
            <p:nvPr/>
          </p:nvSpPr>
          <p:spPr bwMode="auto">
            <a:xfrm>
              <a:off x="990600" y="1981200"/>
              <a:ext cx="5943600" cy="554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zh-CN" altLang="en-US" sz="2600" b="1" smtClean="0">
                  <a:solidFill>
                    <a:srgbClr val="000000"/>
                  </a:solidFill>
                  <a:latin typeface="楷体_GB2312" pitchFamily="49" charset="-122"/>
                  <a:ea typeface="楷体_GB2312" pitchFamily="49" charset="-122"/>
                </a:rPr>
                <a:t>方程式应该服从</a:t>
              </a:r>
              <a:r>
                <a:rPr kumimoji="1" lang="zh-CN" altLang="en-US" sz="2600" b="1" i="1" smtClean="0">
                  <a:solidFill>
                    <a:srgbClr val="C00000"/>
                  </a:solidFill>
                  <a:latin typeface="楷体_GB2312" pitchFamily="49" charset="-122"/>
                  <a:ea typeface="楷体_GB2312" pitchFamily="49" charset="-122"/>
                </a:rPr>
                <a:t>质量守恒定律</a:t>
              </a:r>
              <a:r>
                <a:rPr kumimoji="1" lang="zh-CN" altLang="en-US" sz="2600" b="1" smtClean="0">
                  <a:solidFill>
                    <a:srgbClr val="000000"/>
                  </a:solidFill>
                  <a:latin typeface="楷体_GB2312" pitchFamily="49" charset="-122"/>
                  <a:ea typeface="楷体_GB2312" pitchFamily="49" charset="-122"/>
                </a:rPr>
                <a:t>，即：</a:t>
              </a:r>
              <a:endParaRPr kumimoji="1" lang="zh-CN" altLang="en-US" sz="3000" b="1" smtClean="0">
                <a:solidFill>
                  <a:srgbClr val="000000"/>
                </a:solidFill>
                <a:latin typeface="Times New Roman" panose="02020603050405020304" pitchFamily="18" charset="0"/>
                <a:ea typeface="楷体_GB2312" pitchFamily="49" charset="-122"/>
              </a:endParaRPr>
            </a:p>
          </p:txBody>
        </p:sp>
        <p:graphicFrame>
          <p:nvGraphicFramePr>
            <p:cNvPr id="4099" name="Object 5"/>
            <p:cNvGraphicFramePr>
              <a:graphicFrameLocks noChangeAspect="1"/>
            </p:cNvGraphicFramePr>
            <p:nvPr/>
          </p:nvGraphicFramePr>
          <p:xfrm>
            <a:off x="3505200" y="2514600"/>
            <a:ext cx="2209800" cy="949325"/>
          </p:xfrm>
          <a:graphic>
            <a:graphicData uri="http://schemas.openxmlformats.org/presentationml/2006/ole">
              <p:oleObj spid="_x0000_s51202" name="CS ChemDraw Drawing" r:id="rId3" imgW="11963400" imgH="5934075" progId="">
                <p:embed/>
              </p:oleObj>
            </a:graphicData>
          </a:graphic>
        </p:graphicFrame>
        <p:sp>
          <p:nvSpPr>
            <p:cNvPr id="4105" name="矩形 14"/>
            <p:cNvSpPr>
              <a:spLocks noChangeArrowheads="1"/>
            </p:cNvSpPr>
            <p:nvPr/>
          </p:nvSpPr>
          <p:spPr bwMode="auto">
            <a:xfrm>
              <a:off x="457200" y="3429000"/>
              <a:ext cx="8382000" cy="16779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2600" b="1" i="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i="1" baseline="-25000" dirty="0" smtClean="0">
                  <a:solidFill>
                    <a:srgbClr val="000000"/>
                  </a:solidFill>
                  <a:latin typeface="Times New Roman" panose="02020603050405020304" pitchFamily="18" charset="0"/>
                  <a:ea typeface="楷体_GB2312" pitchFamily="49" charset="-122"/>
                </a:rPr>
                <a:t>B</a:t>
              </a:r>
              <a:r>
                <a:rPr kumimoji="1" lang="en-US" altLang="zh-CN" sz="2600" b="1" i="1" dirty="0" smtClean="0">
                  <a:solidFill>
                    <a:srgbClr val="000000"/>
                  </a:solidFill>
                  <a:latin typeface="Times New Roman" panose="02020603050405020304" pitchFamily="18" charset="0"/>
                  <a:ea typeface="楷体_GB2312" pitchFamily="49" charset="-122"/>
                </a:rPr>
                <a:t> </a:t>
              </a:r>
              <a:r>
                <a:rPr kumimoji="1" lang="zh-CN" altLang="en-US" sz="2600" b="1" dirty="0" smtClean="0">
                  <a:solidFill>
                    <a:srgbClr val="000000"/>
                  </a:solidFill>
                  <a:latin typeface="Times New Roman" panose="02020603050405020304" pitchFamily="18" charset="0"/>
                  <a:ea typeface="楷体_GB2312" pitchFamily="49" charset="-122"/>
                </a:rPr>
                <a:t>称为</a:t>
              </a:r>
              <a:r>
                <a:rPr kumimoji="1" lang="en-US" altLang="zh-CN" sz="2600" b="1" dirty="0" smtClean="0">
                  <a:solidFill>
                    <a:srgbClr val="000000"/>
                  </a:solidFill>
                  <a:latin typeface="Times New Roman" panose="02020603050405020304" pitchFamily="18" charset="0"/>
                  <a:ea typeface="楷体_GB2312" pitchFamily="49" charset="-122"/>
                </a:rPr>
                <a:t>B(</a:t>
              </a:r>
              <a:r>
                <a:rPr kumimoji="1" lang="zh-CN" altLang="en-US" sz="2600" b="1" dirty="0" smtClean="0">
                  <a:solidFill>
                    <a:srgbClr val="000000"/>
                  </a:solidFill>
                  <a:latin typeface="Times New Roman" panose="02020603050405020304" pitchFamily="18" charset="0"/>
                  <a:ea typeface="楷体_GB2312" pitchFamily="49" charset="-122"/>
                </a:rPr>
                <a:t>包含在反应中的分子、原子或离子</a:t>
              </a:r>
              <a:r>
                <a:rPr kumimoji="1" lang="en-US" altLang="zh-CN" sz="2600" b="1" dirty="0" smtClean="0">
                  <a:solidFill>
                    <a:srgbClr val="000000"/>
                  </a:solidFill>
                  <a:latin typeface="Times New Roman" panose="02020603050405020304" pitchFamily="18" charset="0"/>
                  <a:ea typeface="楷体_GB2312" pitchFamily="49" charset="-122"/>
                </a:rPr>
                <a:t>)</a:t>
              </a:r>
              <a:r>
                <a:rPr kumimoji="1" lang="zh-CN" altLang="en-US" sz="2600" b="1" dirty="0" smtClean="0">
                  <a:solidFill>
                    <a:srgbClr val="000000"/>
                  </a:solidFill>
                  <a:latin typeface="Times New Roman" panose="02020603050405020304" pitchFamily="18" charset="0"/>
                  <a:ea typeface="楷体_GB2312" pitchFamily="49" charset="-122"/>
                </a:rPr>
                <a:t>的化学反应方程式的计量系数。</a:t>
              </a:r>
              <a:r>
                <a:rPr kumimoji="1" lang="en-US" altLang="zh-CN" sz="2600" b="1" dirty="0" smtClean="0">
                  <a:solidFill>
                    <a:srgbClr val="000000"/>
                  </a:solidFill>
                  <a:latin typeface="Times New Roman" panose="02020603050405020304" pitchFamily="18" charset="0"/>
                  <a:ea typeface="楷体_GB2312" pitchFamily="49" charset="-122"/>
                </a:rPr>
                <a:t>(</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800" dirty="0" err="1" smtClean="0">
                  <a:solidFill>
                    <a:srgbClr val="000000"/>
                  </a:solidFill>
                  <a:latin typeface="Times New Roman" panose="02020603050405020304" pitchFamily="18" charset="0"/>
                  <a:ea typeface="楷体_GB2312" pitchFamily="49" charset="-122"/>
                </a:rPr>
                <a:t>nju</a:t>
              </a:r>
              <a:r>
                <a:rPr kumimoji="1" lang="en-US" altLang="zh-CN" sz="2800" dirty="0" smtClean="0">
                  <a:solidFill>
                    <a:srgbClr val="000000"/>
                  </a:solidFill>
                  <a:latin typeface="Times New Roman" panose="02020603050405020304" pitchFamily="18" charset="0"/>
                  <a:ea typeface="楷体_GB2312" pitchFamily="49" charset="-122"/>
                </a:rPr>
                <a:t>:</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dirty="0" smtClean="0">
                  <a:solidFill>
                    <a:srgbClr val="000000"/>
                  </a:solidFill>
                  <a:latin typeface="Times New Roman" panose="02020603050405020304" pitchFamily="18" charset="0"/>
                  <a:ea typeface="楷体_GB2312" pitchFamily="49" charset="-122"/>
                </a:rPr>
                <a:t>)</a:t>
              </a:r>
              <a:r>
                <a:rPr kumimoji="1" lang="zh-CN" altLang="en-US" sz="2600" b="1" dirty="0" smtClean="0">
                  <a:solidFill>
                    <a:srgbClr val="000000"/>
                  </a:solidFill>
                  <a:latin typeface="Times New Roman" panose="02020603050405020304" pitchFamily="18" charset="0"/>
                  <a:ea typeface="楷体_GB2312" pitchFamily="49" charset="-122"/>
                </a:rPr>
                <a:t>，∑</a:t>
              </a:r>
              <a:r>
                <a:rPr kumimoji="1" lang="en-US" altLang="zh-CN" sz="2600" b="1" dirty="0" smtClean="0">
                  <a:solidFill>
                    <a:srgbClr val="000000"/>
                  </a:solidFill>
                  <a:latin typeface="Times New Roman" panose="02020603050405020304" pitchFamily="18" charset="0"/>
                  <a:ea typeface="楷体_GB2312" pitchFamily="49" charset="-122"/>
                </a:rPr>
                <a:t>---</a:t>
              </a:r>
              <a:r>
                <a:rPr kumimoji="1" lang="zh-CN" altLang="en-US" sz="2600" b="1" dirty="0" smtClean="0">
                  <a:solidFill>
                    <a:srgbClr val="000000"/>
                  </a:solidFill>
                  <a:latin typeface="Times New Roman" panose="02020603050405020304" pitchFamily="18" charset="0"/>
                  <a:ea typeface="楷体_GB2312" pitchFamily="49" charset="-122"/>
                </a:rPr>
                <a:t>加和符号</a:t>
              </a:r>
            </a:p>
            <a:p>
              <a:pPr eaLnBrk="0" fontAlgn="base" hangingPunct="0">
                <a:lnSpc>
                  <a:spcPts val="3600"/>
                </a:lnSpc>
                <a:spcBef>
                  <a:spcPct val="50000"/>
                </a:spcBef>
                <a:spcAft>
                  <a:spcPct val="0"/>
                </a:spcAft>
              </a:pPr>
              <a:r>
                <a:rPr kumimoji="1" lang="zh-CN" altLang="en-US" sz="2600" b="1" dirty="0" smtClean="0">
                  <a:solidFill>
                    <a:srgbClr val="000000"/>
                  </a:solidFill>
                  <a:latin typeface="Times New Roman" panose="02020603050405020304" pitchFamily="18" charset="0"/>
                  <a:ea typeface="楷体_GB2312" pitchFamily="49" charset="-122"/>
                </a:rPr>
                <a:t>        符号规定：</a:t>
              </a:r>
              <a:r>
                <a:rPr kumimoji="1" lang="zh-CN" altLang="en-US" sz="2600" b="1" i="1" dirty="0" smtClean="0">
                  <a:solidFill>
                    <a:srgbClr val="CC3300"/>
                  </a:solidFill>
                  <a:latin typeface="Times New Roman" panose="02020603050405020304" pitchFamily="18" charset="0"/>
                  <a:ea typeface="楷体_GB2312" pitchFamily="49" charset="-122"/>
                </a:rPr>
                <a:t>反应物的</a:t>
              </a:r>
              <a:r>
                <a:rPr kumimoji="1" lang="zh-CN" altLang="en-US" sz="2600" b="1" i="1" dirty="0" smtClean="0">
                  <a:solidFill>
                    <a:srgbClr val="CC3300"/>
                  </a:solidFill>
                  <a:latin typeface="Times New Roman" panose="02020603050405020304" pitchFamily="18" charset="0"/>
                  <a:ea typeface="楷体_GB2312" pitchFamily="49" charset="-122"/>
                  <a:sym typeface="Symbol" panose="05050102010706020507" pitchFamily="18" charset="2"/>
                </a:rPr>
                <a:t></a:t>
              </a:r>
              <a:r>
                <a:rPr kumimoji="1" lang="en-US" altLang="zh-CN" sz="2600" b="1" i="1" baseline="-25000" dirty="0" smtClean="0">
                  <a:solidFill>
                    <a:srgbClr val="CC3300"/>
                  </a:solidFill>
                  <a:latin typeface="Times New Roman" panose="02020603050405020304" pitchFamily="18" charset="0"/>
                  <a:ea typeface="楷体_GB2312" pitchFamily="49" charset="-122"/>
                </a:rPr>
                <a:t>B</a:t>
              </a:r>
              <a:r>
                <a:rPr kumimoji="1" lang="zh-CN" altLang="en-US" sz="2600" b="1" i="1" dirty="0" smtClean="0">
                  <a:solidFill>
                    <a:srgbClr val="CC3300"/>
                  </a:solidFill>
                  <a:latin typeface="Times New Roman" panose="02020603050405020304" pitchFamily="18" charset="0"/>
                  <a:ea typeface="楷体_GB2312" pitchFamily="49" charset="-122"/>
                </a:rPr>
                <a:t>为负，生成物的</a:t>
              </a:r>
              <a:r>
                <a:rPr kumimoji="1" lang="zh-CN" altLang="en-US" sz="2600" b="1" i="1" dirty="0" smtClean="0">
                  <a:solidFill>
                    <a:srgbClr val="CC3300"/>
                  </a:solidFill>
                  <a:latin typeface="Times New Roman" panose="02020603050405020304" pitchFamily="18" charset="0"/>
                  <a:ea typeface="楷体_GB2312" pitchFamily="49" charset="-122"/>
                  <a:sym typeface="Symbol" panose="05050102010706020507" pitchFamily="18" charset="2"/>
                </a:rPr>
                <a:t></a:t>
              </a:r>
              <a:r>
                <a:rPr kumimoji="1" lang="en-US" altLang="zh-CN" sz="2600" b="1" i="1" baseline="-25000" dirty="0" smtClean="0">
                  <a:solidFill>
                    <a:srgbClr val="CC3300"/>
                  </a:solidFill>
                  <a:latin typeface="Times New Roman" panose="02020603050405020304" pitchFamily="18" charset="0"/>
                  <a:ea typeface="楷体_GB2312" pitchFamily="49" charset="-122"/>
                </a:rPr>
                <a:t>B</a:t>
              </a:r>
              <a:r>
                <a:rPr kumimoji="1" lang="zh-CN" altLang="en-US" sz="2600" b="1" i="1" dirty="0" smtClean="0">
                  <a:solidFill>
                    <a:srgbClr val="CC3300"/>
                  </a:solidFill>
                  <a:latin typeface="Times New Roman" panose="02020603050405020304" pitchFamily="18" charset="0"/>
                  <a:ea typeface="楷体_GB2312" pitchFamily="49" charset="-122"/>
                </a:rPr>
                <a:t>为正</a:t>
              </a:r>
            </a:p>
          </p:txBody>
        </p:sp>
      </p:grpSp>
      <p:grpSp>
        <p:nvGrpSpPr>
          <p:cNvPr id="3" name="组合 7"/>
          <p:cNvGrpSpPr/>
          <p:nvPr/>
        </p:nvGrpSpPr>
        <p:grpSpPr bwMode="auto">
          <a:xfrm>
            <a:off x="228600" y="762000"/>
            <a:ext cx="8610600" cy="1066800"/>
            <a:chOff x="228600" y="762000"/>
            <a:chExt cx="8610600" cy="1066800"/>
          </a:xfrm>
        </p:grpSpPr>
        <p:sp>
          <p:nvSpPr>
            <p:cNvPr id="4103" name="矩形 11"/>
            <p:cNvSpPr>
              <a:spLocks noChangeArrowheads="1"/>
            </p:cNvSpPr>
            <p:nvPr/>
          </p:nvSpPr>
          <p:spPr bwMode="auto">
            <a:xfrm>
              <a:off x="228600" y="762000"/>
              <a:ext cx="8153400" cy="5127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zh-CN" altLang="en-US" sz="2600" b="1" dirty="0" smtClean="0">
                  <a:solidFill>
                    <a:srgbClr val="000000"/>
                  </a:solidFill>
                  <a:latin typeface="楷体_GB2312" pitchFamily="49" charset="-122"/>
                  <a:ea typeface="楷体_GB2312" pitchFamily="49" charset="-122"/>
                </a:rPr>
                <a:t>    可以用</a:t>
              </a:r>
              <a:r>
                <a:rPr kumimoji="1" lang="zh-CN" altLang="en-US" sz="2600" b="1" i="1" dirty="0" smtClean="0">
                  <a:solidFill>
                    <a:srgbClr val="000000"/>
                  </a:solidFill>
                  <a:latin typeface="楷体_GB2312" pitchFamily="49" charset="-122"/>
                  <a:ea typeface="楷体_GB2312" pitchFamily="49" charset="-122"/>
                </a:rPr>
                <a:t>如下通式来表示化学反应计量方程式：</a:t>
              </a:r>
              <a:endParaRPr kumimoji="1" lang="zh-CN" altLang="en-US" sz="3000" b="1" dirty="0" smtClean="0">
                <a:solidFill>
                  <a:srgbClr val="000000"/>
                </a:solidFill>
                <a:latin typeface="Times New Roman" panose="02020603050405020304" pitchFamily="18" charset="0"/>
                <a:ea typeface="楷体_GB2312" pitchFamily="49" charset="-122"/>
              </a:endParaRPr>
            </a:p>
          </p:txBody>
        </p:sp>
        <p:graphicFrame>
          <p:nvGraphicFramePr>
            <p:cNvPr id="4098" name="Object 6"/>
            <p:cNvGraphicFramePr>
              <a:graphicFrameLocks noChangeAspect="1"/>
            </p:cNvGraphicFramePr>
            <p:nvPr/>
          </p:nvGraphicFramePr>
          <p:xfrm>
            <a:off x="228600" y="1295400"/>
            <a:ext cx="8610600" cy="533400"/>
          </p:xfrm>
          <a:graphic>
            <a:graphicData uri="http://schemas.openxmlformats.org/presentationml/2006/ole">
              <p:oleObj spid="_x0000_s51201" name="CS ChemDraw Drawing" r:id="rId4" imgW="36528375" imgH="2076450" progId="">
                <p:embed/>
              </p:oleObj>
            </a:graphicData>
          </a:graphic>
        </p:graphicFrame>
      </p:grpSp>
      <p:grpSp>
        <p:nvGrpSpPr>
          <p:cNvPr id="11" name="组合 10"/>
          <p:cNvGrpSpPr/>
          <p:nvPr/>
        </p:nvGrpSpPr>
        <p:grpSpPr>
          <a:xfrm>
            <a:off x="1071538" y="5143512"/>
            <a:ext cx="6887614" cy="1193973"/>
            <a:chOff x="1000100" y="4500570"/>
            <a:chExt cx="6887614" cy="1193973"/>
          </a:xfrm>
        </p:grpSpPr>
        <p:sp>
          <p:nvSpPr>
            <p:cNvPr id="12" name="Text Box 5"/>
            <p:cNvSpPr txBox="1"/>
            <p:nvPr/>
          </p:nvSpPr>
          <p:spPr>
            <a:xfrm>
              <a:off x="1000100" y="4500570"/>
              <a:ext cx="6887614" cy="551177"/>
            </a:xfrm>
            <a:prstGeom prst="rect">
              <a:avLst/>
            </a:prstGeom>
            <a:solidFill>
              <a:srgbClr val="FFFFFF"/>
            </a:solidFill>
            <a:ln w="9525">
              <a:noFill/>
            </a:ln>
          </p:spPr>
          <p:txBody>
            <a:bodyPr anchor="t" anchorCtr="0">
              <a:spAutoFit/>
            </a:bodyPr>
            <a:lstStyle/>
            <a:p>
              <a:pPr marL="0" marR="0" lvl="0" indent="0" defTabSz="914400" eaLnBrk="1" fontAlgn="auto" latinLnBrk="0" hangingPunct="1">
                <a:lnSpc>
                  <a:spcPts val="4000"/>
                </a:lnSpc>
                <a:spcBef>
                  <a:spcPts val="0"/>
                </a:spcBef>
                <a:spcAft>
                  <a:spcPts val="0"/>
                </a:spcAft>
                <a:buClrTx/>
                <a:buSzTx/>
                <a:buFontTx/>
                <a:buNone/>
                <a:tabLst/>
                <a:defRPr/>
              </a:pPr>
              <a:r>
                <a:rPr kumimoji="0" lang="zh-CN" altLang="en-US" sz="2600" b="1" u="none" strike="noStrike" kern="0" cap="none" spc="0" normalizeH="0" baseline="0" noProof="0" dirty="0">
                  <a:ln>
                    <a:noFill/>
                  </a:ln>
                  <a:solidFill>
                    <a:srgbClr val="080808"/>
                  </a:solidFill>
                  <a:effectLst/>
                  <a:uLnTx/>
                  <a:uFillTx/>
                  <a:latin typeface="Times New Roman" panose="02020603050405020304" pitchFamily="18" charset="0"/>
                  <a:ea typeface="楷体_GB2312" charset="-122"/>
                </a:rPr>
                <a:t>例如反应　    </a:t>
              </a:r>
              <a:r>
                <a:rPr kumimoji="0" lang="en-US" altLang="zh-CN" sz="2600" b="1" u="none" strike="noStrike" kern="0" cap="none" spc="0" normalizeH="0" baseline="0" noProof="0" dirty="0" smtClean="0">
                  <a:ln>
                    <a:noFill/>
                  </a:ln>
                  <a:solidFill>
                    <a:srgbClr val="080808"/>
                  </a:solidFill>
                  <a:effectLst/>
                  <a:uLnTx/>
                  <a:uFillTx/>
                  <a:latin typeface="Times New Roman" panose="02020603050405020304" pitchFamily="18" charset="0"/>
                  <a:ea typeface="楷体_GB2312" charset="-122"/>
                </a:rPr>
                <a:t>2N</a:t>
              </a:r>
              <a:r>
                <a:rPr kumimoji="0" lang="en-US" altLang="zh-CN" sz="2600" b="1" u="none" strike="noStrike" kern="0" cap="none" spc="0" normalizeH="0" baseline="-25000" noProof="0" dirty="0" smtClean="0">
                  <a:ln>
                    <a:noFill/>
                  </a:ln>
                  <a:solidFill>
                    <a:srgbClr val="080808"/>
                  </a:solidFill>
                  <a:effectLst/>
                  <a:uLnTx/>
                  <a:uFillTx/>
                  <a:latin typeface="Times New Roman" panose="02020603050405020304" pitchFamily="18" charset="0"/>
                  <a:ea typeface="楷体_GB2312" charset="-122"/>
                </a:rPr>
                <a:t>2</a:t>
              </a:r>
              <a:r>
                <a:rPr kumimoji="0" lang="en-US" altLang="zh-CN" sz="2600" b="1" u="none" strike="noStrike" kern="0" cap="none" spc="0" normalizeH="0" baseline="0" noProof="0" dirty="0" smtClean="0">
                  <a:ln>
                    <a:noFill/>
                  </a:ln>
                  <a:solidFill>
                    <a:srgbClr val="080808"/>
                  </a:solidFill>
                  <a:effectLst/>
                  <a:uLnTx/>
                  <a:uFillTx/>
                  <a:latin typeface="Times New Roman" panose="02020603050405020304" pitchFamily="18" charset="0"/>
                  <a:ea typeface="楷体_GB2312" charset="-122"/>
                </a:rPr>
                <a:t>O</a:t>
              </a:r>
              <a:r>
                <a:rPr kumimoji="0" lang="en-US" altLang="zh-CN" sz="2600" b="1" u="none" strike="noStrike" kern="0" cap="none" spc="0" normalizeH="0" baseline="-25000" noProof="0" dirty="0" smtClean="0">
                  <a:ln>
                    <a:noFill/>
                  </a:ln>
                  <a:solidFill>
                    <a:srgbClr val="080808"/>
                  </a:solidFill>
                  <a:effectLst/>
                  <a:uLnTx/>
                  <a:uFillTx/>
                  <a:latin typeface="Times New Roman" panose="02020603050405020304" pitchFamily="18" charset="0"/>
                  <a:ea typeface="楷体_GB2312" charset="-122"/>
                </a:rPr>
                <a:t>5</a:t>
              </a:r>
              <a:r>
                <a:rPr kumimoji="0" lang="en-US" altLang="zh-CN" sz="2600" b="1" u="none" strike="noStrike" kern="0" cap="none" spc="0" normalizeH="0" baseline="0" noProof="0" dirty="0" smtClean="0">
                  <a:ln>
                    <a:noFill/>
                  </a:ln>
                  <a:solidFill>
                    <a:srgbClr val="080808"/>
                  </a:solidFill>
                  <a:effectLst/>
                  <a:uLnTx/>
                  <a:uFillTx/>
                  <a:latin typeface="Times New Roman" panose="02020603050405020304" pitchFamily="18" charset="0"/>
                  <a:ea typeface="楷体_GB2312" charset="-122"/>
                </a:rPr>
                <a:t> </a:t>
              </a:r>
              <a:r>
                <a:rPr kumimoji="0" lang="en-US" altLang="zh-CN" sz="2600" b="1" u="none" strike="noStrike" kern="0" cap="none" spc="0" normalizeH="0" baseline="0" noProof="0" dirty="0">
                  <a:ln>
                    <a:noFill/>
                  </a:ln>
                  <a:solidFill>
                    <a:srgbClr val="080808"/>
                  </a:solidFill>
                  <a:effectLst/>
                  <a:uLnTx/>
                  <a:uFillTx/>
                  <a:latin typeface="Times New Roman" panose="02020603050405020304" pitchFamily="18" charset="0"/>
                  <a:ea typeface="楷体_GB2312" charset="-122"/>
                </a:rPr>
                <a:t>→   4NO</a:t>
              </a:r>
              <a:r>
                <a:rPr kumimoji="0" lang="en-US" altLang="zh-CN" sz="2600" b="1" u="none" strike="noStrike" kern="0" cap="none" spc="0" normalizeH="0" baseline="-25000" noProof="0" dirty="0">
                  <a:ln>
                    <a:noFill/>
                  </a:ln>
                  <a:solidFill>
                    <a:srgbClr val="080808"/>
                  </a:solidFill>
                  <a:effectLst/>
                  <a:uLnTx/>
                  <a:uFillTx/>
                  <a:latin typeface="Times New Roman" panose="02020603050405020304" pitchFamily="18" charset="0"/>
                  <a:ea typeface="楷体_GB2312" charset="-122"/>
                </a:rPr>
                <a:t>2</a:t>
              </a:r>
              <a:r>
                <a:rPr kumimoji="0" lang="en-US" altLang="zh-CN" sz="2600" b="1" u="none" strike="noStrike" kern="0" cap="none" spc="0" normalizeH="0" baseline="0" noProof="0" dirty="0">
                  <a:ln>
                    <a:noFill/>
                  </a:ln>
                  <a:solidFill>
                    <a:srgbClr val="080808"/>
                  </a:solidFill>
                  <a:effectLst/>
                  <a:uLnTx/>
                  <a:uFillTx/>
                  <a:latin typeface="Times New Roman" panose="02020603050405020304" pitchFamily="18" charset="0"/>
                  <a:ea typeface="楷体_GB2312" charset="-122"/>
                </a:rPr>
                <a:t>  +  O</a:t>
              </a:r>
              <a:r>
                <a:rPr kumimoji="0" lang="en-US" altLang="zh-CN" sz="2600" b="1" u="none" strike="noStrike" kern="0" cap="none" spc="0" normalizeH="0" baseline="-25000" noProof="0" dirty="0">
                  <a:ln>
                    <a:noFill/>
                  </a:ln>
                  <a:solidFill>
                    <a:srgbClr val="080808"/>
                  </a:solidFill>
                  <a:effectLst/>
                  <a:uLnTx/>
                  <a:uFillTx/>
                  <a:latin typeface="Times New Roman" panose="02020603050405020304" pitchFamily="18" charset="0"/>
                  <a:ea typeface="楷体_GB2312" charset="-122"/>
                </a:rPr>
                <a:t>2</a:t>
              </a:r>
            </a:p>
          </p:txBody>
        </p:sp>
        <p:sp>
          <p:nvSpPr>
            <p:cNvPr id="13" name="Text Box 5"/>
            <p:cNvSpPr txBox="1"/>
            <p:nvPr/>
          </p:nvSpPr>
          <p:spPr>
            <a:xfrm>
              <a:off x="1000100" y="5143512"/>
              <a:ext cx="6887614" cy="551031"/>
            </a:xfrm>
            <a:prstGeom prst="rect">
              <a:avLst/>
            </a:prstGeom>
            <a:solidFill>
              <a:srgbClr val="FFFFFF"/>
            </a:solidFill>
            <a:ln w="9525">
              <a:noFill/>
            </a:ln>
          </p:spPr>
          <p:txBody>
            <a:bodyPr anchor="t" anchorCtr="0">
              <a:spAutoFit/>
            </a:bodyPr>
            <a:lstStyle/>
            <a:p>
              <a:pPr lvl="0" algn="ctr">
                <a:lnSpc>
                  <a:spcPts val="4000"/>
                </a:lnSpc>
              </a:pPr>
              <a:r>
                <a:rPr lang="zh-CN" altLang="en-US" sz="2400" i="1" kern="0" dirty="0" smtClean="0">
                  <a:solidFill>
                    <a:srgbClr val="2909C9"/>
                  </a:solidFill>
                  <a:latin typeface="Times New Roman" panose="02020603050405020304" pitchFamily="18" charset="0"/>
                  <a:ea typeface="楷体_GB2312" charset="-122"/>
                </a:rPr>
                <a:t>－</a:t>
              </a:r>
              <a:r>
                <a:rPr kumimoji="0" lang="en-US" altLang="zh-CN" sz="2400" i="1" u="none" strike="noStrike" kern="0" cap="none" spc="0" normalizeH="0" baseline="0" noProof="0" dirty="0" smtClean="0">
                  <a:ln>
                    <a:noFill/>
                  </a:ln>
                  <a:solidFill>
                    <a:srgbClr val="2909C9"/>
                  </a:solidFill>
                  <a:effectLst/>
                  <a:uLnTx/>
                  <a:uFillTx/>
                  <a:latin typeface="Times New Roman" panose="02020603050405020304" pitchFamily="18" charset="0"/>
                  <a:ea typeface="楷体_GB2312" charset="-122"/>
                </a:rPr>
                <a:t>4N</a:t>
              </a:r>
              <a:r>
                <a:rPr lang="zh-CN" altLang="en-US" sz="2400" i="1" kern="0" dirty="0" smtClean="0">
                  <a:solidFill>
                    <a:srgbClr val="2909C9"/>
                  </a:solidFill>
                  <a:latin typeface="Times New Roman" panose="02020603050405020304" pitchFamily="18" charset="0"/>
                  <a:ea typeface="楷体_GB2312" charset="-122"/>
                </a:rPr>
                <a:t>－</a:t>
              </a:r>
              <a:r>
                <a:rPr kumimoji="0" lang="en-US" altLang="zh-CN" sz="2400" i="1" u="none" strike="noStrike" kern="0" cap="none" spc="0" normalizeH="0" baseline="0" noProof="0" dirty="0" smtClean="0">
                  <a:ln>
                    <a:noFill/>
                  </a:ln>
                  <a:solidFill>
                    <a:srgbClr val="2909C9"/>
                  </a:solidFill>
                  <a:effectLst/>
                  <a:uLnTx/>
                  <a:uFillTx/>
                  <a:latin typeface="Times New Roman" panose="02020603050405020304" pitchFamily="18" charset="0"/>
                  <a:ea typeface="楷体_GB2312" charset="-122"/>
                </a:rPr>
                <a:t>10O + 4N+8O+2O = 0</a:t>
              </a:r>
              <a:endParaRPr kumimoji="0" lang="en-US" altLang="zh-CN" sz="2400" i="1" u="none" strike="noStrike" kern="0" cap="none" spc="0" normalizeH="0" baseline="-25000" noProof="0" dirty="0">
                <a:ln>
                  <a:noFill/>
                </a:ln>
                <a:solidFill>
                  <a:srgbClr val="2909C9"/>
                </a:solidFill>
                <a:effectLst/>
                <a:uLnTx/>
                <a:uFillTx/>
                <a:latin typeface="Times New Roman" panose="02020603050405020304" pitchFamily="18" charset="0"/>
                <a:ea typeface="楷体_GB231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00"/>
                                        </p:tgtEl>
                                        <p:attrNameLst>
                                          <p:attrName>style.visibility</p:attrName>
                                        </p:attrNameLst>
                                      </p:cBhvr>
                                      <p:to>
                                        <p:strVal val="visible"/>
                                      </p:to>
                                    </p:set>
                                    <p:animEffect transition="in" filter="blinds(horizontal)">
                                      <p:cBhvr>
                                        <p:cTn id="7" dur="500"/>
                                        <p:tgtEl>
                                          <p:spTgt spid="410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矩形 4"/>
          <p:cNvSpPr>
            <a:spLocks noChangeArrowheads="1"/>
          </p:cNvSpPr>
          <p:nvPr/>
        </p:nvSpPr>
        <p:spPr bwMode="auto">
          <a:xfrm>
            <a:off x="381000" y="304800"/>
            <a:ext cx="8534400" cy="1938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en-US" altLang="zh-CN" sz="2800" b="1" smtClean="0">
                <a:solidFill>
                  <a:srgbClr val="000000"/>
                </a:solidFill>
                <a:latin typeface="Times New Roman" panose="02020603050405020304" pitchFamily="18" charset="0"/>
                <a:ea typeface="楷体_GB2312" pitchFamily="49" charset="-122"/>
              </a:rPr>
              <a:t>           If you carry out a chemical reaction and carefully sum up the masses of all the reactants, and then compare the sum to the sum of the masses of all the products, you see that they're the same.</a:t>
            </a:r>
            <a:endParaRPr kumimoji="1" lang="zh-CN" altLang="en-US" sz="2800" b="1" smtClean="0">
              <a:solidFill>
                <a:srgbClr val="0000FF"/>
              </a:solidFill>
              <a:latin typeface="Times New Roman" panose="02020603050405020304" pitchFamily="18" charset="0"/>
              <a:ea typeface="楷体_GB2312" pitchFamily="49" charset="-122"/>
            </a:endParaRPr>
          </a:p>
        </p:txBody>
      </p:sp>
      <p:sp>
        <p:nvSpPr>
          <p:cNvPr id="47107" name="矩形 5"/>
          <p:cNvSpPr>
            <a:spLocks noChangeArrowheads="1"/>
          </p:cNvSpPr>
          <p:nvPr/>
        </p:nvSpPr>
        <p:spPr bwMode="auto">
          <a:xfrm>
            <a:off x="457200" y="2438400"/>
            <a:ext cx="8415338" cy="1908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en-US" altLang="zh-CN" sz="2800" b="1" dirty="0" smtClean="0">
                <a:solidFill>
                  <a:srgbClr val="000000"/>
                </a:solidFill>
                <a:latin typeface="Times New Roman" panose="02020603050405020304" pitchFamily="18" charset="0"/>
                <a:ea typeface="楷体_GB2312" pitchFamily="49" charset="-122"/>
              </a:rPr>
              <a:t>           </a:t>
            </a:r>
            <a:r>
              <a:rPr kumimoji="1" lang="en-US" altLang="en-US" sz="2800" b="1" dirty="0" smtClean="0">
                <a:solidFill>
                  <a:srgbClr val="000000"/>
                </a:solidFill>
                <a:latin typeface="Times New Roman" panose="02020603050405020304" pitchFamily="18" charset="0"/>
                <a:ea typeface="楷体_GB2312" pitchFamily="49" charset="-122"/>
              </a:rPr>
              <a:t>the </a:t>
            </a:r>
            <a:r>
              <a:rPr kumimoji="1" lang="en-US" altLang="en-US" sz="2800" b="1" i="1" dirty="0" smtClean="0">
                <a:solidFill>
                  <a:srgbClr val="000000"/>
                </a:solidFill>
                <a:latin typeface="Times New Roman" panose="02020603050405020304" pitchFamily="18" charset="0"/>
                <a:ea typeface="楷体_GB2312" pitchFamily="49" charset="-122"/>
              </a:rPr>
              <a:t>Law of</a:t>
            </a:r>
            <a:r>
              <a:rPr kumimoji="1" lang="en-US" altLang="zh-CN" sz="2800" b="1" i="1" dirty="0" smtClean="0">
                <a:solidFill>
                  <a:srgbClr val="000000"/>
                </a:solidFill>
                <a:latin typeface="Times New Roman" panose="02020603050405020304" pitchFamily="18" charset="0"/>
                <a:ea typeface="楷体_GB2312" pitchFamily="49" charset="-122"/>
              </a:rPr>
              <a:t> </a:t>
            </a:r>
            <a:r>
              <a:rPr kumimoji="1" lang="en-US" altLang="en-US" sz="2800" b="1" i="1" dirty="0" smtClean="0">
                <a:solidFill>
                  <a:srgbClr val="000000"/>
                </a:solidFill>
                <a:latin typeface="Times New Roman" panose="02020603050405020304" pitchFamily="18" charset="0"/>
                <a:ea typeface="楷体_GB2312" pitchFamily="49" charset="-122"/>
              </a:rPr>
              <a:t>Conservation of Mass, </a:t>
            </a:r>
            <a:r>
              <a:rPr kumimoji="1" lang="en-US" altLang="en-US" sz="2800" b="1" dirty="0" smtClean="0">
                <a:solidFill>
                  <a:srgbClr val="000000"/>
                </a:solidFill>
                <a:latin typeface="Times New Roman" panose="02020603050405020304" pitchFamily="18" charset="0"/>
                <a:ea typeface="楷体_GB2312" pitchFamily="49" charset="-122"/>
              </a:rPr>
              <a:t>states, "In an ordinary chemical reaction, matter is neither</a:t>
            </a:r>
            <a:r>
              <a:rPr kumimoji="1" lang="en-US" altLang="zh-CN" sz="2800" b="1" dirty="0" smtClean="0">
                <a:solidFill>
                  <a:srgbClr val="000000"/>
                </a:solidFill>
                <a:latin typeface="Times New Roman" panose="02020603050405020304" pitchFamily="18" charset="0"/>
                <a:ea typeface="楷体_GB2312" pitchFamily="49" charset="-122"/>
              </a:rPr>
              <a:t> </a:t>
            </a:r>
            <a:r>
              <a:rPr kumimoji="1" lang="en-US" altLang="en-US" sz="2800" b="1" dirty="0" smtClean="0">
                <a:solidFill>
                  <a:srgbClr val="000000"/>
                </a:solidFill>
                <a:latin typeface="Times New Roman" panose="02020603050405020304" pitchFamily="18" charset="0"/>
                <a:ea typeface="楷体_GB2312" pitchFamily="49" charset="-122"/>
              </a:rPr>
              <a:t>created nor destroyed.“</a:t>
            </a:r>
            <a:r>
              <a:rPr kumimoji="1" lang="en-US" altLang="zh-CN" sz="2800" b="1" dirty="0" smtClean="0">
                <a:solidFill>
                  <a:srgbClr val="000000"/>
                </a:solidFill>
                <a:latin typeface="Times New Roman" panose="02020603050405020304" pitchFamily="18" charset="0"/>
                <a:ea typeface="楷体_GB2312" pitchFamily="49" charset="-122"/>
              </a:rPr>
              <a:t> —— means that you have neither gained nor lost any atoms during the reaction.</a:t>
            </a:r>
            <a:endParaRPr kumimoji="1" lang="zh-CN" altLang="en-US" sz="2800" b="1" dirty="0" smtClean="0">
              <a:solidFill>
                <a:srgbClr val="0000FF"/>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 3"/>
          <p:cNvSpPr>
            <a:spLocks noChangeArrowheads="1"/>
          </p:cNvSpPr>
          <p:nvPr/>
        </p:nvSpPr>
        <p:spPr bwMode="auto">
          <a:xfrm>
            <a:off x="76200" y="533400"/>
            <a:ext cx="8763000" cy="3025775"/>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en-US" altLang="zh-CN" sz="2600" b="1" smtClean="0">
                <a:solidFill>
                  <a:srgbClr val="0000FF"/>
                </a:solidFill>
                <a:latin typeface="Times New Roman" panose="02020603050405020304" pitchFamily="18" charset="0"/>
                <a:ea typeface="楷体_GB2312" pitchFamily="49" charset="-122"/>
              </a:rPr>
              <a:t>         </a:t>
            </a:r>
            <a:r>
              <a:rPr kumimoji="1" lang="en-US" altLang="zh-CN" sz="2600" b="1" smtClean="0">
                <a:solidFill>
                  <a:srgbClr val="000000"/>
                </a:solidFill>
                <a:latin typeface="Times New Roman" panose="02020603050405020304" pitchFamily="18" charset="0"/>
                <a:ea typeface="楷体_GB2312" pitchFamily="49" charset="-122"/>
              </a:rPr>
              <a:t>Harold Edward Holt was an Australian politician who served as the </a:t>
            </a:r>
            <a:r>
              <a:rPr kumimoji="1" lang="en-US" altLang="zh-CN" sz="2600" b="1" smtClean="0">
                <a:solidFill>
                  <a:srgbClr val="000000"/>
                </a:solidFill>
                <a:latin typeface="Times New Roman" panose="02020603050405020304" pitchFamily="18" charset="0"/>
                <a:ea typeface="楷体_GB2312" pitchFamily="49" charset="-122"/>
                <a:hlinkClick r:id="rId2" tooltip="List of Prime Ministers of Australia"/>
              </a:rPr>
              <a:t>17th Prime Minister of Australia</a:t>
            </a:r>
            <a:r>
              <a:rPr kumimoji="1" lang="en-US" altLang="zh-CN" sz="2600" b="1" smtClean="0">
                <a:solidFill>
                  <a:srgbClr val="000000"/>
                </a:solidFill>
                <a:latin typeface="Times New Roman" panose="02020603050405020304" pitchFamily="18" charset="0"/>
                <a:ea typeface="楷体_GB2312" pitchFamily="49" charset="-122"/>
              </a:rPr>
              <a:t>, in office from 1966 until </a:t>
            </a:r>
            <a:r>
              <a:rPr kumimoji="1" lang="en-US" altLang="zh-CN" sz="2600" b="1" smtClean="0">
                <a:solidFill>
                  <a:srgbClr val="000000"/>
                </a:solidFill>
                <a:latin typeface="Times New Roman" panose="02020603050405020304" pitchFamily="18" charset="0"/>
                <a:ea typeface="楷体_GB2312" pitchFamily="49" charset="-122"/>
                <a:hlinkClick r:id="rId3" tooltip="Disappearance of Harold Holt"/>
              </a:rPr>
              <a:t>his presumed drowning death</a:t>
            </a:r>
            <a:r>
              <a:rPr kumimoji="1" lang="en-US" altLang="zh-CN" sz="2600" b="1" smtClean="0">
                <a:solidFill>
                  <a:srgbClr val="000000"/>
                </a:solidFill>
                <a:latin typeface="Times New Roman" panose="02020603050405020304" pitchFamily="18" charset="0"/>
                <a:ea typeface="楷体_GB2312" pitchFamily="49" charset="-122"/>
              </a:rPr>
              <a:t>.</a:t>
            </a:r>
          </a:p>
          <a:p>
            <a:pPr eaLnBrk="0" fontAlgn="base" hangingPunct="0">
              <a:lnSpc>
                <a:spcPts val="3600"/>
              </a:lnSpc>
              <a:spcBef>
                <a:spcPct val="50000"/>
              </a:spcBef>
              <a:spcAft>
                <a:spcPct val="0"/>
              </a:spcAft>
            </a:pPr>
            <a:r>
              <a:rPr kumimoji="1" lang="en-US" altLang="zh-CN" sz="2600" b="1" smtClean="0">
                <a:solidFill>
                  <a:srgbClr val="000000"/>
                </a:solidFill>
                <a:latin typeface="Times New Roman" panose="02020603050405020304" pitchFamily="18" charset="0"/>
                <a:ea typeface="楷体_GB2312" pitchFamily="49" charset="-122"/>
              </a:rPr>
              <a:t>        Conspiracy theories have included suggestions that Holt faked his own death, was assassinated by the CIA, or </a:t>
            </a:r>
            <a:r>
              <a:rPr kumimoji="1" lang="en-US" altLang="zh-CN" sz="2600" b="1" i="1" smtClean="0">
                <a:solidFill>
                  <a:srgbClr val="000000"/>
                </a:solidFill>
                <a:latin typeface="Times New Roman" panose="02020603050405020304" pitchFamily="18" charset="0"/>
                <a:ea typeface="楷体_GB2312" pitchFamily="49" charset="-122"/>
                <a:cs typeface="Times New Roman" panose="02020603050405020304" pitchFamily="18" charset="0"/>
                <a:hlinkClick r:id="rId4" tooltip="The Prime Minister Was a Spy"/>
              </a:rPr>
              <a:t>was collected by a submarine so that he could defect to China</a:t>
            </a:r>
            <a:r>
              <a:rPr kumimoji="1" lang="en-US" altLang="zh-CN" sz="2600" b="1" i="1" smtClean="0">
                <a:solidFill>
                  <a:srgbClr val="000000"/>
                </a:solidFill>
                <a:latin typeface="Times New Roman" panose="02020603050405020304" pitchFamily="18" charset="0"/>
                <a:ea typeface="楷体_GB2312" pitchFamily="49" charset="-122"/>
                <a:cs typeface="Times New Roman" panose="02020603050405020304" pitchFamily="18" charset="0"/>
              </a:rPr>
              <a:t>.</a:t>
            </a:r>
            <a:endParaRPr kumimoji="1" lang="zh-CN" altLang="en-US" sz="2600" b="1" i="1" smtClean="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Text Box 2"/>
          <p:cNvSpPr txBox="1">
            <a:spLocks noChangeArrowheads="1"/>
          </p:cNvSpPr>
          <p:nvPr/>
        </p:nvSpPr>
        <p:spPr bwMode="auto">
          <a:xfrm>
            <a:off x="304800" y="152400"/>
            <a:ext cx="8382000" cy="14779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lnSpc>
                <a:spcPts val="3600"/>
              </a:lnSpc>
              <a:spcBef>
                <a:spcPct val="50000"/>
              </a:spcBef>
              <a:spcAft>
                <a:spcPct val="0"/>
              </a:spcAft>
            </a:pPr>
            <a:r>
              <a:rPr lang="en-US" altLang="zh-CN" sz="2600" smtClean="0">
                <a:solidFill>
                  <a:srgbClr val="000000"/>
                </a:solidFill>
              </a:rPr>
              <a:t>         </a:t>
            </a:r>
            <a:r>
              <a:rPr lang="zh-CN" altLang="en-US" sz="2600" smtClean="0">
                <a:solidFill>
                  <a:srgbClr val="000000"/>
                </a:solidFill>
              </a:rPr>
              <a:t>高中学过，用不同的物质来表示的化学反应速率的数值是不同的（实际上是平均反应速率），而同一个化学反应的反应速率应该相同。</a:t>
            </a:r>
          </a:p>
        </p:txBody>
      </p:sp>
      <p:grpSp>
        <p:nvGrpSpPr>
          <p:cNvPr id="9" name="组合 8"/>
          <p:cNvGrpSpPr/>
          <p:nvPr/>
        </p:nvGrpSpPr>
        <p:grpSpPr>
          <a:xfrm>
            <a:off x="500034" y="1571612"/>
            <a:ext cx="8458200" cy="4905915"/>
            <a:chOff x="500034" y="1571612"/>
            <a:chExt cx="8458200" cy="4905915"/>
          </a:xfrm>
        </p:grpSpPr>
        <p:sp>
          <p:nvSpPr>
            <p:cNvPr id="5125" name="Text Box 5"/>
            <p:cNvSpPr txBox="1">
              <a:spLocks noChangeArrowheads="1"/>
            </p:cNvSpPr>
            <p:nvPr/>
          </p:nvSpPr>
          <p:spPr bwMode="auto">
            <a:xfrm>
              <a:off x="500034" y="1571612"/>
              <a:ext cx="8458200" cy="1015522"/>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lnSpc>
                  <a:spcPts val="3600"/>
                </a:lnSpc>
                <a:spcBef>
                  <a:spcPct val="50000"/>
                </a:spcBef>
                <a:spcAft>
                  <a:spcPct val="0"/>
                </a:spcAft>
              </a:pPr>
              <a:r>
                <a:rPr kumimoji="0" lang="en-US" altLang="zh-CN" sz="2600" smtClean="0">
                  <a:solidFill>
                    <a:srgbClr val="000000"/>
                  </a:solidFill>
                </a:rPr>
                <a:t>        </a:t>
              </a:r>
              <a:r>
                <a:rPr kumimoji="0" lang="zh-CN" altLang="en-US" sz="2600" smtClean="0">
                  <a:solidFill>
                    <a:srgbClr val="000000"/>
                  </a:solidFill>
                </a:rPr>
                <a:t>于是引入</a:t>
              </a:r>
              <a:r>
                <a:rPr kumimoji="0" lang="zh-CN" altLang="en-US" sz="2600" i="1" smtClean="0">
                  <a:solidFill>
                    <a:srgbClr val="C00000"/>
                  </a:solidFill>
                </a:rPr>
                <a:t>反应进度 </a:t>
              </a:r>
              <a:r>
                <a:rPr kumimoji="0" lang="zh-CN" altLang="en-US" sz="2600" smtClean="0">
                  <a:solidFill>
                    <a:srgbClr val="000000"/>
                  </a:solidFill>
                </a:rPr>
                <a:t>的概念</a:t>
              </a:r>
              <a:r>
                <a:rPr kumimoji="0" lang="en-US" altLang="zh-CN" sz="2600" smtClean="0">
                  <a:solidFill>
                    <a:srgbClr val="000000"/>
                  </a:solidFill>
                </a:rPr>
                <a:t>—— </a:t>
              </a:r>
              <a:r>
                <a:rPr kumimoji="0" lang="en-US" altLang="zh-CN" sz="2600" i="1" smtClean="0">
                  <a:solidFill>
                    <a:srgbClr val="000000"/>
                  </a:solidFill>
                </a:rPr>
                <a:t>[</a:t>
              </a:r>
              <a:r>
                <a:rPr lang="en-US" altLang="zh-CN" sz="2600" i="1" smtClean="0">
                  <a:solidFill>
                    <a:srgbClr val="000000"/>
                  </a:solidFill>
                </a:rPr>
                <a:t>ksi]</a:t>
              </a:r>
              <a:r>
                <a:rPr lang="zh-CN" altLang="en-US" sz="2600" i="1" smtClean="0">
                  <a:solidFill>
                    <a:srgbClr val="000000"/>
                  </a:solidFill>
                </a:rPr>
                <a:t>，参考书上公式</a:t>
              </a:r>
              <a:r>
                <a:rPr lang="en-US" altLang="zh-CN" sz="2600" i="1" smtClean="0">
                  <a:solidFill>
                    <a:srgbClr val="000000"/>
                  </a:solidFill>
                </a:rPr>
                <a:t>P</a:t>
              </a:r>
              <a:r>
                <a:rPr lang="en-US" altLang="zh-CN" sz="2600" i="1" baseline="-25000" smtClean="0">
                  <a:solidFill>
                    <a:srgbClr val="000000"/>
                  </a:solidFill>
                </a:rPr>
                <a:t>29</a:t>
              </a:r>
              <a:r>
                <a:rPr lang="en-US" altLang="zh-CN" sz="2600" i="1" smtClean="0">
                  <a:solidFill>
                    <a:srgbClr val="000000"/>
                  </a:solidFill>
                </a:rPr>
                <a:t>(2-2)</a:t>
              </a:r>
            </a:p>
          </p:txBody>
        </p:sp>
        <p:graphicFrame>
          <p:nvGraphicFramePr>
            <p:cNvPr id="310275" name="Object 3"/>
            <p:cNvGraphicFramePr>
              <a:graphicFrameLocks noChangeAspect="1"/>
            </p:cNvGraphicFramePr>
            <p:nvPr/>
          </p:nvGraphicFramePr>
          <p:xfrm>
            <a:off x="2857488" y="2143116"/>
            <a:ext cx="3024182" cy="1071570"/>
          </p:xfrm>
          <a:graphic>
            <a:graphicData uri="http://schemas.openxmlformats.org/presentationml/2006/ole">
              <p:oleObj spid="_x0000_s52225" name="Equation" r:id="rId3" imgW="637920" imgH="438120" progId="Equation.3">
                <p:embed/>
              </p:oleObj>
            </a:graphicData>
          </a:graphic>
        </p:graphicFrame>
        <p:sp>
          <p:nvSpPr>
            <p:cNvPr id="5126" name="矩形 9"/>
            <p:cNvSpPr>
              <a:spLocks noChangeArrowheads="1"/>
            </p:cNvSpPr>
            <p:nvPr/>
          </p:nvSpPr>
          <p:spPr bwMode="auto">
            <a:xfrm>
              <a:off x="642910" y="3429000"/>
              <a:ext cx="8305800" cy="1015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         n </a:t>
              </a:r>
              <a:r>
                <a:rPr kumimoji="1" lang="en-US" altLang="zh-CN" sz="2600" b="1" baseline="-25000" dirty="0" smtClean="0">
                  <a:solidFill>
                    <a:srgbClr val="000000"/>
                  </a:solidFill>
                  <a:latin typeface="Times New Roman" panose="02020603050405020304" pitchFamily="18" charset="0"/>
                  <a:ea typeface="楷体_GB2312" pitchFamily="49" charset="-122"/>
                  <a:sym typeface="Symbol" panose="05050102010706020507" pitchFamily="18" charset="2"/>
                </a:rPr>
                <a:t>B</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为物质</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B</a:t>
              </a: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的物质的量</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dirty="0" err="1" smtClean="0">
                  <a:solidFill>
                    <a:srgbClr val="000000"/>
                  </a:solidFill>
                  <a:latin typeface="Times New Roman" panose="02020603050405020304" pitchFamily="18" charset="0"/>
                  <a:ea typeface="楷体_GB2312" pitchFamily="49" charset="-122"/>
                  <a:sym typeface="Symbol" panose="05050102010706020507" pitchFamily="18" charset="2"/>
                </a:rPr>
                <a:t>mol</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d n </a:t>
              </a:r>
              <a:r>
                <a:rPr kumimoji="1" lang="en-US" altLang="zh-CN" sz="2600" b="1" baseline="-25000" dirty="0" smtClean="0">
                  <a:solidFill>
                    <a:srgbClr val="000000"/>
                  </a:solidFill>
                  <a:latin typeface="Times New Roman" panose="02020603050405020304" pitchFamily="18" charset="0"/>
                  <a:ea typeface="楷体_GB2312" pitchFamily="49" charset="-122"/>
                  <a:sym typeface="Symbol" panose="05050102010706020507" pitchFamily="18" charset="2"/>
                </a:rPr>
                <a:t>B</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表示微小的变化量</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dirty="0" err="1" smtClean="0">
                  <a:solidFill>
                    <a:srgbClr val="000000"/>
                  </a:solidFill>
                  <a:latin typeface="Times New Roman" panose="02020603050405020304" pitchFamily="18" charset="0"/>
                  <a:ea typeface="楷体_GB2312" pitchFamily="49" charset="-122"/>
                  <a:sym typeface="Symbol" panose="05050102010706020507" pitchFamily="18" charset="2"/>
                </a:rPr>
                <a:t>mol</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；公式可以近似</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  </a:t>
              </a:r>
              <a:endParaRPr kumimoji="1" lang="en-US" altLang="zh-CN" sz="2600" b="1" i="1" baseline="-25000" dirty="0" smtClean="0">
                <a:solidFill>
                  <a:srgbClr val="C00000"/>
                </a:solidFill>
                <a:latin typeface="Times New Roman" panose="02020603050405020304" pitchFamily="18" charset="0"/>
                <a:ea typeface="楷体_GB2312" pitchFamily="49" charset="-122"/>
                <a:sym typeface="Symbol" panose="05050102010706020507" pitchFamily="18" charset="2"/>
              </a:endParaRPr>
            </a:p>
          </p:txBody>
        </p:sp>
        <p:sp>
          <p:nvSpPr>
            <p:cNvPr id="5127" name="矩形 11"/>
            <p:cNvSpPr>
              <a:spLocks noChangeArrowheads="1"/>
            </p:cNvSpPr>
            <p:nvPr/>
          </p:nvSpPr>
          <p:spPr bwMode="auto">
            <a:xfrm>
              <a:off x="571472" y="5857892"/>
              <a:ext cx="8382000" cy="6196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fontAlgn="base">
                <a:spcBef>
                  <a:spcPct val="50000"/>
                </a:spcBef>
                <a:spcAft>
                  <a:spcPct val="0"/>
                </a:spcAft>
              </a:pPr>
              <a:r>
                <a:rPr kumimoji="1" lang="el-GR" altLang="zh-CN" sz="2800" b="1" dirty="0" smtClean="0">
                  <a:solidFill>
                    <a:srgbClr val="000000"/>
                  </a:solidFill>
                  <a:latin typeface="Times New Roman" panose="02020603050405020304" pitchFamily="18" charset="0"/>
                  <a:ea typeface="楷体_GB2312" pitchFamily="49" charset="-122"/>
                  <a:cs typeface="Times New Roman" panose="02020603050405020304" pitchFamily="18" charset="0"/>
                </a:rPr>
                <a:t>ξ</a:t>
              </a:r>
              <a:r>
                <a:rPr kumimoji="1" lang="zh-CN" altLang="el-GR" sz="2800" b="1" dirty="0" smtClean="0">
                  <a:solidFill>
                    <a:srgbClr val="000000"/>
                  </a:solidFill>
                  <a:latin typeface="Times New Roman" panose="02020603050405020304" pitchFamily="18" charset="0"/>
                  <a:ea typeface="楷体_GB2312" pitchFamily="49" charset="-122"/>
                  <a:cs typeface="Times New Roman" panose="02020603050405020304" pitchFamily="18" charset="0"/>
                </a:rPr>
                <a:t>的</a:t>
              </a:r>
              <a:r>
                <a:rPr kumimoji="1" lang="zh-CN" altLang="en-US" sz="2800" b="1" dirty="0" smtClean="0">
                  <a:solidFill>
                    <a:srgbClr val="000000"/>
                  </a:solidFill>
                  <a:latin typeface="Times New Roman" panose="02020603050405020304" pitchFamily="18" charset="0"/>
                  <a:ea typeface="楷体_GB2312" pitchFamily="49" charset="-122"/>
                  <a:cs typeface="Times New Roman" panose="02020603050405020304" pitchFamily="18" charset="0"/>
                </a:rPr>
                <a:t>单位是摩尔（</a:t>
              </a:r>
              <a:r>
                <a:rPr kumimoji="1" lang="en-US" altLang="zh-CN" sz="2800" b="1" dirty="0" err="1" smtClean="0">
                  <a:solidFill>
                    <a:srgbClr val="000000"/>
                  </a:solidFill>
                  <a:latin typeface="Times New Roman" panose="02020603050405020304" pitchFamily="18" charset="0"/>
                  <a:ea typeface="楷体_GB2312" pitchFamily="49" charset="-122"/>
                  <a:cs typeface="Times New Roman" panose="02020603050405020304" pitchFamily="18" charset="0"/>
                </a:rPr>
                <a:t>mol</a:t>
              </a:r>
              <a:r>
                <a:rPr kumimoji="1" lang="zh-CN" altLang="en-US" sz="2800" b="1" dirty="0" smtClean="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l-GR" altLang="zh-CN" sz="2800" b="1" i="1" dirty="0" smtClean="0">
                  <a:solidFill>
                    <a:srgbClr val="C00000"/>
                  </a:solidFill>
                  <a:latin typeface="Times New Roman" panose="02020603050405020304" pitchFamily="18" charset="0"/>
                  <a:ea typeface="楷体_GB2312" pitchFamily="49" charset="-122"/>
                  <a:cs typeface="Times New Roman" panose="02020603050405020304" pitchFamily="18" charset="0"/>
                </a:rPr>
                <a:t>ξ</a:t>
              </a:r>
              <a:r>
                <a:rPr kumimoji="1" lang="zh-CN" altLang="en-US" sz="2800" b="1" i="1" dirty="0" smtClean="0">
                  <a:solidFill>
                    <a:srgbClr val="C00000"/>
                  </a:solidFill>
                  <a:latin typeface="Times New Roman" panose="02020603050405020304" pitchFamily="18" charset="0"/>
                  <a:ea typeface="楷体_GB2312" pitchFamily="49" charset="-122"/>
                  <a:cs typeface="Times New Roman" panose="02020603050405020304" pitchFamily="18" charset="0"/>
                </a:rPr>
                <a:t>与化学计量数</a:t>
              </a:r>
              <a:r>
                <a:rPr kumimoji="1" lang="zh-CN" altLang="en-US" sz="2800" b="1" i="1" dirty="0" smtClean="0">
                  <a:solidFill>
                    <a:srgbClr val="C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2800" b="1" i="1" baseline="-25000" dirty="0" smtClean="0">
                  <a:solidFill>
                    <a:srgbClr val="C00000"/>
                  </a:solidFill>
                  <a:latin typeface="Times New Roman" panose="02020603050405020304" pitchFamily="18" charset="0"/>
                  <a:ea typeface="楷体_GB2312" pitchFamily="49" charset="-122"/>
                  <a:cs typeface="Times New Roman" panose="02020603050405020304" pitchFamily="18" charset="0"/>
                </a:rPr>
                <a:t>B</a:t>
              </a:r>
              <a:r>
                <a:rPr kumimoji="1" lang="zh-CN" altLang="en-US" sz="2800" b="1" i="1" dirty="0" smtClean="0">
                  <a:solidFill>
                    <a:srgbClr val="C00000"/>
                  </a:solidFill>
                  <a:latin typeface="Times New Roman" panose="02020603050405020304" pitchFamily="18" charset="0"/>
                  <a:ea typeface="楷体_GB2312" pitchFamily="49" charset="-122"/>
                  <a:cs typeface="Times New Roman" panose="02020603050405020304" pitchFamily="18" charset="0"/>
                </a:rPr>
                <a:t>有关</a:t>
              </a:r>
              <a:r>
                <a:rPr kumimoji="1" lang="zh-CN" altLang="en-US" sz="2800" b="1" dirty="0" smtClean="0">
                  <a:solidFill>
                    <a:srgbClr val="000000"/>
                  </a:solidFill>
                  <a:latin typeface="Times New Roman" panose="02020603050405020304" pitchFamily="18" charset="0"/>
                  <a:ea typeface="楷体_GB2312" pitchFamily="49" charset="-122"/>
                  <a:cs typeface="Times New Roman" panose="02020603050405020304" pitchFamily="18" charset="0"/>
                </a:rPr>
                <a:t>！</a:t>
              </a:r>
            </a:p>
          </p:txBody>
        </p:sp>
        <p:pic>
          <p:nvPicPr>
            <p:cNvPr id="8" name="Picture 2"/>
            <p:cNvPicPr>
              <a:picLocks noChangeAspect="1" noChangeArrowheads="1"/>
            </p:cNvPicPr>
            <p:nvPr/>
          </p:nvPicPr>
          <p:blipFill>
            <a:blip r:embed="rId4"/>
            <a:srcRect/>
            <a:stretch>
              <a:fillRect/>
            </a:stretch>
          </p:blipFill>
          <p:spPr bwMode="auto">
            <a:xfrm>
              <a:off x="2500298" y="4429132"/>
              <a:ext cx="4214842" cy="1283931"/>
            </a:xfrm>
            <a:prstGeom prst="rect">
              <a:avLst/>
            </a:prstGeom>
            <a:noFill/>
            <a:ln w="9525">
              <a:noFill/>
              <a:miter lim="800000"/>
              <a:headEnd/>
              <a:tailEnd/>
            </a:ln>
            <a:effec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11298"/>
                                        </p:tgtEl>
                                        <p:attrNameLst>
                                          <p:attrName>style.visibility</p:attrName>
                                        </p:attrNameLst>
                                      </p:cBhvr>
                                      <p:to>
                                        <p:strVal val="visible"/>
                                      </p:to>
                                    </p:set>
                                    <p:animEffect transition="in" filter="slide(fromBottom)">
                                      <p:cBhvr>
                                        <p:cTn id="7" dur="1000"/>
                                        <p:tgtEl>
                                          <p:spTgt spid="31129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3"/>
          <p:cNvSpPr txBox="1">
            <a:spLocks noChangeArrowheads="1"/>
          </p:cNvSpPr>
          <p:nvPr/>
        </p:nvSpPr>
        <p:spPr bwMode="auto">
          <a:xfrm>
            <a:off x="266700" y="3717032"/>
            <a:ext cx="8534400" cy="1878013"/>
          </a:xfrm>
          <a:prstGeom prst="rect">
            <a:avLst/>
          </a:prstGeom>
          <a:solidFill>
            <a:srgbClr val="DB9DD5">
              <a:alpha val="67842"/>
            </a:srgb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eaLnBrk="0" fontAlgn="base" hangingPunct="0">
              <a:lnSpc>
                <a:spcPts val="3600"/>
              </a:lnSpc>
              <a:spcBef>
                <a:spcPct val="50000"/>
              </a:spcBef>
              <a:spcAft>
                <a:spcPct val="0"/>
              </a:spcAft>
            </a:pPr>
            <a:r>
              <a:rPr lang="zh-CN" altLang="en-US" sz="2600" smtClean="0">
                <a:latin typeface="楷体_GB2312" pitchFamily="49" charset="-122"/>
              </a:rPr>
              <a:t>结论：</a:t>
            </a:r>
            <a:r>
              <a:rPr lang="zh-CN" altLang="en-US" sz="2600" i="1" smtClean="0">
                <a:solidFill>
                  <a:srgbClr val="C00000"/>
                </a:solidFill>
                <a:latin typeface="楷体_GB2312" pitchFamily="49" charset="-122"/>
              </a:rPr>
              <a:t>反应进度</a:t>
            </a:r>
            <a:r>
              <a:rPr lang="en-US" altLang="zh-CN" sz="2600" i="1" smtClean="0">
                <a:solidFill>
                  <a:srgbClr val="C00000"/>
                </a:solidFill>
                <a:latin typeface="楷体_GB2312" pitchFamily="49" charset="-122"/>
              </a:rPr>
              <a:t>(ξ)</a:t>
            </a:r>
            <a:r>
              <a:rPr lang="zh-CN" altLang="en-US" sz="2600" smtClean="0">
                <a:latin typeface="楷体_GB2312" pitchFamily="49" charset="-122"/>
              </a:rPr>
              <a:t>的值与具体的化学反应式有关！</a:t>
            </a:r>
            <a:endParaRPr lang="en-US" altLang="zh-CN" sz="2600" smtClean="0">
              <a:latin typeface="楷体_GB2312" pitchFamily="49" charset="-122"/>
            </a:endParaRPr>
          </a:p>
          <a:p>
            <a:pPr eaLnBrk="0" fontAlgn="base" hangingPunct="0">
              <a:lnSpc>
                <a:spcPts val="3600"/>
              </a:lnSpc>
              <a:spcBef>
                <a:spcPct val="50000"/>
              </a:spcBef>
              <a:spcAft>
                <a:spcPct val="0"/>
              </a:spcAft>
            </a:pPr>
            <a:r>
              <a:rPr lang="en-US" altLang="zh-CN" sz="2600" smtClean="0">
                <a:latin typeface="楷体_GB2312" pitchFamily="49" charset="-122"/>
              </a:rPr>
              <a:t>      </a:t>
            </a:r>
            <a:r>
              <a:rPr lang="zh-CN" altLang="en-US" sz="2600" smtClean="0">
                <a:latin typeface="楷体_GB2312" pitchFamily="49" charset="-122"/>
              </a:rPr>
              <a:t>同一反应，写法不同</a:t>
            </a:r>
            <a:r>
              <a:rPr lang="en-US" altLang="zh-CN" sz="2600" smtClean="0">
                <a:latin typeface="楷体_GB2312" pitchFamily="49" charset="-122"/>
              </a:rPr>
              <a:t>(</a:t>
            </a:r>
            <a:r>
              <a:rPr lang="zh-CN" altLang="en-US" sz="2600" smtClean="0">
                <a:latin typeface="楷体_GB2312" pitchFamily="49" charset="-122"/>
              </a:rPr>
              <a:t>计量系数不同</a:t>
            </a:r>
            <a:r>
              <a:rPr lang="en-US" altLang="zh-CN" sz="2600" smtClean="0">
                <a:latin typeface="楷体_GB2312" pitchFamily="49" charset="-122"/>
              </a:rPr>
              <a:t>)</a:t>
            </a:r>
            <a:r>
              <a:rPr lang="zh-CN" altLang="en-US" sz="2600" smtClean="0">
                <a:latin typeface="楷体_GB2312" pitchFamily="49" charset="-122"/>
              </a:rPr>
              <a:t>，</a:t>
            </a:r>
            <a:r>
              <a:rPr lang="en-US" altLang="zh-CN" sz="2600" smtClean="0">
                <a:latin typeface="楷体_GB2312" pitchFamily="49" charset="-122"/>
              </a:rPr>
              <a:t>ξ</a:t>
            </a:r>
            <a:r>
              <a:rPr lang="zh-CN" altLang="en-US" sz="2600" smtClean="0">
                <a:latin typeface="楷体_GB2312" pitchFamily="49" charset="-122"/>
              </a:rPr>
              <a:t>值不同；</a:t>
            </a:r>
            <a:endParaRPr lang="en-US" altLang="zh-CN" sz="2600" smtClean="0">
              <a:latin typeface="楷体_GB2312" pitchFamily="49" charset="-122"/>
            </a:endParaRPr>
          </a:p>
          <a:p>
            <a:pPr eaLnBrk="0" fontAlgn="base" hangingPunct="0">
              <a:lnSpc>
                <a:spcPts val="3600"/>
              </a:lnSpc>
              <a:spcBef>
                <a:spcPct val="50000"/>
              </a:spcBef>
              <a:spcAft>
                <a:spcPct val="0"/>
              </a:spcAft>
            </a:pPr>
            <a:r>
              <a:rPr lang="en-US" altLang="zh-CN" sz="2600" smtClean="0">
                <a:latin typeface="楷体_GB2312" pitchFamily="49" charset="-122"/>
              </a:rPr>
              <a:t>      </a:t>
            </a:r>
            <a:r>
              <a:rPr lang="zh-CN" altLang="en-US" sz="2600" smtClean="0">
                <a:latin typeface="楷体_GB2312" pitchFamily="49" charset="-122"/>
              </a:rPr>
              <a:t>但同一反应的反应进度相同（与具体物质无关）！</a:t>
            </a:r>
          </a:p>
        </p:txBody>
      </p:sp>
      <p:grpSp>
        <p:nvGrpSpPr>
          <p:cNvPr id="2" name="组合 14"/>
          <p:cNvGrpSpPr/>
          <p:nvPr/>
        </p:nvGrpSpPr>
        <p:grpSpPr bwMode="auto">
          <a:xfrm>
            <a:off x="259760" y="152400"/>
            <a:ext cx="8705367" cy="3241417"/>
            <a:chOff x="259760" y="304800"/>
            <a:chExt cx="8705367" cy="3242786"/>
          </a:xfrm>
        </p:grpSpPr>
        <p:sp>
          <p:nvSpPr>
            <p:cNvPr id="49156" name="矩形 9"/>
            <p:cNvSpPr>
              <a:spLocks noChangeArrowheads="1"/>
            </p:cNvSpPr>
            <p:nvPr/>
          </p:nvSpPr>
          <p:spPr bwMode="auto">
            <a:xfrm>
              <a:off x="260350" y="2069977"/>
              <a:ext cx="8458200" cy="14776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zh-CN" altLang="en-US" sz="2600" b="1" dirty="0" smtClean="0">
                  <a:solidFill>
                    <a:srgbClr val="000000"/>
                  </a:solidFill>
                  <a:latin typeface="Times New Roman" panose="02020603050405020304" pitchFamily="18" charset="0"/>
                  <a:ea typeface="楷体_GB2312" pitchFamily="49" charset="-122"/>
                </a:rPr>
                <a:t>        上式</a:t>
              </a:r>
              <a:r>
                <a:rPr kumimoji="1" lang="en-US" altLang="zh-CN" sz="2600" b="1" dirty="0" smtClean="0">
                  <a:solidFill>
                    <a:srgbClr val="000000"/>
                  </a:solidFill>
                  <a:latin typeface="Times New Roman" panose="02020603050405020304" pitchFamily="18" charset="0"/>
                  <a:ea typeface="楷体_GB2312" pitchFamily="49" charset="-122"/>
                </a:rPr>
                <a:t>ξ=0.25</a:t>
              </a:r>
              <a:r>
                <a:rPr kumimoji="1" lang="zh-CN" altLang="en-US" sz="2600" b="1" dirty="0" smtClean="0">
                  <a:solidFill>
                    <a:srgbClr val="000000"/>
                  </a:solidFill>
                  <a:latin typeface="Times New Roman" panose="02020603050405020304" pitchFamily="18" charset="0"/>
                  <a:ea typeface="楷体_GB2312" pitchFamily="49" charset="-122"/>
                </a:rPr>
                <a:t>。当有</a:t>
              </a:r>
              <a:r>
                <a:rPr kumimoji="1" lang="en-US" altLang="zh-CN" sz="2600" b="1" dirty="0" smtClean="0">
                  <a:solidFill>
                    <a:srgbClr val="000000"/>
                  </a:solidFill>
                  <a:latin typeface="Times New Roman" panose="02020603050405020304" pitchFamily="18" charset="0"/>
                  <a:ea typeface="楷体_GB2312" pitchFamily="49" charset="-122"/>
                </a:rPr>
                <a:t>1mol O</a:t>
              </a:r>
              <a:r>
                <a:rPr kumimoji="1" lang="en-US" altLang="zh-CN" sz="2600" b="1" baseline="-25000" dirty="0" smtClean="0">
                  <a:solidFill>
                    <a:srgbClr val="000000"/>
                  </a:solidFill>
                  <a:latin typeface="Times New Roman" panose="02020603050405020304" pitchFamily="18" charset="0"/>
                  <a:ea typeface="楷体_GB2312" pitchFamily="49" charset="-122"/>
                </a:rPr>
                <a:t>2</a:t>
              </a:r>
              <a:r>
                <a:rPr kumimoji="1" lang="zh-CN" altLang="en-US" sz="2600" b="1" dirty="0" smtClean="0">
                  <a:solidFill>
                    <a:srgbClr val="000000"/>
                  </a:solidFill>
                  <a:latin typeface="Times New Roman" panose="02020603050405020304" pitchFamily="18" charset="0"/>
                  <a:ea typeface="楷体_GB2312" pitchFamily="49" charset="-122"/>
                </a:rPr>
                <a:t>生成时，反应进度</a:t>
              </a:r>
              <a:r>
                <a:rPr kumimoji="1" lang="en-US" altLang="zh-CN" sz="2600" b="1" i="1" dirty="0" smtClean="0">
                  <a:solidFill>
                    <a:srgbClr val="C00000"/>
                  </a:solidFill>
                  <a:latin typeface="Times New Roman" panose="02020603050405020304" pitchFamily="18" charset="0"/>
                  <a:ea typeface="楷体_GB2312" pitchFamily="49" charset="-122"/>
                </a:rPr>
                <a:t>ξ</a:t>
              </a:r>
              <a:r>
                <a:rPr kumimoji="1" lang="zh-CN" altLang="en-US" sz="2600" b="1" dirty="0" smtClean="0">
                  <a:solidFill>
                    <a:srgbClr val="000000"/>
                  </a:solidFill>
                  <a:latin typeface="Times New Roman" panose="02020603050405020304" pitchFamily="18" charset="0"/>
                  <a:ea typeface="楷体_GB2312" pitchFamily="49" charset="-122"/>
                </a:rPr>
                <a:t>的值为</a:t>
              </a:r>
              <a:r>
                <a:rPr kumimoji="1" lang="en-US" altLang="zh-CN" sz="2600" b="1" dirty="0" smtClean="0">
                  <a:solidFill>
                    <a:srgbClr val="000000"/>
                  </a:solidFill>
                  <a:latin typeface="Times New Roman" panose="02020603050405020304" pitchFamily="18" charset="0"/>
                  <a:ea typeface="楷体_GB2312" pitchFamily="49" charset="-122"/>
                </a:rPr>
                <a:t>1 </a:t>
              </a:r>
              <a:r>
                <a:rPr kumimoji="1" lang="en-US" altLang="zh-CN" sz="2600" b="1" dirty="0" err="1" smtClean="0">
                  <a:solidFill>
                    <a:srgbClr val="000000"/>
                  </a:solidFill>
                  <a:latin typeface="Times New Roman" panose="02020603050405020304" pitchFamily="18" charset="0"/>
                  <a:ea typeface="楷体_GB2312" pitchFamily="49" charset="-122"/>
                </a:rPr>
                <a:t>mol</a:t>
              </a:r>
              <a:r>
                <a:rPr kumimoji="1" lang="zh-CN" altLang="en-US" sz="2600" b="1" dirty="0" smtClean="0">
                  <a:solidFill>
                    <a:srgbClr val="000000"/>
                  </a:solidFill>
                  <a:latin typeface="Times New Roman" panose="02020603050405020304" pitchFamily="18" charset="0"/>
                  <a:ea typeface="楷体_GB2312" pitchFamily="49" charset="-122"/>
                </a:rPr>
                <a:t>，我们就说此反应进行了</a:t>
              </a:r>
              <a:r>
                <a:rPr kumimoji="1" lang="en-US" altLang="zh-CN" sz="2600" b="1" dirty="0" smtClean="0">
                  <a:solidFill>
                    <a:srgbClr val="000000"/>
                  </a:solidFill>
                  <a:latin typeface="Times New Roman" panose="02020603050405020304" pitchFamily="18" charset="0"/>
                  <a:ea typeface="楷体_GB2312" pitchFamily="49" charset="-122"/>
                </a:rPr>
                <a:t>1mol</a:t>
              </a:r>
              <a:r>
                <a:rPr kumimoji="1" lang="zh-CN" altLang="en-US" sz="2600" b="1" dirty="0" smtClean="0">
                  <a:solidFill>
                    <a:srgbClr val="000000"/>
                  </a:solidFill>
                  <a:latin typeface="Times New Roman" panose="02020603050405020304" pitchFamily="18" charset="0"/>
                  <a:ea typeface="楷体_GB2312" pitchFamily="49" charset="-122"/>
                </a:rPr>
                <a:t>的化学反应</a:t>
              </a:r>
              <a:r>
                <a:rPr kumimoji="1" lang="en-US" altLang="zh-CN" sz="2600" b="1" dirty="0" smtClean="0">
                  <a:solidFill>
                    <a:srgbClr val="000000"/>
                  </a:solidFill>
                  <a:latin typeface="Times New Roman" panose="02020603050405020304" pitchFamily="18" charset="0"/>
                  <a:ea typeface="楷体_GB2312" pitchFamily="49" charset="-122"/>
                </a:rPr>
                <a:t>(</a:t>
              </a:r>
              <a:r>
                <a:rPr kumimoji="1" lang="zh-CN" altLang="en-US" sz="2600" b="1" dirty="0" smtClean="0">
                  <a:solidFill>
                    <a:srgbClr val="000000"/>
                  </a:solidFill>
                  <a:latin typeface="Times New Roman" panose="02020603050405020304" pitchFamily="18" charset="0"/>
                  <a:ea typeface="楷体_GB2312" pitchFamily="49" charset="-122"/>
                </a:rPr>
                <a:t>举例说明系数变化对</a:t>
              </a:r>
              <a:r>
                <a:rPr kumimoji="1" lang="en-US" altLang="zh-CN" sz="2600" b="1" i="1" dirty="0">
                  <a:solidFill>
                    <a:srgbClr val="C00000"/>
                  </a:solidFill>
                  <a:latin typeface="Times New Roman" panose="02020603050405020304" pitchFamily="18" charset="0"/>
                  <a:ea typeface="楷体_GB2312" pitchFamily="49" charset="-122"/>
                </a:rPr>
                <a:t>ξ</a:t>
              </a:r>
              <a:r>
                <a:rPr kumimoji="1" lang="zh-CN" altLang="en-US" sz="2600" b="1" dirty="0" smtClean="0">
                  <a:solidFill>
                    <a:srgbClr val="000000"/>
                  </a:solidFill>
                  <a:latin typeface="Times New Roman" panose="02020603050405020304" pitchFamily="18" charset="0"/>
                  <a:ea typeface="楷体_GB2312" pitchFamily="49" charset="-122"/>
                </a:rPr>
                <a:t>的影响</a:t>
              </a:r>
              <a:r>
                <a:rPr kumimoji="1" lang="en-US" altLang="zh-CN" sz="2600" b="1" dirty="0" smtClean="0">
                  <a:solidFill>
                    <a:srgbClr val="000000"/>
                  </a:solidFill>
                  <a:latin typeface="Times New Roman" panose="02020603050405020304" pitchFamily="18" charset="0"/>
                  <a:ea typeface="楷体_GB2312" pitchFamily="49" charset="-122"/>
                </a:rPr>
                <a:t>)</a:t>
              </a:r>
              <a:r>
                <a:rPr kumimoji="1" lang="zh-CN" altLang="en-US" sz="2600" b="1" dirty="0" smtClean="0">
                  <a:solidFill>
                    <a:srgbClr val="000000"/>
                  </a:solidFill>
                  <a:latin typeface="Times New Roman" panose="02020603050405020304" pitchFamily="18" charset="0"/>
                  <a:ea typeface="楷体_GB2312" pitchFamily="49" charset="-122"/>
                </a:rPr>
                <a:t>。</a:t>
              </a:r>
              <a:r>
                <a:rPr lang="zh-CN" altLang="en-US" sz="2600" b="1" dirty="0" smtClean="0">
                  <a:solidFill>
                    <a:srgbClr val="000000"/>
                  </a:solidFill>
                  <a:latin typeface="Times New Roman" panose="02020603050405020304" pitchFamily="18" charset="0"/>
                  <a:ea typeface="楷体_GB2312" pitchFamily="49" charset="-122"/>
                </a:rPr>
                <a:t> </a:t>
              </a:r>
              <a:r>
                <a:rPr lang="zh-CN" altLang="en-US" sz="2600" b="1" i="1" dirty="0" smtClean="0">
                  <a:solidFill>
                    <a:srgbClr val="000000"/>
                  </a:solidFill>
                  <a:latin typeface="Times New Roman" panose="02020603050405020304" pitchFamily="18" charset="0"/>
                  <a:ea typeface="楷体_GB2312" pitchFamily="49" charset="-122"/>
                </a:rPr>
                <a:t>∆</a:t>
              </a:r>
              <a:r>
                <a:rPr lang="en-US" altLang="zh-CN" sz="2600" b="1" i="1" baseline="-25000" dirty="0" err="1" smtClean="0">
                  <a:solidFill>
                    <a:srgbClr val="000000"/>
                  </a:solidFill>
                  <a:latin typeface="Times New Roman" panose="02020603050405020304" pitchFamily="18" charset="0"/>
                  <a:ea typeface="楷体_GB2312" pitchFamily="49" charset="-122"/>
                </a:rPr>
                <a:t>r</a:t>
              </a:r>
              <a:r>
                <a:rPr lang="en-US" altLang="zh-CN" sz="2600" b="1" i="1" dirty="0" err="1" smtClean="0">
                  <a:solidFill>
                    <a:srgbClr val="000000"/>
                  </a:solidFill>
                  <a:latin typeface="Times New Roman" panose="02020603050405020304" pitchFamily="18" charset="0"/>
                  <a:ea typeface="楷体_GB2312" pitchFamily="49" charset="-122"/>
                </a:rPr>
                <a:t>H</a:t>
              </a:r>
              <a:r>
                <a:rPr kumimoji="1" lang="en-US" altLang="zh-CN" sz="2600" b="1" i="1" baseline="-25000" dirty="0" err="1" smtClean="0">
                  <a:solidFill>
                    <a:srgbClr val="000000"/>
                  </a:solidFill>
                  <a:latin typeface="Times New Roman" panose="02020603050405020304" pitchFamily="18" charset="0"/>
                  <a:ea typeface="楷体_GB2312" pitchFamily="49" charset="-122"/>
                  <a:sym typeface="Symbol" panose="05050102010706020507" pitchFamily="18" charset="2"/>
                </a:rPr>
                <a:t>m</a:t>
              </a:r>
              <a:r>
                <a:rPr kumimoji="1" lang="el-GR" altLang="zh-CN" sz="2600" b="1" i="1" baseline="30000" dirty="0" smtClean="0">
                  <a:solidFill>
                    <a:srgbClr val="000000"/>
                  </a:solidFill>
                  <a:latin typeface="楷体_GB2312" pitchFamily="49" charset="-122"/>
                  <a:ea typeface="楷体_GB2312" pitchFamily="49" charset="-122"/>
                  <a:sym typeface="Symbol" panose="05050102010706020507" pitchFamily="18" charset="2"/>
                </a:rPr>
                <a:t>Θ</a:t>
              </a:r>
              <a:r>
                <a:rPr kumimoji="1" lang="en-US" altLang="zh-CN" sz="2600" b="1" i="1" baseline="-25000" dirty="0" smtClean="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en-US" sz="2600" b="1" i="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i="1" dirty="0" smtClean="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en-US" sz="2600" b="1" i="1" dirty="0" smtClean="0">
                  <a:solidFill>
                    <a:srgbClr val="FF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i="1" dirty="0" smtClean="0">
                  <a:solidFill>
                    <a:srgbClr val="000000"/>
                  </a:solidFill>
                  <a:latin typeface="Times New Roman" panose="02020603050405020304" pitchFamily="18" charset="0"/>
                  <a:ea typeface="楷体_GB2312" pitchFamily="49" charset="-122"/>
                  <a:sym typeface="Symbol" panose="05050102010706020507" pitchFamily="18" charset="2"/>
                </a:rPr>
                <a:t>483.636  </a:t>
              </a:r>
              <a:r>
                <a:rPr kumimoji="1" lang="en-US" altLang="en-US" sz="2600" b="1" i="1" dirty="0" err="1" smtClean="0">
                  <a:solidFill>
                    <a:srgbClr val="000000"/>
                  </a:solidFill>
                  <a:latin typeface="Times New Roman" panose="02020603050405020304" pitchFamily="18" charset="0"/>
                  <a:ea typeface="楷体_GB2312" pitchFamily="49" charset="-122"/>
                  <a:sym typeface="Symbol" panose="05050102010706020507" pitchFamily="18" charset="2"/>
                </a:rPr>
                <a:t>kJ·mol</a:t>
              </a:r>
              <a:r>
                <a:rPr kumimoji="1" lang="en-US" altLang="zh-CN" sz="2600" b="1" i="1" dirty="0" smtClean="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2600" b="1" i="1" baseline="30000" dirty="0" smtClean="0">
                  <a:solidFill>
                    <a:srgbClr val="000000"/>
                  </a:solidFill>
                  <a:latin typeface="Times New Roman" panose="02020603050405020304" pitchFamily="18" charset="0"/>
                  <a:ea typeface="楷体_GB2312" pitchFamily="49" charset="-122"/>
                  <a:sym typeface="Symbol" panose="05050102010706020507" pitchFamily="18" charset="2"/>
                </a:rPr>
                <a:t>-1</a:t>
              </a:r>
              <a:endParaRPr kumimoji="1" lang="zh-CN" altLang="en-US" sz="2600" b="1" i="1" dirty="0" smtClean="0">
                <a:solidFill>
                  <a:srgbClr val="0000FF"/>
                </a:solidFill>
                <a:latin typeface="Times New Roman" panose="02020603050405020304" pitchFamily="18" charset="0"/>
                <a:ea typeface="楷体_GB2312" pitchFamily="49" charset="-122"/>
              </a:endParaRPr>
            </a:p>
          </p:txBody>
        </p:sp>
        <p:grpSp>
          <p:nvGrpSpPr>
            <p:cNvPr id="49157" name="Group 4"/>
            <p:cNvGrpSpPr/>
            <p:nvPr/>
          </p:nvGrpSpPr>
          <p:grpSpPr bwMode="auto">
            <a:xfrm>
              <a:off x="259760" y="304800"/>
              <a:ext cx="8705367" cy="1754189"/>
              <a:chOff x="-24" y="255"/>
              <a:chExt cx="5790" cy="1105"/>
            </a:xfrm>
          </p:grpSpPr>
          <p:sp>
            <p:nvSpPr>
              <p:cNvPr id="49158" name="Text Box 5"/>
              <p:cNvSpPr txBox="1">
                <a:spLocks noChangeArrowheads="1"/>
              </p:cNvSpPr>
              <p:nvPr/>
            </p:nvSpPr>
            <p:spPr bwMode="auto">
              <a:xfrm>
                <a:off x="686" y="255"/>
                <a:ext cx="4581" cy="30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spcBef>
                    <a:spcPct val="50000"/>
                  </a:spcBef>
                  <a:spcAft>
                    <a:spcPct val="0"/>
                  </a:spcAft>
                </a:pPr>
                <a:r>
                  <a:rPr lang="zh-CN" altLang="en-US" sz="2600" dirty="0" smtClean="0">
                    <a:solidFill>
                      <a:srgbClr val="000000"/>
                    </a:solidFill>
                  </a:rPr>
                  <a:t>例如反应　                   </a:t>
                </a:r>
                <a:r>
                  <a:rPr lang="en-US" altLang="zh-CN" sz="2600" dirty="0" smtClean="0">
                    <a:solidFill>
                      <a:srgbClr val="000000"/>
                    </a:solidFill>
                  </a:rPr>
                  <a:t>2N</a:t>
                </a:r>
                <a:r>
                  <a:rPr lang="en-US" altLang="zh-CN" sz="2600" baseline="-25000" dirty="0" smtClean="0">
                    <a:solidFill>
                      <a:srgbClr val="000000"/>
                    </a:solidFill>
                  </a:rPr>
                  <a:t>2</a:t>
                </a:r>
                <a:r>
                  <a:rPr lang="en-US" altLang="zh-CN" sz="2600" dirty="0" smtClean="0">
                    <a:solidFill>
                      <a:srgbClr val="000000"/>
                    </a:solidFill>
                  </a:rPr>
                  <a:t>O</a:t>
                </a:r>
                <a:r>
                  <a:rPr lang="en-US" altLang="zh-CN" sz="2600" baseline="-25000" dirty="0" smtClean="0">
                    <a:solidFill>
                      <a:srgbClr val="000000"/>
                    </a:solidFill>
                  </a:rPr>
                  <a:t>5</a:t>
                </a:r>
                <a:r>
                  <a:rPr lang="en-US" altLang="zh-CN" sz="2600" dirty="0" smtClean="0">
                    <a:solidFill>
                      <a:srgbClr val="000000"/>
                    </a:solidFill>
                  </a:rPr>
                  <a:t> →   4NO</a:t>
                </a:r>
                <a:r>
                  <a:rPr lang="en-US" altLang="zh-CN" sz="2600" baseline="-25000" dirty="0" smtClean="0">
                    <a:solidFill>
                      <a:srgbClr val="000000"/>
                    </a:solidFill>
                  </a:rPr>
                  <a:t>2</a:t>
                </a:r>
                <a:r>
                  <a:rPr lang="en-US" altLang="zh-CN" sz="2600" dirty="0" smtClean="0">
                    <a:solidFill>
                      <a:srgbClr val="000000"/>
                    </a:solidFill>
                  </a:rPr>
                  <a:t>  +  O</a:t>
                </a:r>
                <a:r>
                  <a:rPr lang="en-US" altLang="zh-CN" sz="2600" baseline="-25000" dirty="0" smtClean="0">
                    <a:solidFill>
                      <a:srgbClr val="000000"/>
                    </a:solidFill>
                  </a:rPr>
                  <a:t>2</a:t>
                </a:r>
              </a:p>
            </p:txBody>
          </p:sp>
          <p:sp>
            <p:nvSpPr>
              <p:cNvPr id="49159" name="Text Box 6"/>
              <p:cNvSpPr txBox="1">
                <a:spLocks noChangeArrowheads="1"/>
              </p:cNvSpPr>
              <p:nvPr/>
            </p:nvSpPr>
            <p:spPr bwMode="auto">
              <a:xfrm>
                <a:off x="-24" y="572"/>
                <a:ext cx="5790" cy="78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algn="just" fontAlgn="base">
                  <a:spcBef>
                    <a:spcPct val="50000"/>
                  </a:spcBef>
                  <a:spcAft>
                    <a:spcPct val="0"/>
                  </a:spcAft>
                </a:pPr>
                <a:r>
                  <a:rPr lang="en-US" altLang="zh-CN" sz="2600" dirty="0" smtClean="0">
                    <a:solidFill>
                      <a:srgbClr val="000000"/>
                    </a:solidFill>
                  </a:rPr>
                  <a:t>           </a:t>
                </a:r>
                <a:r>
                  <a:rPr lang="zh-CN" altLang="en-US" sz="2600" dirty="0" smtClean="0">
                    <a:solidFill>
                      <a:srgbClr val="000000"/>
                    </a:solidFill>
                  </a:rPr>
                  <a:t>开始</a:t>
                </a:r>
                <a:r>
                  <a:rPr lang="en-US" altLang="zh-CN" sz="2600" dirty="0" smtClean="0">
                    <a:solidFill>
                      <a:srgbClr val="000000"/>
                    </a:solidFill>
                  </a:rPr>
                  <a:t>n/(</a:t>
                </a:r>
                <a:r>
                  <a:rPr lang="en-US" altLang="zh-CN" sz="2600" dirty="0" err="1" smtClean="0">
                    <a:solidFill>
                      <a:srgbClr val="000000"/>
                    </a:solidFill>
                  </a:rPr>
                  <a:t>mol</a:t>
                </a:r>
                <a:r>
                  <a:rPr lang="en-US" altLang="zh-CN" sz="2600" dirty="0" smtClean="0">
                    <a:solidFill>
                      <a:srgbClr val="000000"/>
                    </a:solidFill>
                  </a:rPr>
                  <a:t>)                     2.00              0           0</a:t>
                </a:r>
              </a:p>
              <a:p>
                <a:pPr algn="just" fontAlgn="base">
                  <a:lnSpc>
                    <a:spcPct val="40000"/>
                  </a:lnSpc>
                  <a:spcBef>
                    <a:spcPct val="50000"/>
                  </a:spcBef>
                  <a:spcAft>
                    <a:spcPct val="0"/>
                  </a:spcAft>
                </a:pPr>
                <a:r>
                  <a:rPr lang="en-US" altLang="zh-CN" sz="2600" dirty="0" smtClean="0">
                    <a:solidFill>
                      <a:srgbClr val="000000"/>
                    </a:solidFill>
                  </a:rPr>
                  <a:t>          100</a:t>
                </a:r>
                <a:r>
                  <a:rPr lang="zh-CN" altLang="en-US" sz="2600" dirty="0" smtClean="0">
                    <a:solidFill>
                      <a:srgbClr val="000000"/>
                    </a:solidFill>
                  </a:rPr>
                  <a:t>秒</a:t>
                </a:r>
                <a:r>
                  <a:rPr lang="en-US" altLang="zh-CN" sz="2600" dirty="0" smtClean="0">
                    <a:solidFill>
                      <a:srgbClr val="000000"/>
                    </a:solidFill>
                  </a:rPr>
                  <a:t>n/(</a:t>
                </a:r>
                <a:r>
                  <a:rPr lang="en-US" altLang="zh-CN" sz="2600" dirty="0" err="1" smtClean="0">
                    <a:solidFill>
                      <a:srgbClr val="000000"/>
                    </a:solidFill>
                  </a:rPr>
                  <a:t>mol</a:t>
                </a:r>
                <a:r>
                  <a:rPr lang="en-US" altLang="zh-CN" sz="2600" dirty="0" smtClean="0">
                    <a:solidFill>
                      <a:srgbClr val="000000"/>
                    </a:solidFill>
                  </a:rPr>
                  <a:t>)</a:t>
                </a:r>
                <a:r>
                  <a:rPr lang="zh-CN" altLang="en-US" sz="2600" dirty="0" smtClean="0">
                    <a:solidFill>
                      <a:srgbClr val="000000"/>
                    </a:solidFill>
                  </a:rPr>
                  <a:t>　                </a:t>
                </a:r>
                <a:r>
                  <a:rPr lang="en-US" altLang="zh-CN" sz="2600" dirty="0" smtClean="0">
                    <a:solidFill>
                      <a:srgbClr val="000000"/>
                    </a:solidFill>
                  </a:rPr>
                  <a:t>1.50            1.0        0.25</a:t>
                </a:r>
              </a:p>
              <a:p>
                <a:pPr algn="just" fontAlgn="base">
                  <a:lnSpc>
                    <a:spcPct val="40000"/>
                  </a:lnSpc>
                  <a:spcBef>
                    <a:spcPct val="50000"/>
                  </a:spcBef>
                  <a:spcAft>
                    <a:spcPct val="0"/>
                  </a:spcAft>
                </a:pPr>
                <a:r>
                  <a:rPr lang="en-US" altLang="zh-CN" sz="2600" dirty="0">
                    <a:solidFill>
                      <a:srgbClr val="000000"/>
                    </a:solidFill>
                  </a:rPr>
                  <a:t> </a:t>
                </a:r>
                <a:r>
                  <a:rPr lang="en-US" altLang="zh-CN" sz="2600" dirty="0" smtClean="0">
                    <a:solidFill>
                      <a:srgbClr val="000000"/>
                    </a:solidFill>
                  </a:rPr>
                  <a:t>ξ=1mol</a:t>
                </a:r>
                <a:r>
                  <a:rPr lang="zh-CN" altLang="en-US" sz="2600" dirty="0" smtClean="0">
                    <a:solidFill>
                      <a:srgbClr val="000000"/>
                    </a:solidFill>
                  </a:rPr>
                  <a:t>时</a:t>
                </a:r>
                <a:r>
                  <a:rPr lang="zh-CN" altLang="en-US" sz="2600" dirty="0">
                    <a:solidFill>
                      <a:srgbClr val="000000"/>
                    </a:solidFill>
                  </a:rPr>
                  <a:t>各</a:t>
                </a:r>
                <a:r>
                  <a:rPr lang="zh-CN" altLang="en-US" sz="2600" dirty="0" smtClean="0">
                    <a:solidFill>
                      <a:srgbClr val="000000"/>
                    </a:solidFill>
                  </a:rPr>
                  <a:t>物质的∆</a:t>
                </a:r>
                <a:r>
                  <a:rPr lang="en-US" altLang="zh-CN" sz="2600" smtClean="0">
                    <a:solidFill>
                      <a:srgbClr val="000000"/>
                    </a:solidFill>
                  </a:rPr>
                  <a:t>n/mol         2                </a:t>
                </a:r>
                <a:r>
                  <a:rPr lang="en-US" altLang="zh-CN" sz="2600" dirty="0" smtClean="0">
                    <a:solidFill>
                      <a:srgbClr val="000000"/>
                    </a:solidFill>
                  </a:rPr>
                  <a:t>4            1</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checkerboard(across)">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8"/>
          <p:cNvSpPr>
            <a:spLocks noChangeArrowheads="1"/>
          </p:cNvSpPr>
          <p:nvPr/>
        </p:nvSpPr>
        <p:spPr bwMode="auto">
          <a:xfrm>
            <a:off x="152400" y="533400"/>
            <a:ext cx="8839200" cy="25019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        </a:t>
            </a:r>
            <a:r>
              <a:rPr kumimoji="1" lang="zh-CN" altLang="en-US" sz="2600" b="1" smtClean="0">
                <a:solidFill>
                  <a:srgbClr val="000000"/>
                </a:solidFill>
                <a:latin typeface="Times New Roman" panose="02020603050405020304" pitchFamily="18" charset="0"/>
                <a:ea typeface="楷体_GB2312" pitchFamily="49" charset="-122"/>
                <a:cs typeface="Times New Roman" panose="02020603050405020304" pitchFamily="18" charset="0"/>
              </a:rPr>
              <a:t>热力学标准状态</a:t>
            </a:r>
            <a:r>
              <a:rPr lang="en-US" altLang="zh-CN" sz="2600" b="1" smtClean="0">
                <a:solidFill>
                  <a:srgbClr val="000000"/>
                </a:solidFill>
                <a:latin typeface="Times New Roman" panose="02020603050405020304" pitchFamily="18" charset="0"/>
                <a:ea typeface="楷体_GB2312" pitchFamily="49" charset="-122"/>
              </a:rPr>
              <a:t>(</a:t>
            </a:r>
            <a:r>
              <a:rPr lang="en-US" altLang="zh-CN" sz="2600" b="1" smtClean="0">
                <a:solidFill>
                  <a:srgbClr val="000000"/>
                </a:solidFill>
                <a:latin typeface="Times New Roman" panose="02020603050405020304" pitchFamily="18" charset="0"/>
              </a:rPr>
              <a:t>standard state)</a:t>
            </a:r>
            <a:r>
              <a:rPr kumimoji="1" lang="zh-CN" altLang="en-US" sz="2600" b="1" smtClean="0">
                <a:solidFill>
                  <a:srgbClr val="000000"/>
                </a:solidFill>
                <a:latin typeface="Times New Roman" panose="02020603050405020304" pitchFamily="18" charset="0"/>
                <a:ea typeface="楷体_GB2312" pitchFamily="49" charset="-122"/>
                <a:cs typeface="Times New Roman" panose="02020603050405020304" pitchFamily="18" charset="0"/>
              </a:rPr>
              <a:t>，简称热力学标态；</a:t>
            </a:r>
            <a:r>
              <a:rPr kumimoji="1"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 </a:t>
            </a:r>
          </a:p>
          <a:p>
            <a:pPr eaLnBrk="0" fontAlgn="base" hangingPunct="0">
              <a:lnSpc>
                <a:spcPts val="3600"/>
              </a:lnSpc>
              <a:spcBef>
                <a:spcPct val="50000"/>
              </a:spcBef>
              <a:spcAft>
                <a:spcPct val="0"/>
              </a:spcAft>
            </a:pPr>
            <a:r>
              <a:rPr kumimoji="1"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        </a:t>
            </a:r>
            <a:r>
              <a:rPr kumimoji="1" lang="zh-CN" altLang="en-US" sz="2600" b="1" smtClean="0">
                <a:solidFill>
                  <a:srgbClr val="000000"/>
                </a:solidFill>
                <a:latin typeface="Times New Roman" panose="02020603050405020304" pitchFamily="18" charset="0"/>
                <a:ea typeface="楷体_GB2312" pitchFamily="49" charset="-122"/>
                <a:cs typeface="Times New Roman" panose="02020603050405020304" pitchFamily="18" charset="0"/>
              </a:rPr>
              <a:t>系统与环境是有条件的，一般都是在常温常压下</a:t>
            </a:r>
            <a:r>
              <a:rPr kumimoji="1"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a:t>
            </a:r>
          </a:p>
          <a:p>
            <a:pPr algn="ctr" eaLnBrk="0" fontAlgn="base" hangingPunct="0">
              <a:lnSpc>
                <a:spcPts val="3600"/>
              </a:lnSpc>
              <a:spcBef>
                <a:spcPct val="50000"/>
              </a:spcBef>
              <a:spcAft>
                <a:spcPct val="0"/>
              </a:spcAft>
            </a:pPr>
            <a:r>
              <a:rPr kumimoji="1"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 25℃——298.15K</a:t>
            </a:r>
            <a:r>
              <a:rPr kumimoji="1" lang="zh-CN" altLang="en-US" sz="2600" b="1" smtClean="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273.15+25 </a:t>
            </a:r>
            <a:r>
              <a:rPr kumimoji="1" lang="zh-CN" altLang="en-US" sz="2600" b="1" smtClean="0">
                <a:solidFill>
                  <a:srgbClr val="000000"/>
                </a:solidFill>
                <a:latin typeface="Times New Roman" panose="02020603050405020304" pitchFamily="18" charset="0"/>
                <a:ea typeface="楷体_GB2312" pitchFamily="49" charset="-122"/>
                <a:cs typeface="Times New Roman" panose="02020603050405020304" pitchFamily="18" charset="0"/>
              </a:rPr>
              <a:t>）、</a:t>
            </a:r>
            <a:endParaRPr kumimoji="1"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endParaRPr>
          </a:p>
          <a:p>
            <a:pPr algn="ctr" eaLnBrk="0" fontAlgn="base" hangingPunct="0">
              <a:lnSpc>
                <a:spcPts val="3600"/>
              </a:lnSpc>
              <a:spcBef>
                <a:spcPct val="50000"/>
              </a:spcBef>
              <a:spcAft>
                <a:spcPct val="0"/>
              </a:spcAft>
            </a:pPr>
            <a:r>
              <a:rPr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1atm = 760mmHg = 101.325 kPa (≈100kPa) </a:t>
            </a:r>
            <a:endParaRPr kumimoji="1"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7" name="矩形 6"/>
          <p:cNvSpPr>
            <a:spLocks noChangeArrowheads="1"/>
          </p:cNvSpPr>
          <p:nvPr/>
        </p:nvSpPr>
        <p:spPr bwMode="auto">
          <a:xfrm>
            <a:off x="1143000" y="3124200"/>
            <a:ext cx="5486400" cy="1177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zh-CN" altLang="en-US" sz="2600" b="1" smtClean="0">
                <a:solidFill>
                  <a:srgbClr val="000000"/>
                </a:solidFill>
                <a:latin typeface="Times New Roman" panose="02020603050405020304" pitchFamily="18" charset="0"/>
                <a:ea typeface="楷体_GB2312" pitchFamily="49" charset="-122"/>
                <a:cs typeface="Times New Roman" panose="02020603050405020304" pitchFamily="18" charset="0"/>
              </a:rPr>
              <a:t>定义</a:t>
            </a:r>
            <a:r>
              <a:rPr kumimoji="1"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zh-CN" altLang="en-US" sz="2600" b="1" smtClean="0">
                <a:solidFill>
                  <a:srgbClr val="0000FF"/>
                </a:solidFill>
                <a:latin typeface="Times New Roman" panose="02020603050405020304" pitchFamily="18" charset="0"/>
                <a:ea typeface="楷体_GB2312" pitchFamily="49" charset="-122"/>
                <a:cs typeface="Times New Roman" panose="02020603050405020304" pitchFamily="18" charset="0"/>
              </a:rPr>
              <a:t>热力学标准压力</a:t>
            </a:r>
            <a:r>
              <a:rPr lang="en-US" altLang="zh-CN" sz="2600" b="1" smtClean="0">
                <a:solidFill>
                  <a:srgbClr val="0000FF"/>
                </a:solidFill>
                <a:latin typeface="Times New Roman" panose="02020603050405020304" pitchFamily="18" charset="0"/>
                <a:ea typeface="楷体_GB2312" pitchFamily="49" charset="-122"/>
                <a:cs typeface="Times New Roman" panose="02020603050405020304" pitchFamily="18" charset="0"/>
              </a:rPr>
              <a:t>p</a:t>
            </a:r>
            <a:r>
              <a:rPr lang="el-GR" altLang="zh-CN" sz="2600" b="1" baseline="30000" smtClean="0">
                <a:solidFill>
                  <a:srgbClr val="0000FF"/>
                </a:solidFill>
                <a:latin typeface="Times New Roman" panose="02020603050405020304" pitchFamily="18" charset="0"/>
                <a:ea typeface="楷体_GB2312" pitchFamily="49" charset="-122"/>
                <a:cs typeface="Times New Roman" panose="02020603050405020304" pitchFamily="18" charset="0"/>
              </a:rPr>
              <a:t>Θ</a:t>
            </a:r>
            <a:endParaRPr kumimoji="1" lang="en-US" altLang="zh-CN" sz="2600" b="1" smtClean="0">
              <a:solidFill>
                <a:srgbClr val="0000FF"/>
              </a:solidFill>
              <a:latin typeface="Times New Roman" panose="02020603050405020304" pitchFamily="18" charset="0"/>
              <a:ea typeface="楷体_GB2312" pitchFamily="49" charset="-122"/>
              <a:cs typeface="Times New Roman" panose="02020603050405020304" pitchFamily="18" charset="0"/>
            </a:endParaRPr>
          </a:p>
          <a:p>
            <a:pPr algn="ctr" eaLnBrk="0" fontAlgn="base" hangingPunct="0">
              <a:lnSpc>
                <a:spcPts val="3600"/>
              </a:lnSpc>
              <a:spcBef>
                <a:spcPct val="50000"/>
              </a:spcBef>
              <a:spcAft>
                <a:spcPct val="0"/>
              </a:spcAft>
            </a:pPr>
            <a:r>
              <a:rPr lang="en-US" altLang="zh-CN" sz="2600" b="1" i="1" smtClean="0">
                <a:solidFill>
                  <a:srgbClr val="FF0000"/>
                </a:solidFill>
                <a:latin typeface="Times New Roman" panose="02020603050405020304" pitchFamily="18" charset="0"/>
                <a:ea typeface="楷体_GB2312" pitchFamily="49" charset="-122"/>
                <a:cs typeface="Times New Roman" panose="02020603050405020304" pitchFamily="18" charset="0"/>
              </a:rPr>
              <a:t>p</a:t>
            </a:r>
            <a:r>
              <a:rPr lang="el-GR" altLang="zh-CN" sz="2600" b="1" i="1" baseline="30000" smtClean="0">
                <a:solidFill>
                  <a:srgbClr val="FF0000"/>
                </a:solidFill>
                <a:latin typeface="Times New Roman" panose="02020603050405020304" pitchFamily="18" charset="0"/>
                <a:ea typeface="楷体_GB2312" pitchFamily="49" charset="-122"/>
                <a:cs typeface="Times New Roman" panose="02020603050405020304" pitchFamily="18" charset="0"/>
              </a:rPr>
              <a:t>Θ</a:t>
            </a:r>
            <a:r>
              <a:rPr lang="en-US" altLang="zh-CN" sz="2600" b="1" i="1" baseline="30000" smtClean="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600" b="1" i="1" smtClean="0">
                <a:solidFill>
                  <a:srgbClr val="FF0000"/>
                </a:solidFill>
                <a:latin typeface="Times New Roman" panose="02020603050405020304" pitchFamily="18" charset="0"/>
                <a:ea typeface="楷体_GB2312" pitchFamily="49" charset="-122"/>
                <a:cs typeface="Times New Roman" panose="02020603050405020304" pitchFamily="18" charset="0"/>
              </a:rPr>
              <a:t>= 100kPa </a:t>
            </a:r>
            <a:endParaRPr kumimoji="1" lang="zh-CN" altLang="en-US" sz="2600" b="1" i="1" smtClean="0">
              <a:solidFill>
                <a:srgbClr val="FF0000"/>
              </a:solidFill>
              <a:latin typeface="Times New Roman" panose="02020603050405020304" pitchFamily="18" charset="0"/>
              <a:ea typeface="楷体_GB2312" pitchFamily="49" charset="-122"/>
            </a:endParaRPr>
          </a:p>
        </p:txBody>
      </p:sp>
      <p:sp>
        <p:nvSpPr>
          <p:cNvPr id="8" name="Rectangle 6"/>
          <p:cNvSpPr>
            <a:spLocks noChangeArrowheads="1"/>
          </p:cNvSpPr>
          <p:nvPr/>
        </p:nvSpPr>
        <p:spPr bwMode="auto">
          <a:xfrm>
            <a:off x="0" y="0"/>
            <a:ext cx="3962400" cy="492125"/>
          </a:xfrm>
          <a:prstGeom prst="rect">
            <a:avLst/>
          </a:prstGeom>
          <a:solidFill>
            <a:schemeClr val="accent5"/>
          </a:solidFill>
          <a:ln w="9525">
            <a:noFill/>
            <a:miter lim="800000"/>
          </a:ln>
        </p:spPr>
        <p:txBody>
          <a:bodyPr anchor="ctr">
            <a:spAutoFit/>
          </a:bodyPr>
          <a:lstStyle/>
          <a:p>
            <a:pPr marL="342900" indent="-342900" fontAlgn="base">
              <a:spcBef>
                <a:spcPct val="0"/>
              </a:spcBef>
              <a:spcAft>
                <a:spcPct val="0"/>
              </a:spcAft>
              <a:defRPr/>
            </a:pPr>
            <a:r>
              <a:rPr kumimoji="1" lang="en-US" altLang="zh-CN" sz="2600" b="1" i="1" dirty="0">
                <a:solidFill>
                  <a:srgbClr val="C00000"/>
                </a:solidFill>
                <a:latin typeface="Times New Roman" panose="02020603050405020304" pitchFamily="18" charset="0"/>
                <a:ea typeface="楷体_GB2312" pitchFamily="49" charset="-122"/>
              </a:rPr>
              <a:t>5.  </a:t>
            </a:r>
            <a:r>
              <a:rPr kumimoji="1" lang="zh-CN" altLang="en-US" sz="2600" b="1" i="1" dirty="0">
                <a:solidFill>
                  <a:srgbClr val="C00000"/>
                </a:solidFill>
                <a:latin typeface="Times New Roman" panose="02020603050405020304" pitchFamily="18" charset="0"/>
                <a:ea typeface="楷体_GB2312" pitchFamily="49" charset="-122"/>
              </a:rPr>
              <a:t>热力学标准态（</a:t>
            </a:r>
            <a:r>
              <a:rPr kumimoji="1" lang="en-US" altLang="zh-CN" sz="2600" b="1" i="1" dirty="0">
                <a:solidFill>
                  <a:srgbClr val="C00000"/>
                </a:solidFill>
                <a:latin typeface="Times New Roman" panose="02020603050405020304" pitchFamily="18" charset="0"/>
                <a:ea typeface="楷体_GB2312" pitchFamily="49" charset="-122"/>
              </a:rPr>
              <a:t>SS</a:t>
            </a:r>
            <a:r>
              <a:rPr kumimoji="1" lang="zh-CN" altLang="en-US" sz="2600" b="1" i="1" dirty="0">
                <a:solidFill>
                  <a:srgbClr val="C00000"/>
                </a:solidFill>
                <a:latin typeface="Times New Roman" panose="02020603050405020304" pitchFamily="18" charset="0"/>
                <a:ea typeface="楷体_GB2312" pitchFamily="49" charset="-122"/>
              </a:rPr>
              <a:t>）</a:t>
            </a:r>
          </a:p>
        </p:txBody>
      </p:sp>
      <p:sp>
        <p:nvSpPr>
          <p:cNvPr id="9" name="矩形 8"/>
          <p:cNvSpPr/>
          <p:nvPr/>
        </p:nvSpPr>
        <p:spPr>
          <a:xfrm>
            <a:off x="609600" y="4419600"/>
            <a:ext cx="8153400" cy="1631216"/>
          </a:xfrm>
          <a:prstGeom prst="rect">
            <a:avLst/>
          </a:prstGeom>
          <a:noFill/>
          <a:ln w="9525">
            <a:noFill/>
          </a:ln>
        </p:spPr>
        <p:txBody>
          <a:bodyPr anchor="t" anchorCtr="0">
            <a:spAutoFit/>
          </a:bodyPr>
          <a:lstStyle/>
          <a:p>
            <a:pPr>
              <a:lnSpc>
                <a:spcPts val="4000"/>
              </a:lnSpc>
            </a:pPr>
            <a:r>
              <a:rPr lang="en-US" altLang="zh-CN" sz="2400" b="1" i="1" dirty="0" smtClean="0">
                <a:solidFill>
                  <a:srgbClr val="080808"/>
                </a:solidFill>
                <a:latin typeface="+mj-lt"/>
                <a:ea typeface="楷体_GB2312" charset="-122"/>
              </a:rPr>
              <a:t>        </a:t>
            </a:r>
            <a:r>
              <a:rPr lang="zh-CN" altLang="en-US" sz="2400" b="1" i="1" dirty="0" smtClean="0">
                <a:solidFill>
                  <a:srgbClr val="080808"/>
                </a:solidFill>
                <a:latin typeface="+mj-lt"/>
                <a:ea typeface="楷体_GB2312" charset="-122"/>
              </a:rPr>
              <a:t>注意：</a:t>
            </a:r>
            <a:r>
              <a:rPr lang="en-US" altLang="zh-CN" sz="2400" b="1" i="1" dirty="0" smtClean="0">
                <a:solidFill>
                  <a:srgbClr val="FF0000"/>
                </a:solidFill>
                <a:latin typeface="+mj-lt"/>
                <a:ea typeface="楷体_GB2312" charset="-122"/>
              </a:rPr>
              <a:t>1</a:t>
            </a:r>
            <a:r>
              <a:rPr lang="zh-CN" altLang="en-US" sz="2400" b="1" i="1" dirty="0" smtClean="0">
                <a:solidFill>
                  <a:srgbClr val="FF0000"/>
                </a:solidFill>
                <a:latin typeface="+mj-lt"/>
                <a:ea typeface="楷体_GB2312" charset="-122"/>
              </a:rPr>
              <a:t>、</a:t>
            </a:r>
            <a:r>
              <a:rPr lang="en-US" altLang="zh-CN" sz="2400" b="1" i="1" dirty="0" smtClean="0">
                <a:solidFill>
                  <a:srgbClr val="2909C9"/>
                </a:solidFill>
                <a:latin typeface="+mj-lt"/>
              </a:rPr>
              <a:t>1atm/101.3kPa </a:t>
            </a:r>
            <a:r>
              <a:rPr lang="zh-CN" altLang="en-US" sz="2400" b="1" i="1" dirty="0" smtClean="0">
                <a:solidFill>
                  <a:srgbClr val="2909C9"/>
                </a:solidFill>
                <a:latin typeface="+mj-lt"/>
              </a:rPr>
              <a:t>～</a:t>
            </a:r>
            <a:r>
              <a:rPr lang="en-US" altLang="zh-CN" sz="2400" b="1" i="1" dirty="0" smtClean="0">
                <a:solidFill>
                  <a:srgbClr val="2909C9"/>
                </a:solidFill>
                <a:latin typeface="+mj-lt"/>
              </a:rPr>
              <a:t>100kPa</a:t>
            </a:r>
            <a:r>
              <a:rPr lang="zh-CN" altLang="en-US" sz="2400" b="1" i="1" dirty="0" smtClean="0">
                <a:solidFill>
                  <a:srgbClr val="2909C9"/>
                </a:solidFill>
                <a:latin typeface="+mj-lt"/>
              </a:rPr>
              <a:t>两者区别</a:t>
            </a:r>
            <a:r>
              <a:rPr lang="zh-CN" altLang="en-US" sz="2400" b="1" i="1" dirty="0" smtClean="0">
                <a:solidFill>
                  <a:srgbClr val="080808"/>
                </a:solidFill>
                <a:latin typeface="+mj-lt"/>
              </a:rPr>
              <a:t>，如</a:t>
            </a:r>
            <a:r>
              <a:rPr lang="zh-CN" altLang="en-US" sz="2400" b="1" i="1" dirty="0">
                <a:solidFill>
                  <a:srgbClr val="080808"/>
                </a:solidFill>
                <a:latin typeface="+mj-lt"/>
                <a:ea typeface="楷体_GB2312" charset="-122"/>
              </a:rPr>
              <a:t>理想气体的标准大气压是</a:t>
            </a:r>
            <a:r>
              <a:rPr lang="en-US" altLang="zh-CN" sz="2400" b="1" i="1" dirty="0">
                <a:solidFill>
                  <a:schemeClr val="tx1"/>
                </a:solidFill>
                <a:latin typeface="+mj-lt"/>
                <a:ea typeface="楷体_GB2312" charset="-122"/>
              </a:rPr>
              <a:t>1atm</a:t>
            </a:r>
            <a:r>
              <a:rPr lang="zh-CN" altLang="en-US" sz="2400" b="1" i="1" dirty="0">
                <a:solidFill>
                  <a:schemeClr val="tx1"/>
                </a:solidFill>
                <a:latin typeface="+mj-lt"/>
                <a:ea typeface="楷体_GB2312" charset="-122"/>
              </a:rPr>
              <a:t>，而不是</a:t>
            </a:r>
            <a:r>
              <a:rPr lang="en-US" altLang="zh-CN" sz="2400" b="1" i="1" dirty="0" smtClean="0">
                <a:solidFill>
                  <a:schemeClr val="tx1"/>
                </a:solidFill>
                <a:latin typeface="+mj-lt"/>
                <a:ea typeface="楷体_GB2312" charset="-122"/>
              </a:rPr>
              <a:t>100kPa</a:t>
            </a:r>
            <a:r>
              <a:rPr lang="zh-CN" altLang="en-US" sz="2400" b="1" i="1" dirty="0" smtClean="0">
                <a:solidFill>
                  <a:schemeClr val="tx1"/>
                </a:solidFill>
                <a:latin typeface="+mj-lt"/>
              </a:rPr>
              <a:t>；</a:t>
            </a:r>
            <a:endParaRPr lang="en-US" altLang="zh-CN" sz="2400" b="1" i="1" dirty="0" smtClean="0">
              <a:solidFill>
                <a:schemeClr val="tx1"/>
              </a:solidFill>
              <a:latin typeface="+mj-lt"/>
            </a:endParaRPr>
          </a:p>
          <a:p>
            <a:pPr>
              <a:lnSpc>
                <a:spcPts val="4000"/>
              </a:lnSpc>
            </a:pPr>
            <a:r>
              <a:rPr lang="en-US" altLang="zh-CN" sz="2400" b="1" i="1" dirty="0" smtClean="0">
                <a:solidFill>
                  <a:srgbClr val="FF0000"/>
                </a:solidFill>
                <a:latin typeface="+mj-lt"/>
                <a:ea typeface="Times New Roman" panose="02020603050405020304" pitchFamily="18" charset="0"/>
              </a:rPr>
              <a:t>                  2</a:t>
            </a:r>
            <a:r>
              <a:rPr lang="zh-CN" altLang="en-US" sz="2400" b="1" i="1" dirty="0" smtClean="0">
                <a:solidFill>
                  <a:srgbClr val="FF0000"/>
                </a:solidFill>
                <a:latin typeface="+mj-lt"/>
                <a:ea typeface="Times New Roman" panose="02020603050405020304" pitchFamily="18" charset="0"/>
              </a:rPr>
              <a:t>、</a:t>
            </a:r>
            <a:r>
              <a:rPr lang="zh-CN" altLang="en-US" sz="2400" b="1" i="1" dirty="0" smtClean="0">
                <a:solidFill>
                  <a:srgbClr val="2909C9"/>
                </a:solidFill>
                <a:latin typeface="+mj-lt"/>
                <a:ea typeface="Times New Roman" panose="02020603050405020304" pitchFamily="18" charset="0"/>
              </a:rPr>
              <a:t>区别理想气体的标准状态</a:t>
            </a:r>
            <a:r>
              <a:rPr lang="en-US" altLang="zh-CN" sz="2400" b="1" i="1" dirty="0" smtClean="0">
                <a:solidFill>
                  <a:srgbClr val="2909C9"/>
                </a:solidFill>
                <a:latin typeface="+mj-lt"/>
                <a:ea typeface="Times New Roman" panose="02020603050405020304" pitchFamily="18" charset="0"/>
              </a:rPr>
              <a:t>(STP</a:t>
            </a:r>
            <a:r>
              <a:rPr lang="zh-CN" altLang="en-US" sz="2400" b="1" i="1" dirty="0" smtClean="0">
                <a:solidFill>
                  <a:srgbClr val="2909C9"/>
                </a:solidFill>
                <a:latin typeface="+mj-lt"/>
                <a:ea typeface="Times New Roman" panose="02020603050405020304" pitchFamily="18" charset="0"/>
              </a:rPr>
              <a:t>，</a:t>
            </a:r>
            <a:r>
              <a:rPr lang="en-US" altLang="zh-CN" sz="2400" b="1" i="1" dirty="0" smtClean="0">
                <a:solidFill>
                  <a:srgbClr val="2909C9"/>
                </a:solidFill>
                <a:latin typeface="+mj-lt"/>
                <a:ea typeface="Times New Roman" panose="02020603050405020304" pitchFamily="18" charset="0"/>
              </a:rPr>
              <a:t>0 ° C</a:t>
            </a:r>
            <a:r>
              <a:rPr lang="zh-CN" altLang="en-US" sz="2400" b="1" i="1" dirty="0" smtClean="0">
                <a:solidFill>
                  <a:srgbClr val="2909C9"/>
                </a:solidFill>
                <a:latin typeface="+mj-lt"/>
                <a:ea typeface="Times New Roman" panose="02020603050405020304" pitchFamily="18" charset="0"/>
              </a:rPr>
              <a:t>、</a:t>
            </a:r>
            <a:r>
              <a:rPr lang="en-US" altLang="zh-CN" sz="2400" b="1" i="1" dirty="0" smtClean="0">
                <a:solidFill>
                  <a:srgbClr val="2909C9"/>
                </a:solidFill>
                <a:latin typeface="+mj-lt"/>
              </a:rPr>
              <a:t>1atm)</a:t>
            </a:r>
            <a:endParaRPr lang="en-US" altLang="zh-CN" sz="2400" b="1" i="1" dirty="0">
              <a:solidFill>
                <a:srgbClr val="2909C9"/>
              </a:solidFill>
              <a:latin typeface="+mj-lt"/>
              <a:ea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checkerboard(across)">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p:bldP spid="8" grpId="0" animBg="1"/>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oup 8"/>
          <p:cNvGraphicFramePr>
            <a:graphicFrameLocks noGrp="1"/>
          </p:cNvGraphicFramePr>
          <p:nvPr/>
        </p:nvGraphicFramePr>
        <p:xfrm>
          <a:off x="381000" y="152400"/>
          <a:ext cx="8399463" cy="5111750"/>
        </p:xfrm>
        <a:graphic>
          <a:graphicData uri="http://schemas.openxmlformats.org/drawingml/2006/table">
            <a:tbl>
              <a:tblPr/>
              <a:tblGrid>
                <a:gridCol w="1295471"/>
                <a:gridCol w="7103992"/>
              </a:tblGrid>
              <a:tr h="1219177">
                <a:tc>
                  <a:txBody>
                    <a:bodyPr/>
                    <a:lstStyle/>
                    <a:p>
                      <a:pPr marL="0" marR="0" lvl="0" indent="0" algn="ctr" defTabSz="914400" rtl="0" eaLnBrk="1" fontAlgn="base" latinLnBrk="0" hangingPunct="1">
                        <a:lnSpc>
                          <a:spcPts val="4000"/>
                        </a:lnSpc>
                        <a:spcBef>
                          <a:spcPct val="20000"/>
                        </a:spcBef>
                        <a:spcAft>
                          <a:spcPct val="0"/>
                        </a:spcAft>
                        <a:buClrTx/>
                        <a:buSzTx/>
                        <a:buFontTx/>
                        <a:buNone/>
                      </a:pP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物质的</a:t>
                      </a:r>
                      <a:endParaRPr kumimoji="0" lang="en-US" altLang="zh-CN"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endParaRPr>
                    </a:p>
                    <a:p>
                      <a:pPr marL="0" marR="0" lvl="0" indent="0" algn="ctr" defTabSz="914400" rtl="0" eaLnBrk="1" fontAlgn="base" latinLnBrk="0" hangingPunct="1">
                        <a:lnSpc>
                          <a:spcPts val="4000"/>
                        </a:lnSpc>
                        <a:spcBef>
                          <a:spcPct val="20000"/>
                        </a:spcBef>
                        <a:spcAft>
                          <a:spcPct val="0"/>
                        </a:spcAft>
                        <a:buClrTx/>
                        <a:buSzTx/>
                        <a:buFontTx/>
                        <a:buNone/>
                      </a:pP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状态</a:t>
                      </a:r>
                    </a:p>
                  </a:txBody>
                  <a:tcPr marL="0" marR="0" marT="0" marB="0"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4000"/>
                        </a:lnSpc>
                        <a:spcBef>
                          <a:spcPct val="20000"/>
                        </a:spcBef>
                        <a:spcAft>
                          <a:spcPct val="0"/>
                        </a:spcAft>
                        <a:buClrTx/>
                        <a:buSzTx/>
                        <a:buFontTx/>
                        <a:buNone/>
                      </a:pPr>
                      <a:r>
                        <a:rPr kumimoji="0" lang="zh-CN" altLang="en-US" sz="2600" b="1" i="0" u="none" strike="noStrike" cap="none" normalizeH="0" baseline="0" dirty="0" smtClean="0">
                          <a:ln>
                            <a:noFill/>
                          </a:ln>
                          <a:solidFill>
                            <a:srgbClr val="0000FF"/>
                          </a:solidFill>
                          <a:effectLst/>
                          <a:latin typeface="Times New Roman" panose="02020603050405020304" pitchFamily="18" charset="0"/>
                          <a:ea typeface="楷体_GB2312" pitchFamily="49" charset="-122"/>
                        </a:rPr>
                        <a:t>热力学</a:t>
                      </a:r>
                      <a:endParaRPr kumimoji="0" lang="en-US" altLang="zh-CN" sz="2600" b="1" i="0" u="none" strike="noStrike" cap="none" normalizeH="0" baseline="0" dirty="0" smtClean="0">
                        <a:ln>
                          <a:noFill/>
                        </a:ln>
                        <a:solidFill>
                          <a:srgbClr val="0000FF"/>
                        </a:solidFill>
                        <a:effectLst/>
                        <a:latin typeface="Times New Roman" panose="02020603050405020304" pitchFamily="18" charset="0"/>
                        <a:ea typeface="楷体_GB2312" pitchFamily="49" charset="-122"/>
                      </a:endParaRPr>
                    </a:p>
                    <a:p>
                      <a:pPr marL="0" marR="0" lvl="0" indent="0" algn="ctr" defTabSz="914400" rtl="0" eaLnBrk="1" fontAlgn="base" latinLnBrk="0" hangingPunct="1">
                        <a:lnSpc>
                          <a:spcPts val="4000"/>
                        </a:lnSpc>
                        <a:spcBef>
                          <a:spcPct val="20000"/>
                        </a:spcBef>
                        <a:spcAft>
                          <a:spcPct val="0"/>
                        </a:spcAft>
                        <a:buClrTx/>
                        <a:buSzTx/>
                        <a:buFontTx/>
                        <a:buNone/>
                      </a:pPr>
                      <a:r>
                        <a:rPr kumimoji="0" lang="zh-CN" altLang="en-US" sz="2600" b="1" i="0" u="none" strike="noStrike" cap="none" normalizeH="0" baseline="0" dirty="0" smtClean="0">
                          <a:ln>
                            <a:noFill/>
                          </a:ln>
                          <a:solidFill>
                            <a:srgbClr val="0000FF"/>
                          </a:solidFill>
                          <a:effectLst/>
                          <a:latin typeface="Times New Roman" panose="02020603050405020304" pitchFamily="18" charset="0"/>
                          <a:ea typeface="楷体_GB2312" pitchFamily="49" charset="-122"/>
                        </a:rPr>
                        <a:t>标态</a:t>
                      </a:r>
                      <a:endParaRPr kumimoji="0" lang="en-US" altLang="zh-CN" sz="2600" b="1" i="1"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bg1"/>
                    </a:solidFill>
                  </a:tcPr>
                </a:tc>
              </a:tr>
              <a:tr h="710932">
                <a:tc>
                  <a:txBody>
                    <a:bodyPr/>
                    <a:lstStyle/>
                    <a:p>
                      <a:pPr marL="0" marR="0" lvl="0" indent="0" algn="ctr" defTabSz="914400" rtl="0" eaLnBrk="1" fontAlgn="base" latinLnBrk="0" hangingPunct="1">
                        <a:lnSpc>
                          <a:spcPts val="4000"/>
                        </a:lnSpc>
                        <a:spcBef>
                          <a:spcPct val="20000"/>
                        </a:spcBef>
                        <a:spcAft>
                          <a:spcPct val="0"/>
                        </a:spcAft>
                        <a:buClrTx/>
                        <a:buSzTx/>
                        <a:buFontTx/>
                        <a:buNone/>
                      </a:pP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气体</a:t>
                      </a:r>
                      <a:r>
                        <a:rPr kumimoji="0" lang="en-US" altLang="zh-CN"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(g)</a:t>
                      </a:r>
                      <a:endPar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4000"/>
                        </a:lnSpc>
                        <a:spcBef>
                          <a:spcPct val="20000"/>
                        </a:spcBef>
                        <a:spcAft>
                          <a:spcPct val="0"/>
                        </a:spcAft>
                        <a:buClrTx/>
                        <a:buSzTx/>
                        <a:buFontTx/>
                        <a:buNone/>
                      </a:pP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标准压力</a:t>
                      </a:r>
                      <a:r>
                        <a:rPr kumimoji="0" lang="en-US" altLang="zh-CN"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a:t>
                      </a:r>
                      <a:r>
                        <a:rPr kumimoji="0" lang="en-US" altLang="zh-CN" sz="2600" b="1" i="1" u="none" strike="noStrike" cap="none" normalizeH="0" baseline="0" dirty="0" smtClean="0">
                          <a:ln>
                            <a:noFill/>
                          </a:ln>
                          <a:solidFill>
                            <a:srgbClr val="C00000"/>
                          </a:solidFill>
                          <a:effectLst/>
                          <a:latin typeface="Times New Roman" panose="02020603050405020304" pitchFamily="18" charset="0"/>
                          <a:ea typeface="楷体_GB2312" pitchFamily="49" charset="-122"/>
                        </a:rPr>
                        <a:t>p</a:t>
                      </a:r>
                      <a:r>
                        <a:rPr kumimoji="0" lang="el-GR" altLang="zh-CN" sz="2600" b="1" i="1" u="none" strike="noStrike" cap="none" normalizeH="0" baseline="30000" dirty="0" smtClean="0">
                          <a:ln>
                            <a:noFill/>
                          </a:ln>
                          <a:solidFill>
                            <a:srgbClr val="C00000"/>
                          </a:solidFill>
                          <a:effectLst/>
                          <a:latin typeface="Times New Roman" panose="02020603050405020304" pitchFamily="18" charset="0"/>
                          <a:ea typeface="楷体_GB2312" pitchFamily="49" charset="-122"/>
                        </a:rPr>
                        <a:t>Θ</a:t>
                      </a:r>
                      <a:r>
                        <a:rPr kumimoji="0" lang="en-US" altLang="zh-CN" sz="2600" b="1" i="1" u="none" strike="noStrike" cap="none" normalizeH="0" baseline="0" dirty="0" smtClean="0">
                          <a:ln>
                            <a:noFill/>
                          </a:ln>
                          <a:solidFill>
                            <a:srgbClr val="C00000"/>
                          </a:solidFill>
                          <a:effectLst/>
                          <a:latin typeface="Times New Roman" panose="02020603050405020304" pitchFamily="18" charset="0"/>
                          <a:ea typeface="楷体_GB2312" pitchFamily="49" charset="-122"/>
                        </a:rPr>
                        <a:t> =100kPa</a:t>
                      </a:r>
                      <a:r>
                        <a:rPr kumimoji="0" lang="en-US" altLang="zh-CN"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a:t>
                      </a: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下的气体  </a:t>
                      </a:r>
                      <a:r>
                        <a:rPr kumimoji="0" lang="zh-CN" altLang="en-US" sz="2600" b="1" i="0" u="none" strike="noStrike" cap="none" normalizeH="0" baseline="0" dirty="0" smtClean="0">
                          <a:ln>
                            <a:noFill/>
                          </a:ln>
                          <a:solidFill>
                            <a:srgbClr val="FF0000"/>
                          </a:solidFill>
                          <a:effectLst/>
                          <a:latin typeface="Times New Roman" panose="02020603050405020304" pitchFamily="18" charset="0"/>
                          <a:ea typeface="楷体_GB2312" pitchFamily="49" charset="-122"/>
                        </a:rPr>
                        <a:t>√</a:t>
                      </a:r>
                    </a:p>
                  </a:txBody>
                  <a:tcPr marL="0" marR="0" marT="0" marB="0"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bg1"/>
                    </a:solidFill>
                  </a:tcPr>
                </a:tc>
              </a:tr>
              <a:tr h="1323315">
                <a:tc>
                  <a:txBody>
                    <a:bodyPr/>
                    <a:lstStyle/>
                    <a:p>
                      <a:pPr marL="0" marR="0" lvl="0" indent="0" algn="ctr" defTabSz="914400" rtl="0" eaLnBrk="1" fontAlgn="base" latinLnBrk="0" hangingPunct="1">
                        <a:lnSpc>
                          <a:spcPts val="4000"/>
                        </a:lnSpc>
                        <a:spcBef>
                          <a:spcPct val="20000"/>
                        </a:spcBef>
                        <a:spcAft>
                          <a:spcPct val="0"/>
                        </a:spcAft>
                        <a:buClrTx/>
                        <a:buSzTx/>
                        <a:buFontTx/>
                        <a:buNone/>
                      </a:pP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液体</a:t>
                      </a:r>
                      <a:r>
                        <a:rPr kumimoji="0" lang="en-US" altLang="zh-CN"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(l)</a:t>
                      </a:r>
                      <a:endPar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endParaRPr>
                    </a:p>
                    <a:p>
                      <a:pPr marL="0" marR="0" lvl="0" indent="0" algn="ctr" defTabSz="914400" rtl="0" eaLnBrk="1" fontAlgn="base" latinLnBrk="0" hangingPunct="1">
                        <a:lnSpc>
                          <a:spcPts val="4000"/>
                        </a:lnSpc>
                        <a:spcBef>
                          <a:spcPct val="20000"/>
                        </a:spcBef>
                        <a:spcAft>
                          <a:spcPct val="0"/>
                        </a:spcAft>
                        <a:buClrTx/>
                        <a:buSzTx/>
                        <a:buFontTx/>
                        <a:buNone/>
                      </a:pP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固体</a:t>
                      </a:r>
                      <a:r>
                        <a:rPr kumimoji="0" lang="en-US" altLang="zh-CN"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(s)</a:t>
                      </a:r>
                      <a:endPar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4000"/>
                        </a:lnSpc>
                        <a:spcBef>
                          <a:spcPct val="20000"/>
                        </a:spcBef>
                        <a:spcAft>
                          <a:spcPct val="0"/>
                        </a:spcAft>
                        <a:buClrTx/>
                        <a:buSzTx/>
                        <a:buFontTx/>
                        <a:buNone/>
                      </a:pP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标准压力</a:t>
                      </a:r>
                      <a:r>
                        <a:rPr kumimoji="0" lang="en-US" altLang="zh-CN"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a:t>
                      </a:r>
                      <a:r>
                        <a:rPr kumimoji="0" lang="en-US" altLang="zh-CN" sz="2600" b="1" i="1" u="none" strike="noStrike" cap="none" normalizeH="0" baseline="0" dirty="0" smtClean="0">
                          <a:ln>
                            <a:noFill/>
                          </a:ln>
                          <a:solidFill>
                            <a:srgbClr val="C00000"/>
                          </a:solidFill>
                          <a:effectLst/>
                          <a:latin typeface="Times New Roman" panose="02020603050405020304" pitchFamily="18" charset="0"/>
                          <a:ea typeface="楷体_GB2312" pitchFamily="49" charset="-122"/>
                        </a:rPr>
                        <a:t>p</a:t>
                      </a:r>
                      <a:r>
                        <a:rPr kumimoji="0" lang="el-GR" altLang="zh-CN" sz="2600" b="1" i="1" u="none" strike="noStrike" cap="none" normalizeH="0" baseline="30000" dirty="0" smtClean="0">
                          <a:ln>
                            <a:noFill/>
                          </a:ln>
                          <a:solidFill>
                            <a:srgbClr val="C00000"/>
                          </a:solidFill>
                          <a:effectLst/>
                          <a:latin typeface="Times New Roman" panose="02020603050405020304" pitchFamily="18" charset="0"/>
                          <a:ea typeface="楷体_GB2312" pitchFamily="49" charset="-122"/>
                        </a:rPr>
                        <a:t>Θ</a:t>
                      </a:r>
                      <a:r>
                        <a:rPr kumimoji="0" lang="en-US" altLang="zh-CN" sz="2600" b="1" i="1" u="none" strike="noStrike" cap="none" normalizeH="0" baseline="0" dirty="0" smtClean="0">
                          <a:ln>
                            <a:noFill/>
                          </a:ln>
                          <a:solidFill>
                            <a:srgbClr val="C00000"/>
                          </a:solidFill>
                          <a:effectLst/>
                          <a:latin typeface="Times New Roman" panose="02020603050405020304" pitchFamily="18" charset="0"/>
                          <a:ea typeface="楷体_GB2312" pitchFamily="49" charset="-122"/>
                        </a:rPr>
                        <a:t> =100kPa</a:t>
                      </a:r>
                      <a:r>
                        <a:rPr kumimoji="0" lang="en-US" altLang="zh-CN"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a:t>
                      </a: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下的</a:t>
                      </a:r>
                    </a:p>
                    <a:p>
                      <a:pPr marL="0" marR="0" lvl="0" indent="0" algn="ctr" defTabSz="914400" rtl="0" eaLnBrk="1" fontAlgn="base" latinLnBrk="0" hangingPunct="1">
                        <a:lnSpc>
                          <a:spcPts val="4000"/>
                        </a:lnSpc>
                        <a:spcBef>
                          <a:spcPct val="20000"/>
                        </a:spcBef>
                        <a:spcAft>
                          <a:spcPct val="0"/>
                        </a:spcAft>
                        <a:buClrTx/>
                        <a:buSzTx/>
                        <a:buFontTx/>
                        <a:buNone/>
                      </a:pP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纯液体、纯固体</a:t>
                      </a:r>
                      <a:r>
                        <a:rPr kumimoji="0" lang="en-US" altLang="zh-CN" sz="2600" dirty="0" smtClean="0">
                          <a:solidFill>
                            <a:schemeClr val="tx1"/>
                          </a:solidFill>
                        </a:rPr>
                        <a:t>(</a:t>
                      </a: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影响通常忽略</a:t>
                      </a:r>
                      <a:r>
                        <a:rPr kumimoji="0" lang="en-US" altLang="zh-CN"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a:t>
                      </a:r>
                      <a:endPar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bg1"/>
                    </a:solidFill>
                  </a:tcPr>
                </a:tc>
              </a:tr>
              <a:tr h="1858326">
                <a:tc>
                  <a:txBody>
                    <a:bodyPr/>
                    <a:lstStyle/>
                    <a:p>
                      <a:pPr marL="0" marR="0" lvl="0" indent="0" algn="ctr" defTabSz="914400" rtl="0" eaLnBrk="1" fontAlgn="base" latinLnBrk="0" hangingPunct="1">
                        <a:lnSpc>
                          <a:spcPts val="4000"/>
                        </a:lnSpc>
                        <a:spcBef>
                          <a:spcPct val="20000"/>
                        </a:spcBef>
                        <a:spcAft>
                          <a:spcPct val="0"/>
                        </a:spcAft>
                        <a:buClrTx/>
                        <a:buSzTx/>
                        <a:buFontTx/>
                        <a:buNone/>
                        <a:defRPr/>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溶液中的溶质</a:t>
                      </a:r>
                      <a:r>
                        <a:rPr kumimoji="0" lang="zh-CN" altLang="en-US" sz="2400" b="1" i="0" dirty="0" smtClean="0">
                          <a:solidFill>
                            <a:srgbClr val="080808"/>
                          </a:solidFill>
                          <a:latin typeface="Times New Roman" panose="02020603050405020304" pitchFamily="18" charset="0"/>
                          <a:ea typeface="楷体_GB2312" pitchFamily="49" charset="-122"/>
                          <a:cs typeface="Times New Roman" panose="02020603050405020304" pitchFamily="18" charset="0"/>
                        </a:rPr>
                        <a:t>如</a:t>
                      </a:r>
                      <a:r>
                        <a:rPr kumimoji="0" lang="en-US" altLang="zh-CN" sz="2400" b="1" i="0" dirty="0" smtClean="0">
                          <a:solidFill>
                            <a:srgbClr val="080808"/>
                          </a:solidFill>
                          <a:latin typeface="Times New Roman" panose="02020603050405020304" pitchFamily="18" charset="0"/>
                          <a:ea typeface="楷体_GB2312" pitchFamily="49" charset="-122"/>
                          <a:cs typeface="Times New Roman" panose="02020603050405020304" pitchFamily="18" charset="0"/>
                        </a:rPr>
                        <a:t>Na</a:t>
                      </a:r>
                      <a:r>
                        <a:rPr kumimoji="0" lang="en-US" altLang="zh-CN" sz="2400" b="1" i="0" baseline="30000" dirty="0" smtClean="0">
                          <a:solidFill>
                            <a:srgbClr val="080808"/>
                          </a:solidFill>
                          <a:latin typeface="Times New Roman" panose="02020603050405020304" pitchFamily="18" charset="0"/>
                          <a:ea typeface="楷体_GB2312" pitchFamily="49" charset="-122"/>
                          <a:cs typeface="Times New Roman" panose="02020603050405020304" pitchFamily="18" charset="0"/>
                        </a:rPr>
                        <a:t>+</a:t>
                      </a:r>
                      <a:r>
                        <a:rPr kumimoji="0" lang="en-US" altLang="zh-CN" sz="2400" b="1" i="0" baseline="0" dirty="0" smtClean="0">
                          <a:solidFill>
                            <a:srgbClr val="080808"/>
                          </a:solidFill>
                          <a:latin typeface="Times New Roman" panose="02020603050405020304" pitchFamily="18" charset="0"/>
                          <a:ea typeface="楷体_GB2312" pitchFamily="49" charset="-122"/>
                          <a:cs typeface="Times New Roman" panose="02020603050405020304" pitchFamily="18" charset="0"/>
                        </a:rPr>
                        <a:t> (</a:t>
                      </a:r>
                      <a:r>
                        <a:rPr kumimoji="0" lang="en-US" altLang="zh-CN" sz="2400" b="1" i="0" dirty="0" err="1" smtClean="0">
                          <a:solidFill>
                            <a:srgbClr val="080808"/>
                          </a:solidFill>
                          <a:latin typeface="Times New Roman" panose="02020603050405020304" pitchFamily="18" charset="0"/>
                          <a:ea typeface="楷体_GB2312" pitchFamily="49" charset="-122"/>
                          <a:cs typeface="Times New Roman" panose="02020603050405020304" pitchFamily="18" charset="0"/>
                        </a:rPr>
                        <a:t>aq</a:t>
                      </a:r>
                      <a:r>
                        <a:rPr kumimoji="0" lang="en-US" altLang="zh-CN" sz="2400" i="0" dirty="0" smtClean="0">
                          <a:solidFill>
                            <a:srgbClr val="080808"/>
                          </a:solidFill>
                          <a:latin typeface="Times New Roman" panose="02020603050405020304" pitchFamily="18" charset="0"/>
                          <a:ea typeface="楷体_GB2312" pitchFamily="49" charset="-122"/>
                          <a:cs typeface="Times New Roman" panose="02020603050405020304" pitchFamily="18" charset="0"/>
                        </a:rPr>
                        <a:t>)</a:t>
                      </a:r>
                      <a:endParaRPr kumimoji="0" lang="zh-CN" altLang="en-US" sz="2400" i="0" dirty="0" smtClean="0">
                        <a:solidFill>
                          <a:srgbClr val="080808"/>
                        </a:solidFill>
                        <a:latin typeface="Times New Roman" panose="02020603050405020304" pitchFamily="18" charset="0"/>
                        <a:ea typeface="楷体_GB2312" pitchFamily="49" charset="-122"/>
                        <a:cs typeface="Times New Roman" panose="02020603050405020304" pitchFamily="18" charset="0"/>
                      </a:endParaRPr>
                    </a:p>
                  </a:txBody>
                  <a:tcPr marL="0" marR="0" marT="0" marB="0"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ts val="4000"/>
                        </a:lnSpc>
                        <a:spcBef>
                          <a:spcPct val="20000"/>
                        </a:spcBef>
                        <a:spcAft>
                          <a:spcPct val="0"/>
                        </a:spcAft>
                        <a:buClrTx/>
                        <a:buSzTx/>
                        <a:buFontTx/>
                        <a:buNone/>
                      </a:pP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       </a:t>
                      </a:r>
                      <a:r>
                        <a:rPr kumimoji="0" lang="en-US" altLang="zh-CN"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  </a:t>
                      </a: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标准压力</a:t>
                      </a:r>
                      <a:r>
                        <a:rPr kumimoji="0" lang="en-US" altLang="zh-CN"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(p</a:t>
                      </a:r>
                      <a:r>
                        <a:rPr kumimoji="0" lang="el-GR" altLang="zh-CN" sz="2600" b="1" i="0" u="none" strike="noStrike" cap="none" normalizeH="0" baseline="30000" dirty="0" smtClean="0">
                          <a:ln>
                            <a:noFill/>
                          </a:ln>
                          <a:solidFill>
                            <a:schemeClr val="tx1"/>
                          </a:solidFill>
                          <a:effectLst/>
                          <a:latin typeface="Times New Roman" panose="02020603050405020304" pitchFamily="18" charset="0"/>
                          <a:ea typeface="楷体_GB2312" pitchFamily="49" charset="-122"/>
                        </a:rPr>
                        <a:t>Θ</a:t>
                      </a:r>
                      <a:r>
                        <a:rPr kumimoji="0" lang="en-US" altLang="zh-CN"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a:t>
                      </a: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下、质量摩尔浓度为</a:t>
                      </a:r>
                      <a:r>
                        <a:rPr kumimoji="0" lang="en-US" altLang="zh-CN"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b</a:t>
                      </a:r>
                      <a:r>
                        <a:rPr kumimoji="0" lang="el-GR" altLang="zh-CN" sz="2600" b="1" i="0" u="none" strike="noStrike" cap="none" normalizeH="0" baseline="30000" dirty="0" smtClean="0">
                          <a:ln>
                            <a:noFill/>
                          </a:ln>
                          <a:solidFill>
                            <a:schemeClr val="tx1"/>
                          </a:solidFill>
                          <a:effectLst/>
                          <a:latin typeface="Times New Roman" panose="02020603050405020304" pitchFamily="18" charset="0"/>
                          <a:ea typeface="楷体_GB2312" pitchFamily="49" charset="-122"/>
                        </a:rPr>
                        <a:t>Θ</a:t>
                      </a:r>
                      <a:r>
                        <a:rPr kumimoji="0" lang="en-US" altLang="zh-CN"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a:t>
                      </a:r>
                      <a:r>
                        <a:rPr kumimoji="0" lang="en-US" altLang="zh-CN" sz="2600" b="1" i="0" u="none" strike="noStrike" cap="none" normalizeH="0" baseline="0" dirty="0" smtClean="0">
                          <a:ln>
                            <a:noFill/>
                          </a:ln>
                          <a:solidFill>
                            <a:srgbClr val="C00000"/>
                          </a:solidFill>
                          <a:effectLst/>
                          <a:latin typeface="Times New Roman" panose="02020603050405020304" pitchFamily="18" charset="0"/>
                          <a:ea typeface="楷体_GB2312" pitchFamily="49" charset="-122"/>
                        </a:rPr>
                        <a:t>1 </a:t>
                      </a:r>
                      <a:r>
                        <a:rPr kumimoji="0" lang="en-US" altLang="zh-CN" sz="2600" b="1" i="1" u="none" strike="noStrike" cap="none" normalizeH="0" baseline="0" dirty="0" smtClean="0">
                          <a:ln>
                            <a:noFill/>
                          </a:ln>
                          <a:solidFill>
                            <a:srgbClr val="C00000"/>
                          </a:solidFill>
                          <a:effectLst/>
                          <a:latin typeface="Times New Roman" panose="02020603050405020304" pitchFamily="18" charset="0"/>
                          <a:ea typeface="楷体_GB2312" pitchFamily="49" charset="-122"/>
                        </a:rPr>
                        <a:t>mol·kg</a:t>
                      </a:r>
                      <a:r>
                        <a:rPr kumimoji="0" lang="en-US" altLang="zh-CN" sz="2600" b="1" i="1" u="none" strike="noStrike" cap="none" normalizeH="0" baseline="30000" dirty="0" smtClean="0">
                          <a:ln>
                            <a:noFill/>
                          </a:ln>
                          <a:solidFill>
                            <a:srgbClr val="C00000"/>
                          </a:solidFill>
                          <a:effectLst/>
                          <a:latin typeface="Times New Roman" panose="02020603050405020304" pitchFamily="18" charset="0"/>
                          <a:ea typeface="楷体_GB2312" pitchFamily="49" charset="-122"/>
                        </a:rPr>
                        <a:t>-1</a:t>
                      </a: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a:t>
                      </a:r>
                      <a:r>
                        <a:rPr kumimoji="0" lang="en-US" altLang="zh-CN" sz="2600" b="1" i="1" u="none" strike="noStrike" cap="none" normalizeH="0" baseline="0" dirty="0" smtClean="0">
                          <a:ln>
                            <a:noFill/>
                          </a:ln>
                          <a:solidFill>
                            <a:srgbClr val="C00000"/>
                          </a:solidFill>
                          <a:effectLst/>
                          <a:latin typeface="Times New Roman" panose="02020603050405020304" pitchFamily="18" charset="0"/>
                          <a:ea typeface="楷体_GB2312" pitchFamily="49" charset="-122"/>
                        </a:rPr>
                        <a:t>kg</a:t>
                      </a:r>
                      <a:r>
                        <a:rPr kumimoji="0" lang="en-US" altLang="zh-CN" sz="2600" b="1" i="1" u="none" strike="noStrike" cap="none" normalizeH="0" baseline="30000" dirty="0" smtClean="0">
                          <a:ln>
                            <a:noFill/>
                          </a:ln>
                          <a:solidFill>
                            <a:srgbClr val="C00000"/>
                          </a:solidFill>
                          <a:effectLst/>
                          <a:latin typeface="Times New Roman" panose="02020603050405020304" pitchFamily="18" charset="0"/>
                          <a:ea typeface="楷体_GB2312" pitchFamily="49" charset="-122"/>
                        </a:rPr>
                        <a:t>-1</a:t>
                      </a: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是溶剂）；一般简化为体积摩尔浓度</a:t>
                      </a:r>
                      <a:r>
                        <a:rPr kumimoji="0" lang="en-US" altLang="zh-CN"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a:t>
                      </a: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适合稀溶液：</a:t>
                      </a:r>
                      <a:r>
                        <a:rPr kumimoji="0" lang="en-US" altLang="zh-CN" sz="2600" b="1" i="0" u="none" strike="noStrike" cap="none" normalizeH="0" baseline="0" dirty="0" smtClean="0">
                          <a:ln>
                            <a:noFill/>
                          </a:ln>
                          <a:solidFill>
                            <a:srgbClr val="C00000"/>
                          </a:solidFill>
                          <a:effectLst/>
                          <a:latin typeface="Times New Roman" panose="02020603050405020304" pitchFamily="18" charset="0"/>
                          <a:ea typeface="楷体_GB2312" pitchFamily="49" charset="-122"/>
                        </a:rPr>
                        <a:t>c</a:t>
                      </a:r>
                      <a:r>
                        <a:rPr kumimoji="0" lang="el-GR" altLang="zh-CN" sz="2600" b="1" i="0" u="none" strike="noStrike" cap="none" normalizeH="0" baseline="30000" dirty="0" smtClean="0">
                          <a:ln>
                            <a:noFill/>
                          </a:ln>
                          <a:solidFill>
                            <a:srgbClr val="C00000"/>
                          </a:solidFill>
                          <a:effectLst/>
                          <a:latin typeface="Times New Roman" panose="02020603050405020304" pitchFamily="18" charset="0"/>
                          <a:ea typeface="楷体_GB2312" pitchFamily="49" charset="-122"/>
                        </a:rPr>
                        <a:t>Θ</a:t>
                      </a:r>
                      <a:r>
                        <a:rPr kumimoji="0" lang="en-US" altLang="zh-CN" sz="2600" b="1" i="0" u="none" strike="noStrike" cap="none" normalizeH="0" baseline="0" dirty="0" smtClean="0">
                          <a:ln>
                            <a:noFill/>
                          </a:ln>
                          <a:solidFill>
                            <a:srgbClr val="C00000"/>
                          </a:solidFill>
                          <a:effectLst/>
                          <a:latin typeface="Times New Roman" panose="02020603050405020304" pitchFamily="18" charset="0"/>
                          <a:ea typeface="楷体_GB2312" pitchFamily="49" charset="-122"/>
                        </a:rPr>
                        <a:t> = b</a:t>
                      </a:r>
                      <a:r>
                        <a:rPr kumimoji="0" lang="el-GR" altLang="zh-CN" sz="2600" b="1" i="0" u="none" strike="noStrike" cap="none" normalizeH="0" baseline="30000" dirty="0" smtClean="0">
                          <a:ln>
                            <a:noFill/>
                          </a:ln>
                          <a:solidFill>
                            <a:srgbClr val="C00000"/>
                          </a:solidFill>
                          <a:effectLst/>
                          <a:latin typeface="Times New Roman" panose="02020603050405020304" pitchFamily="18" charset="0"/>
                          <a:ea typeface="楷体_GB2312" pitchFamily="49" charset="-122"/>
                        </a:rPr>
                        <a:t>Θ</a:t>
                      </a:r>
                      <a:r>
                        <a:rPr kumimoji="0" lang="en-US" altLang="zh-CN" sz="2600" b="1" i="0" u="none" strike="noStrike" cap="none" normalizeH="0" baseline="0" dirty="0" smtClean="0">
                          <a:ln>
                            <a:noFill/>
                          </a:ln>
                          <a:solidFill>
                            <a:srgbClr val="C00000"/>
                          </a:solidFill>
                          <a:effectLst/>
                          <a:latin typeface="Times New Roman" panose="02020603050405020304" pitchFamily="18" charset="0"/>
                          <a:ea typeface="楷体_GB2312" pitchFamily="49" charset="-122"/>
                        </a:rPr>
                        <a:t>≈1mol·L</a:t>
                      </a:r>
                      <a:r>
                        <a:rPr kumimoji="0" lang="en-US" altLang="zh-CN" sz="2600" b="1" i="0" u="none" strike="noStrike" cap="none" normalizeH="0" baseline="30000" dirty="0" smtClean="0">
                          <a:ln>
                            <a:noFill/>
                          </a:ln>
                          <a:solidFill>
                            <a:srgbClr val="C00000"/>
                          </a:solidFill>
                          <a:effectLst/>
                          <a:latin typeface="Times New Roman" panose="02020603050405020304" pitchFamily="18" charset="0"/>
                          <a:ea typeface="楷体_GB2312" pitchFamily="49" charset="-122"/>
                        </a:rPr>
                        <a:t>-1</a:t>
                      </a:r>
                      <a:endParaRPr kumimoji="0" lang="en-US" altLang="zh-CN" sz="2600" b="1" i="0" u="none" strike="noStrike" cap="none" normalizeH="0" baseline="0" dirty="0" smtClean="0">
                        <a:ln>
                          <a:noFill/>
                        </a:ln>
                        <a:solidFill>
                          <a:srgbClr val="C00000"/>
                        </a:solidFill>
                        <a:effectLst/>
                        <a:latin typeface="Times New Roman" panose="02020603050405020304" pitchFamily="18" charset="0"/>
                        <a:ea typeface="楷体_GB2312" pitchFamily="49" charset="-122"/>
                      </a:endParaRPr>
                    </a:p>
                  </a:txBody>
                  <a:tcPr marL="0" marR="0" marT="0" marB="0"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bg1"/>
                    </a:solidFill>
                  </a:tcPr>
                </a:tc>
              </a:tr>
            </a:tbl>
          </a:graphicData>
        </a:graphic>
      </p:graphicFrame>
      <p:sp>
        <p:nvSpPr>
          <p:cNvPr id="51219" name="矩形 4"/>
          <p:cNvSpPr>
            <a:spLocks noChangeArrowheads="1"/>
          </p:cNvSpPr>
          <p:nvPr/>
        </p:nvSpPr>
        <p:spPr bwMode="auto">
          <a:xfrm>
            <a:off x="1524000" y="5410200"/>
            <a:ext cx="5876925" cy="412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0" fontAlgn="base" hangingPunct="0">
              <a:lnSpc>
                <a:spcPct val="80000"/>
              </a:lnSpc>
              <a:spcBef>
                <a:spcPct val="50000"/>
              </a:spcBef>
              <a:spcAft>
                <a:spcPct val="0"/>
              </a:spcAft>
            </a:pPr>
            <a:r>
              <a:rPr lang="zh-CN" altLang="en-US" sz="2600" b="1" smtClean="0">
                <a:solidFill>
                  <a:srgbClr val="000000"/>
                </a:solidFill>
                <a:latin typeface="Times New Roman" panose="02020603050405020304" pitchFamily="18" charset="0"/>
                <a:ea typeface="楷体_GB2312" pitchFamily="49" charset="-122"/>
              </a:rPr>
              <a:t>区别</a:t>
            </a:r>
            <a:r>
              <a:rPr lang="en-US" altLang="zh-CN" sz="2600" b="1" smtClean="0">
                <a:solidFill>
                  <a:srgbClr val="000000"/>
                </a:solidFill>
                <a:latin typeface="Times New Roman" panose="02020603050405020304" pitchFamily="18" charset="0"/>
                <a:ea typeface="楷体_GB2312" pitchFamily="49" charset="-122"/>
              </a:rPr>
              <a:t>——</a:t>
            </a:r>
            <a:r>
              <a:rPr lang="zh-CN" altLang="en-US" sz="2600" b="1" smtClean="0">
                <a:solidFill>
                  <a:srgbClr val="000000"/>
                </a:solidFill>
                <a:latin typeface="Times New Roman" panose="02020603050405020304" pitchFamily="18" charset="0"/>
                <a:ea typeface="楷体_GB2312" pitchFamily="49" charset="-122"/>
              </a:rPr>
              <a:t>质量摩尔浓度和体积摩尔浓度</a:t>
            </a:r>
            <a:endParaRPr kumimoji="1" lang="zh-CN" altLang="en-US" sz="2600" b="1" smtClean="0">
              <a:solidFill>
                <a:srgbClr val="0000FF"/>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组合 7"/>
          <p:cNvGrpSpPr/>
          <p:nvPr/>
        </p:nvGrpSpPr>
        <p:grpSpPr bwMode="auto">
          <a:xfrm>
            <a:off x="152400" y="762000"/>
            <a:ext cx="8534400" cy="2122488"/>
            <a:chOff x="228600" y="990600"/>
            <a:chExt cx="8534400" cy="2122488"/>
          </a:xfrm>
        </p:grpSpPr>
        <p:sp>
          <p:nvSpPr>
            <p:cNvPr id="133125" name="Rectangle 5"/>
            <p:cNvSpPr>
              <a:spLocks noChangeArrowheads="1"/>
            </p:cNvSpPr>
            <p:nvPr/>
          </p:nvSpPr>
          <p:spPr bwMode="auto">
            <a:xfrm>
              <a:off x="228600" y="990600"/>
              <a:ext cx="5791200" cy="523875"/>
            </a:xfrm>
            <a:prstGeom prst="rect">
              <a:avLst/>
            </a:prstGeom>
            <a:solidFill>
              <a:schemeClr val="bg1">
                <a:lumMod val="75000"/>
              </a:schemeClr>
            </a:solidFill>
            <a:ln w="9525">
              <a:noFill/>
              <a:miter lim="800000"/>
            </a:ln>
          </p:spPr>
          <p:txBody>
            <a:bodyPr anchor="ctr">
              <a:spAutoFit/>
            </a:bodyPr>
            <a:lstStyle/>
            <a:p>
              <a:pPr marL="342900" indent="-342900" fontAlgn="base">
                <a:lnSpc>
                  <a:spcPts val="3600"/>
                </a:lnSpc>
                <a:spcBef>
                  <a:spcPct val="0"/>
                </a:spcBef>
                <a:spcAft>
                  <a:spcPct val="0"/>
                </a:spcAft>
                <a:defRPr/>
              </a:pPr>
              <a:r>
                <a:rPr kumimoji="1" lang="en-US" altLang="zh-CN" sz="2800" b="1" i="1" dirty="0">
                  <a:solidFill>
                    <a:srgbClr val="C00000"/>
                  </a:solidFill>
                  <a:latin typeface="Times New Roman" panose="02020603050405020304" pitchFamily="18" charset="0"/>
                  <a:ea typeface="楷体_GB2312" pitchFamily="49" charset="-122"/>
                </a:rPr>
                <a:t>1. </a:t>
              </a:r>
              <a:r>
                <a:rPr kumimoji="1" lang="zh-CN" altLang="en-US" sz="2800" b="1" i="1" dirty="0">
                  <a:solidFill>
                    <a:srgbClr val="C00000"/>
                  </a:solidFill>
                  <a:latin typeface="Times New Roman" panose="02020603050405020304" pitchFamily="18" charset="0"/>
                  <a:ea typeface="楷体_GB2312" pitchFamily="49" charset="-122"/>
                </a:rPr>
                <a:t>功</a:t>
              </a:r>
              <a:r>
                <a:rPr kumimoji="1" lang="en-US" altLang="zh-CN" sz="2800" b="1" i="1" dirty="0">
                  <a:solidFill>
                    <a:srgbClr val="C00000"/>
                  </a:solidFill>
                  <a:latin typeface="Times New Roman" panose="02020603050405020304" pitchFamily="18" charset="0"/>
                  <a:ea typeface="楷体_GB2312" pitchFamily="49" charset="-122"/>
                </a:rPr>
                <a:t>W</a:t>
              </a:r>
              <a:r>
                <a:rPr kumimoji="1" lang="zh-CN" altLang="en-US" sz="2800" b="1" i="1" dirty="0">
                  <a:solidFill>
                    <a:srgbClr val="C00000"/>
                  </a:solidFill>
                  <a:latin typeface="Times New Roman" panose="02020603050405020304" pitchFamily="18" charset="0"/>
                  <a:ea typeface="楷体_GB2312" pitchFamily="49" charset="-122"/>
                </a:rPr>
                <a:t>与热 </a:t>
              </a:r>
              <a:r>
                <a:rPr kumimoji="1" lang="en-US" altLang="en-US" sz="2800" b="1" i="1" dirty="0">
                  <a:solidFill>
                    <a:srgbClr val="C00000"/>
                  </a:solidFill>
                  <a:latin typeface="Times New Roman" panose="02020603050405020304" pitchFamily="18" charset="0"/>
                  <a:ea typeface="楷体_GB2312" pitchFamily="49" charset="-122"/>
                </a:rPr>
                <a:t>Q  </a:t>
              </a:r>
              <a:r>
                <a:rPr kumimoji="1" lang="en-US" altLang="zh-CN" sz="2800" b="1" i="1" dirty="0">
                  <a:solidFill>
                    <a:srgbClr val="C00000"/>
                  </a:solidFill>
                  <a:latin typeface="Times New Roman" panose="02020603050405020304" pitchFamily="18" charset="0"/>
                  <a:ea typeface="楷体_GB2312" pitchFamily="49" charset="-122"/>
                </a:rPr>
                <a:t>(heat and work)</a:t>
              </a:r>
            </a:p>
          </p:txBody>
        </p:sp>
        <p:sp>
          <p:nvSpPr>
            <p:cNvPr id="52232" name="Text Box 7"/>
            <p:cNvSpPr txBox="1">
              <a:spLocks noChangeArrowheads="1"/>
            </p:cNvSpPr>
            <p:nvPr/>
          </p:nvSpPr>
          <p:spPr bwMode="auto">
            <a:xfrm>
              <a:off x="228600" y="1676400"/>
              <a:ext cx="8534400" cy="143668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lnSpc>
                  <a:spcPts val="3600"/>
                </a:lnSpc>
                <a:spcBef>
                  <a:spcPct val="50000"/>
                </a:spcBef>
                <a:spcAft>
                  <a:spcPct val="0"/>
                </a:spcAft>
              </a:pPr>
              <a:r>
                <a:rPr lang="en-US" altLang="zh-CN" sz="2600" smtClean="0">
                  <a:solidFill>
                    <a:srgbClr val="000000"/>
                  </a:solidFill>
                  <a:ea typeface="幼圆" panose="02010509060101010101" pitchFamily="49" charset="-122"/>
                </a:rPr>
                <a:t>        </a:t>
              </a:r>
              <a:r>
                <a:rPr lang="zh-CN" altLang="en-US" sz="2600" i="1" smtClean="0">
                  <a:solidFill>
                    <a:srgbClr val="000000"/>
                  </a:solidFill>
                </a:rPr>
                <a:t>功</a:t>
              </a:r>
              <a:r>
                <a:rPr lang="en-US" altLang="zh-CN" sz="2600" i="1" smtClean="0">
                  <a:solidFill>
                    <a:srgbClr val="000000"/>
                  </a:solidFill>
                </a:rPr>
                <a:t>W</a:t>
              </a:r>
              <a:r>
                <a:rPr lang="zh-CN" altLang="en-US" sz="2600" i="1" smtClean="0">
                  <a:solidFill>
                    <a:srgbClr val="000000"/>
                  </a:solidFill>
                </a:rPr>
                <a:t>和热</a:t>
              </a:r>
              <a:r>
                <a:rPr lang="en-US" altLang="en-US" sz="2600" i="1" smtClean="0">
                  <a:solidFill>
                    <a:srgbClr val="000000"/>
                  </a:solidFill>
                </a:rPr>
                <a:t>Q</a:t>
              </a:r>
              <a:r>
                <a:rPr lang="zh-CN" altLang="en-US" sz="2600" smtClean="0">
                  <a:solidFill>
                    <a:srgbClr val="000000"/>
                  </a:solidFill>
                </a:rPr>
                <a:t>是系统的状态发生变化时，系统和环境传递或交换能量的两种形式</a:t>
              </a:r>
              <a:r>
                <a:rPr lang="en-US" altLang="zh-CN" sz="2600" smtClean="0">
                  <a:solidFill>
                    <a:srgbClr val="000000"/>
                  </a:solidFill>
                </a:rPr>
                <a:t>(</a:t>
              </a:r>
              <a:r>
                <a:rPr lang="zh-CN" altLang="en-US" sz="2600" i="1" smtClean="0">
                  <a:solidFill>
                    <a:srgbClr val="000000"/>
                  </a:solidFill>
                </a:rPr>
                <a:t>既不是物质、也不是系统的性质</a:t>
              </a:r>
              <a:r>
                <a:rPr lang="en-US" altLang="zh-CN" sz="2600" smtClean="0">
                  <a:solidFill>
                    <a:srgbClr val="000000"/>
                  </a:solidFill>
                </a:rPr>
                <a:t>)</a:t>
              </a:r>
              <a:r>
                <a:rPr lang="zh-CN" altLang="en-US" sz="2600" smtClean="0">
                  <a:solidFill>
                    <a:srgbClr val="000000"/>
                  </a:solidFill>
                </a:rPr>
                <a:t>。</a:t>
              </a:r>
            </a:p>
          </p:txBody>
        </p:sp>
      </p:grpSp>
      <p:grpSp>
        <p:nvGrpSpPr>
          <p:cNvPr id="3" name="组合 8"/>
          <p:cNvGrpSpPr/>
          <p:nvPr/>
        </p:nvGrpSpPr>
        <p:grpSpPr bwMode="auto">
          <a:xfrm>
            <a:off x="381000" y="3352800"/>
            <a:ext cx="8534400" cy="1620838"/>
            <a:chOff x="152400" y="3352800"/>
            <a:chExt cx="8534400" cy="1620838"/>
          </a:xfrm>
        </p:grpSpPr>
        <p:sp>
          <p:nvSpPr>
            <p:cNvPr id="52229" name="Text Box 8"/>
            <p:cNvSpPr txBox="1">
              <a:spLocks noChangeArrowheads="1"/>
            </p:cNvSpPr>
            <p:nvPr/>
          </p:nvSpPr>
          <p:spPr bwMode="auto">
            <a:xfrm>
              <a:off x="152400" y="3352800"/>
              <a:ext cx="8534400" cy="1016305"/>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lnSpc>
                  <a:spcPts val="3600"/>
                </a:lnSpc>
                <a:spcBef>
                  <a:spcPct val="50000"/>
                </a:spcBef>
                <a:spcAft>
                  <a:spcPct val="0"/>
                </a:spcAft>
              </a:pPr>
              <a:r>
                <a:rPr lang="en-US" altLang="zh-CN" sz="2600" smtClean="0">
                  <a:solidFill>
                    <a:srgbClr val="C00000"/>
                  </a:solidFill>
                  <a:ea typeface="幼圆" panose="02010509060101010101" pitchFamily="49" charset="-122"/>
                </a:rPr>
                <a:t>        (1)</a:t>
              </a:r>
              <a:r>
                <a:rPr lang="zh-CN" altLang="en-US" sz="2600" i="1" smtClean="0">
                  <a:solidFill>
                    <a:srgbClr val="C00000"/>
                  </a:solidFill>
                </a:rPr>
                <a:t>热</a:t>
              </a:r>
              <a:r>
                <a:rPr lang="en-US" altLang="en-US" sz="2600" i="1" smtClean="0">
                  <a:solidFill>
                    <a:srgbClr val="C00000"/>
                  </a:solidFill>
                </a:rPr>
                <a:t>Q</a:t>
              </a:r>
              <a:r>
                <a:rPr lang="zh-CN" altLang="en-US" sz="2600" i="1" smtClean="0">
                  <a:solidFill>
                    <a:srgbClr val="000000"/>
                  </a:solidFill>
                </a:rPr>
                <a:t>： </a:t>
              </a:r>
              <a:r>
                <a:rPr lang="zh-CN" altLang="en-US" sz="2600" smtClean="0">
                  <a:solidFill>
                    <a:srgbClr val="000000"/>
                  </a:solidFill>
                </a:rPr>
                <a:t>是温度不同引起的能量传递形式，温度相等，就达到热平衡</a:t>
              </a:r>
              <a:r>
                <a:rPr lang="en-US" altLang="zh-CN" sz="2600" smtClean="0">
                  <a:solidFill>
                    <a:srgbClr val="000000"/>
                  </a:solidFill>
                </a:rPr>
                <a:t>(</a:t>
              </a:r>
              <a:r>
                <a:rPr lang="zh-CN" altLang="en-US" sz="2600" smtClean="0">
                  <a:solidFill>
                    <a:srgbClr val="000000"/>
                  </a:solidFill>
                </a:rPr>
                <a:t>没有了热传递</a:t>
              </a:r>
              <a:r>
                <a:rPr lang="en-US" altLang="zh-CN" sz="2600" smtClean="0">
                  <a:solidFill>
                    <a:srgbClr val="000000"/>
                  </a:solidFill>
                </a:rPr>
                <a:t>)</a:t>
              </a:r>
              <a:r>
                <a:rPr lang="zh-CN" altLang="en-US" sz="2600" smtClean="0">
                  <a:solidFill>
                    <a:srgbClr val="000000"/>
                  </a:solidFill>
                </a:rPr>
                <a:t>。没有温度就没有热。</a:t>
              </a:r>
            </a:p>
          </p:txBody>
        </p:sp>
        <p:sp>
          <p:nvSpPr>
            <p:cNvPr id="133129" name="Text Box 9"/>
            <p:cNvSpPr txBox="1">
              <a:spLocks noChangeArrowheads="1"/>
            </p:cNvSpPr>
            <p:nvPr/>
          </p:nvSpPr>
          <p:spPr bwMode="auto">
            <a:xfrm>
              <a:off x="914400" y="4419600"/>
              <a:ext cx="7391400" cy="554038"/>
            </a:xfrm>
            <a:prstGeom prst="rect">
              <a:avLst/>
            </a:prstGeom>
            <a:solidFill>
              <a:schemeClr val="bg2">
                <a:lumMod val="40000"/>
                <a:lumOff val="60000"/>
              </a:schemeClr>
            </a:solidFill>
            <a:ln w="9525">
              <a:noFill/>
              <a:miter lim="800000"/>
            </a:ln>
          </p:spPr>
          <p:txBody>
            <a:bodyPr lIns="92075" tIns="46038" rIns="92075" bIns="46038">
              <a:spAutoFit/>
            </a:bodyPr>
            <a:lstStyle/>
            <a:p>
              <a:pPr algn="ctr" eaLnBrk="0" fontAlgn="base" hangingPunct="0">
                <a:lnSpc>
                  <a:spcPts val="3600"/>
                </a:lnSpc>
                <a:spcBef>
                  <a:spcPct val="0"/>
                </a:spcBef>
                <a:spcAft>
                  <a:spcPct val="0"/>
                </a:spcAft>
                <a:defRPr/>
              </a:pPr>
              <a:r>
                <a:rPr kumimoji="1" lang="zh-CN" altLang="en-US" sz="2600" b="1" i="1" dirty="0">
                  <a:solidFill>
                    <a:srgbClr val="C00000"/>
                  </a:solidFill>
                  <a:latin typeface="Times New Roman" panose="02020603050405020304" pitchFamily="18" charset="0"/>
                  <a:ea typeface="楷体_GB2312" pitchFamily="49" charset="-122"/>
                </a:rPr>
                <a:t>系统吸热，</a:t>
              </a:r>
              <a:r>
                <a:rPr kumimoji="1" lang="en-US" altLang="en-US" sz="2600" b="1" i="1" dirty="0">
                  <a:solidFill>
                    <a:srgbClr val="C00000"/>
                  </a:solidFill>
                  <a:latin typeface="Times New Roman" panose="02020603050405020304" pitchFamily="18" charset="0"/>
                  <a:ea typeface="楷体_GB2312" pitchFamily="49" charset="-122"/>
                </a:rPr>
                <a:t>Q</a:t>
              </a:r>
              <a:r>
                <a:rPr kumimoji="1" lang="zh-CN" altLang="en-US" sz="2600" b="1" i="1" dirty="0">
                  <a:solidFill>
                    <a:srgbClr val="C00000"/>
                  </a:solidFill>
                  <a:latin typeface="Times New Roman" panose="02020603050405020304" pitchFamily="18" charset="0"/>
                  <a:ea typeface="楷体_GB2312" pitchFamily="49" charset="-122"/>
                </a:rPr>
                <a:t>为正值；    系统放热，</a:t>
              </a:r>
              <a:r>
                <a:rPr kumimoji="1" lang="en-US" altLang="en-US" sz="2600" b="1" i="1" dirty="0">
                  <a:solidFill>
                    <a:srgbClr val="C00000"/>
                  </a:solidFill>
                  <a:latin typeface="Times New Roman" panose="02020603050405020304" pitchFamily="18" charset="0"/>
                  <a:ea typeface="楷体_GB2312" pitchFamily="49" charset="-122"/>
                </a:rPr>
                <a:t>Q</a:t>
              </a:r>
              <a:r>
                <a:rPr kumimoji="1" lang="zh-CN" altLang="en-US" sz="2600" b="1" i="1" dirty="0">
                  <a:solidFill>
                    <a:srgbClr val="C00000"/>
                  </a:solidFill>
                  <a:latin typeface="Times New Roman" panose="02020603050405020304" pitchFamily="18" charset="0"/>
                  <a:ea typeface="楷体_GB2312" pitchFamily="49" charset="-122"/>
                </a:rPr>
                <a:t>为负值</a:t>
              </a:r>
            </a:p>
          </p:txBody>
        </p:sp>
      </p:grpSp>
      <p:sp>
        <p:nvSpPr>
          <p:cNvPr id="48135" name="Rectangle 5"/>
          <p:cNvSpPr>
            <a:spLocks noChangeArrowheads="1"/>
          </p:cNvSpPr>
          <p:nvPr/>
        </p:nvSpPr>
        <p:spPr bwMode="auto">
          <a:xfrm>
            <a:off x="1905000" y="76200"/>
            <a:ext cx="5562600" cy="609600"/>
          </a:xfrm>
          <a:prstGeom prst="rect">
            <a:avLst/>
          </a:prstGeom>
          <a:solidFill>
            <a:srgbClr val="99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algn="ctr" fontAlgn="base">
              <a:spcBef>
                <a:spcPct val="0"/>
              </a:spcBef>
              <a:spcAft>
                <a:spcPct val="0"/>
              </a:spcAft>
            </a:pPr>
            <a:r>
              <a:rPr lang="zh-CN" altLang="en-US" sz="2800" b="1" i="1" smtClean="0">
                <a:solidFill>
                  <a:srgbClr val="990000"/>
                </a:solidFill>
                <a:latin typeface="楷体_GB2312" pitchFamily="49" charset="-122"/>
                <a:ea typeface="楷体_GB2312" pitchFamily="49" charset="-122"/>
              </a:rPr>
              <a:t>第二节    热力学第一定律</a:t>
            </a:r>
            <a:endParaRPr lang="zh-CN" altLang="en-US" sz="2800" b="1" i="1" smtClean="0">
              <a:solidFill>
                <a:srgbClr val="990000"/>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8135"/>
                                        </p:tgtEl>
                                        <p:attrNameLst>
                                          <p:attrName>style.visibility</p:attrName>
                                        </p:attrNameLst>
                                      </p:cBhvr>
                                      <p:to>
                                        <p:strVal val="visible"/>
                                      </p:to>
                                    </p:set>
                                    <p:animEffect transition="in" filter="blinds(horizontal)">
                                      <p:cBhvr>
                                        <p:cTn id="7" dur="500"/>
                                        <p:tgtEl>
                                          <p:spTgt spid="481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5"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组合 12"/>
          <p:cNvGrpSpPr/>
          <p:nvPr/>
        </p:nvGrpSpPr>
        <p:grpSpPr bwMode="auto">
          <a:xfrm>
            <a:off x="152400" y="152400"/>
            <a:ext cx="8448675" cy="1620838"/>
            <a:chOff x="152400" y="152400"/>
            <a:chExt cx="8448675" cy="1620838"/>
          </a:xfrm>
        </p:grpSpPr>
        <p:grpSp>
          <p:nvGrpSpPr>
            <p:cNvPr id="53256" name="组合 15"/>
            <p:cNvGrpSpPr/>
            <p:nvPr/>
          </p:nvGrpSpPr>
          <p:grpSpPr bwMode="auto">
            <a:xfrm>
              <a:off x="533400" y="685800"/>
              <a:ext cx="8067675" cy="1087438"/>
              <a:chOff x="609600" y="762000"/>
              <a:chExt cx="8067653" cy="1087341"/>
            </a:xfrm>
          </p:grpSpPr>
          <p:sp>
            <p:nvSpPr>
              <p:cNvPr id="53258" name="Text Box 6"/>
              <p:cNvSpPr txBox="1">
                <a:spLocks noChangeArrowheads="1"/>
              </p:cNvSpPr>
              <p:nvPr/>
            </p:nvSpPr>
            <p:spPr bwMode="auto">
              <a:xfrm>
                <a:off x="609600" y="1043776"/>
                <a:ext cx="695843" cy="5133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lnSpc>
                    <a:spcPts val="3600"/>
                  </a:lnSpc>
                  <a:spcBef>
                    <a:spcPct val="10000"/>
                  </a:spcBef>
                  <a:spcAft>
                    <a:spcPct val="0"/>
                  </a:spcAft>
                </a:pPr>
                <a:r>
                  <a:rPr lang="zh-CN" altLang="en-US" sz="2600" smtClean="0">
                    <a:solidFill>
                      <a:srgbClr val="000000"/>
                    </a:solidFill>
                  </a:rPr>
                  <a:t>功</a:t>
                </a:r>
              </a:p>
            </p:txBody>
          </p:sp>
          <p:sp>
            <p:nvSpPr>
              <p:cNvPr id="53259" name="Text Box 7"/>
              <p:cNvSpPr txBox="1">
                <a:spLocks noChangeArrowheads="1"/>
              </p:cNvSpPr>
              <p:nvPr/>
            </p:nvSpPr>
            <p:spPr bwMode="auto">
              <a:xfrm>
                <a:off x="1371600" y="762000"/>
                <a:ext cx="7305653" cy="5546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eaLnBrk="0" fontAlgn="base" hangingPunct="0">
                  <a:lnSpc>
                    <a:spcPts val="3600"/>
                  </a:lnSpc>
                  <a:spcBef>
                    <a:spcPct val="50000"/>
                  </a:spcBef>
                  <a:spcAft>
                    <a:spcPct val="0"/>
                  </a:spcAft>
                </a:pPr>
                <a:r>
                  <a:rPr lang="zh-CN" altLang="en-US" sz="2600" i="1" smtClean="0">
                    <a:latin typeface="楷体_GB2312" pitchFamily="49" charset="-122"/>
                  </a:rPr>
                  <a:t>体积功</a:t>
                </a:r>
                <a:r>
                  <a:rPr lang="en-US" altLang="zh-CN" sz="2600" i="1" smtClean="0">
                    <a:latin typeface="楷体_GB2312" pitchFamily="49" charset="-122"/>
                  </a:rPr>
                  <a:t>/</a:t>
                </a:r>
                <a:r>
                  <a:rPr lang="zh-CN" altLang="en-US" sz="2600" i="1" smtClean="0">
                    <a:latin typeface="楷体_GB2312" pitchFamily="49" charset="-122"/>
                  </a:rPr>
                  <a:t>膨胀功</a:t>
                </a:r>
                <a:r>
                  <a:rPr lang="en-US" altLang="zh-CN" sz="2600" smtClean="0">
                    <a:solidFill>
                      <a:srgbClr val="000000"/>
                    </a:solidFill>
                    <a:latin typeface="楷体_GB2312" pitchFamily="49" charset="-122"/>
                  </a:rPr>
                  <a:t>:</a:t>
                </a:r>
                <a:r>
                  <a:rPr lang="zh-CN" altLang="en-US" sz="2600" smtClean="0">
                    <a:solidFill>
                      <a:srgbClr val="000000"/>
                    </a:solidFill>
                    <a:latin typeface="楷体_GB2312" pitchFamily="49" charset="-122"/>
                  </a:rPr>
                  <a:t>系统体积变化反抗外力所做的功</a:t>
                </a:r>
              </a:p>
            </p:txBody>
          </p:sp>
          <p:sp>
            <p:nvSpPr>
              <p:cNvPr id="53260" name="Text Box 8"/>
              <p:cNvSpPr txBox="1">
                <a:spLocks noChangeArrowheads="1"/>
              </p:cNvSpPr>
              <p:nvPr/>
            </p:nvSpPr>
            <p:spPr bwMode="auto">
              <a:xfrm>
                <a:off x="1370983" y="1294701"/>
                <a:ext cx="7085326" cy="5546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eaLnBrk="0" fontAlgn="base" hangingPunct="0">
                  <a:lnSpc>
                    <a:spcPts val="3600"/>
                  </a:lnSpc>
                  <a:spcBef>
                    <a:spcPct val="50000"/>
                  </a:spcBef>
                  <a:spcAft>
                    <a:spcPct val="0"/>
                  </a:spcAft>
                </a:pPr>
                <a:r>
                  <a:rPr lang="zh-CN" altLang="en-US" sz="2600" i="1" smtClean="0">
                    <a:latin typeface="楷体_GB2312" pitchFamily="49" charset="-122"/>
                  </a:rPr>
                  <a:t>非体积功</a:t>
                </a:r>
                <a:r>
                  <a:rPr lang="en-US" altLang="zh-CN" sz="2600" smtClean="0">
                    <a:solidFill>
                      <a:srgbClr val="000000"/>
                    </a:solidFill>
                    <a:latin typeface="楷体_GB2312" pitchFamily="49" charset="-122"/>
                  </a:rPr>
                  <a:t>: </a:t>
                </a:r>
                <a:r>
                  <a:rPr lang="zh-CN" altLang="en-US" sz="2600" smtClean="0">
                    <a:solidFill>
                      <a:srgbClr val="000000"/>
                    </a:solidFill>
                    <a:latin typeface="楷体_GB2312" pitchFamily="49" charset="-122"/>
                  </a:rPr>
                  <a:t>除体积功外的功，如电功</a:t>
                </a:r>
              </a:p>
            </p:txBody>
          </p:sp>
          <p:sp>
            <p:nvSpPr>
              <p:cNvPr id="53261" name="AutoShape 9"/>
              <p:cNvSpPr/>
              <p:nvPr/>
            </p:nvSpPr>
            <p:spPr bwMode="auto">
              <a:xfrm>
                <a:off x="1182729" y="1037606"/>
                <a:ext cx="172915" cy="586824"/>
              </a:xfrm>
              <a:prstGeom prst="leftBrace">
                <a:avLst>
                  <a:gd name="adj1" fmla="val 33733"/>
                  <a:gd name="adj2" fmla="val 50000"/>
                </a:avLst>
              </a:prstGeom>
              <a:noFill/>
              <a:ln w="9525">
                <a:solidFill>
                  <a:schemeClr val="bg2"/>
                </a:solidFill>
                <a:round/>
              </a:ln>
              <a:extLst>
                <a:ext uri="{909E8E84-426E-40DD-AFC4-6F175D3DCCD1}">
                  <a14:hiddenFill xmlns:a14="http://schemas.microsoft.com/office/drawing/2010/main" xmlns="">
                    <a:solidFill>
                      <a:srgbClr val="FFFFFF"/>
                    </a:solidFill>
                  </a14:hiddenFill>
                </a:ext>
              </a:extLst>
            </p:spPr>
            <p:txBody>
              <a:bodyPr lIns="92075" tIns="46038" rIns="92075" bIns="46038" anchor="ctr">
                <a:spAutoFit/>
              </a:bodyPr>
              <a:lstStyle/>
              <a:p>
                <a:pPr eaLnBrk="0" fontAlgn="base" hangingPunct="0">
                  <a:lnSpc>
                    <a:spcPts val="3600"/>
                  </a:lnSpc>
                  <a:spcBef>
                    <a:spcPct val="50000"/>
                  </a:spcBef>
                  <a:spcAft>
                    <a:spcPct val="0"/>
                  </a:spcAft>
                </a:pPr>
                <a:endParaRPr kumimoji="1" lang="zh-CN" altLang="en-US" sz="2600" b="1" smtClean="0">
                  <a:solidFill>
                    <a:srgbClr val="000000"/>
                  </a:solidFill>
                  <a:latin typeface="Times New Roman" panose="02020603050405020304" pitchFamily="18" charset="0"/>
                  <a:ea typeface="楷体_GB2312" pitchFamily="49" charset="-122"/>
                </a:endParaRPr>
              </a:p>
            </p:txBody>
          </p:sp>
        </p:grpSp>
        <p:sp>
          <p:nvSpPr>
            <p:cNvPr id="53257" name="矩形 14"/>
            <p:cNvSpPr>
              <a:spLocks noChangeArrowheads="1"/>
            </p:cNvSpPr>
            <p:nvPr/>
          </p:nvSpPr>
          <p:spPr bwMode="auto">
            <a:xfrm>
              <a:off x="152400" y="152400"/>
              <a:ext cx="8305800" cy="5127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0"/>
                </a:spcBef>
                <a:spcAft>
                  <a:spcPct val="0"/>
                </a:spcAft>
              </a:pPr>
              <a:r>
                <a:rPr kumimoji="1" lang="en-US" altLang="zh-CN" sz="2600" b="1" smtClean="0">
                  <a:solidFill>
                    <a:srgbClr val="C00000"/>
                  </a:solidFill>
                  <a:latin typeface="Times New Roman" panose="02020603050405020304" pitchFamily="18" charset="0"/>
                  <a:ea typeface="楷体_GB2312" pitchFamily="49" charset="-122"/>
                </a:rPr>
                <a:t>(2)</a:t>
              </a:r>
              <a:r>
                <a:rPr kumimoji="1" lang="zh-CN" altLang="en-US" sz="2600" b="1" smtClean="0">
                  <a:solidFill>
                    <a:srgbClr val="C00000"/>
                  </a:solidFill>
                  <a:latin typeface="Times New Roman" panose="02020603050405020304" pitchFamily="18" charset="0"/>
                  <a:ea typeface="楷体_GB2312" pitchFamily="49" charset="-122"/>
                </a:rPr>
                <a:t>功</a:t>
              </a:r>
              <a:r>
                <a:rPr kumimoji="1" lang="en-US" altLang="zh-CN" sz="2600" b="1" smtClean="0">
                  <a:solidFill>
                    <a:srgbClr val="C00000"/>
                  </a:solidFill>
                  <a:latin typeface="Times New Roman" panose="02020603050405020304" pitchFamily="18" charset="0"/>
                  <a:ea typeface="楷体_GB2312" pitchFamily="49" charset="-122"/>
                </a:rPr>
                <a:t>(W)</a:t>
              </a:r>
              <a:r>
                <a:rPr kumimoji="1" lang="zh-CN" altLang="en-US" sz="2600" b="1" smtClean="0">
                  <a:solidFill>
                    <a:srgbClr val="000000"/>
                  </a:solidFill>
                  <a:latin typeface="Times New Roman" panose="02020603050405020304" pitchFamily="18" charset="0"/>
                  <a:ea typeface="楷体_GB2312" pitchFamily="49" charset="-122"/>
                </a:rPr>
                <a:t>：除了热之外其它传递或交换能量的形式。</a:t>
              </a:r>
            </a:p>
          </p:txBody>
        </p:sp>
      </p:grpSp>
      <p:grpSp>
        <p:nvGrpSpPr>
          <p:cNvPr id="4" name="组合 11"/>
          <p:cNvGrpSpPr/>
          <p:nvPr/>
        </p:nvGrpSpPr>
        <p:grpSpPr bwMode="auto">
          <a:xfrm>
            <a:off x="228600" y="1828800"/>
            <a:ext cx="8763000" cy="2493963"/>
            <a:chOff x="381000" y="1828800"/>
            <a:chExt cx="8763000" cy="2493963"/>
          </a:xfrm>
        </p:grpSpPr>
        <p:sp>
          <p:nvSpPr>
            <p:cNvPr id="17" name="矩形 16"/>
            <p:cNvSpPr/>
            <p:nvPr/>
          </p:nvSpPr>
          <p:spPr>
            <a:xfrm>
              <a:off x="2667000" y="3048000"/>
              <a:ext cx="3962400" cy="519113"/>
            </a:xfrm>
            <a:prstGeom prst="rect">
              <a:avLst/>
            </a:prstGeom>
            <a:solidFill>
              <a:schemeClr val="bg2">
                <a:lumMod val="40000"/>
                <a:lumOff val="60000"/>
              </a:schemeClr>
            </a:solidFill>
          </p:spPr>
          <p:txBody>
            <a:bodyPr>
              <a:spAutoFit/>
            </a:bodyPr>
            <a:lstStyle/>
            <a:p>
              <a:pPr eaLnBrk="0" fontAlgn="base" hangingPunct="0">
                <a:lnSpc>
                  <a:spcPts val="3600"/>
                </a:lnSpc>
                <a:spcBef>
                  <a:spcPct val="50000"/>
                </a:spcBef>
                <a:spcAft>
                  <a:spcPct val="0"/>
                </a:spcAft>
                <a:defRPr/>
              </a:pPr>
              <a:r>
                <a:rPr kumimoji="1" lang="en-US" altLang="zh-CN" sz="2800" b="1" i="1" dirty="0">
                  <a:solidFill>
                    <a:srgbClr val="C00000"/>
                  </a:solidFill>
                  <a:latin typeface="Times New Roman" panose="02020603050405020304" pitchFamily="18" charset="0"/>
                  <a:ea typeface="楷体_GB2312" pitchFamily="49" charset="-122"/>
                </a:rPr>
                <a:t>W= </a:t>
              </a:r>
              <a:r>
                <a:rPr kumimoji="1" lang="zh-CN" altLang="en-US" sz="2800" b="1" i="1" dirty="0">
                  <a:solidFill>
                    <a:srgbClr val="C00000"/>
                  </a:solidFill>
                  <a:latin typeface="Times New Roman" panose="02020603050405020304" pitchFamily="18" charset="0"/>
                  <a:ea typeface="楷体_GB2312" pitchFamily="49" charset="-122"/>
                </a:rPr>
                <a:t>－</a:t>
              </a:r>
              <a:r>
                <a:rPr kumimoji="1" lang="en-US" altLang="zh-CN" sz="2800" b="1" i="1" dirty="0">
                  <a:solidFill>
                    <a:srgbClr val="C00000"/>
                  </a:solidFill>
                  <a:latin typeface="Times New Roman" panose="02020603050405020304" pitchFamily="18" charset="0"/>
                  <a:ea typeface="楷体_GB2312" pitchFamily="49" charset="-122"/>
                </a:rPr>
                <a:t> </a:t>
              </a:r>
              <a:r>
                <a:rPr kumimoji="1" lang="en-US" altLang="zh-CN" sz="2800" b="1" i="1" dirty="0" err="1">
                  <a:solidFill>
                    <a:srgbClr val="C00000"/>
                  </a:solidFill>
                  <a:latin typeface="Times New Roman" panose="02020603050405020304" pitchFamily="18" charset="0"/>
                  <a:ea typeface="楷体_GB2312" pitchFamily="49" charset="-122"/>
                </a:rPr>
                <a:t>p⊿V</a:t>
              </a:r>
              <a:r>
                <a:rPr kumimoji="1" lang="en-US" altLang="zh-CN" sz="2800" b="1" i="1" dirty="0">
                  <a:solidFill>
                    <a:srgbClr val="C00000"/>
                  </a:solidFill>
                  <a:latin typeface="Times New Roman" panose="02020603050405020304" pitchFamily="18" charset="0"/>
                  <a:ea typeface="楷体_GB2312" pitchFamily="49" charset="-122"/>
                </a:rPr>
                <a:t> = </a:t>
              </a:r>
              <a:r>
                <a:rPr kumimoji="1" lang="zh-CN" altLang="en-US" sz="2800" b="1" i="1" dirty="0">
                  <a:solidFill>
                    <a:srgbClr val="C00000"/>
                  </a:solidFill>
                  <a:latin typeface="Times New Roman" panose="02020603050405020304" pitchFamily="18" charset="0"/>
                  <a:ea typeface="楷体_GB2312" pitchFamily="49" charset="-122"/>
                </a:rPr>
                <a:t>－</a:t>
              </a:r>
              <a:r>
                <a:rPr kumimoji="1" lang="en-US" altLang="zh-CN" sz="2800" b="1" i="1" dirty="0">
                  <a:solidFill>
                    <a:srgbClr val="C00000"/>
                  </a:solidFill>
                  <a:latin typeface="Times New Roman" panose="02020603050405020304" pitchFamily="18" charset="0"/>
                  <a:ea typeface="楷体_GB2312" pitchFamily="49" charset="-122"/>
                </a:rPr>
                <a:t> ⊿</a:t>
              </a:r>
              <a:r>
                <a:rPr kumimoji="1" lang="en-US" altLang="zh-CN" sz="2800" b="1" i="1" dirty="0" err="1">
                  <a:solidFill>
                    <a:srgbClr val="C00000"/>
                  </a:solidFill>
                  <a:latin typeface="Times New Roman" panose="02020603050405020304" pitchFamily="18" charset="0"/>
                  <a:ea typeface="楷体_GB2312" pitchFamily="49" charset="-122"/>
                </a:rPr>
                <a:t>nRT</a:t>
              </a:r>
              <a:endParaRPr kumimoji="1" lang="en-US" altLang="zh-CN" sz="2800" b="1" i="1" dirty="0">
                <a:solidFill>
                  <a:srgbClr val="C00000"/>
                </a:solidFill>
                <a:latin typeface="Times New Roman" panose="02020603050405020304" pitchFamily="18" charset="0"/>
                <a:ea typeface="楷体_GB2312" pitchFamily="49" charset="-122"/>
              </a:endParaRPr>
            </a:p>
          </p:txBody>
        </p:sp>
        <p:sp>
          <p:nvSpPr>
            <p:cNvPr id="18" name="矩形 17"/>
            <p:cNvSpPr/>
            <p:nvPr/>
          </p:nvSpPr>
          <p:spPr>
            <a:xfrm>
              <a:off x="381000" y="3810000"/>
              <a:ext cx="8763000" cy="512763"/>
            </a:xfrm>
            <a:prstGeom prst="rect">
              <a:avLst/>
            </a:prstGeom>
            <a:solidFill>
              <a:schemeClr val="bg2">
                <a:lumMod val="40000"/>
                <a:lumOff val="60000"/>
              </a:schemeClr>
            </a:solidFill>
          </p:spPr>
          <p:txBody>
            <a:bodyPr>
              <a:spAutoFit/>
            </a:bodyPr>
            <a:lstStyle/>
            <a:p>
              <a:pPr algn="ctr" eaLnBrk="0" fontAlgn="base" hangingPunct="0">
                <a:lnSpc>
                  <a:spcPts val="3600"/>
                </a:lnSpc>
                <a:spcBef>
                  <a:spcPct val="50000"/>
                </a:spcBef>
                <a:spcAft>
                  <a:spcPct val="0"/>
                </a:spcAft>
                <a:defRPr/>
              </a:pPr>
              <a:r>
                <a:rPr kumimoji="1" lang="zh-CN" altLang="en-US" sz="2600" b="1" i="1" dirty="0">
                  <a:solidFill>
                    <a:srgbClr val="C00000"/>
                  </a:solidFill>
                  <a:latin typeface="Times New Roman" panose="02020603050405020304" pitchFamily="18" charset="0"/>
                  <a:ea typeface="楷体_GB2312" pitchFamily="49" charset="-122"/>
                </a:rPr>
                <a:t>环境对系统做功，</a:t>
              </a:r>
              <a:r>
                <a:rPr kumimoji="1" lang="en-US" altLang="zh-CN" sz="2600" b="1" i="1" dirty="0">
                  <a:solidFill>
                    <a:srgbClr val="C00000"/>
                  </a:solidFill>
                  <a:latin typeface="Times New Roman" panose="02020603050405020304" pitchFamily="18" charset="0"/>
                  <a:ea typeface="楷体_GB2312" pitchFamily="49" charset="-122"/>
                </a:rPr>
                <a:t>W</a:t>
              </a:r>
              <a:r>
                <a:rPr kumimoji="1" lang="zh-CN" altLang="en-US" sz="2600" b="1" i="1" dirty="0">
                  <a:solidFill>
                    <a:srgbClr val="C00000"/>
                  </a:solidFill>
                  <a:latin typeface="Times New Roman" panose="02020603050405020304" pitchFamily="18" charset="0"/>
                  <a:ea typeface="楷体_GB2312" pitchFamily="49" charset="-122"/>
                </a:rPr>
                <a:t>为正值；系统对环境做功，</a:t>
              </a:r>
              <a:r>
                <a:rPr kumimoji="1" lang="en-US" altLang="zh-CN" sz="2600" b="1" i="1" dirty="0">
                  <a:solidFill>
                    <a:srgbClr val="C00000"/>
                  </a:solidFill>
                  <a:latin typeface="Times New Roman" panose="02020603050405020304" pitchFamily="18" charset="0"/>
                  <a:ea typeface="楷体_GB2312" pitchFamily="49" charset="-122"/>
                </a:rPr>
                <a:t>W</a:t>
              </a:r>
              <a:r>
                <a:rPr kumimoji="1" lang="zh-CN" altLang="en-US" sz="2600" b="1" i="1" dirty="0">
                  <a:solidFill>
                    <a:srgbClr val="C00000"/>
                  </a:solidFill>
                  <a:latin typeface="Times New Roman" panose="02020603050405020304" pitchFamily="18" charset="0"/>
                  <a:ea typeface="楷体_GB2312" pitchFamily="49" charset="-122"/>
                </a:rPr>
                <a:t>为负值。</a:t>
              </a:r>
            </a:p>
          </p:txBody>
        </p:sp>
        <p:sp>
          <p:nvSpPr>
            <p:cNvPr id="53255" name="矩形 18"/>
            <p:cNvSpPr>
              <a:spLocks noChangeArrowheads="1"/>
            </p:cNvSpPr>
            <p:nvPr/>
          </p:nvSpPr>
          <p:spPr bwMode="auto">
            <a:xfrm>
              <a:off x="381000" y="1828800"/>
              <a:ext cx="8382000" cy="974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zh-CN" altLang="en-US" sz="2600" b="1" smtClean="0">
                  <a:solidFill>
                    <a:srgbClr val="000000"/>
                  </a:solidFill>
                  <a:latin typeface="Times New Roman" panose="02020603050405020304" pitchFamily="18" charset="0"/>
                  <a:ea typeface="楷体_GB2312" pitchFamily="49" charset="-122"/>
                </a:rPr>
                <a:t>         膨胀</a:t>
              </a:r>
              <a:r>
                <a:rPr kumimoji="1" lang="zh-CN" altLang="en-US" sz="2600" b="1" smtClean="0">
                  <a:solidFill>
                    <a:srgbClr val="000000"/>
                  </a:solidFill>
                  <a:latin typeface="楷体_GB2312" pitchFamily="49" charset="-122"/>
                  <a:ea typeface="楷体_GB2312" pitchFamily="49" charset="-122"/>
                </a:rPr>
                <a:t>功</a:t>
              </a:r>
              <a:r>
                <a:rPr kumimoji="1" lang="zh-CN" altLang="en-US" sz="2600" b="1" smtClean="0">
                  <a:solidFill>
                    <a:srgbClr val="000000"/>
                  </a:solidFill>
                  <a:latin typeface="Times New Roman" panose="02020603050405020304" pitchFamily="18" charset="0"/>
                  <a:ea typeface="楷体_GB2312" pitchFamily="49" charset="-122"/>
                </a:rPr>
                <a:t>是在恒定的压力下所做的功，所以又称为等压膨胀功</a:t>
              </a:r>
              <a:r>
                <a:rPr kumimoji="1" lang="en-US" altLang="zh-CN" sz="2600" b="1" smtClean="0">
                  <a:solidFill>
                    <a:srgbClr val="000000"/>
                  </a:solidFill>
                  <a:latin typeface="Times New Roman" panose="02020603050405020304" pitchFamily="18" charset="0"/>
                  <a:ea typeface="楷体_GB2312" pitchFamily="49" charset="-122"/>
                </a:rPr>
                <a:t>(expension work)</a:t>
              </a:r>
              <a:r>
                <a:rPr kumimoji="1" lang="zh-CN" altLang="en-US" sz="2600" b="1" smtClean="0">
                  <a:solidFill>
                    <a:srgbClr val="000000"/>
                  </a:solidFill>
                  <a:latin typeface="Times New Roman" panose="02020603050405020304" pitchFamily="18" charset="0"/>
                  <a:ea typeface="楷体_GB2312" pitchFamily="49" charset="-122"/>
                </a:rPr>
                <a:t>：</a:t>
              </a:r>
              <a:endParaRPr kumimoji="1" lang="zh-CN" altLang="en-US" sz="3000" b="1" smtClean="0">
                <a:solidFill>
                  <a:srgbClr val="0000FF"/>
                </a:solidFill>
                <a:latin typeface="Times New Roman" panose="02020603050405020304" pitchFamily="18" charset="0"/>
                <a:ea typeface="楷体_GB2312" pitchFamily="49" charset="-122"/>
              </a:endParaRPr>
            </a:p>
          </p:txBody>
        </p:sp>
      </p:grpSp>
      <p:sp>
        <p:nvSpPr>
          <p:cNvPr id="50183" name="矩形 20"/>
          <p:cNvSpPr>
            <a:spLocks noChangeArrowheads="1"/>
          </p:cNvSpPr>
          <p:nvPr/>
        </p:nvSpPr>
        <p:spPr bwMode="auto">
          <a:xfrm>
            <a:off x="2362200" y="4572000"/>
            <a:ext cx="3870325" cy="412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0" fontAlgn="base" hangingPunct="0">
              <a:lnSpc>
                <a:spcPct val="80000"/>
              </a:lnSpc>
              <a:spcBef>
                <a:spcPct val="50000"/>
              </a:spcBef>
              <a:spcAft>
                <a:spcPct val="0"/>
              </a:spcAft>
            </a:pPr>
            <a:r>
              <a:rPr kumimoji="1" lang="zh-CN" altLang="en-US" sz="2600" b="1" smtClean="0">
                <a:solidFill>
                  <a:srgbClr val="000000"/>
                </a:solidFill>
                <a:latin typeface="Times New Roman" panose="02020603050405020304" pitchFamily="18" charset="0"/>
                <a:ea typeface="楷体_GB2312" pitchFamily="49" charset="-122"/>
              </a:rPr>
              <a:t>其他类型的膨胀功可忽略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0183"/>
                                        </p:tgtEl>
                                        <p:attrNameLst>
                                          <p:attrName>style.visibility</p:attrName>
                                        </p:attrNameLst>
                                      </p:cBhvr>
                                      <p:to>
                                        <p:strVal val="visible"/>
                                      </p:to>
                                    </p:set>
                                    <p:animEffect transition="in" filter="blinds(horizontal)">
                                      <p:cBhvr>
                                        <p:cTn id="17" dur="500"/>
                                        <p:tgtEl>
                                          <p:spTgt spid="50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71472" y="357166"/>
            <a:ext cx="7715303" cy="1291590"/>
          </a:xfrm>
          <a:prstGeom prst="rect">
            <a:avLst/>
          </a:prstGeom>
        </p:spPr>
        <p:txBody>
          <a:bodyPr wrap="square">
            <a:spAutoFit/>
          </a:bodyPr>
          <a:lstStyle/>
          <a:p>
            <a:r>
              <a:rPr lang="zh-CN" altLang="en-US" sz="2600" b="1" i="1" dirty="0" smtClean="0">
                <a:solidFill>
                  <a:srgbClr val="2909C9"/>
                </a:solidFill>
                <a:latin typeface="+mj-lt"/>
              </a:rPr>
              <a:t>例如：</a:t>
            </a:r>
            <a:endParaRPr lang="en-US" altLang="zh-CN" sz="2600" b="1" i="1" dirty="0" smtClean="0">
              <a:solidFill>
                <a:srgbClr val="2909C9"/>
              </a:solidFill>
              <a:latin typeface="+mj-lt"/>
            </a:endParaRPr>
          </a:p>
          <a:p>
            <a:r>
              <a:rPr lang="zh-CN" altLang="en-US" sz="2600" b="1" i="1" dirty="0" smtClean="0">
                <a:solidFill>
                  <a:srgbClr val="2909C9"/>
                </a:solidFill>
                <a:latin typeface="+mj-lt"/>
              </a:rPr>
              <a:t>         在</a:t>
            </a:r>
            <a:r>
              <a:rPr lang="en-US" altLang="zh-CN" sz="2600" b="1" i="1" dirty="0" smtClean="0">
                <a:solidFill>
                  <a:srgbClr val="2909C9"/>
                </a:solidFill>
                <a:latin typeface="+mj-lt"/>
              </a:rPr>
              <a:t>300K</a:t>
            </a:r>
            <a:r>
              <a:rPr lang="zh-CN" altLang="en-US" sz="2600" b="1" i="1" dirty="0" smtClean="0">
                <a:solidFill>
                  <a:srgbClr val="2909C9"/>
                </a:solidFill>
                <a:latin typeface="+mj-lt"/>
              </a:rPr>
              <a:t>、</a:t>
            </a:r>
            <a:r>
              <a:rPr lang="en-US" altLang="zh-CN" sz="2600" b="1" i="1" dirty="0" smtClean="0">
                <a:solidFill>
                  <a:srgbClr val="2909C9"/>
                </a:solidFill>
                <a:latin typeface="+mj-lt"/>
              </a:rPr>
              <a:t>100kPa</a:t>
            </a:r>
            <a:r>
              <a:rPr lang="zh-CN" altLang="en-US" sz="2600" b="1" i="1" dirty="0" smtClean="0">
                <a:solidFill>
                  <a:srgbClr val="2909C9"/>
                </a:solidFill>
                <a:latin typeface="+mj-lt"/>
              </a:rPr>
              <a:t>条件下，计算蒸发</a:t>
            </a:r>
            <a:r>
              <a:rPr lang="en-US" altLang="zh-CN" sz="2600" b="1" i="1" dirty="0" smtClean="0">
                <a:solidFill>
                  <a:srgbClr val="2909C9"/>
                </a:solidFill>
                <a:latin typeface="+mj-lt"/>
              </a:rPr>
              <a:t>1molH</a:t>
            </a:r>
            <a:r>
              <a:rPr lang="en-US" altLang="zh-CN" sz="2600" b="1" i="1" baseline="-25000" dirty="0" smtClean="0">
                <a:solidFill>
                  <a:srgbClr val="2909C9"/>
                </a:solidFill>
                <a:latin typeface="+mj-lt"/>
              </a:rPr>
              <a:t>2</a:t>
            </a:r>
            <a:r>
              <a:rPr lang="en-US" altLang="zh-CN" sz="2600" b="1" i="1" dirty="0" smtClean="0">
                <a:solidFill>
                  <a:srgbClr val="2909C9"/>
                </a:solidFill>
                <a:latin typeface="+mj-lt"/>
              </a:rPr>
              <a:t>O</a:t>
            </a:r>
            <a:r>
              <a:rPr lang="zh-CN" altLang="en-US" sz="2600" b="1" i="1" dirty="0" smtClean="0">
                <a:solidFill>
                  <a:srgbClr val="2909C9"/>
                </a:solidFill>
                <a:latin typeface="+mj-lt"/>
              </a:rPr>
              <a:t>所做的等压膨胀功</a:t>
            </a:r>
            <a:r>
              <a:rPr lang="en-US" altLang="zh-CN" sz="2600" b="1" i="1" dirty="0" smtClean="0">
                <a:solidFill>
                  <a:srgbClr val="2909C9"/>
                </a:solidFill>
                <a:latin typeface="+mj-lt"/>
              </a:rPr>
              <a:t>W</a:t>
            </a:r>
            <a:r>
              <a:rPr lang="zh-CN" altLang="en-US" sz="2600" b="1" i="1" dirty="0" smtClean="0">
                <a:solidFill>
                  <a:srgbClr val="2909C9"/>
                </a:solidFill>
                <a:latin typeface="+mj-lt"/>
              </a:rPr>
              <a:t>是多少？</a:t>
            </a:r>
            <a:endParaRPr lang="zh-CN" altLang="en-US" sz="2600" b="1" i="1" dirty="0">
              <a:solidFill>
                <a:srgbClr val="2909C9"/>
              </a:solidFill>
              <a:latin typeface="+mj-lt"/>
            </a:endParaRPr>
          </a:p>
        </p:txBody>
      </p:sp>
      <p:sp>
        <p:nvSpPr>
          <p:cNvPr id="7" name="矩形 6"/>
          <p:cNvSpPr/>
          <p:nvPr/>
        </p:nvSpPr>
        <p:spPr>
          <a:xfrm>
            <a:off x="2000232" y="3071810"/>
            <a:ext cx="5786462" cy="1291590"/>
          </a:xfrm>
          <a:prstGeom prst="rect">
            <a:avLst/>
          </a:prstGeom>
        </p:spPr>
        <p:txBody>
          <a:bodyPr wrap="square">
            <a:spAutoFit/>
          </a:bodyPr>
          <a:lstStyle/>
          <a:p>
            <a:r>
              <a:rPr kumimoji="1" lang="en-US" altLang="zh-CN" sz="2600" b="1" i="1" dirty="0" smtClean="0">
                <a:solidFill>
                  <a:srgbClr val="000000"/>
                </a:solidFill>
                <a:latin typeface="+mj-lt"/>
                <a:sym typeface="Symbol" panose="05050102010706020507" pitchFamily="18" charset="2"/>
              </a:rPr>
              <a:t>W = </a:t>
            </a:r>
            <a:r>
              <a:rPr kumimoji="1" lang="zh-CN" altLang="en-US" sz="2600" b="1" i="1" dirty="0" smtClean="0">
                <a:solidFill>
                  <a:srgbClr val="C00000"/>
                </a:solidFill>
                <a:latin typeface="+mj-lt"/>
                <a:sym typeface="Symbol" panose="05050102010706020507" pitchFamily="18" charset="2"/>
              </a:rPr>
              <a:t>－</a:t>
            </a:r>
            <a:r>
              <a:rPr kumimoji="1" lang="en-US" altLang="zh-CN" sz="2600" b="1" i="1" dirty="0" smtClean="0">
                <a:solidFill>
                  <a:srgbClr val="000000"/>
                </a:solidFill>
                <a:latin typeface="+mj-lt"/>
                <a:sym typeface="Symbol" panose="05050102010706020507" pitchFamily="18" charset="2"/>
              </a:rPr>
              <a:t>p</a:t>
            </a:r>
            <a:r>
              <a:rPr lang="zh-CN" altLang="en-US" sz="2600" b="1" i="1" dirty="0" smtClean="0">
                <a:solidFill>
                  <a:srgbClr val="000000"/>
                </a:solidFill>
                <a:latin typeface="+mj-lt"/>
              </a:rPr>
              <a:t>∆</a:t>
            </a:r>
            <a:r>
              <a:rPr lang="en-US" altLang="zh-CN" sz="2600" b="1" i="1" dirty="0" smtClean="0">
                <a:solidFill>
                  <a:srgbClr val="000000"/>
                </a:solidFill>
                <a:latin typeface="+mj-lt"/>
              </a:rPr>
              <a:t>V </a:t>
            </a:r>
            <a:r>
              <a:rPr kumimoji="1" lang="en-US" altLang="en-US" sz="2600" b="1" i="1" dirty="0" smtClean="0">
                <a:solidFill>
                  <a:srgbClr val="000000"/>
                </a:solidFill>
                <a:latin typeface="+mj-lt"/>
                <a:sym typeface="Symbol" panose="05050102010706020507" pitchFamily="18" charset="2"/>
              </a:rPr>
              <a:t>=</a:t>
            </a:r>
            <a:r>
              <a:rPr kumimoji="1" lang="en-US" altLang="zh-CN" sz="2600" b="1" i="1" dirty="0" smtClean="0">
                <a:solidFill>
                  <a:srgbClr val="000000"/>
                </a:solidFill>
                <a:latin typeface="+mj-lt"/>
                <a:sym typeface="Symbol" panose="05050102010706020507" pitchFamily="18" charset="2"/>
              </a:rPr>
              <a:t> </a:t>
            </a:r>
            <a:r>
              <a:rPr kumimoji="1" lang="en-US" altLang="en-US" sz="2600" b="1" i="1" dirty="0" smtClean="0">
                <a:solidFill>
                  <a:srgbClr val="C00000"/>
                </a:solidFill>
                <a:latin typeface="+mj-lt"/>
                <a:sym typeface="Symbol" panose="05050102010706020507" pitchFamily="18" charset="2"/>
              </a:rPr>
              <a:t>－</a:t>
            </a:r>
            <a:r>
              <a:rPr kumimoji="1" lang="en-US" altLang="zh-CN" sz="2600" b="1" i="1" dirty="0" smtClean="0">
                <a:solidFill>
                  <a:srgbClr val="C00000"/>
                </a:solidFill>
                <a:latin typeface="+mj-lt"/>
              </a:rPr>
              <a:t> </a:t>
            </a:r>
            <a:r>
              <a:rPr kumimoji="1" lang="en-US" altLang="zh-CN" sz="2600" b="1" i="1" dirty="0" err="1" smtClean="0">
                <a:latin typeface="+mj-lt"/>
              </a:rPr>
              <a:t>ΔnRT</a:t>
            </a:r>
            <a:r>
              <a:rPr kumimoji="1" lang="en-US" altLang="zh-CN" sz="2600" b="1" i="1" dirty="0" smtClean="0">
                <a:latin typeface="+mj-lt"/>
              </a:rPr>
              <a:t> </a:t>
            </a:r>
          </a:p>
          <a:p>
            <a:r>
              <a:rPr kumimoji="1" lang="en-US" altLang="zh-CN" sz="2600" b="1" i="1" dirty="0" smtClean="0">
                <a:solidFill>
                  <a:srgbClr val="000000"/>
                </a:solidFill>
                <a:latin typeface="+mj-lt"/>
                <a:sym typeface="Symbol" panose="05050102010706020507" pitchFamily="18" charset="2"/>
              </a:rPr>
              <a:t>                  = </a:t>
            </a:r>
            <a:r>
              <a:rPr kumimoji="1" lang="zh-CN" altLang="en-US" sz="2600" b="1" i="1" dirty="0" smtClean="0">
                <a:solidFill>
                  <a:srgbClr val="C00000"/>
                </a:solidFill>
                <a:latin typeface="+mj-lt"/>
                <a:sym typeface="Symbol" panose="05050102010706020507" pitchFamily="18" charset="2"/>
              </a:rPr>
              <a:t>－ </a:t>
            </a:r>
            <a:r>
              <a:rPr kumimoji="1" lang="en-US" altLang="zh-CN" sz="2600" b="1" i="1" dirty="0" smtClean="0">
                <a:solidFill>
                  <a:srgbClr val="000000"/>
                </a:solidFill>
                <a:latin typeface="+mj-lt"/>
                <a:sym typeface="Symbol" panose="05050102010706020507" pitchFamily="18" charset="2"/>
              </a:rPr>
              <a:t>(</a:t>
            </a:r>
            <a:r>
              <a:rPr kumimoji="1" lang="en-US" altLang="zh-CN" sz="2600" b="1" i="1" dirty="0" smtClean="0">
                <a:solidFill>
                  <a:srgbClr val="0000FF"/>
                </a:solidFill>
                <a:latin typeface="+mj-lt"/>
                <a:sym typeface="Symbol" panose="05050102010706020507" pitchFamily="18" charset="2"/>
              </a:rPr>
              <a:t>1</a:t>
            </a:r>
            <a:r>
              <a:rPr kumimoji="1" lang="en-US" altLang="zh-CN" sz="2600" b="1" i="1" dirty="0" smtClean="0">
                <a:solidFill>
                  <a:srgbClr val="000000"/>
                </a:solidFill>
                <a:latin typeface="+mj-lt"/>
                <a:sym typeface="Symbol" panose="05050102010706020507" pitchFamily="18" charset="2"/>
              </a:rPr>
              <a:t>-0) × 8.314×300</a:t>
            </a:r>
          </a:p>
          <a:p>
            <a:r>
              <a:rPr kumimoji="1" lang="en-US" altLang="zh-CN" sz="2600" b="1" i="1" dirty="0" smtClean="0">
                <a:solidFill>
                  <a:srgbClr val="000000"/>
                </a:solidFill>
                <a:latin typeface="+mj-lt"/>
                <a:sym typeface="Symbol" panose="05050102010706020507" pitchFamily="18" charset="2"/>
              </a:rPr>
              <a:t>                  ≈ </a:t>
            </a:r>
            <a:r>
              <a:rPr kumimoji="1" lang="zh-CN" altLang="en-US" sz="2600" b="1" i="1" dirty="0" smtClean="0">
                <a:solidFill>
                  <a:srgbClr val="C00000"/>
                </a:solidFill>
                <a:latin typeface="+mj-lt"/>
                <a:sym typeface="Symbol" panose="05050102010706020507" pitchFamily="18" charset="2"/>
              </a:rPr>
              <a:t>－</a:t>
            </a:r>
            <a:r>
              <a:rPr kumimoji="1" lang="en-US" altLang="zh-CN" sz="2600" b="1" i="1" dirty="0" smtClean="0">
                <a:solidFill>
                  <a:srgbClr val="000000"/>
                </a:solidFill>
                <a:latin typeface="+mj-lt"/>
                <a:sym typeface="Symbol" panose="05050102010706020507" pitchFamily="18" charset="2"/>
              </a:rPr>
              <a:t>2.5</a:t>
            </a:r>
            <a:r>
              <a:rPr kumimoji="1" lang="en-US" altLang="en-US" sz="2600" b="1" i="1" dirty="0" smtClean="0">
                <a:solidFill>
                  <a:srgbClr val="000000"/>
                </a:solidFill>
                <a:latin typeface="+mj-lt"/>
                <a:sym typeface="Symbol" panose="05050102010706020507" pitchFamily="18" charset="2"/>
              </a:rPr>
              <a:t>kJ</a:t>
            </a:r>
            <a:endParaRPr lang="zh-CN" altLang="en-US" sz="2600" b="1" i="1" dirty="0">
              <a:latin typeface="+mj-lt"/>
            </a:endParaRPr>
          </a:p>
        </p:txBody>
      </p:sp>
      <p:graphicFrame>
        <p:nvGraphicFramePr>
          <p:cNvPr id="56321" name="Object 1"/>
          <p:cNvGraphicFramePr>
            <a:graphicFrameLocks noChangeAspect="1"/>
          </p:cNvGraphicFramePr>
          <p:nvPr/>
        </p:nvGraphicFramePr>
        <p:xfrm>
          <a:off x="2285984" y="1857364"/>
          <a:ext cx="4071938" cy="857250"/>
        </p:xfrm>
        <a:graphic>
          <a:graphicData uri="http://schemas.openxmlformats.org/presentationml/2006/ole">
            <p:oleObj spid="_x0000_s56321" name="InDraw Object" r:id="rId3" imgW="1800475" imgH="314286"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20"/>
          <p:cNvGraphicFramePr>
            <a:graphicFrameLocks noGrp="1" noChangeAspect="1"/>
          </p:cNvGraphicFramePr>
          <p:nvPr>
            <p:ph sz="half" idx="1"/>
          </p:nvPr>
        </p:nvGraphicFramePr>
        <p:xfrm>
          <a:off x="4724400" y="1219200"/>
          <a:ext cx="3810000" cy="685800"/>
        </p:xfrm>
        <a:graphic>
          <a:graphicData uri="http://schemas.openxmlformats.org/presentationml/2006/ole">
            <p:oleObj spid="_x0000_s55298" name="CS ChemDraw Drawing" r:id="rId3" imgW="13134975" imgH="2505075" progId="">
              <p:embed/>
            </p:oleObj>
          </a:graphicData>
        </a:graphic>
      </p:graphicFrame>
      <p:graphicFrame>
        <p:nvGraphicFramePr>
          <p:cNvPr id="19" name="Object 23"/>
          <p:cNvGraphicFramePr>
            <a:graphicFrameLocks noGrp="1" noChangeAspect="1"/>
          </p:cNvGraphicFramePr>
          <p:nvPr>
            <p:ph sz="quarter" idx="4294967295"/>
          </p:nvPr>
        </p:nvGraphicFramePr>
        <p:xfrm>
          <a:off x="1828800" y="3962400"/>
          <a:ext cx="4572000" cy="685800"/>
        </p:xfrm>
        <a:graphic>
          <a:graphicData uri="http://schemas.openxmlformats.org/presentationml/2006/ole">
            <p:oleObj spid="_x0000_s55297" name="CS ChemDraw Drawing" r:id="rId4" imgW="14563725" imgH="2628900" progId="">
              <p:embed/>
            </p:oleObj>
          </a:graphicData>
        </a:graphic>
      </p:graphicFrame>
      <p:sp>
        <p:nvSpPr>
          <p:cNvPr id="6148" name="矩形 19"/>
          <p:cNvSpPr>
            <a:spLocks noChangeArrowheads="1"/>
          </p:cNvSpPr>
          <p:nvPr/>
        </p:nvSpPr>
        <p:spPr bwMode="auto">
          <a:xfrm>
            <a:off x="152400" y="2590800"/>
            <a:ext cx="8458200" cy="1216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zh-CN" altLang="en-US" sz="2600" b="1" i="1" smtClean="0">
                <a:solidFill>
                  <a:srgbClr val="0000FF"/>
                </a:solidFill>
                <a:latin typeface="楷体_GB2312" pitchFamily="49" charset="-122"/>
                <a:ea typeface="楷体_GB2312" pitchFamily="49" charset="-122"/>
              </a:rPr>
              <a:t>非体积功</a:t>
            </a:r>
            <a:r>
              <a:rPr kumimoji="1" lang="zh-CN" altLang="en-US" sz="2600" b="1" smtClean="0">
                <a:solidFill>
                  <a:srgbClr val="000000"/>
                </a:solidFill>
                <a:latin typeface="楷体_GB2312" pitchFamily="49" charset="-122"/>
                <a:ea typeface="楷体_GB2312" pitchFamily="49" charset="-122"/>
              </a:rPr>
              <a:t>：如原电池的电功，理想状态下是可逆电池，</a:t>
            </a:r>
            <a:endParaRPr kumimoji="1" lang="en-US" altLang="zh-CN" sz="2600" b="1" smtClean="0">
              <a:solidFill>
                <a:srgbClr val="000000"/>
              </a:solidFill>
              <a:latin typeface="楷体_GB2312" pitchFamily="49" charset="-122"/>
              <a:ea typeface="楷体_GB2312" pitchFamily="49" charset="-122"/>
            </a:endParaRPr>
          </a:p>
          <a:p>
            <a:pPr eaLnBrk="0" fontAlgn="base" hangingPunct="0">
              <a:lnSpc>
                <a:spcPts val="3600"/>
              </a:lnSpc>
              <a:spcBef>
                <a:spcPct val="50000"/>
              </a:spcBef>
              <a:spcAft>
                <a:spcPct val="0"/>
              </a:spcAft>
            </a:pPr>
            <a:r>
              <a:rPr kumimoji="1" lang="en-US" altLang="zh-CN" sz="2600" b="1" smtClean="0">
                <a:solidFill>
                  <a:srgbClr val="000000"/>
                </a:solidFill>
                <a:latin typeface="楷体_GB2312" pitchFamily="49" charset="-122"/>
                <a:ea typeface="楷体_GB2312" pitchFamily="49" charset="-122"/>
              </a:rPr>
              <a:t>         </a:t>
            </a:r>
            <a:r>
              <a:rPr kumimoji="1" lang="zh-CN" altLang="en-US" sz="2600" b="1" smtClean="0">
                <a:solidFill>
                  <a:srgbClr val="000000"/>
                </a:solidFill>
                <a:latin typeface="楷体_GB2312" pitchFamily="49" charset="-122"/>
                <a:ea typeface="楷体_GB2312" pitchFamily="49" charset="-122"/>
              </a:rPr>
              <a:t> 第七章要学习这内容</a:t>
            </a:r>
          </a:p>
        </p:txBody>
      </p:sp>
      <p:grpSp>
        <p:nvGrpSpPr>
          <p:cNvPr id="6149" name="组合 13"/>
          <p:cNvGrpSpPr/>
          <p:nvPr/>
        </p:nvGrpSpPr>
        <p:grpSpPr bwMode="auto">
          <a:xfrm>
            <a:off x="457200" y="228600"/>
            <a:ext cx="4114800" cy="2012950"/>
            <a:chOff x="457200" y="228600"/>
            <a:chExt cx="4114800" cy="2012621"/>
          </a:xfrm>
        </p:grpSpPr>
        <p:sp>
          <p:nvSpPr>
            <p:cNvPr id="6150" name="矩形 9"/>
            <p:cNvSpPr>
              <a:spLocks noChangeArrowheads="1"/>
            </p:cNvSpPr>
            <p:nvPr/>
          </p:nvSpPr>
          <p:spPr bwMode="auto">
            <a:xfrm>
              <a:off x="457200" y="228600"/>
              <a:ext cx="3733800" cy="4124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ct val="80000"/>
                </a:lnSpc>
                <a:spcBef>
                  <a:spcPct val="50000"/>
                </a:spcBef>
                <a:spcAft>
                  <a:spcPct val="0"/>
                </a:spcAft>
              </a:pPr>
              <a:r>
                <a:rPr kumimoji="1" lang="zh-CN" altLang="en-US" sz="2600" b="1" smtClean="0">
                  <a:solidFill>
                    <a:srgbClr val="000000"/>
                  </a:solidFill>
                  <a:latin typeface="楷体_GB2312" pitchFamily="49" charset="-122"/>
                  <a:ea typeface="楷体_GB2312" pitchFamily="49" charset="-122"/>
                </a:rPr>
                <a:t>膨胀功可以分为三种：</a:t>
              </a:r>
            </a:p>
          </p:txBody>
        </p:sp>
        <p:sp>
          <p:nvSpPr>
            <p:cNvPr id="6151" name="矩形 10"/>
            <p:cNvSpPr>
              <a:spLocks noChangeArrowheads="1"/>
            </p:cNvSpPr>
            <p:nvPr/>
          </p:nvSpPr>
          <p:spPr bwMode="auto">
            <a:xfrm>
              <a:off x="533400" y="762000"/>
              <a:ext cx="4038600" cy="4124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ct val="80000"/>
                </a:lnSpc>
                <a:spcBef>
                  <a:spcPct val="50000"/>
                </a:spcBef>
                <a:spcAft>
                  <a:spcPct val="0"/>
                </a:spcAft>
              </a:pPr>
              <a:r>
                <a:rPr kumimoji="1" lang="en-US" altLang="zh-CN" sz="2600" b="1" smtClean="0">
                  <a:solidFill>
                    <a:srgbClr val="000000"/>
                  </a:solidFill>
                  <a:latin typeface="楷体_GB2312" pitchFamily="49" charset="-122"/>
                  <a:ea typeface="楷体_GB2312" pitchFamily="49" charset="-122"/>
                </a:rPr>
                <a:t>(1)</a:t>
              </a:r>
              <a:r>
                <a:rPr kumimoji="1" lang="zh-CN" altLang="en-US" sz="2600" b="1" smtClean="0">
                  <a:solidFill>
                    <a:srgbClr val="000000"/>
                  </a:solidFill>
                  <a:latin typeface="楷体_GB2312" pitchFamily="49" charset="-122"/>
                  <a:ea typeface="楷体_GB2312" pitchFamily="49" charset="-122"/>
                </a:rPr>
                <a:t>等压膨胀功：上式</a:t>
              </a:r>
            </a:p>
          </p:txBody>
        </p:sp>
        <p:sp>
          <p:nvSpPr>
            <p:cNvPr id="6152" name="矩形 11"/>
            <p:cNvSpPr>
              <a:spLocks noChangeArrowheads="1"/>
            </p:cNvSpPr>
            <p:nvPr/>
          </p:nvSpPr>
          <p:spPr bwMode="auto">
            <a:xfrm>
              <a:off x="533400" y="1295400"/>
              <a:ext cx="3352800" cy="4124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ct val="80000"/>
                </a:lnSpc>
                <a:spcBef>
                  <a:spcPct val="50000"/>
                </a:spcBef>
                <a:spcAft>
                  <a:spcPct val="0"/>
                </a:spcAft>
              </a:pPr>
              <a:r>
                <a:rPr kumimoji="1" lang="en-US" altLang="zh-CN" sz="2600" b="1" smtClean="0">
                  <a:solidFill>
                    <a:srgbClr val="000000"/>
                  </a:solidFill>
                  <a:latin typeface="楷体_GB2312" pitchFamily="49" charset="-122"/>
                  <a:ea typeface="楷体_GB2312" pitchFamily="49" charset="-122"/>
                </a:rPr>
                <a:t>(2)</a:t>
              </a:r>
              <a:r>
                <a:rPr kumimoji="1" lang="zh-CN" altLang="en-US" sz="2600" b="1" smtClean="0">
                  <a:solidFill>
                    <a:srgbClr val="000000"/>
                  </a:solidFill>
                  <a:latin typeface="楷体_GB2312" pitchFamily="49" charset="-122"/>
                  <a:ea typeface="楷体_GB2312" pitchFamily="49" charset="-122"/>
                </a:rPr>
                <a:t>多次等压膨胀功：</a:t>
              </a:r>
            </a:p>
          </p:txBody>
        </p:sp>
        <p:sp>
          <p:nvSpPr>
            <p:cNvPr id="6153" name="矩形 12"/>
            <p:cNvSpPr>
              <a:spLocks noChangeArrowheads="1"/>
            </p:cNvSpPr>
            <p:nvPr/>
          </p:nvSpPr>
          <p:spPr bwMode="auto">
            <a:xfrm>
              <a:off x="533400" y="1828800"/>
              <a:ext cx="2895600" cy="4124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ct val="80000"/>
                </a:lnSpc>
                <a:spcBef>
                  <a:spcPct val="50000"/>
                </a:spcBef>
                <a:spcAft>
                  <a:spcPct val="0"/>
                </a:spcAft>
              </a:pPr>
              <a:r>
                <a:rPr kumimoji="1" lang="en-US" altLang="zh-CN" sz="2600" b="1" smtClean="0">
                  <a:solidFill>
                    <a:srgbClr val="000000"/>
                  </a:solidFill>
                  <a:latin typeface="楷体_GB2312" pitchFamily="49" charset="-122"/>
                  <a:ea typeface="楷体_GB2312" pitchFamily="49" charset="-122"/>
                </a:rPr>
                <a:t>(3)</a:t>
              </a:r>
              <a:r>
                <a:rPr kumimoji="1" lang="zh-CN" altLang="en-US" sz="2600" b="1" smtClean="0">
                  <a:solidFill>
                    <a:srgbClr val="000000"/>
                  </a:solidFill>
                  <a:latin typeface="楷体_GB2312" pitchFamily="49" charset="-122"/>
                  <a:ea typeface="楷体_GB2312" pitchFamily="49" charset="-122"/>
                </a:rPr>
                <a:t>可逆膨胀功：</a:t>
              </a:r>
            </a:p>
          </p:txBody>
        </p:sp>
      </p:gr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15"/>
          <p:cNvGraphicFramePr>
            <a:graphicFrameLocks noGrp="1" noChangeAspect="1"/>
          </p:cNvGraphicFramePr>
          <p:nvPr>
            <p:ph sz="quarter" idx="1"/>
          </p:nvPr>
        </p:nvGraphicFramePr>
        <p:xfrm>
          <a:off x="4495800" y="304800"/>
          <a:ext cx="3810000" cy="2971800"/>
        </p:xfrm>
        <a:graphic>
          <a:graphicData uri="http://schemas.openxmlformats.org/presentationml/2006/ole">
            <p:oleObj spid="_x0000_s63491" name="CS ChemDraw Drawing" r:id="rId3" imgW="26117550" imgH="18468975" progId="">
              <p:embed/>
            </p:oleObj>
          </a:graphicData>
        </a:graphic>
      </p:graphicFrame>
      <p:graphicFrame>
        <p:nvGraphicFramePr>
          <p:cNvPr id="6" name="Object 8"/>
          <p:cNvGraphicFramePr>
            <a:graphicFrameLocks noGrp="1" noChangeAspect="1"/>
          </p:cNvGraphicFramePr>
          <p:nvPr>
            <p:ph sz="quarter" idx="2"/>
          </p:nvPr>
        </p:nvGraphicFramePr>
        <p:xfrm>
          <a:off x="1066800" y="4038600"/>
          <a:ext cx="2667000" cy="1676400"/>
        </p:xfrm>
        <a:graphic>
          <a:graphicData uri="http://schemas.openxmlformats.org/presentationml/2006/ole">
            <p:oleObj spid="_x0000_s63490" name="CS ChemDraw Drawing" r:id="rId4" imgW="11601450" imgH="8486775" progId="">
              <p:embed/>
            </p:oleObj>
          </a:graphicData>
        </a:graphic>
      </p:graphicFrame>
      <p:graphicFrame>
        <p:nvGraphicFramePr>
          <p:cNvPr id="7" name="Object 11"/>
          <p:cNvGraphicFramePr>
            <a:graphicFrameLocks noGrp="1" noChangeAspect="1"/>
          </p:cNvGraphicFramePr>
          <p:nvPr/>
        </p:nvGraphicFramePr>
        <p:xfrm>
          <a:off x="5181600" y="4495800"/>
          <a:ext cx="2979738" cy="787400"/>
        </p:xfrm>
        <a:graphic>
          <a:graphicData uri="http://schemas.openxmlformats.org/presentationml/2006/ole">
            <p:oleObj spid="_x0000_s63489" name="CS ChemDraw Drawing" r:id="rId5" imgW="18630900" imgH="4924425" progId="">
              <p:embed/>
            </p:oleObj>
          </a:graphicData>
        </a:graphic>
      </p:graphicFrame>
      <p:grpSp>
        <p:nvGrpSpPr>
          <p:cNvPr id="7173" name="组合 8"/>
          <p:cNvGrpSpPr/>
          <p:nvPr/>
        </p:nvGrpSpPr>
        <p:grpSpPr bwMode="auto">
          <a:xfrm>
            <a:off x="228600" y="381000"/>
            <a:ext cx="4419600" cy="3232150"/>
            <a:chOff x="228600" y="381000"/>
            <a:chExt cx="4419600" cy="3232150"/>
          </a:xfrm>
        </p:grpSpPr>
        <p:pic>
          <p:nvPicPr>
            <p:cNvPr id="7175" name="Picture 5"/>
            <p:cNvPicPr>
              <a:picLocks noChangeAspect="1" noChangeArrowheads="1"/>
            </p:cNvPicPr>
            <p:nvPr/>
          </p:nvPicPr>
          <p:blipFill>
            <a:blip r:embed="rId6">
              <a:extLst>
                <a:ext uri="{28A0092B-C50C-407E-A947-70E740481C1C}">
                  <a14:useLocalDpi xmlns:a14="http://schemas.microsoft.com/office/drawing/2010/main" xmlns="" val="0"/>
                </a:ext>
              </a:extLst>
            </a:blip>
            <a:srcRect/>
            <a:stretch>
              <a:fillRect/>
            </a:stretch>
          </p:blipFill>
          <p:spPr bwMode="auto">
            <a:xfrm>
              <a:off x="228600" y="381000"/>
              <a:ext cx="4419600" cy="2743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Rectangle 26"/>
            <p:cNvSpPr>
              <a:spLocks noChangeArrowheads="1"/>
            </p:cNvSpPr>
            <p:nvPr/>
          </p:nvSpPr>
          <p:spPr bwMode="auto">
            <a:xfrm>
              <a:off x="1371600" y="3200400"/>
              <a:ext cx="2530475" cy="412750"/>
            </a:xfrm>
            <a:prstGeom prst="rect">
              <a:avLst/>
            </a:prstGeom>
            <a:solidFill>
              <a:schemeClr val="bg1"/>
            </a:solidFill>
            <a:ln w="9525" algn="ctr">
              <a:noFill/>
              <a:miter lim="800000"/>
            </a:ln>
            <a:effectLst>
              <a:outerShdw sy="50000" kx="2453608" rotWithShape="0">
                <a:srgbClr val="808080">
                  <a:alpha val="50000"/>
                </a:srgbClr>
              </a:outerShdw>
            </a:effectLst>
          </p:spPr>
          <p:txBody>
            <a:bodyPr wrap="none" lIns="92075" tIns="46038" rIns="92075" bIns="46038">
              <a:spAutoFit/>
            </a:bodyPr>
            <a:lstStyle/>
            <a:p>
              <a:pPr eaLnBrk="0" fontAlgn="base" hangingPunct="0">
                <a:lnSpc>
                  <a:spcPct val="80000"/>
                </a:lnSpc>
                <a:spcBef>
                  <a:spcPct val="50000"/>
                </a:spcBef>
                <a:spcAft>
                  <a:spcPct val="0"/>
                </a:spcAft>
                <a:defRPr/>
              </a:pPr>
              <a:r>
                <a:rPr kumimoji="1" lang="zh-CN" altLang="en-US" sz="2600" b="1" dirty="0">
                  <a:solidFill>
                    <a:srgbClr val="000000"/>
                  </a:solidFill>
                  <a:latin typeface="楷体_GB2312" pitchFamily="49" charset="-122"/>
                  <a:ea typeface="楷体_GB2312" pitchFamily="49" charset="-122"/>
                </a:rPr>
                <a:t>多次等压膨胀功</a:t>
              </a:r>
            </a:p>
          </p:txBody>
        </p:sp>
      </p:grpSp>
      <p:sp>
        <p:nvSpPr>
          <p:cNvPr id="7174" name="矩形 11"/>
          <p:cNvSpPr>
            <a:spLocks noChangeArrowheads="1"/>
          </p:cNvSpPr>
          <p:nvPr/>
        </p:nvSpPr>
        <p:spPr bwMode="auto">
          <a:xfrm>
            <a:off x="5562600" y="3429000"/>
            <a:ext cx="1860550" cy="412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0" fontAlgn="base" hangingPunct="0">
              <a:lnSpc>
                <a:spcPct val="80000"/>
              </a:lnSpc>
              <a:spcBef>
                <a:spcPct val="50000"/>
              </a:spcBef>
              <a:spcAft>
                <a:spcPct val="0"/>
              </a:spcAft>
            </a:pPr>
            <a:r>
              <a:rPr kumimoji="1" lang="zh-CN" altLang="en-US" sz="2600" b="1" smtClean="0">
                <a:solidFill>
                  <a:srgbClr val="000000"/>
                </a:solidFill>
                <a:latin typeface="楷体_GB2312" pitchFamily="49" charset="-122"/>
                <a:ea typeface="楷体_GB2312" pitchFamily="49" charset="-122"/>
              </a:rPr>
              <a:t>可逆膨胀功</a:t>
            </a:r>
            <a:endParaRPr kumimoji="1" lang="zh-CN" altLang="en-US" sz="3000" b="1" smtClean="0">
              <a:solidFill>
                <a:srgbClr val="0000FF"/>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矩形 9"/>
          <p:cNvSpPr/>
          <p:nvPr/>
        </p:nvSpPr>
        <p:spPr>
          <a:xfrm>
            <a:off x="304800" y="152400"/>
            <a:ext cx="8077200" cy="852488"/>
          </a:xfrm>
          <a:prstGeom prst="rect">
            <a:avLst/>
          </a:prstGeom>
          <a:solidFill>
            <a:schemeClr val="bg2">
              <a:lumMod val="40000"/>
              <a:lumOff val="60000"/>
            </a:schemeClr>
          </a:solidFill>
        </p:spPr>
        <p:txBody>
          <a:bodyPr>
            <a:spAutoFit/>
          </a:bodyPr>
          <a:lstStyle/>
          <a:p>
            <a:pPr marL="342900" indent="-342900" eaLnBrk="0" fontAlgn="base" hangingPunct="0">
              <a:lnSpc>
                <a:spcPct val="80000"/>
              </a:lnSpc>
              <a:spcBef>
                <a:spcPct val="50000"/>
              </a:spcBef>
              <a:spcAft>
                <a:spcPct val="0"/>
              </a:spcAft>
              <a:defRPr/>
            </a:pPr>
            <a:r>
              <a:rPr kumimoji="1" lang="en-US" altLang="zh-CN" sz="2600" b="1" dirty="0">
                <a:solidFill>
                  <a:srgbClr val="CC3300"/>
                </a:solidFill>
                <a:latin typeface="Times New Roman" panose="02020603050405020304" pitchFamily="18" charset="0"/>
                <a:ea typeface="楷体_GB2312" pitchFamily="49" charset="-122"/>
              </a:rPr>
              <a:t>2</a:t>
            </a:r>
            <a:r>
              <a:rPr kumimoji="1" lang="zh-CN" altLang="en-US" sz="2600" b="1" dirty="0">
                <a:solidFill>
                  <a:srgbClr val="CC3300"/>
                </a:solidFill>
                <a:latin typeface="Times New Roman" panose="02020603050405020304" pitchFamily="18" charset="0"/>
                <a:ea typeface="楷体_GB2312" pitchFamily="49" charset="-122"/>
              </a:rPr>
              <a:t>、热力学能</a:t>
            </a:r>
            <a:r>
              <a:rPr kumimoji="1" lang="zh-CN" altLang="en-US" sz="2200" b="1" dirty="0">
                <a:solidFill>
                  <a:srgbClr val="CC3300"/>
                </a:solidFill>
                <a:latin typeface="Times New Roman" panose="02020603050405020304" pitchFamily="18" charset="0"/>
                <a:ea typeface="楷体_GB2312" pitchFamily="49" charset="-122"/>
              </a:rPr>
              <a:t>（</a:t>
            </a:r>
            <a:r>
              <a:rPr lang="en-US" altLang="zh-CN" sz="2200" b="1" i="1" dirty="0">
                <a:solidFill>
                  <a:srgbClr val="CC3300"/>
                </a:solidFill>
                <a:latin typeface="Times New Roman" panose="02020603050405020304" pitchFamily="18" charset="0"/>
                <a:ea typeface="楷体_GB2312" pitchFamily="49" charset="-122"/>
              </a:rPr>
              <a:t>thermodynamic energy</a:t>
            </a:r>
            <a:r>
              <a:rPr lang="zh-CN" altLang="en-US" sz="2200" b="1" i="1" dirty="0">
                <a:solidFill>
                  <a:srgbClr val="CC3300"/>
                </a:solidFill>
                <a:latin typeface="Times New Roman" panose="02020603050405020304" pitchFamily="18" charset="0"/>
                <a:ea typeface="楷体_GB2312" pitchFamily="49" charset="-122"/>
              </a:rPr>
              <a:t>）</a:t>
            </a:r>
            <a:endParaRPr lang="en-US" altLang="zh-CN" sz="2200" b="1" i="1" dirty="0">
              <a:solidFill>
                <a:srgbClr val="CC3300"/>
              </a:solidFill>
              <a:latin typeface="Times New Roman" panose="02020603050405020304" pitchFamily="18" charset="0"/>
              <a:ea typeface="楷体_GB2312" pitchFamily="49" charset="-122"/>
            </a:endParaRPr>
          </a:p>
          <a:p>
            <a:pPr marL="342900" indent="-342900" eaLnBrk="0" fontAlgn="base" hangingPunct="0">
              <a:lnSpc>
                <a:spcPct val="80000"/>
              </a:lnSpc>
              <a:spcBef>
                <a:spcPct val="50000"/>
              </a:spcBef>
              <a:spcAft>
                <a:spcPct val="0"/>
              </a:spcAft>
              <a:defRPr/>
            </a:pPr>
            <a:r>
              <a:rPr lang="en-US" altLang="zh-CN" sz="2200" b="1" i="1" dirty="0">
                <a:solidFill>
                  <a:srgbClr val="CC3300"/>
                </a:solidFill>
                <a:latin typeface="Times New Roman" panose="02020603050405020304" pitchFamily="18" charset="0"/>
                <a:ea typeface="楷体_GB2312" pitchFamily="49" charset="-122"/>
              </a:rPr>
              <a:t>                                                                ——</a:t>
            </a:r>
            <a:r>
              <a:rPr kumimoji="1" lang="en-US" altLang="zh-CN" sz="2200" b="1" dirty="0">
                <a:solidFill>
                  <a:srgbClr val="CC3300"/>
                </a:solidFill>
                <a:latin typeface="Times New Roman" panose="02020603050405020304" pitchFamily="18" charset="0"/>
                <a:ea typeface="楷体_GB2312" pitchFamily="49" charset="-122"/>
              </a:rPr>
              <a:t>(</a:t>
            </a:r>
            <a:r>
              <a:rPr kumimoji="1" lang="zh-CN" altLang="en-US" sz="2200" b="1" dirty="0">
                <a:solidFill>
                  <a:srgbClr val="CC3300"/>
                </a:solidFill>
                <a:latin typeface="Times New Roman" panose="02020603050405020304" pitchFamily="18" charset="0"/>
                <a:ea typeface="楷体_GB2312" pitchFamily="49" charset="-122"/>
              </a:rPr>
              <a:t>内能</a:t>
            </a:r>
            <a:r>
              <a:rPr lang="en-US" altLang="zh-CN" sz="2200" b="1" dirty="0">
                <a:solidFill>
                  <a:srgbClr val="CC3300"/>
                </a:solidFill>
                <a:latin typeface="Times New Roman" panose="02020603050405020304" pitchFamily="18" charset="0"/>
                <a:ea typeface="楷体_GB2312" pitchFamily="49" charset="-122"/>
              </a:rPr>
              <a:t>Internal energy</a:t>
            </a:r>
            <a:r>
              <a:rPr kumimoji="1" lang="en-GB" altLang="zh-CN" sz="2200" b="1" dirty="0">
                <a:solidFill>
                  <a:srgbClr val="CC3300"/>
                </a:solidFill>
                <a:latin typeface="Times New Roman" panose="02020603050405020304" pitchFamily="18" charset="0"/>
                <a:ea typeface="楷体_GB2312" pitchFamily="49" charset="-122"/>
              </a:rPr>
              <a:t>)</a:t>
            </a:r>
            <a:endParaRPr kumimoji="1" lang="zh-CN" altLang="en-US" sz="2200" b="1" dirty="0">
              <a:solidFill>
                <a:srgbClr val="0000FF"/>
              </a:solidFill>
              <a:latin typeface="Times New Roman" panose="02020603050405020304" pitchFamily="18" charset="0"/>
              <a:ea typeface="楷体_GB2312" pitchFamily="49" charset="-122"/>
            </a:endParaRPr>
          </a:p>
        </p:txBody>
      </p:sp>
      <p:grpSp>
        <p:nvGrpSpPr>
          <p:cNvPr id="2" name="组合 7"/>
          <p:cNvGrpSpPr/>
          <p:nvPr/>
        </p:nvGrpSpPr>
        <p:grpSpPr bwMode="auto">
          <a:xfrm>
            <a:off x="533400" y="1447800"/>
            <a:ext cx="8153400" cy="3713163"/>
            <a:chOff x="152400" y="685800"/>
            <a:chExt cx="8610600" cy="3713104"/>
          </a:xfrm>
        </p:grpSpPr>
        <p:sp>
          <p:nvSpPr>
            <p:cNvPr id="54276" name="Text Box 5"/>
            <p:cNvSpPr txBox="1">
              <a:spLocks noChangeArrowheads="1"/>
            </p:cNvSpPr>
            <p:nvPr/>
          </p:nvSpPr>
          <p:spPr bwMode="auto">
            <a:xfrm>
              <a:off x="304800" y="685800"/>
              <a:ext cx="5486400" cy="55403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marL="342900" indent="-342900">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eaLnBrk="0" fontAlgn="base" hangingPunct="0">
                <a:lnSpc>
                  <a:spcPts val="3600"/>
                </a:lnSpc>
                <a:spcBef>
                  <a:spcPct val="50000"/>
                </a:spcBef>
                <a:spcAft>
                  <a:spcPct val="0"/>
                </a:spcAft>
              </a:pPr>
              <a:r>
                <a:rPr kumimoji="0" lang="zh-CN" altLang="en-US" sz="2600" i="1" smtClean="0">
                  <a:solidFill>
                    <a:srgbClr val="C00000"/>
                  </a:solidFill>
                </a:rPr>
                <a:t>热</a:t>
              </a:r>
              <a:r>
                <a:rPr lang="zh-CN" altLang="en-US" sz="2600" i="1" smtClean="0">
                  <a:solidFill>
                    <a:srgbClr val="C00000"/>
                  </a:solidFill>
                </a:rPr>
                <a:t>力学能</a:t>
              </a:r>
              <a:r>
                <a:rPr lang="en-US" altLang="zh-CN" sz="2600" i="1" smtClean="0">
                  <a:solidFill>
                    <a:srgbClr val="C00000"/>
                  </a:solidFill>
                </a:rPr>
                <a:t>(U): </a:t>
              </a:r>
              <a:r>
                <a:rPr lang="zh-CN" altLang="en-US" sz="2600" smtClean="0">
                  <a:solidFill>
                    <a:srgbClr val="000000"/>
                  </a:solidFill>
                </a:rPr>
                <a:t>系统内部能量的总和</a:t>
              </a:r>
            </a:p>
          </p:txBody>
        </p:sp>
        <p:sp>
          <p:nvSpPr>
            <p:cNvPr id="54277" name="矩形 10"/>
            <p:cNvSpPr>
              <a:spLocks noChangeArrowheads="1"/>
            </p:cNvSpPr>
            <p:nvPr/>
          </p:nvSpPr>
          <p:spPr bwMode="auto">
            <a:xfrm>
              <a:off x="228600" y="1295400"/>
              <a:ext cx="8534400" cy="14366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lang="en-US" altLang="zh-CN" sz="2600" b="1" i="1" smtClean="0">
                  <a:solidFill>
                    <a:srgbClr val="C00000"/>
                  </a:solidFill>
                  <a:latin typeface="Times New Roman" panose="02020603050405020304" pitchFamily="18" charset="0"/>
                  <a:ea typeface="楷体_GB2312" pitchFamily="49" charset="-122"/>
                </a:rPr>
                <a:t>        </a:t>
              </a:r>
              <a:r>
                <a:rPr lang="en-US" altLang="zh-CN" sz="2600" b="1" i="1" smtClean="0">
                  <a:solidFill>
                    <a:srgbClr val="0000FF"/>
                  </a:solidFill>
                  <a:latin typeface="Times New Roman" panose="02020603050405020304" pitchFamily="18" charset="0"/>
                  <a:ea typeface="楷体_GB2312" pitchFamily="49" charset="-122"/>
                </a:rPr>
                <a:t>(1)</a:t>
              </a:r>
              <a:r>
                <a:rPr lang="en-US" altLang="zh-CN" sz="2600" b="1" i="1" smtClean="0">
                  <a:solidFill>
                    <a:srgbClr val="C00000"/>
                  </a:solidFill>
                  <a:latin typeface="Times New Roman" panose="02020603050405020304" pitchFamily="18" charset="0"/>
                  <a:ea typeface="楷体_GB2312" pitchFamily="49" charset="-122"/>
                </a:rPr>
                <a:t> </a:t>
              </a:r>
              <a:r>
                <a:rPr lang="zh-CN" altLang="en-US" sz="2600" b="1" smtClean="0">
                  <a:solidFill>
                    <a:srgbClr val="000000"/>
                  </a:solidFill>
                  <a:latin typeface="Times New Roman" panose="02020603050405020304" pitchFamily="18" charset="0"/>
                  <a:ea typeface="楷体_GB2312" pitchFamily="49" charset="-122"/>
                </a:rPr>
                <a:t>包</a:t>
              </a:r>
              <a:r>
                <a:rPr kumimoji="1" lang="zh-CN" altLang="en-US" sz="2600" b="1" smtClean="0">
                  <a:solidFill>
                    <a:srgbClr val="000000"/>
                  </a:solidFill>
                  <a:latin typeface="Times New Roman" panose="02020603050405020304" pitchFamily="18" charset="0"/>
                  <a:ea typeface="楷体_GB2312" pitchFamily="49" charset="-122"/>
                </a:rPr>
                <a:t>括系统内分子的内动能、分子间相互作用能、分子内部能量，但不包括系统整体运动的动能和在外力场中的位能；</a:t>
              </a: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4278" name="矩形 11"/>
            <p:cNvSpPr>
              <a:spLocks noChangeArrowheads="1"/>
            </p:cNvSpPr>
            <p:nvPr/>
          </p:nvSpPr>
          <p:spPr bwMode="auto">
            <a:xfrm>
              <a:off x="152400" y="2743200"/>
              <a:ext cx="8504238" cy="9743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en-US" altLang="zh-CN" sz="2600" b="1" i="1" smtClean="0">
                  <a:solidFill>
                    <a:srgbClr val="0000FF"/>
                  </a:solidFill>
                  <a:latin typeface="Times New Roman" panose="02020603050405020304" pitchFamily="18" charset="0"/>
                  <a:ea typeface="楷体_GB2312" pitchFamily="49" charset="-122"/>
                </a:rPr>
                <a:t>         (2)</a:t>
              </a:r>
              <a:r>
                <a:rPr kumimoji="1" lang="en-US" altLang="zh-CN" sz="2600" b="1" i="1" smtClean="0">
                  <a:solidFill>
                    <a:srgbClr val="C00000"/>
                  </a:solidFill>
                  <a:latin typeface="Times New Roman" panose="02020603050405020304" pitchFamily="18" charset="0"/>
                  <a:ea typeface="楷体_GB2312" pitchFamily="49" charset="-122"/>
                </a:rPr>
                <a:t> </a:t>
              </a:r>
              <a:r>
                <a:rPr kumimoji="1" lang="zh-CN" altLang="en-US" sz="2600" b="1" smtClean="0">
                  <a:solidFill>
                    <a:srgbClr val="000000"/>
                  </a:solidFill>
                  <a:latin typeface="Times New Roman" panose="02020603050405020304" pitchFamily="18" charset="0"/>
                  <a:ea typeface="楷体_GB2312" pitchFamily="49" charset="-122"/>
                </a:rPr>
                <a:t>由于系统内部质点的运动及相互作用很复杂，所以系统热力学能的绝对值无法测知；</a:t>
              </a: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4279" name="矩形 12"/>
            <p:cNvSpPr>
              <a:spLocks noChangeArrowheads="1"/>
            </p:cNvSpPr>
            <p:nvPr/>
          </p:nvSpPr>
          <p:spPr bwMode="auto">
            <a:xfrm>
              <a:off x="990600" y="3886200"/>
              <a:ext cx="4953000" cy="51270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en-US" altLang="zh-CN" sz="2600" b="1" i="1" smtClean="0">
                  <a:solidFill>
                    <a:srgbClr val="0000FF"/>
                  </a:solidFill>
                  <a:latin typeface="Times New Roman" panose="02020603050405020304" pitchFamily="18" charset="0"/>
                  <a:ea typeface="楷体_GB2312" pitchFamily="49" charset="-122"/>
                </a:rPr>
                <a:t>(3)</a:t>
              </a:r>
              <a:r>
                <a:rPr kumimoji="1" lang="en-US" altLang="zh-CN" sz="2600" b="1" smtClean="0">
                  <a:solidFill>
                    <a:srgbClr val="0000FF"/>
                  </a:solidFill>
                  <a:latin typeface="Times New Roman" panose="02020603050405020304" pitchFamily="18" charset="0"/>
                  <a:ea typeface="楷体_GB2312" pitchFamily="49" charset="-122"/>
                </a:rPr>
                <a:t> </a:t>
              </a:r>
              <a:r>
                <a:rPr kumimoji="1" lang="zh-CN" altLang="en-US" sz="2600" b="1" smtClean="0">
                  <a:solidFill>
                    <a:srgbClr val="000000"/>
                  </a:solidFill>
                  <a:latin typeface="Times New Roman" panose="02020603050405020304" pitchFamily="18" charset="0"/>
                  <a:ea typeface="楷体_GB2312" pitchFamily="49" charset="-122"/>
                </a:rPr>
                <a:t>能量单位</a:t>
              </a:r>
              <a:r>
                <a:rPr kumimoji="1" lang="en-US" altLang="zh-CN" sz="2600" b="1" smtClean="0">
                  <a:solidFill>
                    <a:srgbClr val="000000"/>
                  </a:solidFill>
                  <a:latin typeface="Times New Roman" panose="02020603050405020304" pitchFamily="18" charset="0"/>
                  <a:ea typeface="楷体_GB2312" pitchFamily="49" charset="-122"/>
                </a:rPr>
                <a:t>——</a:t>
              </a:r>
              <a:r>
                <a:rPr kumimoji="1" lang="en-US" altLang="en-US" sz="2600" b="1" smtClean="0">
                  <a:solidFill>
                    <a:srgbClr val="000000"/>
                  </a:solidFill>
                  <a:latin typeface="Times New Roman" panose="02020603050405020304" pitchFamily="18" charset="0"/>
                  <a:ea typeface="楷体_GB2312" pitchFamily="49" charset="-122"/>
                </a:rPr>
                <a:t>J</a:t>
              </a:r>
              <a:r>
                <a:rPr kumimoji="1" lang="zh-CN" altLang="en-US" sz="2600" b="1" smtClean="0">
                  <a:solidFill>
                    <a:srgbClr val="000000"/>
                  </a:solidFill>
                  <a:latin typeface="Times New Roman" panose="02020603050405020304" pitchFamily="18" charset="0"/>
                  <a:ea typeface="楷体_GB2312" pitchFamily="49" charset="-122"/>
                </a:rPr>
                <a:t> </a:t>
              </a:r>
              <a:r>
                <a:rPr kumimoji="1" lang="en-US" altLang="zh-CN" sz="2600" b="1" smtClean="0">
                  <a:solidFill>
                    <a:srgbClr val="000000"/>
                  </a:solidFill>
                  <a:latin typeface="Times New Roman" panose="02020603050405020304" pitchFamily="18" charset="0"/>
                  <a:ea typeface="楷体_GB2312" pitchFamily="49" charset="-122"/>
                </a:rPr>
                <a:t>or </a:t>
              </a:r>
              <a:r>
                <a:rPr kumimoji="1" lang="en-US" altLang="en-US" sz="2600" b="1" smtClean="0">
                  <a:solidFill>
                    <a:srgbClr val="000000"/>
                  </a:solidFill>
                  <a:latin typeface="Times New Roman" panose="02020603050405020304" pitchFamily="18" charset="0"/>
                  <a:ea typeface="楷体_GB2312" pitchFamily="49" charset="-122"/>
                </a:rPr>
                <a:t>kJ</a:t>
              </a:r>
              <a:endParaRPr kumimoji="1" lang="en-US" altLang="zh-CN" sz="2600" b="1" smtClean="0">
                <a:solidFill>
                  <a:srgbClr val="000000"/>
                </a:solidFill>
                <a:latin typeface="Times New Roman" panose="02020603050405020304" pitchFamily="18" charset="0"/>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2"/>
          <p:cNvSpPr txBox="1">
            <a:spLocks noChangeArrowheads="1"/>
          </p:cNvSpPr>
          <p:nvPr/>
        </p:nvSpPr>
        <p:spPr bwMode="auto">
          <a:xfrm>
            <a:off x="457200" y="1371600"/>
            <a:ext cx="8001000" cy="1430338"/>
          </a:xfrm>
          <a:prstGeom prst="rect">
            <a:avLst/>
          </a:prstGeom>
          <a:solidFill>
            <a:schemeClr val="bg1"/>
          </a:solidFill>
          <a:ln w="9525">
            <a:noFill/>
            <a:miter lim="800000"/>
          </a:ln>
          <a:effectLst/>
        </p:spPr>
        <p:txBody>
          <a:bodyPr>
            <a:spAutoFit/>
          </a:bodyPr>
          <a:lstStyle/>
          <a:p>
            <a:pPr fontAlgn="base">
              <a:lnSpc>
                <a:spcPts val="3600"/>
              </a:lnSpc>
              <a:spcBef>
                <a:spcPct val="50000"/>
              </a:spcBef>
              <a:spcAft>
                <a:spcPct val="0"/>
              </a:spcAft>
              <a:defRPr/>
            </a:pPr>
            <a:r>
              <a:rPr kumimoji="1" lang="en-US" altLang="zh-CN" sz="2400" b="1" dirty="0">
                <a:solidFill>
                  <a:srgbClr val="990000"/>
                </a:solidFill>
                <a:latin typeface="Times New Roman" panose="02020603050405020304" pitchFamily="18" charset="0"/>
                <a:ea typeface="楷体_GB2312" pitchFamily="49" charset="-122"/>
              </a:rPr>
              <a:t>         </a:t>
            </a:r>
            <a:r>
              <a:rPr kumimoji="1" lang="zh-CN" altLang="en-US" sz="2400" b="1" u="sng" dirty="0">
                <a:solidFill>
                  <a:srgbClr val="CC3300"/>
                </a:solidFill>
                <a:effectLst>
                  <a:outerShdw blurRad="38100" dist="38100" dir="2700000" algn="tl">
                    <a:srgbClr val="C0C0C0"/>
                  </a:outerShdw>
                </a:effectLst>
                <a:latin typeface="Times New Roman" panose="02020603050405020304" pitchFamily="18" charset="0"/>
                <a:ea typeface="楷体_GB2312" pitchFamily="49" charset="-122"/>
              </a:rPr>
              <a:t>思考：</a:t>
            </a:r>
            <a:r>
              <a:rPr kumimoji="1" lang="zh-CN" altLang="en-US" sz="2400" b="1" dirty="0">
                <a:solidFill>
                  <a:srgbClr val="000000"/>
                </a:solidFill>
                <a:latin typeface="Times New Roman" panose="02020603050405020304" pitchFamily="18" charset="0"/>
                <a:ea typeface="楷体_GB2312" pitchFamily="49" charset="-122"/>
              </a:rPr>
              <a:t>同样的物质，在相同的温度和压力下，前者放在</a:t>
            </a:r>
            <a:r>
              <a:rPr kumimoji="1" lang="en-US" altLang="zh-CN" sz="2400" b="1" dirty="0">
                <a:solidFill>
                  <a:srgbClr val="000000"/>
                </a:solidFill>
                <a:latin typeface="Times New Roman" panose="02020603050405020304" pitchFamily="18" charset="0"/>
                <a:ea typeface="楷体_GB2312" pitchFamily="49" charset="-122"/>
              </a:rPr>
              <a:t>10000m</a:t>
            </a:r>
            <a:r>
              <a:rPr kumimoji="1" lang="zh-CN" altLang="en-US" sz="2400" b="1" dirty="0">
                <a:solidFill>
                  <a:srgbClr val="000000"/>
                </a:solidFill>
                <a:latin typeface="Times New Roman" panose="02020603050405020304" pitchFamily="18" charset="0"/>
                <a:ea typeface="楷体_GB2312" pitchFamily="49" charset="-122"/>
              </a:rPr>
              <a:t>高空，以</a:t>
            </a:r>
            <a:r>
              <a:rPr kumimoji="1" lang="en-US" altLang="zh-CN" sz="2400" b="1" dirty="0">
                <a:solidFill>
                  <a:srgbClr val="000000"/>
                </a:solidFill>
                <a:latin typeface="Times New Roman" panose="02020603050405020304" pitchFamily="18" charset="0"/>
                <a:ea typeface="楷体_GB2312" pitchFamily="49" charset="-122"/>
              </a:rPr>
              <a:t>400m/s</a:t>
            </a:r>
            <a:r>
              <a:rPr kumimoji="1" lang="zh-CN" altLang="en-US" sz="2400" b="1" dirty="0">
                <a:solidFill>
                  <a:srgbClr val="000000"/>
                </a:solidFill>
                <a:latin typeface="Times New Roman" panose="02020603050405020304" pitchFamily="18" charset="0"/>
                <a:ea typeface="楷体_GB2312" pitchFamily="49" charset="-122"/>
              </a:rPr>
              <a:t>飞行的飞机上，后者静止在地面上。两者的内能相同吗？</a:t>
            </a:r>
          </a:p>
        </p:txBody>
      </p:sp>
      <p:sp>
        <p:nvSpPr>
          <p:cNvPr id="3" name="矩形 13"/>
          <p:cNvSpPr>
            <a:spLocks noChangeArrowheads="1"/>
          </p:cNvSpPr>
          <p:nvPr/>
        </p:nvSpPr>
        <p:spPr bwMode="auto">
          <a:xfrm>
            <a:off x="457200" y="228600"/>
            <a:ext cx="8229600" cy="974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en-US" altLang="zh-CN" sz="2600" b="1" i="1" smtClean="0">
                <a:solidFill>
                  <a:srgbClr val="C00000"/>
                </a:solidFill>
                <a:latin typeface="Times New Roman" panose="02020603050405020304" pitchFamily="18" charset="0"/>
                <a:ea typeface="楷体_GB2312" pitchFamily="49" charset="-122"/>
              </a:rPr>
              <a:t>        </a:t>
            </a:r>
            <a:r>
              <a:rPr kumimoji="1" lang="en-US" altLang="zh-CN" sz="2600" b="1" i="1" smtClean="0">
                <a:solidFill>
                  <a:srgbClr val="0000FF"/>
                </a:solidFill>
                <a:latin typeface="Times New Roman" panose="02020603050405020304" pitchFamily="18" charset="0"/>
                <a:ea typeface="楷体_GB2312" pitchFamily="49" charset="-122"/>
              </a:rPr>
              <a:t>(4)</a:t>
            </a:r>
            <a:r>
              <a:rPr kumimoji="1" lang="en-US" altLang="zh-CN" sz="2600" b="1" smtClean="0">
                <a:solidFill>
                  <a:srgbClr val="0000FF"/>
                </a:solidFill>
                <a:latin typeface="Times New Roman" panose="02020603050405020304" pitchFamily="18" charset="0"/>
                <a:ea typeface="楷体_GB2312" pitchFamily="49" charset="-122"/>
              </a:rPr>
              <a:t> </a:t>
            </a:r>
            <a:r>
              <a:rPr kumimoji="1" lang="en-US" altLang="zh-CN" sz="2600" b="1" i="1" smtClean="0">
                <a:solidFill>
                  <a:srgbClr val="000000"/>
                </a:solidFill>
                <a:latin typeface="Times New Roman" panose="02020603050405020304" pitchFamily="18" charset="0"/>
                <a:ea typeface="楷体_GB2312" pitchFamily="49" charset="-122"/>
              </a:rPr>
              <a:t>U</a:t>
            </a:r>
            <a:r>
              <a:rPr kumimoji="1" lang="zh-CN" altLang="en-US" sz="2600" b="1" smtClean="0">
                <a:solidFill>
                  <a:srgbClr val="000000"/>
                </a:solidFill>
                <a:latin typeface="Times New Roman" panose="02020603050405020304" pitchFamily="18" charset="0"/>
                <a:ea typeface="楷体_GB2312" pitchFamily="49" charset="-122"/>
              </a:rPr>
              <a:t>是状态函数： </a:t>
            </a:r>
            <a:r>
              <a:rPr kumimoji="1" lang="zh-CN"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en-US" sz="2600" b="1" i="1" smtClean="0">
                <a:solidFill>
                  <a:srgbClr val="000000"/>
                </a:solidFill>
                <a:latin typeface="Times New Roman" panose="02020603050405020304" pitchFamily="18" charset="0"/>
                <a:ea typeface="楷体_GB2312" pitchFamily="49" charset="-122"/>
                <a:sym typeface="Symbol" panose="05050102010706020507" pitchFamily="18" charset="2"/>
              </a:rPr>
              <a:t>U</a:t>
            </a:r>
            <a:r>
              <a:rPr kumimoji="1" lang="en-US"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 = </a:t>
            </a:r>
            <a:r>
              <a:rPr kumimoji="1" lang="en-US" altLang="en-US" sz="2600" b="1" i="1" smtClean="0">
                <a:solidFill>
                  <a:srgbClr val="000000"/>
                </a:solidFill>
                <a:latin typeface="Times New Roman" panose="02020603050405020304" pitchFamily="18" charset="0"/>
                <a:ea typeface="楷体_GB2312" pitchFamily="49" charset="-122"/>
                <a:sym typeface="Symbol" panose="05050102010706020507" pitchFamily="18" charset="2"/>
              </a:rPr>
              <a:t>U</a:t>
            </a:r>
            <a:r>
              <a:rPr kumimoji="1" lang="en-US"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终态</a:t>
            </a:r>
            <a:r>
              <a:rPr kumimoji="1" lang="en-US" altLang="zh-CN" sz="2600" b="1" smtClean="0">
                <a:solidFill>
                  <a:srgbClr val="000000"/>
                </a:solidFill>
                <a:latin typeface="Times New Roman" panose="02020603050405020304" pitchFamily="18" charset="0"/>
                <a:ea typeface="楷体_GB2312" pitchFamily="49" charset="-122"/>
                <a:sym typeface="Symbol" panose="05050102010706020507" pitchFamily="18" charset="2"/>
              </a:rPr>
              <a:t>) - </a:t>
            </a:r>
            <a:r>
              <a:rPr kumimoji="1" lang="en-US" altLang="en-US" sz="2600" b="1" i="1" smtClean="0">
                <a:solidFill>
                  <a:srgbClr val="000000"/>
                </a:solidFill>
                <a:latin typeface="Times New Roman" panose="02020603050405020304" pitchFamily="18" charset="0"/>
                <a:ea typeface="楷体_GB2312" pitchFamily="49" charset="-122"/>
                <a:sym typeface="Symbol" panose="05050102010706020507" pitchFamily="18" charset="2"/>
              </a:rPr>
              <a:t>U</a:t>
            </a:r>
            <a:r>
              <a:rPr kumimoji="1" lang="en-US"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zh-CN" sz="2600" b="1" smtClean="0">
                <a:solidFill>
                  <a:srgbClr val="000000"/>
                </a:solidFill>
                <a:latin typeface="Times New Roman" panose="02020603050405020304" pitchFamily="18" charset="0"/>
                <a:ea typeface="楷体_GB2312" pitchFamily="49" charset="-122"/>
                <a:sym typeface="Symbol" panose="05050102010706020507" pitchFamily="18" charset="2"/>
              </a:rPr>
              <a:t>始态</a:t>
            </a:r>
            <a:r>
              <a:rPr kumimoji="1" lang="en-US" altLang="zh-CN" sz="2600" b="1"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，即</a:t>
            </a:r>
            <a:r>
              <a:rPr kumimoji="1" lang="en-US" altLang="zh-CN" sz="2600" b="1" i="1" smtClean="0">
                <a:solidFill>
                  <a:srgbClr val="000000"/>
                </a:solidFill>
                <a:latin typeface="Times New Roman" panose="02020603050405020304" pitchFamily="18" charset="0"/>
                <a:ea typeface="楷体_GB2312" pitchFamily="49" charset="-122"/>
              </a:rPr>
              <a:t>U</a:t>
            </a:r>
            <a:r>
              <a:rPr kumimoji="1" lang="zh-CN"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的值与途径无关。</a:t>
            </a:r>
            <a:endParaRPr kumimoji="1" lang="en-US" altLang="zh-CN" sz="2600" b="1" smtClean="0">
              <a:solidFill>
                <a:srgbClr val="000000"/>
              </a:solidFill>
              <a:latin typeface="Times New Roman" panose="02020603050405020304" pitchFamily="18" charset="0"/>
              <a:ea typeface="楷体_GB2312" pitchFamily="49"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矩形 7"/>
          <p:cNvSpPr/>
          <p:nvPr/>
        </p:nvSpPr>
        <p:spPr>
          <a:xfrm>
            <a:off x="228600" y="76200"/>
            <a:ext cx="3581400" cy="492125"/>
          </a:xfrm>
          <a:prstGeom prst="rect">
            <a:avLst/>
          </a:prstGeom>
          <a:solidFill>
            <a:schemeClr val="bg2">
              <a:lumMod val="40000"/>
              <a:lumOff val="60000"/>
            </a:schemeClr>
          </a:solidFill>
        </p:spPr>
        <p:txBody>
          <a:bodyPr>
            <a:spAutoFit/>
          </a:bodyPr>
          <a:lstStyle/>
          <a:p>
            <a:pPr fontAlgn="base">
              <a:spcBef>
                <a:spcPct val="0"/>
              </a:spcBef>
              <a:spcAft>
                <a:spcPct val="0"/>
              </a:spcAft>
              <a:defRPr/>
            </a:pPr>
            <a:r>
              <a:rPr kumimoji="1" lang="en-US" altLang="zh-CN" sz="2600" b="1" dirty="0">
                <a:solidFill>
                  <a:srgbClr val="CC3300"/>
                </a:solidFill>
                <a:latin typeface="Times New Roman" panose="02020603050405020304" pitchFamily="18" charset="0"/>
                <a:ea typeface="楷体_GB2312" pitchFamily="49" charset="-122"/>
              </a:rPr>
              <a:t>3</a:t>
            </a:r>
            <a:r>
              <a:rPr kumimoji="1" lang="zh-CN" altLang="en-US" sz="2600" b="1" dirty="0">
                <a:solidFill>
                  <a:srgbClr val="CC3300"/>
                </a:solidFill>
                <a:latin typeface="Times New Roman" panose="02020603050405020304" pitchFamily="18" charset="0"/>
                <a:ea typeface="楷体_GB2312" pitchFamily="49" charset="-122"/>
              </a:rPr>
              <a:t>、</a:t>
            </a:r>
            <a:r>
              <a:rPr lang="zh-CN" altLang="en-US" sz="2600" b="1" dirty="0">
                <a:solidFill>
                  <a:srgbClr val="CC3300"/>
                </a:solidFill>
                <a:latin typeface="楷体_GB2312" pitchFamily="49" charset="-122"/>
                <a:ea typeface="楷体_GB2312" pitchFamily="49" charset="-122"/>
              </a:rPr>
              <a:t>热力学第一定律</a:t>
            </a:r>
            <a:endParaRPr lang="zh-CN" altLang="en-US" sz="2600" b="1" dirty="0">
              <a:solidFill>
                <a:srgbClr val="CC3300"/>
              </a:solidFill>
              <a:latin typeface="Times New Roman" panose="02020603050405020304" pitchFamily="18" charset="0"/>
              <a:ea typeface="楷体_GB2312" pitchFamily="49" charset="-122"/>
            </a:endParaRPr>
          </a:p>
        </p:txBody>
      </p:sp>
      <p:grpSp>
        <p:nvGrpSpPr>
          <p:cNvPr id="2" name="组合 9"/>
          <p:cNvGrpSpPr/>
          <p:nvPr/>
        </p:nvGrpSpPr>
        <p:grpSpPr bwMode="auto">
          <a:xfrm>
            <a:off x="228600" y="685800"/>
            <a:ext cx="7772400" cy="2438400"/>
            <a:chOff x="228600" y="685800"/>
            <a:chExt cx="7772400" cy="2438400"/>
          </a:xfrm>
        </p:grpSpPr>
        <p:graphicFrame>
          <p:nvGraphicFramePr>
            <p:cNvPr id="8194" name="Object 15"/>
            <p:cNvGraphicFramePr>
              <a:graphicFrameLocks noChangeAspect="1"/>
            </p:cNvGraphicFramePr>
            <p:nvPr/>
          </p:nvGraphicFramePr>
          <p:xfrm>
            <a:off x="914400" y="1143000"/>
            <a:ext cx="7086600" cy="1981200"/>
          </p:xfrm>
          <a:graphic>
            <a:graphicData uri="http://schemas.openxmlformats.org/presentationml/2006/ole">
              <p:oleObj spid="_x0000_s64513" name="CS ChemDraw Drawing" r:id="rId4" imgW="36271200" imgH="9982200" progId="">
                <p:embed/>
              </p:oleObj>
            </a:graphicData>
          </a:graphic>
        </p:graphicFrame>
        <p:sp>
          <p:nvSpPr>
            <p:cNvPr id="8201" name="矩形 8"/>
            <p:cNvSpPr>
              <a:spLocks noChangeArrowheads="1"/>
            </p:cNvSpPr>
            <p:nvPr/>
          </p:nvSpPr>
          <p:spPr bwMode="auto">
            <a:xfrm>
              <a:off x="228600" y="685800"/>
              <a:ext cx="4267200" cy="387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ct val="80000"/>
                </a:lnSpc>
                <a:spcBef>
                  <a:spcPct val="50000"/>
                </a:spcBef>
                <a:spcAft>
                  <a:spcPct val="0"/>
                </a:spcAft>
              </a:pPr>
              <a:r>
                <a:rPr kumimoji="1" lang="zh-CN" altLang="en-US" sz="2400" b="1" smtClean="0">
                  <a:solidFill>
                    <a:srgbClr val="000000"/>
                  </a:solidFill>
                  <a:latin typeface="楷体_GB2312" pitchFamily="49" charset="-122"/>
                  <a:ea typeface="楷体_GB2312" pitchFamily="49" charset="-122"/>
                </a:rPr>
                <a:t>对于一个封闭系统：</a:t>
              </a:r>
              <a:endParaRPr kumimoji="1" lang="zh-CN" altLang="en-US" sz="2400" b="1" i="1" smtClean="0">
                <a:solidFill>
                  <a:srgbClr val="000000"/>
                </a:solidFill>
                <a:latin typeface="楷体_GB2312" pitchFamily="49" charset="-122"/>
                <a:ea typeface="楷体_GB2312" pitchFamily="49" charset="-122"/>
                <a:sym typeface="Symbol" panose="05050102010706020507" pitchFamily="18" charset="2"/>
              </a:endParaRPr>
            </a:p>
          </p:txBody>
        </p:sp>
      </p:grpSp>
      <p:grpSp>
        <p:nvGrpSpPr>
          <p:cNvPr id="3" name="组合 8"/>
          <p:cNvGrpSpPr/>
          <p:nvPr/>
        </p:nvGrpSpPr>
        <p:grpSpPr bwMode="auto">
          <a:xfrm>
            <a:off x="381000" y="3581400"/>
            <a:ext cx="8458200" cy="2619375"/>
            <a:chOff x="381000" y="3581400"/>
            <a:chExt cx="8458200" cy="2619375"/>
          </a:xfrm>
        </p:grpSpPr>
        <p:sp>
          <p:nvSpPr>
            <p:cNvPr id="8198" name="矩形 9"/>
            <p:cNvSpPr>
              <a:spLocks noChangeArrowheads="1"/>
            </p:cNvSpPr>
            <p:nvPr/>
          </p:nvSpPr>
          <p:spPr bwMode="auto">
            <a:xfrm>
              <a:off x="381000" y="4191000"/>
              <a:ext cx="8458200" cy="412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ct val="80000"/>
                </a:lnSpc>
                <a:spcBef>
                  <a:spcPct val="50000"/>
                </a:spcBef>
                <a:spcAft>
                  <a:spcPct val="0"/>
                </a:spcAft>
              </a:pPr>
              <a:r>
                <a:rPr kumimoji="1" lang="zh-CN" altLang="en-US" sz="2600" b="1" smtClean="0">
                  <a:solidFill>
                    <a:srgbClr val="000000"/>
                  </a:solidFill>
                  <a:latin typeface="Times New Roman" panose="02020603050405020304" pitchFamily="18" charset="0"/>
                  <a:ea typeface="楷体_GB2312" pitchFamily="49" charset="-122"/>
                </a:rPr>
                <a:t>这就是热力学第一定律</a:t>
              </a:r>
              <a:r>
                <a:rPr kumimoji="1" lang="en-US" altLang="zh-CN" sz="2600" b="1" smtClean="0">
                  <a:solidFill>
                    <a:srgbClr val="000000"/>
                  </a:solidFill>
                  <a:latin typeface="Times New Roman" panose="02020603050405020304" pitchFamily="18" charset="0"/>
                  <a:ea typeface="楷体_GB2312" pitchFamily="49" charset="-122"/>
                </a:rPr>
                <a:t>(</a:t>
              </a:r>
              <a:r>
                <a:rPr kumimoji="1" lang="zh-CN" altLang="en-US" sz="2600" b="1" smtClean="0">
                  <a:solidFill>
                    <a:srgbClr val="000000"/>
                  </a:solidFill>
                  <a:latin typeface="Times New Roman" panose="02020603050405020304" pitchFamily="18" charset="0"/>
                  <a:ea typeface="楷体_GB2312" pitchFamily="49" charset="-122"/>
                </a:rPr>
                <a:t>能量守恒定律</a:t>
              </a:r>
              <a:r>
                <a:rPr kumimoji="1" lang="en-US" altLang="zh-CN" sz="2600" b="1" smtClean="0">
                  <a:solidFill>
                    <a:srgbClr val="000000"/>
                  </a:solidFill>
                  <a:latin typeface="Times New Roman" panose="02020603050405020304" pitchFamily="18" charset="0"/>
                  <a:ea typeface="楷体_GB2312" pitchFamily="49" charset="-122"/>
                </a:rPr>
                <a:t>)</a:t>
              </a:r>
              <a:r>
                <a:rPr kumimoji="1" lang="zh-CN" altLang="en-US" sz="2600" b="1" smtClean="0">
                  <a:solidFill>
                    <a:srgbClr val="000000"/>
                  </a:solidFill>
                  <a:latin typeface="Times New Roman" panose="02020603050405020304" pitchFamily="18" charset="0"/>
                  <a:ea typeface="楷体_GB2312" pitchFamily="49" charset="-122"/>
                </a:rPr>
                <a:t>的数学表达式。</a:t>
              </a:r>
            </a:p>
          </p:txBody>
        </p:sp>
        <p:sp>
          <p:nvSpPr>
            <p:cNvPr id="11" name="矩形 10"/>
            <p:cNvSpPr/>
            <p:nvPr/>
          </p:nvSpPr>
          <p:spPr bwMode="auto">
            <a:xfrm>
              <a:off x="2362200" y="3581400"/>
              <a:ext cx="4648200" cy="436563"/>
            </a:xfrm>
            <a:prstGeom prst="rect">
              <a:avLst/>
            </a:prstGeom>
            <a:solidFill>
              <a:schemeClr val="bg2">
                <a:lumMod val="40000"/>
                <a:lumOff val="60000"/>
              </a:schemeClr>
            </a:solidFill>
          </p:spPr>
          <p:txBody>
            <a:bodyPr>
              <a:spAutoFit/>
            </a:bodyPr>
            <a:lstStyle/>
            <a:p>
              <a:pPr algn="ctr" eaLnBrk="0" fontAlgn="base" hangingPunct="0">
                <a:lnSpc>
                  <a:spcPct val="80000"/>
                </a:lnSpc>
                <a:spcBef>
                  <a:spcPct val="50000"/>
                </a:spcBef>
                <a:spcAft>
                  <a:spcPct val="0"/>
                </a:spcAft>
                <a:defRPr/>
              </a:pPr>
              <a:r>
                <a:rPr kumimoji="1" lang="en-US" altLang="zh-CN" sz="2800" b="1" dirty="0">
                  <a:solidFill>
                    <a:srgbClr val="990000"/>
                  </a:solidFill>
                  <a:latin typeface="Times New Roman" panose="02020603050405020304" pitchFamily="18" charset="0"/>
                  <a:ea typeface="幼圆" panose="02010509060101010101" pitchFamily="49" charset="-122"/>
                  <a:sym typeface="Symbol" panose="05050102010706020507" pitchFamily="18" charset="2"/>
                </a:rPr>
                <a:t></a:t>
              </a:r>
              <a:r>
                <a:rPr kumimoji="1" lang="en-US" altLang="en-US" sz="2800" b="1" dirty="0">
                  <a:solidFill>
                    <a:srgbClr val="990000"/>
                  </a:solidFill>
                  <a:latin typeface="Times New Roman" panose="02020603050405020304" pitchFamily="18" charset="0"/>
                  <a:ea typeface="幼圆" panose="02010509060101010101" pitchFamily="49" charset="-122"/>
                  <a:sym typeface="Symbol" panose="05050102010706020507" pitchFamily="18" charset="2"/>
                </a:rPr>
                <a:t>U = U</a:t>
              </a:r>
              <a:r>
                <a:rPr kumimoji="1" lang="en-US" altLang="zh-CN" sz="2800" b="1" baseline="-25000" dirty="0">
                  <a:solidFill>
                    <a:srgbClr val="990000"/>
                  </a:solidFill>
                  <a:latin typeface="Times New Roman" panose="02020603050405020304" pitchFamily="18" charset="0"/>
                  <a:ea typeface="幼圆" panose="02010509060101010101" pitchFamily="49" charset="-122"/>
                  <a:sym typeface="Symbol" panose="05050102010706020507" pitchFamily="18" charset="2"/>
                </a:rPr>
                <a:t>2</a:t>
              </a:r>
              <a:r>
                <a:rPr kumimoji="1" lang="en-US" altLang="en-US" sz="2800" b="1" dirty="0">
                  <a:solidFill>
                    <a:srgbClr val="990000"/>
                  </a:solidFill>
                  <a:latin typeface="Times New Roman" panose="02020603050405020304" pitchFamily="18" charset="0"/>
                  <a:ea typeface="幼圆" panose="02010509060101010101" pitchFamily="49" charset="-122"/>
                  <a:sym typeface="Symbol" panose="05050102010706020507" pitchFamily="18" charset="2"/>
                </a:rPr>
                <a:t> - U</a:t>
              </a:r>
              <a:r>
                <a:rPr kumimoji="1" lang="en-US" altLang="en-US" sz="2800" b="1" baseline="-25000" dirty="0">
                  <a:solidFill>
                    <a:srgbClr val="990000"/>
                  </a:solidFill>
                  <a:latin typeface="Times New Roman" panose="02020603050405020304" pitchFamily="18" charset="0"/>
                  <a:ea typeface="幼圆" panose="02010509060101010101" pitchFamily="49" charset="-122"/>
                  <a:sym typeface="Symbol" panose="05050102010706020507" pitchFamily="18" charset="2"/>
                </a:rPr>
                <a:t>1</a:t>
              </a:r>
              <a:r>
                <a:rPr kumimoji="1" lang="en-US" altLang="en-US" sz="2800" b="1" dirty="0">
                  <a:solidFill>
                    <a:srgbClr val="990000"/>
                  </a:solidFill>
                  <a:latin typeface="Times New Roman" panose="02020603050405020304" pitchFamily="18" charset="0"/>
                  <a:ea typeface="幼圆" panose="02010509060101010101" pitchFamily="49" charset="-122"/>
                  <a:sym typeface="Symbol" panose="05050102010706020507" pitchFamily="18" charset="2"/>
                </a:rPr>
                <a:t> = Q + W</a:t>
              </a:r>
              <a:endParaRPr kumimoji="1" lang="en-US" altLang="zh-CN" sz="2800" b="1" dirty="0">
                <a:solidFill>
                  <a:srgbClr val="990000"/>
                </a:solidFill>
                <a:latin typeface="Times New Roman" panose="02020603050405020304" pitchFamily="18" charset="0"/>
                <a:ea typeface="幼圆" panose="02010509060101010101" pitchFamily="49" charset="-122"/>
                <a:sym typeface="Symbol" panose="05050102010706020507" pitchFamily="18" charset="2"/>
              </a:endParaRPr>
            </a:p>
          </p:txBody>
        </p:sp>
        <p:sp>
          <p:nvSpPr>
            <p:cNvPr id="8200" name="矩形 11"/>
            <p:cNvSpPr>
              <a:spLocks noChangeArrowheads="1"/>
            </p:cNvSpPr>
            <p:nvPr/>
          </p:nvSpPr>
          <p:spPr bwMode="auto">
            <a:xfrm>
              <a:off x="457200" y="4724400"/>
              <a:ext cx="8305800" cy="1476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zh-CN" altLang="en-US" sz="2600" b="1" smtClean="0">
                  <a:solidFill>
                    <a:srgbClr val="000000"/>
                  </a:solidFill>
                  <a:latin typeface="楷体_GB2312" pitchFamily="49" charset="-122"/>
                  <a:ea typeface="楷体_GB2312" pitchFamily="49" charset="-122"/>
                  <a:sym typeface="Symbol" panose="05050102010706020507" pitchFamily="18" charset="2"/>
                </a:rPr>
                <a:t>    热力学能的变化等于系统从环境吸收的热量加上环境对体系所做的功</a:t>
              </a:r>
              <a:r>
                <a:rPr kumimoji="1" lang="en-US" altLang="zh-CN" sz="2600" b="1" smtClean="0">
                  <a:solidFill>
                    <a:srgbClr val="000000"/>
                  </a:solidFill>
                  <a:latin typeface="楷体_GB2312" pitchFamily="49" charset="-122"/>
                  <a:ea typeface="楷体_GB2312" pitchFamily="49" charset="-122"/>
                  <a:sym typeface="Symbol" panose="05050102010706020507" pitchFamily="18" charset="2"/>
                </a:rPr>
                <a:t>——</a:t>
              </a:r>
              <a:r>
                <a:rPr kumimoji="1" lang="zh-CN" altLang="en-US" sz="2600" b="1" i="1" smtClean="0">
                  <a:solidFill>
                    <a:srgbClr val="2909C9"/>
                  </a:solidFill>
                  <a:latin typeface="楷体_GB2312" pitchFamily="49" charset="-122"/>
                  <a:ea typeface="楷体_GB2312" pitchFamily="49" charset="-122"/>
                  <a:sym typeface="Symbol" panose="05050102010706020507" pitchFamily="18" charset="2"/>
                </a:rPr>
                <a:t>单位都是</a:t>
              </a:r>
              <a:r>
                <a:rPr kumimoji="1" lang="en-US" altLang="en-US" sz="2600" b="1" i="1" smtClean="0">
                  <a:solidFill>
                    <a:srgbClr val="2909C9"/>
                  </a:solidFill>
                  <a:latin typeface="Times New Roman" panose="02020603050405020304" pitchFamily="18" charset="0"/>
                  <a:ea typeface="楷体_GB2312" pitchFamily="49" charset="-122"/>
                  <a:sym typeface="+mn-ea"/>
                </a:rPr>
                <a:t>J</a:t>
              </a:r>
              <a:r>
                <a:rPr kumimoji="1" lang="zh-CN" altLang="en-US" sz="2600" b="1" i="1" smtClean="0">
                  <a:solidFill>
                    <a:srgbClr val="2909C9"/>
                  </a:solidFill>
                  <a:latin typeface="Times New Roman" panose="02020603050405020304" pitchFamily="18" charset="0"/>
                  <a:ea typeface="楷体_GB2312" pitchFamily="49" charset="-122"/>
                  <a:sym typeface="+mn-ea"/>
                </a:rPr>
                <a:t> </a:t>
              </a:r>
              <a:r>
                <a:rPr kumimoji="1" lang="en-US" altLang="zh-CN" sz="2600" b="1" i="1" smtClean="0">
                  <a:solidFill>
                    <a:srgbClr val="2909C9"/>
                  </a:solidFill>
                  <a:latin typeface="Times New Roman" panose="02020603050405020304" pitchFamily="18" charset="0"/>
                  <a:ea typeface="楷体_GB2312" pitchFamily="49" charset="-122"/>
                  <a:sym typeface="+mn-ea"/>
                </a:rPr>
                <a:t>or </a:t>
              </a:r>
              <a:r>
                <a:rPr kumimoji="1" lang="en-US" altLang="en-US" sz="2600" b="1" i="1" smtClean="0">
                  <a:solidFill>
                    <a:srgbClr val="2909C9"/>
                  </a:solidFill>
                  <a:latin typeface="Times New Roman" panose="02020603050405020304" pitchFamily="18" charset="0"/>
                  <a:ea typeface="楷体_GB2312" pitchFamily="49" charset="-122"/>
                  <a:sym typeface="+mn-ea"/>
                </a:rPr>
                <a:t>kJ</a:t>
              </a:r>
              <a:r>
                <a:rPr kumimoji="1" lang="zh-CN" altLang="en-US" sz="2600" b="1" i="1" smtClean="0">
                  <a:solidFill>
                    <a:srgbClr val="2909C9"/>
                  </a:solidFill>
                  <a:latin typeface="Times New Roman" panose="02020603050405020304" pitchFamily="18" charset="0"/>
                  <a:ea typeface="楷体_GB2312" pitchFamily="49" charset="-122"/>
                  <a:sym typeface="+mn-ea"/>
                </a:rPr>
                <a:t>（不用考虑</a:t>
              </a:r>
              <a:r>
                <a:rPr kumimoji="1" lang="en-US" altLang="zh-CN" sz="2600" b="1" i="1" smtClean="0">
                  <a:solidFill>
                    <a:srgbClr val="2909C9"/>
                  </a:solidFill>
                  <a:latin typeface="Times New Roman" panose="02020603050405020304" pitchFamily="18" charset="0"/>
                  <a:ea typeface="楷体_GB2312" pitchFamily="49" charset="-122"/>
                  <a:sym typeface="+mn-ea"/>
                </a:rPr>
                <a:t>mol</a:t>
              </a:r>
              <a:r>
                <a:rPr kumimoji="1" lang="zh-CN" altLang="en-US" sz="2600" b="1" i="1" smtClean="0">
                  <a:solidFill>
                    <a:srgbClr val="2909C9"/>
                  </a:solidFill>
                  <a:latin typeface="Times New Roman" panose="02020603050405020304" pitchFamily="18" charset="0"/>
                  <a:ea typeface="楷体_GB2312" pitchFamily="49" charset="-122"/>
                  <a:sym typeface="+mn-ea"/>
                </a:rPr>
                <a:t>）</a:t>
              </a:r>
              <a:r>
                <a:rPr kumimoji="1" lang="en-US" altLang="zh-CN" sz="2600" b="1" i="1" smtClean="0">
                  <a:solidFill>
                    <a:srgbClr val="2909C9"/>
                  </a:solidFill>
                  <a:latin typeface="Times New Roman" panose="02020603050405020304" pitchFamily="18" charset="0"/>
                  <a:ea typeface="楷体_GB2312" pitchFamily="49" charset="-122"/>
                  <a:sym typeface="+mn-ea"/>
                </a:rPr>
                <a:t>,</a:t>
              </a:r>
              <a:r>
                <a:rPr kumimoji="1" lang="zh-CN" altLang="en-US" sz="2600" b="1" i="1" smtClean="0">
                  <a:solidFill>
                    <a:srgbClr val="2909C9"/>
                  </a:solidFill>
                  <a:latin typeface="Times New Roman" panose="02020603050405020304" pitchFamily="18" charset="0"/>
                  <a:ea typeface="楷体_GB2312" pitchFamily="49" charset="-122"/>
                  <a:sym typeface="+mn-ea"/>
                </a:rPr>
                <a:t>后面的</a:t>
              </a:r>
              <a:r>
                <a:rPr lang="zh-CN" altLang="en-US" sz="2600" b="1" i="1" dirty="0">
                  <a:solidFill>
                    <a:srgbClr val="2909C9"/>
                  </a:solidFill>
                  <a:latin typeface="Times New Roman" panose="02020603050405020304" pitchFamily="18" charset="0"/>
                  <a:ea typeface="楷体_GB2312" pitchFamily="49" charset="-122"/>
                  <a:sym typeface="+mn-ea"/>
                </a:rPr>
                <a:t>∆</a:t>
              </a:r>
              <a:r>
                <a:rPr lang="en-US" altLang="zh-CN" sz="2600" b="1" i="1" baseline="-25000" dirty="0" err="1">
                  <a:solidFill>
                    <a:srgbClr val="2909C9"/>
                  </a:solidFill>
                  <a:latin typeface="Times New Roman" panose="02020603050405020304" pitchFamily="18" charset="0"/>
                  <a:ea typeface="楷体_GB2312" pitchFamily="49" charset="-122"/>
                  <a:sym typeface="+mn-ea"/>
                </a:rPr>
                <a:t>r</a:t>
              </a:r>
              <a:r>
                <a:rPr lang="en-US" altLang="zh-CN" sz="2600" b="1" i="1" dirty="0" err="1">
                  <a:solidFill>
                    <a:srgbClr val="2909C9"/>
                  </a:solidFill>
                  <a:latin typeface="Times New Roman" panose="02020603050405020304" pitchFamily="18" charset="0"/>
                  <a:ea typeface="楷体_GB2312" pitchFamily="49" charset="-122"/>
                  <a:sym typeface="+mn-ea"/>
                </a:rPr>
                <a:t>U</a:t>
              </a:r>
              <a:r>
                <a:rPr kumimoji="1" lang="en-US" altLang="zh-CN" sz="2600" b="1" i="1" baseline="-25000" dirty="0" err="1">
                  <a:solidFill>
                    <a:srgbClr val="2909C9"/>
                  </a:solidFill>
                  <a:latin typeface="Times New Roman" panose="02020603050405020304" pitchFamily="18" charset="0"/>
                  <a:ea typeface="楷体_GB2312" pitchFamily="49" charset="-122"/>
                  <a:sym typeface="Symbol" panose="05050102010706020507" pitchFamily="18" charset="2"/>
                </a:rPr>
                <a:t>m</a:t>
              </a:r>
              <a:r>
                <a:rPr kumimoji="1" lang="el-GR" altLang="zh-CN" sz="2600" b="1" i="1" baseline="30000" dirty="0">
                  <a:solidFill>
                    <a:srgbClr val="2909C9"/>
                  </a:solidFill>
                  <a:latin typeface="楷体_GB2312" pitchFamily="49" charset="-122"/>
                  <a:ea typeface="楷体_GB2312" pitchFamily="49" charset="-122"/>
                  <a:sym typeface="Symbol" panose="05050102010706020507" pitchFamily="18" charset="2"/>
                </a:rPr>
                <a:t>Θ</a:t>
              </a:r>
              <a:r>
                <a:rPr kumimoji="1" lang="zh-CN" altLang="en-US" sz="2600" b="1" i="1" smtClean="0">
                  <a:solidFill>
                    <a:srgbClr val="2909C9"/>
                  </a:solidFill>
                  <a:latin typeface="Times New Roman" panose="02020603050405020304" pitchFamily="18" charset="0"/>
                  <a:ea typeface="楷体_GB2312" pitchFamily="49" charset="-122"/>
                  <a:sym typeface="+mn-ea"/>
                </a:rPr>
                <a:t>是用在化学反应当中</a:t>
              </a:r>
              <a:r>
                <a:rPr kumimoji="1" lang="en-US" altLang="zh-CN" sz="2600" b="1" i="1" baseline="-25000" dirty="0">
                  <a:solidFill>
                    <a:srgbClr val="2909C9"/>
                  </a:solidFill>
                  <a:latin typeface="Times New Roman" panose="02020603050405020304" pitchFamily="18" charset="0"/>
                  <a:ea typeface="楷体_GB2312" pitchFamily="49" charset="-122"/>
                  <a:sym typeface="Symbol" panose="05050102010706020507" pitchFamily="18" charset="2"/>
                </a:rPr>
                <a:t> </a:t>
              </a:r>
              <a:r>
                <a:rPr kumimoji="1" lang="zh-CN" altLang="en-US" sz="2600" b="1" i="1" baseline="-25000" dirty="0">
                  <a:solidFill>
                    <a:srgbClr val="2909C9"/>
                  </a:solidFill>
                  <a:latin typeface="Times New Roman" panose="02020603050405020304" pitchFamily="18" charset="0"/>
                  <a:ea typeface="楷体_GB2312" pitchFamily="49" charset="-122"/>
                  <a:sym typeface="Symbol" panose="05050102010706020507" pitchFamily="18" charset="2"/>
                </a:rPr>
                <a:t>，</a:t>
              </a:r>
              <a:r>
                <a:rPr kumimoji="1" lang="zh-CN" altLang="en-US" sz="2600" b="1" i="1" dirty="0">
                  <a:solidFill>
                    <a:srgbClr val="2909C9"/>
                  </a:solidFill>
                  <a:latin typeface="Times New Roman" panose="02020603050405020304" pitchFamily="18" charset="0"/>
                  <a:ea typeface="楷体_GB2312" pitchFamily="49" charset="-122"/>
                  <a:sym typeface="Symbol" panose="05050102010706020507" pitchFamily="18" charset="2"/>
                </a:rPr>
                <a:t>单位是</a:t>
              </a:r>
              <a:r>
                <a:rPr kumimoji="1" lang="en-US" altLang="en-US" sz="2600" b="1" i="1" dirty="0" err="1">
                  <a:solidFill>
                    <a:srgbClr val="2909C9"/>
                  </a:solidFill>
                  <a:latin typeface="Times New Roman" panose="02020603050405020304" pitchFamily="18" charset="0"/>
                  <a:ea typeface="楷体_GB2312" pitchFamily="49" charset="-122"/>
                  <a:sym typeface="Symbol" panose="05050102010706020507" pitchFamily="18" charset="2"/>
                </a:rPr>
                <a:t>kJ·mol</a:t>
              </a:r>
              <a:r>
                <a:rPr kumimoji="1" lang="en-US" altLang="zh-CN" sz="2600" b="1" i="1" dirty="0">
                  <a:solidFill>
                    <a:srgbClr val="2909C9"/>
                  </a:solidFill>
                  <a:latin typeface="Times New Roman" panose="02020603050405020304" pitchFamily="18" charset="0"/>
                  <a:ea typeface="楷体_GB2312" pitchFamily="49" charset="-122"/>
                  <a:sym typeface="Symbol" panose="05050102010706020507" pitchFamily="18" charset="2"/>
                </a:rPr>
                <a:t> </a:t>
              </a:r>
              <a:r>
                <a:rPr kumimoji="1" lang="en-US" altLang="zh-CN" sz="2600" b="1" i="1" baseline="30000" dirty="0">
                  <a:solidFill>
                    <a:srgbClr val="2909C9"/>
                  </a:solidFill>
                  <a:latin typeface="Times New Roman" panose="02020603050405020304" pitchFamily="18" charset="0"/>
                  <a:ea typeface="楷体_GB2312" pitchFamily="49" charset="-122"/>
                  <a:sym typeface="Symbol" panose="05050102010706020507" pitchFamily="18" charset="2"/>
                </a:rPr>
                <a:t>-1</a:t>
              </a:r>
              <a:r>
                <a:rPr kumimoji="1" lang="en-US" altLang="zh-CN" sz="2600" b="1" i="1" dirty="0">
                  <a:solidFill>
                    <a:srgbClr val="2909C9"/>
                  </a:solidFill>
                  <a:latin typeface="Times New Roman" panose="02020603050405020304" pitchFamily="18" charset="0"/>
                  <a:ea typeface="楷体_GB2312" pitchFamily="49" charset="-122"/>
                  <a:sym typeface="Symbol" panose="05050102010706020507" pitchFamily="18" charset="2"/>
                </a:rPr>
                <a:t>(</a:t>
              </a:r>
              <a:r>
                <a:rPr lang="en-US" altLang="zh-CN" sz="2600" i="1" smtClean="0">
                  <a:solidFill>
                    <a:srgbClr val="2909C9"/>
                  </a:solidFill>
                  <a:latin typeface="楷体_GB2312" pitchFamily="49" charset="-122"/>
                  <a:sym typeface="+mn-ea"/>
                </a:rPr>
                <a:t>ξ</a:t>
              </a:r>
              <a:r>
                <a:rPr kumimoji="1" lang="en-US" altLang="zh-CN" sz="2600" b="1" i="1" dirty="0">
                  <a:solidFill>
                    <a:srgbClr val="2909C9"/>
                  </a:solidFill>
                  <a:latin typeface="Times New Roman" panose="02020603050405020304" pitchFamily="18" charset="0"/>
                  <a:ea typeface="楷体_GB2312" pitchFamily="49" charset="-122"/>
                  <a:sym typeface="Symbol" panose="05050102010706020507" pitchFamily="18" charset="2"/>
                </a:rPr>
                <a:t>)</a:t>
              </a:r>
              <a:endParaRPr kumimoji="1" lang="en-US" altLang="zh-CN" sz="2600" b="1" i="1" dirty="0" smtClean="0">
                <a:solidFill>
                  <a:srgbClr val="2909C9"/>
                </a:solidFill>
                <a:latin typeface="Times New Roman" panose="02020603050405020304" pitchFamily="18" charset="0"/>
                <a:ea typeface="楷体_GB2312" pitchFamily="49" charset="-122"/>
                <a:sym typeface="Symbol" panose="05050102010706020507" pitchFamily="18" charset="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矩形 3"/>
          <p:cNvSpPr>
            <a:spLocks noChangeArrowheads="1"/>
          </p:cNvSpPr>
          <p:nvPr/>
        </p:nvSpPr>
        <p:spPr bwMode="auto">
          <a:xfrm>
            <a:off x="457200" y="152400"/>
            <a:ext cx="8153400" cy="1477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en-US" altLang="zh-CN" sz="2600" b="1" smtClean="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2600" b="1" i="1" smtClean="0">
                <a:solidFill>
                  <a:srgbClr val="C00000"/>
                </a:solidFill>
                <a:latin typeface="Times New Roman" panose="02020603050405020304" pitchFamily="18" charset="0"/>
                <a:ea typeface="楷体_GB2312" pitchFamily="49" charset="-122"/>
                <a:sym typeface="Symbol" panose="05050102010706020507" pitchFamily="18" charset="2"/>
              </a:rPr>
              <a:t>The Law of Conservation of Energy</a:t>
            </a:r>
            <a:r>
              <a:rPr kumimoji="1" lang="en-US" altLang="zh-CN" sz="2600" b="1" smtClean="0">
                <a:solidFill>
                  <a:srgbClr val="000000"/>
                </a:solidFill>
                <a:latin typeface="Times New Roman" panose="02020603050405020304" pitchFamily="18" charset="0"/>
                <a:ea typeface="楷体_GB2312" pitchFamily="49" charset="-122"/>
                <a:sym typeface="Symbol" panose="05050102010706020507" pitchFamily="18" charset="2"/>
              </a:rPr>
              <a:t>——energy is neither created nor destroyed but can be converted from one form to another.</a:t>
            </a: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12" name="矩形 11"/>
          <p:cNvSpPr>
            <a:spLocks noChangeArrowheads="1"/>
          </p:cNvSpPr>
          <p:nvPr/>
        </p:nvSpPr>
        <p:spPr bwMode="auto">
          <a:xfrm>
            <a:off x="2362200" y="2743200"/>
            <a:ext cx="3552825" cy="5127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lang="en-US" altLang="zh-CN" sz="2600" b="1" smtClean="0">
                <a:solidFill>
                  <a:srgbClr val="000000"/>
                </a:solidFill>
                <a:latin typeface="Times New Roman" panose="02020603050405020304" pitchFamily="18" charset="0"/>
                <a:ea typeface="楷体_GB2312" pitchFamily="49" charset="-122"/>
              </a:rPr>
              <a:t>Q = 0,   </a:t>
            </a:r>
            <a:r>
              <a:rPr lang="en-US" altLang="zh-CN" sz="2600" b="1" i="1" smtClean="0">
                <a:solidFill>
                  <a:srgbClr val="000000"/>
                </a:solidFill>
                <a:latin typeface="Times New Roman" panose="02020603050405020304" pitchFamily="18" charset="0"/>
                <a:ea typeface="楷体_GB2312" pitchFamily="49" charset="-122"/>
              </a:rPr>
              <a:t>W </a:t>
            </a:r>
            <a:r>
              <a:rPr lang="en-US" altLang="zh-CN" sz="2600" b="1" smtClean="0">
                <a:solidFill>
                  <a:srgbClr val="000000"/>
                </a:solidFill>
                <a:latin typeface="Times New Roman" panose="02020603050405020304" pitchFamily="18" charset="0"/>
                <a:ea typeface="楷体_GB2312" pitchFamily="49" charset="-122"/>
              </a:rPr>
              <a:t>= 0</a:t>
            </a:r>
            <a:r>
              <a:rPr lang="en-US" altLang="zh-CN" sz="2600" b="1" i="1" smtClean="0">
                <a:solidFill>
                  <a:srgbClr val="000000"/>
                </a:solidFill>
                <a:latin typeface="Times New Roman" panose="02020603050405020304" pitchFamily="18" charset="0"/>
                <a:ea typeface="楷体_GB2312" pitchFamily="49" charset="-122"/>
              </a:rPr>
              <a:t> </a:t>
            </a:r>
            <a:r>
              <a:rPr lang="zh-CN" altLang="en-US" sz="2600" b="1" i="1" smtClean="0">
                <a:solidFill>
                  <a:srgbClr val="000000"/>
                </a:solidFill>
                <a:latin typeface="Times New Roman" panose="02020603050405020304" pitchFamily="18" charset="0"/>
                <a:ea typeface="楷体_GB2312" pitchFamily="49" charset="-122"/>
              </a:rPr>
              <a:t>，</a:t>
            </a:r>
            <a:r>
              <a:rPr lang="zh-CN" altLang="en-US" sz="2600" b="1" smtClean="0">
                <a:solidFill>
                  <a:srgbClr val="000000"/>
                </a:solidFill>
                <a:latin typeface="Times New Roman" panose="02020603050405020304" pitchFamily="18" charset="0"/>
                <a:ea typeface="楷体_GB2312" pitchFamily="49" charset="-122"/>
              </a:rPr>
              <a:t>∆</a:t>
            </a:r>
            <a:r>
              <a:rPr lang="en-US" altLang="zh-CN" sz="2600" b="1" smtClean="0">
                <a:solidFill>
                  <a:srgbClr val="000000"/>
                </a:solidFill>
                <a:latin typeface="Times New Roman" panose="02020603050405020304" pitchFamily="18" charset="0"/>
                <a:ea typeface="楷体_GB2312" pitchFamily="49" charset="-122"/>
              </a:rPr>
              <a:t>U = 0</a:t>
            </a:r>
            <a:endParaRPr kumimoji="1" lang="zh-CN" altLang="en-US" sz="3000" b="1" smtClean="0">
              <a:solidFill>
                <a:srgbClr val="000000"/>
              </a:solidFill>
              <a:latin typeface="Times New Roman" panose="02020603050405020304" pitchFamily="18" charset="0"/>
              <a:ea typeface="楷体_GB2312" pitchFamily="49" charset="-122"/>
            </a:endParaRPr>
          </a:p>
        </p:txBody>
      </p:sp>
      <p:sp>
        <p:nvSpPr>
          <p:cNvPr id="13" name="矩形 12"/>
          <p:cNvSpPr>
            <a:spLocks noChangeArrowheads="1"/>
          </p:cNvSpPr>
          <p:nvPr/>
        </p:nvSpPr>
        <p:spPr bwMode="auto">
          <a:xfrm>
            <a:off x="2590800" y="4572000"/>
            <a:ext cx="3363913" cy="5127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lang="en-US" altLang="zh-CN" sz="2600" b="1" smtClean="0">
                <a:solidFill>
                  <a:srgbClr val="000000"/>
                </a:solidFill>
                <a:latin typeface="Times New Roman" panose="02020603050405020304" pitchFamily="18" charset="0"/>
                <a:ea typeface="楷体_GB2312" pitchFamily="49" charset="-122"/>
              </a:rPr>
              <a:t>Q = 0,      ∆U = W </a:t>
            </a:r>
            <a:r>
              <a:rPr lang="zh-CN" altLang="en-US" sz="2600" b="1" smtClean="0">
                <a:solidFill>
                  <a:srgbClr val="000000"/>
                </a:solidFill>
                <a:latin typeface="Times New Roman" panose="02020603050405020304" pitchFamily="18" charset="0"/>
                <a:ea typeface="楷体_GB2312" pitchFamily="49" charset="-122"/>
              </a:rPr>
              <a:t>＞</a:t>
            </a:r>
            <a:r>
              <a:rPr lang="en-US" altLang="zh-CN" sz="2600" b="1" smtClean="0">
                <a:solidFill>
                  <a:srgbClr val="000000"/>
                </a:solidFill>
                <a:latin typeface="Times New Roman" panose="02020603050405020304" pitchFamily="18" charset="0"/>
                <a:ea typeface="楷体_GB2312" pitchFamily="49" charset="-122"/>
              </a:rPr>
              <a:t>0</a:t>
            </a:r>
            <a:endParaRPr kumimoji="1" lang="zh-CN" altLang="en-US" sz="3000" b="1" smtClean="0">
              <a:solidFill>
                <a:srgbClr val="000000"/>
              </a:solidFill>
              <a:latin typeface="Times New Roman" panose="02020603050405020304" pitchFamily="18" charset="0"/>
              <a:ea typeface="楷体_GB2312" pitchFamily="49" charset="-122"/>
            </a:endParaRPr>
          </a:p>
        </p:txBody>
      </p:sp>
      <p:sp>
        <p:nvSpPr>
          <p:cNvPr id="52229" name="矩形 16"/>
          <p:cNvSpPr>
            <a:spLocks noChangeArrowheads="1"/>
          </p:cNvSpPr>
          <p:nvPr/>
        </p:nvSpPr>
        <p:spPr bwMode="auto">
          <a:xfrm>
            <a:off x="609600" y="3505200"/>
            <a:ext cx="8077200" cy="101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lang="en-US" altLang="zh-CN" sz="2600" b="1" i="1" smtClean="0">
                <a:solidFill>
                  <a:srgbClr val="000000"/>
                </a:solidFill>
                <a:latin typeface="Times New Roman" panose="02020603050405020304" pitchFamily="18" charset="0"/>
                <a:ea typeface="楷体_GB2312" pitchFamily="49" charset="-122"/>
              </a:rPr>
              <a:t>       </a:t>
            </a:r>
            <a:r>
              <a:rPr lang="en-US" altLang="zh-CN" sz="2600" b="1" i="1" smtClean="0">
                <a:solidFill>
                  <a:srgbClr val="C00000"/>
                </a:solidFill>
                <a:latin typeface="Times New Roman" panose="02020603050405020304" pitchFamily="18" charset="0"/>
                <a:ea typeface="楷体_GB2312" pitchFamily="49" charset="-122"/>
              </a:rPr>
              <a:t> (B)</a:t>
            </a:r>
            <a:r>
              <a:rPr lang="en-US" altLang="zh-CN" sz="2600" b="1" smtClean="0">
                <a:solidFill>
                  <a:srgbClr val="C00000"/>
                </a:solidFill>
                <a:latin typeface="Times New Roman" panose="02020603050405020304" pitchFamily="18" charset="0"/>
                <a:ea typeface="楷体_GB2312" pitchFamily="49" charset="-122"/>
              </a:rPr>
              <a:t> </a:t>
            </a:r>
            <a:r>
              <a:rPr lang="zh-CN" altLang="en-US" sz="2600" b="1" smtClean="0">
                <a:solidFill>
                  <a:srgbClr val="000000"/>
                </a:solidFill>
                <a:latin typeface="Times New Roman" panose="02020603050405020304" pitchFamily="18" charset="0"/>
                <a:ea typeface="楷体_GB2312" pitchFamily="49" charset="-122"/>
              </a:rPr>
              <a:t>如果一个物体与外界不发生热交换，外界对其作功，则</a:t>
            </a: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2230" name="矩形 17"/>
          <p:cNvSpPr>
            <a:spLocks noChangeArrowheads="1"/>
          </p:cNvSpPr>
          <p:nvPr/>
        </p:nvSpPr>
        <p:spPr bwMode="auto">
          <a:xfrm>
            <a:off x="533400" y="1828800"/>
            <a:ext cx="8382000" cy="974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lang="en-US" altLang="zh-CN" sz="2600" b="1" smtClean="0">
                <a:solidFill>
                  <a:srgbClr val="000000"/>
                </a:solidFill>
                <a:latin typeface="Times New Roman" panose="02020603050405020304" pitchFamily="18" charset="0"/>
                <a:ea typeface="楷体_GB2312" pitchFamily="49" charset="-122"/>
              </a:rPr>
              <a:t>        </a:t>
            </a:r>
            <a:r>
              <a:rPr lang="en-US" altLang="zh-CN" sz="2600" b="1" i="1" smtClean="0">
                <a:solidFill>
                  <a:srgbClr val="C00000"/>
                </a:solidFill>
                <a:latin typeface="Times New Roman" panose="02020603050405020304" pitchFamily="18" charset="0"/>
                <a:ea typeface="楷体_GB2312" pitchFamily="49" charset="-122"/>
              </a:rPr>
              <a:t>(A) </a:t>
            </a:r>
            <a:r>
              <a:rPr lang="zh-CN" altLang="en-US" sz="2600" b="1" smtClean="0">
                <a:solidFill>
                  <a:srgbClr val="000000"/>
                </a:solidFill>
                <a:latin typeface="Times New Roman" panose="02020603050405020304" pitchFamily="18" charset="0"/>
                <a:ea typeface="楷体_GB2312" pitchFamily="49" charset="-122"/>
              </a:rPr>
              <a:t>一个物体既不作功，也不与外界发生热交换，则内能变化为零：</a:t>
            </a:r>
            <a:r>
              <a:rPr lang="en-US" altLang="zh-CN" sz="2600" b="1" smtClean="0">
                <a:solidFill>
                  <a:srgbClr val="000000"/>
                </a:solidFill>
                <a:latin typeface="Times New Roman" panose="02020603050405020304" pitchFamily="18" charset="0"/>
                <a:ea typeface="楷体_GB2312" pitchFamily="49" charset="-122"/>
              </a:rPr>
              <a:t>---- isolated system</a:t>
            </a:r>
            <a:endParaRPr kumimoji="1" lang="zh-CN" altLang="en-US" sz="3000" b="1" smtClean="0">
              <a:solidFill>
                <a:srgbClr val="0000FF"/>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blinds(horizontal)">
                                      <p:cBhvr>
                                        <p:cTn id="7" dur="500"/>
                                        <p:tgtEl>
                                          <p:spTgt spid="532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2230"/>
                                        </p:tgtEl>
                                        <p:attrNameLst>
                                          <p:attrName>style.visibility</p:attrName>
                                        </p:attrNameLst>
                                      </p:cBhvr>
                                      <p:to>
                                        <p:strVal val="visible"/>
                                      </p:to>
                                    </p:set>
                                    <p:animEffect transition="in" filter="blinds(horizontal)">
                                      <p:cBhvr>
                                        <p:cTn id="12" dur="500"/>
                                        <p:tgtEl>
                                          <p:spTgt spid="5223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2229"/>
                                        </p:tgtEl>
                                        <p:attrNameLst>
                                          <p:attrName>style.visibility</p:attrName>
                                        </p:attrNameLst>
                                      </p:cBhvr>
                                      <p:to>
                                        <p:strVal val="visible"/>
                                      </p:to>
                                    </p:set>
                                    <p:animEffect transition="in" filter="blinds(horizontal)">
                                      <p:cBhvr>
                                        <p:cTn id="22" dur="500"/>
                                        <p:tgtEl>
                                          <p:spTgt spid="5222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P spid="12" grpId="0" animBg="1"/>
      <p:bldP spid="13" grpId="0"/>
      <p:bldP spid="52229" grpId="0"/>
      <p:bldP spid="52230" grpId="0"/>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Rectangle 36"/>
          <p:cNvSpPr>
            <a:spLocks noChangeArrowheads="1"/>
          </p:cNvSpPr>
          <p:nvPr/>
        </p:nvSpPr>
        <p:spPr bwMode="auto">
          <a:xfrm>
            <a:off x="228600" y="228600"/>
            <a:ext cx="8610600" cy="7620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fontAlgn="base">
              <a:lnSpc>
                <a:spcPts val="3600"/>
              </a:lnSpc>
              <a:spcBef>
                <a:spcPct val="20000"/>
              </a:spcBef>
              <a:spcAft>
                <a:spcPct val="0"/>
              </a:spcAft>
            </a:pPr>
            <a:r>
              <a:rPr lang="en-US" altLang="zh-CN" sz="2600" b="1" i="1" smtClean="0">
                <a:solidFill>
                  <a:srgbClr val="C00000"/>
                </a:solidFill>
                <a:latin typeface="Times New Roman" panose="02020603050405020304" pitchFamily="18" charset="0"/>
                <a:ea typeface="楷体_GB2312" pitchFamily="49" charset="-122"/>
              </a:rPr>
              <a:t>        (C)</a:t>
            </a:r>
            <a:r>
              <a:rPr lang="en-US" altLang="zh-CN" sz="2600" smtClean="0">
                <a:solidFill>
                  <a:srgbClr val="C00000"/>
                </a:solidFill>
                <a:latin typeface="Times New Roman" panose="02020603050405020304" pitchFamily="18" charset="0"/>
                <a:ea typeface="楷体_GB2312" pitchFamily="49" charset="-122"/>
              </a:rPr>
              <a:t> </a:t>
            </a:r>
            <a:r>
              <a:rPr lang="zh-CN" altLang="en-US" sz="2600" b="1" smtClean="0">
                <a:solidFill>
                  <a:srgbClr val="000000"/>
                </a:solidFill>
                <a:latin typeface="Times New Roman" panose="02020603050405020304" pitchFamily="18" charset="0"/>
                <a:ea typeface="楷体_GB2312" pitchFamily="49" charset="-122"/>
              </a:rPr>
              <a:t>若物体只与外界发生热交换，而不作功，假设向环境放热</a:t>
            </a:r>
            <a:r>
              <a:rPr lang="en-US" altLang="zh-CN" sz="2600" b="1" smtClean="0">
                <a:solidFill>
                  <a:srgbClr val="000000"/>
                </a:solidFill>
                <a:latin typeface="Times New Roman" panose="02020603050405020304" pitchFamily="18" charset="0"/>
                <a:ea typeface="楷体_GB2312" pitchFamily="49" charset="-122"/>
              </a:rPr>
              <a:t>Q</a:t>
            </a:r>
            <a:r>
              <a:rPr lang="zh-CN" altLang="en-US" sz="2600" b="1" smtClean="0">
                <a:solidFill>
                  <a:srgbClr val="000000"/>
                </a:solidFill>
                <a:latin typeface="Times New Roman" panose="02020603050405020304" pitchFamily="18" charset="0"/>
                <a:ea typeface="楷体_GB2312" pitchFamily="49" charset="-122"/>
              </a:rPr>
              <a:t>，即</a:t>
            </a:r>
            <a:r>
              <a:rPr lang="zh-CN" altLang="en-US" sz="2600" smtClean="0">
                <a:solidFill>
                  <a:srgbClr val="000000"/>
                </a:solidFill>
                <a:latin typeface="Times New Roman" panose="02020603050405020304" pitchFamily="18" charset="0"/>
                <a:ea typeface="楷体_GB2312" pitchFamily="49" charset="-122"/>
              </a:rPr>
              <a:t> </a:t>
            </a:r>
            <a:endParaRPr lang="en-US" altLang="zh-CN" sz="2600" b="1" i="1" smtClean="0">
              <a:solidFill>
                <a:srgbClr val="000000"/>
              </a:solidFill>
              <a:latin typeface="Times New Roman" panose="02020603050405020304" pitchFamily="18" charset="0"/>
            </a:endParaRPr>
          </a:p>
        </p:txBody>
      </p:sp>
      <p:sp>
        <p:nvSpPr>
          <p:cNvPr id="14" name="矩形 13"/>
          <p:cNvSpPr>
            <a:spLocks noChangeArrowheads="1"/>
          </p:cNvSpPr>
          <p:nvPr/>
        </p:nvSpPr>
        <p:spPr bwMode="auto">
          <a:xfrm>
            <a:off x="2819400" y="1295400"/>
            <a:ext cx="2962275" cy="5127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lang="en-US" altLang="zh-CN" sz="2600" b="1" i="1" smtClean="0">
                <a:solidFill>
                  <a:srgbClr val="000000"/>
                </a:solidFill>
                <a:latin typeface="Times New Roman" panose="02020603050405020304" pitchFamily="18" charset="0"/>
              </a:rPr>
              <a:t>W </a:t>
            </a:r>
            <a:r>
              <a:rPr lang="en-US" altLang="zh-CN" sz="2600" b="1" smtClean="0">
                <a:solidFill>
                  <a:srgbClr val="000000"/>
                </a:solidFill>
                <a:latin typeface="Times New Roman" panose="02020603050405020304" pitchFamily="18" charset="0"/>
              </a:rPr>
              <a:t>= 0,   ∆</a:t>
            </a:r>
            <a:r>
              <a:rPr lang="en-US" altLang="zh-CN" sz="2600" b="1" i="1" smtClean="0">
                <a:solidFill>
                  <a:srgbClr val="000000"/>
                </a:solidFill>
                <a:latin typeface="Times New Roman" panose="02020603050405020304" pitchFamily="18" charset="0"/>
              </a:rPr>
              <a:t>U = Q </a:t>
            </a:r>
            <a:r>
              <a:rPr lang="zh-CN" altLang="en-US" sz="2600" b="1" i="1" smtClean="0">
                <a:solidFill>
                  <a:srgbClr val="000000"/>
                </a:solidFill>
                <a:latin typeface="Times New Roman" panose="02020603050405020304" pitchFamily="18" charset="0"/>
              </a:rPr>
              <a:t>＜</a:t>
            </a:r>
            <a:r>
              <a:rPr lang="en-US" altLang="zh-CN" sz="2600" b="1" i="1" smtClean="0">
                <a:solidFill>
                  <a:srgbClr val="000000"/>
                </a:solidFill>
                <a:latin typeface="Times New Roman" panose="02020603050405020304" pitchFamily="18" charset="0"/>
              </a:rPr>
              <a:t>0</a:t>
            </a:r>
            <a:endParaRPr kumimoji="1" lang="zh-CN" altLang="en-US" sz="3000" b="1" smtClean="0">
              <a:solidFill>
                <a:srgbClr val="000000"/>
              </a:solidFill>
              <a:latin typeface="Times New Roman" panose="02020603050405020304" pitchFamily="18" charset="0"/>
              <a:ea typeface="楷体_GB2312" pitchFamily="49" charset="-122"/>
            </a:endParaRPr>
          </a:p>
        </p:txBody>
      </p:sp>
      <p:sp>
        <p:nvSpPr>
          <p:cNvPr id="15" name="矩形 14"/>
          <p:cNvSpPr>
            <a:spLocks noChangeArrowheads="1"/>
          </p:cNvSpPr>
          <p:nvPr/>
        </p:nvSpPr>
        <p:spPr bwMode="auto">
          <a:xfrm>
            <a:off x="2667000" y="2514600"/>
            <a:ext cx="3748088" cy="5127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fontAlgn="base">
              <a:lnSpc>
                <a:spcPts val="3600"/>
              </a:lnSpc>
              <a:spcBef>
                <a:spcPct val="20000"/>
              </a:spcBef>
              <a:spcAft>
                <a:spcPct val="0"/>
              </a:spcAft>
            </a:pPr>
            <a:r>
              <a:rPr lang="en-US" altLang="zh-CN" sz="2600" b="1" i="1" smtClean="0">
                <a:solidFill>
                  <a:srgbClr val="000000"/>
                </a:solidFill>
                <a:latin typeface="Times New Roman" panose="02020603050405020304" pitchFamily="18" charset="0"/>
                <a:ea typeface="楷体_GB2312" pitchFamily="49" charset="-122"/>
              </a:rPr>
              <a:t>W </a:t>
            </a:r>
            <a:r>
              <a:rPr lang="en-US" altLang="zh-CN" sz="2600" b="1" smtClean="0">
                <a:solidFill>
                  <a:srgbClr val="000000"/>
                </a:solidFill>
                <a:latin typeface="Times New Roman" panose="02020603050405020304" pitchFamily="18" charset="0"/>
                <a:ea typeface="楷体_GB2312" pitchFamily="49" charset="-122"/>
              </a:rPr>
              <a:t>= </a:t>
            </a:r>
            <a:r>
              <a:rPr lang="zh-CN" altLang="en-US" sz="2600" b="1" smtClean="0">
                <a:solidFill>
                  <a:srgbClr val="000000"/>
                </a:solidFill>
                <a:latin typeface="Times New Roman" panose="02020603050405020304" pitchFamily="18" charset="0"/>
                <a:ea typeface="楷体_GB2312" pitchFamily="49" charset="-122"/>
              </a:rPr>
              <a:t>－</a:t>
            </a:r>
            <a:r>
              <a:rPr lang="en-US" altLang="zh-CN" sz="2600" b="1" smtClean="0">
                <a:solidFill>
                  <a:srgbClr val="000000"/>
                </a:solidFill>
                <a:latin typeface="Times New Roman" panose="02020603050405020304" pitchFamily="18" charset="0"/>
                <a:ea typeface="楷体_GB2312" pitchFamily="49" charset="-122"/>
              </a:rPr>
              <a:t>Q,   ∆</a:t>
            </a:r>
            <a:r>
              <a:rPr lang="en-US" altLang="zh-CN" sz="2600" b="1" i="1" smtClean="0">
                <a:solidFill>
                  <a:srgbClr val="000000"/>
                </a:solidFill>
                <a:latin typeface="Times New Roman" panose="02020603050405020304" pitchFamily="18" charset="0"/>
                <a:ea typeface="楷体_GB2312" pitchFamily="49" charset="-122"/>
              </a:rPr>
              <a:t>U = 0</a:t>
            </a:r>
          </a:p>
        </p:txBody>
      </p:sp>
      <p:sp>
        <p:nvSpPr>
          <p:cNvPr id="16" name="矩形 15"/>
          <p:cNvSpPr>
            <a:spLocks noChangeArrowheads="1"/>
          </p:cNvSpPr>
          <p:nvPr/>
        </p:nvSpPr>
        <p:spPr bwMode="auto">
          <a:xfrm>
            <a:off x="914400" y="1905000"/>
            <a:ext cx="5562600" cy="554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3600"/>
              </a:lnSpc>
              <a:spcBef>
                <a:spcPct val="20000"/>
              </a:spcBef>
              <a:spcAft>
                <a:spcPct val="0"/>
              </a:spcAft>
            </a:pPr>
            <a:r>
              <a:rPr lang="en-US" altLang="zh-CN" sz="2600" b="1" i="1" smtClean="0">
                <a:solidFill>
                  <a:srgbClr val="C00000"/>
                </a:solidFill>
                <a:latin typeface="Times New Roman" panose="02020603050405020304" pitchFamily="18" charset="0"/>
                <a:ea typeface="楷体_GB2312" pitchFamily="49" charset="-122"/>
              </a:rPr>
              <a:t>(D) </a:t>
            </a:r>
            <a:r>
              <a:rPr lang="zh-CN" altLang="en-US" sz="2600" b="1" smtClean="0">
                <a:solidFill>
                  <a:srgbClr val="000000"/>
                </a:solidFill>
                <a:latin typeface="Times New Roman" panose="02020603050405020304" pitchFamily="18" charset="0"/>
                <a:ea typeface="楷体_GB2312" pitchFamily="49" charset="-122"/>
              </a:rPr>
              <a:t>若是循环过程</a:t>
            </a:r>
            <a:r>
              <a:rPr lang="en-US" altLang="zh-CN" sz="2600" b="1" smtClean="0">
                <a:solidFill>
                  <a:srgbClr val="000000"/>
                </a:solidFill>
                <a:latin typeface="Times New Roman" panose="02020603050405020304" pitchFamily="18" charset="0"/>
                <a:ea typeface="楷体_GB2312" pitchFamily="49" charset="-122"/>
              </a:rPr>
              <a:t>---cyclic system</a:t>
            </a:r>
            <a:r>
              <a:rPr lang="zh-CN" altLang="en-US" sz="2600" b="1" smtClean="0">
                <a:solidFill>
                  <a:srgbClr val="000000"/>
                </a:solidFill>
                <a:latin typeface="Times New Roman" panose="02020603050405020304" pitchFamily="18" charset="0"/>
                <a:ea typeface="楷体_GB2312" pitchFamily="49" charset="-122"/>
              </a:rPr>
              <a:t>，即</a:t>
            </a:r>
            <a:r>
              <a:rPr lang="en-US" altLang="zh-CN" sz="2600" b="1" smtClean="0">
                <a:solidFill>
                  <a:srgbClr val="000000"/>
                </a:solidFill>
                <a:latin typeface="Times New Roman" panose="02020603050405020304" pitchFamily="18" charset="0"/>
                <a:ea typeface="楷体_GB2312"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blinds(horizontal)">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blinds(horizontal)">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51" name="Rectangle 23"/>
          <p:cNvSpPr>
            <a:spLocks noChangeArrowheads="1"/>
          </p:cNvSpPr>
          <p:nvPr/>
        </p:nvSpPr>
        <p:spPr bwMode="auto">
          <a:xfrm>
            <a:off x="762000" y="152400"/>
            <a:ext cx="4495800" cy="523875"/>
          </a:xfrm>
          <a:prstGeom prst="rect">
            <a:avLst/>
          </a:prstGeom>
          <a:solidFill>
            <a:schemeClr val="bg1"/>
          </a:solidFill>
          <a:ln w="9525">
            <a:noFill/>
            <a:miter lim="800000"/>
          </a:ln>
          <a:effectLst/>
        </p:spPr>
        <p:txBody>
          <a:bodyPr>
            <a:spAutoFit/>
          </a:bodyPr>
          <a:lstStyle/>
          <a:p>
            <a:pPr fontAlgn="base">
              <a:spcBef>
                <a:spcPct val="0"/>
              </a:spcBef>
              <a:spcAft>
                <a:spcPct val="0"/>
              </a:spcAft>
              <a:defRPr/>
            </a:pPr>
            <a:endParaRPr kumimoji="1" lang="zh-CN" altLang="en-US" sz="2800" b="1" i="1" dirty="0">
              <a:solidFill>
                <a:srgbClr val="990000"/>
              </a:solidFill>
              <a:effectLst>
                <a:outerShdw blurRad="38100" dist="38100" dir="2700000" algn="tl">
                  <a:srgbClr val="C0C0C0"/>
                </a:outerShdw>
              </a:effectLst>
              <a:latin typeface="Times New Roman" panose="02020603050405020304" pitchFamily="18" charset="0"/>
              <a:ea typeface="楷体_GB2312" pitchFamily="49" charset="-122"/>
            </a:endParaRPr>
          </a:p>
        </p:txBody>
      </p:sp>
      <p:grpSp>
        <p:nvGrpSpPr>
          <p:cNvPr id="2" name="组合 8"/>
          <p:cNvGrpSpPr/>
          <p:nvPr/>
        </p:nvGrpSpPr>
        <p:grpSpPr bwMode="auto">
          <a:xfrm>
            <a:off x="228600" y="1143000"/>
            <a:ext cx="8610600" cy="2925763"/>
            <a:chOff x="228600" y="1143000"/>
            <a:chExt cx="8610600" cy="2925763"/>
          </a:xfrm>
        </p:grpSpPr>
        <p:sp>
          <p:nvSpPr>
            <p:cNvPr id="58375" name="Rectangle 24"/>
            <p:cNvSpPr>
              <a:spLocks noChangeArrowheads="1"/>
            </p:cNvSpPr>
            <p:nvPr/>
          </p:nvSpPr>
          <p:spPr bwMode="auto">
            <a:xfrm>
              <a:off x="838200" y="1600200"/>
              <a:ext cx="6934200" cy="9779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pPr fontAlgn="base">
                <a:lnSpc>
                  <a:spcPts val="3600"/>
                </a:lnSpc>
                <a:spcBef>
                  <a:spcPct val="0"/>
                </a:spcBef>
                <a:spcAft>
                  <a:spcPct val="0"/>
                </a:spcAft>
              </a:pPr>
              <a:r>
                <a:rPr lang="en-US" altLang="zh-CN" sz="2600" i="1" smtClean="0">
                  <a:solidFill>
                    <a:srgbClr val="000000"/>
                  </a:solidFill>
                  <a:latin typeface="Times New Roman" panose="02020603050405020304" pitchFamily="18" charset="0"/>
                </a:rPr>
                <a:t>       </a:t>
              </a:r>
              <a:r>
                <a:rPr lang="en-US" altLang="zh-CN" sz="2600" b="1" i="1" smtClean="0">
                  <a:solidFill>
                    <a:srgbClr val="000000"/>
                  </a:solidFill>
                  <a:latin typeface="Times New Roman" panose="02020603050405020304" pitchFamily="18" charset="0"/>
                </a:rPr>
                <a:t>How much heat is evolved during a chemical reaction ?</a:t>
              </a:r>
            </a:p>
          </p:txBody>
        </p:sp>
        <p:sp>
          <p:nvSpPr>
            <p:cNvPr id="58376" name="Rectangle 25"/>
            <p:cNvSpPr>
              <a:spLocks noChangeArrowheads="1"/>
            </p:cNvSpPr>
            <p:nvPr/>
          </p:nvSpPr>
          <p:spPr bwMode="auto">
            <a:xfrm>
              <a:off x="304800" y="2590800"/>
              <a:ext cx="8534400" cy="14779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3600"/>
                </a:lnSpc>
                <a:spcBef>
                  <a:spcPct val="0"/>
                </a:spcBef>
                <a:spcAft>
                  <a:spcPct val="0"/>
                </a:spcAft>
              </a:pPr>
              <a:r>
                <a:rPr kumimoji="1" lang="en-US" altLang="zh-CN" sz="2600" b="1" smtClean="0">
                  <a:solidFill>
                    <a:srgbClr val="000000"/>
                  </a:solidFill>
                  <a:latin typeface="Times New Roman" panose="02020603050405020304" pitchFamily="18" charset="0"/>
                </a:rPr>
                <a:t>        </a:t>
              </a:r>
              <a:r>
                <a:rPr kumimoji="1" lang="zh-CN" altLang="en-US" sz="2600" b="1" smtClean="0">
                  <a:solidFill>
                    <a:srgbClr val="000000"/>
                  </a:solidFill>
                  <a:latin typeface="Times New Roman" panose="02020603050405020304" pitchFamily="18" charset="0"/>
                </a:rPr>
                <a:t>我们知道，</a:t>
              </a:r>
              <a:r>
                <a:rPr kumimoji="1" lang="zh-CN" altLang="en-US" sz="2600" b="1" smtClean="0">
                  <a:solidFill>
                    <a:srgbClr val="000000"/>
                  </a:solidFill>
                  <a:latin typeface="Times New Roman" panose="02020603050405020304" pitchFamily="18" charset="0"/>
                  <a:ea typeface="楷体_GB2312" pitchFamily="49" charset="-122"/>
                </a:rPr>
                <a:t>化学反应是反应物分子中旧键的削弱、断裂和产物分子中新键形成的过程。前者要吸收能量</a:t>
              </a:r>
              <a:r>
                <a:rPr kumimoji="1" lang="en-US" altLang="zh-CN" sz="2600" b="1" smtClean="0">
                  <a:solidFill>
                    <a:srgbClr val="000000"/>
                  </a:solidFill>
                  <a:latin typeface="Times New Roman" panose="02020603050405020304" pitchFamily="18" charset="0"/>
                  <a:ea typeface="楷体_GB2312" pitchFamily="49" charset="-122"/>
                </a:rPr>
                <a:t>, </a:t>
              </a:r>
              <a:r>
                <a:rPr kumimoji="1" lang="zh-CN" altLang="en-US" sz="2600" b="1" smtClean="0">
                  <a:solidFill>
                    <a:srgbClr val="000000"/>
                  </a:solidFill>
                  <a:latin typeface="Times New Roman" panose="02020603050405020304" pitchFamily="18" charset="0"/>
                  <a:ea typeface="楷体_GB2312" pitchFamily="49" charset="-122"/>
                </a:rPr>
                <a:t>后者要释放能量，两者间的差值</a:t>
              </a:r>
              <a:r>
                <a:rPr kumimoji="1" lang="zh-CN" altLang="en-US" sz="2600" b="1" i="1" smtClean="0">
                  <a:solidFill>
                    <a:srgbClr val="C00000"/>
                  </a:solidFill>
                  <a:latin typeface="Times New Roman" panose="02020603050405020304" pitchFamily="18" charset="0"/>
                  <a:ea typeface="楷体_GB2312" pitchFamily="49" charset="-122"/>
                </a:rPr>
                <a:t>可近似为</a:t>
              </a:r>
              <a:r>
                <a:rPr kumimoji="1" lang="zh-CN" altLang="en-US" sz="2600" b="1" smtClean="0">
                  <a:solidFill>
                    <a:srgbClr val="000000"/>
                  </a:solidFill>
                  <a:latin typeface="Times New Roman" panose="02020603050405020304" pitchFamily="18" charset="0"/>
                  <a:ea typeface="楷体_GB2312" pitchFamily="49" charset="-122"/>
                </a:rPr>
                <a:t>化学反应的反应热。  </a:t>
              </a:r>
            </a:p>
          </p:txBody>
        </p:sp>
        <p:sp>
          <p:nvSpPr>
            <p:cNvPr id="58377" name="Rectangle 27"/>
            <p:cNvSpPr>
              <a:spLocks noChangeArrowheads="1"/>
            </p:cNvSpPr>
            <p:nvPr/>
          </p:nvSpPr>
          <p:spPr bwMode="auto">
            <a:xfrm>
              <a:off x="228600" y="1143000"/>
              <a:ext cx="8534400" cy="55403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3600"/>
                </a:lnSpc>
                <a:spcBef>
                  <a:spcPct val="0"/>
                </a:spcBef>
                <a:spcAft>
                  <a:spcPct val="0"/>
                </a:spcAft>
              </a:pPr>
              <a:r>
                <a:rPr kumimoji="1" lang="en-US" altLang="zh-CN" sz="2600" b="1" smtClean="0">
                  <a:solidFill>
                    <a:srgbClr val="000000"/>
                  </a:solidFill>
                  <a:latin typeface="Times New Roman" panose="02020603050405020304" pitchFamily="18" charset="0"/>
                </a:rPr>
                <a:t>        </a:t>
              </a:r>
              <a:r>
                <a:rPr kumimoji="1" lang="zh-CN" altLang="en-US" sz="2600" b="1" smtClean="0">
                  <a:solidFill>
                    <a:srgbClr val="000000"/>
                  </a:solidFill>
                  <a:latin typeface="Times New Roman" panose="02020603050405020304" pitchFamily="18" charset="0"/>
                </a:rPr>
                <a:t>对于一个具体的化学反应，</a:t>
              </a:r>
              <a:r>
                <a:rPr kumimoji="1" lang="zh-CN" altLang="en-US" sz="2600" b="1" smtClean="0">
                  <a:solidFill>
                    <a:srgbClr val="000000"/>
                  </a:solidFill>
                  <a:latin typeface="Times New Roman" panose="02020603050405020304" pitchFamily="18" charset="0"/>
                  <a:ea typeface="楷体_GB2312" pitchFamily="49" charset="-122"/>
                </a:rPr>
                <a:t>如何来测定其</a:t>
              </a:r>
              <a:r>
                <a:rPr lang="zh-CN" altLang="en-US" sz="2600" b="1" smtClean="0">
                  <a:solidFill>
                    <a:srgbClr val="000000"/>
                  </a:solidFill>
                  <a:latin typeface="Times New Roman" panose="02020603050405020304" pitchFamily="18" charset="0"/>
                  <a:ea typeface="楷体_GB2312" pitchFamily="49" charset="-122"/>
                </a:rPr>
                <a:t>∆</a:t>
              </a:r>
              <a:r>
                <a:rPr lang="en-US" altLang="zh-CN" sz="2600" b="1" smtClean="0">
                  <a:solidFill>
                    <a:srgbClr val="000000"/>
                  </a:solidFill>
                  <a:latin typeface="Times New Roman" panose="02020603050405020304" pitchFamily="18" charset="0"/>
                  <a:ea typeface="楷体_GB2312" pitchFamily="49" charset="-122"/>
                </a:rPr>
                <a:t>U</a:t>
              </a:r>
              <a:r>
                <a:rPr lang="zh-CN" altLang="en-US" sz="2600" b="1" smtClean="0">
                  <a:solidFill>
                    <a:srgbClr val="000000"/>
                  </a:solidFill>
                  <a:latin typeface="Times New Roman" panose="02020603050405020304" pitchFamily="18" charset="0"/>
                  <a:ea typeface="楷体_GB2312" pitchFamily="49" charset="-122"/>
                </a:rPr>
                <a:t>？</a:t>
              </a:r>
            </a:p>
          </p:txBody>
        </p:sp>
      </p:grpSp>
      <p:sp>
        <p:nvSpPr>
          <p:cNvPr id="10" name="Rectangle 5"/>
          <p:cNvSpPr>
            <a:spLocks noChangeArrowheads="1"/>
          </p:cNvSpPr>
          <p:nvPr/>
        </p:nvSpPr>
        <p:spPr bwMode="auto">
          <a:xfrm>
            <a:off x="1828800" y="76200"/>
            <a:ext cx="5867400" cy="457200"/>
          </a:xfrm>
          <a:prstGeom prst="rect">
            <a:avLst/>
          </a:prstGeom>
          <a:solidFill>
            <a:schemeClr val="bg2">
              <a:lumMod val="40000"/>
              <a:lumOff val="60000"/>
            </a:schemeClr>
          </a:solidFill>
          <a:ln w="9525">
            <a:noFill/>
            <a:miter lim="800000"/>
          </a:ln>
        </p:spPr>
        <p:txBody>
          <a:bodyPr/>
          <a:lstStyle/>
          <a:p>
            <a:pPr algn="ctr" fontAlgn="base">
              <a:spcBef>
                <a:spcPct val="0"/>
              </a:spcBef>
              <a:spcAft>
                <a:spcPct val="0"/>
              </a:spcAft>
              <a:defRPr/>
            </a:pPr>
            <a:r>
              <a:rPr lang="zh-CN" altLang="en-US" sz="2800" b="1" dirty="0">
                <a:solidFill>
                  <a:srgbClr val="990000"/>
                </a:solidFill>
                <a:latin typeface="楷体_GB2312" pitchFamily="49" charset="-122"/>
                <a:ea typeface="楷体_GB2312" pitchFamily="49" charset="-122"/>
              </a:rPr>
              <a:t>第三节   化学反应的</a:t>
            </a:r>
            <a:r>
              <a:rPr kumimoji="1" lang="zh-CN" altLang="en-US" sz="2800" b="1" dirty="0">
                <a:solidFill>
                  <a:srgbClr val="990000"/>
                </a:solidFill>
                <a:effectLst>
                  <a:outerShdw blurRad="38100" dist="38100" dir="2700000" algn="tl">
                    <a:srgbClr val="C0C0C0"/>
                  </a:outerShdw>
                </a:effectLst>
                <a:latin typeface="Times New Roman" panose="02020603050405020304" pitchFamily="18" charset="0"/>
                <a:ea typeface="楷体_GB2312" pitchFamily="49" charset="-122"/>
              </a:rPr>
              <a:t>反应热</a:t>
            </a:r>
          </a:p>
        </p:txBody>
      </p:sp>
      <p:sp>
        <p:nvSpPr>
          <p:cNvPr id="11" name="矩形 10"/>
          <p:cNvSpPr/>
          <p:nvPr/>
        </p:nvSpPr>
        <p:spPr>
          <a:xfrm>
            <a:off x="152400" y="609600"/>
            <a:ext cx="3276600" cy="412750"/>
          </a:xfrm>
          <a:prstGeom prst="rect">
            <a:avLst/>
          </a:prstGeom>
          <a:solidFill>
            <a:schemeClr val="bg2">
              <a:lumMod val="40000"/>
              <a:lumOff val="60000"/>
            </a:schemeClr>
          </a:solidFill>
        </p:spPr>
        <p:txBody>
          <a:bodyPr>
            <a:spAutoFit/>
          </a:bodyPr>
          <a:lstStyle/>
          <a:p>
            <a:pPr algn="ctr" eaLnBrk="0" fontAlgn="base" hangingPunct="0">
              <a:lnSpc>
                <a:spcPct val="80000"/>
              </a:lnSpc>
              <a:spcBef>
                <a:spcPct val="50000"/>
              </a:spcBef>
              <a:spcAft>
                <a:spcPct val="0"/>
              </a:spcAft>
              <a:defRPr/>
            </a:pPr>
            <a:r>
              <a:rPr kumimoji="1" lang="en-US" altLang="zh-CN" sz="2600" b="1" i="1" dirty="0">
                <a:solidFill>
                  <a:srgbClr val="990000"/>
                </a:solidFill>
                <a:effectLst>
                  <a:outerShdw blurRad="38100" dist="38100" dir="2700000" algn="tl">
                    <a:srgbClr val="C0C0C0"/>
                  </a:outerShdw>
                </a:effectLst>
                <a:latin typeface="Times New Roman" panose="02020603050405020304" pitchFamily="18" charset="0"/>
                <a:ea typeface="楷体_GB2312" pitchFamily="49" charset="-122"/>
              </a:rPr>
              <a:t>1</a:t>
            </a:r>
            <a:r>
              <a:rPr kumimoji="1" lang="zh-CN" altLang="en-US" sz="2600" b="1" i="1" dirty="0">
                <a:solidFill>
                  <a:srgbClr val="990000"/>
                </a:solidFill>
                <a:effectLst>
                  <a:outerShdw blurRad="38100" dist="38100" dir="2700000" algn="tl">
                    <a:srgbClr val="C0C0C0"/>
                  </a:outerShdw>
                </a:effectLst>
                <a:latin typeface="Times New Roman" panose="02020603050405020304" pitchFamily="18" charset="0"/>
                <a:ea typeface="楷体_GB2312" pitchFamily="49" charset="-122"/>
              </a:rPr>
              <a:t>、定容反应热</a:t>
            </a:r>
            <a:r>
              <a:rPr lang="en-US" altLang="zh-CN" sz="2600" b="1" i="1" dirty="0">
                <a:solidFill>
                  <a:srgbClr val="990000"/>
                </a:solidFill>
                <a:effectLst>
                  <a:outerShdw blurRad="38100" dist="38100" dir="2700000" algn="tl">
                    <a:srgbClr val="C0C0C0"/>
                  </a:outerShdw>
                </a:effectLst>
                <a:latin typeface="Times New Roman" panose="02020603050405020304" pitchFamily="18" charset="0"/>
                <a:ea typeface="楷体_GB2312" pitchFamily="49" charset="-122"/>
              </a:rPr>
              <a:t> </a:t>
            </a:r>
            <a:r>
              <a:rPr lang="en-US" altLang="zh-CN" sz="2600" b="1" i="1" dirty="0" err="1">
                <a:solidFill>
                  <a:srgbClr val="990000"/>
                </a:solidFill>
                <a:latin typeface="Times New Roman" panose="02020603050405020304" pitchFamily="18" charset="0"/>
                <a:ea typeface="楷体_GB2312" pitchFamily="49" charset="-122"/>
              </a:rPr>
              <a:t>Q</a:t>
            </a:r>
            <a:r>
              <a:rPr lang="en-US" altLang="zh-CN" sz="2600" b="1" i="1" baseline="-25000" dirty="0" err="1">
                <a:solidFill>
                  <a:srgbClr val="990000"/>
                </a:solidFill>
                <a:latin typeface="Times New Roman" panose="02020603050405020304" pitchFamily="18" charset="0"/>
                <a:ea typeface="楷体_GB2312" pitchFamily="49" charset="-122"/>
              </a:rPr>
              <a:t>v</a:t>
            </a:r>
            <a:endParaRPr lang="en-US" altLang="zh-CN" sz="2600" b="1" i="1" baseline="-25000" dirty="0">
              <a:solidFill>
                <a:srgbClr val="990000"/>
              </a:solidFill>
              <a:latin typeface="Times New Roman" panose="02020603050405020304" pitchFamily="18" charset="0"/>
              <a:ea typeface="楷体_GB2312" pitchFamily="49" charset="-122"/>
            </a:endParaRPr>
          </a:p>
        </p:txBody>
      </p:sp>
      <p:sp>
        <p:nvSpPr>
          <p:cNvPr id="54280" name="矩形 11"/>
          <p:cNvSpPr>
            <a:spLocks noChangeArrowheads="1"/>
          </p:cNvSpPr>
          <p:nvPr/>
        </p:nvSpPr>
        <p:spPr bwMode="auto">
          <a:xfrm>
            <a:off x="533400" y="4267200"/>
            <a:ext cx="7772400" cy="554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lang="zh-CN" altLang="en-US" sz="2600" b="1" smtClean="0">
                <a:solidFill>
                  <a:srgbClr val="000000"/>
                </a:solidFill>
                <a:latin typeface="Times New Roman" panose="02020603050405020304" pitchFamily="18" charset="0"/>
                <a:ea typeface="楷体_GB2312" pitchFamily="49" charset="-122"/>
              </a:rPr>
              <a:t>实验室测定反应热有几种方法，在这里只简介：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4280"/>
                                        </p:tgtEl>
                                        <p:attrNameLst>
                                          <p:attrName>style.visibility</p:attrName>
                                        </p:attrNameLst>
                                      </p:cBhvr>
                                      <p:to>
                                        <p:strVal val="visible"/>
                                      </p:to>
                                    </p:set>
                                    <p:animEffect transition="in" filter="blinds(horizontal)">
                                      <p:cBhvr>
                                        <p:cTn id="22" dur="500"/>
                                        <p:tgtEl>
                                          <p:spTgt spid="54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54280" grpId="0"/>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组合 39"/>
          <p:cNvGrpSpPr/>
          <p:nvPr/>
        </p:nvGrpSpPr>
        <p:grpSpPr bwMode="auto">
          <a:xfrm>
            <a:off x="457200" y="4114800"/>
            <a:ext cx="8256588" cy="1581150"/>
            <a:chOff x="457200" y="3886200"/>
            <a:chExt cx="8256588" cy="1581150"/>
          </a:xfrm>
        </p:grpSpPr>
        <p:sp>
          <p:nvSpPr>
            <p:cNvPr id="73" name="Rectangle 36"/>
            <p:cNvSpPr>
              <a:spLocks noChangeArrowheads="1"/>
            </p:cNvSpPr>
            <p:nvPr/>
          </p:nvSpPr>
          <p:spPr bwMode="auto">
            <a:xfrm>
              <a:off x="990600" y="5029200"/>
              <a:ext cx="7315200" cy="438150"/>
            </a:xfrm>
            <a:prstGeom prst="rect">
              <a:avLst/>
            </a:prstGeom>
            <a:solidFill>
              <a:schemeClr val="bg2">
                <a:lumMod val="40000"/>
                <a:lumOff val="60000"/>
              </a:schemeClr>
            </a:solidFill>
            <a:ln w="9525" algn="ctr">
              <a:noFill/>
              <a:miter lim="800000"/>
            </a:ln>
            <a:effectLst>
              <a:outerShdw sy="50000" kx="2453608" rotWithShape="0">
                <a:srgbClr val="808080">
                  <a:alpha val="50000"/>
                </a:srgbClr>
              </a:outerShdw>
            </a:effectLst>
          </p:spPr>
          <p:txBody>
            <a:bodyPr lIns="92075" tIns="46038" rIns="92075" bIns="46038">
              <a:spAutoFit/>
            </a:bodyPr>
            <a:lstStyle/>
            <a:p>
              <a:pPr algn="ctr" eaLnBrk="0" fontAlgn="base" hangingPunct="0">
                <a:lnSpc>
                  <a:spcPct val="80000"/>
                </a:lnSpc>
                <a:spcBef>
                  <a:spcPct val="50000"/>
                </a:spcBef>
                <a:spcAft>
                  <a:spcPct val="0"/>
                </a:spcAft>
                <a:defRPr/>
              </a:pPr>
              <a:r>
                <a:rPr kumimoji="1" lang="en-US" altLang="zh-CN" sz="2800" b="1" i="1" dirty="0" err="1">
                  <a:solidFill>
                    <a:srgbClr val="990000"/>
                  </a:solidFill>
                  <a:latin typeface="Times New Roman" panose="02020603050405020304" pitchFamily="18" charset="0"/>
                  <a:ea typeface="楷体_GB2312" pitchFamily="49" charset="-122"/>
                </a:rPr>
                <a:t>Q</a:t>
              </a:r>
              <a:r>
                <a:rPr kumimoji="1" lang="en-US" altLang="zh-CN" sz="2800" b="1" i="1" baseline="-25000" dirty="0" err="1">
                  <a:solidFill>
                    <a:srgbClr val="990000"/>
                  </a:solidFill>
                  <a:latin typeface="Times New Roman" panose="02020603050405020304" pitchFamily="18" charset="0"/>
                  <a:ea typeface="楷体_GB2312" pitchFamily="49" charset="-122"/>
                </a:rPr>
                <a:t>v</a:t>
              </a:r>
              <a:r>
                <a:rPr kumimoji="1" lang="en-US" altLang="zh-CN" sz="2800" b="1" i="1" dirty="0">
                  <a:solidFill>
                    <a:srgbClr val="990000"/>
                  </a:solidFill>
                  <a:latin typeface="Times New Roman" panose="02020603050405020304" pitchFamily="18" charset="0"/>
                  <a:ea typeface="楷体_GB2312" pitchFamily="49" charset="-122"/>
                </a:rPr>
                <a:t> = -[Q(H</a:t>
              </a:r>
              <a:r>
                <a:rPr kumimoji="1" lang="en-US" altLang="zh-CN" sz="2800" b="1" i="1" baseline="-25000" dirty="0">
                  <a:solidFill>
                    <a:srgbClr val="990000"/>
                  </a:solidFill>
                  <a:latin typeface="Times New Roman" panose="02020603050405020304" pitchFamily="18" charset="0"/>
                  <a:ea typeface="楷体_GB2312" pitchFamily="49" charset="-122"/>
                </a:rPr>
                <a:t>2</a:t>
              </a:r>
              <a:r>
                <a:rPr kumimoji="1" lang="en-US" altLang="zh-CN" sz="2800" b="1" i="1" dirty="0">
                  <a:solidFill>
                    <a:srgbClr val="990000"/>
                  </a:solidFill>
                  <a:latin typeface="Times New Roman" panose="02020603050405020304" pitchFamily="18" charset="0"/>
                  <a:ea typeface="楷体_GB2312" pitchFamily="49" charset="-122"/>
                </a:rPr>
                <a:t>O) + </a:t>
              </a:r>
              <a:r>
                <a:rPr kumimoji="1" lang="en-US" altLang="zh-CN" sz="2800" b="1" i="1" dirty="0" err="1">
                  <a:solidFill>
                    <a:srgbClr val="990000"/>
                  </a:solidFill>
                  <a:latin typeface="Times New Roman" panose="02020603050405020304" pitchFamily="18" charset="0"/>
                  <a:ea typeface="楷体_GB2312" pitchFamily="49" charset="-122"/>
                </a:rPr>
                <a:t>Q</a:t>
              </a:r>
              <a:r>
                <a:rPr kumimoji="1" lang="en-US" altLang="zh-CN" sz="2800" b="1" i="1" baseline="-25000" dirty="0" err="1">
                  <a:solidFill>
                    <a:srgbClr val="990000"/>
                  </a:solidFill>
                  <a:latin typeface="Times New Roman" panose="02020603050405020304" pitchFamily="18" charset="0"/>
                  <a:ea typeface="楷体_GB2312" pitchFamily="49" charset="-122"/>
                </a:rPr>
                <a:t>b</a:t>
              </a:r>
              <a:r>
                <a:rPr kumimoji="1" lang="en-US" altLang="zh-CN" sz="2800" b="1" i="1" dirty="0">
                  <a:solidFill>
                    <a:srgbClr val="990000"/>
                  </a:solidFill>
                  <a:latin typeface="Times New Roman" panose="02020603050405020304" pitchFamily="18" charset="0"/>
                  <a:ea typeface="楷体_GB2312" pitchFamily="49" charset="-122"/>
                </a:rPr>
                <a:t>] = -[C(H</a:t>
              </a:r>
              <a:r>
                <a:rPr kumimoji="1" lang="en-US" altLang="zh-CN" sz="2800" b="1" i="1" baseline="-25000" dirty="0">
                  <a:solidFill>
                    <a:srgbClr val="990000"/>
                  </a:solidFill>
                  <a:latin typeface="Times New Roman" panose="02020603050405020304" pitchFamily="18" charset="0"/>
                  <a:ea typeface="楷体_GB2312" pitchFamily="49" charset="-122"/>
                </a:rPr>
                <a:t>2</a:t>
              </a:r>
              <a:r>
                <a:rPr kumimoji="1" lang="en-US" altLang="zh-CN" sz="2800" b="1" i="1" dirty="0">
                  <a:solidFill>
                    <a:srgbClr val="990000"/>
                  </a:solidFill>
                  <a:latin typeface="Times New Roman" panose="02020603050405020304" pitchFamily="18" charset="0"/>
                  <a:ea typeface="楷体_GB2312" pitchFamily="49" charset="-122"/>
                </a:rPr>
                <a:t>O) ·ΔT + </a:t>
              </a:r>
              <a:r>
                <a:rPr kumimoji="1" lang="en-US" altLang="zh-CN" sz="2800" b="1" i="1" dirty="0" err="1">
                  <a:solidFill>
                    <a:srgbClr val="990000"/>
                  </a:solidFill>
                  <a:latin typeface="Times New Roman" panose="02020603050405020304" pitchFamily="18" charset="0"/>
                  <a:ea typeface="楷体_GB2312" pitchFamily="49" charset="-122"/>
                </a:rPr>
                <a:t>C</a:t>
              </a:r>
              <a:r>
                <a:rPr kumimoji="1" lang="en-US" altLang="zh-CN" sz="2800" b="1" i="1" baseline="-25000" dirty="0" err="1">
                  <a:solidFill>
                    <a:srgbClr val="990000"/>
                  </a:solidFill>
                  <a:latin typeface="Times New Roman" panose="02020603050405020304" pitchFamily="18" charset="0"/>
                  <a:ea typeface="楷体_GB2312" pitchFamily="49" charset="-122"/>
                </a:rPr>
                <a:t>b</a:t>
              </a:r>
              <a:r>
                <a:rPr kumimoji="1" lang="en-US" altLang="zh-CN" sz="2800" b="1" i="1" dirty="0" err="1">
                  <a:solidFill>
                    <a:srgbClr val="990000"/>
                  </a:solidFill>
                  <a:latin typeface="Times New Roman" panose="02020603050405020304" pitchFamily="18" charset="0"/>
                  <a:ea typeface="楷体_GB2312" pitchFamily="49" charset="-122"/>
                </a:rPr>
                <a:t>·ΔT</a:t>
              </a:r>
              <a:r>
                <a:rPr kumimoji="1" lang="en-US" altLang="zh-CN" sz="2800" b="1" i="1" dirty="0">
                  <a:solidFill>
                    <a:srgbClr val="990000"/>
                  </a:solidFill>
                  <a:latin typeface="Times New Roman" panose="02020603050405020304" pitchFamily="18" charset="0"/>
                  <a:ea typeface="楷体_GB2312" pitchFamily="49" charset="-122"/>
                </a:rPr>
                <a:t>]</a:t>
              </a:r>
            </a:p>
          </p:txBody>
        </p:sp>
        <p:sp>
          <p:nvSpPr>
            <p:cNvPr id="74" name="Text Box 38"/>
            <p:cNvSpPr txBox="1">
              <a:spLocks noChangeArrowheads="1"/>
            </p:cNvSpPr>
            <p:nvPr/>
          </p:nvSpPr>
          <p:spPr bwMode="auto">
            <a:xfrm>
              <a:off x="457200" y="3886200"/>
              <a:ext cx="8256588" cy="946150"/>
            </a:xfrm>
            <a:prstGeom prst="rect">
              <a:avLst/>
            </a:prstGeom>
            <a:solidFill>
              <a:schemeClr val="bg1"/>
            </a:solidFill>
            <a:ln w="9525">
              <a:noFill/>
              <a:miter lim="800000"/>
            </a:ln>
            <a:effectLst>
              <a:outerShdw dist="35921" dir="2700000" algn="ctr" rotWithShape="0">
                <a:schemeClr val="bg2"/>
              </a:outerShdw>
            </a:effectLst>
          </p:spPr>
          <p:txBody>
            <a:bodyPr>
              <a:spAutoFit/>
            </a:bodyPr>
            <a:lstStyle/>
            <a:p>
              <a:pPr fontAlgn="base">
                <a:spcBef>
                  <a:spcPct val="50000"/>
                </a:spcBef>
                <a:spcAft>
                  <a:spcPct val="0"/>
                </a:spcAft>
                <a:defRPr/>
              </a:pPr>
              <a:r>
                <a:rPr kumimoji="1" lang="en-US" altLang="zh-CN" sz="2600" b="1" dirty="0">
                  <a:solidFill>
                    <a:srgbClr val="000000"/>
                  </a:solidFill>
                  <a:latin typeface="Times New Roman" panose="02020603050405020304" pitchFamily="18" charset="0"/>
                  <a:ea typeface="楷体_GB2312" pitchFamily="49" charset="-122"/>
                </a:rPr>
                <a:t>        </a:t>
              </a:r>
              <a:r>
                <a:rPr kumimoji="1" lang="zh-CN" altLang="en-US" sz="2600" b="1" dirty="0">
                  <a:solidFill>
                    <a:srgbClr val="000000"/>
                  </a:solidFill>
                  <a:latin typeface="Times New Roman" panose="02020603050405020304" pitchFamily="18" charset="0"/>
                  <a:ea typeface="楷体_GB2312" pitchFamily="49" charset="-122"/>
                </a:rPr>
                <a:t>显然，反应所放出的热</a:t>
              </a:r>
              <a:r>
                <a:rPr kumimoji="1" lang="en-US" altLang="zh-CN" sz="2800" b="1" dirty="0" err="1">
                  <a:solidFill>
                    <a:srgbClr val="990000"/>
                  </a:solidFill>
                  <a:latin typeface="Times New Roman" panose="02020603050405020304" pitchFamily="18" charset="0"/>
                  <a:ea typeface="楷体_GB2312" pitchFamily="49" charset="-122"/>
                </a:rPr>
                <a:t>Q</a:t>
              </a:r>
              <a:r>
                <a:rPr kumimoji="1" lang="en-US" altLang="zh-CN" sz="2800" b="1" baseline="-25000" dirty="0" err="1">
                  <a:solidFill>
                    <a:srgbClr val="990000"/>
                  </a:solidFill>
                  <a:latin typeface="Times New Roman" panose="02020603050405020304" pitchFamily="18" charset="0"/>
                  <a:ea typeface="楷体_GB2312" pitchFamily="49" charset="-122"/>
                </a:rPr>
                <a:t>v</a:t>
              </a:r>
              <a:r>
                <a:rPr kumimoji="1" lang="zh-CN" altLang="en-US" sz="2600" b="1" dirty="0">
                  <a:solidFill>
                    <a:srgbClr val="000000"/>
                  </a:solidFill>
                  <a:latin typeface="Times New Roman" panose="02020603050405020304" pitchFamily="18" charset="0"/>
                  <a:ea typeface="楷体_GB2312" pitchFamily="49" charset="-122"/>
                </a:rPr>
                <a:t>等于水所吸收的热</a:t>
              </a:r>
              <a:r>
                <a:rPr kumimoji="1" lang="en-US" altLang="zh-CN" sz="2800" b="1" dirty="0">
                  <a:solidFill>
                    <a:srgbClr val="990000"/>
                  </a:solidFill>
                  <a:latin typeface="Times New Roman" panose="02020603050405020304" pitchFamily="18" charset="0"/>
                  <a:ea typeface="楷体_GB2312" pitchFamily="49" charset="-122"/>
                </a:rPr>
                <a:t>Q </a:t>
              </a:r>
              <a:r>
                <a:rPr kumimoji="1" lang="en-US" altLang="zh-CN" sz="2600" b="1" dirty="0">
                  <a:solidFill>
                    <a:srgbClr val="000000"/>
                  </a:solidFill>
                  <a:latin typeface="Times New Roman" panose="02020603050405020304" pitchFamily="18" charset="0"/>
                  <a:ea typeface="楷体_GB2312" pitchFamily="49" charset="-122"/>
                </a:rPr>
                <a:t>(H</a:t>
              </a:r>
              <a:r>
                <a:rPr kumimoji="1" lang="en-US" altLang="zh-CN" sz="2600" b="1" baseline="-25000" dirty="0">
                  <a:solidFill>
                    <a:srgbClr val="000000"/>
                  </a:solidFill>
                  <a:latin typeface="Times New Roman" panose="02020603050405020304" pitchFamily="18" charset="0"/>
                  <a:ea typeface="楷体_GB2312" pitchFamily="49" charset="-122"/>
                </a:rPr>
                <a:t>2</a:t>
              </a:r>
              <a:r>
                <a:rPr kumimoji="1" lang="en-US" altLang="zh-CN" sz="2600" b="1" dirty="0">
                  <a:solidFill>
                    <a:srgbClr val="000000"/>
                  </a:solidFill>
                  <a:latin typeface="Times New Roman" panose="02020603050405020304" pitchFamily="18" charset="0"/>
                  <a:ea typeface="楷体_GB2312" pitchFamily="49" charset="-122"/>
                </a:rPr>
                <a:t>O)</a:t>
              </a:r>
              <a:r>
                <a:rPr kumimoji="1" lang="zh-CN" altLang="en-US" sz="2600" b="1" dirty="0">
                  <a:solidFill>
                    <a:srgbClr val="000000"/>
                  </a:solidFill>
                  <a:latin typeface="Times New Roman" panose="02020603050405020304" pitchFamily="18" charset="0"/>
                  <a:ea typeface="楷体_GB2312" pitchFamily="49" charset="-122"/>
                </a:rPr>
                <a:t>和钢弹组件所吸收的热</a:t>
              </a:r>
              <a:r>
                <a:rPr kumimoji="1" lang="en-US" altLang="zh-CN" sz="2800" b="1" dirty="0" err="1">
                  <a:solidFill>
                    <a:srgbClr val="990000"/>
                  </a:solidFill>
                  <a:latin typeface="Times New Roman" panose="02020603050405020304" pitchFamily="18" charset="0"/>
                  <a:ea typeface="楷体_GB2312" pitchFamily="49" charset="-122"/>
                </a:rPr>
                <a:t>Q</a:t>
              </a:r>
              <a:r>
                <a:rPr kumimoji="1" lang="en-US" altLang="zh-CN" sz="2600" b="1" baseline="-25000" dirty="0" err="1">
                  <a:solidFill>
                    <a:srgbClr val="990000"/>
                  </a:solidFill>
                  <a:latin typeface="Times New Roman" panose="02020603050405020304" pitchFamily="18" charset="0"/>
                  <a:ea typeface="楷体_GB2312" pitchFamily="49" charset="-122"/>
                </a:rPr>
                <a:t>b</a:t>
              </a:r>
              <a:r>
                <a:rPr kumimoji="1" lang="en-US" altLang="zh-CN" sz="2600" b="1" dirty="0">
                  <a:solidFill>
                    <a:srgbClr val="000000"/>
                  </a:solidFill>
                  <a:latin typeface="Times New Roman" panose="02020603050405020304" pitchFamily="18" charset="0"/>
                  <a:ea typeface="楷体_GB2312" pitchFamily="49" charset="-122"/>
                </a:rPr>
                <a:t> </a:t>
              </a:r>
              <a:r>
                <a:rPr kumimoji="1" lang="zh-CN" altLang="en-US" sz="2600" b="1" dirty="0">
                  <a:solidFill>
                    <a:srgbClr val="000000"/>
                  </a:solidFill>
                  <a:latin typeface="Times New Roman" panose="02020603050405020304" pitchFamily="18" charset="0"/>
                  <a:ea typeface="楷体_GB2312" pitchFamily="49" charset="-122"/>
                </a:rPr>
                <a:t>，即：</a:t>
              </a:r>
            </a:p>
          </p:txBody>
        </p:sp>
      </p:grpSp>
      <p:grpSp>
        <p:nvGrpSpPr>
          <p:cNvPr id="3" name="组合 38"/>
          <p:cNvGrpSpPr/>
          <p:nvPr/>
        </p:nvGrpSpPr>
        <p:grpSpPr bwMode="auto">
          <a:xfrm>
            <a:off x="152400" y="76200"/>
            <a:ext cx="8610600" cy="3657600"/>
            <a:chOff x="152400" y="76200"/>
            <a:chExt cx="8610600" cy="3657600"/>
          </a:xfrm>
        </p:grpSpPr>
        <p:grpSp>
          <p:nvGrpSpPr>
            <p:cNvPr id="59396" name="Group 63"/>
            <p:cNvGrpSpPr/>
            <p:nvPr/>
          </p:nvGrpSpPr>
          <p:grpSpPr bwMode="auto">
            <a:xfrm>
              <a:off x="685800" y="685800"/>
              <a:ext cx="8077200" cy="3048000"/>
              <a:chOff x="0" y="2016"/>
              <a:chExt cx="4752" cy="2160"/>
            </a:xfrm>
          </p:grpSpPr>
          <p:sp>
            <p:nvSpPr>
              <p:cNvPr id="59398" name="Text Box 58"/>
              <p:cNvSpPr txBox="1">
                <a:spLocks noChangeArrowheads="1"/>
              </p:cNvSpPr>
              <p:nvPr/>
            </p:nvSpPr>
            <p:spPr bwMode="auto">
              <a:xfrm>
                <a:off x="2736" y="3792"/>
                <a:ext cx="2016" cy="327"/>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spcBef>
                    <a:spcPct val="50000"/>
                  </a:spcBef>
                  <a:spcAft>
                    <a:spcPct val="0"/>
                  </a:spcAft>
                </a:pPr>
                <a:r>
                  <a:rPr lang="zh-CN" altLang="en-US" sz="2800" smtClean="0">
                    <a:solidFill>
                      <a:srgbClr val="000000"/>
                    </a:solidFill>
                  </a:rPr>
                  <a:t>弹式热量计示意图</a:t>
                </a:r>
              </a:p>
            </p:txBody>
          </p:sp>
          <p:grpSp>
            <p:nvGrpSpPr>
              <p:cNvPr id="59399" name="Group 62"/>
              <p:cNvGrpSpPr/>
              <p:nvPr/>
            </p:nvGrpSpPr>
            <p:grpSpPr bwMode="auto">
              <a:xfrm>
                <a:off x="0" y="2016"/>
                <a:ext cx="3312" cy="2160"/>
                <a:chOff x="0" y="2016"/>
                <a:chExt cx="3312" cy="2160"/>
              </a:xfrm>
            </p:grpSpPr>
            <p:sp>
              <p:nvSpPr>
                <p:cNvPr id="59400" name="Text Box 29"/>
                <p:cNvSpPr txBox="1">
                  <a:spLocks noChangeArrowheads="1"/>
                </p:cNvSpPr>
                <p:nvPr/>
              </p:nvSpPr>
              <p:spPr bwMode="auto">
                <a:xfrm>
                  <a:off x="2208" y="2976"/>
                  <a:ext cx="1104"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spcBef>
                      <a:spcPct val="50000"/>
                    </a:spcBef>
                    <a:spcAft>
                      <a:spcPct val="0"/>
                    </a:spcAft>
                  </a:pPr>
                  <a:r>
                    <a:rPr lang="zh-CN" altLang="en-US" sz="2400" smtClean="0">
                      <a:solidFill>
                        <a:srgbClr val="000000"/>
                      </a:solidFill>
                    </a:rPr>
                    <a:t>绝热外套</a:t>
                  </a:r>
                </a:p>
              </p:txBody>
            </p:sp>
            <p:sp>
              <p:nvSpPr>
                <p:cNvPr id="59401" name="Text Box 30"/>
                <p:cNvSpPr txBox="1">
                  <a:spLocks noChangeArrowheads="1"/>
                </p:cNvSpPr>
                <p:nvPr/>
              </p:nvSpPr>
              <p:spPr bwMode="auto">
                <a:xfrm>
                  <a:off x="2112" y="2688"/>
                  <a:ext cx="1056"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spcBef>
                      <a:spcPct val="50000"/>
                    </a:spcBef>
                    <a:spcAft>
                      <a:spcPct val="0"/>
                    </a:spcAft>
                  </a:pPr>
                  <a:r>
                    <a:rPr lang="zh-CN" altLang="en-US" sz="2400" smtClean="0">
                      <a:solidFill>
                        <a:srgbClr val="000000"/>
                      </a:solidFill>
                    </a:rPr>
                    <a:t>钢质容器</a:t>
                  </a:r>
                </a:p>
              </p:txBody>
            </p:sp>
            <p:grpSp>
              <p:nvGrpSpPr>
                <p:cNvPr id="59402" name="Group 61"/>
                <p:cNvGrpSpPr/>
                <p:nvPr/>
              </p:nvGrpSpPr>
              <p:grpSpPr bwMode="auto">
                <a:xfrm>
                  <a:off x="0" y="2016"/>
                  <a:ext cx="2976" cy="2160"/>
                  <a:chOff x="48" y="2352"/>
                  <a:chExt cx="2976" cy="2160"/>
                </a:xfrm>
              </p:grpSpPr>
              <p:sp>
                <p:nvSpPr>
                  <p:cNvPr id="59403" name="Rectangle 31"/>
                  <p:cNvSpPr>
                    <a:spLocks noChangeArrowheads="1"/>
                  </p:cNvSpPr>
                  <p:nvPr/>
                </p:nvSpPr>
                <p:spPr bwMode="auto">
                  <a:xfrm>
                    <a:off x="960" y="2880"/>
                    <a:ext cx="1008" cy="1248"/>
                  </a:xfrm>
                  <a:prstGeom prst="rect">
                    <a:avLst/>
                  </a:prstGeom>
                  <a:noFill/>
                  <a:ln w="9525">
                    <a:solidFill>
                      <a:schemeClr val="tx1"/>
                    </a:solidFill>
                    <a:miter lim="800000"/>
                  </a:ln>
                  <a:extLst>
                    <a:ext uri="{909E8E84-426E-40DD-AFC4-6F175D3DCCD1}">
                      <a14:hiddenFill xmlns:a14="http://schemas.microsoft.com/office/drawing/2010/main" xmlns="">
                        <a:solidFill>
                          <a:srgbClr val="FFFFFF"/>
                        </a:solidFill>
                      </a14:hiddenFill>
                    </a:ext>
                  </a:extLst>
                </p:spPr>
                <p:txBody>
                  <a:bodyPr wrap="none" anchor="ct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04" name="Rectangle 32"/>
                  <p:cNvSpPr>
                    <a:spLocks noChangeArrowheads="1"/>
                  </p:cNvSpPr>
                  <p:nvPr/>
                </p:nvSpPr>
                <p:spPr bwMode="auto">
                  <a:xfrm>
                    <a:off x="1440" y="2640"/>
                    <a:ext cx="48" cy="864"/>
                  </a:xfrm>
                  <a:prstGeom prst="rect">
                    <a:avLst/>
                  </a:prstGeom>
                  <a:solidFill>
                    <a:srgbClr val="FF9900"/>
                  </a:solidFill>
                  <a:ln w="9525">
                    <a:solidFill>
                      <a:schemeClr val="tx1"/>
                    </a:solidFill>
                    <a:miter lim="800000"/>
                  </a:ln>
                </p:spPr>
                <p:txBody>
                  <a:bodyPr wrap="none" anchor="ct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05" name="Rectangle 33"/>
                  <p:cNvSpPr>
                    <a:spLocks noChangeArrowheads="1"/>
                  </p:cNvSpPr>
                  <p:nvPr/>
                </p:nvSpPr>
                <p:spPr bwMode="auto">
                  <a:xfrm>
                    <a:off x="1632" y="2640"/>
                    <a:ext cx="48" cy="864"/>
                  </a:xfrm>
                  <a:prstGeom prst="rect">
                    <a:avLst/>
                  </a:prstGeom>
                  <a:solidFill>
                    <a:srgbClr val="FF9900"/>
                  </a:solidFill>
                  <a:ln w="9525">
                    <a:solidFill>
                      <a:schemeClr val="tx1"/>
                    </a:solidFill>
                    <a:miter lim="800000"/>
                  </a:ln>
                </p:spPr>
                <p:txBody>
                  <a:bodyPr wrap="none" anchor="ct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06" name="Rectangle 34"/>
                  <p:cNvSpPr>
                    <a:spLocks noChangeArrowheads="1"/>
                  </p:cNvSpPr>
                  <p:nvPr/>
                </p:nvSpPr>
                <p:spPr bwMode="auto">
                  <a:xfrm>
                    <a:off x="1344" y="3360"/>
                    <a:ext cx="432" cy="48"/>
                  </a:xfrm>
                  <a:prstGeom prst="rect">
                    <a:avLst/>
                  </a:prstGeom>
                  <a:solidFill>
                    <a:schemeClr val="accent1"/>
                  </a:solidFill>
                  <a:ln w="9525">
                    <a:solidFill>
                      <a:schemeClr val="tx1"/>
                    </a:solidFill>
                    <a:miter lim="800000"/>
                  </a:ln>
                </p:spPr>
                <p:txBody>
                  <a:bodyPr wrap="none" anchor="ct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07" name="AutoShape 35"/>
                  <p:cNvSpPr>
                    <a:spLocks noChangeArrowheads="1"/>
                  </p:cNvSpPr>
                  <p:nvPr/>
                </p:nvSpPr>
                <p:spPr bwMode="auto">
                  <a:xfrm rot="5400000">
                    <a:off x="1368" y="3432"/>
                    <a:ext cx="384" cy="336"/>
                  </a:xfrm>
                  <a:prstGeom prst="flowChartDelay">
                    <a:avLst/>
                  </a:prstGeom>
                  <a:solidFill>
                    <a:srgbClr val="CCFFFF">
                      <a:alpha val="50195"/>
                    </a:srgbClr>
                  </a:solidFill>
                  <a:ln w="9525">
                    <a:solidFill>
                      <a:schemeClr val="tx1"/>
                    </a:solidFill>
                    <a:miter lim="800000"/>
                  </a:ln>
                </p:spPr>
                <p:txBody>
                  <a:bodyPr wrap="none" anchor="ct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08" name="Rectangle 36"/>
                  <p:cNvSpPr>
                    <a:spLocks noChangeArrowheads="1"/>
                  </p:cNvSpPr>
                  <p:nvPr/>
                </p:nvSpPr>
                <p:spPr bwMode="auto">
                  <a:xfrm>
                    <a:off x="1488" y="3504"/>
                    <a:ext cx="144" cy="240"/>
                  </a:xfrm>
                  <a:prstGeom prst="rect">
                    <a:avLst/>
                  </a:prstGeom>
                  <a:solidFill>
                    <a:srgbClr val="0066FF">
                      <a:alpha val="50195"/>
                    </a:srgbClr>
                  </a:solidFill>
                  <a:ln w="9525">
                    <a:solidFill>
                      <a:schemeClr val="tx1"/>
                    </a:solidFill>
                    <a:miter lim="800000"/>
                  </a:ln>
                </p:spPr>
                <p:txBody>
                  <a:bodyPr wrap="none" anchor="ct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09" name="AutoShape 37"/>
                  <p:cNvSpPr>
                    <a:spLocks noChangeArrowheads="1"/>
                  </p:cNvSpPr>
                  <p:nvPr/>
                </p:nvSpPr>
                <p:spPr bwMode="auto">
                  <a:xfrm>
                    <a:off x="1824" y="2592"/>
                    <a:ext cx="48" cy="1200"/>
                  </a:xfrm>
                  <a:prstGeom prst="roundRect">
                    <a:avLst>
                      <a:gd name="adj" fmla="val 16667"/>
                    </a:avLst>
                  </a:prstGeom>
                  <a:solidFill>
                    <a:srgbClr val="CCECFF"/>
                  </a:solidFill>
                  <a:ln w="9525">
                    <a:solidFill>
                      <a:schemeClr val="tx1"/>
                    </a:solidFill>
                    <a:round/>
                  </a:ln>
                </p:spPr>
                <p:txBody>
                  <a:bodyPr wrap="none" anchor="ct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10" name="Rectangle 38"/>
                  <p:cNvSpPr>
                    <a:spLocks noChangeArrowheads="1"/>
                  </p:cNvSpPr>
                  <p:nvPr/>
                </p:nvSpPr>
                <p:spPr bwMode="auto">
                  <a:xfrm>
                    <a:off x="1392" y="2832"/>
                    <a:ext cx="336" cy="48"/>
                  </a:xfrm>
                  <a:prstGeom prst="rect">
                    <a:avLst/>
                  </a:prstGeom>
                  <a:solidFill>
                    <a:schemeClr val="accent1"/>
                  </a:solidFill>
                  <a:ln w="9525">
                    <a:solidFill>
                      <a:schemeClr val="tx1"/>
                    </a:solidFill>
                    <a:miter lim="800000"/>
                  </a:ln>
                </p:spPr>
                <p:txBody>
                  <a:bodyPr wrap="none" anchor="ct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11" name="Rectangle 39"/>
                  <p:cNvSpPr>
                    <a:spLocks noChangeArrowheads="1"/>
                  </p:cNvSpPr>
                  <p:nvPr/>
                </p:nvSpPr>
                <p:spPr bwMode="auto">
                  <a:xfrm>
                    <a:off x="1056" y="2688"/>
                    <a:ext cx="48" cy="960"/>
                  </a:xfrm>
                  <a:prstGeom prst="rect">
                    <a:avLst/>
                  </a:prstGeom>
                  <a:solidFill>
                    <a:srgbClr val="FF9900"/>
                  </a:solidFill>
                  <a:ln w="9525">
                    <a:solidFill>
                      <a:schemeClr val="tx1"/>
                    </a:solidFill>
                    <a:miter lim="800000"/>
                  </a:ln>
                </p:spPr>
                <p:txBody>
                  <a:bodyPr wrap="none" anchor="ct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12" name="Rectangle 40"/>
                  <p:cNvSpPr>
                    <a:spLocks noChangeArrowheads="1"/>
                  </p:cNvSpPr>
                  <p:nvPr/>
                </p:nvSpPr>
                <p:spPr bwMode="auto">
                  <a:xfrm>
                    <a:off x="1008" y="2640"/>
                    <a:ext cx="144" cy="48"/>
                  </a:xfrm>
                  <a:prstGeom prst="rect">
                    <a:avLst/>
                  </a:prstGeom>
                  <a:solidFill>
                    <a:srgbClr val="FF9900"/>
                  </a:solidFill>
                  <a:ln w="9525">
                    <a:solidFill>
                      <a:schemeClr val="tx1"/>
                    </a:solidFill>
                    <a:miter lim="800000"/>
                  </a:ln>
                </p:spPr>
                <p:txBody>
                  <a:bodyPr wrap="none" anchor="ct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13" name="Rectangle 41"/>
                  <p:cNvSpPr>
                    <a:spLocks noChangeArrowheads="1"/>
                  </p:cNvSpPr>
                  <p:nvPr/>
                </p:nvSpPr>
                <p:spPr bwMode="auto">
                  <a:xfrm>
                    <a:off x="960" y="2880"/>
                    <a:ext cx="1008" cy="96"/>
                  </a:xfrm>
                  <a:prstGeom prst="rect">
                    <a:avLst/>
                  </a:prstGeom>
                  <a:solidFill>
                    <a:schemeClr val="accent1"/>
                  </a:solidFill>
                  <a:ln w="9525">
                    <a:solidFill>
                      <a:schemeClr val="tx1"/>
                    </a:solidFill>
                    <a:miter lim="800000"/>
                  </a:ln>
                </p:spPr>
                <p:txBody>
                  <a:bodyPr wrap="none" anchor="ct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14" name="Freeform 42"/>
                  <p:cNvSpPr/>
                  <p:nvPr/>
                </p:nvSpPr>
                <p:spPr bwMode="auto">
                  <a:xfrm>
                    <a:off x="1536" y="3648"/>
                    <a:ext cx="96" cy="96"/>
                  </a:xfrm>
                  <a:custGeom>
                    <a:avLst/>
                    <a:gdLst>
                      <a:gd name="T0" fmla="*/ 48 w 96"/>
                      <a:gd name="T1" fmla="*/ 0 h 96"/>
                      <a:gd name="T2" fmla="*/ 0 w 96"/>
                      <a:gd name="T3" fmla="*/ 96 h 96"/>
                      <a:gd name="T4" fmla="*/ 96 w 96"/>
                      <a:gd name="T5" fmla="*/ 96 h 96"/>
                      <a:gd name="T6" fmla="*/ 48 w 96"/>
                      <a:gd name="T7" fmla="*/ 0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48" y="0"/>
                        </a:moveTo>
                        <a:lnTo>
                          <a:pt x="0" y="96"/>
                        </a:lnTo>
                        <a:lnTo>
                          <a:pt x="96" y="96"/>
                        </a:lnTo>
                        <a:lnTo>
                          <a:pt x="48" y="0"/>
                        </a:lnTo>
                        <a:close/>
                      </a:path>
                    </a:pathLst>
                  </a:custGeom>
                  <a:solidFill>
                    <a:schemeClr val="tx2"/>
                  </a:solidFill>
                  <a:ln w="9525">
                    <a:solidFill>
                      <a:schemeClr val="tx1"/>
                    </a:solidFill>
                    <a:round/>
                  </a:ln>
                </p:spPr>
                <p:txBody>
                  <a:bodyP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15" name="Freeform 43"/>
                  <p:cNvSpPr/>
                  <p:nvPr/>
                </p:nvSpPr>
                <p:spPr bwMode="auto">
                  <a:xfrm>
                    <a:off x="1008" y="3648"/>
                    <a:ext cx="192" cy="192"/>
                  </a:xfrm>
                  <a:custGeom>
                    <a:avLst/>
                    <a:gdLst>
                      <a:gd name="T0" fmla="*/ 48 w 192"/>
                      <a:gd name="T1" fmla="*/ 0 h 192"/>
                      <a:gd name="T2" fmla="*/ 0 w 192"/>
                      <a:gd name="T3" fmla="*/ 144 h 192"/>
                      <a:gd name="T4" fmla="*/ 96 w 192"/>
                      <a:gd name="T5" fmla="*/ 144 h 192"/>
                      <a:gd name="T6" fmla="*/ 96 w 192"/>
                      <a:gd name="T7" fmla="*/ 48 h 192"/>
                      <a:gd name="T8" fmla="*/ 144 w 192"/>
                      <a:gd name="T9" fmla="*/ 192 h 192"/>
                      <a:gd name="T10" fmla="*/ 192 w 192"/>
                      <a:gd name="T11" fmla="*/ 96 h 192"/>
                      <a:gd name="T12" fmla="*/ 144 w 192"/>
                      <a:gd name="T13" fmla="*/ 0 h 192"/>
                      <a:gd name="T14" fmla="*/ 0 60000 65536"/>
                      <a:gd name="T15" fmla="*/ 0 60000 65536"/>
                      <a:gd name="T16" fmla="*/ 0 60000 65536"/>
                      <a:gd name="T17" fmla="*/ 0 60000 65536"/>
                      <a:gd name="T18" fmla="*/ 0 60000 65536"/>
                      <a:gd name="T19" fmla="*/ 0 60000 65536"/>
                      <a:gd name="T20" fmla="*/ 0 60000 65536"/>
                      <a:gd name="T21" fmla="*/ 0 w 192"/>
                      <a:gd name="T22" fmla="*/ 0 h 192"/>
                      <a:gd name="T23" fmla="*/ 192 w 192"/>
                      <a:gd name="T24" fmla="*/ 192 h 1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2" h="192">
                        <a:moveTo>
                          <a:pt x="48" y="0"/>
                        </a:moveTo>
                        <a:lnTo>
                          <a:pt x="0" y="144"/>
                        </a:lnTo>
                        <a:lnTo>
                          <a:pt x="96" y="144"/>
                        </a:lnTo>
                        <a:lnTo>
                          <a:pt x="96" y="48"/>
                        </a:lnTo>
                        <a:lnTo>
                          <a:pt x="144" y="192"/>
                        </a:lnTo>
                        <a:lnTo>
                          <a:pt x="192" y="96"/>
                        </a:lnTo>
                        <a:lnTo>
                          <a:pt x="144" y="0"/>
                        </a:lnTo>
                      </a:path>
                    </a:pathLst>
                  </a:custGeom>
                  <a:solidFill>
                    <a:srgbClr val="FF9900"/>
                  </a:solidFill>
                  <a:ln w="9525">
                    <a:solidFill>
                      <a:schemeClr val="tx1"/>
                    </a:solidFill>
                    <a:round/>
                  </a:ln>
                </p:spPr>
                <p:txBody>
                  <a:bodyP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16" name="Rectangle 44"/>
                  <p:cNvSpPr>
                    <a:spLocks noChangeArrowheads="1"/>
                  </p:cNvSpPr>
                  <p:nvPr/>
                </p:nvSpPr>
                <p:spPr bwMode="auto">
                  <a:xfrm>
                    <a:off x="960" y="3264"/>
                    <a:ext cx="1008" cy="864"/>
                  </a:xfrm>
                  <a:prstGeom prst="rect">
                    <a:avLst/>
                  </a:prstGeom>
                  <a:solidFill>
                    <a:srgbClr val="CCFFFF">
                      <a:alpha val="50195"/>
                    </a:srgbClr>
                  </a:solidFill>
                  <a:ln w="9525">
                    <a:solidFill>
                      <a:schemeClr val="tx1"/>
                    </a:solidFill>
                    <a:miter lim="800000"/>
                  </a:ln>
                </p:spPr>
                <p:txBody>
                  <a:bodyPr wrap="none" anchor="ct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17" name="Text Box 45"/>
                  <p:cNvSpPr txBox="1">
                    <a:spLocks noChangeArrowheads="1"/>
                  </p:cNvSpPr>
                  <p:nvPr/>
                </p:nvSpPr>
                <p:spPr bwMode="auto">
                  <a:xfrm>
                    <a:off x="48" y="2592"/>
                    <a:ext cx="864"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spcBef>
                        <a:spcPct val="50000"/>
                      </a:spcBef>
                      <a:spcAft>
                        <a:spcPct val="0"/>
                      </a:spcAft>
                    </a:pPr>
                    <a:r>
                      <a:rPr lang="zh-CN" altLang="en-US" sz="2400" smtClean="0">
                        <a:solidFill>
                          <a:srgbClr val="000000"/>
                        </a:solidFill>
                      </a:rPr>
                      <a:t>搅拌器</a:t>
                    </a:r>
                  </a:p>
                </p:txBody>
              </p:sp>
              <p:sp>
                <p:nvSpPr>
                  <p:cNvPr id="59418" name="Text Box 46"/>
                  <p:cNvSpPr txBox="1">
                    <a:spLocks noChangeArrowheads="1"/>
                  </p:cNvSpPr>
                  <p:nvPr/>
                </p:nvSpPr>
                <p:spPr bwMode="auto">
                  <a:xfrm>
                    <a:off x="1104" y="2352"/>
                    <a:ext cx="1056"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spcBef>
                        <a:spcPct val="50000"/>
                      </a:spcBef>
                      <a:spcAft>
                        <a:spcPct val="0"/>
                      </a:spcAft>
                    </a:pPr>
                    <a:r>
                      <a:rPr lang="zh-CN" altLang="en-US" sz="2400" smtClean="0">
                        <a:solidFill>
                          <a:srgbClr val="000000"/>
                        </a:solidFill>
                      </a:rPr>
                      <a:t>点火电线</a:t>
                    </a:r>
                  </a:p>
                </p:txBody>
              </p:sp>
              <p:sp>
                <p:nvSpPr>
                  <p:cNvPr id="59419" name="Text Box 47"/>
                  <p:cNvSpPr txBox="1">
                    <a:spLocks noChangeArrowheads="1"/>
                  </p:cNvSpPr>
                  <p:nvPr/>
                </p:nvSpPr>
                <p:spPr bwMode="auto">
                  <a:xfrm>
                    <a:off x="2256" y="2544"/>
                    <a:ext cx="76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spcBef>
                        <a:spcPct val="50000"/>
                      </a:spcBef>
                      <a:spcAft>
                        <a:spcPct val="0"/>
                      </a:spcAft>
                    </a:pPr>
                    <a:r>
                      <a:rPr lang="zh-CN" altLang="en-US" sz="2400" smtClean="0">
                        <a:solidFill>
                          <a:srgbClr val="000000"/>
                        </a:solidFill>
                      </a:rPr>
                      <a:t>温度计</a:t>
                    </a:r>
                  </a:p>
                </p:txBody>
              </p:sp>
              <p:sp>
                <p:nvSpPr>
                  <p:cNvPr id="59420" name="Text Box 48"/>
                  <p:cNvSpPr txBox="1">
                    <a:spLocks noChangeArrowheads="1"/>
                  </p:cNvSpPr>
                  <p:nvPr/>
                </p:nvSpPr>
                <p:spPr bwMode="auto">
                  <a:xfrm>
                    <a:off x="1248" y="4224"/>
                    <a:ext cx="28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spcBef>
                        <a:spcPct val="50000"/>
                      </a:spcBef>
                      <a:spcAft>
                        <a:spcPct val="0"/>
                      </a:spcAft>
                    </a:pPr>
                    <a:r>
                      <a:rPr lang="zh-CN" altLang="en-US" sz="2400" u="sng" smtClean="0">
                        <a:solidFill>
                          <a:srgbClr val="000000"/>
                        </a:solidFill>
                      </a:rPr>
                      <a:t>水</a:t>
                    </a:r>
                  </a:p>
                </p:txBody>
              </p:sp>
              <p:sp>
                <p:nvSpPr>
                  <p:cNvPr id="59421" name="Text Box 49"/>
                  <p:cNvSpPr txBox="1">
                    <a:spLocks noChangeArrowheads="1"/>
                  </p:cNvSpPr>
                  <p:nvPr/>
                </p:nvSpPr>
                <p:spPr bwMode="auto">
                  <a:xfrm>
                    <a:off x="48" y="3264"/>
                    <a:ext cx="672" cy="5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spcBef>
                        <a:spcPct val="50000"/>
                      </a:spcBef>
                      <a:spcAft>
                        <a:spcPct val="0"/>
                      </a:spcAft>
                    </a:pPr>
                    <a:r>
                      <a:rPr lang="zh-CN" altLang="en-US" sz="2400" smtClean="0">
                        <a:solidFill>
                          <a:srgbClr val="000000"/>
                        </a:solidFill>
                      </a:rPr>
                      <a:t>钢弹</a:t>
                    </a:r>
                    <a:r>
                      <a:rPr lang="en-US" altLang="zh-CN" sz="2400" smtClean="0">
                        <a:solidFill>
                          <a:srgbClr val="000000"/>
                        </a:solidFill>
                      </a:rPr>
                      <a:t>bomb</a:t>
                    </a:r>
                  </a:p>
                </p:txBody>
              </p:sp>
              <p:sp>
                <p:nvSpPr>
                  <p:cNvPr id="59422" name="Text Box 50"/>
                  <p:cNvSpPr txBox="1">
                    <a:spLocks noChangeArrowheads="1"/>
                  </p:cNvSpPr>
                  <p:nvPr/>
                </p:nvSpPr>
                <p:spPr bwMode="auto">
                  <a:xfrm>
                    <a:off x="2208" y="3504"/>
                    <a:ext cx="76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spcBef>
                        <a:spcPct val="50000"/>
                      </a:spcBef>
                      <a:spcAft>
                        <a:spcPct val="0"/>
                      </a:spcAft>
                    </a:pPr>
                    <a:r>
                      <a:rPr lang="zh-CN" altLang="en-US" sz="2400" smtClean="0">
                        <a:solidFill>
                          <a:srgbClr val="000000"/>
                        </a:solidFill>
                      </a:rPr>
                      <a:t>样品盘</a:t>
                    </a:r>
                  </a:p>
                </p:txBody>
              </p:sp>
              <p:sp>
                <p:nvSpPr>
                  <p:cNvPr id="59423" name="Line 51"/>
                  <p:cNvSpPr>
                    <a:spLocks noChangeShapeType="1"/>
                  </p:cNvSpPr>
                  <p:nvPr/>
                </p:nvSpPr>
                <p:spPr bwMode="auto">
                  <a:xfrm flipH="1">
                    <a:off x="1968" y="2688"/>
                    <a:ext cx="336" cy="0"/>
                  </a:xfrm>
                  <a:prstGeom prst="line">
                    <a:avLst/>
                  </a:prstGeom>
                  <a:noFill/>
                  <a:ln w="22225">
                    <a:solidFill>
                      <a:schemeClr val="tx1"/>
                    </a:solidFill>
                    <a:round/>
                    <a:tailEnd type="triangle" w="med" len="med"/>
                  </a:ln>
                  <a:extLst>
                    <a:ext uri="{909E8E84-426E-40DD-AFC4-6F175D3DCCD1}">
                      <a14:hiddenFill xmlns:a14="http://schemas.microsoft.com/office/drawing/2010/main" xmlns="">
                        <a:noFill/>
                      </a14:hiddenFill>
                    </a:ext>
                  </a:extLst>
                </p:spPr>
                <p:txBody>
                  <a:bodyP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24" name="Line 52"/>
                  <p:cNvSpPr>
                    <a:spLocks noChangeShapeType="1"/>
                  </p:cNvSpPr>
                  <p:nvPr/>
                </p:nvSpPr>
                <p:spPr bwMode="auto">
                  <a:xfrm flipH="1">
                    <a:off x="1968" y="3120"/>
                    <a:ext cx="288" cy="0"/>
                  </a:xfrm>
                  <a:prstGeom prst="line">
                    <a:avLst/>
                  </a:prstGeom>
                  <a:noFill/>
                  <a:ln w="19050">
                    <a:solidFill>
                      <a:schemeClr val="tx1"/>
                    </a:solidFill>
                    <a:round/>
                    <a:tailEnd type="triangle" w="med" len="med"/>
                  </a:ln>
                  <a:extLst>
                    <a:ext uri="{909E8E84-426E-40DD-AFC4-6F175D3DCCD1}">
                      <a14:hiddenFill xmlns:a14="http://schemas.microsoft.com/office/drawing/2010/main" xmlns="">
                        <a:noFill/>
                      </a14:hiddenFill>
                    </a:ext>
                  </a:extLst>
                </p:spPr>
                <p:txBody>
                  <a:bodyP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25" name="Line 53"/>
                  <p:cNvSpPr>
                    <a:spLocks noChangeShapeType="1"/>
                  </p:cNvSpPr>
                  <p:nvPr/>
                </p:nvSpPr>
                <p:spPr bwMode="auto">
                  <a:xfrm flipH="1">
                    <a:off x="1920" y="3408"/>
                    <a:ext cx="336" cy="0"/>
                  </a:xfrm>
                  <a:prstGeom prst="line">
                    <a:avLst/>
                  </a:prstGeom>
                  <a:noFill/>
                  <a:ln w="19050">
                    <a:solidFill>
                      <a:schemeClr val="tx1"/>
                    </a:solidFill>
                    <a:round/>
                    <a:tailEnd type="triangle" w="med" len="med"/>
                  </a:ln>
                  <a:extLst>
                    <a:ext uri="{909E8E84-426E-40DD-AFC4-6F175D3DCCD1}">
                      <a14:hiddenFill xmlns:a14="http://schemas.microsoft.com/office/drawing/2010/main" xmlns="">
                        <a:noFill/>
                      </a14:hiddenFill>
                    </a:ext>
                  </a:extLst>
                </p:spPr>
                <p:txBody>
                  <a:bodyP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26" name="Line 54"/>
                  <p:cNvSpPr>
                    <a:spLocks noChangeShapeType="1"/>
                  </p:cNvSpPr>
                  <p:nvPr/>
                </p:nvSpPr>
                <p:spPr bwMode="auto">
                  <a:xfrm flipH="1">
                    <a:off x="1632" y="3648"/>
                    <a:ext cx="672" cy="0"/>
                  </a:xfrm>
                  <a:prstGeom prst="line">
                    <a:avLst/>
                  </a:prstGeom>
                  <a:noFill/>
                  <a:ln w="19050">
                    <a:solidFill>
                      <a:schemeClr val="tx1"/>
                    </a:solidFill>
                    <a:round/>
                    <a:tailEnd type="triangle" w="med" len="med"/>
                  </a:ln>
                  <a:extLst>
                    <a:ext uri="{909E8E84-426E-40DD-AFC4-6F175D3DCCD1}">
                      <a14:hiddenFill xmlns:a14="http://schemas.microsoft.com/office/drawing/2010/main" xmlns="">
                        <a:noFill/>
                      </a14:hiddenFill>
                    </a:ext>
                  </a:extLst>
                </p:spPr>
                <p:txBody>
                  <a:bodyP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27" name="Line 55"/>
                  <p:cNvSpPr>
                    <a:spLocks noChangeShapeType="1"/>
                  </p:cNvSpPr>
                  <p:nvPr/>
                </p:nvSpPr>
                <p:spPr bwMode="auto">
                  <a:xfrm flipV="1">
                    <a:off x="1392" y="3888"/>
                    <a:ext cx="0" cy="336"/>
                  </a:xfrm>
                  <a:prstGeom prst="line">
                    <a:avLst/>
                  </a:prstGeom>
                  <a:noFill/>
                  <a:ln w="19050">
                    <a:solidFill>
                      <a:schemeClr val="tx1"/>
                    </a:solidFill>
                    <a:round/>
                    <a:tailEnd type="triangle" w="med" len="med"/>
                  </a:ln>
                  <a:extLst>
                    <a:ext uri="{909E8E84-426E-40DD-AFC4-6F175D3DCCD1}">
                      <a14:hiddenFill xmlns:a14="http://schemas.microsoft.com/office/drawing/2010/main" xmlns="">
                        <a:noFill/>
                      </a14:hiddenFill>
                    </a:ext>
                  </a:extLst>
                </p:spPr>
                <p:txBody>
                  <a:bodyP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28" name="Line 56"/>
                  <p:cNvSpPr>
                    <a:spLocks noChangeShapeType="1"/>
                  </p:cNvSpPr>
                  <p:nvPr/>
                </p:nvSpPr>
                <p:spPr bwMode="auto">
                  <a:xfrm>
                    <a:off x="384" y="3552"/>
                    <a:ext cx="1008" cy="0"/>
                  </a:xfrm>
                  <a:prstGeom prst="line">
                    <a:avLst/>
                  </a:prstGeom>
                  <a:noFill/>
                  <a:ln w="19050">
                    <a:solidFill>
                      <a:schemeClr val="tx1"/>
                    </a:solidFill>
                    <a:round/>
                    <a:tailEnd type="triangle" w="med" len="med"/>
                  </a:ln>
                  <a:extLst>
                    <a:ext uri="{909E8E84-426E-40DD-AFC4-6F175D3DCCD1}">
                      <a14:hiddenFill xmlns:a14="http://schemas.microsoft.com/office/drawing/2010/main" xmlns="">
                        <a:noFill/>
                      </a14:hiddenFill>
                    </a:ext>
                  </a:extLst>
                </p:spPr>
                <p:txBody>
                  <a:bodyP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29" name="Line 57"/>
                  <p:cNvSpPr>
                    <a:spLocks noChangeShapeType="1"/>
                  </p:cNvSpPr>
                  <p:nvPr/>
                </p:nvSpPr>
                <p:spPr bwMode="auto">
                  <a:xfrm>
                    <a:off x="720" y="2736"/>
                    <a:ext cx="240" cy="0"/>
                  </a:xfrm>
                  <a:prstGeom prst="line">
                    <a:avLst/>
                  </a:prstGeom>
                  <a:noFill/>
                  <a:ln w="19050">
                    <a:solidFill>
                      <a:schemeClr val="tx1"/>
                    </a:solidFill>
                    <a:round/>
                    <a:tailEnd type="triangle" w="med" len="med"/>
                  </a:ln>
                  <a:extLst>
                    <a:ext uri="{909E8E84-426E-40DD-AFC4-6F175D3DCCD1}">
                      <a14:hiddenFill xmlns:a14="http://schemas.microsoft.com/office/drawing/2010/main" xmlns="">
                        <a:noFill/>
                      </a14:hiddenFill>
                    </a:ext>
                  </a:extLst>
                </p:spPr>
                <p:txBody>
                  <a:bodyPr/>
                  <a:lstStyle/>
                  <a:p>
                    <a:pPr eaLnBrk="0" fontAlgn="base" hangingPunct="0">
                      <a:lnSpc>
                        <a:spcPct val="80000"/>
                      </a:lnSpc>
                      <a:spcBef>
                        <a:spcPct val="50000"/>
                      </a:spcBef>
                      <a:spcAft>
                        <a:spcPct val="0"/>
                      </a:spcAft>
                    </a:pP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59430" name="Rectangle 59"/>
                  <p:cNvSpPr>
                    <a:spLocks noChangeArrowheads="1"/>
                  </p:cNvSpPr>
                  <p:nvPr/>
                </p:nvSpPr>
                <p:spPr bwMode="auto">
                  <a:xfrm>
                    <a:off x="1008" y="2976"/>
                    <a:ext cx="923" cy="1111"/>
                  </a:xfrm>
                  <a:prstGeom prst="rect">
                    <a:avLst/>
                  </a:prstGeom>
                  <a:noFill/>
                  <a:ln w="38100">
                    <a:solidFill>
                      <a:srgbClr val="B2B2B2">
                        <a:alpha val="50195"/>
                      </a:srgbClr>
                    </a:solidFill>
                    <a:miter lim="800000"/>
                  </a:ln>
                  <a:extLst>
                    <a:ext uri="{909E8E84-426E-40DD-AFC4-6F175D3DCCD1}">
                      <a14:hiddenFill xmlns:a14="http://schemas.microsoft.com/office/drawing/2010/main" xmlns="">
                        <a:solidFill>
                          <a:srgbClr val="FFFFFF"/>
                        </a:solidFill>
                      </a14:hiddenFill>
                    </a:ext>
                  </a:extLst>
                </p:spPr>
                <p:txBody>
                  <a:bodyPr wrap="none" anchor="ctr"/>
                  <a:lstStyle/>
                  <a:p>
                    <a:pPr algn="ctr" fontAlgn="base">
                      <a:spcBef>
                        <a:spcPct val="0"/>
                      </a:spcBef>
                      <a:spcAft>
                        <a:spcPct val="0"/>
                      </a:spcAft>
                    </a:pPr>
                    <a:endParaRPr kumimoji="1" lang="zh-CN" altLang="zh-CN" sz="2400" b="1" smtClean="0">
                      <a:solidFill>
                        <a:srgbClr val="000000"/>
                      </a:solidFill>
                      <a:latin typeface="Times New Roman" panose="02020603050405020304" pitchFamily="18" charset="0"/>
                      <a:ea typeface="楷体_GB2312" pitchFamily="49" charset="-122"/>
                    </a:endParaRPr>
                  </a:p>
                </p:txBody>
              </p:sp>
            </p:grpSp>
          </p:grpSp>
        </p:grpSp>
        <p:sp>
          <p:nvSpPr>
            <p:cNvPr id="59397" name="矩形 38"/>
            <p:cNvSpPr>
              <a:spLocks noChangeArrowheads="1"/>
            </p:cNvSpPr>
            <p:nvPr/>
          </p:nvSpPr>
          <p:spPr bwMode="auto">
            <a:xfrm>
              <a:off x="152400" y="76200"/>
              <a:ext cx="7183438" cy="554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lang="zh-CN" altLang="en-US" sz="2600" b="1" smtClean="0">
                  <a:solidFill>
                    <a:srgbClr val="000000"/>
                  </a:solidFill>
                  <a:latin typeface="Times New Roman" panose="02020603050405020304" pitchFamily="18" charset="0"/>
                  <a:ea typeface="楷体_GB2312" pitchFamily="49" charset="-122"/>
                </a:rPr>
                <a:t>弹式热量计</a:t>
              </a:r>
              <a:r>
                <a:rPr lang="en-US" altLang="zh-CN" sz="2600" b="1" smtClean="0">
                  <a:solidFill>
                    <a:srgbClr val="000000"/>
                  </a:solidFill>
                  <a:latin typeface="Times New Roman" panose="02020603050405020304" pitchFamily="18" charset="0"/>
                  <a:ea typeface="楷体_GB2312" pitchFamily="49" charset="-122"/>
                </a:rPr>
                <a:t>(</a:t>
              </a:r>
              <a:r>
                <a:rPr lang="en-US" altLang="zh-CN" sz="2600" b="1" i="1" smtClean="0">
                  <a:solidFill>
                    <a:srgbClr val="000000"/>
                  </a:solidFill>
                  <a:latin typeface="Times New Roman" panose="02020603050405020304" pitchFamily="18" charset="0"/>
                  <a:ea typeface="楷体_GB2312" pitchFamily="49" charset="-122"/>
                </a:rPr>
                <a:t>Bomb calorimeter</a:t>
              </a:r>
              <a:r>
                <a:rPr lang="en-US" altLang="zh-CN" sz="2600" b="1" smtClean="0">
                  <a:solidFill>
                    <a:srgbClr val="000000"/>
                  </a:solidFill>
                  <a:latin typeface="Times New Roman" panose="02020603050405020304" pitchFamily="18" charset="0"/>
                  <a:ea typeface="楷体_GB2312" pitchFamily="49"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组合 8"/>
          <p:cNvGrpSpPr/>
          <p:nvPr/>
        </p:nvGrpSpPr>
        <p:grpSpPr bwMode="auto">
          <a:xfrm>
            <a:off x="228600" y="152400"/>
            <a:ext cx="8686800" cy="1174750"/>
            <a:chOff x="228600" y="152400"/>
            <a:chExt cx="8686800" cy="1174750"/>
          </a:xfrm>
        </p:grpSpPr>
        <p:sp>
          <p:nvSpPr>
            <p:cNvPr id="172071" name="Text Box 39"/>
            <p:cNvSpPr txBox="1">
              <a:spLocks noChangeArrowheads="1"/>
            </p:cNvSpPr>
            <p:nvPr/>
          </p:nvSpPr>
          <p:spPr bwMode="auto">
            <a:xfrm>
              <a:off x="228600" y="152400"/>
              <a:ext cx="8686800" cy="488950"/>
            </a:xfrm>
            <a:prstGeom prst="rect">
              <a:avLst/>
            </a:prstGeom>
            <a:solidFill>
              <a:schemeClr val="bg1"/>
            </a:solidFill>
            <a:ln w="9525">
              <a:noFill/>
              <a:miter lim="800000"/>
            </a:ln>
            <a:effectLst>
              <a:outerShdw dist="35921" dir="2700000" algn="ctr" rotWithShape="0">
                <a:schemeClr val="bg2"/>
              </a:outerShdw>
            </a:effectLst>
          </p:spPr>
          <p:txBody>
            <a:bodyPr>
              <a:spAutoFit/>
            </a:bodyPr>
            <a:lstStyle/>
            <a:p>
              <a:pPr fontAlgn="base">
                <a:spcBef>
                  <a:spcPct val="50000"/>
                </a:spcBef>
                <a:spcAft>
                  <a:spcPct val="0"/>
                </a:spcAft>
                <a:defRPr/>
              </a:pPr>
              <a:r>
                <a:rPr kumimoji="1" lang="en-US" altLang="zh-CN" sz="2600" b="1" dirty="0">
                  <a:solidFill>
                    <a:srgbClr val="000000"/>
                  </a:solidFill>
                  <a:latin typeface="Times New Roman" panose="02020603050405020304" pitchFamily="18" charset="0"/>
                  <a:ea typeface="楷体_GB2312" pitchFamily="49" charset="-122"/>
                </a:rPr>
                <a:t>        </a:t>
              </a:r>
              <a:r>
                <a:rPr kumimoji="1" lang="zh-CN" altLang="en-US" sz="2600" b="1" dirty="0">
                  <a:solidFill>
                    <a:srgbClr val="000000"/>
                  </a:solidFill>
                  <a:latin typeface="Times New Roman" panose="02020603050405020304" pitchFamily="18" charset="0"/>
                  <a:ea typeface="楷体_GB2312" pitchFamily="49" charset="-122"/>
                </a:rPr>
                <a:t>根据热力学第一定律，很容易得到：</a:t>
              </a:r>
            </a:p>
          </p:txBody>
        </p:sp>
        <p:sp>
          <p:nvSpPr>
            <p:cNvPr id="172072" name="Rectangle 40"/>
            <p:cNvSpPr>
              <a:spLocks noChangeArrowheads="1"/>
            </p:cNvSpPr>
            <p:nvPr/>
          </p:nvSpPr>
          <p:spPr bwMode="auto">
            <a:xfrm>
              <a:off x="2438400" y="914400"/>
              <a:ext cx="3200400" cy="412750"/>
            </a:xfrm>
            <a:prstGeom prst="rect">
              <a:avLst/>
            </a:prstGeom>
            <a:solidFill>
              <a:srgbClr val="99CCFF"/>
            </a:solidFill>
            <a:ln w="9525" algn="ctr">
              <a:noFill/>
              <a:miter lim="800000"/>
            </a:ln>
            <a:effectLst>
              <a:outerShdw sy="50000" kx="2453608" rotWithShape="0">
                <a:srgbClr val="808080">
                  <a:alpha val="50000"/>
                </a:srgbClr>
              </a:outerShdw>
            </a:effectLst>
          </p:spPr>
          <p:txBody>
            <a:bodyPr lIns="92075" tIns="46038" rIns="92075" bIns="46038">
              <a:spAutoFit/>
            </a:bodyPr>
            <a:lstStyle/>
            <a:p>
              <a:pPr algn="ctr" eaLnBrk="0" fontAlgn="base" hangingPunct="0">
                <a:lnSpc>
                  <a:spcPct val="80000"/>
                </a:lnSpc>
                <a:spcBef>
                  <a:spcPct val="50000"/>
                </a:spcBef>
                <a:spcAft>
                  <a:spcPct val="0"/>
                </a:spcAft>
                <a:defRPr/>
              </a:pPr>
              <a:r>
                <a:rPr lang="en-US" altLang="zh-CN" sz="2600" b="1" i="1" dirty="0">
                  <a:solidFill>
                    <a:srgbClr val="C00000"/>
                  </a:solidFill>
                  <a:latin typeface="Times New Roman" panose="02020603050405020304" pitchFamily="18" charset="0"/>
                  <a:ea typeface="楷体_GB2312" pitchFamily="49" charset="-122"/>
                </a:rPr>
                <a:t>∆U = </a:t>
              </a:r>
              <a:r>
                <a:rPr lang="en-US" altLang="zh-CN" sz="2600" b="1" i="1" dirty="0" err="1">
                  <a:solidFill>
                    <a:srgbClr val="C00000"/>
                  </a:solidFill>
                  <a:latin typeface="Times New Roman" panose="02020603050405020304" pitchFamily="18" charset="0"/>
                  <a:ea typeface="楷体_GB2312" pitchFamily="49" charset="-122"/>
                </a:rPr>
                <a:t>Q</a:t>
              </a:r>
              <a:r>
                <a:rPr lang="en-US" altLang="zh-CN" sz="2600" b="1" i="1" baseline="-25000" dirty="0" err="1">
                  <a:solidFill>
                    <a:srgbClr val="C00000"/>
                  </a:solidFill>
                  <a:latin typeface="Times New Roman" panose="02020603050405020304" pitchFamily="18" charset="0"/>
                  <a:ea typeface="楷体_GB2312" pitchFamily="49" charset="-122"/>
                </a:rPr>
                <a:t>v</a:t>
              </a:r>
              <a:endParaRPr lang="en-US" altLang="zh-CN" sz="2600" b="1" i="1" baseline="-25000" dirty="0">
                <a:solidFill>
                  <a:srgbClr val="C00000"/>
                </a:solidFill>
                <a:latin typeface="Times New Roman" panose="02020603050405020304" pitchFamily="18" charset="0"/>
                <a:ea typeface="楷体_GB2312" pitchFamily="49" charset="-122"/>
              </a:endParaRPr>
            </a:p>
          </p:txBody>
        </p:sp>
      </p:grpSp>
      <p:grpSp>
        <p:nvGrpSpPr>
          <p:cNvPr id="3" name="组合 11"/>
          <p:cNvGrpSpPr/>
          <p:nvPr/>
        </p:nvGrpSpPr>
        <p:grpSpPr bwMode="auto">
          <a:xfrm>
            <a:off x="152400" y="1524000"/>
            <a:ext cx="8686800" cy="2730500"/>
            <a:chOff x="152400" y="1524000"/>
            <a:chExt cx="8686800" cy="2730500"/>
          </a:xfrm>
        </p:grpSpPr>
        <p:grpSp>
          <p:nvGrpSpPr>
            <p:cNvPr id="9223" name="组合 9"/>
            <p:cNvGrpSpPr/>
            <p:nvPr/>
          </p:nvGrpSpPr>
          <p:grpSpPr bwMode="auto">
            <a:xfrm>
              <a:off x="457200" y="1524000"/>
              <a:ext cx="8382000" cy="1171575"/>
              <a:chOff x="457200" y="1524000"/>
              <a:chExt cx="8382000" cy="1171575"/>
            </a:xfrm>
          </p:grpSpPr>
          <p:sp>
            <p:nvSpPr>
              <p:cNvPr id="172073" name="Rectangle 41"/>
              <p:cNvSpPr>
                <a:spLocks noChangeArrowheads="1"/>
              </p:cNvSpPr>
              <p:nvPr/>
            </p:nvSpPr>
            <p:spPr bwMode="auto">
              <a:xfrm>
                <a:off x="457200" y="1524000"/>
                <a:ext cx="8382000" cy="412750"/>
              </a:xfrm>
              <a:prstGeom prst="rect">
                <a:avLst/>
              </a:prstGeom>
              <a:solidFill>
                <a:schemeClr val="bg1"/>
              </a:solidFill>
              <a:ln w="9525" algn="ctr">
                <a:noFill/>
                <a:miter lim="800000"/>
              </a:ln>
              <a:effectLst>
                <a:outerShdw sy="50000" kx="2453608" rotWithShape="0">
                  <a:srgbClr val="808080">
                    <a:alpha val="50000"/>
                  </a:srgbClr>
                </a:outerShdw>
              </a:effectLst>
            </p:spPr>
            <p:txBody>
              <a:bodyPr lIns="92075" tIns="46038" rIns="92075" bIns="46038">
                <a:spAutoFit/>
              </a:bodyPr>
              <a:lstStyle/>
              <a:p>
                <a:pPr eaLnBrk="0" fontAlgn="base" hangingPunct="0">
                  <a:lnSpc>
                    <a:spcPct val="80000"/>
                  </a:lnSpc>
                  <a:spcBef>
                    <a:spcPct val="50000"/>
                  </a:spcBef>
                  <a:spcAft>
                    <a:spcPct val="0"/>
                  </a:spcAft>
                  <a:defRPr/>
                </a:pPr>
                <a:r>
                  <a:rPr kumimoji="1" lang="en-US" altLang="zh-CN" sz="2600" b="1" dirty="0">
                    <a:solidFill>
                      <a:srgbClr val="000000"/>
                    </a:solidFill>
                    <a:latin typeface="Times New Roman" panose="02020603050405020304" pitchFamily="18" charset="0"/>
                    <a:ea typeface="楷体_GB2312" pitchFamily="49" charset="-122"/>
                  </a:rPr>
                  <a:t>2</a:t>
                </a:r>
                <a:r>
                  <a:rPr kumimoji="1" lang="en-US" altLang="en-US" sz="2600" b="1" dirty="0">
                    <a:solidFill>
                      <a:srgbClr val="000000"/>
                    </a:solidFill>
                    <a:latin typeface="Times New Roman" panose="02020603050405020304" pitchFamily="18" charset="0"/>
                    <a:ea typeface="楷体_GB2312" pitchFamily="49" charset="-122"/>
                  </a:rPr>
                  <a:t>H</a:t>
                </a:r>
                <a:r>
                  <a:rPr kumimoji="1" lang="en-US" altLang="en-US" sz="2600" b="1" baseline="-25000" dirty="0">
                    <a:solidFill>
                      <a:srgbClr val="000000"/>
                    </a:solidFill>
                    <a:latin typeface="Times New Roman" panose="02020603050405020304" pitchFamily="18" charset="0"/>
                    <a:ea typeface="楷体_GB2312" pitchFamily="49" charset="-122"/>
                  </a:rPr>
                  <a:t>2</a:t>
                </a:r>
                <a:r>
                  <a:rPr kumimoji="1" lang="en-US" altLang="en-US" sz="2600" b="1" dirty="0">
                    <a:solidFill>
                      <a:srgbClr val="000000"/>
                    </a:solidFill>
                    <a:latin typeface="Times New Roman" panose="02020603050405020304" pitchFamily="18" charset="0"/>
                    <a:ea typeface="楷体_GB2312" pitchFamily="49" charset="-122"/>
                  </a:rPr>
                  <a:t>(g)</a:t>
                </a:r>
                <a:r>
                  <a:rPr kumimoji="1" lang="en-US" altLang="zh-CN" sz="2600" b="1" dirty="0">
                    <a:solidFill>
                      <a:srgbClr val="000000"/>
                    </a:solidFill>
                    <a:latin typeface="Times New Roman" panose="02020603050405020304" pitchFamily="18" charset="0"/>
                    <a:ea typeface="楷体_GB2312" pitchFamily="49" charset="-122"/>
                  </a:rPr>
                  <a:t> </a:t>
                </a:r>
                <a:r>
                  <a:rPr kumimoji="1" lang="en-US" altLang="en-US" sz="2600" b="1" dirty="0">
                    <a:solidFill>
                      <a:srgbClr val="000000"/>
                    </a:solidFill>
                    <a:latin typeface="Times New Roman" panose="02020603050405020304" pitchFamily="18" charset="0"/>
                    <a:ea typeface="楷体_GB2312" pitchFamily="49" charset="-122"/>
                  </a:rPr>
                  <a:t>+</a:t>
                </a:r>
                <a:r>
                  <a:rPr kumimoji="1" lang="en-US" altLang="zh-CN" sz="2600" b="1" dirty="0">
                    <a:solidFill>
                      <a:srgbClr val="000000"/>
                    </a:solidFill>
                    <a:latin typeface="Times New Roman" panose="02020603050405020304" pitchFamily="18" charset="0"/>
                    <a:ea typeface="楷体_GB2312" pitchFamily="49" charset="-122"/>
                  </a:rPr>
                  <a:t> </a:t>
                </a:r>
                <a:r>
                  <a:rPr kumimoji="1" lang="en-US" altLang="en-US" sz="2600" b="1" dirty="0">
                    <a:solidFill>
                      <a:srgbClr val="000000"/>
                    </a:solidFill>
                    <a:latin typeface="Times New Roman" panose="02020603050405020304" pitchFamily="18" charset="0"/>
                    <a:ea typeface="楷体_GB2312" pitchFamily="49" charset="-122"/>
                  </a:rPr>
                  <a:t>O</a:t>
                </a:r>
                <a:r>
                  <a:rPr kumimoji="1" lang="en-US" altLang="en-US" sz="2600" b="1" baseline="-25000" dirty="0">
                    <a:solidFill>
                      <a:srgbClr val="000000"/>
                    </a:solidFill>
                    <a:latin typeface="Times New Roman" panose="02020603050405020304" pitchFamily="18" charset="0"/>
                    <a:ea typeface="楷体_GB2312" pitchFamily="49" charset="-122"/>
                  </a:rPr>
                  <a:t>2</a:t>
                </a:r>
                <a:r>
                  <a:rPr kumimoji="1" lang="en-US" altLang="en-US" sz="2600" b="1" dirty="0">
                    <a:solidFill>
                      <a:srgbClr val="000000"/>
                    </a:solidFill>
                    <a:latin typeface="Times New Roman" panose="02020603050405020304" pitchFamily="18" charset="0"/>
                    <a:ea typeface="楷体_GB2312" pitchFamily="49" charset="-122"/>
                  </a:rPr>
                  <a:t>(g)</a:t>
                </a:r>
                <a:r>
                  <a:rPr kumimoji="1" lang="en-US" altLang="zh-CN" sz="2600" b="1" dirty="0">
                    <a:solidFill>
                      <a:srgbClr val="000000"/>
                    </a:solidFill>
                    <a:latin typeface="Times New Roman" panose="02020603050405020304" pitchFamily="18" charset="0"/>
                    <a:ea typeface="楷体_GB2312" pitchFamily="49" charset="-122"/>
                  </a:rPr>
                  <a:t> </a:t>
                </a:r>
                <a:r>
                  <a:rPr kumimoji="1" lang="en-US" altLang="en-US" sz="2600" b="1"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en-US" sz="2600" b="1" dirty="0">
                    <a:solidFill>
                      <a:srgbClr val="000000"/>
                    </a:solidFill>
                    <a:latin typeface="Times New Roman" panose="02020603050405020304" pitchFamily="18" charset="0"/>
                    <a:ea typeface="楷体_GB2312" pitchFamily="49" charset="-122"/>
                    <a:sym typeface="Symbol" panose="05050102010706020507" pitchFamily="18" charset="2"/>
                  </a:rPr>
                  <a:t>2H</a:t>
                </a:r>
                <a:r>
                  <a:rPr kumimoji="1" lang="en-US" altLang="en-US" sz="2600" b="1" baseline="-25000" dirty="0">
                    <a:solidFill>
                      <a:srgbClr val="000000"/>
                    </a:solidFill>
                    <a:latin typeface="Times New Roman" panose="02020603050405020304" pitchFamily="18" charset="0"/>
                    <a:ea typeface="楷体_GB2312" pitchFamily="49" charset="-122"/>
                    <a:sym typeface="Symbol" panose="05050102010706020507" pitchFamily="18" charset="2"/>
                  </a:rPr>
                  <a:t>2</a:t>
                </a:r>
                <a:r>
                  <a:rPr kumimoji="1" lang="en-US" altLang="en-US" sz="2600" b="1" dirty="0">
                    <a:solidFill>
                      <a:srgbClr val="000000"/>
                    </a:solidFill>
                    <a:latin typeface="Times New Roman" panose="02020603050405020304" pitchFamily="18" charset="0"/>
                    <a:ea typeface="楷体_GB2312" pitchFamily="49" charset="-122"/>
                    <a:sym typeface="Symbol" panose="05050102010706020507" pitchFamily="18" charset="2"/>
                  </a:rPr>
                  <a:t>O</a:t>
                </a:r>
                <a:r>
                  <a:rPr kumimoji="1" lang="en-US" altLang="zh-CN" sz="2600" b="1"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en-US" sz="2600" b="1"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dirty="0">
                    <a:solidFill>
                      <a:srgbClr val="000000"/>
                    </a:solidFill>
                    <a:latin typeface="Times New Roman" panose="02020603050405020304" pitchFamily="18" charset="0"/>
                    <a:ea typeface="楷体_GB2312" pitchFamily="49" charset="-122"/>
                    <a:sym typeface="Symbol" panose="05050102010706020507" pitchFamily="18" charset="2"/>
                  </a:rPr>
                  <a:t>g</a:t>
                </a:r>
                <a:r>
                  <a:rPr kumimoji="1" lang="en-US" altLang="en-US" sz="2600" b="1"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2600" b="1" dirty="0">
                    <a:solidFill>
                      <a:srgbClr val="000000"/>
                    </a:solidFill>
                    <a:latin typeface="Times New Roman" panose="02020603050405020304" pitchFamily="18" charset="0"/>
                    <a:ea typeface="楷体_GB2312" pitchFamily="49" charset="-122"/>
                    <a:sym typeface="Symbol" panose="05050102010706020507" pitchFamily="18" charset="2"/>
                  </a:rPr>
                  <a:t>； </a:t>
                </a:r>
                <a:r>
                  <a:rPr lang="zh-CN" altLang="en-US" sz="2600" b="1" dirty="0">
                    <a:solidFill>
                      <a:srgbClr val="000000"/>
                    </a:solidFill>
                    <a:latin typeface="Times New Roman" panose="02020603050405020304" pitchFamily="18" charset="0"/>
                    <a:ea typeface="楷体_GB2312" pitchFamily="49" charset="-122"/>
                  </a:rPr>
                  <a:t>∆</a:t>
                </a:r>
                <a:r>
                  <a:rPr lang="en-US" altLang="zh-CN" sz="2600" b="1" baseline="-25000" dirty="0" err="1">
                    <a:solidFill>
                      <a:srgbClr val="000000"/>
                    </a:solidFill>
                    <a:latin typeface="Times New Roman" panose="02020603050405020304" pitchFamily="18" charset="0"/>
                    <a:ea typeface="楷体_GB2312" pitchFamily="49" charset="-122"/>
                  </a:rPr>
                  <a:t>r</a:t>
                </a:r>
                <a:r>
                  <a:rPr lang="en-US" altLang="zh-CN" sz="2600" b="1" dirty="0" err="1">
                    <a:solidFill>
                      <a:srgbClr val="000000"/>
                    </a:solidFill>
                    <a:latin typeface="Times New Roman" panose="02020603050405020304" pitchFamily="18" charset="0"/>
                    <a:ea typeface="楷体_GB2312" pitchFamily="49" charset="-122"/>
                  </a:rPr>
                  <a:t>U</a:t>
                </a:r>
                <a:r>
                  <a:rPr kumimoji="1" lang="en-US" altLang="zh-CN" sz="2600" b="1" baseline="-25000" dirty="0" err="1">
                    <a:solidFill>
                      <a:srgbClr val="000000"/>
                    </a:solidFill>
                    <a:latin typeface="Times New Roman" panose="02020603050405020304" pitchFamily="18" charset="0"/>
                    <a:ea typeface="楷体_GB2312" pitchFamily="49" charset="-122"/>
                    <a:sym typeface="Symbol" panose="05050102010706020507" pitchFamily="18" charset="2"/>
                  </a:rPr>
                  <a:t>m</a:t>
                </a:r>
                <a:r>
                  <a:rPr kumimoji="1" lang="el-GR" altLang="zh-CN" sz="2600" b="1" baseline="30000" dirty="0">
                    <a:solidFill>
                      <a:srgbClr val="000000"/>
                    </a:solidFill>
                    <a:latin typeface="楷体_GB2312" pitchFamily="49" charset="-122"/>
                    <a:ea typeface="楷体_GB2312" pitchFamily="49" charset="-122"/>
                    <a:sym typeface="Symbol" panose="05050102010706020507" pitchFamily="18" charset="2"/>
                  </a:rPr>
                  <a:t>Θ</a:t>
                </a:r>
                <a:r>
                  <a:rPr kumimoji="1" lang="en-US" altLang="zh-CN" sz="2600" b="1" baseline="-25000"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en-US" sz="2600" b="1"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en-US" sz="2600" b="1"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dirty="0">
                    <a:solidFill>
                      <a:srgbClr val="000000"/>
                    </a:solidFill>
                    <a:latin typeface="Times New Roman" panose="02020603050405020304" pitchFamily="18" charset="0"/>
                    <a:ea typeface="楷体_GB2312" pitchFamily="49" charset="-122"/>
                    <a:sym typeface="Symbol" panose="05050102010706020507" pitchFamily="18" charset="2"/>
                  </a:rPr>
                  <a:t>481.160  </a:t>
                </a:r>
                <a:r>
                  <a:rPr kumimoji="1" lang="en-US" altLang="en-US" sz="2600" b="1" dirty="0" err="1">
                    <a:solidFill>
                      <a:srgbClr val="000000"/>
                    </a:solidFill>
                    <a:latin typeface="Times New Roman" panose="02020603050405020304" pitchFamily="18" charset="0"/>
                    <a:ea typeface="楷体_GB2312" pitchFamily="49" charset="-122"/>
                    <a:sym typeface="Symbol" panose="05050102010706020507" pitchFamily="18" charset="2"/>
                  </a:rPr>
                  <a:t>kJ·mol</a:t>
                </a:r>
                <a:r>
                  <a:rPr kumimoji="1" lang="en-US" altLang="zh-CN" sz="2600" b="1"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2600" b="1" baseline="30000" dirty="0">
                    <a:solidFill>
                      <a:srgbClr val="000000"/>
                    </a:solidFill>
                    <a:latin typeface="Times New Roman" panose="02020603050405020304" pitchFamily="18" charset="0"/>
                    <a:ea typeface="楷体_GB2312" pitchFamily="49" charset="-122"/>
                    <a:sym typeface="Symbol" panose="05050102010706020507" pitchFamily="18" charset="2"/>
                  </a:rPr>
                  <a:t>-1</a:t>
                </a:r>
              </a:p>
            </p:txBody>
          </p:sp>
          <p:sp>
            <p:nvSpPr>
              <p:cNvPr id="172074" name="Rectangle 42"/>
              <p:cNvSpPr>
                <a:spLocks noChangeArrowheads="1"/>
              </p:cNvSpPr>
              <p:nvPr/>
            </p:nvSpPr>
            <p:spPr bwMode="auto">
              <a:xfrm>
                <a:off x="457200" y="2286000"/>
                <a:ext cx="8229600" cy="409575"/>
              </a:xfrm>
              <a:prstGeom prst="rect">
                <a:avLst/>
              </a:prstGeom>
              <a:solidFill>
                <a:schemeClr val="bg1"/>
              </a:solidFill>
              <a:ln w="9525" algn="ctr">
                <a:noFill/>
                <a:miter lim="800000"/>
              </a:ln>
              <a:effectLst>
                <a:outerShdw sy="50000" kx="2453608" rotWithShape="0">
                  <a:srgbClr val="808080">
                    <a:alpha val="50000"/>
                  </a:srgbClr>
                </a:outerShdw>
              </a:effectLst>
            </p:spPr>
            <p:txBody>
              <a:bodyPr lIns="92075" tIns="46038" rIns="92075" bIns="46038">
                <a:spAutoFit/>
              </a:bodyPr>
              <a:lstStyle/>
              <a:p>
                <a:pPr eaLnBrk="0" fontAlgn="base" hangingPunct="0">
                  <a:lnSpc>
                    <a:spcPct val="80000"/>
                  </a:lnSpc>
                  <a:spcBef>
                    <a:spcPct val="50000"/>
                  </a:spcBef>
                  <a:spcAft>
                    <a:spcPct val="0"/>
                  </a:spcAft>
                  <a:defRPr/>
                </a:pPr>
                <a:r>
                  <a:rPr kumimoji="1" lang="en-US" altLang="en-US" sz="2600" b="1" dirty="0">
                    <a:solidFill>
                      <a:srgbClr val="000000"/>
                    </a:solidFill>
                    <a:latin typeface="Times New Roman" panose="02020603050405020304" pitchFamily="18" charset="0"/>
                  </a:rPr>
                  <a:t>H</a:t>
                </a:r>
                <a:r>
                  <a:rPr kumimoji="1" lang="en-US" altLang="en-US" sz="2600" b="1" baseline="-25000" dirty="0">
                    <a:solidFill>
                      <a:srgbClr val="000000"/>
                    </a:solidFill>
                    <a:latin typeface="Times New Roman" panose="02020603050405020304" pitchFamily="18" charset="0"/>
                  </a:rPr>
                  <a:t>2</a:t>
                </a:r>
                <a:r>
                  <a:rPr kumimoji="1" lang="en-US" altLang="en-US" sz="2600" b="1" dirty="0">
                    <a:solidFill>
                      <a:srgbClr val="000000"/>
                    </a:solidFill>
                    <a:latin typeface="Times New Roman" panose="02020603050405020304" pitchFamily="18" charset="0"/>
                  </a:rPr>
                  <a:t>(g)</a:t>
                </a:r>
                <a:r>
                  <a:rPr kumimoji="1" lang="en-US" altLang="zh-CN" sz="2600" b="1" dirty="0">
                    <a:solidFill>
                      <a:srgbClr val="000000"/>
                    </a:solidFill>
                    <a:latin typeface="Times New Roman" panose="02020603050405020304" pitchFamily="18" charset="0"/>
                  </a:rPr>
                  <a:t> </a:t>
                </a:r>
                <a:r>
                  <a:rPr kumimoji="1" lang="en-US" altLang="en-US" sz="2600" b="1" dirty="0">
                    <a:solidFill>
                      <a:srgbClr val="000000"/>
                    </a:solidFill>
                    <a:latin typeface="Times New Roman" panose="02020603050405020304" pitchFamily="18" charset="0"/>
                  </a:rPr>
                  <a:t>+</a:t>
                </a:r>
                <a:r>
                  <a:rPr kumimoji="1" lang="en-US" altLang="zh-CN" sz="2600" b="1" dirty="0">
                    <a:solidFill>
                      <a:srgbClr val="000000"/>
                    </a:solidFill>
                    <a:latin typeface="Times New Roman" panose="02020603050405020304" pitchFamily="18" charset="0"/>
                  </a:rPr>
                  <a:t> 1/2 O</a:t>
                </a:r>
                <a:r>
                  <a:rPr kumimoji="1" lang="en-US" altLang="zh-CN" sz="2600" b="1" baseline="-25000" dirty="0">
                    <a:solidFill>
                      <a:srgbClr val="000000"/>
                    </a:solidFill>
                    <a:latin typeface="Times New Roman" panose="02020603050405020304" pitchFamily="18" charset="0"/>
                  </a:rPr>
                  <a:t>2</a:t>
                </a:r>
                <a:r>
                  <a:rPr kumimoji="1" lang="en-US" altLang="zh-CN" sz="2600" b="1" dirty="0">
                    <a:solidFill>
                      <a:srgbClr val="000000"/>
                    </a:solidFill>
                    <a:latin typeface="Times New Roman" panose="02020603050405020304" pitchFamily="18" charset="0"/>
                  </a:rPr>
                  <a:t>(g</a:t>
                </a:r>
                <a:r>
                  <a:rPr kumimoji="1" lang="en-US" altLang="en-US" sz="2600" b="1" dirty="0">
                    <a:solidFill>
                      <a:srgbClr val="000000"/>
                    </a:solidFill>
                    <a:latin typeface="Times New Roman" panose="02020603050405020304" pitchFamily="18" charset="0"/>
                  </a:rPr>
                  <a:t>)</a:t>
                </a:r>
                <a:r>
                  <a:rPr kumimoji="1" lang="en-US" altLang="zh-CN" sz="2600" b="1" dirty="0">
                    <a:solidFill>
                      <a:srgbClr val="000000"/>
                    </a:solidFill>
                    <a:latin typeface="Times New Roman" panose="02020603050405020304" pitchFamily="18" charset="0"/>
                  </a:rPr>
                  <a:t> </a:t>
                </a:r>
                <a:r>
                  <a:rPr kumimoji="1" lang="en-US" altLang="en-US" sz="2600" b="1" dirty="0">
                    <a:solidFill>
                      <a:srgbClr val="000000"/>
                    </a:solidFill>
                    <a:latin typeface="Times New Roman" panose="02020603050405020304" pitchFamily="18" charset="0"/>
                    <a:sym typeface="Symbol" panose="05050102010706020507" pitchFamily="18" charset="2"/>
                  </a:rPr>
                  <a:t>→</a:t>
                </a:r>
                <a:r>
                  <a:rPr kumimoji="1" lang="en-US" altLang="zh-CN" sz="2600" b="1" dirty="0">
                    <a:solidFill>
                      <a:srgbClr val="000000"/>
                    </a:solidFill>
                    <a:latin typeface="Times New Roman" panose="02020603050405020304" pitchFamily="18" charset="0"/>
                    <a:sym typeface="Symbol" panose="05050102010706020507" pitchFamily="18" charset="2"/>
                  </a:rPr>
                  <a:t> </a:t>
                </a:r>
                <a:r>
                  <a:rPr kumimoji="1" lang="en-US" altLang="en-US" sz="2600" b="1" dirty="0">
                    <a:solidFill>
                      <a:srgbClr val="000000"/>
                    </a:solidFill>
                    <a:latin typeface="Times New Roman" panose="02020603050405020304" pitchFamily="18" charset="0"/>
                    <a:sym typeface="Symbol" panose="05050102010706020507" pitchFamily="18" charset="2"/>
                  </a:rPr>
                  <a:t>H</a:t>
                </a:r>
                <a:r>
                  <a:rPr kumimoji="1" lang="en-US" altLang="en-US" sz="2600" b="1" baseline="-25000" dirty="0">
                    <a:solidFill>
                      <a:srgbClr val="000000"/>
                    </a:solidFill>
                    <a:latin typeface="Times New Roman" panose="02020603050405020304" pitchFamily="18" charset="0"/>
                    <a:sym typeface="Symbol" panose="05050102010706020507" pitchFamily="18" charset="2"/>
                  </a:rPr>
                  <a:t>2</a:t>
                </a:r>
                <a:r>
                  <a:rPr kumimoji="1" lang="en-US" altLang="en-US" sz="2600" b="1" dirty="0">
                    <a:solidFill>
                      <a:srgbClr val="000000"/>
                    </a:solidFill>
                    <a:latin typeface="Times New Roman" panose="02020603050405020304" pitchFamily="18" charset="0"/>
                    <a:sym typeface="Symbol" panose="05050102010706020507" pitchFamily="18" charset="2"/>
                  </a:rPr>
                  <a:t>O(</a:t>
                </a:r>
                <a:r>
                  <a:rPr kumimoji="1" lang="en-US" altLang="zh-CN" sz="2600" b="1" dirty="0">
                    <a:solidFill>
                      <a:srgbClr val="000000"/>
                    </a:solidFill>
                    <a:latin typeface="Times New Roman" panose="02020603050405020304" pitchFamily="18" charset="0"/>
                    <a:sym typeface="Symbol" panose="05050102010706020507" pitchFamily="18" charset="2"/>
                  </a:rPr>
                  <a:t>g</a:t>
                </a:r>
                <a:r>
                  <a:rPr kumimoji="1" lang="en-US" altLang="en-US" sz="2600" b="1" dirty="0">
                    <a:solidFill>
                      <a:srgbClr val="000000"/>
                    </a:solidFill>
                    <a:latin typeface="Times New Roman" panose="02020603050405020304" pitchFamily="18" charset="0"/>
                    <a:sym typeface="Symbol" panose="05050102010706020507" pitchFamily="18" charset="2"/>
                  </a:rPr>
                  <a:t>)</a:t>
                </a:r>
                <a:r>
                  <a:rPr kumimoji="1" lang="zh-CN" altLang="en-US" sz="2600" b="1" dirty="0">
                    <a:solidFill>
                      <a:srgbClr val="000000"/>
                    </a:solidFill>
                    <a:latin typeface="Times New Roman" panose="02020603050405020304" pitchFamily="18" charset="0"/>
                    <a:sym typeface="Symbol" panose="05050102010706020507" pitchFamily="18" charset="2"/>
                  </a:rPr>
                  <a:t>； </a:t>
                </a:r>
                <a:r>
                  <a:rPr lang="zh-CN" altLang="en-US" sz="2600" b="1" dirty="0">
                    <a:solidFill>
                      <a:srgbClr val="000000"/>
                    </a:solidFill>
                    <a:latin typeface="Times New Roman" panose="02020603050405020304" pitchFamily="18" charset="0"/>
                    <a:ea typeface="楷体_GB2312" pitchFamily="49" charset="-122"/>
                  </a:rPr>
                  <a:t>∆</a:t>
                </a:r>
                <a:r>
                  <a:rPr lang="en-US" altLang="zh-CN" sz="2600" b="1" baseline="-25000" dirty="0" err="1">
                    <a:solidFill>
                      <a:srgbClr val="000000"/>
                    </a:solidFill>
                    <a:latin typeface="Times New Roman" panose="02020603050405020304" pitchFamily="18" charset="0"/>
                    <a:ea typeface="楷体_GB2312" pitchFamily="49" charset="-122"/>
                  </a:rPr>
                  <a:t>r</a:t>
                </a:r>
                <a:r>
                  <a:rPr lang="en-US" altLang="zh-CN" sz="2600" b="1" dirty="0" err="1">
                    <a:solidFill>
                      <a:srgbClr val="000000"/>
                    </a:solidFill>
                    <a:latin typeface="Times New Roman" panose="02020603050405020304" pitchFamily="18" charset="0"/>
                    <a:ea typeface="楷体_GB2312" pitchFamily="49" charset="-122"/>
                  </a:rPr>
                  <a:t>U</a:t>
                </a:r>
                <a:r>
                  <a:rPr kumimoji="1" lang="en-US" altLang="zh-CN" sz="2600" b="1" baseline="-25000" dirty="0" err="1">
                    <a:solidFill>
                      <a:srgbClr val="000000"/>
                    </a:solidFill>
                    <a:latin typeface="Times New Roman" panose="02020603050405020304" pitchFamily="18" charset="0"/>
                    <a:ea typeface="楷体_GB2312" pitchFamily="49" charset="-122"/>
                    <a:sym typeface="Symbol" panose="05050102010706020507" pitchFamily="18" charset="2"/>
                  </a:rPr>
                  <a:t>m</a:t>
                </a:r>
                <a:r>
                  <a:rPr kumimoji="1" lang="el-GR" altLang="zh-CN" sz="2600" b="1" baseline="30000" dirty="0">
                    <a:solidFill>
                      <a:srgbClr val="000000"/>
                    </a:solidFill>
                    <a:latin typeface="楷体_GB2312" pitchFamily="49" charset="-122"/>
                    <a:ea typeface="楷体_GB2312" pitchFamily="49" charset="-122"/>
                    <a:sym typeface="Symbol" panose="05050102010706020507" pitchFamily="18" charset="2"/>
                  </a:rPr>
                  <a:t>Θ</a:t>
                </a:r>
                <a:r>
                  <a:rPr kumimoji="1" lang="en-US" altLang="en-US" sz="2600" b="1" dirty="0">
                    <a:solidFill>
                      <a:srgbClr val="000000"/>
                    </a:solidFill>
                    <a:latin typeface="Times New Roman" panose="02020603050405020304" pitchFamily="18" charset="0"/>
                    <a:sym typeface="Symbol" panose="05050102010706020507" pitchFamily="18" charset="2"/>
                  </a:rPr>
                  <a:t>=</a:t>
                </a:r>
                <a:r>
                  <a:rPr kumimoji="1" lang="en-US" altLang="zh-CN" sz="2600" b="1" dirty="0">
                    <a:solidFill>
                      <a:srgbClr val="000000"/>
                    </a:solidFill>
                    <a:latin typeface="Times New Roman" panose="02020603050405020304" pitchFamily="18" charset="0"/>
                    <a:sym typeface="Symbol" panose="05050102010706020507" pitchFamily="18" charset="2"/>
                  </a:rPr>
                  <a:t> </a:t>
                </a:r>
                <a:r>
                  <a:rPr kumimoji="1" lang="en-US" altLang="en-US" sz="2600" b="1" dirty="0">
                    <a:solidFill>
                      <a:srgbClr val="000000"/>
                    </a:solidFill>
                    <a:latin typeface="Times New Roman" panose="02020603050405020304" pitchFamily="18" charset="0"/>
                    <a:sym typeface="Symbol" panose="05050102010706020507" pitchFamily="18" charset="2"/>
                  </a:rPr>
                  <a:t>-</a:t>
                </a:r>
                <a:r>
                  <a:rPr kumimoji="1" lang="en-US" altLang="zh-CN" sz="2600" b="1" dirty="0">
                    <a:solidFill>
                      <a:srgbClr val="000000"/>
                    </a:solidFill>
                    <a:latin typeface="Times New Roman" panose="02020603050405020304" pitchFamily="18" charset="0"/>
                    <a:sym typeface="Symbol" panose="05050102010706020507" pitchFamily="18" charset="2"/>
                  </a:rPr>
                  <a:t>240.580 </a:t>
                </a:r>
                <a:r>
                  <a:rPr kumimoji="1" lang="en-US" altLang="en-US" sz="2600" b="1" dirty="0">
                    <a:solidFill>
                      <a:srgbClr val="000000"/>
                    </a:solidFill>
                    <a:latin typeface="Times New Roman" panose="02020603050405020304" pitchFamily="18" charset="0"/>
                    <a:sym typeface="Symbol" panose="05050102010706020507" pitchFamily="18" charset="2"/>
                  </a:rPr>
                  <a:t>kJ·mol</a:t>
                </a:r>
                <a:r>
                  <a:rPr kumimoji="1" lang="en-US" altLang="zh-CN" sz="2600" b="1" baseline="30000" dirty="0">
                    <a:solidFill>
                      <a:srgbClr val="000000"/>
                    </a:solidFill>
                    <a:latin typeface="Times New Roman" panose="02020603050405020304" pitchFamily="18" charset="0"/>
                    <a:sym typeface="Symbol" panose="05050102010706020507" pitchFamily="18" charset="2"/>
                  </a:rPr>
                  <a:t>-1</a:t>
                </a:r>
              </a:p>
            </p:txBody>
          </p:sp>
        </p:grpSp>
        <p:sp>
          <p:nvSpPr>
            <p:cNvPr id="172075" name="Text Box 43"/>
            <p:cNvSpPr txBox="1">
              <a:spLocks noChangeArrowheads="1"/>
            </p:cNvSpPr>
            <p:nvPr/>
          </p:nvSpPr>
          <p:spPr bwMode="auto">
            <a:xfrm>
              <a:off x="152400" y="2971800"/>
              <a:ext cx="8686800" cy="1282700"/>
            </a:xfrm>
            <a:prstGeom prst="rect">
              <a:avLst/>
            </a:prstGeom>
            <a:solidFill>
              <a:schemeClr val="bg1"/>
            </a:solidFill>
            <a:ln w="9525">
              <a:noFill/>
              <a:miter lim="800000"/>
            </a:ln>
            <a:effectLst>
              <a:outerShdw dist="35921" dir="2700000" algn="ctr" rotWithShape="0">
                <a:schemeClr val="bg2"/>
              </a:outerShdw>
            </a:effectLst>
          </p:spPr>
          <p:txBody>
            <a:bodyPr>
              <a:spAutoFit/>
            </a:bodyPr>
            <a:lstStyle/>
            <a:p>
              <a:pPr fontAlgn="base">
                <a:spcBef>
                  <a:spcPct val="50000"/>
                </a:spcBef>
                <a:spcAft>
                  <a:spcPct val="0"/>
                </a:spcAft>
                <a:defRPr/>
              </a:pPr>
              <a:r>
                <a:rPr kumimoji="1" lang="en-US" altLang="zh-CN" sz="2600" b="1" dirty="0">
                  <a:solidFill>
                    <a:srgbClr val="000000"/>
                  </a:solidFill>
                  <a:latin typeface="Times New Roman" panose="02020603050405020304" pitchFamily="18" charset="0"/>
                  <a:ea typeface="楷体_GB2312" pitchFamily="49" charset="-122"/>
                </a:rPr>
                <a:t>        </a:t>
              </a:r>
              <a:r>
                <a:rPr kumimoji="1" lang="zh-CN" altLang="en-US" sz="2600" b="1" dirty="0">
                  <a:solidFill>
                    <a:srgbClr val="000000"/>
                  </a:solidFill>
                  <a:latin typeface="Times New Roman" panose="02020603050405020304" pitchFamily="18" charset="0"/>
                  <a:ea typeface="楷体_GB2312" pitchFamily="49" charset="-122"/>
                </a:rPr>
                <a:t>两个反应都发生了“</a:t>
              </a:r>
              <a:r>
                <a:rPr kumimoji="1" lang="en-US" altLang="zh-CN" sz="2600" b="1" dirty="0">
                  <a:solidFill>
                    <a:srgbClr val="000000"/>
                  </a:solidFill>
                  <a:latin typeface="Times New Roman" panose="02020603050405020304" pitchFamily="18" charset="0"/>
                  <a:ea typeface="楷体_GB2312" pitchFamily="49" charset="-122"/>
                </a:rPr>
                <a:t>1mol</a:t>
              </a:r>
              <a:r>
                <a:rPr kumimoji="1" lang="zh-CN" altLang="en-US" sz="2600" b="1" dirty="0">
                  <a:solidFill>
                    <a:srgbClr val="000000"/>
                  </a:solidFill>
                  <a:latin typeface="Times New Roman" panose="02020603050405020304" pitchFamily="18" charset="0"/>
                  <a:ea typeface="楷体_GB2312" pitchFamily="49" charset="-122"/>
                </a:rPr>
                <a:t>反应</a:t>
              </a:r>
              <a:r>
                <a:rPr kumimoji="1" lang="en-US" altLang="zh-CN" sz="2600" b="1" dirty="0">
                  <a:solidFill>
                    <a:srgbClr val="000000"/>
                  </a:solidFill>
                  <a:latin typeface="Times New Roman" panose="02020603050405020304" pitchFamily="18" charset="0"/>
                  <a:ea typeface="楷体_GB2312" pitchFamily="49" charset="-122"/>
                </a:rPr>
                <a:t>——</a:t>
              </a:r>
              <a:r>
                <a:rPr kumimoji="1" lang="zh-CN" altLang="en-US" sz="2600" b="1" dirty="0">
                  <a:solidFill>
                    <a:srgbClr val="000000"/>
                  </a:solidFill>
                  <a:latin typeface="Times New Roman" panose="02020603050405020304" pitchFamily="18" charset="0"/>
                  <a:ea typeface="楷体_GB2312" pitchFamily="49" charset="-122"/>
                </a:rPr>
                <a:t>特定的微粒或其组合”，但前者的量是后者的</a:t>
              </a:r>
              <a:r>
                <a:rPr kumimoji="1" lang="en-US" altLang="zh-CN" sz="2600" b="1" dirty="0">
                  <a:solidFill>
                    <a:srgbClr val="000000"/>
                  </a:solidFill>
                  <a:latin typeface="Times New Roman" panose="02020603050405020304" pitchFamily="18" charset="0"/>
                  <a:ea typeface="楷体_GB2312" pitchFamily="49" charset="-122"/>
                </a:rPr>
                <a:t>2</a:t>
              </a:r>
              <a:r>
                <a:rPr kumimoji="1" lang="zh-CN" altLang="en-US" sz="2600" b="1" dirty="0">
                  <a:solidFill>
                    <a:srgbClr val="000000"/>
                  </a:solidFill>
                  <a:latin typeface="Times New Roman" panose="02020603050405020304" pitchFamily="18" charset="0"/>
                  <a:ea typeface="楷体_GB2312" pitchFamily="49" charset="-122"/>
                </a:rPr>
                <a:t>倍，后面还要继续探讨此问题</a:t>
              </a:r>
              <a:r>
                <a:rPr kumimoji="1" lang="en-US" altLang="zh-CN" sz="2600" b="1" dirty="0">
                  <a:solidFill>
                    <a:srgbClr val="000000"/>
                  </a:solidFill>
                  <a:latin typeface="Times New Roman" panose="02020603050405020304" pitchFamily="18" charset="0"/>
                  <a:ea typeface="楷体_GB2312" pitchFamily="49" charset="-122"/>
                </a:rPr>
                <a:t>——</a:t>
              </a:r>
              <a:r>
                <a:rPr kumimoji="1" lang="zh-CN" altLang="en-US" sz="2600" b="1" dirty="0">
                  <a:solidFill>
                    <a:srgbClr val="000000"/>
                  </a:solidFill>
                  <a:latin typeface="Times New Roman" panose="02020603050405020304" pitchFamily="18" charset="0"/>
                  <a:ea typeface="楷体_GB2312" pitchFamily="49" charset="-122"/>
                </a:rPr>
                <a:t>反应进度</a:t>
              </a:r>
              <a:r>
                <a:rPr kumimoji="1" lang="el-GR" altLang="zh-CN" sz="2600" b="1" dirty="0">
                  <a:solidFill>
                    <a:srgbClr val="000000"/>
                  </a:solidFill>
                  <a:latin typeface="Times New Roman" panose="02020603050405020304" pitchFamily="18" charset="0"/>
                  <a:ea typeface="楷体_GB2312" pitchFamily="49" charset="-122"/>
                  <a:cs typeface="Times New Roman" panose="02020603050405020304" pitchFamily="18" charset="0"/>
                </a:rPr>
                <a:t>ξ</a:t>
              </a:r>
              <a:r>
                <a:rPr kumimoji="1" lang="zh-CN" altLang="en-US" sz="2600" b="1" dirty="0">
                  <a:solidFill>
                    <a:srgbClr val="000000"/>
                  </a:solidFill>
                  <a:latin typeface="Times New Roman" panose="02020603050405020304" pitchFamily="18" charset="0"/>
                  <a:ea typeface="楷体_GB2312" pitchFamily="49" charset="-122"/>
                  <a:cs typeface="Times New Roman" panose="02020603050405020304" pitchFamily="18" charset="0"/>
                </a:rPr>
                <a:t>。</a:t>
              </a:r>
              <a:endParaRPr kumimoji="1" lang="zh-CN" altLang="el-GR" sz="2600" b="1"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grpSp>
      <p:grpSp>
        <p:nvGrpSpPr>
          <p:cNvPr id="5" name="组合 10"/>
          <p:cNvGrpSpPr/>
          <p:nvPr/>
        </p:nvGrpSpPr>
        <p:grpSpPr bwMode="auto">
          <a:xfrm>
            <a:off x="142844" y="4357694"/>
            <a:ext cx="8786874" cy="1995494"/>
            <a:chOff x="642910" y="4357694"/>
            <a:chExt cx="8077200" cy="1995494"/>
          </a:xfrm>
        </p:grpSpPr>
        <p:sp>
          <p:nvSpPr>
            <p:cNvPr id="9222" name="矩形 7"/>
            <p:cNvSpPr>
              <a:spLocks noChangeArrowheads="1"/>
            </p:cNvSpPr>
            <p:nvPr/>
          </p:nvSpPr>
          <p:spPr bwMode="auto">
            <a:xfrm>
              <a:off x="642910" y="4357694"/>
              <a:ext cx="8077200" cy="9382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Autofit/>
            </a:bodyPr>
            <a:lstStyle/>
            <a:p>
              <a:pPr eaLnBrk="0" fontAlgn="base" hangingPunct="0">
                <a:lnSpc>
                  <a:spcPts val="3600"/>
                </a:lnSpc>
                <a:spcBef>
                  <a:spcPct val="50000"/>
                </a:spcBef>
                <a:spcAft>
                  <a:spcPct val="0"/>
                </a:spcAft>
              </a:pPr>
              <a:r>
                <a:rPr lang="en-US" altLang="zh-CN" sz="2600" b="1" dirty="0" smtClean="0">
                  <a:solidFill>
                    <a:srgbClr val="000000"/>
                  </a:solidFill>
                  <a:latin typeface="Times New Roman" panose="02020603050405020304" pitchFamily="18" charset="0"/>
                  <a:ea typeface="楷体_GB2312" pitchFamily="49" charset="-122"/>
                </a:rPr>
                <a:t>        ∆</a:t>
              </a:r>
              <a:r>
                <a:rPr lang="en-US" altLang="zh-CN" sz="2600" b="1" baseline="-25000" dirty="0" err="1" smtClean="0">
                  <a:solidFill>
                    <a:srgbClr val="000000"/>
                  </a:solidFill>
                  <a:latin typeface="Times New Roman" panose="02020603050405020304" pitchFamily="18" charset="0"/>
                  <a:ea typeface="楷体_GB2312" pitchFamily="49" charset="-122"/>
                </a:rPr>
                <a:t>r</a:t>
              </a:r>
              <a:r>
                <a:rPr lang="en-US" altLang="zh-CN" sz="2600" b="1" dirty="0" err="1" smtClean="0">
                  <a:solidFill>
                    <a:srgbClr val="000000"/>
                  </a:solidFill>
                  <a:latin typeface="Times New Roman" panose="02020603050405020304" pitchFamily="18" charset="0"/>
                  <a:ea typeface="楷体_GB2312" pitchFamily="49" charset="-122"/>
                </a:rPr>
                <a:t>U</a:t>
              </a:r>
              <a:r>
                <a:rPr kumimoji="1" lang="en-US" altLang="zh-CN" sz="2600" b="1" baseline="-25000" dirty="0" err="1" smtClean="0">
                  <a:solidFill>
                    <a:srgbClr val="000000"/>
                  </a:solidFill>
                  <a:latin typeface="Times New Roman" panose="02020603050405020304" pitchFamily="18" charset="0"/>
                  <a:ea typeface="楷体_GB2312" pitchFamily="49" charset="-122"/>
                  <a:sym typeface="Symbol" panose="05050102010706020507" pitchFamily="18" charset="2"/>
                </a:rPr>
                <a:t>m</a:t>
              </a:r>
              <a:r>
                <a:rPr kumimoji="1" lang="el-GR" altLang="zh-CN" sz="2600" b="1" baseline="30000" dirty="0" smtClean="0">
                  <a:solidFill>
                    <a:srgbClr val="000000"/>
                  </a:solidFill>
                  <a:latin typeface="Times New Roman" panose="02020603050405020304" pitchFamily="18" charset="0"/>
                  <a:ea typeface="楷体_GB2312" pitchFamily="49" charset="-122"/>
                  <a:sym typeface="Symbol" panose="05050102010706020507" pitchFamily="18" charset="2"/>
                </a:rPr>
                <a:t>Θ</a:t>
              </a: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称为标准摩尔反应热力学能变 </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或</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2600" b="1" i="1" dirty="0" smtClean="0">
                  <a:solidFill>
                    <a:srgbClr val="000000"/>
                  </a:solidFill>
                  <a:latin typeface="Times New Roman" panose="02020603050405020304" pitchFamily="18" charset="0"/>
                  <a:ea typeface="楷体_GB2312" pitchFamily="49" charset="-122"/>
                  <a:sym typeface="Symbol" panose="05050102010706020507" pitchFamily="18" charset="2"/>
                </a:rPr>
                <a:t>所以单位是</a:t>
              </a:r>
              <a:r>
                <a:rPr kumimoji="1" lang="en-US" altLang="zh-CN" sz="2600" b="1" i="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en-US" sz="2600" b="1" dirty="0" err="1">
                  <a:solidFill>
                    <a:srgbClr val="000000"/>
                  </a:solidFill>
                  <a:latin typeface="Times New Roman" panose="02020603050405020304" pitchFamily="18" charset="0"/>
                  <a:ea typeface="楷体_GB2312" pitchFamily="49" charset="-122"/>
                  <a:sym typeface="Symbol" panose="05050102010706020507" pitchFamily="18" charset="2"/>
                </a:rPr>
                <a:t>kJ·mol</a:t>
              </a:r>
              <a:r>
                <a:rPr kumimoji="1" lang="en-US" altLang="zh-CN" sz="2600" b="1"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2600" b="1" baseline="30000" dirty="0">
                  <a:solidFill>
                    <a:srgbClr val="000000"/>
                  </a:solidFill>
                  <a:latin typeface="Times New Roman" panose="02020603050405020304" pitchFamily="18" charset="0"/>
                  <a:ea typeface="楷体_GB2312" pitchFamily="49" charset="-122"/>
                  <a:sym typeface="Symbol" panose="05050102010706020507" pitchFamily="18" charset="2"/>
                </a:rPr>
                <a:t>-1</a:t>
              </a:r>
              <a:r>
                <a:rPr kumimoji="1" lang="en-US" altLang="zh-CN" sz="2600" b="1"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zh-CN" altLang="en-US" sz="2600" b="1" dirty="0">
                  <a:solidFill>
                    <a:srgbClr val="000000"/>
                  </a:solidFill>
                  <a:latin typeface="Times New Roman" panose="02020603050405020304" pitchFamily="18" charset="0"/>
                  <a:ea typeface="楷体_GB2312" pitchFamily="49" charset="-122"/>
                  <a:sym typeface="Symbol" panose="05050102010706020507" pitchFamily="18" charset="2"/>
                </a:rPr>
                <a:t>，而前面</a:t>
              </a:r>
              <a:r>
                <a:rPr lang="en-US" altLang="zh-CN" sz="2600" b="1" dirty="0" smtClean="0">
                  <a:solidFill>
                    <a:srgbClr val="000000"/>
                  </a:solidFill>
                  <a:latin typeface="Times New Roman" panose="02020603050405020304" pitchFamily="18" charset="0"/>
                  <a:ea typeface="楷体_GB2312" pitchFamily="49" charset="-122"/>
                  <a:sym typeface="+mn-ea"/>
                </a:rPr>
                <a:t>∆</a:t>
              </a:r>
              <a:r>
                <a:rPr lang="en-US" altLang="zh-CN" sz="2600" b="1" dirty="0" err="1" smtClean="0">
                  <a:solidFill>
                    <a:srgbClr val="000000"/>
                  </a:solidFill>
                  <a:latin typeface="Times New Roman" panose="02020603050405020304" pitchFamily="18" charset="0"/>
                  <a:ea typeface="楷体_GB2312" pitchFamily="49" charset="-122"/>
                  <a:sym typeface="+mn-ea"/>
                </a:rPr>
                <a:t>U</a:t>
              </a:r>
              <a:r>
                <a:rPr lang="zh-CN" altLang="en-US" sz="2600" b="1" dirty="0" err="1" smtClean="0">
                  <a:solidFill>
                    <a:srgbClr val="000000"/>
                  </a:solidFill>
                  <a:latin typeface="Times New Roman" panose="02020603050405020304" pitchFamily="18" charset="0"/>
                  <a:ea typeface="楷体_GB2312" pitchFamily="49" charset="-122"/>
                  <a:sym typeface="+mn-ea"/>
                </a:rPr>
                <a:t>的单位是</a:t>
              </a:r>
              <a:r>
                <a:rPr lang="en-US" altLang="zh-CN" sz="2600" b="1" dirty="0" err="1" smtClean="0">
                  <a:solidFill>
                    <a:srgbClr val="000000"/>
                  </a:solidFill>
                  <a:latin typeface="Times New Roman" panose="02020603050405020304" pitchFamily="18" charset="0"/>
                  <a:ea typeface="楷体_GB2312" pitchFamily="49" charset="-122"/>
                  <a:sym typeface="+mn-ea"/>
                </a:rPr>
                <a:t>J or kJ</a:t>
              </a:r>
              <a:endParaRPr kumimoji="1" lang="en-US" altLang="zh-CN" sz="2600" b="1" i="1" dirty="0" err="1" smtClean="0">
                <a:solidFill>
                  <a:srgbClr val="000000"/>
                </a:solidFill>
                <a:latin typeface="Times New Roman" panose="02020603050405020304" pitchFamily="18" charset="0"/>
                <a:ea typeface="楷体_GB2312" pitchFamily="49" charset="-122"/>
                <a:sym typeface="+mn-ea"/>
              </a:endParaRPr>
            </a:p>
          </p:txBody>
        </p:sp>
        <p:graphicFrame>
          <p:nvGraphicFramePr>
            <p:cNvPr id="9218" name="Object 9"/>
            <p:cNvGraphicFramePr>
              <a:graphicFrameLocks noChangeAspect="1"/>
            </p:cNvGraphicFramePr>
            <p:nvPr/>
          </p:nvGraphicFramePr>
          <p:xfrm>
            <a:off x="2744295" y="5286388"/>
            <a:ext cx="3429000" cy="1066800"/>
          </p:xfrm>
          <a:graphic>
            <a:graphicData uri="http://schemas.openxmlformats.org/presentationml/2006/ole">
              <p:oleObj spid="_x0000_s68609" name="CS ChemDraw Drawing" r:id="rId4" imgW="13134975" imgH="5486400"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43" name="Text Box 19"/>
          <p:cNvSpPr txBox="1">
            <a:spLocks noChangeArrowheads="1"/>
          </p:cNvSpPr>
          <p:nvPr/>
        </p:nvSpPr>
        <p:spPr bwMode="auto">
          <a:xfrm>
            <a:off x="381000" y="685800"/>
            <a:ext cx="8534400" cy="13128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spcBef>
                <a:spcPct val="20000"/>
              </a:spcBef>
              <a:spcAft>
                <a:spcPct val="0"/>
              </a:spcAft>
              <a:buClr>
                <a:srgbClr val="009999"/>
              </a:buClr>
              <a:buFont typeface="Wingdings" panose="05000000000000000000" pitchFamily="2" charset="2"/>
              <a:buNone/>
            </a:pPr>
            <a:r>
              <a:rPr lang="en-US" altLang="zh-CN" sz="2600" smtClean="0">
                <a:solidFill>
                  <a:srgbClr val="000000"/>
                </a:solidFill>
              </a:rPr>
              <a:t>        </a:t>
            </a:r>
            <a:r>
              <a:rPr lang="zh-CN" altLang="en-US" sz="2600" smtClean="0">
                <a:solidFill>
                  <a:srgbClr val="000000"/>
                </a:solidFill>
              </a:rPr>
              <a:t>前面提到等容反应热</a:t>
            </a:r>
            <a:r>
              <a:rPr lang="en-US" altLang="zh-CN" sz="2600" i="1" smtClean="0">
                <a:solidFill>
                  <a:srgbClr val="000000"/>
                </a:solidFill>
              </a:rPr>
              <a:t>Q</a:t>
            </a:r>
            <a:r>
              <a:rPr lang="en-US" altLang="zh-CN" sz="2600" baseline="-25000" smtClean="0">
                <a:solidFill>
                  <a:srgbClr val="000000"/>
                </a:solidFill>
              </a:rPr>
              <a:t>v</a:t>
            </a:r>
            <a:r>
              <a:rPr lang="zh-CN" altLang="en-US" sz="2600" smtClean="0">
                <a:solidFill>
                  <a:srgbClr val="000000"/>
                </a:solidFill>
              </a:rPr>
              <a:t>，而化学反应一般在封闭系统、等压条件下进行</a:t>
            </a:r>
            <a:r>
              <a:rPr lang="en-US" altLang="zh-CN" sz="2600" smtClean="0">
                <a:solidFill>
                  <a:srgbClr val="000000"/>
                </a:solidFill>
              </a:rPr>
              <a:t>(</a:t>
            </a:r>
            <a:r>
              <a:rPr lang="zh-CN" altLang="en-US" sz="2600" smtClean="0">
                <a:solidFill>
                  <a:srgbClr val="000000"/>
                </a:solidFill>
              </a:rPr>
              <a:t>不做非体积功</a:t>
            </a:r>
            <a:r>
              <a:rPr lang="en-US" altLang="zh-CN" sz="2600" smtClean="0">
                <a:solidFill>
                  <a:srgbClr val="000000"/>
                </a:solidFill>
              </a:rPr>
              <a:t>)</a:t>
            </a:r>
            <a:r>
              <a:rPr lang="zh-CN" altLang="en-US" sz="2600" smtClean="0">
                <a:solidFill>
                  <a:srgbClr val="000000"/>
                </a:solidFill>
              </a:rPr>
              <a:t>，这时的反应热又称为等压反应热</a:t>
            </a:r>
            <a:r>
              <a:rPr lang="en-US" altLang="zh-CN" sz="2800" i="1" smtClean="0">
                <a:solidFill>
                  <a:srgbClr val="000000"/>
                </a:solidFill>
              </a:rPr>
              <a:t>Q</a:t>
            </a:r>
            <a:r>
              <a:rPr lang="en-US" altLang="zh-CN" sz="2800" baseline="-25000" smtClean="0">
                <a:solidFill>
                  <a:srgbClr val="000000"/>
                </a:solidFill>
              </a:rPr>
              <a:t>p</a:t>
            </a:r>
            <a:r>
              <a:rPr lang="zh-CN" altLang="en-US" sz="2800" smtClean="0">
                <a:solidFill>
                  <a:srgbClr val="000000"/>
                </a:solidFill>
              </a:rPr>
              <a:t>，即</a:t>
            </a:r>
            <a:endParaRPr lang="zh-CN" altLang="en-US" sz="2800" baseline="-25000" smtClean="0">
              <a:solidFill>
                <a:srgbClr val="000000"/>
              </a:solidFill>
            </a:endParaRPr>
          </a:p>
        </p:txBody>
      </p:sp>
      <p:grpSp>
        <p:nvGrpSpPr>
          <p:cNvPr id="2" name="组合 11"/>
          <p:cNvGrpSpPr/>
          <p:nvPr/>
        </p:nvGrpSpPr>
        <p:grpSpPr bwMode="auto">
          <a:xfrm>
            <a:off x="2438400" y="2133600"/>
            <a:ext cx="4924425" cy="2259013"/>
            <a:chOff x="2438400" y="2133600"/>
            <a:chExt cx="4924425" cy="2259013"/>
          </a:xfrm>
        </p:grpSpPr>
        <p:sp>
          <p:nvSpPr>
            <p:cNvPr id="26644" name="Rectangle 20"/>
            <p:cNvSpPr>
              <a:spLocks noChangeArrowheads="1"/>
            </p:cNvSpPr>
            <p:nvPr/>
          </p:nvSpPr>
          <p:spPr bwMode="auto">
            <a:xfrm>
              <a:off x="2438400" y="2133600"/>
              <a:ext cx="3352800" cy="438150"/>
            </a:xfrm>
            <a:prstGeom prst="rect">
              <a:avLst/>
            </a:prstGeom>
            <a:solidFill>
              <a:schemeClr val="bg1"/>
            </a:solidFill>
            <a:ln w="9525" algn="ctr">
              <a:noFill/>
              <a:miter lim="800000"/>
            </a:ln>
            <a:effectLst>
              <a:outerShdw sy="50000" kx="2453608" rotWithShape="0">
                <a:srgbClr val="808080">
                  <a:alpha val="50000"/>
                </a:srgbClr>
              </a:outerShdw>
            </a:effectLst>
          </p:spPr>
          <p:txBody>
            <a:bodyPr lIns="92075" tIns="46038" rIns="92075" bIns="46038">
              <a:spAutoFit/>
            </a:bodyPr>
            <a:lstStyle/>
            <a:p>
              <a:pPr eaLnBrk="0" fontAlgn="base" hangingPunct="0">
                <a:lnSpc>
                  <a:spcPct val="80000"/>
                </a:lnSpc>
                <a:spcBef>
                  <a:spcPct val="50000"/>
                </a:spcBef>
                <a:spcAft>
                  <a:spcPct val="0"/>
                </a:spcAft>
                <a:defRPr/>
              </a:pPr>
              <a:r>
                <a:rPr kumimoji="1" lang="en-US" altLang="zh-CN" sz="2800" b="1">
                  <a:solidFill>
                    <a:srgbClr val="000000"/>
                  </a:solidFill>
                  <a:latin typeface="Times New Roman" panose="02020603050405020304" pitchFamily="18" charset="0"/>
                  <a:ea typeface="楷体_GB2312" pitchFamily="49" charset="-122"/>
                </a:rPr>
                <a:t>W</a:t>
              </a:r>
              <a:r>
                <a:rPr kumimoji="1" lang="zh-CN" altLang="en-US" sz="2800" b="1" baseline="-25000">
                  <a:solidFill>
                    <a:srgbClr val="000000"/>
                  </a:solidFill>
                  <a:latin typeface="Times New Roman" panose="02020603050405020304" pitchFamily="18" charset="0"/>
                  <a:ea typeface="楷体_GB2312" pitchFamily="49" charset="-122"/>
                </a:rPr>
                <a:t>体</a:t>
              </a:r>
              <a:r>
                <a:rPr kumimoji="1" lang="en-US" altLang="zh-CN" sz="2800" b="1">
                  <a:solidFill>
                    <a:srgbClr val="000000"/>
                  </a:solidFill>
                  <a:latin typeface="Times New Roman" panose="02020603050405020304" pitchFamily="18" charset="0"/>
                  <a:ea typeface="楷体_GB2312" pitchFamily="49" charset="-122"/>
                </a:rPr>
                <a:t>= – </a:t>
              </a:r>
              <a:r>
                <a:rPr kumimoji="1" lang="en-US" altLang="zh-CN" sz="2800" b="1" i="1">
                  <a:solidFill>
                    <a:srgbClr val="000000"/>
                  </a:solidFill>
                  <a:latin typeface="Times New Roman" panose="02020603050405020304" pitchFamily="18" charset="0"/>
                  <a:ea typeface="楷体_GB2312" pitchFamily="49" charset="-122"/>
                </a:rPr>
                <a:t>p</a:t>
              </a:r>
              <a:r>
                <a:rPr kumimoji="1" lang="en-US" altLang="zh-CN" sz="2800" b="1">
                  <a:solidFill>
                    <a:srgbClr val="000000"/>
                  </a:solidFill>
                  <a:latin typeface="Times New Roman" panose="02020603050405020304" pitchFamily="18" charset="0"/>
                  <a:ea typeface="楷体_GB2312" pitchFamily="49" charset="-122"/>
                </a:rPr>
                <a:t>(</a:t>
              </a:r>
              <a:r>
                <a:rPr kumimoji="1" lang="en-US" altLang="zh-CN" sz="2800" b="1" i="1">
                  <a:solidFill>
                    <a:srgbClr val="000000"/>
                  </a:solidFill>
                  <a:latin typeface="Times New Roman" panose="02020603050405020304" pitchFamily="18" charset="0"/>
                  <a:ea typeface="楷体_GB2312" pitchFamily="49" charset="-122"/>
                </a:rPr>
                <a:t>V</a:t>
              </a:r>
              <a:r>
                <a:rPr kumimoji="1" lang="en-US" altLang="zh-CN" sz="2800" b="1" baseline="-25000">
                  <a:solidFill>
                    <a:srgbClr val="000000"/>
                  </a:solidFill>
                  <a:latin typeface="Times New Roman" panose="02020603050405020304" pitchFamily="18" charset="0"/>
                  <a:ea typeface="楷体_GB2312" pitchFamily="49" charset="-122"/>
                </a:rPr>
                <a:t>2</a:t>
              </a:r>
              <a:r>
                <a:rPr kumimoji="1" lang="en-US" altLang="zh-CN" sz="2800" b="1">
                  <a:solidFill>
                    <a:srgbClr val="000000"/>
                  </a:solidFill>
                  <a:latin typeface="Times New Roman" panose="02020603050405020304" pitchFamily="18" charset="0"/>
                  <a:ea typeface="楷体_GB2312" pitchFamily="49" charset="-122"/>
                </a:rPr>
                <a:t>–</a:t>
              </a:r>
              <a:r>
                <a:rPr kumimoji="1" lang="en-US" altLang="zh-CN" sz="2800" b="1" i="1">
                  <a:solidFill>
                    <a:srgbClr val="000000"/>
                  </a:solidFill>
                  <a:latin typeface="Times New Roman" panose="02020603050405020304" pitchFamily="18" charset="0"/>
                  <a:ea typeface="楷体_GB2312" pitchFamily="49" charset="-122"/>
                </a:rPr>
                <a:t>V</a:t>
              </a:r>
              <a:r>
                <a:rPr kumimoji="1" lang="en-US" altLang="zh-CN" sz="2800" b="1" baseline="-25000">
                  <a:solidFill>
                    <a:srgbClr val="000000"/>
                  </a:solidFill>
                  <a:latin typeface="Times New Roman" panose="02020603050405020304" pitchFamily="18" charset="0"/>
                  <a:ea typeface="楷体_GB2312" pitchFamily="49" charset="-122"/>
                </a:rPr>
                <a:t>1</a:t>
              </a:r>
              <a:r>
                <a:rPr kumimoji="1" lang="en-US" altLang="zh-CN" sz="2800" b="1">
                  <a:solidFill>
                    <a:srgbClr val="000000"/>
                  </a:solidFill>
                  <a:latin typeface="Times New Roman" panose="02020603050405020304" pitchFamily="18" charset="0"/>
                  <a:ea typeface="楷体_GB2312" pitchFamily="49" charset="-122"/>
                </a:rPr>
                <a:t>)</a:t>
              </a:r>
            </a:p>
          </p:txBody>
        </p:sp>
        <p:sp>
          <p:nvSpPr>
            <p:cNvPr id="26645" name="Rectangle 21"/>
            <p:cNvSpPr>
              <a:spLocks noChangeArrowheads="1"/>
            </p:cNvSpPr>
            <p:nvPr/>
          </p:nvSpPr>
          <p:spPr bwMode="auto">
            <a:xfrm>
              <a:off x="2590800" y="2667000"/>
              <a:ext cx="3352800" cy="519113"/>
            </a:xfrm>
            <a:prstGeom prst="rect">
              <a:avLst/>
            </a:prstGeom>
            <a:solidFill>
              <a:schemeClr val="bg1"/>
            </a:solidFill>
            <a:ln w="9525" algn="ctr">
              <a:noFill/>
              <a:miter lim="800000"/>
            </a:ln>
            <a:effectLst>
              <a:outerShdw sy="50000" kx="2453608" rotWithShape="0">
                <a:srgbClr val="808080">
                  <a:alpha val="50000"/>
                </a:srgbClr>
              </a:outerShdw>
            </a:effectLst>
          </p:spPr>
          <p:txBody>
            <a:bodyPr lIns="92075" tIns="46038" rIns="92075" bIns="46038">
              <a:spAutoFit/>
            </a:bodyPr>
            <a:lstStyle/>
            <a:p>
              <a:pPr fontAlgn="base">
                <a:spcBef>
                  <a:spcPct val="20000"/>
                </a:spcBef>
                <a:spcAft>
                  <a:spcPct val="0"/>
                </a:spcAft>
                <a:buClr>
                  <a:srgbClr val="009999"/>
                </a:buClr>
                <a:buFont typeface="Wingdings" panose="05000000000000000000" pitchFamily="2" charset="2"/>
                <a:buNone/>
                <a:defRPr/>
              </a:pPr>
              <a:r>
                <a:rPr kumimoji="1" lang="en-US" altLang="zh-CN" sz="2800" b="1" i="1" dirty="0" err="1">
                  <a:solidFill>
                    <a:srgbClr val="000000"/>
                  </a:solidFill>
                  <a:latin typeface="Times New Roman" panose="02020603050405020304" pitchFamily="18" charset="0"/>
                  <a:ea typeface="楷体_GB2312" pitchFamily="49" charset="-122"/>
                </a:rPr>
                <a:t>Q</a:t>
              </a:r>
              <a:r>
                <a:rPr kumimoji="1" lang="en-US" altLang="zh-CN" sz="2800" b="1" baseline="-25000" dirty="0" err="1">
                  <a:solidFill>
                    <a:srgbClr val="000000"/>
                  </a:solidFill>
                  <a:latin typeface="Times New Roman" panose="02020603050405020304" pitchFamily="18" charset="0"/>
                  <a:ea typeface="楷体_GB2312" pitchFamily="49" charset="-122"/>
                </a:rPr>
                <a:t>p</a:t>
              </a:r>
              <a:r>
                <a:rPr kumimoji="1" lang="en-US" altLang="zh-CN" sz="2800" b="1" dirty="0">
                  <a:solidFill>
                    <a:srgbClr val="000000"/>
                  </a:solidFill>
                  <a:latin typeface="Times New Roman" panose="02020603050405020304" pitchFamily="18" charset="0"/>
                  <a:ea typeface="楷体_GB2312" pitchFamily="49" charset="-122"/>
                </a:rPr>
                <a:t> = Δ</a:t>
              </a:r>
              <a:r>
                <a:rPr kumimoji="1" lang="en-US" altLang="zh-CN" sz="2800" b="1" i="1" dirty="0">
                  <a:solidFill>
                    <a:srgbClr val="000000"/>
                  </a:solidFill>
                  <a:latin typeface="Times New Roman" panose="02020603050405020304" pitchFamily="18" charset="0"/>
                  <a:ea typeface="楷体_GB2312" pitchFamily="49" charset="-122"/>
                </a:rPr>
                <a:t>U + p</a:t>
              </a:r>
              <a:r>
                <a:rPr kumimoji="1" lang="en-US" altLang="zh-CN" sz="2800" b="1" dirty="0">
                  <a:solidFill>
                    <a:srgbClr val="000000"/>
                  </a:solidFill>
                  <a:latin typeface="Times New Roman" panose="02020603050405020304" pitchFamily="18" charset="0"/>
                  <a:ea typeface="楷体_GB2312" pitchFamily="49" charset="-122"/>
                </a:rPr>
                <a:t>(</a:t>
              </a:r>
              <a:r>
                <a:rPr kumimoji="1" lang="en-US" altLang="zh-CN" sz="2800" b="1" i="1" dirty="0">
                  <a:solidFill>
                    <a:srgbClr val="000000"/>
                  </a:solidFill>
                  <a:latin typeface="Times New Roman" panose="02020603050405020304" pitchFamily="18" charset="0"/>
                  <a:ea typeface="楷体_GB2312" pitchFamily="49" charset="-122"/>
                </a:rPr>
                <a:t>V</a:t>
              </a:r>
              <a:r>
                <a:rPr kumimoji="1" lang="en-US" altLang="zh-CN" sz="2800" b="1" baseline="-25000" dirty="0">
                  <a:solidFill>
                    <a:srgbClr val="000000"/>
                  </a:solidFill>
                  <a:latin typeface="Times New Roman" panose="02020603050405020304" pitchFamily="18" charset="0"/>
                  <a:ea typeface="楷体_GB2312" pitchFamily="49" charset="-122"/>
                </a:rPr>
                <a:t>2</a:t>
              </a:r>
              <a:r>
                <a:rPr kumimoji="1" lang="en-US" altLang="zh-CN" sz="2800" b="1" dirty="0">
                  <a:solidFill>
                    <a:srgbClr val="000000"/>
                  </a:solidFill>
                  <a:latin typeface="Times New Roman" panose="02020603050405020304" pitchFamily="18" charset="0"/>
                  <a:ea typeface="楷体_GB2312" pitchFamily="49" charset="-122"/>
                </a:rPr>
                <a:t>–</a:t>
              </a:r>
              <a:r>
                <a:rPr kumimoji="1" lang="en-US" altLang="zh-CN" sz="2800" b="1" i="1" dirty="0">
                  <a:solidFill>
                    <a:srgbClr val="000000"/>
                  </a:solidFill>
                  <a:latin typeface="Times New Roman" panose="02020603050405020304" pitchFamily="18" charset="0"/>
                  <a:ea typeface="楷体_GB2312" pitchFamily="49" charset="-122"/>
                </a:rPr>
                <a:t>V</a:t>
              </a:r>
              <a:r>
                <a:rPr kumimoji="1" lang="en-US" altLang="zh-CN" sz="2800" b="1" baseline="-25000" dirty="0">
                  <a:solidFill>
                    <a:srgbClr val="000000"/>
                  </a:solidFill>
                  <a:latin typeface="Times New Roman" panose="02020603050405020304" pitchFamily="18" charset="0"/>
                  <a:ea typeface="楷体_GB2312" pitchFamily="49" charset="-122"/>
                </a:rPr>
                <a:t>1</a:t>
              </a:r>
              <a:r>
                <a:rPr kumimoji="1" lang="en-US" altLang="zh-CN" sz="2800" b="1" dirty="0">
                  <a:solidFill>
                    <a:srgbClr val="000000"/>
                  </a:solidFill>
                  <a:latin typeface="Times New Roman" panose="02020603050405020304" pitchFamily="18" charset="0"/>
                  <a:ea typeface="楷体_GB2312" pitchFamily="49" charset="-122"/>
                </a:rPr>
                <a:t>)</a:t>
              </a:r>
            </a:p>
          </p:txBody>
        </p:sp>
        <p:sp>
          <p:nvSpPr>
            <p:cNvPr id="26646" name="Rectangle 22"/>
            <p:cNvSpPr>
              <a:spLocks noChangeArrowheads="1"/>
            </p:cNvSpPr>
            <p:nvPr/>
          </p:nvSpPr>
          <p:spPr bwMode="auto">
            <a:xfrm>
              <a:off x="3048000" y="3352800"/>
              <a:ext cx="4267200" cy="438150"/>
            </a:xfrm>
            <a:prstGeom prst="rect">
              <a:avLst/>
            </a:prstGeom>
            <a:solidFill>
              <a:schemeClr val="bg1"/>
            </a:solidFill>
            <a:ln w="9525" algn="ctr">
              <a:noFill/>
              <a:miter lim="800000"/>
            </a:ln>
            <a:effectLst>
              <a:outerShdw sy="50000" kx="2453608" rotWithShape="0">
                <a:srgbClr val="808080">
                  <a:alpha val="50000"/>
                </a:srgbClr>
              </a:outerShdw>
            </a:effectLst>
          </p:spPr>
          <p:txBody>
            <a:bodyPr lIns="92075" tIns="46038" rIns="92075" bIns="46038">
              <a:spAutoFit/>
            </a:bodyPr>
            <a:lstStyle/>
            <a:p>
              <a:pPr eaLnBrk="0" fontAlgn="base" hangingPunct="0">
                <a:lnSpc>
                  <a:spcPct val="80000"/>
                </a:lnSpc>
                <a:spcBef>
                  <a:spcPct val="50000"/>
                </a:spcBef>
                <a:spcAft>
                  <a:spcPct val="0"/>
                </a:spcAft>
                <a:defRPr/>
              </a:pPr>
              <a:r>
                <a:rPr kumimoji="1" lang="en-US" altLang="zh-CN" sz="2800" b="1" dirty="0">
                  <a:solidFill>
                    <a:srgbClr val="000000"/>
                  </a:solidFill>
                  <a:latin typeface="Times New Roman" panose="02020603050405020304" pitchFamily="18" charset="0"/>
                  <a:ea typeface="楷体_GB2312" pitchFamily="49" charset="-122"/>
                </a:rPr>
                <a:t>= (</a:t>
              </a:r>
              <a:r>
                <a:rPr kumimoji="1" lang="en-US" altLang="zh-CN" sz="2800" b="1" i="1" dirty="0">
                  <a:solidFill>
                    <a:srgbClr val="000000"/>
                  </a:solidFill>
                  <a:latin typeface="Times New Roman" panose="02020603050405020304" pitchFamily="18" charset="0"/>
                  <a:ea typeface="楷体_GB2312" pitchFamily="49" charset="-122"/>
                </a:rPr>
                <a:t>U</a:t>
              </a:r>
              <a:r>
                <a:rPr kumimoji="1" lang="en-US" altLang="zh-CN" sz="2800" b="1" baseline="-25000" dirty="0">
                  <a:solidFill>
                    <a:srgbClr val="000000"/>
                  </a:solidFill>
                  <a:latin typeface="Times New Roman" panose="02020603050405020304" pitchFamily="18" charset="0"/>
                  <a:ea typeface="楷体_GB2312" pitchFamily="49" charset="-122"/>
                </a:rPr>
                <a:t>2</a:t>
              </a:r>
              <a:r>
                <a:rPr kumimoji="1" lang="en-US" altLang="zh-CN" sz="2800" b="1" dirty="0">
                  <a:solidFill>
                    <a:srgbClr val="000000"/>
                  </a:solidFill>
                  <a:latin typeface="Times New Roman" panose="02020603050405020304" pitchFamily="18" charset="0"/>
                  <a:ea typeface="楷体_GB2312" pitchFamily="49" charset="-122"/>
                </a:rPr>
                <a:t> - </a:t>
              </a:r>
              <a:r>
                <a:rPr kumimoji="1" lang="en-US" altLang="zh-CN" sz="2800" b="1" i="1" dirty="0">
                  <a:solidFill>
                    <a:srgbClr val="000000"/>
                  </a:solidFill>
                  <a:latin typeface="Times New Roman" panose="02020603050405020304" pitchFamily="18" charset="0"/>
                  <a:ea typeface="楷体_GB2312" pitchFamily="49" charset="-122"/>
                </a:rPr>
                <a:t>U</a:t>
              </a:r>
              <a:r>
                <a:rPr kumimoji="1" lang="en-US" altLang="zh-CN" sz="2800" b="1" baseline="-25000" dirty="0">
                  <a:solidFill>
                    <a:srgbClr val="000000"/>
                  </a:solidFill>
                  <a:latin typeface="Times New Roman" panose="02020603050405020304" pitchFamily="18" charset="0"/>
                  <a:ea typeface="楷体_GB2312" pitchFamily="49" charset="-122"/>
                </a:rPr>
                <a:t>1</a:t>
              </a:r>
              <a:r>
                <a:rPr kumimoji="1" lang="en-US" altLang="zh-CN" sz="2800" b="1" dirty="0">
                  <a:solidFill>
                    <a:srgbClr val="000000"/>
                  </a:solidFill>
                  <a:latin typeface="Times New Roman" panose="02020603050405020304" pitchFamily="18" charset="0"/>
                  <a:ea typeface="楷体_GB2312" pitchFamily="49" charset="-122"/>
                </a:rPr>
                <a:t>)+ </a:t>
              </a:r>
              <a:r>
                <a:rPr kumimoji="1" lang="en-US" altLang="zh-CN" sz="2800" b="1" i="1" dirty="0">
                  <a:solidFill>
                    <a:srgbClr val="000000"/>
                  </a:solidFill>
                  <a:latin typeface="Times New Roman" panose="02020603050405020304" pitchFamily="18" charset="0"/>
                  <a:ea typeface="楷体_GB2312" pitchFamily="49" charset="-122"/>
                </a:rPr>
                <a:t>p(V</a:t>
              </a:r>
              <a:r>
                <a:rPr kumimoji="1" lang="en-US" altLang="zh-CN" sz="2800" b="1" baseline="-25000" dirty="0">
                  <a:solidFill>
                    <a:srgbClr val="000000"/>
                  </a:solidFill>
                  <a:latin typeface="Times New Roman" panose="02020603050405020304" pitchFamily="18" charset="0"/>
                  <a:ea typeface="楷体_GB2312" pitchFamily="49" charset="-122"/>
                </a:rPr>
                <a:t>2</a:t>
              </a:r>
              <a:r>
                <a:rPr kumimoji="1" lang="en-US" altLang="zh-CN" sz="2800" b="1" dirty="0">
                  <a:solidFill>
                    <a:srgbClr val="000000"/>
                  </a:solidFill>
                  <a:latin typeface="Times New Roman" panose="02020603050405020304" pitchFamily="18" charset="0"/>
                  <a:ea typeface="楷体_GB2312" pitchFamily="49" charset="-122"/>
                </a:rPr>
                <a:t> – </a:t>
              </a:r>
              <a:r>
                <a:rPr kumimoji="1" lang="en-US" altLang="zh-CN" sz="2800" b="1" i="1" dirty="0">
                  <a:solidFill>
                    <a:srgbClr val="000000"/>
                  </a:solidFill>
                  <a:latin typeface="Times New Roman" panose="02020603050405020304" pitchFamily="18" charset="0"/>
                  <a:ea typeface="楷体_GB2312" pitchFamily="49" charset="-122"/>
                </a:rPr>
                <a:t>V</a:t>
              </a:r>
              <a:r>
                <a:rPr kumimoji="1" lang="en-US" altLang="zh-CN" sz="2800" b="1" baseline="-25000" dirty="0">
                  <a:solidFill>
                    <a:srgbClr val="000000"/>
                  </a:solidFill>
                  <a:latin typeface="Times New Roman" panose="02020603050405020304" pitchFamily="18" charset="0"/>
                  <a:ea typeface="楷体_GB2312" pitchFamily="49" charset="-122"/>
                </a:rPr>
                <a:t>1</a:t>
              </a:r>
              <a:r>
                <a:rPr kumimoji="1" lang="en-US" altLang="zh-CN" sz="2800" b="1" dirty="0">
                  <a:solidFill>
                    <a:srgbClr val="000000"/>
                  </a:solidFill>
                  <a:latin typeface="Times New Roman" panose="02020603050405020304" pitchFamily="18" charset="0"/>
                  <a:ea typeface="楷体_GB2312" pitchFamily="49" charset="-122"/>
                </a:rPr>
                <a:t>)</a:t>
              </a:r>
            </a:p>
          </p:txBody>
        </p:sp>
        <p:sp>
          <p:nvSpPr>
            <p:cNvPr id="26647" name="Rectangle 23"/>
            <p:cNvSpPr>
              <a:spLocks noChangeArrowheads="1"/>
            </p:cNvSpPr>
            <p:nvPr/>
          </p:nvSpPr>
          <p:spPr bwMode="auto">
            <a:xfrm>
              <a:off x="3048000" y="3810000"/>
              <a:ext cx="4314825" cy="582613"/>
            </a:xfrm>
            <a:prstGeom prst="rect">
              <a:avLst/>
            </a:prstGeom>
            <a:solidFill>
              <a:schemeClr val="bg1"/>
            </a:solidFill>
            <a:ln w="9525" algn="ctr">
              <a:noFill/>
              <a:miter lim="800000"/>
            </a:ln>
            <a:effectLst>
              <a:outerShdw sy="50000" kx="2453608" rotWithShape="0">
                <a:srgbClr val="808080">
                  <a:alpha val="50000"/>
                </a:srgbClr>
              </a:outerShdw>
            </a:effectLst>
          </p:spPr>
          <p:txBody>
            <a:bodyPr wrap="none" lIns="92075" tIns="46038" rIns="92075" bIns="46038">
              <a:spAutoFit/>
            </a:bodyPr>
            <a:lstStyle/>
            <a:p>
              <a:pPr fontAlgn="base">
                <a:lnSpc>
                  <a:spcPct val="115000"/>
                </a:lnSpc>
                <a:spcBef>
                  <a:spcPct val="0"/>
                </a:spcBef>
                <a:spcAft>
                  <a:spcPct val="0"/>
                </a:spcAft>
                <a:defRPr/>
              </a:pPr>
              <a:r>
                <a:rPr kumimoji="1" lang="en-US" altLang="zh-CN" sz="2800" b="1">
                  <a:solidFill>
                    <a:srgbClr val="000066"/>
                  </a:solidFill>
                  <a:latin typeface="Times New Roman" panose="02020603050405020304" pitchFamily="18" charset="0"/>
                  <a:ea typeface="楷体_GB2312" pitchFamily="49" charset="-122"/>
                </a:rPr>
                <a:t>= (</a:t>
              </a:r>
              <a:r>
                <a:rPr kumimoji="1" lang="en-US" altLang="zh-CN" sz="2800" b="1" i="1">
                  <a:solidFill>
                    <a:srgbClr val="000066"/>
                  </a:solidFill>
                  <a:latin typeface="Times New Roman" panose="02020603050405020304" pitchFamily="18" charset="0"/>
                  <a:ea typeface="楷体_GB2312" pitchFamily="49" charset="-122"/>
                </a:rPr>
                <a:t>U</a:t>
              </a:r>
              <a:r>
                <a:rPr kumimoji="1" lang="en-US" altLang="zh-CN" sz="2800" b="1" baseline="-25000">
                  <a:solidFill>
                    <a:srgbClr val="000066"/>
                  </a:solidFill>
                  <a:latin typeface="Times New Roman" panose="02020603050405020304" pitchFamily="18" charset="0"/>
                  <a:ea typeface="楷体_GB2312" pitchFamily="49" charset="-122"/>
                </a:rPr>
                <a:t>2</a:t>
              </a:r>
              <a:r>
                <a:rPr kumimoji="1" lang="en-US" altLang="zh-CN" sz="2800" b="1">
                  <a:solidFill>
                    <a:srgbClr val="000066"/>
                  </a:solidFill>
                  <a:latin typeface="Times New Roman" panose="02020603050405020304" pitchFamily="18" charset="0"/>
                  <a:ea typeface="楷体_GB2312" pitchFamily="49" charset="-122"/>
                </a:rPr>
                <a:t> + </a:t>
              </a:r>
              <a:r>
                <a:rPr kumimoji="1" lang="en-US" altLang="zh-CN" sz="2800" b="1" i="1">
                  <a:solidFill>
                    <a:srgbClr val="000066"/>
                  </a:solidFill>
                  <a:latin typeface="Times New Roman" panose="02020603050405020304" pitchFamily="18" charset="0"/>
                  <a:ea typeface="楷体_GB2312" pitchFamily="49" charset="-122"/>
                </a:rPr>
                <a:t>p</a:t>
              </a:r>
              <a:r>
                <a:rPr kumimoji="1" lang="en-US" altLang="zh-CN" sz="2800" b="1">
                  <a:solidFill>
                    <a:srgbClr val="000066"/>
                  </a:solidFill>
                  <a:latin typeface="Times New Roman" panose="02020603050405020304" pitchFamily="18" charset="0"/>
                  <a:ea typeface="楷体_GB2312" pitchFamily="49" charset="-122"/>
                </a:rPr>
                <a:t> </a:t>
              </a:r>
              <a:r>
                <a:rPr kumimoji="1" lang="en-US" altLang="zh-CN" sz="2800" b="1" baseline="-25000">
                  <a:solidFill>
                    <a:srgbClr val="000066"/>
                  </a:solidFill>
                  <a:latin typeface="Times New Roman" panose="02020603050405020304" pitchFamily="18" charset="0"/>
                  <a:ea typeface="楷体_GB2312" pitchFamily="49" charset="-122"/>
                </a:rPr>
                <a:t>2</a:t>
              </a:r>
              <a:r>
                <a:rPr kumimoji="1" lang="en-US" altLang="zh-CN" sz="2800" b="1" i="1">
                  <a:solidFill>
                    <a:srgbClr val="000066"/>
                  </a:solidFill>
                  <a:latin typeface="Times New Roman" panose="02020603050405020304" pitchFamily="18" charset="0"/>
                  <a:ea typeface="楷体_GB2312" pitchFamily="49" charset="-122"/>
                </a:rPr>
                <a:t>V</a:t>
              </a:r>
              <a:r>
                <a:rPr kumimoji="1" lang="en-US" altLang="zh-CN" sz="2800" b="1" baseline="-25000">
                  <a:solidFill>
                    <a:srgbClr val="000066"/>
                  </a:solidFill>
                  <a:latin typeface="Times New Roman" panose="02020603050405020304" pitchFamily="18" charset="0"/>
                  <a:ea typeface="楷体_GB2312" pitchFamily="49" charset="-122"/>
                </a:rPr>
                <a:t>2</a:t>
              </a:r>
              <a:r>
                <a:rPr kumimoji="1" lang="en-US" altLang="zh-CN" sz="2800" b="1">
                  <a:solidFill>
                    <a:srgbClr val="000066"/>
                  </a:solidFill>
                  <a:latin typeface="Times New Roman" panose="02020603050405020304" pitchFamily="18" charset="0"/>
                  <a:ea typeface="楷体_GB2312" pitchFamily="49" charset="-122"/>
                </a:rPr>
                <a:t>) – (</a:t>
              </a:r>
              <a:r>
                <a:rPr kumimoji="1" lang="en-US" altLang="zh-CN" sz="2800" b="1" i="1">
                  <a:solidFill>
                    <a:srgbClr val="000066"/>
                  </a:solidFill>
                  <a:latin typeface="Times New Roman" panose="02020603050405020304" pitchFamily="18" charset="0"/>
                  <a:ea typeface="楷体_GB2312" pitchFamily="49" charset="-122"/>
                </a:rPr>
                <a:t>U</a:t>
              </a:r>
              <a:r>
                <a:rPr kumimoji="1" lang="en-US" altLang="zh-CN" sz="2800" b="1" baseline="-25000">
                  <a:solidFill>
                    <a:srgbClr val="000066"/>
                  </a:solidFill>
                  <a:latin typeface="Times New Roman" panose="02020603050405020304" pitchFamily="18" charset="0"/>
                  <a:ea typeface="楷体_GB2312" pitchFamily="49" charset="-122"/>
                </a:rPr>
                <a:t>1</a:t>
              </a:r>
              <a:r>
                <a:rPr kumimoji="1" lang="en-US" altLang="zh-CN" sz="2800" b="1">
                  <a:solidFill>
                    <a:srgbClr val="000066"/>
                  </a:solidFill>
                  <a:latin typeface="Times New Roman" panose="02020603050405020304" pitchFamily="18" charset="0"/>
                  <a:ea typeface="楷体_GB2312" pitchFamily="49" charset="-122"/>
                </a:rPr>
                <a:t> + </a:t>
              </a:r>
              <a:r>
                <a:rPr kumimoji="1" lang="en-US" altLang="zh-CN" sz="2800" b="1" i="1">
                  <a:solidFill>
                    <a:srgbClr val="000066"/>
                  </a:solidFill>
                  <a:latin typeface="Times New Roman" panose="02020603050405020304" pitchFamily="18" charset="0"/>
                  <a:ea typeface="楷体_GB2312" pitchFamily="49" charset="-122"/>
                </a:rPr>
                <a:t>p </a:t>
              </a:r>
              <a:r>
                <a:rPr kumimoji="1" lang="en-US" altLang="zh-CN" sz="2800" b="1" baseline="-25000">
                  <a:solidFill>
                    <a:srgbClr val="000066"/>
                  </a:solidFill>
                  <a:latin typeface="Times New Roman" panose="02020603050405020304" pitchFamily="18" charset="0"/>
                  <a:ea typeface="楷体_GB2312" pitchFamily="49" charset="-122"/>
                </a:rPr>
                <a:t>1</a:t>
              </a:r>
              <a:r>
                <a:rPr kumimoji="1" lang="en-US" altLang="zh-CN" sz="2800" b="1" i="1">
                  <a:solidFill>
                    <a:srgbClr val="000066"/>
                  </a:solidFill>
                  <a:latin typeface="Times New Roman" panose="02020603050405020304" pitchFamily="18" charset="0"/>
                  <a:ea typeface="楷体_GB2312" pitchFamily="49" charset="-122"/>
                </a:rPr>
                <a:t>V</a:t>
              </a:r>
              <a:r>
                <a:rPr kumimoji="1" lang="en-US" altLang="zh-CN" sz="2800" b="1" baseline="-25000">
                  <a:solidFill>
                    <a:srgbClr val="000066"/>
                  </a:solidFill>
                  <a:latin typeface="Times New Roman" panose="02020603050405020304" pitchFamily="18" charset="0"/>
                  <a:ea typeface="楷体_GB2312" pitchFamily="49" charset="-122"/>
                </a:rPr>
                <a:t>1</a:t>
              </a:r>
              <a:r>
                <a:rPr kumimoji="1" lang="en-US" altLang="zh-CN" sz="2800" b="1">
                  <a:solidFill>
                    <a:srgbClr val="000066"/>
                  </a:solidFill>
                  <a:latin typeface="Times New Roman" panose="02020603050405020304" pitchFamily="18" charset="0"/>
                  <a:ea typeface="楷体_GB2312" pitchFamily="49" charset="-122"/>
                </a:rPr>
                <a:t>)</a:t>
              </a:r>
            </a:p>
          </p:txBody>
        </p:sp>
      </p:grpSp>
      <p:grpSp>
        <p:nvGrpSpPr>
          <p:cNvPr id="3" name="组合 12"/>
          <p:cNvGrpSpPr/>
          <p:nvPr/>
        </p:nvGrpSpPr>
        <p:grpSpPr bwMode="auto">
          <a:xfrm>
            <a:off x="304800" y="4343400"/>
            <a:ext cx="8305800" cy="1708150"/>
            <a:chOff x="304800" y="4343400"/>
            <a:chExt cx="8305800" cy="1708150"/>
          </a:xfrm>
        </p:grpSpPr>
        <p:sp>
          <p:nvSpPr>
            <p:cNvPr id="60422" name="Text Box 24"/>
            <p:cNvSpPr txBox="1">
              <a:spLocks noChangeArrowheads="1"/>
            </p:cNvSpPr>
            <p:nvPr/>
          </p:nvSpPr>
          <p:spPr bwMode="auto">
            <a:xfrm>
              <a:off x="2438400" y="4876800"/>
              <a:ext cx="5334000" cy="581025"/>
            </a:xfrm>
            <a:prstGeom prst="rect">
              <a:avLst/>
            </a:prstGeom>
            <a:solidFill>
              <a:srgbClr val="C0C0C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algn="ctr" fontAlgn="base">
                <a:lnSpc>
                  <a:spcPct val="115000"/>
                </a:lnSpc>
                <a:spcBef>
                  <a:spcPct val="0"/>
                </a:spcBef>
                <a:spcAft>
                  <a:spcPct val="0"/>
                </a:spcAft>
              </a:pPr>
              <a:r>
                <a:rPr lang="en-US" altLang="zh-CN" i="1" smtClean="0">
                  <a:solidFill>
                    <a:srgbClr val="990000"/>
                  </a:solidFill>
                </a:rPr>
                <a:t>Q</a:t>
              </a:r>
              <a:r>
                <a:rPr lang="en-US" altLang="zh-CN" i="1" baseline="-25000" smtClean="0">
                  <a:solidFill>
                    <a:srgbClr val="990000"/>
                  </a:solidFill>
                </a:rPr>
                <a:t>p </a:t>
              </a:r>
              <a:r>
                <a:rPr lang="en-US" altLang="zh-CN" i="1" smtClean="0">
                  <a:solidFill>
                    <a:srgbClr val="990000"/>
                  </a:solidFill>
                </a:rPr>
                <a:t>= H</a:t>
              </a:r>
              <a:r>
                <a:rPr lang="en-US" altLang="zh-CN" i="1" baseline="-25000" smtClean="0">
                  <a:solidFill>
                    <a:srgbClr val="990000"/>
                  </a:solidFill>
                </a:rPr>
                <a:t>2 </a:t>
              </a:r>
              <a:r>
                <a:rPr lang="en-US" altLang="zh-CN" i="1" smtClean="0">
                  <a:solidFill>
                    <a:srgbClr val="990000"/>
                  </a:solidFill>
                  <a:cs typeface="Times New Roman" panose="02020603050405020304" pitchFamily="18" charset="0"/>
                </a:rPr>
                <a:t>–</a:t>
              </a:r>
              <a:r>
                <a:rPr lang="en-US" altLang="zh-CN" i="1" baseline="-25000" smtClean="0">
                  <a:solidFill>
                    <a:srgbClr val="990000"/>
                  </a:solidFill>
                </a:rPr>
                <a:t> </a:t>
              </a:r>
              <a:r>
                <a:rPr lang="en-US" altLang="zh-CN" i="1" smtClean="0">
                  <a:solidFill>
                    <a:srgbClr val="990000"/>
                  </a:solidFill>
                </a:rPr>
                <a:t>H</a:t>
              </a:r>
              <a:r>
                <a:rPr lang="en-US" altLang="zh-CN" i="1" baseline="-25000" smtClean="0">
                  <a:solidFill>
                    <a:srgbClr val="990000"/>
                  </a:solidFill>
                </a:rPr>
                <a:t>1</a:t>
              </a:r>
              <a:r>
                <a:rPr lang="en-US" altLang="zh-CN" i="1" smtClean="0">
                  <a:solidFill>
                    <a:srgbClr val="990000"/>
                  </a:solidFill>
                </a:rPr>
                <a:t>=ΔH</a:t>
              </a:r>
            </a:p>
          </p:txBody>
        </p:sp>
        <p:sp>
          <p:nvSpPr>
            <p:cNvPr id="26649" name="Rectangle 25"/>
            <p:cNvSpPr>
              <a:spLocks noChangeArrowheads="1"/>
            </p:cNvSpPr>
            <p:nvPr/>
          </p:nvSpPr>
          <p:spPr bwMode="auto">
            <a:xfrm>
              <a:off x="304800" y="4343400"/>
              <a:ext cx="3856038" cy="582613"/>
            </a:xfrm>
            <a:prstGeom prst="rect">
              <a:avLst/>
            </a:prstGeom>
            <a:solidFill>
              <a:schemeClr val="bg1"/>
            </a:solidFill>
            <a:ln w="9525" algn="ctr">
              <a:noFill/>
              <a:miter lim="800000"/>
            </a:ln>
            <a:effectLst>
              <a:outerShdw sy="50000" kx="2453608" rotWithShape="0">
                <a:srgbClr val="808080">
                  <a:alpha val="50000"/>
                </a:srgbClr>
              </a:outerShdw>
            </a:effectLst>
          </p:spPr>
          <p:txBody>
            <a:bodyPr wrap="none" lIns="92075" tIns="46038" rIns="92075" bIns="46038">
              <a:spAutoFit/>
            </a:bodyPr>
            <a:lstStyle/>
            <a:p>
              <a:pPr fontAlgn="base">
                <a:lnSpc>
                  <a:spcPct val="115000"/>
                </a:lnSpc>
                <a:spcBef>
                  <a:spcPct val="0"/>
                </a:spcBef>
                <a:spcAft>
                  <a:spcPct val="0"/>
                </a:spcAft>
                <a:defRPr/>
              </a:pPr>
              <a:r>
                <a:rPr kumimoji="1" lang="zh-CN" altLang="en-US" sz="2800" b="1">
                  <a:solidFill>
                    <a:srgbClr val="0000FF"/>
                  </a:solidFill>
                  <a:latin typeface="Times New Roman" panose="02020603050405020304" pitchFamily="18" charset="0"/>
                  <a:ea typeface="楷体_GB2312" pitchFamily="49" charset="-122"/>
                </a:rPr>
                <a:t>令     </a:t>
              </a:r>
              <a:r>
                <a:rPr kumimoji="1" lang="en-US" altLang="zh-CN" sz="2800" b="1" i="1">
                  <a:solidFill>
                    <a:srgbClr val="990000"/>
                  </a:solidFill>
                  <a:latin typeface="Times New Roman" panose="02020603050405020304" pitchFamily="18" charset="0"/>
                  <a:ea typeface="楷体_GB2312" pitchFamily="49" charset="-122"/>
                </a:rPr>
                <a:t>H = U + p V</a:t>
              </a:r>
              <a:r>
                <a:rPr kumimoji="1" lang="zh-CN" altLang="en-US" sz="2800" b="1" i="1">
                  <a:solidFill>
                    <a:srgbClr val="0000FF"/>
                  </a:solidFill>
                  <a:latin typeface="Times New Roman" panose="02020603050405020304" pitchFamily="18" charset="0"/>
                  <a:ea typeface="楷体_GB2312" pitchFamily="49" charset="-122"/>
                </a:rPr>
                <a:t>，则：</a:t>
              </a:r>
              <a:endParaRPr kumimoji="1" lang="zh-CN" altLang="en-US" sz="2800" b="1" i="1">
                <a:solidFill>
                  <a:srgbClr val="CC3300"/>
                </a:solidFill>
                <a:latin typeface="Times New Roman" panose="02020603050405020304" pitchFamily="18" charset="0"/>
                <a:ea typeface="楷体_GB2312" pitchFamily="49" charset="-122"/>
              </a:endParaRPr>
            </a:p>
          </p:txBody>
        </p:sp>
        <p:sp>
          <p:nvSpPr>
            <p:cNvPr id="60424" name="Text Box 26"/>
            <p:cNvSpPr txBox="1">
              <a:spLocks noChangeArrowheads="1"/>
            </p:cNvSpPr>
            <p:nvPr/>
          </p:nvSpPr>
          <p:spPr bwMode="auto">
            <a:xfrm>
              <a:off x="762000" y="5562600"/>
              <a:ext cx="7848600" cy="48895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spcBef>
                  <a:spcPct val="50000"/>
                </a:spcBef>
                <a:spcAft>
                  <a:spcPct val="0"/>
                </a:spcAft>
              </a:pPr>
              <a:r>
                <a:rPr lang="en-US" altLang="zh-CN" sz="2600" i="1" smtClean="0">
                  <a:solidFill>
                    <a:srgbClr val="000000"/>
                  </a:solidFill>
                </a:rPr>
                <a:t>        </a:t>
              </a:r>
              <a:r>
                <a:rPr lang="en-US" altLang="zh-CN" sz="2600" i="1" smtClean="0">
                  <a:solidFill>
                    <a:srgbClr val="FF0000"/>
                  </a:solidFill>
                </a:rPr>
                <a:t>H </a:t>
              </a:r>
              <a:r>
                <a:rPr lang="zh-CN" altLang="en-US" sz="2600" smtClean="0">
                  <a:solidFill>
                    <a:srgbClr val="000000"/>
                  </a:solidFill>
                </a:rPr>
                <a:t>称为</a:t>
              </a:r>
              <a:r>
                <a:rPr lang="zh-CN" altLang="en-US" sz="2600" i="1" smtClean="0">
                  <a:solidFill>
                    <a:srgbClr val="000000"/>
                  </a:solidFill>
                </a:rPr>
                <a:t>焓</a:t>
              </a:r>
              <a:r>
                <a:rPr lang="en-US" altLang="zh-CN" sz="2600" i="1" smtClean="0">
                  <a:solidFill>
                    <a:srgbClr val="000000"/>
                  </a:solidFill>
                </a:rPr>
                <a:t>(</a:t>
              </a:r>
              <a:r>
                <a:rPr kumimoji="0" lang="en-US" altLang="zh-CN" sz="2600" smtClean="0">
                  <a:solidFill>
                    <a:srgbClr val="000000"/>
                  </a:solidFill>
                </a:rPr>
                <a:t>enthalpy</a:t>
              </a:r>
              <a:r>
                <a:rPr lang="en-US" altLang="zh-CN" sz="2600" i="1" smtClean="0">
                  <a:solidFill>
                    <a:srgbClr val="000000"/>
                  </a:solidFill>
                </a:rPr>
                <a:t> )</a:t>
              </a:r>
              <a:r>
                <a:rPr lang="zh-CN" altLang="en-US" sz="2600" smtClean="0">
                  <a:solidFill>
                    <a:srgbClr val="000000"/>
                  </a:solidFill>
                </a:rPr>
                <a:t>，是一个重要的热力学函数。</a:t>
              </a:r>
            </a:p>
          </p:txBody>
        </p:sp>
      </p:grpSp>
      <p:sp>
        <p:nvSpPr>
          <p:cNvPr id="11" name="矩形 10"/>
          <p:cNvSpPr/>
          <p:nvPr/>
        </p:nvSpPr>
        <p:spPr>
          <a:xfrm>
            <a:off x="76200" y="76200"/>
            <a:ext cx="4724400" cy="436563"/>
          </a:xfrm>
          <a:prstGeom prst="rect">
            <a:avLst/>
          </a:prstGeom>
          <a:solidFill>
            <a:schemeClr val="bg2">
              <a:lumMod val="40000"/>
              <a:lumOff val="60000"/>
            </a:schemeClr>
          </a:solidFill>
        </p:spPr>
        <p:txBody>
          <a:bodyPr>
            <a:spAutoFit/>
          </a:bodyPr>
          <a:lstStyle/>
          <a:p>
            <a:pPr eaLnBrk="0" fontAlgn="base" hangingPunct="0">
              <a:lnSpc>
                <a:spcPct val="80000"/>
              </a:lnSpc>
              <a:spcBef>
                <a:spcPct val="50000"/>
              </a:spcBef>
              <a:spcAft>
                <a:spcPct val="0"/>
              </a:spcAft>
              <a:defRPr/>
            </a:pPr>
            <a:r>
              <a:rPr kumimoji="1" lang="en-US" altLang="zh-CN" sz="2600" b="1" i="1" dirty="0">
                <a:solidFill>
                  <a:srgbClr val="C00000"/>
                </a:solidFill>
                <a:effectLst>
                  <a:outerShdw blurRad="38100" dist="38100" dir="2700000" algn="tl">
                    <a:srgbClr val="C0C0C0"/>
                  </a:outerShdw>
                </a:effectLst>
                <a:latin typeface="Times New Roman" panose="02020603050405020304" pitchFamily="18" charset="0"/>
                <a:ea typeface="楷体_GB2312" pitchFamily="49" charset="-122"/>
              </a:rPr>
              <a:t>2</a:t>
            </a:r>
            <a:r>
              <a:rPr kumimoji="1" lang="zh-CN" altLang="en-US" sz="2600" b="1" i="1" dirty="0">
                <a:solidFill>
                  <a:srgbClr val="C00000"/>
                </a:solidFill>
                <a:effectLst>
                  <a:outerShdw blurRad="38100" dist="38100" dir="2700000" algn="tl">
                    <a:srgbClr val="C0C0C0"/>
                  </a:outerShdw>
                </a:effectLst>
                <a:latin typeface="Times New Roman" panose="02020603050405020304" pitchFamily="18" charset="0"/>
                <a:ea typeface="楷体_GB2312" pitchFamily="49" charset="-122"/>
              </a:rPr>
              <a:t>、定压反应热</a:t>
            </a:r>
            <a:r>
              <a:rPr lang="en-US" altLang="zh-CN" sz="2600" b="1" i="1" dirty="0">
                <a:solidFill>
                  <a:srgbClr val="C00000"/>
                </a:solidFill>
                <a:effectLst>
                  <a:outerShdw blurRad="38100" dist="38100" dir="2700000" algn="tl">
                    <a:srgbClr val="C0C0C0"/>
                  </a:outerShdw>
                </a:effectLst>
                <a:latin typeface="Times New Roman" panose="02020603050405020304" pitchFamily="18" charset="0"/>
                <a:ea typeface="楷体_GB2312" pitchFamily="49" charset="-122"/>
              </a:rPr>
              <a:t> </a:t>
            </a:r>
            <a:r>
              <a:rPr lang="en-US" altLang="zh-CN" sz="2600" b="1" i="1" dirty="0" err="1">
                <a:solidFill>
                  <a:srgbClr val="C00000"/>
                </a:solidFill>
                <a:latin typeface="Times New Roman" panose="02020603050405020304" pitchFamily="18" charset="0"/>
                <a:ea typeface="楷体_GB2312" pitchFamily="49" charset="-122"/>
              </a:rPr>
              <a:t>Q</a:t>
            </a:r>
            <a:r>
              <a:rPr lang="en-US" altLang="zh-CN" sz="2600" b="1" i="1" baseline="-25000" dirty="0" err="1">
                <a:solidFill>
                  <a:srgbClr val="C00000"/>
                </a:solidFill>
                <a:latin typeface="Times New Roman" panose="02020603050405020304" pitchFamily="18" charset="0"/>
                <a:ea typeface="楷体_GB2312" pitchFamily="49" charset="-122"/>
              </a:rPr>
              <a:t>p</a:t>
            </a:r>
            <a:r>
              <a:rPr lang="en-US" altLang="zh-CN" sz="2600" b="1" i="1" baseline="-25000" dirty="0">
                <a:solidFill>
                  <a:srgbClr val="C00000"/>
                </a:solidFill>
                <a:latin typeface="Times New Roman" panose="02020603050405020304" pitchFamily="18" charset="0"/>
                <a:ea typeface="楷体_GB2312" pitchFamily="49" charset="-122"/>
              </a:rPr>
              <a:t> </a:t>
            </a:r>
            <a:r>
              <a:rPr lang="en-US" altLang="zh-CN" sz="2600" b="1" i="1" dirty="0">
                <a:solidFill>
                  <a:srgbClr val="C00000"/>
                </a:solidFill>
                <a:latin typeface="Times New Roman" panose="02020603050405020304" pitchFamily="18" charset="0"/>
                <a:ea typeface="楷体_GB2312" pitchFamily="49" charset="-122"/>
              </a:rPr>
              <a:t>----</a:t>
            </a:r>
            <a:r>
              <a:rPr kumimoji="1" lang="zh-CN" altLang="en-US" sz="2800" b="1" i="1" dirty="0">
                <a:solidFill>
                  <a:srgbClr val="C00000"/>
                </a:solidFill>
                <a:latin typeface="Times New Roman" panose="02020603050405020304" pitchFamily="18" charset="0"/>
                <a:ea typeface="楷体_GB2312" pitchFamily="49" charset="-122"/>
              </a:rPr>
              <a:t>焓变</a:t>
            </a:r>
            <a:r>
              <a:rPr kumimoji="1" lang="en-US" altLang="zh-CN" sz="2800" b="1" i="1" dirty="0">
                <a:solidFill>
                  <a:srgbClr val="C00000"/>
                </a:solidFill>
                <a:latin typeface="Times New Roman" panose="02020603050405020304" pitchFamily="18" charset="0"/>
                <a:ea typeface="楷体_GB2312" pitchFamily="49" charset="-122"/>
              </a:rPr>
              <a:t>ΔH </a:t>
            </a:r>
            <a:endParaRPr lang="en-US" altLang="zh-CN" sz="2600" b="1" i="1" baseline="-25000" dirty="0">
              <a:solidFill>
                <a:srgbClr val="C00000"/>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6643"/>
                                        </p:tgtEl>
                                        <p:attrNameLst>
                                          <p:attrName>style.visibility</p:attrName>
                                        </p:attrNameLst>
                                      </p:cBhvr>
                                      <p:to>
                                        <p:strVal val="visible"/>
                                      </p:to>
                                    </p:set>
                                    <p:animEffect transition="in" filter="diamond(in)">
                                      <p:cBhvr>
                                        <p:cTn id="12" dur="500"/>
                                        <p:tgtEl>
                                          <p:spTgt spid="2664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43" grpId="0" animBg="1"/>
      <p:bldP spid="11"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30" name="Text Box 10"/>
          <p:cNvSpPr txBox="1">
            <a:spLocks noChangeArrowheads="1"/>
          </p:cNvSpPr>
          <p:nvPr/>
        </p:nvSpPr>
        <p:spPr bwMode="auto">
          <a:xfrm>
            <a:off x="381000" y="2438400"/>
            <a:ext cx="8458200" cy="5127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lnSpc>
                <a:spcPts val="3600"/>
              </a:lnSpc>
              <a:spcBef>
                <a:spcPct val="50000"/>
              </a:spcBef>
              <a:spcAft>
                <a:spcPct val="0"/>
              </a:spcAft>
            </a:pPr>
            <a:r>
              <a:rPr lang="en-US" altLang="zh-CN" sz="2600" i="1" smtClean="0">
                <a:solidFill>
                  <a:srgbClr val="000000"/>
                </a:solidFill>
              </a:rPr>
              <a:t>        </a:t>
            </a:r>
            <a:r>
              <a:rPr lang="zh-CN" altLang="en-US" sz="2600" i="1" smtClean="0">
                <a:solidFill>
                  <a:srgbClr val="000000"/>
                </a:solidFill>
              </a:rPr>
              <a:t>思考：</a:t>
            </a:r>
            <a:r>
              <a:rPr lang="zh-CN" altLang="en-US" sz="2600" smtClean="0">
                <a:solidFill>
                  <a:srgbClr val="000000"/>
                </a:solidFill>
              </a:rPr>
              <a:t>焓是状态函数吗？能否知道它的绝对数值？</a:t>
            </a:r>
          </a:p>
        </p:txBody>
      </p:sp>
      <p:sp>
        <p:nvSpPr>
          <p:cNvPr id="30732" name="Text Box 12"/>
          <p:cNvSpPr txBox="1">
            <a:spLocks noChangeArrowheads="1"/>
          </p:cNvSpPr>
          <p:nvPr/>
        </p:nvSpPr>
        <p:spPr bwMode="auto">
          <a:xfrm>
            <a:off x="990600" y="3048000"/>
            <a:ext cx="7543800" cy="5127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algn="ctr" fontAlgn="base">
              <a:lnSpc>
                <a:spcPts val="3600"/>
              </a:lnSpc>
              <a:spcBef>
                <a:spcPct val="50000"/>
              </a:spcBef>
              <a:spcAft>
                <a:spcPct val="0"/>
              </a:spcAft>
            </a:pPr>
            <a:r>
              <a:rPr lang="zh-CN" altLang="en-US" sz="2600" smtClean="0">
                <a:solidFill>
                  <a:srgbClr val="000000"/>
                </a:solidFill>
              </a:rPr>
              <a:t>是状态函数，与</a:t>
            </a:r>
            <a:r>
              <a:rPr lang="en-US" altLang="zh-CN" sz="2600" smtClean="0">
                <a:solidFill>
                  <a:srgbClr val="000000"/>
                </a:solidFill>
              </a:rPr>
              <a:t>U</a:t>
            </a:r>
            <a:r>
              <a:rPr lang="zh-CN" altLang="en-US" sz="2600" smtClean="0">
                <a:solidFill>
                  <a:srgbClr val="000000"/>
                </a:solidFill>
              </a:rPr>
              <a:t>相似，不能知道它的绝对数值。</a:t>
            </a:r>
          </a:p>
        </p:txBody>
      </p:sp>
      <p:sp>
        <p:nvSpPr>
          <p:cNvPr id="30734" name="Text Box 14"/>
          <p:cNvSpPr txBox="1">
            <a:spLocks noChangeArrowheads="1"/>
          </p:cNvSpPr>
          <p:nvPr/>
        </p:nvSpPr>
        <p:spPr bwMode="auto">
          <a:xfrm>
            <a:off x="2057400" y="1295400"/>
            <a:ext cx="5334000" cy="101441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algn="ctr" fontAlgn="base">
              <a:lnSpc>
                <a:spcPts val="3600"/>
              </a:lnSpc>
              <a:spcBef>
                <a:spcPct val="10000"/>
              </a:spcBef>
              <a:spcAft>
                <a:spcPct val="0"/>
              </a:spcAft>
            </a:pPr>
            <a:r>
              <a:rPr lang="zh-CN" altLang="en-US" sz="2600" smtClean="0">
                <a:solidFill>
                  <a:srgbClr val="000000"/>
                </a:solidFill>
                <a:sym typeface="Symbol" panose="05050102010706020507" pitchFamily="18" charset="2"/>
              </a:rPr>
              <a:t>吸热反应：</a:t>
            </a:r>
            <a:r>
              <a:rPr lang="en-US" altLang="zh-CN" sz="2600" smtClean="0">
                <a:solidFill>
                  <a:srgbClr val="000000"/>
                </a:solidFill>
                <a:sym typeface="Symbol" panose="05050102010706020507" pitchFamily="18" charset="2"/>
              </a:rPr>
              <a:t>Q</a:t>
            </a:r>
            <a:r>
              <a:rPr lang="en-US" altLang="en-US" sz="2600" baseline="-25000" smtClean="0">
                <a:solidFill>
                  <a:srgbClr val="000000"/>
                </a:solidFill>
                <a:sym typeface="Symbol" panose="05050102010706020507" pitchFamily="18" charset="2"/>
              </a:rPr>
              <a:t>p</a:t>
            </a:r>
            <a:r>
              <a:rPr lang="en-US" altLang="zh-CN" sz="2600" smtClean="0">
                <a:solidFill>
                  <a:srgbClr val="000000"/>
                </a:solidFill>
                <a:sym typeface="Symbol" panose="05050102010706020507" pitchFamily="18" charset="2"/>
              </a:rPr>
              <a:t> &gt; 0,</a:t>
            </a:r>
            <a:r>
              <a:rPr lang="zh-CN" altLang="en-US" sz="2600" smtClean="0">
                <a:solidFill>
                  <a:srgbClr val="000000"/>
                </a:solidFill>
                <a:sym typeface="Symbol" panose="05050102010706020507" pitchFamily="18" charset="2"/>
              </a:rPr>
              <a:t>　 </a:t>
            </a:r>
            <a:r>
              <a:rPr lang="en-US" altLang="en-US" sz="2600" smtClean="0">
                <a:solidFill>
                  <a:srgbClr val="000000"/>
                </a:solidFill>
                <a:sym typeface="Symbol" panose="05050102010706020507" pitchFamily="18" charset="2"/>
              </a:rPr>
              <a:t>H &gt; 0</a:t>
            </a:r>
            <a:endParaRPr lang="en-US" altLang="zh-CN" sz="2600" smtClean="0">
              <a:solidFill>
                <a:srgbClr val="000000"/>
              </a:solidFill>
              <a:sym typeface="Symbol" panose="05050102010706020507" pitchFamily="18" charset="2"/>
            </a:endParaRPr>
          </a:p>
          <a:p>
            <a:pPr algn="ctr" fontAlgn="base">
              <a:lnSpc>
                <a:spcPts val="3600"/>
              </a:lnSpc>
              <a:spcBef>
                <a:spcPct val="10000"/>
              </a:spcBef>
              <a:spcAft>
                <a:spcPct val="0"/>
              </a:spcAft>
            </a:pPr>
            <a:r>
              <a:rPr lang="zh-CN" altLang="zh-CN" sz="2600" smtClean="0">
                <a:solidFill>
                  <a:srgbClr val="000000"/>
                </a:solidFill>
                <a:sym typeface="Symbol" panose="05050102010706020507" pitchFamily="18" charset="2"/>
              </a:rPr>
              <a:t>放热</a:t>
            </a:r>
            <a:r>
              <a:rPr lang="zh-CN" altLang="en-US" sz="2600" smtClean="0">
                <a:solidFill>
                  <a:srgbClr val="000000"/>
                </a:solidFill>
                <a:sym typeface="Symbol" panose="05050102010706020507" pitchFamily="18" charset="2"/>
              </a:rPr>
              <a:t>反应：</a:t>
            </a:r>
            <a:r>
              <a:rPr lang="en-US" altLang="en-US" sz="2600" smtClean="0">
                <a:solidFill>
                  <a:srgbClr val="000000"/>
                </a:solidFill>
                <a:sym typeface="Symbol" panose="05050102010706020507" pitchFamily="18" charset="2"/>
              </a:rPr>
              <a:t>Q</a:t>
            </a:r>
            <a:r>
              <a:rPr lang="en-US" altLang="en-US" sz="2600" baseline="-25000" smtClean="0">
                <a:solidFill>
                  <a:srgbClr val="000000"/>
                </a:solidFill>
                <a:sym typeface="Symbol" panose="05050102010706020507" pitchFamily="18" charset="2"/>
              </a:rPr>
              <a:t>p</a:t>
            </a:r>
            <a:r>
              <a:rPr lang="en-US" altLang="zh-CN" sz="2600" smtClean="0">
                <a:solidFill>
                  <a:srgbClr val="000000"/>
                </a:solidFill>
                <a:sym typeface="Symbol" panose="05050102010706020507" pitchFamily="18" charset="2"/>
              </a:rPr>
              <a:t> &lt; 0, </a:t>
            </a:r>
            <a:r>
              <a:rPr lang="zh-CN" altLang="en-US" sz="2600" smtClean="0">
                <a:solidFill>
                  <a:srgbClr val="000000"/>
                </a:solidFill>
                <a:sym typeface="Symbol" panose="05050102010706020507" pitchFamily="18" charset="2"/>
              </a:rPr>
              <a:t>　</a:t>
            </a:r>
            <a:r>
              <a:rPr lang="en-US" altLang="en-US" sz="2600" smtClean="0">
                <a:solidFill>
                  <a:srgbClr val="000000"/>
                </a:solidFill>
                <a:sym typeface="Symbol" panose="05050102010706020507" pitchFamily="18" charset="2"/>
              </a:rPr>
              <a:t>H &lt; 0</a:t>
            </a:r>
            <a:endParaRPr lang="en-US" altLang="zh-CN" sz="2600" smtClean="0">
              <a:solidFill>
                <a:srgbClr val="000000"/>
              </a:solidFill>
            </a:endParaRPr>
          </a:p>
        </p:txBody>
      </p:sp>
      <p:sp>
        <p:nvSpPr>
          <p:cNvPr id="8" name="矩形 7"/>
          <p:cNvSpPr/>
          <p:nvPr/>
        </p:nvSpPr>
        <p:spPr>
          <a:xfrm>
            <a:off x="381000" y="152400"/>
            <a:ext cx="8458200" cy="974725"/>
          </a:xfrm>
          <a:prstGeom prst="rect">
            <a:avLst/>
          </a:prstGeom>
          <a:solidFill>
            <a:schemeClr val="accent5">
              <a:lumMod val="90000"/>
            </a:schemeClr>
          </a:solidFill>
        </p:spPr>
        <p:txBody>
          <a:bodyPr>
            <a:spAutoFit/>
          </a:bodyPr>
          <a:lstStyle/>
          <a:p>
            <a:pPr eaLnBrk="0" fontAlgn="base" hangingPunct="0">
              <a:lnSpc>
                <a:spcPts val="3600"/>
              </a:lnSpc>
              <a:spcBef>
                <a:spcPct val="50000"/>
              </a:spcBef>
              <a:spcAft>
                <a:spcPct val="0"/>
              </a:spcAft>
              <a:defRPr/>
            </a:pPr>
            <a:r>
              <a:rPr lang="en-US" altLang="zh-CN" sz="2600" b="1" i="1" dirty="0">
                <a:solidFill>
                  <a:srgbClr val="000000"/>
                </a:solidFill>
                <a:latin typeface="Times New Roman" panose="02020603050405020304" pitchFamily="18" charset="0"/>
                <a:ea typeface="楷体_GB2312" pitchFamily="49" charset="-122"/>
              </a:rPr>
              <a:t>        </a:t>
            </a:r>
            <a:r>
              <a:rPr lang="zh-CN" altLang="en-US" sz="2600" b="1" i="1" dirty="0">
                <a:solidFill>
                  <a:srgbClr val="000000"/>
                </a:solidFill>
                <a:latin typeface="Times New Roman" panose="02020603050405020304" pitchFamily="18" charset="0"/>
                <a:ea typeface="楷体_GB2312" pitchFamily="49" charset="-122"/>
              </a:rPr>
              <a:t>从上面的公式可知，等压反应热</a:t>
            </a:r>
            <a:r>
              <a:rPr lang="en-US" altLang="zh-CN" sz="2600" b="1" i="1" dirty="0">
                <a:solidFill>
                  <a:srgbClr val="000000"/>
                </a:solidFill>
                <a:latin typeface="Times New Roman" panose="02020603050405020304" pitchFamily="18" charset="0"/>
                <a:ea typeface="楷体_GB2312" pitchFamily="49" charset="-122"/>
              </a:rPr>
              <a:t>(</a:t>
            </a:r>
            <a:r>
              <a:rPr kumimoji="1" lang="en-US" altLang="zh-CN" sz="2600" b="1" i="1" dirty="0">
                <a:solidFill>
                  <a:srgbClr val="000000"/>
                </a:solidFill>
                <a:latin typeface="Times New Roman" panose="02020603050405020304" pitchFamily="18" charset="0"/>
                <a:ea typeface="楷体_GB2312" pitchFamily="49" charset="-122"/>
              </a:rPr>
              <a:t>Q </a:t>
            </a:r>
            <a:r>
              <a:rPr kumimoji="1" lang="en-US" altLang="zh-CN" sz="2600" b="1" i="1" baseline="-25000" dirty="0">
                <a:solidFill>
                  <a:srgbClr val="000000"/>
                </a:solidFill>
                <a:latin typeface="Times New Roman" panose="02020603050405020304" pitchFamily="18" charset="0"/>
                <a:ea typeface="楷体_GB2312" pitchFamily="49" charset="-122"/>
              </a:rPr>
              <a:t>p</a:t>
            </a:r>
            <a:r>
              <a:rPr lang="en-US" altLang="zh-CN" sz="2600" b="1" i="1" dirty="0">
                <a:solidFill>
                  <a:srgbClr val="000000"/>
                </a:solidFill>
                <a:latin typeface="Times New Roman" panose="02020603050405020304" pitchFamily="18" charset="0"/>
                <a:ea typeface="楷体_GB2312" pitchFamily="49" charset="-122"/>
              </a:rPr>
              <a:t>)</a:t>
            </a:r>
            <a:r>
              <a:rPr lang="zh-CN" altLang="en-US" sz="2600" b="1" i="1" dirty="0">
                <a:solidFill>
                  <a:srgbClr val="000000"/>
                </a:solidFill>
                <a:latin typeface="Times New Roman" panose="02020603050405020304" pitchFamily="18" charset="0"/>
                <a:ea typeface="楷体_GB2312" pitchFamily="49" charset="-122"/>
              </a:rPr>
              <a:t>等于化学反应的焓变</a:t>
            </a:r>
            <a:r>
              <a:rPr lang="en-US" altLang="zh-CN" sz="2600" b="1" i="1" dirty="0">
                <a:solidFill>
                  <a:srgbClr val="000000"/>
                </a:solidFill>
                <a:latin typeface="Times New Roman" panose="02020603050405020304" pitchFamily="18" charset="0"/>
                <a:ea typeface="楷体_GB2312" pitchFamily="49" charset="-122"/>
              </a:rPr>
              <a:t>(</a:t>
            </a:r>
            <a:r>
              <a:rPr kumimoji="1" lang="en-US" altLang="zh-CN" sz="2600" b="1" i="1" dirty="0">
                <a:solidFill>
                  <a:srgbClr val="000000"/>
                </a:solidFill>
                <a:latin typeface="Times New Roman" panose="02020603050405020304" pitchFamily="18" charset="0"/>
                <a:ea typeface="楷体_GB2312" pitchFamily="49" charset="-122"/>
              </a:rPr>
              <a:t>ΔH)</a:t>
            </a:r>
            <a:r>
              <a:rPr lang="zh-CN" altLang="en-US" sz="2600" b="1" i="1" dirty="0">
                <a:solidFill>
                  <a:srgbClr val="000000"/>
                </a:solidFill>
                <a:latin typeface="Times New Roman" panose="02020603050405020304" pitchFamily="18" charset="0"/>
                <a:ea typeface="楷体_GB2312" pitchFamily="49" charset="-122"/>
              </a:rPr>
              <a:t>。</a:t>
            </a:r>
            <a:endParaRPr kumimoji="1" lang="zh-CN" altLang="en-US" sz="3000" b="1" i="1" dirty="0">
              <a:solidFill>
                <a:srgbClr val="000000"/>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0734"/>
                                        </p:tgtEl>
                                        <p:attrNameLst>
                                          <p:attrName>style.visibility</p:attrName>
                                        </p:attrNameLst>
                                      </p:cBhvr>
                                      <p:to>
                                        <p:strVal val="visible"/>
                                      </p:to>
                                    </p:set>
                                    <p:animEffect transition="in" filter="checkerboard(across)">
                                      <p:cBhvr>
                                        <p:cTn id="12" dur="500"/>
                                        <p:tgtEl>
                                          <p:spTgt spid="3073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0730"/>
                                        </p:tgtEl>
                                        <p:attrNameLst>
                                          <p:attrName>style.visibility</p:attrName>
                                        </p:attrNameLst>
                                      </p:cBhvr>
                                      <p:to>
                                        <p:strVal val="visible"/>
                                      </p:to>
                                    </p:set>
                                    <p:animEffect transition="in" filter="checkerboard(across)">
                                      <p:cBhvr>
                                        <p:cTn id="17" dur="500"/>
                                        <p:tgtEl>
                                          <p:spTgt spid="30730"/>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0732"/>
                                        </p:tgtEl>
                                        <p:attrNameLst>
                                          <p:attrName>style.visibility</p:attrName>
                                        </p:attrNameLst>
                                      </p:cBhvr>
                                      <p:to>
                                        <p:strVal val="visible"/>
                                      </p:to>
                                    </p:set>
                                    <p:animEffect transition="in" filter="checkerboard(across)">
                                      <p:cBhvr>
                                        <p:cTn id="22" dur="500"/>
                                        <p:tgtEl>
                                          <p:spTgt spid="30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0" grpId="0" animBg="1"/>
      <p:bldP spid="30732" grpId="0" animBg="1"/>
      <p:bldP spid="30734" grpId="0" animBg="1"/>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矩形 3"/>
          <p:cNvSpPr>
            <a:spLocks noChangeArrowheads="1"/>
          </p:cNvSpPr>
          <p:nvPr/>
        </p:nvSpPr>
        <p:spPr bwMode="auto">
          <a:xfrm>
            <a:off x="428596" y="4500570"/>
            <a:ext cx="8516620" cy="14814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eaLnBrk="0" fontAlgn="base" hangingPunct="0">
              <a:lnSpc>
                <a:spcPts val="3000"/>
              </a:lnSpc>
              <a:spcBef>
                <a:spcPct val="50000"/>
              </a:spcBef>
              <a:spcAft>
                <a:spcPct val="0"/>
              </a:spcAft>
            </a:pPr>
            <a:r>
              <a:rPr lang="zh-CN" altLang="en-US" sz="2400" b="1" dirty="0" smtClean="0">
                <a:solidFill>
                  <a:srgbClr val="000000"/>
                </a:solidFill>
                <a:latin typeface="Times New Roman" panose="02020603050405020304" pitchFamily="18" charset="0"/>
                <a:ea typeface="楷体_GB2312" pitchFamily="49" charset="-122"/>
              </a:rPr>
              <a:t>注：</a:t>
            </a:r>
            <a:r>
              <a:rPr lang="en-US" altLang="zh-CN" sz="2400" b="1" i="1" dirty="0" smtClean="0">
                <a:solidFill>
                  <a:srgbClr val="FF0000"/>
                </a:solidFill>
                <a:latin typeface="Times New Roman" panose="02020603050405020304" pitchFamily="18" charset="0"/>
                <a:ea typeface="楷体_GB2312" pitchFamily="49" charset="-122"/>
              </a:rPr>
              <a:t>1</a:t>
            </a:r>
            <a:r>
              <a:rPr lang="zh-CN" altLang="en-US" sz="2400" b="1" i="1" dirty="0" smtClean="0">
                <a:solidFill>
                  <a:srgbClr val="FF0000"/>
                </a:solidFill>
                <a:latin typeface="Times New Roman" panose="02020603050405020304" pitchFamily="18" charset="0"/>
                <a:ea typeface="楷体_GB2312" pitchFamily="49" charset="-122"/>
              </a:rPr>
              <a:t>、</a:t>
            </a:r>
            <a:r>
              <a:rPr lang="zh-CN" altLang="en-US" sz="2400" b="1" dirty="0" smtClean="0">
                <a:solidFill>
                  <a:srgbClr val="000000"/>
                </a:solidFill>
                <a:latin typeface="Times New Roman" panose="02020603050405020304" pitchFamily="18" charset="0"/>
                <a:ea typeface="楷体_GB2312" pitchFamily="49" charset="-122"/>
              </a:rPr>
              <a:t>公式侧重点在能量守恒，不在乎单位是否相同；</a:t>
            </a:r>
          </a:p>
          <a:p>
            <a:pPr eaLnBrk="0" fontAlgn="base" hangingPunct="0">
              <a:lnSpc>
                <a:spcPts val="3200"/>
              </a:lnSpc>
              <a:spcBef>
                <a:spcPct val="50000"/>
              </a:spcBef>
              <a:spcAft>
                <a:spcPct val="0"/>
              </a:spcAft>
            </a:pPr>
            <a:r>
              <a:rPr lang="zh-CN" altLang="en-US" sz="2400" b="1" i="1" dirty="0" smtClean="0">
                <a:solidFill>
                  <a:srgbClr val="FF0000"/>
                </a:solidFill>
                <a:latin typeface="Times New Roman" panose="02020603050405020304" pitchFamily="18" charset="0"/>
                <a:ea typeface="楷体_GB2312" pitchFamily="49" charset="-122"/>
              </a:rPr>
              <a:t> </a:t>
            </a:r>
            <a:r>
              <a:rPr lang="en-US" altLang="zh-CN" sz="2400" b="1" i="1" dirty="0" smtClean="0">
                <a:solidFill>
                  <a:srgbClr val="FF0000"/>
                </a:solidFill>
                <a:latin typeface="Times New Roman" panose="02020603050405020304" pitchFamily="18" charset="0"/>
                <a:ea typeface="楷体_GB2312" pitchFamily="49" charset="-122"/>
              </a:rPr>
              <a:t>        2</a:t>
            </a:r>
            <a:r>
              <a:rPr lang="zh-CN" altLang="en-US" sz="2400" b="1" i="1" dirty="0" smtClean="0">
                <a:solidFill>
                  <a:srgbClr val="FF0000"/>
                </a:solidFill>
                <a:latin typeface="Times New Roman" panose="02020603050405020304" pitchFamily="18" charset="0"/>
                <a:ea typeface="楷体_GB2312" pitchFamily="49" charset="-122"/>
              </a:rPr>
              <a:t>、</a:t>
            </a:r>
            <a:r>
              <a:rPr lang="zh-CN" altLang="en-US" sz="2400" b="1" dirty="0" smtClean="0">
                <a:solidFill>
                  <a:srgbClr val="000000"/>
                </a:solidFill>
                <a:latin typeface="Times New Roman" panose="02020603050405020304" pitchFamily="18" charset="0"/>
                <a:ea typeface="楷体_GB2312" pitchFamily="49" charset="-122"/>
              </a:rPr>
              <a:t>比较前后两种热反应方程式的</a:t>
            </a:r>
            <a:r>
              <a:rPr lang="en-US" altLang="zh-CN" sz="2400" b="1" dirty="0" smtClean="0">
                <a:solidFill>
                  <a:srgbClr val="000000"/>
                </a:solidFill>
                <a:latin typeface="Times New Roman" panose="02020603050405020304" pitchFamily="18" charset="0"/>
                <a:ea typeface="楷体_GB2312" pitchFamily="49" charset="-122"/>
              </a:rPr>
              <a:t>data</a:t>
            </a:r>
            <a:r>
              <a:rPr lang="zh-CN" altLang="en-US" sz="2400" b="1" dirty="0" smtClean="0">
                <a:solidFill>
                  <a:srgbClr val="000000"/>
                </a:solidFill>
                <a:latin typeface="Times New Roman" panose="02020603050405020304" pitchFamily="18" charset="0"/>
                <a:ea typeface="楷体_GB2312" pitchFamily="49" charset="-122"/>
              </a:rPr>
              <a:t>！说明相比</a:t>
            </a:r>
            <a:r>
              <a:rPr lang="en-US" altLang="zh-CN" sz="2400" b="1" dirty="0" smtClean="0">
                <a:solidFill>
                  <a:srgbClr val="000000"/>
                </a:solidFill>
                <a:latin typeface="Times New Roman" panose="02020603050405020304" pitchFamily="18" charset="0"/>
                <a:ea typeface="楷体_GB2312" pitchFamily="49" charset="-122"/>
              </a:rPr>
              <a:t>Q</a:t>
            </a:r>
            <a:r>
              <a:rPr lang="en-US" altLang="zh-CN" sz="2400" b="1" baseline="-25000" dirty="0" smtClean="0">
                <a:solidFill>
                  <a:srgbClr val="000000"/>
                </a:solidFill>
                <a:latin typeface="Times New Roman" panose="02020603050405020304" pitchFamily="18" charset="0"/>
                <a:ea typeface="楷体_GB2312" pitchFamily="49" charset="-122"/>
              </a:rPr>
              <a:t>V</a:t>
            </a:r>
            <a:r>
              <a:rPr lang="zh-CN" altLang="en-US" sz="2400" b="1" dirty="0" smtClean="0">
                <a:solidFill>
                  <a:srgbClr val="000000"/>
                </a:solidFill>
                <a:latin typeface="Times New Roman" panose="02020603050405020304" pitchFamily="18" charset="0"/>
                <a:ea typeface="楷体_GB2312" pitchFamily="49" charset="-122"/>
              </a:rPr>
              <a:t>、</a:t>
            </a:r>
            <a:r>
              <a:rPr lang="en-US" altLang="zh-CN" sz="2400" b="1" dirty="0" err="1" smtClean="0">
                <a:solidFill>
                  <a:srgbClr val="000000"/>
                </a:solidFill>
                <a:latin typeface="Times New Roman" panose="02020603050405020304" pitchFamily="18" charset="0"/>
                <a:ea typeface="楷体_GB2312" pitchFamily="49" charset="-122"/>
              </a:rPr>
              <a:t>Q</a:t>
            </a:r>
            <a:r>
              <a:rPr lang="en-US" altLang="zh-CN" sz="2400" b="1" baseline="-25000" dirty="0" err="1" smtClean="0">
                <a:solidFill>
                  <a:srgbClr val="000000"/>
                </a:solidFill>
                <a:latin typeface="Times New Roman" panose="02020603050405020304" pitchFamily="18" charset="0"/>
                <a:ea typeface="楷体_GB2312" pitchFamily="49" charset="-122"/>
              </a:rPr>
              <a:t>p</a:t>
            </a:r>
            <a:r>
              <a:rPr lang="zh-CN" altLang="en-US" sz="2400" b="1" dirty="0" smtClean="0">
                <a:solidFill>
                  <a:srgbClr val="000000"/>
                </a:solidFill>
                <a:latin typeface="Times New Roman" panose="02020603050405020304" pitchFamily="18" charset="0"/>
                <a:ea typeface="楷体_GB2312" pitchFamily="49" charset="-122"/>
              </a:rPr>
              <a:t>，</a:t>
            </a:r>
            <a:r>
              <a:rPr lang="en-US" altLang="zh-CN" sz="2400" b="1" dirty="0" smtClean="0">
                <a:solidFill>
                  <a:srgbClr val="000000"/>
                </a:solidFill>
                <a:latin typeface="Times New Roman" panose="02020603050405020304" pitchFamily="18" charset="0"/>
                <a:ea typeface="楷体_GB2312" pitchFamily="49" charset="-122"/>
                <a:sym typeface="+mn-ea"/>
              </a:rPr>
              <a:t>W</a:t>
            </a:r>
            <a:r>
              <a:rPr lang="zh-CN" altLang="en-US" sz="2400" b="1" dirty="0" smtClean="0">
                <a:solidFill>
                  <a:srgbClr val="000000"/>
                </a:solidFill>
                <a:latin typeface="Times New Roman" panose="02020603050405020304" pitchFamily="18" charset="0"/>
                <a:ea typeface="楷体_GB2312" pitchFamily="49" charset="-122"/>
              </a:rPr>
              <a:t>小得多</a:t>
            </a:r>
            <a:r>
              <a:rPr lang="en-US" altLang="zh-CN" sz="2400" b="1" dirty="0" smtClean="0">
                <a:solidFill>
                  <a:srgbClr val="000000"/>
                </a:solidFill>
                <a:latin typeface="Times New Roman" panose="02020603050405020304" pitchFamily="18" charset="0"/>
                <a:ea typeface="楷体_GB2312" pitchFamily="49" charset="-122"/>
              </a:rPr>
              <a:t>——</a:t>
            </a:r>
            <a:r>
              <a:rPr kumimoji="1" lang="en-US" altLang="en-US" sz="2400" b="1" dirty="0" smtClean="0">
                <a:solidFill>
                  <a:srgbClr val="000000"/>
                </a:solidFill>
                <a:latin typeface="Times New Roman" panose="02020603050405020304" pitchFamily="18" charset="0"/>
                <a:sym typeface="Symbol" panose="05050102010706020507" pitchFamily="18" charset="2"/>
              </a:rPr>
              <a:t> -</a:t>
            </a:r>
            <a:r>
              <a:rPr kumimoji="1" lang="en-US" altLang="zh-CN" sz="2400" b="1" dirty="0" smtClean="0">
                <a:solidFill>
                  <a:srgbClr val="000000"/>
                </a:solidFill>
                <a:latin typeface="Times New Roman" panose="02020603050405020304" pitchFamily="18" charset="0"/>
                <a:sym typeface="Symbol" panose="05050102010706020507" pitchFamily="18" charset="2"/>
              </a:rPr>
              <a:t>240.580 ---</a:t>
            </a:r>
            <a:r>
              <a:rPr kumimoji="1" lang="en-US" altLang="en-US" sz="2400" b="1" dirty="0" smtClean="0">
                <a:solidFill>
                  <a:srgbClr val="000000"/>
                </a:solidFill>
                <a:latin typeface="Times New Roman" panose="02020603050405020304" pitchFamily="18" charset="0"/>
                <a:sym typeface="Symbol" panose="05050102010706020507" pitchFamily="18" charset="2"/>
              </a:rPr>
              <a:t> -</a:t>
            </a:r>
            <a:r>
              <a:rPr kumimoji="1" lang="en-US" altLang="zh-CN" sz="2400" b="1" dirty="0" smtClean="0">
                <a:solidFill>
                  <a:srgbClr val="000000"/>
                </a:solidFill>
                <a:latin typeface="Times New Roman" panose="02020603050405020304" pitchFamily="18" charset="0"/>
                <a:sym typeface="Symbol" panose="05050102010706020507" pitchFamily="18" charset="2"/>
              </a:rPr>
              <a:t>241.818 </a:t>
            </a:r>
            <a:endParaRPr kumimoji="1" lang="zh-CN" altLang="en-US" sz="2400" b="1" dirty="0" smtClean="0">
              <a:solidFill>
                <a:srgbClr val="0000FF"/>
              </a:solidFill>
              <a:latin typeface="Times New Roman" panose="02020603050405020304" pitchFamily="18" charset="0"/>
              <a:ea typeface="楷体_GB2312" pitchFamily="49" charset="-122"/>
            </a:endParaRPr>
          </a:p>
        </p:txBody>
      </p:sp>
      <p:sp>
        <p:nvSpPr>
          <p:cNvPr id="6" name="Text Box 16"/>
          <p:cNvSpPr txBox="1">
            <a:spLocks noChangeArrowheads="1"/>
          </p:cNvSpPr>
          <p:nvPr/>
        </p:nvSpPr>
        <p:spPr bwMode="auto">
          <a:xfrm>
            <a:off x="1691640" y="621030"/>
            <a:ext cx="6324600" cy="278537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eaLnBrk="0" fontAlgn="base" hangingPunct="0">
              <a:lnSpc>
                <a:spcPts val="3000"/>
              </a:lnSpc>
              <a:spcBef>
                <a:spcPct val="0"/>
              </a:spcBef>
              <a:spcAft>
                <a:spcPct val="0"/>
              </a:spcAft>
            </a:pPr>
            <a:r>
              <a:rPr lang="zh-CN" altLang="en-US" sz="2600" dirty="0" smtClean="0">
                <a:solidFill>
                  <a:srgbClr val="000000"/>
                </a:solidFill>
              </a:rPr>
              <a:t>一般情况下， </a:t>
            </a:r>
            <a:r>
              <a:rPr lang="en-US" altLang="zh-CN" sz="2600" dirty="0" err="1" smtClean="0">
                <a:solidFill>
                  <a:srgbClr val="000000"/>
                </a:solidFill>
              </a:rPr>
              <a:t>Q</a:t>
            </a:r>
            <a:r>
              <a:rPr lang="en-US" altLang="zh-CN" sz="2600" baseline="-25000" dirty="0" err="1" smtClean="0">
                <a:solidFill>
                  <a:srgbClr val="000000"/>
                </a:solidFill>
              </a:rPr>
              <a:t>p</a:t>
            </a:r>
            <a:r>
              <a:rPr lang="en-US" altLang="zh-CN" sz="2600" dirty="0" smtClean="0">
                <a:solidFill>
                  <a:srgbClr val="000000"/>
                </a:solidFill>
              </a:rPr>
              <a:t> = </a:t>
            </a:r>
            <a:r>
              <a:rPr lang="en-US" altLang="zh-CN" sz="2600" dirty="0" smtClean="0">
                <a:solidFill>
                  <a:srgbClr val="000000"/>
                </a:solidFill>
                <a:cs typeface="Times New Roman" panose="02020603050405020304" pitchFamily="18" charset="0"/>
              </a:rPr>
              <a:t>ΔU+ p(V</a:t>
            </a:r>
            <a:r>
              <a:rPr lang="en-US" altLang="zh-CN" sz="2600" baseline="-25000" dirty="0" smtClean="0">
                <a:solidFill>
                  <a:srgbClr val="000000"/>
                </a:solidFill>
                <a:cs typeface="Times New Roman" panose="02020603050405020304" pitchFamily="18" charset="0"/>
              </a:rPr>
              <a:t>2 </a:t>
            </a:r>
            <a:r>
              <a:rPr lang="en-US" altLang="zh-CN" sz="2600" dirty="0" smtClean="0">
                <a:solidFill>
                  <a:srgbClr val="000000"/>
                </a:solidFill>
                <a:cs typeface="Times New Roman" panose="02020603050405020304" pitchFamily="18" charset="0"/>
              </a:rPr>
              <a:t>– V</a:t>
            </a:r>
            <a:r>
              <a:rPr lang="en-US" altLang="zh-CN" sz="2600" baseline="-25000" dirty="0" smtClean="0">
                <a:solidFill>
                  <a:srgbClr val="000000"/>
                </a:solidFill>
                <a:cs typeface="Times New Roman" panose="02020603050405020304" pitchFamily="18" charset="0"/>
              </a:rPr>
              <a:t>1</a:t>
            </a:r>
            <a:r>
              <a:rPr lang="en-US" altLang="zh-CN" sz="2600" dirty="0" smtClean="0">
                <a:solidFill>
                  <a:srgbClr val="000000"/>
                </a:solidFill>
                <a:cs typeface="Times New Roman" panose="02020603050405020304" pitchFamily="18" charset="0"/>
              </a:rPr>
              <a:t>)</a:t>
            </a:r>
          </a:p>
          <a:p>
            <a:pPr eaLnBrk="0" fontAlgn="base" hangingPunct="0">
              <a:lnSpc>
                <a:spcPts val="3000"/>
              </a:lnSpc>
              <a:spcBef>
                <a:spcPct val="0"/>
              </a:spcBef>
              <a:spcAft>
                <a:spcPct val="0"/>
              </a:spcAft>
            </a:pPr>
            <a:endParaRPr lang="en-US" altLang="zh-CN" sz="2600" dirty="0" smtClean="0">
              <a:solidFill>
                <a:srgbClr val="000000"/>
              </a:solidFill>
            </a:endParaRPr>
          </a:p>
          <a:p>
            <a:pPr eaLnBrk="0" fontAlgn="base" hangingPunct="0">
              <a:lnSpc>
                <a:spcPts val="3000"/>
              </a:lnSpc>
              <a:spcBef>
                <a:spcPct val="0"/>
              </a:spcBef>
              <a:spcAft>
                <a:spcPct val="0"/>
              </a:spcAft>
            </a:pPr>
            <a:r>
              <a:rPr lang="en-US" altLang="zh-CN" sz="2600" dirty="0" smtClean="0">
                <a:solidFill>
                  <a:srgbClr val="000000"/>
                </a:solidFill>
              </a:rPr>
              <a:t>          ΔH = H</a:t>
            </a:r>
            <a:r>
              <a:rPr lang="en-US" altLang="zh-CN" sz="2600" baseline="-25000" dirty="0" smtClean="0">
                <a:solidFill>
                  <a:srgbClr val="000000"/>
                </a:solidFill>
              </a:rPr>
              <a:t>2</a:t>
            </a:r>
            <a:r>
              <a:rPr lang="en-US" altLang="zh-CN" sz="2600" dirty="0" smtClean="0">
                <a:solidFill>
                  <a:srgbClr val="000000"/>
                </a:solidFill>
              </a:rPr>
              <a:t> – H</a:t>
            </a:r>
            <a:r>
              <a:rPr lang="en-US" altLang="zh-CN" sz="2600" baseline="-25000" dirty="0" smtClean="0">
                <a:solidFill>
                  <a:srgbClr val="000000"/>
                </a:solidFill>
              </a:rPr>
              <a:t>1</a:t>
            </a:r>
            <a:r>
              <a:rPr lang="en-US" altLang="zh-CN" sz="2600" dirty="0" smtClean="0">
                <a:solidFill>
                  <a:srgbClr val="000000"/>
                </a:solidFill>
              </a:rPr>
              <a:t>= </a:t>
            </a:r>
            <a:r>
              <a:rPr lang="en-US" altLang="zh-CN" sz="2600" dirty="0" err="1" smtClean="0">
                <a:solidFill>
                  <a:srgbClr val="000000"/>
                </a:solidFill>
              </a:rPr>
              <a:t>Q</a:t>
            </a:r>
            <a:r>
              <a:rPr lang="en-US" altLang="zh-CN" sz="2600" baseline="-25000" dirty="0" err="1" smtClean="0">
                <a:solidFill>
                  <a:srgbClr val="000000"/>
                </a:solidFill>
              </a:rPr>
              <a:t>p</a:t>
            </a:r>
            <a:r>
              <a:rPr lang="en-US" altLang="zh-CN" sz="2600" dirty="0" smtClean="0">
                <a:solidFill>
                  <a:srgbClr val="000000"/>
                </a:solidFill>
              </a:rPr>
              <a:t> = ΔU+ p(V</a:t>
            </a:r>
            <a:r>
              <a:rPr lang="en-US" altLang="zh-CN" sz="2600" baseline="-25000" dirty="0" smtClean="0">
                <a:solidFill>
                  <a:srgbClr val="000000"/>
                </a:solidFill>
              </a:rPr>
              <a:t>2</a:t>
            </a:r>
            <a:r>
              <a:rPr lang="en-US" altLang="zh-CN" sz="2600" dirty="0" smtClean="0">
                <a:solidFill>
                  <a:srgbClr val="000000"/>
                </a:solidFill>
              </a:rPr>
              <a:t> – V</a:t>
            </a:r>
            <a:r>
              <a:rPr lang="en-US" altLang="zh-CN" sz="2600" baseline="-25000" dirty="0" smtClean="0">
                <a:solidFill>
                  <a:srgbClr val="000000"/>
                </a:solidFill>
              </a:rPr>
              <a:t>1</a:t>
            </a:r>
            <a:r>
              <a:rPr lang="en-US" altLang="zh-CN" sz="2600" dirty="0" smtClean="0">
                <a:solidFill>
                  <a:srgbClr val="000000"/>
                </a:solidFill>
              </a:rPr>
              <a:t>)</a:t>
            </a:r>
          </a:p>
          <a:p>
            <a:pPr eaLnBrk="0" fontAlgn="base" hangingPunct="0">
              <a:lnSpc>
                <a:spcPts val="3000"/>
              </a:lnSpc>
              <a:spcBef>
                <a:spcPct val="0"/>
              </a:spcBef>
              <a:spcAft>
                <a:spcPct val="0"/>
              </a:spcAft>
            </a:pPr>
            <a:endParaRPr lang="en-US" altLang="zh-CN" sz="2600" dirty="0" smtClean="0">
              <a:solidFill>
                <a:srgbClr val="000000"/>
              </a:solidFill>
            </a:endParaRPr>
          </a:p>
          <a:p>
            <a:pPr eaLnBrk="0" fontAlgn="base" hangingPunct="0">
              <a:lnSpc>
                <a:spcPts val="3000"/>
              </a:lnSpc>
              <a:spcBef>
                <a:spcPct val="0"/>
              </a:spcBef>
              <a:spcAft>
                <a:spcPct val="0"/>
              </a:spcAft>
            </a:pPr>
            <a:r>
              <a:rPr lang="en-US" altLang="zh-CN" sz="2600" dirty="0" smtClean="0">
                <a:solidFill>
                  <a:srgbClr val="000000"/>
                </a:solidFill>
              </a:rPr>
              <a:t>          </a:t>
            </a:r>
            <a:r>
              <a:rPr lang="en-US" altLang="zh-CN" sz="2600" i="1" dirty="0" smtClean="0">
                <a:solidFill>
                  <a:srgbClr val="C00000"/>
                </a:solidFill>
              </a:rPr>
              <a:t>ΔH </a:t>
            </a:r>
            <a:r>
              <a:rPr lang="en-US" altLang="en-US" sz="2600" i="1" dirty="0" smtClean="0">
                <a:solidFill>
                  <a:srgbClr val="C00000"/>
                </a:solidFill>
              </a:rPr>
              <a:t>－</a:t>
            </a:r>
            <a:r>
              <a:rPr lang="en-US" altLang="zh-CN" sz="2600" i="1" dirty="0" smtClean="0">
                <a:solidFill>
                  <a:srgbClr val="C00000"/>
                </a:solidFill>
              </a:rPr>
              <a:t>ΔU = </a:t>
            </a:r>
            <a:r>
              <a:rPr lang="en-US" altLang="zh-CN" sz="2600" i="1" dirty="0" err="1" smtClean="0">
                <a:solidFill>
                  <a:srgbClr val="C00000"/>
                </a:solidFill>
              </a:rPr>
              <a:t>pΔV</a:t>
            </a:r>
            <a:r>
              <a:rPr lang="zh-CN" altLang="en-US" sz="2600" dirty="0" smtClean="0">
                <a:solidFill>
                  <a:srgbClr val="000000"/>
                </a:solidFill>
              </a:rPr>
              <a:t>；</a:t>
            </a:r>
            <a:r>
              <a:rPr lang="en-US" altLang="zh-CN" sz="2600" dirty="0" err="1" smtClean="0">
                <a:solidFill>
                  <a:srgbClr val="000000"/>
                </a:solidFill>
              </a:rPr>
              <a:t>Q</a:t>
            </a:r>
            <a:r>
              <a:rPr lang="en-US" altLang="zh-CN" sz="2600" baseline="-25000" dirty="0" err="1" smtClean="0">
                <a:solidFill>
                  <a:srgbClr val="000000"/>
                </a:solidFill>
              </a:rPr>
              <a:t>p</a:t>
            </a:r>
            <a:r>
              <a:rPr lang="en-US" altLang="zh-CN" sz="2600" dirty="0" smtClean="0">
                <a:solidFill>
                  <a:srgbClr val="000000"/>
                </a:solidFill>
              </a:rPr>
              <a:t> </a:t>
            </a:r>
            <a:r>
              <a:rPr lang="en-US" altLang="en-US" sz="2600" dirty="0" smtClean="0">
                <a:solidFill>
                  <a:srgbClr val="000000"/>
                </a:solidFill>
              </a:rPr>
              <a:t>－</a:t>
            </a:r>
            <a:r>
              <a:rPr lang="en-US" altLang="zh-CN" sz="2600" dirty="0" err="1" smtClean="0">
                <a:solidFill>
                  <a:srgbClr val="000000"/>
                </a:solidFill>
              </a:rPr>
              <a:t>Q</a:t>
            </a:r>
            <a:r>
              <a:rPr lang="en-US" altLang="zh-CN" sz="2600" baseline="-25000" dirty="0" err="1" smtClean="0">
                <a:solidFill>
                  <a:srgbClr val="000000"/>
                </a:solidFill>
              </a:rPr>
              <a:t>v</a:t>
            </a:r>
            <a:r>
              <a:rPr lang="en-US" altLang="zh-CN" sz="2600" dirty="0" smtClean="0">
                <a:solidFill>
                  <a:srgbClr val="000000"/>
                </a:solidFill>
              </a:rPr>
              <a:t> = </a:t>
            </a:r>
            <a:r>
              <a:rPr lang="en-US" altLang="en-US" sz="2600" dirty="0" smtClean="0">
                <a:solidFill>
                  <a:srgbClr val="000000"/>
                </a:solidFill>
              </a:rPr>
              <a:t>－W</a:t>
            </a:r>
          </a:p>
          <a:p>
            <a:pPr eaLnBrk="0" fontAlgn="base" hangingPunct="0">
              <a:lnSpc>
                <a:spcPts val="3000"/>
              </a:lnSpc>
              <a:spcBef>
                <a:spcPct val="0"/>
              </a:spcBef>
              <a:spcAft>
                <a:spcPct val="0"/>
              </a:spcAft>
            </a:pPr>
            <a:endParaRPr lang="en-US" altLang="zh-CN" sz="2600" dirty="0" smtClean="0">
              <a:solidFill>
                <a:srgbClr val="000000"/>
              </a:solidFill>
            </a:endParaRPr>
          </a:p>
          <a:p>
            <a:pPr eaLnBrk="0" fontAlgn="base" hangingPunct="0">
              <a:lnSpc>
                <a:spcPts val="3000"/>
              </a:lnSpc>
              <a:spcBef>
                <a:spcPct val="0"/>
              </a:spcBef>
              <a:spcAft>
                <a:spcPct val="0"/>
              </a:spcAft>
            </a:pPr>
            <a:r>
              <a:rPr lang="zh-CN" altLang="en-US" sz="2600" dirty="0" smtClean="0">
                <a:solidFill>
                  <a:srgbClr val="000000"/>
                </a:solidFill>
              </a:rPr>
              <a:t>对于理想气体反应而言</a:t>
            </a:r>
            <a:r>
              <a:rPr lang="en-US" altLang="zh-CN" sz="2600" dirty="0" smtClean="0">
                <a:solidFill>
                  <a:srgbClr val="000000"/>
                </a:solidFill>
              </a:rPr>
              <a:t>:   </a:t>
            </a:r>
            <a:r>
              <a:rPr lang="en-US" altLang="zh-CN" sz="2600" i="1" dirty="0" err="1" smtClean="0">
                <a:solidFill>
                  <a:srgbClr val="C00000"/>
                </a:solidFill>
              </a:rPr>
              <a:t>pΔV</a:t>
            </a:r>
            <a:r>
              <a:rPr lang="en-US" altLang="zh-CN" sz="2600" i="1" dirty="0" smtClean="0">
                <a:solidFill>
                  <a:srgbClr val="C00000"/>
                </a:solidFill>
              </a:rPr>
              <a:t> = </a:t>
            </a:r>
            <a:r>
              <a:rPr lang="en-US" altLang="zh-CN" sz="2600" i="1" dirty="0" err="1" smtClean="0">
                <a:solidFill>
                  <a:srgbClr val="C00000"/>
                </a:solidFill>
              </a:rPr>
              <a:t>ΔnRT</a:t>
            </a:r>
            <a:endParaRPr lang="en-US" altLang="zh-CN" sz="2600" i="1" dirty="0" smtClean="0">
              <a:solidFill>
                <a:srgbClr val="C00000"/>
              </a:solidFill>
            </a:endParaRPr>
          </a:p>
        </p:txBody>
      </p:sp>
      <p:sp>
        <p:nvSpPr>
          <p:cNvPr id="10245" name="矩形 6"/>
          <p:cNvSpPr>
            <a:spLocks noChangeArrowheads="1"/>
          </p:cNvSpPr>
          <p:nvPr/>
        </p:nvSpPr>
        <p:spPr bwMode="auto">
          <a:xfrm>
            <a:off x="76200" y="228600"/>
            <a:ext cx="3048000" cy="554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3600"/>
              </a:lnSpc>
              <a:spcBef>
                <a:spcPct val="20000"/>
              </a:spcBef>
              <a:spcAft>
                <a:spcPct val="0"/>
              </a:spcAft>
              <a:buClr>
                <a:srgbClr val="009999"/>
              </a:buClr>
            </a:pPr>
            <a:r>
              <a:rPr lang="en-US" altLang="zh-CN" sz="2600" b="1" i="1" smtClean="0">
                <a:solidFill>
                  <a:srgbClr val="C00000"/>
                </a:solidFill>
                <a:latin typeface="Times New Roman" panose="02020603050405020304" pitchFamily="18" charset="0"/>
                <a:ea typeface="楷体_GB2312" pitchFamily="49" charset="-122"/>
              </a:rPr>
              <a:t>∆H</a:t>
            </a:r>
            <a:r>
              <a:rPr lang="zh-CN" altLang="en-US" sz="2600" b="1" i="1" smtClean="0">
                <a:solidFill>
                  <a:srgbClr val="C00000"/>
                </a:solidFill>
                <a:latin typeface="Times New Roman" panose="02020603050405020304" pitchFamily="18" charset="0"/>
                <a:ea typeface="楷体_GB2312" pitchFamily="49" charset="-122"/>
              </a:rPr>
              <a:t>与∆</a:t>
            </a:r>
            <a:r>
              <a:rPr lang="en-US" altLang="zh-CN" sz="2600" b="1" i="1" smtClean="0">
                <a:solidFill>
                  <a:srgbClr val="C00000"/>
                </a:solidFill>
                <a:latin typeface="Times New Roman" panose="02020603050405020304" pitchFamily="18" charset="0"/>
                <a:ea typeface="楷体_GB2312" pitchFamily="49" charset="-122"/>
              </a:rPr>
              <a:t>U</a:t>
            </a:r>
            <a:r>
              <a:rPr lang="zh-CN" altLang="en-US" sz="2600" b="1" i="1" smtClean="0">
                <a:solidFill>
                  <a:srgbClr val="C00000"/>
                </a:solidFill>
                <a:latin typeface="Times New Roman" panose="02020603050405020304" pitchFamily="18" charset="0"/>
                <a:ea typeface="楷体_GB2312" pitchFamily="49" charset="-122"/>
              </a:rPr>
              <a:t>的关系</a:t>
            </a:r>
            <a:r>
              <a:rPr lang="en-US" altLang="zh-CN" sz="2600" b="1" smtClean="0">
                <a:solidFill>
                  <a:srgbClr val="C00000"/>
                </a:solidFill>
                <a:latin typeface="Times New Roman" panose="02020603050405020304" pitchFamily="18" charset="0"/>
                <a:ea typeface="楷体_GB2312" pitchFamily="49" charset="-122"/>
              </a:rPr>
              <a:t>:</a:t>
            </a:r>
          </a:p>
        </p:txBody>
      </p:sp>
      <p:graphicFrame>
        <p:nvGraphicFramePr>
          <p:cNvPr id="10242" name="Object 5"/>
          <p:cNvGraphicFramePr>
            <a:graphicFrameLocks noChangeAspect="1"/>
          </p:cNvGraphicFramePr>
          <p:nvPr/>
        </p:nvGraphicFramePr>
        <p:xfrm>
          <a:off x="1928794" y="3429000"/>
          <a:ext cx="5486400" cy="838200"/>
        </p:xfrm>
        <a:graphic>
          <a:graphicData uri="http://schemas.openxmlformats.org/presentationml/2006/ole">
            <p:oleObj spid="_x0000_s77825" name="CS ChemDraw Drawing" r:id="rId3" imgW="21640800" imgH="3381375"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blinds(horizontal)">
                                      <p:cBhvr>
                                        <p:cTn id="7" dur="500"/>
                                        <p:tgtEl>
                                          <p:spTgt spid="1024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42"/>
                                        </p:tgtEl>
                                        <p:attrNameLst>
                                          <p:attrName>style.visibility</p:attrName>
                                        </p:attrNameLst>
                                      </p:cBhvr>
                                      <p:to>
                                        <p:strVal val="visible"/>
                                      </p:to>
                                    </p:set>
                                    <p:animEffect transition="in" filter="blinds(horizontal)">
                                      <p:cBhvr>
                                        <p:cTn id="17" dur="500"/>
                                        <p:tgtEl>
                                          <p:spTgt spid="1024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0243"/>
                                        </p:tgtEl>
                                        <p:attrNameLst>
                                          <p:attrName>style.visibility</p:attrName>
                                        </p:attrNameLst>
                                      </p:cBhvr>
                                      <p:to>
                                        <p:strVal val="visible"/>
                                      </p:to>
                                    </p:set>
                                    <p:anim calcmode="lin" valueType="num">
                                      <p:cBhvr additive="base">
                                        <p:cTn id="22" dur="500" fill="hold"/>
                                        <p:tgtEl>
                                          <p:spTgt spid="10243"/>
                                        </p:tgtEl>
                                        <p:attrNameLst>
                                          <p:attrName>ppt_x</p:attrName>
                                        </p:attrNameLst>
                                      </p:cBhvr>
                                      <p:tavLst>
                                        <p:tav tm="0">
                                          <p:val>
                                            <p:strVal val="#ppt_x"/>
                                          </p:val>
                                        </p:tav>
                                        <p:tav tm="100000">
                                          <p:val>
                                            <p:strVal val="#ppt_x"/>
                                          </p:val>
                                        </p:tav>
                                      </p:tavLst>
                                    </p:anim>
                                    <p:anim calcmode="lin" valueType="num">
                                      <p:cBhvr additive="base">
                                        <p:cTn id="23" dur="500" fill="hold"/>
                                        <p:tgtEl>
                                          <p:spTgt spid="102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p:bldP spid="6" grpId="0" bldLvl="0" animBg="1"/>
      <p:bldP spid="10245"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719" name="Text Box 23"/>
          <p:cNvSpPr txBox="1">
            <a:spLocks noChangeArrowheads="1"/>
          </p:cNvSpPr>
          <p:nvPr/>
        </p:nvSpPr>
        <p:spPr bwMode="auto">
          <a:xfrm>
            <a:off x="228600" y="152400"/>
            <a:ext cx="8610600" cy="1292225"/>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spcBef>
                <a:spcPct val="50000"/>
              </a:spcBef>
              <a:spcAft>
                <a:spcPct val="0"/>
              </a:spcAft>
            </a:pPr>
            <a:r>
              <a:rPr lang="en-US" altLang="zh-CN" sz="2600" smtClean="0">
                <a:solidFill>
                  <a:srgbClr val="000000"/>
                </a:solidFill>
              </a:rPr>
              <a:t>       </a:t>
            </a:r>
            <a:r>
              <a:rPr lang="zh-CN" altLang="en-US" sz="2600" smtClean="0">
                <a:solidFill>
                  <a:srgbClr val="000000"/>
                </a:solidFill>
              </a:rPr>
              <a:t>在封闭系统、等压条件下进行的化学反应</a:t>
            </a:r>
            <a:r>
              <a:rPr lang="en-US" altLang="zh-CN" sz="2600" smtClean="0">
                <a:solidFill>
                  <a:srgbClr val="000000"/>
                </a:solidFill>
              </a:rPr>
              <a:t>(</a:t>
            </a:r>
            <a:r>
              <a:rPr lang="zh-CN" altLang="en-US" sz="2600" smtClean="0">
                <a:solidFill>
                  <a:srgbClr val="000000"/>
                </a:solidFill>
              </a:rPr>
              <a:t>不做非体积功</a:t>
            </a:r>
            <a:r>
              <a:rPr lang="en-US" altLang="zh-CN" sz="2600" smtClean="0">
                <a:solidFill>
                  <a:srgbClr val="000000"/>
                </a:solidFill>
              </a:rPr>
              <a:t>)</a:t>
            </a:r>
            <a:r>
              <a:rPr lang="zh-CN" altLang="en-US" sz="2600" smtClean="0">
                <a:solidFill>
                  <a:srgbClr val="000000"/>
                </a:solidFill>
                <a:latin typeface="楷体_GB2312" pitchFamily="49" charset="-122"/>
              </a:rPr>
              <a:t>，其热化学反应方程式</a:t>
            </a:r>
            <a:r>
              <a:rPr lang="en-US" altLang="zh-CN" sz="2600" smtClean="0">
                <a:solidFill>
                  <a:srgbClr val="000000"/>
                </a:solidFill>
                <a:latin typeface="楷体_GB2312" pitchFamily="49" charset="-122"/>
              </a:rPr>
              <a:t>(</a:t>
            </a:r>
            <a:r>
              <a:rPr lang="zh-CN" altLang="en-US" sz="2600" smtClean="0">
                <a:solidFill>
                  <a:srgbClr val="000000"/>
                </a:solidFill>
                <a:latin typeface="楷体_GB2312" pitchFamily="49" charset="-122"/>
              </a:rPr>
              <a:t>比较与一般</a:t>
            </a:r>
            <a:r>
              <a:rPr lang="zh-CN" altLang="en-US" sz="2600" smtClean="0">
                <a:solidFill>
                  <a:srgbClr val="000000"/>
                </a:solidFill>
              </a:rPr>
              <a:t>化学</a:t>
            </a:r>
            <a:r>
              <a:rPr lang="zh-CN" altLang="en-US" sz="2600" smtClean="0">
                <a:solidFill>
                  <a:srgbClr val="000000"/>
                </a:solidFill>
                <a:latin typeface="楷体_GB2312" pitchFamily="49" charset="-122"/>
              </a:rPr>
              <a:t>反应方程式的区别？</a:t>
            </a:r>
            <a:r>
              <a:rPr lang="en-US" altLang="zh-CN" sz="2600" smtClean="0">
                <a:solidFill>
                  <a:srgbClr val="000000"/>
                </a:solidFill>
                <a:latin typeface="楷体_GB2312" pitchFamily="49" charset="-122"/>
              </a:rPr>
              <a:t>)</a:t>
            </a:r>
            <a:r>
              <a:rPr lang="zh-CN" altLang="en-US" sz="2600" smtClean="0">
                <a:solidFill>
                  <a:srgbClr val="000000"/>
                </a:solidFill>
                <a:latin typeface="楷体_GB2312" pitchFamily="49" charset="-122"/>
              </a:rPr>
              <a:t>：</a:t>
            </a:r>
          </a:p>
        </p:txBody>
      </p:sp>
      <p:grpSp>
        <p:nvGrpSpPr>
          <p:cNvPr id="2" name="组合 7"/>
          <p:cNvGrpSpPr/>
          <p:nvPr/>
        </p:nvGrpSpPr>
        <p:grpSpPr bwMode="auto">
          <a:xfrm>
            <a:off x="381000" y="1600200"/>
            <a:ext cx="8382000" cy="1022350"/>
            <a:chOff x="381000" y="1600200"/>
            <a:chExt cx="8382000" cy="1022350"/>
          </a:xfrm>
        </p:grpSpPr>
        <p:sp>
          <p:nvSpPr>
            <p:cNvPr id="11272" name="矩形 8"/>
            <p:cNvSpPr>
              <a:spLocks noChangeArrowheads="1"/>
            </p:cNvSpPr>
            <p:nvPr/>
          </p:nvSpPr>
          <p:spPr bwMode="auto">
            <a:xfrm>
              <a:off x="381000" y="1600200"/>
              <a:ext cx="8382000" cy="412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ct val="80000"/>
                </a:lnSpc>
                <a:spcBef>
                  <a:spcPct val="50000"/>
                </a:spcBef>
                <a:spcAft>
                  <a:spcPct val="0"/>
                </a:spcAft>
              </a:pPr>
              <a:r>
                <a:rPr kumimoji="1" lang="en-US" altLang="zh-CN" sz="2600" b="1" smtClean="0">
                  <a:solidFill>
                    <a:srgbClr val="000000"/>
                  </a:solidFill>
                  <a:latin typeface="Times New Roman" panose="02020603050405020304" pitchFamily="18" charset="0"/>
                  <a:ea typeface="楷体_GB2312" pitchFamily="49" charset="-122"/>
                </a:rPr>
                <a:t>2</a:t>
              </a:r>
              <a:r>
                <a:rPr kumimoji="1" lang="en-US" altLang="en-US" sz="2600" b="1" smtClean="0">
                  <a:solidFill>
                    <a:srgbClr val="000000"/>
                  </a:solidFill>
                  <a:latin typeface="Times New Roman" panose="02020603050405020304" pitchFamily="18" charset="0"/>
                  <a:ea typeface="楷体_GB2312" pitchFamily="49" charset="-122"/>
                </a:rPr>
                <a:t>H</a:t>
              </a:r>
              <a:r>
                <a:rPr kumimoji="1" lang="en-US" altLang="en-US" sz="2600" b="1" baseline="-25000" smtClean="0">
                  <a:solidFill>
                    <a:srgbClr val="000000"/>
                  </a:solidFill>
                  <a:latin typeface="Times New Roman" panose="02020603050405020304" pitchFamily="18" charset="0"/>
                  <a:ea typeface="楷体_GB2312" pitchFamily="49" charset="-122"/>
                </a:rPr>
                <a:t>2</a:t>
              </a:r>
              <a:r>
                <a:rPr kumimoji="1" lang="en-US" altLang="en-US" sz="2600" b="1" smtClean="0">
                  <a:solidFill>
                    <a:srgbClr val="000000"/>
                  </a:solidFill>
                  <a:latin typeface="Times New Roman" panose="02020603050405020304" pitchFamily="18" charset="0"/>
                  <a:ea typeface="楷体_GB2312" pitchFamily="49" charset="-122"/>
                </a:rPr>
                <a:t>(g)</a:t>
              </a:r>
              <a:r>
                <a:rPr kumimoji="1" lang="en-US" altLang="zh-CN" sz="2600" b="1" smtClean="0">
                  <a:solidFill>
                    <a:srgbClr val="000000"/>
                  </a:solidFill>
                  <a:latin typeface="Times New Roman" panose="02020603050405020304" pitchFamily="18" charset="0"/>
                  <a:ea typeface="楷体_GB2312" pitchFamily="49" charset="-122"/>
                </a:rPr>
                <a:t> </a:t>
              </a:r>
              <a:r>
                <a:rPr kumimoji="1" lang="en-US" altLang="en-US" sz="2600" b="1" smtClean="0">
                  <a:solidFill>
                    <a:srgbClr val="000000"/>
                  </a:solidFill>
                  <a:latin typeface="Times New Roman" panose="02020603050405020304" pitchFamily="18" charset="0"/>
                  <a:ea typeface="楷体_GB2312" pitchFamily="49" charset="-122"/>
                </a:rPr>
                <a:t>+</a:t>
              </a:r>
              <a:r>
                <a:rPr kumimoji="1" lang="en-US" altLang="zh-CN" sz="2600" b="1" smtClean="0">
                  <a:solidFill>
                    <a:srgbClr val="000000"/>
                  </a:solidFill>
                  <a:latin typeface="Times New Roman" panose="02020603050405020304" pitchFamily="18" charset="0"/>
                  <a:ea typeface="楷体_GB2312" pitchFamily="49" charset="-122"/>
                </a:rPr>
                <a:t> </a:t>
              </a:r>
              <a:r>
                <a:rPr kumimoji="1" lang="en-US" altLang="en-US" sz="2600" b="1" smtClean="0">
                  <a:solidFill>
                    <a:srgbClr val="000000"/>
                  </a:solidFill>
                  <a:latin typeface="Times New Roman" panose="02020603050405020304" pitchFamily="18" charset="0"/>
                  <a:ea typeface="楷体_GB2312" pitchFamily="49" charset="-122"/>
                </a:rPr>
                <a:t>O</a:t>
              </a:r>
              <a:r>
                <a:rPr kumimoji="1" lang="en-US" altLang="en-US" sz="2600" b="1" baseline="-25000" smtClean="0">
                  <a:solidFill>
                    <a:srgbClr val="000000"/>
                  </a:solidFill>
                  <a:latin typeface="Times New Roman" panose="02020603050405020304" pitchFamily="18" charset="0"/>
                  <a:ea typeface="楷体_GB2312" pitchFamily="49" charset="-122"/>
                </a:rPr>
                <a:t>2</a:t>
              </a:r>
              <a:r>
                <a:rPr kumimoji="1" lang="en-US" altLang="en-US" sz="2600" b="1" smtClean="0">
                  <a:solidFill>
                    <a:srgbClr val="000000"/>
                  </a:solidFill>
                  <a:latin typeface="Times New Roman" panose="02020603050405020304" pitchFamily="18" charset="0"/>
                  <a:ea typeface="楷体_GB2312" pitchFamily="49" charset="-122"/>
                </a:rPr>
                <a:t>(g)</a:t>
              </a:r>
              <a:r>
                <a:rPr kumimoji="1" lang="en-US" altLang="zh-CN" sz="2600" b="1" smtClean="0">
                  <a:solidFill>
                    <a:srgbClr val="000000"/>
                  </a:solidFill>
                  <a:latin typeface="Times New Roman" panose="02020603050405020304" pitchFamily="18" charset="0"/>
                  <a:ea typeface="楷体_GB2312" pitchFamily="49" charset="-122"/>
                </a:rPr>
                <a:t> </a:t>
              </a:r>
              <a:r>
                <a:rPr kumimoji="1" lang="en-US"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smtClean="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2H</a:t>
              </a:r>
              <a:r>
                <a:rPr kumimoji="1" lang="en-US" altLang="en-US" sz="2600" b="1" baseline="-25000" smtClean="0">
                  <a:solidFill>
                    <a:srgbClr val="000000"/>
                  </a:solidFill>
                  <a:latin typeface="Times New Roman" panose="02020603050405020304" pitchFamily="18" charset="0"/>
                  <a:ea typeface="楷体_GB2312" pitchFamily="49" charset="-122"/>
                  <a:sym typeface="Symbol" panose="05050102010706020507" pitchFamily="18" charset="2"/>
                </a:rPr>
                <a:t>2</a:t>
              </a:r>
              <a:r>
                <a:rPr kumimoji="1" lang="en-US"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O</a:t>
              </a:r>
              <a:r>
                <a:rPr kumimoji="1" lang="en-US" altLang="zh-CN" sz="2600" b="1" smtClean="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smtClean="0">
                  <a:solidFill>
                    <a:srgbClr val="000000"/>
                  </a:solidFill>
                  <a:latin typeface="Times New Roman" panose="02020603050405020304" pitchFamily="18" charset="0"/>
                  <a:ea typeface="楷体_GB2312" pitchFamily="49" charset="-122"/>
                  <a:sym typeface="Symbol" panose="05050102010706020507" pitchFamily="18" charset="2"/>
                </a:rPr>
                <a:t>g</a:t>
              </a:r>
              <a:r>
                <a:rPr kumimoji="1" lang="en-US"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  </a:t>
              </a:r>
              <a:r>
                <a:rPr lang="zh-CN" altLang="en-US" sz="2600" b="1" smtClean="0">
                  <a:solidFill>
                    <a:srgbClr val="000000"/>
                  </a:solidFill>
                  <a:latin typeface="Times New Roman" panose="02020603050405020304" pitchFamily="18" charset="0"/>
                  <a:ea typeface="楷体_GB2312" pitchFamily="49" charset="-122"/>
                </a:rPr>
                <a:t>∆</a:t>
              </a:r>
              <a:r>
                <a:rPr lang="en-US" altLang="zh-CN" sz="2600" b="1" baseline="-25000" smtClean="0">
                  <a:solidFill>
                    <a:srgbClr val="000000"/>
                  </a:solidFill>
                  <a:latin typeface="Times New Roman" panose="02020603050405020304" pitchFamily="18" charset="0"/>
                  <a:ea typeface="楷体_GB2312" pitchFamily="49" charset="-122"/>
                </a:rPr>
                <a:t>r</a:t>
              </a:r>
              <a:r>
                <a:rPr lang="en-US" altLang="zh-CN" sz="2600" b="1" smtClean="0">
                  <a:solidFill>
                    <a:srgbClr val="000000"/>
                  </a:solidFill>
                  <a:latin typeface="Times New Roman" panose="02020603050405020304" pitchFamily="18" charset="0"/>
                  <a:ea typeface="楷体_GB2312" pitchFamily="49" charset="-122"/>
                </a:rPr>
                <a:t>H</a:t>
              </a:r>
              <a:r>
                <a:rPr kumimoji="1" lang="en-US" altLang="zh-CN" sz="2600" b="1" baseline="-25000" smtClean="0">
                  <a:solidFill>
                    <a:srgbClr val="000000"/>
                  </a:solidFill>
                  <a:latin typeface="Times New Roman" panose="02020603050405020304" pitchFamily="18" charset="0"/>
                  <a:ea typeface="楷体_GB2312" pitchFamily="49" charset="-122"/>
                  <a:sym typeface="Symbol" panose="05050102010706020507" pitchFamily="18" charset="2"/>
                </a:rPr>
                <a:t>m</a:t>
              </a:r>
              <a:r>
                <a:rPr kumimoji="1" lang="el-GR" altLang="zh-CN" sz="2600" b="1" baseline="30000" smtClean="0">
                  <a:solidFill>
                    <a:srgbClr val="000000"/>
                  </a:solidFill>
                  <a:latin typeface="楷体_GB2312" pitchFamily="49" charset="-122"/>
                  <a:ea typeface="楷体_GB2312" pitchFamily="49" charset="-122"/>
                  <a:sym typeface="Symbol" panose="05050102010706020507" pitchFamily="18" charset="2"/>
                </a:rPr>
                <a:t>Θ</a:t>
              </a:r>
              <a:r>
                <a:rPr kumimoji="1" lang="en-US" altLang="zh-CN" sz="2600" b="1" baseline="-25000" smtClean="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smtClean="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smtClean="0">
                  <a:solidFill>
                    <a:srgbClr val="000000"/>
                  </a:solidFill>
                  <a:latin typeface="Times New Roman" panose="02020603050405020304" pitchFamily="18" charset="0"/>
                  <a:ea typeface="楷体_GB2312" pitchFamily="49" charset="-122"/>
                  <a:sym typeface="Symbol" panose="05050102010706020507" pitchFamily="18" charset="2"/>
                </a:rPr>
                <a:t>483.636  </a:t>
              </a:r>
              <a:r>
                <a:rPr kumimoji="1" lang="en-US"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kJ·mol</a:t>
              </a:r>
              <a:r>
                <a:rPr kumimoji="1" lang="en-US" altLang="zh-CN" sz="2600" b="1" smtClean="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2600" b="1" baseline="30000" smtClean="0">
                  <a:solidFill>
                    <a:srgbClr val="000000"/>
                  </a:solidFill>
                  <a:latin typeface="Times New Roman" panose="02020603050405020304" pitchFamily="18" charset="0"/>
                  <a:ea typeface="楷体_GB2312" pitchFamily="49" charset="-122"/>
                  <a:sym typeface="Symbol" panose="05050102010706020507" pitchFamily="18" charset="2"/>
                </a:rPr>
                <a:t>-1</a:t>
              </a:r>
            </a:p>
          </p:txBody>
        </p:sp>
        <p:sp>
          <p:nvSpPr>
            <p:cNvPr id="11273" name="矩形 9"/>
            <p:cNvSpPr>
              <a:spLocks noChangeArrowheads="1"/>
            </p:cNvSpPr>
            <p:nvPr/>
          </p:nvSpPr>
          <p:spPr bwMode="auto">
            <a:xfrm>
              <a:off x="457200" y="2209800"/>
              <a:ext cx="8305800" cy="412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ct val="80000"/>
                </a:lnSpc>
                <a:spcBef>
                  <a:spcPct val="50000"/>
                </a:spcBef>
                <a:spcAft>
                  <a:spcPct val="0"/>
                </a:spcAft>
              </a:pPr>
              <a:r>
                <a:rPr kumimoji="1" lang="en-US" altLang="en-US" sz="2600" b="1" smtClean="0">
                  <a:solidFill>
                    <a:srgbClr val="000000"/>
                  </a:solidFill>
                  <a:latin typeface="Times New Roman" panose="02020603050405020304" pitchFamily="18" charset="0"/>
                </a:rPr>
                <a:t>H</a:t>
              </a:r>
              <a:r>
                <a:rPr kumimoji="1" lang="en-US" altLang="en-US" sz="2600" b="1" baseline="-25000" smtClean="0">
                  <a:solidFill>
                    <a:srgbClr val="000000"/>
                  </a:solidFill>
                  <a:latin typeface="Times New Roman" panose="02020603050405020304" pitchFamily="18" charset="0"/>
                </a:rPr>
                <a:t>2</a:t>
              </a:r>
              <a:r>
                <a:rPr kumimoji="1" lang="en-US" altLang="en-US" sz="2600" b="1" smtClean="0">
                  <a:solidFill>
                    <a:srgbClr val="000000"/>
                  </a:solidFill>
                  <a:latin typeface="Times New Roman" panose="02020603050405020304" pitchFamily="18" charset="0"/>
                </a:rPr>
                <a:t>(g)</a:t>
              </a:r>
              <a:r>
                <a:rPr kumimoji="1" lang="en-US" altLang="zh-CN" sz="2600" b="1" smtClean="0">
                  <a:solidFill>
                    <a:srgbClr val="000000"/>
                  </a:solidFill>
                  <a:latin typeface="Times New Roman" panose="02020603050405020304" pitchFamily="18" charset="0"/>
                </a:rPr>
                <a:t> </a:t>
              </a:r>
              <a:r>
                <a:rPr kumimoji="1" lang="en-US" altLang="en-US" sz="2600" b="1" smtClean="0">
                  <a:solidFill>
                    <a:srgbClr val="000000"/>
                  </a:solidFill>
                  <a:latin typeface="Times New Roman" panose="02020603050405020304" pitchFamily="18" charset="0"/>
                </a:rPr>
                <a:t>+</a:t>
              </a:r>
              <a:r>
                <a:rPr kumimoji="1" lang="en-US" altLang="zh-CN" sz="2600" b="1" smtClean="0">
                  <a:solidFill>
                    <a:srgbClr val="000000"/>
                  </a:solidFill>
                  <a:latin typeface="Times New Roman" panose="02020603050405020304" pitchFamily="18" charset="0"/>
                </a:rPr>
                <a:t> 1/2 O</a:t>
              </a:r>
              <a:r>
                <a:rPr kumimoji="1" lang="en-US" altLang="zh-CN" sz="2600" b="1" baseline="-25000" smtClean="0">
                  <a:solidFill>
                    <a:srgbClr val="000000"/>
                  </a:solidFill>
                  <a:latin typeface="Times New Roman" panose="02020603050405020304" pitchFamily="18" charset="0"/>
                </a:rPr>
                <a:t>2</a:t>
              </a:r>
              <a:r>
                <a:rPr kumimoji="1" lang="en-US" altLang="zh-CN" sz="2600" b="1" smtClean="0">
                  <a:solidFill>
                    <a:srgbClr val="000000"/>
                  </a:solidFill>
                  <a:latin typeface="Times New Roman" panose="02020603050405020304" pitchFamily="18" charset="0"/>
                </a:rPr>
                <a:t>(g</a:t>
              </a:r>
              <a:r>
                <a:rPr kumimoji="1" lang="en-US" altLang="en-US" sz="2600" b="1" smtClean="0">
                  <a:solidFill>
                    <a:srgbClr val="000000"/>
                  </a:solidFill>
                  <a:latin typeface="Times New Roman" panose="02020603050405020304" pitchFamily="18" charset="0"/>
                </a:rPr>
                <a:t>)</a:t>
              </a:r>
              <a:r>
                <a:rPr kumimoji="1" lang="en-US" altLang="zh-CN" sz="2600" b="1" smtClean="0">
                  <a:solidFill>
                    <a:srgbClr val="000000"/>
                  </a:solidFill>
                  <a:latin typeface="Times New Roman" panose="02020603050405020304" pitchFamily="18" charset="0"/>
                </a:rPr>
                <a:t> </a:t>
              </a:r>
              <a:r>
                <a:rPr kumimoji="1" lang="en-US" altLang="en-US" sz="2600" b="1" smtClean="0">
                  <a:solidFill>
                    <a:srgbClr val="000000"/>
                  </a:solidFill>
                  <a:latin typeface="Times New Roman" panose="02020603050405020304" pitchFamily="18" charset="0"/>
                  <a:sym typeface="Symbol" panose="05050102010706020507" pitchFamily="18" charset="2"/>
                </a:rPr>
                <a:t>→</a:t>
              </a:r>
              <a:r>
                <a:rPr kumimoji="1" lang="en-US" altLang="zh-CN" sz="2600" b="1" smtClean="0">
                  <a:solidFill>
                    <a:srgbClr val="000000"/>
                  </a:solidFill>
                  <a:latin typeface="Times New Roman" panose="02020603050405020304" pitchFamily="18" charset="0"/>
                  <a:sym typeface="Symbol" panose="05050102010706020507" pitchFamily="18" charset="2"/>
                </a:rPr>
                <a:t> </a:t>
              </a:r>
              <a:r>
                <a:rPr kumimoji="1" lang="en-US" altLang="en-US" sz="2600" b="1" smtClean="0">
                  <a:solidFill>
                    <a:srgbClr val="000000"/>
                  </a:solidFill>
                  <a:latin typeface="Times New Roman" panose="02020603050405020304" pitchFamily="18" charset="0"/>
                  <a:sym typeface="Symbol" panose="05050102010706020507" pitchFamily="18" charset="2"/>
                </a:rPr>
                <a:t>H</a:t>
              </a:r>
              <a:r>
                <a:rPr kumimoji="1" lang="en-US" altLang="en-US" sz="2600" b="1" baseline="-25000" smtClean="0">
                  <a:solidFill>
                    <a:srgbClr val="000000"/>
                  </a:solidFill>
                  <a:latin typeface="Times New Roman" panose="02020603050405020304" pitchFamily="18" charset="0"/>
                  <a:sym typeface="Symbol" panose="05050102010706020507" pitchFamily="18" charset="2"/>
                </a:rPr>
                <a:t>2</a:t>
              </a:r>
              <a:r>
                <a:rPr kumimoji="1" lang="en-US" altLang="en-US" sz="2600" b="1" smtClean="0">
                  <a:solidFill>
                    <a:srgbClr val="000000"/>
                  </a:solidFill>
                  <a:latin typeface="Times New Roman" panose="02020603050405020304" pitchFamily="18" charset="0"/>
                  <a:sym typeface="Symbol" panose="05050102010706020507" pitchFamily="18" charset="2"/>
                </a:rPr>
                <a:t>O(</a:t>
              </a:r>
              <a:r>
                <a:rPr kumimoji="1" lang="en-US" altLang="zh-CN" sz="2600" b="1" smtClean="0">
                  <a:solidFill>
                    <a:srgbClr val="000000"/>
                  </a:solidFill>
                  <a:latin typeface="Times New Roman" panose="02020603050405020304" pitchFamily="18" charset="0"/>
                  <a:sym typeface="Symbol" panose="05050102010706020507" pitchFamily="18" charset="2"/>
                </a:rPr>
                <a:t>g</a:t>
              </a:r>
              <a:r>
                <a:rPr kumimoji="1" lang="en-US" altLang="en-US" sz="2600" b="1" smtClean="0">
                  <a:solidFill>
                    <a:srgbClr val="000000"/>
                  </a:solidFill>
                  <a:latin typeface="Times New Roman" panose="02020603050405020304" pitchFamily="18" charset="0"/>
                  <a:sym typeface="Symbol" panose="05050102010706020507" pitchFamily="18" charset="2"/>
                </a:rPr>
                <a:t>)</a:t>
              </a:r>
              <a:r>
                <a:rPr kumimoji="1" lang="zh-CN" altLang="en-US" sz="2600" b="1" smtClean="0">
                  <a:solidFill>
                    <a:srgbClr val="000000"/>
                  </a:solidFill>
                  <a:latin typeface="Times New Roman" panose="02020603050405020304" pitchFamily="18" charset="0"/>
                  <a:sym typeface="Symbol" panose="05050102010706020507" pitchFamily="18" charset="2"/>
                </a:rPr>
                <a:t>；  </a:t>
              </a:r>
              <a:r>
                <a:rPr lang="zh-CN" altLang="en-US" sz="2600" b="1" smtClean="0">
                  <a:solidFill>
                    <a:srgbClr val="000000"/>
                  </a:solidFill>
                  <a:latin typeface="Times New Roman" panose="02020603050405020304" pitchFamily="18" charset="0"/>
                  <a:ea typeface="楷体_GB2312" pitchFamily="49" charset="-122"/>
                </a:rPr>
                <a:t>∆</a:t>
              </a:r>
              <a:r>
                <a:rPr lang="en-US" altLang="zh-CN" sz="2600" b="1" baseline="-25000" smtClean="0">
                  <a:solidFill>
                    <a:srgbClr val="000000"/>
                  </a:solidFill>
                  <a:latin typeface="Times New Roman" panose="02020603050405020304" pitchFamily="18" charset="0"/>
                  <a:ea typeface="楷体_GB2312" pitchFamily="49" charset="-122"/>
                </a:rPr>
                <a:t>r</a:t>
              </a:r>
              <a:r>
                <a:rPr lang="en-US" altLang="zh-CN" sz="2600" b="1" smtClean="0">
                  <a:solidFill>
                    <a:srgbClr val="000000"/>
                  </a:solidFill>
                  <a:latin typeface="Times New Roman" panose="02020603050405020304" pitchFamily="18" charset="0"/>
                  <a:ea typeface="楷体_GB2312" pitchFamily="49" charset="-122"/>
                </a:rPr>
                <a:t>H</a:t>
              </a:r>
              <a:r>
                <a:rPr kumimoji="1" lang="en-US" altLang="zh-CN" sz="2600" b="1" baseline="-25000" smtClean="0">
                  <a:solidFill>
                    <a:srgbClr val="000000"/>
                  </a:solidFill>
                  <a:latin typeface="Times New Roman" panose="02020603050405020304" pitchFamily="18" charset="0"/>
                  <a:ea typeface="楷体_GB2312" pitchFamily="49" charset="-122"/>
                  <a:sym typeface="Symbol" panose="05050102010706020507" pitchFamily="18" charset="2"/>
                </a:rPr>
                <a:t>m</a:t>
              </a:r>
              <a:r>
                <a:rPr kumimoji="1" lang="el-GR" altLang="zh-CN" sz="2600" b="1" baseline="30000" smtClean="0">
                  <a:solidFill>
                    <a:srgbClr val="000000"/>
                  </a:solidFill>
                  <a:latin typeface="楷体_GB2312" pitchFamily="49" charset="-122"/>
                  <a:ea typeface="楷体_GB2312" pitchFamily="49" charset="-122"/>
                  <a:sym typeface="Symbol" panose="05050102010706020507" pitchFamily="18" charset="2"/>
                </a:rPr>
                <a:t>Θ</a:t>
              </a:r>
              <a:r>
                <a:rPr kumimoji="1" lang="en-US" altLang="en-US" sz="2600" b="1" smtClean="0">
                  <a:solidFill>
                    <a:srgbClr val="000000"/>
                  </a:solidFill>
                  <a:latin typeface="Times New Roman" panose="02020603050405020304" pitchFamily="18" charset="0"/>
                  <a:sym typeface="Symbol" panose="05050102010706020507" pitchFamily="18" charset="2"/>
                </a:rPr>
                <a:t>=</a:t>
              </a:r>
              <a:r>
                <a:rPr kumimoji="1" lang="en-US" altLang="zh-CN" sz="2600" b="1" smtClean="0">
                  <a:solidFill>
                    <a:srgbClr val="000000"/>
                  </a:solidFill>
                  <a:latin typeface="Times New Roman" panose="02020603050405020304" pitchFamily="18" charset="0"/>
                  <a:sym typeface="Symbol" panose="05050102010706020507" pitchFamily="18" charset="2"/>
                </a:rPr>
                <a:t> </a:t>
              </a:r>
              <a:r>
                <a:rPr kumimoji="1" lang="en-US" altLang="en-US" sz="2600" b="1" smtClean="0">
                  <a:solidFill>
                    <a:srgbClr val="000000"/>
                  </a:solidFill>
                  <a:latin typeface="Times New Roman" panose="02020603050405020304" pitchFamily="18" charset="0"/>
                  <a:sym typeface="Symbol" panose="05050102010706020507" pitchFamily="18" charset="2"/>
                </a:rPr>
                <a:t>-</a:t>
              </a:r>
              <a:r>
                <a:rPr kumimoji="1" lang="en-US" altLang="zh-CN" sz="2600" b="1" smtClean="0">
                  <a:solidFill>
                    <a:srgbClr val="000000"/>
                  </a:solidFill>
                  <a:latin typeface="Times New Roman" panose="02020603050405020304" pitchFamily="18" charset="0"/>
                  <a:sym typeface="Symbol" panose="05050102010706020507" pitchFamily="18" charset="2"/>
                </a:rPr>
                <a:t>241.818 </a:t>
              </a:r>
              <a:r>
                <a:rPr kumimoji="1" lang="en-US" altLang="en-US" sz="2600" b="1" smtClean="0">
                  <a:solidFill>
                    <a:srgbClr val="000000"/>
                  </a:solidFill>
                  <a:latin typeface="Times New Roman" panose="02020603050405020304" pitchFamily="18" charset="0"/>
                  <a:sym typeface="Symbol" panose="05050102010706020507" pitchFamily="18" charset="2"/>
                </a:rPr>
                <a:t>kJ·mol</a:t>
              </a:r>
              <a:r>
                <a:rPr kumimoji="1" lang="en-US" altLang="zh-CN" sz="2600" b="1" baseline="30000" smtClean="0">
                  <a:solidFill>
                    <a:srgbClr val="000000"/>
                  </a:solidFill>
                  <a:latin typeface="Times New Roman" panose="02020603050405020304" pitchFamily="18" charset="0"/>
                  <a:sym typeface="Symbol" panose="05050102010706020507" pitchFamily="18" charset="2"/>
                </a:rPr>
                <a:t>-1</a:t>
              </a:r>
            </a:p>
          </p:txBody>
        </p:sp>
      </p:grpSp>
      <p:grpSp>
        <p:nvGrpSpPr>
          <p:cNvPr id="3" name="组合 8"/>
          <p:cNvGrpSpPr/>
          <p:nvPr/>
        </p:nvGrpSpPr>
        <p:grpSpPr bwMode="auto">
          <a:xfrm>
            <a:off x="228600" y="2895600"/>
            <a:ext cx="8610600" cy="2701925"/>
            <a:chOff x="228600" y="2895600"/>
            <a:chExt cx="8610600" cy="2701925"/>
          </a:xfrm>
        </p:grpSpPr>
        <p:sp>
          <p:nvSpPr>
            <p:cNvPr id="11270" name="矩形 10"/>
            <p:cNvSpPr>
              <a:spLocks noChangeArrowheads="1"/>
            </p:cNvSpPr>
            <p:nvPr/>
          </p:nvSpPr>
          <p:spPr bwMode="auto">
            <a:xfrm>
              <a:off x="381000" y="2895600"/>
              <a:ext cx="8458200" cy="9743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lang="en-US" altLang="zh-CN" sz="2600" b="1" dirty="0" smtClean="0">
                  <a:solidFill>
                    <a:srgbClr val="000000"/>
                  </a:solidFill>
                  <a:latin typeface="Times New Roman" panose="02020603050405020304" pitchFamily="18" charset="0"/>
                  <a:ea typeface="楷体_GB2312" pitchFamily="49" charset="-122"/>
                </a:rPr>
                <a:t>         </a:t>
              </a:r>
              <a:r>
                <a:rPr lang="en-US" altLang="zh-CN" sz="2600" b="1" i="1" dirty="0" smtClean="0">
                  <a:solidFill>
                    <a:srgbClr val="C00000"/>
                  </a:solidFill>
                  <a:latin typeface="Times New Roman" panose="02020603050405020304" pitchFamily="18" charset="0"/>
                  <a:ea typeface="楷体_GB2312" pitchFamily="49" charset="-122"/>
                </a:rPr>
                <a:t>∆</a:t>
              </a:r>
              <a:r>
                <a:rPr lang="en-US" altLang="zh-CN" sz="2600" b="1" i="1" baseline="-25000" dirty="0" err="1" smtClean="0">
                  <a:solidFill>
                    <a:srgbClr val="C00000"/>
                  </a:solidFill>
                  <a:latin typeface="Times New Roman" panose="02020603050405020304" pitchFamily="18" charset="0"/>
                  <a:ea typeface="楷体_GB2312" pitchFamily="49" charset="-122"/>
                </a:rPr>
                <a:t>r</a:t>
              </a:r>
              <a:r>
                <a:rPr lang="en-US" altLang="zh-CN" sz="2600" b="1" i="1" dirty="0" err="1" smtClean="0">
                  <a:solidFill>
                    <a:srgbClr val="C00000"/>
                  </a:solidFill>
                  <a:latin typeface="Times New Roman" panose="02020603050405020304" pitchFamily="18" charset="0"/>
                  <a:ea typeface="楷体_GB2312" pitchFamily="49" charset="-122"/>
                </a:rPr>
                <a:t>H</a:t>
              </a:r>
              <a:r>
                <a:rPr kumimoji="1" lang="en-US" altLang="zh-CN" sz="2600" b="1" i="1" baseline="-25000" dirty="0" err="1" smtClean="0">
                  <a:solidFill>
                    <a:srgbClr val="C00000"/>
                  </a:solidFill>
                  <a:latin typeface="Times New Roman" panose="02020603050405020304" pitchFamily="18" charset="0"/>
                  <a:ea typeface="楷体_GB2312" pitchFamily="49" charset="-122"/>
                  <a:sym typeface="Symbol" panose="05050102010706020507" pitchFamily="18" charset="2"/>
                </a:rPr>
                <a:t>m</a:t>
              </a:r>
              <a:r>
                <a:rPr kumimoji="1" lang="el-GR" altLang="zh-CN" sz="2600" b="1" i="1" baseline="30000" dirty="0" smtClean="0">
                  <a:solidFill>
                    <a:srgbClr val="C00000"/>
                  </a:solidFill>
                  <a:latin typeface="Times New Roman" panose="02020603050405020304" pitchFamily="18" charset="0"/>
                  <a:ea typeface="楷体_GB2312" pitchFamily="49" charset="-122"/>
                  <a:sym typeface="Symbol" panose="05050102010706020507" pitchFamily="18" charset="2"/>
                </a:rPr>
                <a:t>Θ</a:t>
              </a:r>
              <a:r>
                <a:rPr kumimoji="1" lang="zh-CN" altLang="en-US" sz="2600" b="1" i="1" dirty="0" smtClean="0">
                  <a:solidFill>
                    <a:srgbClr val="C00000"/>
                  </a:solidFill>
                  <a:latin typeface="Times New Roman" panose="02020603050405020304" pitchFamily="18" charset="0"/>
                  <a:ea typeface="楷体_GB2312" pitchFamily="49" charset="-122"/>
                  <a:sym typeface="Symbol" panose="05050102010706020507" pitchFamily="18" charset="2"/>
                </a:rPr>
                <a:t>称为标准摩尔反应焓变</a:t>
              </a: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或简称为反应焓），</a:t>
              </a:r>
              <a:r>
                <a:rPr lang="en-US" altLang="zh-CN" sz="2600" b="1" dirty="0" smtClean="0">
                  <a:solidFill>
                    <a:srgbClr val="000000"/>
                  </a:solidFill>
                  <a:latin typeface="Times New Roman" panose="02020603050405020304" pitchFamily="18" charset="0"/>
                  <a:ea typeface="楷体_GB2312" pitchFamily="49" charset="-122"/>
                </a:rPr>
                <a:t>∆</a:t>
              </a:r>
              <a:r>
                <a:rPr lang="en-US" altLang="zh-CN" sz="2600" b="1" baseline="-25000" dirty="0" err="1" smtClean="0">
                  <a:solidFill>
                    <a:srgbClr val="000000"/>
                  </a:solidFill>
                  <a:latin typeface="Times New Roman" panose="02020603050405020304" pitchFamily="18" charset="0"/>
                  <a:ea typeface="楷体_GB2312" pitchFamily="49" charset="-122"/>
                </a:rPr>
                <a:t>r</a:t>
              </a:r>
              <a:r>
                <a:rPr lang="en-US" altLang="zh-CN" sz="2600" b="1" dirty="0" err="1" smtClean="0">
                  <a:solidFill>
                    <a:srgbClr val="000000"/>
                  </a:solidFill>
                  <a:latin typeface="Times New Roman" panose="02020603050405020304" pitchFamily="18" charset="0"/>
                  <a:ea typeface="楷体_GB2312" pitchFamily="49" charset="-122"/>
                </a:rPr>
                <a:t>H</a:t>
              </a:r>
              <a:r>
                <a:rPr kumimoji="1" lang="en-US" altLang="zh-CN" sz="2600" b="1" baseline="-25000" dirty="0" err="1" smtClean="0">
                  <a:solidFill>
                    <a:srgbClr val="000000"/>
                  </a:solidFill>
                  <a:latin typeface="Times New Roman" panose="02020603050405020304" pitchFamily="18" charset="0"/>
                  <a:ea typeface="楷体_GB2312" pitchFamily="49" charset="-122"/>
                  <a:sym typeface="Symbol" panose="05050102010706020507" pitchFamily="18" charset="2"/>
                </a:rPr>
                <a:t>m</a:t>
              </a:r>
              <a:r>
                <a:rPr kumimoji="1" lang="el-GR" altLang="zh-CN" sz="2600" b="1" baseline="30000" dirty="0" smtClean="0">
                  <a:solidFill>
                    <a:srgbClr val="000000"/>
                  </a:solidFill>
                  <a:latin typeface="Times New Roman" panose="02020603050405020304" pitchFamily="18" charset="0"/>
                  <a:ea typeface="楷体_GB2312" pitchFamily="49" charset="-122"/>
                  <a:sym typeface="Symbol" panose="05050102010706020507" pitchFamily="18" charset="2"/>
                </a:rPr>
                <a:t>Θ</a:t>
              </a: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 比</a:t>
              </a:r>
              <a:r>
                <a:rPr lang="zh-CN" altLang="en-US" sz="2600" b="1" dirty="0" smtClean="0">
                  <a:solidFill>
                    <a:srgbClr val="000000"/>
                  </a:solidFill>
                  <a:latin typeface="Times New Roman" panose="02020603050405020304" pitchFamily="18" charset="0"/>
                  <a:ea typeface="楷体_GB2312" pitchFamily="49" charset="-122"/>
                </a:rPr>
                <a:t>∆</a:t>
              </a:r>
              <a:r>
                <a:rPr lang="en-US" altLang="zh-CN" sz="2600" b="1" baseline="-25000" dirty="0" err="1" smtClean="0">
                  <a:solidFill>
                    <a:srgbClr val="000000"/>
                  </a:solidFill>
                  <a:latin typeface="Times New Roman" panose="02020603050405020304" pitchFamily="18" charset="0"/>
                  <a:ea typeface="楷体_GB2312" pitchFamily="49" charset="-122"/>
                </a:rPr>
                <a:t>r</a:t>
              </a:r>
              <a:r>
                <a:rPr lang="en-US" altLang="zh-CN" sz="2600" b="1" dirty="0" err="1" smtClean="0">
                  <a:solidFill>
                    <a:srgbClr val="000000"/>
                  </a:solidFill>
                  <a:latin typeface="Times New Roman" panose="02020603050405020304" pitchFamily="18" charset="0"/>
                  <a:ea typeface="楷体_GB2312" pitchFamily="49" charset="-122"/>
                </a:rPr>
                <a:t>U</a:t>
              </a:r>
              <a:r>
                <a:rPr kumimoji="1" lang="en-US" altLang="zh-CN" sz="2600" b="1" baseline="-25000" dirty="0" err="1" smtClean="0">
                  <a:solidFill>
                    <a:srgbClr val="000000"/>
                  </a:solidFill>
                  <a:latin typeface="Times New Roman" panose="02020603050405020304" pitchFamily="18" charset="0"/>
                  <a:ea typeface="楷体_GB2312" pitchFamily="49" charset="-122"/>
                  <a:sym typeface="Symbol" panose="05050102010706020507" pitchFamily="18" charset="2"/>
                </a:rPr>
                <a:t>m</a:t>
              </a:r>
              <a:r>
                <a:rPr kumimoji="1" lang="el-GR" altLang="zh-CN" sz="2600" b="1" baseline="30000" dirty="0" smtClean="0">
                  <a:solidFill>
                    <a:srgbClr val="000000"/>
                  </a:solidFill>
                  <a:latin typeface="楷体_GB2312" pitchFamily="49" charset="-122"/>
                  <a:ea typeface="楷体_GB2312" pitchFamily="49" charset="-122"/>
                  <a:sym typeface="Symbol" panose="05050102010706020507" pitchFamily="18" charset="2"/>
                </a:rPr>
                <a:t>Θ</a:t>
              </a: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应用更广。同理，</a:t>
              </a:r>
              <a:r>
                <a:rPr kumimoji="1" lang="zh-CN" altLang="en-US" sz="2600" b="1" i="1" dirty="0" smtClean="0">
                  <a:solidFill>
                    <a:srgbClr val="000000"/>
                  </a:solidFill>
                  <a:latin typeface="Times New Roman" panose="02020603050405020304" pitchFamily="18" charset="0"/>
                  <a:ea typeface="楷体_GB2312" pitchFamily="49" charset="-122"/>
                  <a:sym typeface="Symbol" panose="05050102010706020507" pitchFamily="18" charset="2"/>
                </a:rPr>
                <a:t>单位是</a:t>
              </a:r>
              <a:r>
                <a:rPr kumimoji="1" lang="en-US" altLang="zh-CN" sz="2600" b="1" i="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en-US" sz="2600" b="1" dirty="0" err="1" smtClean="0">
                  <a:solidFill>
                    <a:srgbClr val="000000"/>
                  </a:solidFill>
                  <a:latin typeface="Times New Roman" panose="02020603050405020304" pitchFamily="18" charset="0"/>
                  <a:ea typeface="楷体_GB2312" pitchFamily="49" charset="-122"/>
                  <a:sym typeface="Symbol" panose="05050102010706020507" pitchFamily="18" charset="2"/>
                </a:rPr>
                <a:t>kJ·mol</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2600" b="1" baseline="30000" dirty="0" smtClean="0">
                  <a:solidFill>
                    <a:srgbClr val="000000"/>
                  </a:solidFill>
                  <a:latin typeface="Times New Roman" panose="02020603050405020304" pitchFamily="18" charset="0"/>
                  <a:ea typeface="楷体_GB2312" pitchFamily="49" charset="-122"/>
                  <a:sym typeface="Symbol" panose="05050102010706020507" pitchFamily="18" charset="2"/>
                </a:rPr>
                <a:t>-1</a:t>
              </a:r>
              <a:endParaRPr kumimoji="1" lang="zh-CN" altLang="en-US" sz="2600" b="1" dirty="0" smtClean="0">
                <a:solidFill>
                  <a:srgbClr val="0000FF"/>
                </a:solidFill>
                <a:latin typeface="Times New Roman" panose="02020603050405020304" pitchFamily="18" charset="0"/>
                <a:ea typeface="楷体_GB2312" pitchFamily="49" charset="-122"/>
              </a:endParaRPr>
            </a:p>
          </p:txBody>
        </p:sp>
        <p:graphicFrame>
          <p:nvGraphicFramePr>
            <p:cNvPr id="11266" name="Object 6"/>
            <p:cNvGraphicFramePr>
              <a:graphicFrameLocks noChangeAspect="1"/>
            </p:cNvGraphicFramePr>
            <p:nvPr/>
          </p:nvGraphicFramePr>
          <p:xfrm>
            <a:off x="2590800" y="3962400"/>
            <a:ext cx="3200400" cy="1066800"/>
          </p:xfrm>
          <a:graphic>
            <a:graphicData uri="http://schemas.openxmlformats.org/presentationml/2006/ole">
              <p:oleObj spid="_x0000_s83969" name="CS ChemDraw Drawing" r:id="rId4" imgW="13192125" imgH="5486400" progId="">
                <p:embed/>
              </p:oleObj>
            </a:graphicData>
          </a:graphic>
        </p:graphicFrame>
        <p:sp>
          <p:nvSpPr>
            <p:cNvPr id="11271" name="矩形 6"/>
            <p:cNvSpPr>
              <a:spLocks noChangeArrowheads="1"/>
            </p:cNvSpPr>
            <p:nvPr/>
          </p:nvSpPr>
          <p:spPr bwMode="auto">
            <a:xfrm>
              <a:off x="228600" y="5105400"/>
              <a:ext cx="8610600" cy="492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spcBef>
                  <a:spcPct val="50000"/>
                </a:spcBef>
                <a:spcAft>
                  <a:spcPct val="0"/>
                </a:spcAft>
              </a:pPr>
              <a:r>
                <a:rPr kumimoji="1" lang="zh-CN"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当</a:t>
              </a:r>
              <a:r>
                <a:rPr kumimoji="1" lang="en-US" altLang="zh-CN" sz="2600" b="1" smtClean="0">
                  <a:solidFill>
                    <a:srgbClr val="000000"/>
                  </a:solidFill>
                  <a:latin typeface="Times New Roman" panose="02020603050405020304" pitchFamily="18" charset="0"/>
                  <a:ea typeface="楷体_GB2312" pitchFamily="49" charset="-122"/>
                  <a:sym typeface="Symbol" panose="05050102010706020507" pitchFamily="18" charset="2"/>
                </a:rPr>
                <a:t>T</a:t>
              </a:r>
              <a:r>
                <a:rPr kumimoji="1" lang="zh-CN"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smtClean="0">
                  <a:solidFill>
                    <a:srgbClr val="000000"/>
                  </a:solidFill>
                  <a:latin typeface="Times New Roman" panose="02020603050405020304" pitchFamily="18" charset="0"/>
                  <a:ea typeface="楷体_GB2312" pitchFamily="49" charset="-122"/>
                  <a:sym typeface="Symbol" panose="05050102010706020507" pitchFamily="18" charset="2"/>
                </a:rPr>
                <a:t>p</a:t>
              </a:r>
              <a:r>
                <a:rPr kumimoji="1" lang="zh-CN"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变化不大时</a:t>
              </a:r>
              <a:r>
                <a:rPr kumimoji="1" lang="en-US" altLang="zh-CN" sz="2600" b="1" smtClean="0">
                  <a:solidFill>
                    <a:srgbClr val="000000"/>
                  </a:solidFill>
                  <a:latin typeface="Times New Roman" panose="02020603050405020304" pitchFamily="18" charset="0"/>
                  <a:ea typeface="楷体_GB2312" pitchFamily="49" charset="-122"/>
                  <a:sym typeface="Symbol" panose="05050102010706020507" pitchFamily="18" charset="2"/>
                </a:rPr>
                <a:t>:  </a:t>
              </a:r>
              <a:r>
                <a:rPr lang="zh-CN" altLang="en-US" sz="2600" b="1" i="1" smtClean="0">
                  <a:solidFill>
                    <a:srgbClr val="C00000"/>
                  </a:solidFill>
                  <a:latin typeface="Times New Roman" panose="02020603050405020304" pitchFamily="18" charset="0"/>
                  <a:ea typeface="楷体_GB2312" pitchFamily="49" charset="-122"/>
                </a:rPr>
                <a:t>∆</a:t>
              </a:r>
              <a:r>
                <a:rPr lang="en-US" altLang="zh-CN" sz="2600" b="1" i="1" baseline="-25000" smtClean="0">
                  <a:solidFill>
                    <a:srgbClr val="C00000"/>
                  </a:solidFill>
                  <a:latin typeface="Times New Roman" panose="02020603050405020304" pitchFamily="18" charset="0"/>
                  <a:ea typeface="楷体_GB2312" pitchFamily="49" charset="-122"/>
                </a:rPr>
                <a:t>r</a:t>
              </a:r>
              <a:r>
                <a:rPr lang="en-US" altLang="zh-CN" sz="2600" b="1" i="1" smtClean="0">
                  <a:solidFill>
                    <a:srgbClr val="C00000"/>
                  </a:solidFill>
                  <a:latin typeface="Times New Roman" panose="02020603050405020304" pitchFamily="18" charset="0"/>
                  <a:ea typeface="楷体_GB2312" pitchFamily="49" charset="-122"/>
                </a:rPr>
                <a:t>H</a:t>
              </a:r>
              <a:r>
                <a:rPr kumimoji="1" lang="en-US" altLang="zh-CN" sz="2600" b="1" i="1" baseline="-25000" smtClean="0">
                  <a:solidFill>
                    <a:srgbClr val="C00000"/>
                  </a:solidFill>
                  <a:latin typeface="Times New Roman" panose="02020603050405020304" pitchFamily="18" charset="0"/>
                  <a:ea typeface="楷体_GB2312" pitchFamily="49" charset="-122"/>
                  <a:sym typeface="Symbol" panose="05050102010706020507" pitchFamily="18" charset="2"/>
                </a:rPr>
                <a:t>m</a:t>
              </a:r>
              <a:r>
                <a:rPr kumimoji="1" lang="en-US" altLang="zh-CN" sz="2600" b="1" i="1" smtClean="0">
                  <a:solidFill>
                    <a:srgbClr val="C00000"/>
                  </a:solidFill>
                  <a:latin typeface="Times New Roman" panose="02020603050405020304" pitchFamily="18" charset="0"/>
                  <a:ea typeface="楷体_GB2312" pitchFamily="49" charset="-122"/>
                  <a:sym typeface="Symbol" panose="05050102010706020507" pitchFamily="18" charset="2"/>
                </a:rPr>
                <a:t> (T, p) ≈  </a:t>
              </a:r>
              <a:r>
                <a:rPr lang="zh-CN" altLang="en-US" sz="2600" b="1" i="1" smtClean="0">
                  <a:solidFill>
                    <a:srgbClr val="C00000"/>
                  </a:solidFill>
                  <a:latin typeface="Times New Roman" panose="02020603050405020304" pitchFamily="18" charset="0"/>
                  <a:ea typeface="楷体_GB2312" pitchFamily="49" charset="-122"/>
                </a:rPr>
                <a:t>∆</a:t>
              </a:r>
              <a:r>
                <a:rPr lang="en-US" altLang="zh-CN" sz="2600" b="1" i="1" baseline="-25000" smtClean="0">
                  <a:solidFill>
                    <a:srgbClr val="C00000"/>
                  </a:solidFill>
                  <a:latin typeface="Times New Roman" panose="02020603050405020304" pitchFamily="18" charset="0"/>
                  <a:ea typeface="楷体_GB2312" pitchFamily="49" charset="-122"/>
                </a:rPr>
                <a:t>r</a:t>
              </a:r>
              <a:r>
                <a:rPr lang="en-US" altLang="zh-CN" sz="2600" b="1" i="1" smtClean="0">
                  <a:solidFill>
                    <a:srgbClr val="C00000"/>
                  </a:solidFill>
                  <a:latin typeface="Times New Roman" panose="02020603050405020304" pitchFamily="18" charset="0"/>
                  <a:ea typeface="楷体_GB2312" pitchFamily="49" charset="-122"/>
                </a:rPr>
                <a:t>H</a:t>
              </a:r>
              <a:r>
                <a:rPr kumimoji="1" lang="en-US" altLang="zh-CN" sz="2600" b="1" i="1" baseline="-25000" smtClean="0">
                  <a:solidFill>
                    <a:srgbClr val="C00000"/>
                  </a:solidFill>
                  <a:latin typeface="Times New Roman" panose="02020603050405020304" pitchFamily="18" charset="0"/>
                  <a:ea typeface="楷体_GB2312" pitchFamily="49" charset="-122"/>
                  <a:sym typeface="Symbol" panose="05050102010706020507" pitchFamily="18" charset="2"/>
                </a:rPr>
                <a:t>m</a:t>
              </a:r>
              <a:r>
                <a:rPr kumimoji="1" lang="el-GR" altLang="zh-CN" sz="2600" b="1" i="1" baseline="30000" smtClean="0">
                  <a:solidFill>
                    <a:srgbClr val="C00000"/>
                  </a:solidFill>
                  <a:latin typeface="Times New Roman" panose="02020603050405020304" pitchFamily="18" charset="0"/>
                  <a:ea typeface="楷体_GB2312" pitchFamily="49" charset="-122"/>
                  <a:sym typeface="Symbol" panose="05050102010706020507" pitchFamily="18" charset="2"/>
                </a:rPr>
                <a:t>Θ</a:t>
              </a:r>
              <a:r>
                <a:rPr kumimoji="1" lang="en-US" altLang="zh-CN" sz="2600" b="1" i="1" smtClean="0">
                  <a:solidFill>
                    <a:srgbClr val="C00000"/>
                  </a:solidFill>
                  <a:latin typeface="Times New Roman" panose="02020603050405020304" pitchFamily="18" charset="0"/>
                  <a:ea typeface="楷体_GB2312" pitchFamily="49" charset="-122"/>
                  <a:sym typeface="Symbol" panose="05050102010706020507" pitchFamily="18" charset="2"/>
                </a:rPr>
                <a:t>(298K, 100kPa)</a:t>
              </a:r>
              <a:endParaRPr kumimoji="1" lang="en-US" altLang="zh-CN" sz="2600" b="1" i="1" baseline="30000" smtClean="0">
                <a:solidFill>
                  <a:srgbClr val="C00000"/>
                </a:solidFill>
                <a:latin typeface="Times New Roman" panose="02020603050405020304" pitchFamily="18" charset="0"/>
                <a:ea typeface="楷体_GB2312" pitchFamily="49" charset="-122"/>
                <a:sym typeface="Symbol" panose="05050102010706020507" pitchFamily="18" charset="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9719"/>
                                        </p:tgtEl>
                                        <p:attrNameLst>
                                          <p:attrName>style.visibility</p:attrName>
                                        </p:attrNameLst>
                                      </p:cBhvr>
                                      <p:to>
                                        <p:strVal val="visible"/>
                                      </p:to>
                                    </p:set>
                                    <p:animEffect transition="in" filter="checkerboard(across)">
                                      <p:cBhvr>
                                        <p:cTn id="7" dur="500"/>
                                        <p:tgtEl>
                                          <p:spTgt spid="297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1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
          <p:cNvGrpSpPr/>
          <p:nvPr/>
        </p:nvGrpSpPr>
        <p:grpSpPr bwMode="auto">
          <a:xfrm>
            <a:off x="152400" y="381000"/>
            <a:ext cx="8534400" cy="1660169"/>
            <a:chOff x="152400" y="381000"/>
            <a:chExt cx="8534400" cy="1660169"/>
          </a:xfrm>
        </p:grpSpPr>
        <p:sp>
          <p:nvSpPr>
            <p:cNvPr id="62470" name="Rectangle 28"/>
            <p:cNvSpPr>
              <a:spLocks noChangeArrowheads="1"/>
            </p:cNvSpPr>
            <p:nvPr/>
          </p:nvSpPr>
          <p:spPr bwMode="auto">
            <a:xfrm>
              <a:off x="152400" y="381000"/>
              <a:ext cx="1695450" cy="492125"/>
            </a:xfrm>
            <a:prstGeom prst="rect">
              <a:avLst/>
            </a:prstGeom>
            <a:solidFill>
              <a:srgbClr val="99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fontAlgn="base">
                <a:spcBef>
                  <a:spcPct val="0"/>
                </a:spcBef>
                <a:spcAft>
                  <a:spcPct val="0"/>
                </a:spcAft>
              </a:pPr>
              <a:r>
                <a:rPr lang="en-US" altLang="zh-CN" sz="2600" b="1" smtClean="0">
                  <a:solidFill>
                    <a:srgbClr val="990000"/>
                  </a:solidFill>
                  <a:latin typeface="Times New Roman" panose="02020603050405020304" pitchFamily="18" charset="0"/>
                </a:rPr>
                <a:t>Example 1</a:t>
              </a:r>
            </a:p>
          </p:txBody>
        </p:sp>
        <p:sp>
          <p:nvSpPr>
            <p:cNvPr id="62471" name="矩形 7"/>
            <p:cNvSpPr>
              <a:spLocks noChangeArrowheads="1"/>
            </p:cNvSpPr>
            <p:nvPr/>
          </p:nvSpPr>
          <p:spPr bwMode="auto">
            <a:xfrm>
              <a:off x="381000" y="1066800"/>
              <a:ext cx="8305800" cy="9743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lang="en-US" altLang="zh-CN" sz="2600" b="1" dirty="0" smtClean="0">
                  <a:solidFill>
                    <a:srgbClr val="000000"/>
                  </a:solidFill>
                  <a:latin typeface="Times New Roman" panose="02020603050405020304" pitchFamily="18" charset="0"/>
                  <a:ea typeface="楷体_GB2312" pitchFamily="49" charset="-122"/>
                </a:rPr>
                <a:t>       </a:t>
              </a:r>
              <a:r>
                <a:rPr lang="zh-CN" altLang="en-US" sz="2600" b="1" dirty="0" smtClean="0">
                  <a:solidFill>
                    <a:srgbClr val="000000"/>
                  </a:solidFill>
                  <a:latin typeface="Times New Roman" panose="02020603050405020304" pitchFamily="18" charset="0"/>
                  <a:ea typeface="楷体_GB2312" pitchFamily="49" charset="-122"/>
                </a:rPr>
                <a:t>根据上述反应生成</a:t>
              </a:r>
              <a:r>
                <a:rPr lang="en-US" altLang="zh-CN" sz="2600" b="1" dirty="0" smtClean="0">
                  <a:solidFill>
                    <a:srgbClr val="000000"/>
                  </a:solidFill>
                  <a:latin typeface="Times New Roman" panose="02020603050405020304" pitchFamily="18" charset="0"/>
                  <a:ea typeface="楷体_GB2312" pitchFamily="49" charset="-122"/>
                </a:rPr>
                <a:t>1mol </a:t>
              </a:r>
              <a:r>
                <a:rPr kumimoji="1" lang="en-US"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H</a:t>
              </a:r>
              <a:r>
                <a:rPr kumimoji="1" lang="en-US" altLang="en-US" sz="2600" b="1" baseline="-25000" dirty="0" smtClean="0">
                  <a:solidFill>
                    <a:srgbClr val="000000"/>
                  </a:solidFill>
                  <a:latin typeface="Times New Roman" panose="02020603050405020304" pitchFamily="18" charset="0"/>
                  <a:ea typeface="楷体_GB2312" pitchFamily="49" charset="-122"/>
                  <a:sym typeface="Symbol" panose="05050102010706020507" pitchFamily="18" charset="2"/>
                </a:rPr>
                <a:t>2</a:t>
              </a:r>
              <a:r>
                <a:rPr kumimoji="1" lang="en-US"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O(</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g</a:t>
              </a:r>
              <a:r>
                <a:rPr kumimoji="1" lang="en-US"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时的</a:t>
              </a:r>
              <a:r>
                <a:rPr lang="zh-CN" altLang="en-US" sz="2600" b="1" dirty="0" smtClean="0">
                  <a:solidFill>
                    <a:srgbClr val="000000"/>
                  </a:solidFill>
                  <a:latin typeface="Times New Roman" panose="02020603050405020304" pitchFamily="18" charset="0"/>
                  <a:ea typeface="楷体_GB2312" pitchFamily="49" charset="-122"/>
                </a:rPr>
                <a:t> ∆</a:t>
              </a:r>
              <a:r>
                <a:rPr lang="en-US" altLang="zh-CN" sz="2600" b="1" baseline="-25000" dirty="0" err="1" smtClean="0">
                  <a:solidFill>
                    <a:srgbClr val="000000"/>
                  </a:solidFill>
                  <a:latin typeface="Times New Roman" panose="02020603050405020304" pitchFamily="18" charset="0"/>
                  <a:ea typeface="楷体_GB2312" pitchFamily="49" charset="-122"/>
                </a:rPr>
                <a:t>r</a:t>
              </a:r>
              <a:r>
                <a:rPr lang="en-US" altLang="zh-CN" sz="2600" b="1" dirty="0" err="1" smtClean="0">
                  <a:solidFill>
                    <a:srgbClr val="000000"/>
                  </a:solidFill>
                  <a:latin typeface="Times New Roman" panose="02020603050405020304" pitchFamily="18" charset="0"/>
                  <a:ea typeface="楷体_GB2312" pitchFamily="49" charset="-122"/>
                </a:rPr>
                <a:t>H</a:t>
              </a:r>
              <a:r>
                <a:rPr kumimoji="1" lang="en-US" altLang="zh-CN" sz="2600" b="1" baseline="-25000" dirty="0" err="1" smtClean="0">
                  <a:solidFill>
                    <a:srgbClr val="000000"/>
                  </a:solidFill>
                  <a:latin typeface="Times New Roman" panose="02020603050405020304" pitchFamily="18" charset="0"/>
                  <a:ea typeface="楷体_GB2312" pitchFamily="49" charset="-122"/>
                  <a:sym typeface="Symbol" panose="05050102010706020507" pitchFamily="18" charset="2"/>
                </a:rPr>
                <a:t>m</a:t>
              </a:r>
              <a:r>
                <a:rPr kumimoji="1" lang="el-GR" altLang="zh-CN" sz="2600" b="1" baseline="30000" dirty="0" smtClean="0">
                  <a:solidFill>
                    <a:srgbClr val="000000"/>
                  </a:solidFill>
                  <a:latin typeface="Times New Roman" panose="02020603050405020304" pitchFamily="18" charset="0"/>
                  <a:ea typeface="楷体_GB2312" pitchFamily="49" charset="-122"/>
                  <a:sym typeface="Symbol" panose="05050102010706020507" pitchFamily="18" charset="2"/>
                </a:rPr>
                <a:t>Θ</a:t>
              </a: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值，计算其</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W</a:t>
              </a: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dirty="0" err="1" smtClean="0">
                  <a:solidFill>
                    <a:srgbClr val="000000"/>
                  </a:solidFill>
                  <a:latin typeface="Times New Roman" panose="02020603050405020304" pitchFamily="18" charset="0"/>
                  <a:ea typeface="楷体_GB2312" pitchFamily="49" charset="-122"/>
                  <a:sym typeface="Symbol" panose="05050102010706020507" pitchFamily="18" charset="2"/>
                </a:rPr>
                <a:t>Q</a:t>
              </a:r>
              <a:r>
                <a:rPr kumimoji="1" lang="en-US" altLang="zh-CN" sz="2600" b="1" baseline="-25000" dirty="0" err="1" smtClean="0">
                  <a:solidFill>
                    <a:srgbClr val="000000"/>
                  </a:solidFill>
                  <a:latin typeface="Times New Roman" panose="02020603050405020304" pitchFamily="18" charset="0"/>
                  <a:ea typeface="楷体_GB2312" pitchFamily="49" charset="-122"/>
                  <a:sym typeface="Symbol" panose="05050102010706020507" pitchFamily="18" charset="2"/>
                </a:rPr>
                <a:t>v</a:t>
              </a: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2600" b="1" dirty="0" err="1" smtClean="0">
                  <a:solidFill>
                    <a:srgbClr val="000000"/>
                  </a:solidFill>
                  <a:latin typeface="Times New Roman" panose="02020603050405020304" pitchFamily="18" charset="0"/>
                  <a:ea typeface="楷体_GB2312" pitchFamily="49" charset="-122"/>
                  <a:sym typeface="Symbol" panose="05050102010706020507" pitchFamily="18" charset="2"/>
                </a:rPr>
                <a:t>Q</a:t>
              </a:r>
              <a:r>
                <a:rPr kumimoji="1" lang="en-US" altLang="zh-CN" sz="2600" b="1" baseline="-25000" dirty="0" err="1" smtClean="0">
                  <a:solidFill>
                    <a:srgbClr val="000000"/>
                  </a:solidFill>
                  <a:latin typeface="Times New Roman" panose="02020603050405020304" pitchFamily="18" charset="0"/>
                  <a:ea typeface="楷体_GB2312" pitchFamily="49" charset="-122"/>
                  <a:sym typeface="Symbol" panose="05050102010706020507" pitchFamily="18" charset="2"/>
                </a:rPr>
                <a:t>p</a:t>
              </a: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 </a:t>
              </a:r>
              <a:r>
                <a:rPr lang="zh-CN" altLang="en-US" sz="2600" b="1" dirty="0" smtClean="0">
                  <a:solidFill>
                    <a:srgbClr val="000000"/>
                  </a:solidFill>
                  <a:latin typeface="Times New Roman" panose="02020603050405020304" pitchFamily="18" charset="0"/>
                  <a:ea typeface="楷体_GB2312" pitchFamily="49" charset="-122"/>
                </a:rPr>
                <a:t>∆</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U</a:t>
              </a:r>
              <a:r>
                <a:rPr kumimoji="1" lang="en-US" altLang="zh-CN" sz="2200" b="1" i="1" dirty="0" smtClean="0">
                  <a:solidFill>
                    <a:srgbClr val="0066FF"/>
                  </a:solidFill>
                  <a:latin typeface="Times New Roman" panose="02020603050405020304" pitchFamily="18" charset="0"/>
                  <a:ea typeface="楷体_GB2312" pitchFamily="49" charset="-122"/>
                  <a:sym typeface="Symbol" panose="05050102010706020507" pitchFamily="18" charset="2"/>
                </a:rPr>
                <a:t>——</a:t>
              </a:r>
              <a:r>
                <a:rPr kumimoji="1" lang="zh-CN" altLang="en-US" sz="2200" b="1" i="1" dirty="0" smtClean="0">
                  <a:solidFill>
                    <a:srgbClr val="0066FF"/>
                  </a:solidFill>
                  <a:latin typeface="Times New Roman" panose="02020603050405020304" pitchFamily="18" charset="0"/>
                  <a:ea typeface="楷体_GB2312" pitchFamily="49" charset="-122"/>
                  <a:sym typeface="Symbol" panose="05050102010706020507" pitchFamily="18" charset="2"/>
                </a:rPr>
                <a:t>可以不用热力学标态符号来表示</a:t>
              </a:r>
              <a:endParaRPr kumimoji="1" lang="zh-CN" altLang="en-US" sz="2200" b="1" i="1" dirty="0" smtClean="0">
                <a:solidFill>
                  <a:srgbClr val="0066FF"/>
                </a:solidFill>
                <a:latin typeface="Times New Roman" panose="02020603050405020304" pitchFamily="18" charset="0"/>
                <a:ea typeface="楷体_GB2312" pitchFamily="49" charset="-122"/>
              </a:endParaRPr>
            </a:p>
          </p:txBody>
        </p:sp>
      </p:grpSp>
      <p:grpSp>
        <p:nvGrpSpPr>
          <p:cNvPr id="3" name="组合 6"/>
          <p:cNvGrpSpPr/>
          <p:nvPr/>
        </p:nvGrpSpPr>
        <p:grpSpPr bwMode="auto">
          <a:xfrm>
            <a:off x="76200" y="2209800"/>
            <a:ext cx="8763000" cy="2972385"/>
            <a:chOff x="76200" y="2209800"/>
            <a:chExt cx="8763000" cy="2972603"/>
          </a:xfrm>
        </p:grpSpPr>
        <p:sp>
          <p:nvSpPr>
            <p:cNvPr id="62468" name="矩形 10"/>
            <p:cNvSpPr>
              <a:spLocks noChangeArrowheads="1"/>
            </p:cNvSpPr>
            <p:nvPr/>
          </p:nvSpPr>
          <p:spPr bwMode="auto">
            <a:xfrm>
              <a:off x="304800" y="2895600"/>
              <a:ext cx="8534400" cy="228680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500"/>
                </a:lnSpc>
                <a:spcBef>
                  <a:spcPct val="50000"/>
                </a:spcBef>
                <a:spcAft>
                  <a:spcPct val="0"/>
                </a:spcAft>
              </a:pPr>
              <a:r>
                <a:rPr kumimoji="1" lang="pt-BR" altLang="zh-CN" sz="2600" b="1" smtClean="0">
                  <a:solidFill>
                    <a:srgbClr val="000000"/>
                  </a:solidFill>
                  <a:latin typeface="Times New Roman" panose="02020603050405020304" pitchFamily="18" charset="0"/>
                  <a:ea typeface="楷体_GB2312" pitchFamily="49" charset="-122"/>
                </a:rPr>
                <a:t>        1</a:t>
              </a:r>
              <a:r>
                <a:rPr kumimoji="1" lang="zh-CN" altLang="pt-BR" sz="2600" b="1" smtClean="0">
                  <a:solidFill>
                    <a:srgbClr val="000000"/>
                  </a:solidFill>
                  <a:latin typeface="Times New Roman" panose="02020603050405020304" pitchFamily="18" charset="0"/>
                  <a:ea typeface="楷体_GB2312" pitchFamily="49" charset="-122"/>
                </a:rPr>
                <a:t>、</a:t>
              </a:r>
              <a:r>
                <a:rPr kumimoji="1" lang="zh-CN" altLang="en-US" sz="2600" b="1" smtClean="0">
                  <a:solidFill>
                    <a:srgbClr val="000000"/>
                  </a:solidFill>
                  <a:latin typeface="Times New Roman" panose="02020603050405020304" pitchFamily="18" charset="0"/>
                  <a:ea typeface="楷体_GB2312" pitchFamily="49" charset="-122"/>
                </a:rPr>
                <a:t>在常温常压下，反应</a:t>
              </a:r>
              <a:r>
                <a:rPr kumimoji="1" lang="pt-BR" altLang="zh-CN" sz="2600" b="1" smtClean="0">
                  <a:solidFill>
                    <a:srgbClr val="000000"/>
                  </a:solidFill>
                  <a:latin typeface="Times New Roman" panose="02020603050405020304" pitchFamily="18" charset="0"/>
                  <a:ea typeface="楷体_GB2312" pitchFamily="49" charset="-122"/>
                </a:rPr>
                <a:t>H</a:t>
              </a:r>
              <a:r>
                <a:rPr kumimoji="1" lang="pt-BR" altLang="zh-CN" sz="2600" b="1" baseline="-25000" smtClean="0">
                  <a:solidFill>
                    <a:srgbClr val="000000"/>
                  </a:solidFill>
                  <a:latin typeface="Times New Roman" panose="02020603050405020304" pitchFamily="18" charset="0"/>
                  <a:ea typeface="楷体_GB2312" pitchFamily="49" charset="-122"/>
                </a:rPr>
                <a:t>2</a:t>
              </a:r>
              <a:r>
                <a:rPr kumimoji="1" lang="pt-BR" altLang="zh-CN" sz="2600" b="1" smtClean="0">
                  <a:solidFill>
                    <a:srgbClr val="000000"/>
                  </a:solidFill>
                  <a:latin typeface="Times New Roman" panose="02020603050405020304" pitchFamily="18" charset="0"/>
                  <a:ea typeface="楷体_GB2312" pitchFamily="49" charset="-122"/>
                </a:rPr>
                <a:t>(g) + 1</a:t>
              </a:r>
              <a:r>
                <a:rPr kumimoji="1" lang="en-US" altLang="zh-CN" sz="2600" b="1" smtClean="0">
                  <a:solidFill>
                    <a:srgbClr val="000000"/>
                  </a:solidFill>
                  <a:latin typeface="Times New Roman" panose="02020603050405020304" pitchFamily="18" charset="0"/>
                  <a:ea typeface="楷体_GB2312" pitchFamily="49" charset="-122"/>
                </a:rPr>
                <a:t>/2</a:t>
              </a:r>
              <a:r>
                <a:rPr kumimoji="1" lang="pt-BR" altLang="zh-CN" sz="2600" b="1" smtClean="0">
                  <a:solidFill>
                    <a:srgbClr val="000000"/>
                  </a:solidFill>
                  <a:latin typeface="Times New Roman" panose="02020603050405020304" pitchFamily="18" charset="0"/>
                  <a:ea typeface="楷体_GB2312" pitchFamily="49" charset="-122"/>
                </a:rPr>
                <a:t>O</a:t>
              </a:r>
              <a:r>
                <a:rPr kumimoji="1" lang="pt-BR" altLang="zh-CN" sz="2600" b="1" baseline="-25000" smtClean="0">
                  <a:solidFill>
                    <a:srgbClr val="000000"/>
                  </a:solidFill>
                  <a:latin typeface="Times New Roman" panose="02020603050405020304" pitchFamily="18" charset="0"/>
                  <a:ea typeface="楷体_GB2312" pitchFamily="49" charset="-122"/>
                </a:rPr>
                <a:t>2</a:t>
              </a:r>
              <a:r>
                <a:rPr kumimoji="1" lang="pt-BR" altLang="zh-CN" sz="2600" b="1" smtClean="0">
                  <a:solidFill>
                    <a:srgbClr val="000000"/>
                  </a:solidFill>
                  <a:latin typeface="Times New Roman" panose="02020603050405020304" pitchFamily="18" charset="0"/>
                  <a:ea typeface="楷体_GB2312" pitchFamily="49" charset="-122"/>
                </a:rPr>
                <a:t>(g) →H</a:t>
              </a:r>
              <a:r>
                <a:rPr kumimoji="1" lang="pt-BR" altLang="zh-CN" sz="2600" b="1" baseline="-25000" smtClean="0">
                  <a:solidFill>
                    <a:srgbClr val="000000"/>
                  </a:solidFill>
                  <a:latin typeface="Times New Roman" panose="02020603050405020304" pitchFamily="18" charset="0"/>
                  <a:ea typeface="楷体_GB2312" pitchFamily="49" charset="-122"/>
                </a:rPr>
                <a:t>2</a:t>
              </a:r>
              <a:r>
                <a:rPr kumimoji="1" lang="pt-BR" altLang="zh-CN" sz="2600" b="1" smtClean="0">
                  <a:solidFill>
                    <a:srgbClr val="000000"/>
                  </a:solidFill>
                  <a:latin typeface="Times New Roman" panose="02020603050405020304" pitchFamily="18" charset="0"/>
                  <a:ea typeface="楷体_GB2312" pitchFamily="49" charset="-122"/>
                </a:rPr>
                <a:t>O(l) </a:t>
              </a:r>
              <a:r>
                <a:rPr kumimoji="1" lang="zh-CN" altLang="pt-BR" sz="2600" b="1" smtClean="0">
                  <a:solidFill>
                    <a:srgbClr val="000000"/>
                  </a:solidFill>
                  <a:latin typeface="Times New Roman" panose="02020603050405020304" pitchFamily="18" charset="0"/>
                  <a:ea typeface="楷体_GB2312" pitchFamily="49" charset="-122"/>
                </a:rPr>
                <a:t>的</a:t>
              </a:r>
              <a:r>
                <a:rPr kumimoji="1" lang="pt-BR" altLang="zh-CN" sz="2600" b="1" smtClean="0">
                  <a:solidFill>
                    <a:srgbClr val="000000"/>
                  </a:solidFill>
                  <a:latin typeface="Times New Roman" panose="02020603050405020304" pitchFamily="18" charset="0"/>
                  <a:ea typeface="楷体_GB2312" pitchFamily="49" charset="-122"/>
                </a:rPr>
                <a:t>Q</a:t>
              </a:r>
              <a:r>
                <a:rPr kumimoji="1" lang="en-US" altLang="zh-CN" sz="2600" b="1" baseline="-25000" smtClean="0">
                  <a:solidFill>
                    <a:srgbClr val="000000"/>
                  </a:solidFill>
                  <a:latin typeface="Times New Roman" panose="02020603050405020304" pitchFamily="18" charset="0"/>
                  <a:ea typeface="楷体_GB2312" pitchFamily="49" charset="-122"/>
                </a:rPr>
                <a:t>p</a:t>
              </a:r>
              <a:r>
                <a:rPr kumimoji="1" lang="zh-CN" altLang="pt-BR" sz="2600" b="1" smtClean="0">
                  <a:solidFill>
                    <a:srgbClr val="000000"/>
                  </a:solidFill>
                  <a:latin typeface="Times New Roman" panose="02020603050405020304" pitchFamily="18" charset="0"/>
                  <a:ea typeface="楷体_GB2312" pitchFamily="49" charset="-122"/>
                </a:rPr>
                <a:t>与</a:t>
              </a:r>
              <a:r>
                <a:rPr kumimoji="1" lang="pt-BR" altLang="zh-CN" sz="2600" b="1" smtClean="0">
                  <a:solidFill>
                    <a:srgbClr val="000000"/>
                  </a:solidFill>
                  <a:latin typeface="Times New Roman" panose="02020603050405020304" pitchFamily="18" charset="0"/>
                  <a:ea typeface="楷体_GB2312" pitchFamily="49" charset="-122"/>
                </a:rPr>
                <a:t>Q</a:t>
              </a:r>
              <a:r>
                <a:rPr kumimoji="1" lang="pt-BR" altLang="zh-CN" sz="2600" b="1" baseline="-25000" smtClean="0">
                  <a:solidFill>
                    <a:srgbClr val="000000"/>
                  </a:solidFill>
                  <a:latin typeface="Times New Roman" panose="02020603050405020304" pitchFamily="18" charset="0"/>
                  <a:ea typeface="楷体_GB2312" pitchFamily="49" charset="-122"/>
                </a:rPr>
                <a:t>v</a:t>
              </a:r>
              <a:r>
                <a:rPr kumimoji="1" lang="zh-CN" altLang="pt-BR" sz="2600" b="1" smtClean="0">
                  <a:solidFill>
                    <a:srgbClr val="000000"/>
                  </a:solidFill>
                  <a:latin typeface="Times New Roman" panose="02020603050405020304" pitchFamily="18" charset="0"/>
                  <a:ea typeface="楷体_GB2312" pitchFamily="49" charset="-122"/>
                </a:rPr>
                <a:t>之差</a:t>
              </a:r>
              <a:r>
                <a:rPr kumimoji="1" lang="pt-BR" altLang="zh-CN" sz="2600" b="1" smtClean="0">
                  <a:solidFill>
                    <a:srgbClr val="000000"/>
                  </a:solidFill>
                  <a:latin typeface="Times New Roman" panose="02020603050405020304" pitchFamily="18" charset="0"/>
                  <a:ea typeface="楷体_GB2312" pitchFamily="49" charset="-122"/>
                </a:rPr>
                <a:t>(kJ)</a:t>
              </a:r>
              <a:r>
                <a:rPr kumimoji="1" lang="zh-CN" altLang="pt-BR" sz="2600" b="1" smtClean="0">
                  <a:solidFill>
                    <a:srgbClr val="000000"/>
                  </a:solidFill>
                  <a:latin typeface="Times New Roman" panose="02020603050405020304" pitchFamily="18" charset="0"/>
                  <a:ea typeface="楷体_GB2312" pitchFamily="49" charset="-122"/>
                </a:rPr>
                <a:t>是：          </a:t>
              </a:r>
            </a:p>
            <a:p>
              <a:pPr eaLnBrk="0" fontAlgn="base" hangingPunct="0">
                <a:lnSpc>
                  <a:spcPts val="3500"/>
                </a:lnSpc>
                <a:spcBef>
                  <a:spcPct val="50000"/>
                </a:spcBef>
                <a:spcAft>
                  <a:spcPct val="0"/>
                </a:spcAft>
              </a:pPr>
              <a:r>
                <a:rPr kumimoji="1" lang="zh-CN" altLang="pt-BR" sz="2600" b="1" smtClean="0">
                  <a:solidFill>
                    <a:srgbClr val="000000"/>
                  </a:solidFill>
                  <a:latin typeface="Times New Roman" panose="02020603050405020304" pitchFamily="18" charset="0"/>
                  <a:ea typeface="楷体_GB2312" pitchFamily="49" charset="-122"/>
                </a:rPr>
                <a:t>           </a:t>
              </a:r>
              <a:r>
                <a:rPr kumimoji="1" lang="pt-BR" altLang="zh-CN" sz="2600" b="1" smtClean="0">
                  <a:solidFill>
                    <a:srgbClr val="000000"/>
                  </a:solidFill>
                  <a:latin typeface="Times New Roman" panose="02020603050405020304" pitchFamily="18" charset="0"/>
                  <a:ea typeface="楷体_GB2312" pitchFamily="49" charset="-122"/>
                </a:rPr>
                <a:t>(A) -3.7       (B) 3.7      (C) 1.2        (D) -1.2 </a:t>
              </a:r>
            </a:p>
            <a:p>
              <a:pPr eaLnBrk="0" fontAlgn="base" hangingPunct="0">
                <a:lnSpc>
                  <a:spcPts val="3500"/>
                </a:lnSpc>
                <a:spcBef>
                  <a:spcPct val="50000"/>
                </a:spcBef>
                <a:spcAft>
                  <a:spcPct val="0"/>
                </a:spcAft>
              </a:pPr>
              <a:r>
                <a:rPr kumimoji="1" lang="zh-CN" altLang="en-US" sz="2600" b="1" smtClean="0">
                  <a:solidFill>
                    <a:srgbClr val="000000"/>
                  </a:solidFill>
                  <a:latin typeface="Times New Roman" panose="02020603050405020304" pitchFamily="18" charset="0"/>
                  <a:ea typeface="楷体_GB2312" pitchFamily="49" charset="-122"/>
                </a:rPr>
                <a:t>注：若反应前后气体的分子数相等，</a:t>
              </a:r>
              <a:r>
                <a:rPr kumimoji="1" lang="pt-BR" altLang="zh-CN" sz="2600" b="1" smtClean="0">
                  <a:solidFill>
                    <a:srgbClr val="000000"/>
                  </a:solidFill>
                  <a:latin typeface="Times New Roman" panose="02020603050405020304" pitchFamily="18" charset="0"/>
                  <a:ea typeface="楷体_GB2312" pitchFamily="49" charset="-122"/>
                </a:rPr>
                <a:t>Q</a:t>
              </a:r>
              <a:r>
                <a:rPr kumimoji="1" lang="en-US" altLang="zh-CN" sz="2600" b="1" baseline="-25000" smtClean="0">
                  <a:solidFill>
                    <a:srgbClr val="000000"/>
                  </a:solidFill>
                  <a:latin typeface="Times New Roman" panose="02020603050405020304" pitchFamily="18" charset="0"/>
                  <a:ea typeface="楷体_GB2312" pitchFamily="49" charset="-122"/>
                </a:rPr>
                <a:t>p</a:t>
              </a:r>
              <a:r>
                <a:rPr kumimoji="1" lang="zh-CN" altLang="pt-BR" sz="2600" b="1" smtClean="0">
                  <a:solidFill>
                    <a:srgbClr val="000000"/>
                  </a:solidFill>
                  <a:latin typeface="Times New Roman" panose="02020603050405020304" pitchFamily="18" charset="0"/>
                  <a:ea typeface="楷体_GB2312" pitchFamily="49" charset="-122"/>
                </a:rPr>
                <a:t>与</a:t>
              </a:r>
              <a:r>
                <a:rPr kumimoji="1" lang="pt-BR" altLang="zh-CN" sz="2600" b="1" smtClean="0">
                  <a:solidFill>
                    <a:srgbClr val="000000"/>
                  </a:solidFill>
                  <a:latin typeface="Times New Roman" panose="02020603050405020304" pitchFamily="18" charset="0"/>
                  <a:ea typeface="楷体_GB2312" pitchFamily="49" charset="-122"/>
                </a:rPr>
                <a:t>Q</a:t>
              </a:r>
              <a:r>
                <a:rPr kumimoji="1" lang="pt-BR" altLang="zh-CN" sz="2600" b="1" baseline="-25000" smtClean="0">
                  <a:solidFill>
                    <a:srgbClr val="000000"/>
                  </a:solidFill>
                  <a:latin typeface="Times New Roman" panose="02020603050405020304" pitchFamily="18" charset="0"/>
                  <a:ea typeface="楷体_GB2312" pitchFamily="49" charset="-122"/>
                </a:rPr>
                <a:t>v</a:t>
              </a:r>
              <a:r>
                <a:rPr kumimoji="1" lang="zh-CN" altLang="pt-BR" sz="2600" b="1" smtClean="0">
                  <a:solidFill>
                    <a:srgbClr val="000000"/>
                  </a:solidFill>
                  <a:latin typeface="Times New Roman" panose="02020603050405020304" pitchFamily="18" charset="0"/>
                  <a:ea typeface="楷体_GB2312" pitchFamily="49" charset="-122"/>
                </a:rPr>
                <a:t>之差</a:t>
              </a:r>
              <a:r>
                <a:rPr kumimoji="1" lang="en-US" altLang="zh-CN" sz="2600" b="1" smtClean="0">
                  <a:solidFill>
                    <a:srgbClr val="000000"/>
                  </a:solidFill>
                  <a:latin typeface="Times New Roman" panose="02020603050405020304" pitchFamily="18" charset="0"/>
                  <a:ea typeface="楷体_GB2312" pitchFamily="49" charset="-122"/>
                </a:rPr>
                <a:t>=?</a:t>
              </a:r>
              <a:endParaRPr kumimoji="1" lang="pt-BR" altLang="zh-CN" sz="2600" b="1" smtClean="0">
                <a:solidFill>
                  <a:srgbClr val="000000"/>
                </a:solidFill>
                <a:latin typeface="Times New Roman" panose="02020603050405020304" pitchFamily="18" charset="0"/>
                <a:ea typeface="楷体_GB2312" pitchFamily="49" charset="-122"/>
              </a:endParaRPr>
            </a:p>
          </p:txBody>
        </p:sp>
        <p:sp>
          <p:nvSpPr>
            <p:cNvPr id="62469" name="Rectangle 28"/>
            <p:cNvSpPr>
              <a:spLocks noChangeArrowheads="1"/>
            </p:cNvSpPr>
            <p:nvPr/>
          </p:nvSpPr>
          <p:spPr bwMode="auto">
            <a:xfrm>
              <a:off x="76200" y="2209800"/>
              <a:ext cx="1981200" cy="488950"/>
            </a:xfrm>
            <a:prstGeom prst="rect">
              <a:avLst/>
            </a:prstGeom>
            <a:solidFill>
              <a:srgbClr val="99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spcBef>
                  <a:spcPct val="0"/>
                </a:spcBef>
                <a:spcAft>
                  <a:spcPct val="0"/>
                </a:spcAft>
              </a:pPr>
              <a:r>
                <a:rPr lang="en-US" altLang="zh-CN" sz="2600" b="1" smtClean="0">
                  <a:solidFill>
                    <a:srgbClr val="990000"/>
                  </a:solidFill>
                  <a:latin typeface="Times New Roman" panose="02020603050405020304" pitchFamily="18" charset="0"/>
                </a:rPr>
                <a:t>Example 2</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8"/>
          <p:cNvSpPr>
            <a:spLocks noChangeArrowheads="1"/>
          </p:cNvSpPr>
          <p:nvPr/>
        </p:nvSpPr>
        <p:spPr bwMode="auto">
          <a:xfrm>
            <a:off x="107504" y="44624"/>
            <a:ext cx="1695450" cy="492125"/>
          </a:xfrm>
          <a:prstGeom prst="rect">
            <a:avLst/>
          </a:prstGeom>
          <a:solidFill>
            <a:srgbClr val="99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fontAlgn="base">
              <a:spcBef>
                <a:spcPct val="0"/>
              </a:spcBef>
              <a:spcAft>
                <a:spcPct val="0"/>
              </a:spcAft>
            </a:pPr>
            <a:r>
              <a:rPr lang="en-US" altLang="zh-CN" sz="2600" b="1" dirty="0" smtClean="0">
                <a:solidFill>
                  <a:srgbClr val="990000"/>
                </a:solidFill>
                <a:latin typeface="Times New Roman" panose="02020603050405020304" pitchFamily="18" charset="0"/>
              </a:rPr>
              <a:t>Example 1</a:t>
            </a:r>
          </a:p>
        </p:txBody>
      </p:sp>
      <p:sp>
        <p:nvSpPr>
          <p:cNvPr id="5" name="矩形 4"/>
          <p:cNvSpPr/>
          <p:nvPr/>
        </p:nvSpPr>
        <p:spPr>
          <a:xfrm>
            <a:off x="395536" y="620688"/>
            <a:ext cx="8568952" cy="492443"/>
          </a:xfrm>
          <a:prstGeom prst="rect">
            <a:avLst/>
          </a:prstGeom>
        </p:spPr>
        <p:txBody>
          <a:bodyPr wrap="square">
            <a:spAutoFit/>
          </a:bodyPr>
          <a:lstStyle/>
          <a:p>
            <a:pPr fontAlgn="base">
              <a:spcBef>
                <a:spcPct val="0"/>
              </a:spcBef>
              <a:spcAft>
                <a:spcPct val="0"/>
              </a:spcAft>
            </a:pPr>
            <a:r>
              <a:rPr kumimoji="1" lang="en-US" altLang="en-US" sz="2600" b="1" i="1" dirty="0" smtClean="0">
                <a:solidFill>
                  <a:srgbClr val="000000"/>
                </a:solidFill>
                <a:latin typeface="Times New Roman" panose="02020603050405020304" pitchFamily="18" charset="0"/>
              </a:rPr>
              <a:t>H</a:t>
            </a:r>
            <a:r>
              <a:rPr kumimoji="1" lang="en-US" altLang="en-US" sz="2600" b="1" i="1" baseline="-25000" dirty="0" smtClean="0">
                <a:solidFill>
                  <a:srgbClr val="000000"/>
                </a:solidFill>
                <a:latin typeface="Times New Roman" panose="02020603050405020304" pitchFamily="18" charset="0"/>
              </a:rPr>
              <a:t>2</a:t>
            </a:r>
            <a:r>
              <a:rPr kumimoji="1" lang="en-US" altLang="en-US" sz="2600" b="1" i="1" dirty="0" smtClean="0">
                <a:solidFill>
                  <a:srgbClr val="000000"/>
                </a:solidFill>
                <a:latin typeface="Times New Roman" panose="02020603050405020304" pitchFamily="18" charset="0"/>
              </a:rPr>
              <a:t>(g)</a:t>
            </a:r>
            <a:r>
              <a:rPr kumimoji="1" lang="en-US" altLang="zh-CN" sz="2600" b="1" i="1" dirty="0" smtClean="0">
                <a:solidFill>
                  <a:srgbClr val="000000"/>
                </a:solidFill>
                <a:latin typeface="Times New Roman" panose="02020603050405020304" pitchFamily="18" charset="0"/>
              </a:rPr>
              <a:t> </a:t>
            </a:r>
            <a:r>
              <a:rPr kumimoji="1" lang="en-US" altLang="en-US" sz="2600" b="1" i="1" dirty="0" smtClean="0">
                <a:solidFill>
                  <a:srgbClr val="000000"/>
                </a:solidFill>
                <a:latin typeface="Times New Roman" panose="02020603050405020304" pitchFamily="18" charset="0"/>
              </a:rPr>
              <a:t>+</a:t>
            </a:r>
            <a:r>
              <a:rPr kumimoji="1" lang="en-US" altLang="zh-CN" sz="2600" b="1" i="1" dirty="0" smtClean="0">
                <a:solidFill>
                  <a:srgbClr val="000000"/>
                </a:solidFill>
                <a:latin typeface="Times New Roman" panose="02020603050405020304" pitchFamily="18" charset="0"/>
              </a:rPr>
              <a:t> 1/2 O</a:t>
            </a:r>
            <a:r>
              <a:rPr kumimoji="1" lang="en-US" altLang="zh-CN" sz="2600" b="1" i="1" baseline="-25000" dirty="0" smtClean="0">
                <a:solidFill>
                  <a:srgbClr val="000000"/>
                </a:solidFill>
                <a:latin typeface="Times New Roman" panose="02020603050405020304" pitchFamily="18" charset="0"/>
              </a:rPr>
              <a:t>2</a:t>
            </a:r>
            <a:r>
              <a:rPr kumimoji="1" lang="en-US" altLang="zh-CN" sz="2600" b="1" i="1" dirty="0" smtClean="0">
                <a:solidFill>
                  <a:srgbClr val="000000"/>
                </a:solidFill>
                <a:latin typeface="Times New Roman" panose="02020603050405020304" pitchFamily="18" charset="0"/>
              </a:rPr>
              <a:t>(g</a:t>
            </a:r>
            <a:r>
              <a:rPr kumimoji="1" lang="en-US" altLang="en-US" sz="2600" b="1" i="1" dirty="0" smtClean="0">
                <a:solidFill>
                  <a:srgbClr val="000000"/>
                </a:solidFill>
                <a:latin typeface="Times New Roman" panose="02020603050405020304" pitchFamily="18" charset="0"/>
              </a:rPr>
              <a:t>)</a:t>
            </a:r>
            <a:r>
              <a:rPr kumimoji="1" lang="en-US" altLang="zh-CN" sz="2600" b="1" i="1" dirty="0" smtClean="0">
                <a:solidFill>
                  <a:srgbClr val="000000"/>
                </a:solidFill>
                <a:latin typeface="Times New Roman" panose="02020603050405020304" pitchFamily="18" charset="0"/>
              </a:rPr>
              <a:t> </a:t>
            </a:r>
            <a:r>
              <a:rPr kumimoji="1" lang="en-US" altLang="en-US" sz="2600" b="1" i="1" dirty="0" smtClean="0">
                <a:solidFill>
                  <a:srgbClr val="000000"/>
                </a:solidFill>
                <a:latin typeface="Times New Roman" panose="02020603050405020304" pitchFamily="18" charset="0"/>
                <a:sym typeface="Symbol" panose="05050102010706020507" pitchFamily="18" charset="2"/>
              </a:rPr>
              <a:t>→</a:t>
            </a:r>
            <a:r>
              <a:rPr kumimoji="1" lang="en-US" altLang="zh-CN" sz="2600" b="1" i="1" dirty="0" smtClean="0">
                <a:solidFill>
                  <a:srgbClr val="000000"/>
                </a:solidFill>
                <a:latin typeface="Times New Roman" panose="02020603050405020304" pitchFamily="18" charset="0"/>
                <a:sym typeface="Symbol" panose="05050102010706020507" pitchFamily="18" charset="2"/>
              </a:rPr>
              <a:t> </a:t>
            </a:r>
            <a:r>
              <a:rPr kumimoji="1" lang="en-US" altLang="en-US" sz="2600" b="1" i="1" dirty="0" smtClean="0">
                <a:solidFill>
                  <a:srgbClr val="000000"/>
                </a:solidFill>
                <a:latin typeface="Times New Roman" panose="02020603050405020304" pitchFamily="18" charset="0"/>
                <a:sym typeface="Symbol" panose="05050102010706020507" pitchFamily="18" charset="2"/>
              </a:rPr>
              <a:t>H</a:t>
            </a:r>
            <a:r>
              <a:rPr kumimoji="1" lang="en-US" altLang="en-US" sz="2600" b="1" i="1" baseline="-25000" dirty="0" smtClean="0">
                <a:solidFill>
                  <a:srgbClr val="000000"/>
                </a:solidFill>
                <a:latin typeface="Times New Roman" panose="02020603050405020304" pitchFamily="18" charset="0"/>
                <a:sym typeface="Symbol" panose="05050102010706020507" pitchFamily="18" charset="2"/>
              </a:rPr>
              <a:t>2</a:t>
            </a:r>
            <a:r>
              <a:rPr kumimoji="1" lang="en-US" altLang="en-US" sz="2600" b="1" i="1" dirty="0" smtClean="0">
                <a:solidFill>
                  <a:srgbClr val="000000"/>
                </a:solidFill>
                <a:latin typeface="Times New Roman" panose="02020603050405020304" pitchFamily="18" charset="0"/>
                <a:sym typeface="Symbol" panose="05050102010706020507" pitchFamily="18" charset="2"/>
              </a:rPr>
              <a:t>O(</a:t>
            </a:r>
            <a:r>
              <a:rPr kumimoji="1" lang="en-US" altLang="zh-CN" sz="2600" b="1" i="1" dirty="0" smtClean="0">
                <a:solidFill>
                  <a:srgbClr val="000000"/>
                </a:solidFill>
                <a:latin typeface="Times New Roman" panose="02020603050405020304" pitchFamily="18" charset="0"/>
                <a:sym typeface="Symbol" panose="05050102010706020507" pitchFamily="18" charset="2"/>
              </a:rPr>
              <a:t>g</a:t>
            </a:r>
            <a:r>
              <a:rPr kumimoji="1" lang="en-US" altLang="en-US" sz="2600" b="1" i="1" dirty="0" smtClean="0">
                <a:solidFill>
                  <a:srgbClr val="000000"/>
                </a:solidFill>
                <a:latin typeface="Times New Roman" panose="02020603050405020304" pitchFamily="18" charset="0"/>
                <a:sym typeface="Symbol" panose="05050102010706020507" pitchFamily="18" charset="2"/>
              </a:rPr>
              <a:t>)</a:t>
            </a:r>
            <a:r>
              <a:rPr kumimoji="1" lang="zh-CN" altLang="en-US" sz="2600" b="1" i="1" dirty="0" smtClean="0">
                <a:solidFill>
                  <a:srgbClr val="000000"/>
                </a:solidFill>
                <a:latin typeface="Times New Roman" panose="02020603050405020304" pitchFamily="18" charset="0"/>
                <a:sym typeface="Symbol" panose="05050102010706020507" pitchFamily="18" charset="2"/>
              </a:rPr>
              <a:t>；  </a:t>
            </a:r>
            <a:r>
              <a:rPr lang="zh-CN" altLang="en-US" sz="2600" b="1" i="1" dirty="0" smtClean="0">
                <a:solidFill>
                  <a:srgbClr val="000000"/>
                </a:solidFill>
                <a:latin typeface="Times New Roman" panose="02020603050405020304" pitchFamily="18" charset="0"/>
                <a:ea typeface="楷体_GB2312" pitchFamily="49" charset="-122"/>
              </a:rPr>
              <a:t>∆</a:t>
            </a:r>
            <a:r>
              <a:rPr lang="en-US" altLang="zh-CN" sz="2600" b="1" i="1" baseline="-25000" dirty="0" err="1" smtClean="0">
                <a:solidFill>
                  <a:srgbClr val="000000"/>
                </a:solidFill>
                <a:latin typeface="Times New Roman" panose="02020603050405020304" pitchFamily="18" charset="0"/>
                <a:ea typeface="楷体_GB2312" pitchFamily="49" charset="-122"/>
              </a:rPr>
              <a:t>r</a:t>
            </a:r>
            <a:r>
              <a:rPr lang="en-US" altLang="zh-CN" sz="2600" b="1" i="1" dirty="0" err="1" smtClean="0">
                <a:solidFill>
                  <a:srgbClr val="000000"/>
                </a:solidFill>
                <a:latin typeface="Times New Roman" panose="02020603050405020304" pitchFamily="18" charset="0"/>
                <a:ea typeface="楷体_GB2312" pitchFamily="49" charset="-122"/>
              </a:rPr>
              <a:t>H</a:t>
            </a:r>
            <a:r>
              <a:rPr kumimoji="1" lang="en-US" altLang="zh-CN" sz="2600" b="1" i="1" baseline="-25000" dirty="0" err="1" smtClean="0">
                <a:solidFill>
                  <a:srgbClr val="000000"/>
                </a:solidFill>
                <a:latin typeface="Times New Roman" panose="02020603050405020304" pitchFamily="18" charset="0"/>
                <a:ea typeface="楷体_GB2312" pitchFamily="49" charset="-122"/>
                <a:sym typeface="Symbol" panose="05050102010706020507" pitchFamily="18" charset="2"/>
              </a:rPr>
              <a:t>m</a:t>
            </a:r>
            <a:r>
              <a:rPr kumimoji="1" lang="el-GR" altLang="zh-CN" sz="2600" b="1" i="1" baseline="30000" dirty="0" smtClean="0">
                <a:solidFill>
                  <a:srgbClr val="000000"/>
                </a:solidFill>
                <a:latin typeface="楷体_GB2312" pitchFamily="49" charset="-122"/>
                <a:ea typeface="楷体_GB2312" pitchFamily="49" charset="-122"/>
                <a:sym typeface="Symbol" panose="05050102010706020507" pitchFamily="18" charset="2"/>
              </a:rPr>
              <a:t>Θ</a:t>
            </a:r>
            <a:r>
              <a:rPr kumimoji="1" lang="en-US" altLang="en-US" sz="2600" b="1" i="1" dirty="0" smtClean="0">
                <a:solidFill>
                  <a:srgbClr val="000000"/>
                </a:solidFill>
                <a:latin typeface="Times New Roman" panose="02020603050405020304" pitchFamily="18" charset="0"/>
                <a:sym typeface="Symbol" panose="05050102010706020507" pitchFamily="18" charset="2"/>
              </a:rPr>
              <a:t>=</a:t>
            </a:r>
            <a:r>
              <a:rPr kumimoji="1" lang="en-US" altLang="zh-CN" sz="2600" b="1" i="1" dirty="0" smtClean="0">
                <a:solidFill>
                  <a:srgbClr val="000000"/>
                </a:solidFill>
                <a:latin typeface="Times New Roman" panose="02020603050405020304" pitchFamily="18" charset="0"/>
                <a:sym typeface="Symbol" panose="05050102010706020507" pitchFamily="18" charset="2"/>
              </a:rPr>
              <a:t> </a:t>
            </a:r>
            <a:r>
              <a:rPr kumimoji="1" lang="en-US" altLang="en-US" sz="2600" b="1" i="1" dirty="0" smtClean="0">
                <a:solidFill>
                  <a:srgbClr val="000000"/>
                </a:solidFill>
                <a:latin typeface="Times New Roman" panose="02020603050405020304" pitchFamily="18" charset="0"/>
                <a:sym typeface="Symbol" panose="05050102010706020507" pitchFamily="18" charset="2"/>
              </a:rPr>
              <a:t>-</a:t>
            </a:r>
            <a:r>
              <a:rPr kumimoji="1" lang="en-US" altLang="zh-CN" sz="2600" b="1" i="1" dirty="0" smtClean="0">
                <a:solidFill>
                  <a:srgbClr val="000000"/>
                </a:solidFill>
                <a:latin typeface="Times New Roman" panose="02020603050405020304" pitchFamily="18" charset="0"/>
                <a:sym typeface="Symbol" panose="05050102010706020507" pitchFamily="18" charset="2"/>
              </a:rPr>
              <a:t>241.818 </a:t>
            </a:r>
            <a:r>
              <a:rPr kumimoji="1" lang="en-US" altLang="en-US" sz="2600" b="1" i="1" dirty="0" smtClean="0">
                <a:solidFill>
                  <a:srgbClr val="000000"/>
                </a:solidFill>
                <a:latin typeface="Times New Roman" panose="02020603050405020304" pitchFamily="18" charset="0"/>
                <a:sym typeface="Symbol" panose="05050102010706020507" pitchFamily="18" charset="2"/>
              </a:rPr>
              <a:t>kJ·mol</a:t>
            </a:r>
            <a:r>
              <a:rPr kumimoji="1" lang="en-US" altLang="zh-CN" sz="2600" b="1" i="1" baseline="30000" dirty="0" smtClean="0">
                <a:solidFill>
                  <a:srgbClr val="000000"/>
                </a:solidFill>
                <a:latin typeface="Times New Roman" panose="02020603050405020304" pitchFamily="18" charset="0"/>
                <a:sym typeface="Symbol" panose="05050102010706020507" pitchFamily="18" charset="2"/>
              </a:rPr>
              <a:t>-1</a:t>
            </a:r>
          </a:p>
        </p:txBody>
      </p:sp>
      <p:sp>
        <p:nvSpPr>
          <p:cNvPr id="6" name="矩形 5"/>
          <p:cNvSpPr/>
          <p:nvPr/>
        </p:nvSpPr>
        <p:spPr>
          <a:xfrm>
            <a:off x="323528" y="2636912"/>
            <a:ext cx="8568952" cy="491490"/>
          </a:xfrm>
          <a:prstGeom prst="rect">
            <a:avLst/>
          </a:prstGeom>
        </p:spPr>
        <p:txBody>
          <a:bodyPr wrap="square">
            <a:spAutoFit/>
          </a:bodyPr>
          <a:lstStyle/>
          <a:p>
            <a:pPr fontAlgn="base">
              <a:spcBef>
                <a:spcPct val="0"/>
              </a:spcBef>
              <a:spcAft>
                <a:spcPct val="0"/>
              </a:spcAft>
            </a:pPr>
            <a:r>
              <a:rPr kumimoji="1" lang="en-US" altLang="zh-CN" sz="2600" b="1" dirty="0" err="1" smtClean="0">
                <a:solidFill>
                  <a:srgbClr val="000000"/>
                </a:solidFill>
                <a:latin typeface="Times New Roman" panose="02020603050405020304" pitchFamily="18" charset="0"/>
                <a:ea typeface="楷体_GB2312" pitchFamily="49" charset="-122"/>
                <a:sym typeface="Symbol" panose="05050102010706020507" pitchFamily="18" charset="2"/>
              </a:rPr>
              <a:t>Q</a:t>
            </a:r>
            <a:r>
              <a:rPr kumimoji="1" lang="en-US" altLang="zh-CN" sz="2600" b="1" baseline="-25000" dirty="0" err="1" smtClean="0">
                <a:solidFill>
                  <a:srgbClr val="000000"/>
                </a:solidFill>
                <a:latin typeface="Times New Roman" panose="02020603050405020304" pitchFamily="18" charset="0"/>
                <a:ea typeface="楷体_GB2312" pitchFamily="49" charset="-122"/>
                <a:sym typeface="Symbol" panose="05050102010706020507" pitchFamily="18" charset="2"/>
              </a:rPr>
              <a:t>p</a:t>
            </a:r>
            <a:r>
              <a:rPr kumimoji="1" lang="en-US" altLang="zh-CN" sz="2600" b="1" baseline="-25000" dirty="0" smtClean="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 = </a:t>
            </a:r>
            <a:r>
              <a:rPr lang="zh-CN" altLang="en-US" sz="2600" b="1" i="1" dirty="0" smtClean="0">
                <a:solidFill>
                  <a:srgbClr val="000000"/>
                </a:solidFill>
                <a:latin typeface="Times New Roman" panose="02020603050405020304" pitchFamily="18" charset="0"/>
                <a:ea typeface="楷体_GB2312" pitchFamily="49" charset="-122"/>
              </a:rPr>
              <a:t>∆</a:t>
            </a:r>
            <a:r>
              <a:rPr lang="en-US" altLang="zh-CN" sz="2600" b="1" i="1" baseline="-25000" dirty="0" err="1" smtClean="0">
                <a:solidFill>
                  <a:srgbClr val="000000"/>
                </a:solidFill>
                <a:latin typeface="Times New Roman" panose="02020603050405020304" pitchFamily="18" charset="0"/>
                <a:ea typeface="楷体_GB2312" pitchFamily="49" charset="-122"/>
              </a:rPr>
              <a:t>r</a:t>
            </a:r>
            <a:r>
              <a:rPr lang="en-US" altLang="zh-CN" sz="2600" b="1" i="1" dirty="0" err="1" smtClean="0">
                <a:solidFill>
                  <a:srgbClr val="000000"/>
                </a:solidFill>
                <a:latin typeface="Times New Roman" panose="02020603050405020304" pitchFamily="18" charset="0"/>
                <a:ea typeface="楷体_GB2312" pitchFamily="49" charset="-122"/>
              </a:rPr>
              <a:t>H</a:t>
            </a:r>
            <a:r>
              <a:rPr kumimoji="1" lang="en-US" altLang="zh-CN" sz="2600" b="1" i="1" baseline="-25000" dirty="0" err="1" smtClean="0">
                <a:solidFill>
                  <a:srgbClr val="000000"/>
                </a:solidFill>
                <a:latin typeface="Times New Roman" panose="02020603050405020304" pitchFamily="18" charset="0"/>
                <a:ea typeface="楷体_GB2312" pitchFamily="49" charset="-122"/>
                <a:sym typeface="Symbol" panose="05050102010706020507" pitchFamily="18" charset="2"/>
              </a:rPr>
              <a:t>m</a:t>
            </a:r>
            <a:r>
              <a:rPr kumimoji="1" lang="el-GR" altLang="zh-CN" sz="2600" b="1" i="1" baseline="30000" dirty="0" smtClean="0">
                <a:solidFill>
                  <a:srgbClr val="000000"/>
                </a:solidFill>
                <a:latin typeface="楷体_GB2312" pitchFamily="49" charset="-122"/>
                <a:ea typeface="楷体_GB2312" pitchFamily="49" charset="-122"/>
                <a:sym typeface="Symbol" panose="05050102010706020507" pitchFamily="18" charset="2"/>
              </a:rPr>
              <a:t>Θ</a:t>
            </a:r>
            <a:r>
              <a:rPr kumimoji="1" lang="en-US" altLang="en-US" sz="2600" b="1" i="1" dirty="0" smtClean="0">
                <a:solidFill>
                  <a:srgbClr val="000000"/>
                </a:solidFill>
                <a:latin typeface="Times New Roman" panose="02020603050405020304" pitchFamily="18" charset="0"/>
                <a:sym typeface="Symbol" panose="05050102010706020507" pitchFamily="18" charset="2"/>
              </a:rPr>
              <a:t>=</a:t>
            </a:r>
            <a:r>
              <a:rPr kumimoji="1" lang="en-US" altLang="zh-CN" sz="2600" b="1" i="1" dirty="0" smtClean="0">
                <a:solidFill>
                  <a:srgbClr val="000000"/>
                </a:solidFill>
                <a:latin typeface="Times New Roman" panose="02020603050405020304" pitchFamily="18" charset="0"/>
                <a:sym typeface="Symbol" panose="05050102010706020507" pitchFamily="18" charset="2"/>
              </a:rPr>
              <a:t> </a:t>
            </a:r>
            <a:r>
              <a:rPr kumimoji="1" lang="en-US" altLang="en-US" sz="2600" b="1" i="1" dirty="0" smtClean="0">
                <a:solidFill>
                  <a:srgbClr val="C00000"/>
                </a:solidFill>
                <a:latin typeface="Times New Roman" panose="02020603050405020304" pitchFamily="18" charset="0"/>
                <a:sym typeface="Symbol" panose="05050102010706020507" pitchFamily="18" charset="2"/>
              </a:rPr>
              <a:t>-</a:t>
            </a:r>
            <a:r>
              <a:rPr kumimoji="1" lang="en-US" altLang="zh-CN" sz="2600" b="1" i="1" dirty="0" smtClean="0">
                <a:solidFill>
                  <a:srgbClr val="000000"/>
                </a:solidFill>
                <a:latin typeface="Times New Roman" panose="02020603050405020304" pitchFamily="18" charset="0"/>
                <a:sym typeface="Symbol" panose="05050102010706020507" pitchFamily="18" charset="2"/>
              </a:rPr>
              <a:t>241.818 </a:t>
            </a:r>
            <a:r>
              <a:rPr kumimoji="1" lang="en-US" altLang="en-US" sz="2600" b="1" i="1" dirty="0" smtClean="0">
                <a:solidFill>
                  <a:srgbClr val="000000"/>
                </a:solidFill>
                <a:latin typeface="Times New Roman" panose="02020603050405020304" pitchFamily="18" charset="0"/>
                <a:sym typeface="Symbol" panose="05050102010706020507" pitchFamily="18" charset="2"/>
              </a:rPr>
              <a:t>kJ</a:t>
            </a:r>
            <a:endParaRPr kumimoji="1" lang="en-US" altLang="zh-CN" sz="2600" b="1" i="1" baseline="30000" dirty="0" smtClean="0">
              <a:solidFill>
                <a:srgbClr val="000000"/>
              </a:solidFill>
              <a:latin typeface="Times New Roman" panose="02020603050405020304" pitchFamily="18" charset="0"/>
              <a:sym typeface="Symbol" panose="05050102010706020507" pitchFamily="18" charset="2"/>
            </a:endParaRPr>
          </a:p>
        </p:txBody>
      </p:sp>
      <p:sp>
        <p:nvSpPr>
          <p:cNvPr id="7" name="矩形 6"/>
          <p:cNvSpPr/>
          <p:nvPr/>
        </p:nvSpPr>
        <p:spPr>
          <a:xfrm>
            <a:off x="395536" y="1268760"/>
            <a:ext cx="8568952" cy="1291590"/>
          </a:xfrm>
          <a:prstGeom prst="rect">
            <a:avLst/>
          </a:prstGeom>
        </p:spPr>
        <p:txBody>
          <a:bodyPr wrap="square">
            <a:spAutoFit/>
          </a:bodyPr>
          <a:lstStyle/>
          <a:p>
            <a:pPr fontAlgn="base">
              <a:spcBef>
                <a:spcPct val="0"/>
              </a:spcBef>
              <a:spcAft>
                <a:spcPct val="0"/>
              </a:spcAft>
            </a:pP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W = -p</a:t>
            </a:r>
            <a:r>
              <a:rPr lang="zh-CN" altLang="en-US" sz="2600" b="1" i="1" dirty="0" smtClean="0">
                <a:solidFill>
                  <a:srgbClr val="000000"/>
                </a:solidFill>
                <a:latin typeface="Times New Roman" panose="02020603050405020304" pitchFamily="18" charset="0"/>
                <a:ea typeface="楷体_GB2312" pitchFamily="49" charset="-122"/>
              </a:rPr>
              <a:t>∆</a:t>
            </a:r>
            <a:r>
              <a:rPr lang="en-US" altLang="zh-CN" sz="2600" b="1" i="1" dirty="0" smtClean="0">
                <a:solidFill>
                  <a:srgbClr val="000000"/>
                </a:solidFill>
                <a:latin typeface="Times New Roman" panose="02020603050405020304" pitchFamily="18" charset="0"/>
                <a:ea typeface="楷体_GB2312" pitchFamily="49" charset="-122"/>
              </a:rPr>
              <a:t>V</a:t>
            </a:r>
            <a:r>
              <a:rPr kumimoji="1" lang="en-US" altLang="en-US" sz="2600" b="1" i="1" dirty="0" smtClean="0">
                <a:solidFill>
                  <a:srgbClr val="000000"/>
                </a:solidFill>
                <a:latin typeface="Times New Roman" panose="02020603050405020304" pitchFamily="18" charset="0"/>
                <a:sym typeface="Symbol" panose="05050102010706020507" pitchFamily="18" charset="2"/>
              </a:rPr>
              <a:t>=</a:t>
            </a:r>
            <a:r>
              <a:rPr kumimoji="1" lang="en-US" altLang="zh-CN" sz="2600" b="1" i="1" dirty="0" smtClean="0">
                <a:solidFill>
                  <a:srgbClr val="000000"/>
                </a:solidFill>
                <a:latin typeface="Times New Roman" panose="02020603050405020304" pitchFamily="18" charset="0"/>
                <a:sym typeface="Symbol" panose="05050102010706020507" pitchFamily="18" charset="2"/>
              </a:rPr>
              <a:t> </a:t>
            </a:r>
            <a:r>
              <a:rPr kumimoji="1" lang="en-US" altLang="en-US" sz="2600" b="1" i="1" dirty="0" smtClean="0">
                <a:solidFill>
                  <a:srgbClr val="C00000"/>
                </a:solidFill>
                <a:latin typeface="Times New Roman" panose="02020603050405020304" pitchFamily="18" charset="0"/>
                <a:sym typeface="Symbol" panose="05050102010706020507" pitchFamily="18" charset="2"/>
              </a:rPr>
              <a:t>-</a:t>
            </a:r>
            <a:r>
              <a:rPr kumimoji="1" lang="en-US" altLang="zh-CN" sz="2600" b="1" i="1" dirty="0" smtClean="0">
                <a:solidFill>
                  <a:srgbClr val="C00000"/>
                </a:solidFill>
                <a:latin typeface="Times New Roman" panose="02020603050405020304" pitchFamily="18" charset="0"/>
                <a:ea typeface="楷体_GB2312" pitchFamily="49" charset="-122"/>
              </a:rPr>
              <a:t> </a:t>
            </a:r>
            <a:r>
              <a:rPr kumimoji="1" lang="en-US" altLang="zh-CN" sz="2600" b="1" i="1" dirty="0" err="1" smtClean="0">
                <a:latin typeface="Times New Roman" panose="02020603050405020304" pitchFamily="18" charset="0"/>
                <a:ea typeface="楷体_GB2312" pitchFamily="49" charset="-122"/>
              </a:rPr>
              <a:t>ΔnRT</a:t>
            </a:r>
            <a:r>
              <a:rPr kumimoji="1" lang="en-US" altLang="zh-CN" sz="2600" b="1" i="1" dirty="0" smtClean="0">
                <a:latin typeface="Times New Roman" panose="02020603050405020304" pitchFamily="18" charset="0"/>
                <a:ea typeface="楷体_GB2312" pitchFamily="49" charset="-122"/>
              </a:rPr>
              <a:t> </a:t>
            </a:r>
          </a:p>
          <a:p>
            <a:pPr fontAlgn="base">
              <a:spcBef>
                <a:spcPct val="0"/>
              </a:spcBef>
              <a:spcAft>
                <a:spcPct val="0"/>
              </a:spcAft>
            </a:pPr>
            <a:r>
              <a:rPr kumimoji="1" lang="en-US" altLang="zh-CN" sz="2600" b="1" i="1" dirty="0" smtClean="0">
                <a:solidFill>
                  <a:srgbClr val="000000"/>
                </a:solidFill>
                <a:latin typeface="Times New Roman" panose="02020603050405020304" pitchFamily="18" charset="0"/>
                <a:sym typeface="Symbol" panose="05050102010706020507" pitchFamily="18" charset="2"/>
              </a:rPr>
              <a:t>                = </a:t>
            </a:r>
            <a:r>
              <a:rPr kumimoji="1" lang="en-US" altLang="zh-CN" sz="2600" b="1" i="1" dirty="0" smtClean="0">
                <a:solidFill>
                  <a:srgbClr val="C00000"/>
                </a:solidFill>
                <a:latin typeface="Times New Roman" panose="02020603050405020304" pitchFamily="18" charset="0"/>
                <a:sym typeface="Symbol" panose="05050102010706020507" pitchFamily="18" charset="2"/>
              </a:rPr>
              <a:t>-</a:t>
            </a:r>
            <a:r>
              <a:rPr kumimoji="1" lang="en-US" altLang="zh-CN" sz="2600" b="1" i="1" dirty="0" smtClean="0">
                <a:solidFill>
                  <a:srgbClr val="000000"/>
                </a:solidFill>
                <a:latin typeface="Times New Roman" panose="02020603050405020304" pitchFamily="18" charset="0"/>
                <a:sym typeface="Symbol" panose="05050102010706020507" pitchFamily="18" charset="2"/>
              </a:rPr>
              <a:t>(1-1/2-1) × 8.314× 298.15</a:t>
            </a:r>
          </a:p>
          <a:p>
            <a:pPr fontAlgn="base">
              <a:spcBef>
                <a:spcPct val="0"/>
              </a:spcBef>
              <a:spcAft>
                <a:spcPct val="0"/>
              </a:spcAft>
            </a:pPr>
            <a:r>
              <a:rPr kumimoji="1" lang="en-US" altLang="zh-CN" sz="2600" b="1" i="1" dirty="0" smtClean="0">
                <a:solidFill>
                  <a:srgbClr val="000000"/>
                </a:solidFill>
                <a:latin typeface="Times New Roman" panose="02020603050405020304" pitchFamily="18" charset="0"/>
                <a:sym typeface="Symbol" panose="05050102010706020507" pitchFamily="18" charset="2"/>
              </a:rPr>
              <a:t>                ≈ 1.2 </a:t>
            </a:r>
            <a:r>
              <a:rPr kumimoji="1" lang="en-US" altLang="en-US" sz="2600" b="1" i="1" dirty="0" smtClean="0">
                <a:solidFill>
                  <a:srgbClr val="000000"/>
                </a:solidFill>
                <a:latin typeface="Times New Roman" panose="02020603050405020304" pitchFamily="18" charset="0"/>
                <a:sym typeface="Symbol" panose="05050102010706020507" pitchFamily="18" charset="2"/>
              </a:rPr>
              <a:t>kJ</a:t>
            </a:r>
            <a:endParaRPr kumimoji="1" lang="en-US" altLang="zh-CN" sz="2600" b="1" i="1" baseline="30000" dirty="0" smtClean="0">
              <a:solidFill>
                <a:srgbClr val="000000"/>
              </a:solidFill>
              <a:latin typeface="Times New Roman" panose="02020603050405020304" pitchFamily="18" charset="0"/>
              <a:sym typeface="Symbol" panose="05050102010706020507" pitchFamily="18" charset="2"/>
            </a:endParaRPr>
          </a:p>
        </p:txBody>
      </p:sp>
      <p:sp>
        <p:nvSpPr>
          <p:cNvPr id="8" name="矩形 7"/>
          <p:cNvSpPr/>
          <p:nvPr/>
        </p:nvSpPr>
        <p:spPr>
          <a:xfrm>
            <a:off x="395536" y="3284984"/>
            <a:ext cx="8568952" cy="1291590"/>
          </a:xfrm>
          <a:prstGeom prst="rect">
            <a:avLst/>
          </a:prstGeom>
        </p:spPr>
        <p:txBody>
          <a:bodyPr wrap="square">
            <a:spAutoFit/>
          </a:bodyPr>
          <a:lstStyle/>
          <a:p>
            <a:pPr fontAlgn="base">
              <a:spcBef>
                <a:spcPct val="0"/>
              </a:spcBef>
              <a:spcAft>
                <a:spcPct val="0"/>
              </a:spcAft>
            </a:pPr>
            <a:r>
              <a:rPr kumimoji="1" lang="en-US" altLang="zh-CN" sz="2600" b="1" dirty="0" err="1" smtClean="0">
                <a:solidFill>
                  <a:srgbClr val="000000"/>
                </a:solidFill>
                <a:latin typeface="Times New Roman" panose="02020603050405020304" pitchFamily="18" charset="0"/>
                <a:ea typeface="楷体_GB2312" pitchFamily="49" charset="-122"/>
                <a:sym typeface="Symbol" panose="05050102010706020507" pitchFamily="18" charset="2"/>
              </a:rPr>
              <a:t>Q</a:t>
            </a:r>
            <a:r>
              <a:rPr kumimoji="1" lang="en-US" altLang="zh-CN" sz="2600" b="1" baseline="-25000" dirty="0" err="1" smtClean="0">
                <a:solidFill>
                  <a:srgbClr val="000000"/>
                </a:solidFill>
                <a:latin typeface="Times New Roman" panose="02020603050405020304" pitchFamily="18" charset="0"/>
                <a:ea typeface="楷体_GB2312" pitchFamily="49" charset="-122"/>
                <a:sym typeface="Symbol" panose="05050102010706020507" pitchFamily="18" charset="2"/>
              </a:rPr>
              <a:t>v</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 = </a:t>
            </a:r>
            <a:r>
              <a:rPr lang="zh-CN" altLang="en-US" sz="2600" b="1" i="1" dirty="0" smtClean="0">
                <a:solidFill>
                  <a:srgbClr val="000000"/>
                </a:solidFill>
                <a:latin typeface="Times New Roman" panose="02020603050405020304" pitchFamily="18" charset="0"/>
                <a:ea typeface="楷体_GB2312" pitchFamily="49" charset="-122"/>
              </a:rPr>
              <a:t>∆</a:t>
            </a:r>
            <a:r>
              <a:rPr lang="en-US" altLang="zh-CN" sz="2600" b="1" i="1" baseline="-25000" dirty="0" err="1" smtClean="0">
                <a:solidFill>
                  <a:srgbClr val="000000"/>
                </a:solidFill>
                <a:latin typeface="Times New Roman" panose="02020603050405020304" pitchFamily="18" charset="0"/>
                <a:ea typeface="楷体_GB2312" pitchFamily="49" charset="-122"/>
              </a:rPr>
              <a:t>r</a:t>
            </a:r>
            <a:r>
              <a:rPr lang="en-US" altLang="zh-CN" sz="2600" b="1" i="1" dirty="0" err="1" smtClean="0">
                <a:solidFill>
                  <a:srgbClr val="000000"/>
                </a:solidFill>
                <a:latin typeface="Times New Roman" panose="02020603050405020304" pitchFamily="18" charset="0"/>
                <a:ea typeface="楷体_GB2312" pitchFamily="49" charset="-122"/>
              </a:rPr>
              <a:t>U</a:t>
            </a:r>
            <a:r>
              <a:rPr kumimoji="1" lang="en-US" altLang="zh-CN" sz="2600" b="1" i="1" baseline="-25000" dirty="0" err="1" smtClean="0">
                <a:solidFill>
                  <a:srgbClr val="000000"/>
                </a:solidFill>
                <a:latin typeface="Times New Roman" panose="02020603050405020304" pitchFamily="18" charset="0"/>
                <a:ea typeface="楷体_GB2312" pitchFamily="49" charset="-122"/>
                <a:sym typeface="Symbol" panose="05050102010706020507" pitchFamily="18" charset="2"/>
              </a:rPr>
              <a:t>m</a:t>
            </a:r>
            <a:r>
              <a:rPr kumimoji="1" lang="el-GR" altLang="zh-CN" sz="2600" b="1" i="1" baseline="30000" dirty="0" smtClean="0">
                <a:solidFill>
                  <a:srgbClr val="000000"/>
                </a:solidFill>
                <a:latin typeface="楷体_GB2312" pitchFamily="49" charset="-122"/>
                <a:ea typeface="楷体_GB2312" pitchFamily="49" charset="-122"/>
                <a:sym typeface="Symbol" panose="05050102010706020507" pitchFamily="18" charset="2"/>
              </a:rPr>
              <a:t>Θ</a:t>
            </a:r>
            <a:r>
              <a:rPr kumimoji="1" lang="en-US" altLang="en-US" sz="2600" b="1" i="1" dirty="0" smtClean="0">
                <a:solidFill>
                  <a:srgbClr val="000000"/>
                </a:solidFill>
                <a:latin typeface="Times New Roman" panose="02020603050405020304" pitchFamily="18" charset="0"/>
                <a:sym typeface="Symbol" panose="05050102010706020507" pitchFamily="18" charset="2"/>
              </a:rPr>
              <a:t>=</a:t>
            </a:r>
            <a:r>
              <a:rPr kumimoji="1" lang="en-US" altLang="zh-CN" sz="2600" b="1" i="1" dirty="0" smtClean="0">
                <a:solidFill>
                  <a:srgbClr val="000000"/>
                </a:solidFill>
                <a:latin typeface="Times New Roman" panose="02020603050405020304" pitchFamily="18" charset="0"/>
                <a:sym typeface="Symbol" panose="05050102010706020507" pitchFamily="18" charset="2"/>
              </a:rPr>
              <a:t> </a:t>
            </a:r>
            <a:r>
              <a:rPr lang="zh-CN" altLang="en-US" sz="2600" b="1" i="1" dirty="0" smtClean="0">
                <a:solidFill>
                  <a:srgbClr val="000000"/>
                </a:solidFill>
                <a:latin typeface="Times New Roman" panose="02020603050405020304" pitchFamily="18" charset="0"/>
                <a:ea typeface="楷体_GB2312" pitchFamily="49" charset="-122"/>
              </a:rPr>
              <a:t>∆</a:t>
            </a:r>
            <a:r>
              <a:rPr lang="en-US" altLang="zh-CN" sz="2600" b="1" i="1" baseline="-25000" dirty="0" err="1" smtClean="0">
                <a:solidFill>
                  <a:srgbClr val="000000"/>
                </a:solidFill>
                <a:latin typeface="Times New Roman" panose="02020603050405020304" pitchFamily="18" charset="0"/>
                <a:ea typeface="楷体_GB2312" pitchFamily="49" charset="-122"/>
              </a:rPr>
              <a:t>r</a:t>
            </a:r>
            <a:r>
              <a:rPr lang="en-US" altLang="zh-CN" sz="2600" b="1" i="1" dirty="0" err="1" smtClean="0">
                <a:solidFill>
                  <a:srgbClr val="000000"/>
                </a:solidFill>
                <a:latin typeface="Times New Roman" panose="02020603050405020304" pitchFamily="18" charset="0"/>
                <a:ea typeface="楷体_GB2312" pitchFamily="49" charset="-122"/>
              </a:rPr>
              <a:t>H</a:t>
            </a:r>
            <a:r>
              <a:rPr kumimoji="1" lang="en-US" altLang="zh-CN" sz="2600" b="1" i="1" baseline="-25000" dirty="0" err="1" smtClean="0">
                <a:solidFill>
                  <a:srgbClr val="000000"/>
                </a:solidFill>
                <a:latin typeface="Times New Roman" panose="02020603050405020304" pitchFamily="18" charset="0"/>
                <a:ea typeface="楷体_GB2312" pitchFamily="49" charset="-122"/>
                <a:sym typeface="Symbol" panose="05050102010706020507" pitchFamily="18" charset="2"/>
              </a:rPr>
              <a:t>m</a:t>
            </a:r>
            <a:r>
              <a:rPr kumimoji="1" lang="el-GR" altLang="zh-CN" sz="2600" b="1" i="1" baseline="30000" dirty="0" smtClean="0">
                <a:solidFill>
                  <a:srgbClr val="000000"/>
                </a:solidFill>
                <a:latin typeface="楷体_GB2312" pitchFamily="49" charset="-122"/>
                <a:ea typeface="楷体_GB2312" pitchFamily="49" charset="-122"/>
                <a:sym typeface="Symbol" panose="05050102010706020507" pitchFamily="18" charset="2"/>
              </a:rPr>
              <a:t>Θ</a:t>
            </a:r>
            <a:r>
              <a:rPr kumimoji="1" lang="en-US" altLang="en-US" sz="2600" b="1" i="1" dirty="0" smtClean="0">
                <a:solidFill>
                  <a:srgbClr val="000000"/>
                </a:solidFill>
                <a:latin typeface="Times New Roman" panose="02020603050405020304" pitchFamily="18" charset="0"/>
                <a:sym typeface="Symbol" panose="05050102010706020507" pitchFamily="18" charset="2"/>
              </a:rPr>
              <a:t>+ </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W</a:t>
            </a:r>
            <a:r>
              <a:rPr kumimoji="1" lang="en-US" altLang="zh-CN" sz="2600" b="1" i="1" dirty="0" smtClean="0">
                <a:solidFill>
                  <a:srgbClr val="000000"/>
                </a:solidFill>
                <a:latin typeface="Times New Roman" panose="02020603050405020304" pitchFamily="18" charset="0"/>
                <a:sym typeface="Symbol" panose="05050102010706020507" pitchFamily="18" charset="2"/>
              </a:rPr>
              <a:t> </a:t>
            </a:r>
          </a:p>
          <a:p>
            <a:pPr fontAlgn="base">
              <a:spcBef>
                <a:spcPct val="0"/>
              </a:spcBef>
              <a:spcAft>
                <a:spcPct val="0"/>
              </a:spcAft>
            </a:pPr>
            <a:r>
              <a:rPr kumimoji="1" lang="en-US" altLang="en-US" sz="2600" b="1" i="1" dirty="0" smtClean="0">
                <a:solidFill>
                  <a:srgbClr val="C00000"/>
                </a:solidFill>
                <a:latin typeface="Times New Roman" panose="02020603050405020304" pitchFamily="18" charset="0"/>
                <a:sym typeface="Symbol" panose="05050102010706020507" pitchFamily="18" charset="2"/>
              </a:rPr>
              <a:t>                    </a:t>
            </a:r>
            <a:r>
              <a:rPr kumimoji="1" lang="en-US" altLang="en-US" sz="2600" b="1" i="1" dirty="0" smtClean="0">
                <a:latin typeface="Times New Roman" panose="02020603050405020304" pitchFamily="18" charset="0"/>
                <a:sym typeface="Symbol" panose="05050102010706020507" pitchFamily="18" charset="2"/>
              </a:rPr>
              <a:t>=</a:t>
            </a:r>
            <a:r>
              <a:rPr kumimoji="1" lang="en-US" altLang="en-US" sz="2600" b="1" i="1" dirty="0" smtClean="0">
                <a:solidFill>
                  <a:srgbClr val="C00000"/>
                </a:solidFill>
                <a:latin typeface="Times New Roman" panose="02020603050405020304" pitchFamily="18" charset="0"/>
                <a:sym typeface="Symbol" panose="05050102010706020507" pitchFamily="18" charset="2"/>
              </a:rPr>
              <a:t> -</a:t>
            </a:r>
            <a:r>
              <a:rPr kumimoji="1" lang="en-US" altLang="zh-CN" sz="2600" b="1" i="1" dirty="0" smtClean="0">
                <a:solidFill>
                  <a:srgbClr val="000000"/>
                </a:solidFill>
                <a:latin typeface="Times New Roman" panose="02020603050405020304" pitchFamily="18" charset="0"/>
                <a:sym typeface="Symbol" panose="05050102010706020507" pitchFamily="18" charset="2"/>
              </a:rPr>
              <a:t>241.8+1.2</a:t>
            </a:r>
          </a:p>
          <a:p>
            <a:pPr fontAlgn="base">
              <a:spcBef>
                <a:spcPct val="0"/>
              </a:spcBef>
              <a:spcAft>
                <a:spcPct val="0"/>
              </a:spcAft>
            </a:pPr>
            <a:r>
              <a:rPr kumimoji="1" lang="en-US" altLang="zh-CN" sz="2600" b="1" i="1" dirty="0" smtClean="0">
                <a:solidFill>
                  <a:srgbClr val="000000"/>
                </a:solidFill>
                <a:latin typeface="Times New Roman" panose="02020603050405020304" pitchFamily="18" charset="0"/>
                <a:sym typeface="Symbol" panose="05050102010706020507" pitchFamily="18" charset="2"/>
              </a:rPr>
              <a:t>                    = </a:t>
            </a:r>
            <a:r>
              <a:rPr kumimoji="1" lang="en-US" altLang="en-US" sz="2600" b="1" i="1" dirty="0" smtClean="0">
                <a:solidFill>
                  <a:srgbClr val="C00000"/>
                </a:solidFill>
                <a:latin typeface="Times New Roman" panose="02020603050405020304" pitchFamily="18" charset="0"/>
                <a:sym typeface="Symbol" panose="05050102010706020507" pitchFamily="18" charset="2"/>
              </a:rPr>
              <a:t>-</a:t>
            </a:r>
            <a:r>
              <a:rPr kumimoji="1" lang="en-US" altLang="zh-CN" sz="2600" b="1" i="1" dirty="0" smtClean="0">
                <a:solidFill>
                  <a:srgbClr val="000000"/>
                </a:solidFill>
                <a:latin typeface="Times New Roman" panose="02020603050405020304" pitchFamily="18" charset="0"/>
                <a:sym typeface="Symbol" panose="05050102010706020507" pitchFamily="18" charset="2"/>
              </a:rPr>
              <a:t>240.6 </a:t>
            </a:r>
            <a:r>
              <a:rPr kumimoji="1" lang="en-US" altLang="en-US" sz="2600" b="1" i="1" dirty="0" smtClean="0">
                <a:solidFill>
                  <a:srgbClr val="000000"/>
                </a:solidFill>
                <a:latin typeface="Times New Roman" panose="02020603050405020304" pitchFamily="18" charset="0"/>
                <a:sym typeface="Symbol" panose="05050102010706020507" pitchFamily="18" charset="2"/>
              </a:rPr>
              <a:t>kJ</a:t>
            </a:r>
            <a:endParaRPr kumimoji="1" lang="en-US" altLang="zh-CN" sz="2600" b="1" i="1" baseline="30000" dirty="0" smtClean="0">
              <a:solidFill>
                <a:srgbClr val="000000"/>
              </a:solidFill>
              <a:latin typeface="Times New Roman" panose="02020603050405020304" pitchFamily="18" charset="0"/>
              <a:sym typeface="Symbol" panose="05050102010706020507" pitchFamily="18" charset="2"/>
            </a:endParaRPr>
          </a:p>
        </p:txBody>
      </p:sp>
      <p:sp>
        <p:nvSpPr>
          <p:cNvPr id="9" name="Rectangle 28"/>
          <p:cNvSpPr>
            <a:spLocks noChangeArrowheads="1"/>
          </p:cNvSpPr>
          <p:nvPr/>
        </p:nvSpPr>
        <p:spPr bwMode="auto">
          <a:xfrm>
            <a:off x="179512" y="4509120"/>
            <a:ext cx="1695450" cy="492125"/>
          </a:xfrm>
          <a:prstGeom prst="rect">
            <a:avLst/>
          </a:prstGeom>
          <a:solidFill>
            <a:srgbClr val="99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fontAlgn="base">
              <a:spcBef>
                <a:spcPct val="0"/>
              </a:spcBef>
              <a:spcAft>
                <a:spcPct val="0"/>
              </a:spcAft>
            </a:pPr>
            <a:r>
              <a:rPr lang="en-US" altLang="zh-CN" sz="2600" b="1" dirty="0" smtClean="0">
                <a:solidFill>
                  <a:srgbClr val="990000"/>
                </a:solidFill>
                <a:latin typeface="Times New Roman" panose="02020603050405020304" pitchFamily="18" charset="0"/>
              </a:rPr>
              <a:t>Example 2</a:t>
            </a:r>
          </a:p>
        </p:txBody>
      </p:sp>
      <p:sp>
        <p:nvSpPr>
          <p:cNvPr id="10" name="矩形 9"/>
          <p:cNvSpPr/>
          <p:nvPr/>
        </p:nvSpPr>
        <p:spPr>
          <a:xfrm>
            <a:off x="575048" y="5157192"/>
            <a:ext cx="8568952" cy="1291590"/>
          </a:xfrm>
          <a:prstGeom prst="rect">
            <a:avLst/>
          </a:prstGeom>
        </p:spPr>
        <p:txBody>
          <a:bodyPr wrap="square">
            <a:spAutoFit/>
          </a:bodyPr>
          <a:lstStyle/>
          <a:p>
            <a:pPr fontAlgn="base">
              <a:spcBef>
                <a:spcPct val="0"/>
              </a:spcBef>
              <a:spcAft>
                <a:spcPct val="0"/>
              </a:spcAft>
            </a:pPr>
            <a:r>
              <a:rPr kumimoji="1" lang="zh-CN" altLang="en-US" sz="2600" b="1" dirty="0" smtClean="0">
                <a:solidFill>
                  <a:srgbClr val="000000"/>
                </a:solidFill>
                <a:latin typeface="Times New Roman" panose="02020603050405020304" pitchFamily="18" charset="0"/>
                <a:ea typeface="楷体_GB2312" pitchFamily="49" charset="-122"/>
                <a:sym typeface="Symbol" panose="05050102010706020507" pitchFamily="18" charset="2"/>
              </a:rPr>
              <a:t>同理，</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W = </a:t>
            </a:r>
            <a:r>
              <a:rPr kumimoji="1" lang="en-US" altLang="zh-CN" sz="2600" b="1" dirty="0" smtClean="0">
                <a:solidFill>
                  <a:srgbClr val="C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p</a:t>
            </a:r>
            <a:r>
              <a:rPr lang="zh-CN" altLang="en-US" sz="2600" b="1" i="1" dirty="0" smtClean="0">
                <a:solidFill>
                  <a:srgbClr val="000000"/>
                </a:solidFill>
                <a:latin typeface="Times New Roman" panose="02020603050405020304" pitchFamily="18" charset="0"/>
                <a:ea typeface="楷体_GB2312" pitchFamily="49" charset="-122"/>
              </a:rPr>
              <a:t>∆</a:t>
            </a:r>
            <a:r>
              <a:rPr lang="en-US" altLang="zh-CN" sz="2600" b="1" i="1" dirty="0" smtClean="0">
                <a:solidFill>
                  <a:srgbClr val="000000"/>
                </a:solidFill>
                <a:latin typeface="Times New Roman" panose="02020603050405020304" pitchFamily="18" charset="0"/>
                <a:ea typeface="楷体_GB2312" pitchFamily="49" charset="-122"/>
              </a:rPr>
              <a:t>V</a:t>
            </a:r>
            <a:r>
              <a:rPr kumimoji="1" lang="en-US" altLang="en-US" sz="2600" b="1" i="1" dirty="0" smtClean="0">
                <a:solidFill>
                  <a:srgbClr val="000000"/>
                </a:solidFill>
                <a:latin typeface="Times New Roman" panose="02020603050405020304" pitchFamily="18" charset="0"/>
                <a:sym typeface="Symbol" panose="05050102010706020507" pitchFamily="18" charset="2"/>
              </a:rPr>
              <a:t>=</a:t>
            </a:r>
            <a:r>
              <a:rPr kumimoji="1" lang="en-US" altLang="zh-CN" sz="2600" b="1" i="1" dirty="0" smtClean="0">
                <a:solidFill>
                  <a:srgbClr val="000000"/>
                </a:solidFill>
                <a:latin typeface="Times New Roman" panose="02020603050405020304" pitchFamily="18" charset="0"/>
                <a:sym typeface="Symbol" panose="05050102010706020507" pitchFamily="18" charset="2"/>
              </a:rPr>
              <a:t> </a:t>
            </a:r>
            <a:r>
              <a:rPr kumimoji="1" lang="en-US" altLang="en-US" sz="2600" b="1" i="1" dirty="0" smtClean="0">
                <a:solidFill>
                  <a:srgbClr val="C00000"/>
                </a:solidFill>
                <a:latin typeface="Times New Roman" panose="02020603050405020304" pitchFamily="18" charset="0"/>
                <a:sym typeface="Symbol" panose="05050102010706020507" pitchFamily="18" charset="2"/>
              </a:rPr>
              <a:t>-</a:t>
            </a:r>
            <a:r>
              <a:rPr kumimoji="1" lang="en-US" altLang="zh-CN" sz="2600" b="1" i="1" dirty="0" smtClean="0">
                <a:solidFill>
                  <a:srgbClr val="C00000"/>
                </a:solidFill>
                <a:latin typeface="Times New Roman" panose="02020603050405020304" pitchFamily="18" charset="0"/>
                <a:ea typeface="楷体_GB2312" pitchFamily="49" charset="-122"/>
              </a:rPr>
              <a:t> </a:t>
            </a:r>
            <a:r>
              <a:rPr kumimoji="1" lang="en-US" altLang="zh-CN" sz="2600" b="1" i="1" dirty="0" err="1" smtClean="0">
                <a:latin typeface="Times New Roman" panose="02020603050405020304" pitchFamily="18" charset="0"/>
                <a:ea typeface="楷体_GB2312" pitchFamily="49" charset="-122"/>
              </a:rPr>
              <a:t>ΔnRT</a:t>
            </a:r>
            <a:r>
              <a:rPr kumimoji="1" lang="en-US" altLang="zh-CN" sz="2600" b="1" i="1" dirty="0" smtClean="0">
                <a:latin typeface="Times New Roman" panose="02020603050405020304" pitchFamily="18" charset="0"/>
                <a:ea typeface="楷体_GB2312" pitchFamily="49" charset="-122"/>
              </a:rPr>
              <a:t> </a:t>
            </a:r>
          </a:p>
          <a:p>
            <a:pPr fontAlgn="base">
              <a:spcBef>
                <a:spcPct val="0"/>
              </a:spcBef>
              <a:spcAft>
                <a:spcPct val="0"/>
              </a:spcAft>
            </a:pPr>
            <a:r>
              <a:rPr kumimoji="1" lang="en-US" altLang="zh-CN" sz="2600" b="1" i="1" dirty="0" smtClean="0">
                <a:solidFill>
                  <a:srgbClr val="000000"/>
                </a:solidFill>
                <a:latin typeface="Times New Roman" panose="02020603050405020304" pitchFamily="18" charset="0"/>
                <a:sym typeface="Symbol" panose="05050102010706020507" pitchFamily="18" charset="2"/>
              </a:rPr>
              <a:t>                 = </a:t>
            </a:r>
            <a:r>
              <a:rPr kumimoji="1" lang="en-US" altLang="zh-CN" sz="2600" b="1" i="1" dirty="0" smtClean="0">
                <a:solidFill>
                  <a:srgbClr val="C00000"/>
                </a:solidFill>
                <a:latin typeface="Times New Roman" panose="02020603050405020304" pitchFamily="18" charset="0"/>
                <a:sym typeface="Symbol" panose="05050102010706020507" pitchFamily="18" charset="2"/>
              </a:rPr>
              <a:t>-</a:t>
            </a:r>
            <a:r>
              <a:rPr kumimoji="1" lang="en-US" altLang="zh-CN" sz="2600" b="1" i="1" dirty="0" smtClean="0">
                <a:solidFill>
                  <a:srgbClr val="000000"/>
                </a:solidFill>
                <a:latin typeface="Times New Roman" panose="02020603050405020304" pitchFamily="18" charset="0"/>
                <a:sym typeface="Symbol" panose="05050102010706020507" pitchFamily="18" charset="2"/>
              </a:rPr>
              <a:t>(</a:t>
            </a:r>
            <a:r>
              <a:rPr kumimoji="1" lang="en-US" altLang="zh-CN" sz="2600" b="1" i="1" dirty="0" smtClean="0">
                <a:solidFill>
                  <a:srgbClr val="0000FF"/>
                </a:solidFill>
                <a:latin typeface="Times New Roman" panose="02020603050405020304" pitchFamily="18" charset="0"/>
                <a:sym typeface="Symbol" panose="05050102010706020507" pitchFamily="18" charset="2"/>
              </a:rPr>
              <a:t>0</a:t>
            </a:r>
            <a:r>
              <a:rPr kumimoji="1" lang="en-US" altLang="zh-CN" sz="2600" b="1" i="1" dirty="0" smtClean="0">
                <a:solidFill>
                  <a:srgbClr val="000000"/>
                </a:solidFill>
                <a:latin typeface="Times New Roman" panose="02020603050405020304" pitchFamily="18" charset="0"/>
                <a:sym typeface="Symbol" panose="05050102010706020507" pitchFamily="18" charset="2"/>
              </a:rPr>
              <a:t>-1/2-1) × 8.314× 298.15</a:t>
            </a:r>
          </a:p>
          <a:p>
            <a:pPr fontAlgn="base">
              <a:spcBef>
                <a:spcPct val="0"/>
              </a:spcBef>
              <a:spcAft>
                <a:spcPct val="0"/>
              </a:spcAft>
            </a:pPr>
            <a:r>
              <a:rPr kumimoji="1" lang="en-US" altLang="zh-CN" sz="2600" b="1" i="1" dirty="0" smtClean="0">
                <a:solidFill>
                  <a:srgbClr val="000000"/>
                </a:solidFill>
                <a:latin typeface="Times New Roman" panose="02020603050405020304" pitchFamily="18" charset="0"/>
                <a:sym typeface="Symbol" panose="05050102010706020507" pitchFamily="18" charset="2"/>
              </a:rPr>
              <a:t>                 ≈ 3.7</a:t>
            </a:r>
            <a:r>
              <a:rPr kumimoji="1" lang="en-US" altLang="en-US" sz="2600" b="1" i="1" dirty="0" smtClean="0">
                <a:solidFill>
                  <a:srgbClr val="000000"/>
                </a:solidFill>
                <a:latin typeface="Times New Roman" panose="02020603050405020304" pitchFamily="18" charset="0"/>
                <a:sym typeface="Symbol" panose="05050102010706020507" pitchFamily="18" charset="2"/>
              </a:rPr>
              <a:t>kJ</a:t>
            </a:r>
            <a:r>
              <a:rPr kumimoji="1" lang="en-US" altLang="zh-CN" sz="2600" b="1" i="1" baseline="30000" dirty="0" smtClean="0">
                <a:solidFill>
                  <a:srgbClr val="000000"/>
                </a:solidFill>
                <a:latin typeface="Times New Roman" panose="02020603050405020304" pitchFamily="18" charset="0"/>
                <a:sym typeface="Symbol" panose="05050102010706020507" pitchFamily="18" charset="2"/>
              </a:rPr>
              <a:t>                  </a:t>
            </a:r>
            <a:r>
              <a:rPr kumimoji="1" lang="zh-CN" altLang="en-US" sz="2600" b="1" i="1" dirty="0" smtClean="0">
                <a:solidFill>
                  <a:srgbClr val="000000"/>
                </a:solidFill>
                <a:latin typeface="Times New Roman" panose="02020603050405020304" pitchFamily="18" charset="0"/>
                <a:sym typeface="Symbol" panose="05050102010706020507" pitchFamily="18" charset="2"/>
              </a:rPr>
              <a:t>而</a:t>
            </a:r>
            <a:r>
              <a:rPr kumimoji="1" lang="pt-BR" altLang="zh-CN" sz="2600" b="1" dirty="0" smtClean="0">
                <a:solidFill>
                  <a:srgbClr val="080808"/>
                </a:solidFill>
                <a:latin typeface="Times New Roman" panose="02020603050405020304" pitchFamily="18" charset="0"/>
                <a:ea typeface="楷体_GB2312" pitchFamily="49" charset="-122"/>
              </a:rPr>
              <a:t>Q</a:t>
            </a:r>
            <a:r>
              <a:rPr kumimoji="1" lang="en-US" altLang="zh-CN" sz="2600" b="1" baseline="-25000" dirty="0" smtClean="0">
                <a:solidFill>
                  <a:srgbClr val="080808"/>
                </a:solidFill>
                <a:latin typeface="Times New Roman" panose="02020603050405020304" pitchFamily="18" charset="0"/>
                <a:ea typeface="楷体_GB2312" pitchFamily="49" charset="-122"/>
              </a:rPr>
              <a:t>p </a:t>
            </a:r>
            <a:r>
              <a:rPr kumimoji="1" lang="zh-CN" altLang="en-US" sz="2600" b="1" dirty="0" smtClean="0">
                <a:solidFill>
                  <a:srgbClr val="080808"/>
                </a:solidFill>
                <a:latin typeface="Times New Roman" panose="02020603050405020304" pitchFamily="18" charset="0"/>
                <a:ea typeface="楷体_GB2312" pitchFamily="49" charset="-122"/>
              </a:rPr>
              <a:t>－</a:t>
            </a:r>
            <a:r>
              <a:rPr kumimoji="1" lang="zh-CN" altLang="en-US" sz="2600" b="1" baseline="-25000" dirty="0" smtClean="0">
                <a:solidFill>
                  <a:srgbClr val="080808"/>
                </a:solidFill>
                <a:latin typeface="Times New Roman" panose="02020603050405020304" pitchFamily="18" charset="0"/>
                <a:ea typeface="楷体_GB2312" pitchFamily="49" charset="-122"/>
              </a:rPr>
              <a:t> </a:t>
            </a:r>
            <a:r>
              <a:rPr kumimoji="1" lang="pt-BR" altLang="zh-CN" sz="2600" b="1" dirty="0" smtClean="0">
                <a:solidFill>
                  <a:srgbClr val="080808"/>
                </a:solidFill>
                <a:latin typeface="Times New Roman" panose="02020603050405020304" pitchFamily="18" charset="0"/>
                <a:ea typeface="楷体_GB2312" pitchFamily="49" charset="-122"/>
              </a:rPr>
              <a:t>Q</a:t>
            </a:r>
            <a:r>
              <a:rPr kumimoji="1" lang="pt-BR" altLang="zh-CN" sz="2600" b="1" baseline="-25000" dirty="0" smtClean="0">
                <a:solidFill>
                  <a:srgbClr val="080808"/>
                </a:solidFill>
                <a:latin typeface="Times New Roman" panose="02020603050405020304" pitchFamily="18" charset="0"/>
                <a:ea typeface="楷体_GB2312" pitchFamily="49" charset="-122"/>
              </a:rPr>
              <a:t>v</a:t>
            </a:r>
            <a:r>
              <a:rPr kumimoji="1" lang="zh-CN" altLang="pt-BR" sz="2600" b="1" dirty="0" smtClean="0">
                <a:solidFill>
                  <a:srgbClr val="080808"/>
                </a:solidFill>
                <a:latin typeface="Times New Roman" panose="02020603050405020304" pitchFamily="18" charset="0"/>
                <a:ea typeface="楷体_GB2312" pitchFamily="49" charset="-122"/>
              </a:rPr>
              <a:t>之</a:t>
            </a:r>
            <a:r>
              <a:rPr kumimoji="1" lang="en-US" altLang="zh-CN" sz="2600" b="1" dirty="0" smtClean="0">
                <a:solidFill>
                  <a:srgbClr val="080808"/>
                </a:solidFill>
                <a:latin typeface="Times New Roman" panose="02020603050405020304" pitchFamily="18" charset="0"/>
                <a:ea typeface="楷体_GB2312" pitchFamily="49" charset="-122"/>
              </a:rPr>
              <a:t>= </a:t>
            </a:r>
            <a:r>
              <a:rPr kumimoji="1" lang="en-US" altLang="zh-CN" sz="2600" b="1" dirty="0" smtClean="0">
                <a:solidFill>
                  <a:srgbClr val="C0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dirty="0" smtClean="0">
                <a:solidFill>
                  <a:srgbClr val="000000"/>
                </a:solidFill>
                <a:latin typeface="Times New Roman" panose="02020603050405020304" pitchFamily="18" charset="0"/>
                <a:ea typeface="楷体_GB2312" pitchFamily="49" charset="-122"/>
                <a:sym typeface="Symbol" panose="05050102010706020507" pitchFamily="18" charset="2"/>
              </a:rPr>
              <a:t>W        A           </a:t>
            </a:r>
            <a:r>
              <a:rPr kumimoji="1" lang="en-US" altLang="zh-CN" sz="2600" b="1" dirty="0" smtClean="0">
                <a:solidFill>
                  <a:srgbClr val="080808"/>
                </a:solidFill>
                <a:latin typeface="Times New Roman" panose="02020603050405020304" pitchFamily="18" charset="0"/>
                <a:ea typeface="楷体_GB2312" pitchFamily="49" charset="-122"/>
              </a:rPr>
              <a:t> </a:t>
            </a:r>
            <a:endParaRPr kumimoji="1" lang="en-US" altLang="zh-CN" sz="2600" b="1" i="1" baseline="30000" dirty="0" smtClean="0">
              <a:solidFill>
                <a:srgbClr val="000000"/>
              </a:solidFill>
              <a:latin typeface="Times New Roman" panose="02020603050405020304" pitchFamily="18"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animBg="1"/>
      <p:bldP spid="1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28596" y="1214422"/>
            <a:ext cx="8458200" cy="4247317"/>
          </a:xfrm>
          <a:prstGeom prst="rect">
            <a:avLst/>
          </a:prstGeom>
          <a:solidFill>
            <a:schemeClr val="bg1"/>
          </a:solidFill>
          <a:ln w="9525">
            <a:noFill/>
          </a:ln>
        </p:spPr>
        <p:txBody>
          <a:bodyPr anchor="t" anchorCtr="0">
            <a:spAutoFit/>
          </a:bodyPr>
          <a:lstStyle/>
          <a:p>
            <a:pPr>
              <a:lnSpc>
                <a:spcPts val="3600"/>
              </a:lnSpc>
            </a:pPr>
            <a:r>
              <a:rPr lang="zh-CN" altLang="en-US" sz="2600" b="1" i="0" dirty="0">
                <a:solidFill>
                  <a:srgbClr val="C00000"/>
                </a:solidFill>
                <a:latin typeface="+mj-lt"/>
                <a:ea typeface="楷体_GB2312" charset="-122"/>
              </a:rPr>
              <a:t>      </a:t>
            </a:r>
            <a:r>
              <a:rPr lang="zh-CN" altLang="en-US" sz="2600" b="1" i="0" dirty="0" smtClean="0">
                <a:solidFill>
                  <a:srgbClr val="C00000"/>
                </a:solidFill>
                <a:latin typeface="+mj-lt"/>
                <a:ea typeface="楷体_GB2312" charset="-122"/>
              </a:rPr>
              <a:t>   注</a:t>
            </a:r>
            <a:r>
              <a:rPr lang="zh-CN" altLang="en-US" sz="2600" b="1" i="0" dirty="0">
                <a:solidFill>
                  <a:srgbClr val="C00000"/>
                </a:solidFill>
                <a:latin typeface="+mj-lt"/>
                <a:ea typeface="楷体_GB2312" charset="-122"/>
              </a:rPr>
              <a:t>：</a:t>
            </a:r>
            <a:r>
              <a:rPr lang="en-US" altLang="zh-CN" sz="2600" b="1" i="0" dirty="0">
                <a:solidFill>
                  <a:schemeClr val="tx1"/>
                </a:solidFill>
                <a:latin typeface="+mj-lt"/>
                <a:ea typeface="楷体_GB2312" charset="-122"/>
              </a:rPr>
              <a:t>1)ΔU</a:t>
            </a:r>
            <a:r>
              <a:rPr lang="zh-CN" altLang="en-US" sz="2600" b="1" i="0" dirty="0">
                <a:solidFill>
                  <a:schemeClr val="tx1"/>
                </a:solidFill>
                <a:latin typeface="+mj-lt"/>
                <a:ea typeface="楷体_GB2312" charset="-122"/>
              </a:rPr>
              <a:t>是热力学能的变化（是个数据，不是函数</a:t>
            </a:r>
            <a:r>
              <a:rPr lang="en-US" altLang="zh-CN" sz="2600" b="1" i="0" dirty="0">
                <a:solidFill>
                  <a:schemeClr val="tx1"/>
                </a:solidFill>
                <a:latin typeface="+mj-lt"/>
                <a:ea typeface="楷体_GB2312" charset="-122"/>
              </a:rPr>
              <a:t>---</a:t>
            </a:r>
            <a:r>
              <a:rPr lang="zh-CN" altLang="en-US" sz="2600" b="1" i="0" dirty="0">
                <a:solidFill>
                  <a:schemeClr val="tx1"/>
                </a:solidFill>
                <a:latin typeface="+mj-lt"/>
                <a:ea typeface="楷体_GB2312" charset="-122"/>
              </a:rPr>
              <a:t>当然也不会是状态函数</a:t>
            </a:r>
            <a:r>
              <a:rPr lang="zh-CN" altLang="en-US" sz="2600" b="1" i="0" dirty="0" smtClean="0">
                <a:solidFill>
                  <a:schemeClr val="tx1"/>
                </a:solidFill>
                <a:latin typeface="+mj-lt"/>
                <a:ea typeface="楷体_GB2312" charset="-122"/>
              </a:rPr>
              <a:t>）</a:t>
            </a:r>
            <a:r>
              <a:rPr lang="zh-CN" altLang="en-US" sz="2600" b="1" i="0" dirty="0" smtClean="0">
                <a:solidFill>
                  <a:schemeClr val="tx1"/>
                </a:solidFill>
                <a:latin typeface="+mj-lt"/>
              </a:rPr>
              <a:t>。</a:t>
            </a:r>
            <a:r>
              <a:rPr lang="zh-CN" altLang="en-US" sz="2600" b="1" i="0" dirty="0" smtClean="0">
                <a:solidFill>
                  <a:schemeClr val="tx1"/>
                </a:solidFill>
                <a:latin typeface="+mj-lt"/>
                <a:ea typeface="楷体_GB2312" charset="-122"/>
              </a:rPr>
              <a:t>同理，</a:t>
            </a:r>
            <a:r>
              <a:rPr lang="en-US" altLang="zh-CN" sz="2600" b="1" i="0" dirty="0" smtClean="0">
                <a:solidFill>
                  <a:schemeClr val="tx1"/>
                </a:solidFill>
                <a:latin typeface="+mj-lt"/>
              </a:rPr>
              <a:t>ΔH…</a:t>
            </a:r>
            <a:endParaRPr lang="en-US" altLang="zh-CN" sz="2600" b="1" i="0" dirty="0">
              <a:solidFill>
                <a:schemeClr val="tx1"/>
              </a:solidFill>
              <a:latin typeface="+mj-lt"/>
              <a:ea typeface="楷体_GB2312" charset="-122"/>
            </a:endParaRPr>
          </a:p>
          <a:p>
            <a:pPr>
              <a:lnSpc>
                <a:spcPts val="3600"/>
              </a:lnSpc>
            </a:pPr>
            <a:r>
              <a:rPr lang="zh-CN" altLang="en-US" sz="2600" b="1" i="0" dirty="0">
                <a:solidFill>
                  <a:schemeClr val="tx1"/>
                </a:solidFill>
                <a:latin typeface="+mj-lt"/>
                <a:ea typeface="楷体_GB2312" charset="-122"/>
              </a:rPr>
              <a:t>        </a:t>
            </a:r>
            <a:r>
              <a:rPr lang="zh-CN" altLang="en-US" sz="2600" b="1" i="0" dirty="0" smtClean="0">
                <a:solidFill>
                  <a:schemeClr val="tx1"/>
                </a:solidFill>
                <a:latin typeface="+mj-lt"/>
                <a:ea typeface="楷体_GB2312" charset="-122"/>
              </a:rPr>
              <a:t>         封闭系统</a:t>
            </a:r>
            <a:r>
              <a:rPr lang="zh-CN" altLang="en-US" sz="2600" b="1" i="0" dirty="0">
                <a:solidFill>
                  <a:schemeClr val="tx1"/>
                </a:solidFill>
                <a:latin typeface="+mj-lt"/>
                <a:ea typeface="楷体_GB2312" charset="-122"/>
              </a:rPr>
              <a:t>等温等容条件的</a:t>
            </a:r>
            <a:r>
              <a:rPr lang="en-US" altLang="zh-CN" sz="2600" b="1" dirty="0">
                <a:solidFill>
                  <a:srgbClr val="C00000"/>
                </a:solidFill>
                <a:latin typeface="+mj-lt"/>
                <a:ea typeface="楷体_GB2312" charset="-122"/>
              </a:rPr>
              <a:t>∆U </a:t>
            </a:r>
            <a:r>
              <a:rPr lang="en-US" altLang="zh-CN" sz="2600" b="1" dirty="0">
                <a:solidFill>
                  <a:srgbClr val="C00000"/>
                </a:solidFill>
                <a:latin typeface="+mj-lt"/>
                <a:ea typeface="楷体_GB2312" charset="-122"/>
                <a:sym typeface="Symbol" panose="05050102010706020507" pitchFamily="18" charset="2"/>
              </a:rPr>
              <a:t>= Q</a:t>
            </a:r>
            <a:r>
              <a:rPr lang="en-US" altLang="zh-CN" sz="2600" b="1" baseline="-25000" dirty="0">
                <a:solidFill>
                  <a:srgbClr val="C00000"/>
                </a:solidFill>
                <a:latin typeface="+mj-lt"/>
                <a:ea typeface="楷体_GB2312" charset="-122"/>
                <a:sym typeface="Symbol" panose="05050102010706020507" pitchFamily="18" charset="2"/>
              </a:rPr>
              <a:t>v</a:t>
            </a:r>
            <a:r>
              <a:rPr lang="zh-CN" altLang="en-US" sz="2600" b="1" i="0" dirty="0">
                <a:solidFill>
                  <a:schemeClr val="tx1"/>
                </a:solidFill>
                <a:latin typeface="+mj-lt"/>
                <a:ea typeface="楷体_GB2312" charset="-122"/>
              </a:rPr>
              <a:t>；</a:t>
            </a:r>
            <a:endParaRPr lang="en-US" altLang="zh-CN" sz="2600" b="1" i="0" dirty="0">
              <a:solidFill>
                <a:schemeClr val="tx1"/>
              </a:solidFill>
              <a:latin typeface="+mj-lt"/>
              <a:ea typeface="楷体_GB2312" charset="-122"/>
            </a:endParaRPr>
          </a:p>
          <a:p>
            <a:pPr>
              <a:lnSpc>
                <a:spcPts val="4000"/>
              </a:lnSpc>
            </a:pPr>
            <a:r>
              <a:rPr lang="zh-CN" altLang="en-US" sz="2600" b="1" i="0" dirty="0">
                <a:solidFill>
                  <a:schemeClr val="tx1"/>
                </a:solidFill>
                <a:latin typeface="+mj-lt"/>
                <a:ea typeface="楷体_GB2312" charset="-122"/>
              </a:rPr>
              <a:t>        </a:t>
            </a:r>
            <a:r>
              <a:rPr lang="zh-CN" altLang="en-US" sz="2600" b="1" i="0" dirty="0" smtClean="0">
                <a:solidFill>
                  <a:schemeClr val="tx1"/>
                </a:solidFill>
                <a:latin typeface="+mj-lt"/>
                <a:ea typeface="楷体_GB2312" charset="-122"/>
              </a:rPr>
              <a:t>         封闭系统</a:t>
            </a:r>
            <a:r>
              <a:rPr lang="zh-CN" altLang="en-US" sz="2600" b="1" i="0" dirty="0">
                <a:solidFill>
                  <a:schemeClr val="tx1"/>
                </a:solidFill>
                <a:latin typeface="+mj-lt"/>
                <a:ea typeface="楷体_GB2312" charset="-122"/>
              </a:rPr>
              <a:t>等温等压条件的</a:t>
            </a:r>
            <a:r>
              <a:rPr lang="en-US" altLang="zh-CN" sz="2600" b="1" dirty="0">
                <a:solidFill>
                  <a:srgbClr val="C00000"/>
                </a:solidFill>
                <a:latin typeface="+mj-lt"/>
                <a:ea typeface="楷体_GB2312" charset="-122"/>
              </a:rPr>
              <a:t>∆U </a:t>
            </a:r>
            <a:r>
              <a:rPr lang="en-US" altLang="zh-CN" sz="2600" b="1" dirty="0">
                <a:solidFill>
                  <a:srgbClr val="C00000"/>
                </a:solidFill>
                <a:latin typeface="+mj-lt"/>
                <a:ea typeface="楷体_GB2312" charset="-122"/>
                <a:sym typeface="Symbol" panose="05050102010706020507" pitchFamily="18" charset="2"/>
              </a:rPr>
              <a:t>= </a:t>
            </a:r>
            <a:r>
              <a:rPr lang="en-US" altLang="zh-CN" sz="2600" b="1" dirty="0">
                <a:solidFill>
                  <a:srgbClr val="C00000"/>
                </a:solidFill>
                <a:latin typeface="+mj-lt"/>
                <a:ea typeface="楷体_GB2312" charset="-122"/>
              </a:rPr>
              <a:t>∆H</a:t>
            </a:r>
            <a:r>
              <a:rPr lang="en-US" altLang="zh-CN" sz="2600" b="1" dirty="0">
                <a:solidFill>
                  <a:srgbClr val="C00000"/>
                </a:solidFill>
                <a:latin typeface="+mj-lt"/>
                <a:ea typeface="楷体_GB2312" charset="-122"/>
                <a:sym typeface="Symbol" panose="05050102010706020507" pitchFamily="18" charset="2"/>
              </a:rPr>
              <a:t> + W </a:t>
            </a:r>
            <a:r>
              <a:rPr lang="zh-CN" altLang="en-US" sz="2600" b="1" dirty="0" smtClean="0">
                <a:solidFill>
                  <a:schemeClr val="tx1"/>
                </a:solidFill>
                <a:latin typeface="+mj-lt"/>
                <a:ea typeface="楷体_GB2312" charset="-122"/>
                <a:sym typeface="Symbol" panose="05050102010706020507" pitchFamily="18" charset="2"/>
              </a:rPr>
              <a:t>。</a:t>
            </a:r>
            <a:endParaRPr lang="en-US" altLang="zh-CN" sz="2600" b="1" dirty="0">
              <a:solidFill>
                <a:schemeClr val="tx1"/>
              </a:solidFill>
              <a:latin typeface="+mj-lt"/>
              <a:ea typeface="楷体_GB2312" charset="-122"/>
            </a:endParaRPr>
          </a:p>
          <a:p>
            <a:pPr>
              <a:lnSpc>
                <a:spcPts val="3600"/>
              </a:lnSpc>
            </a:pPr>
            <a:r>
              <a:rPr lang="en-US" altLang="zh-CN" sz="2600" b="1" i="0" dirty="0">
                <a:solidFill>
                  <a:schemeClr val="tx1"/>
                </a:solidFill>
                <a:latin typeface="+mj-lt"/>
                <a:ea typeface="楷体_GB2312" charset="-122"/>
              </a:rPr>
              <a:t>                 2)</a:t>
            </a:r>
            <a:r>
              <a:rPr lang="zh-CN" altLang="en-US" sz="2600" b="1" i="0" dirty="0">
                <a:solidFill>
                  <a:schemeClr val="tx1"/>
                </a:solidFill>
                <a:latin typeface="+mj-lt"/>
                <a:ea typeface="楷体_GB2312" charset="-122"/>
              </a:rPr>
              <a:t>当然，上面公式只能计算</a:t>
            </a:r>
            <a:r>
              <a:rPr lang="zh-CN" altLang="en-US" sz="2600" b="1" dirty="0">
                <a:solidFill>
                  <a:srgbClr val="0000FF"/>
                </a:solidFill>
                <a:latin typeface="+mj-lt"/>
                <a:ea typeface="楷体_GB2312" charset="-122"/>
              </a:rPr>
              <a:t>等温等压</a:t>
            </a:r>
            <a:r>
              <a:rPr lang="en-US" altLang="zh-CN" sz="2600" b="1" dirty="0">
                <a:solidFill>
                  <a:srgbClr val="0000FF"/>
                </a:solidFill>
                <a:latin typeface="+mj-lt"/>
                <a:ea typeface="楷体_GB2312" charset="-122"/>
              </a:rPr>
              <a:t>(</a:t>
            </a:r>
            <a:r>
              <a:rPr lang="zh-CN" altLang="en-US" sz="2600" b="1" dirty="0">
                <a:solidFill>
                  <a:srgbClr val="0000FF"/>
                </a:solidFill>
                <a:latin typeface="+mj-lt"/>
                <a:ea typeface="楷体_GB2312" charset="-122"/>
              </a:rPr>
              <a:t>只做体积功</a:t>
            </a:r>
            <a:r>
              <a:rPr lang="en-US" altLang="zh-CN" sz="2600" b="1" dirty="0">
                <a:solidFill>
                  <a:srgbClr val="0000FF"/>
                </a:solidFill>
                <a:latin typeface="+mj-lt"/>
                <a:ea typeface="楷体_GB2312" charset="-122"/>
              </a:rPr>
              <a:t>)</a:t>
            </a:r>
            <a:r>
              <a:rPr lang="zh-CN" altLang="en-US" sz="2600" b="1" dirty="0">
                <a:solidFill>
                  <a:srgbClr val="0000FF"/>
                </a:solidFill>
                <a:latin typeface="+mj-lt"/>
                <a:ea typeface="楷体_GB2312" charset="-122"/>
              </a:rPr>
              <a:t>条件下的化学反应</a:t>
            </a:r>
            <a:r>
              <a:rPr lang="en-US" altLang="zh-CN" sz="2600" b="1" i="0" dirty="0">
                <a:solidFill>
                  <a:schemeClr val="tx1"/>
                </a:solidFill>
                <a:latin typeface="+mj-lt"/>
                <a:ea typeface="楷体_GB2312" charset="-122"/>
              </a:rPr>
              <a:t>…</a:t>
            </a:r>
            <a:r>
              <a:rPr lang="zh-CN" altLang="en-US" sz="2600" b="1" i="0" dirty="0">
                <a:solidFill>
                  <a:schemeClr val="tx1"/>
                </a:solidFill>
                <a:latin typeface="+mj-lt"/>
                <a:ea typeface="楷体_GB2312" charset="-122"/>
              </a:rPr>
              <a:t>；对于前后分子数相等的特殊化学反应，其</a:t>
            </a:r>
            <a:r>
              <a:rPr lang="en-US" altLang="zh-CN" sz="2600" b="1" i="0" dirty="0">
                <a:solidFill>
                  <a:schemeClr val="tx1"/>
                </a:solidFill>
                <a:latin typeface="+mj-lt"/>
                <a:ea typeface="楷体_GB2312" charset="-122"/>
                <a:sym typeface="Symbol" panose="05050102010706020507" pitchFamily="18" charset="2"/>
              </a:rPr>
              <a:t>W=0</a:t>
            </a:r>
            <a:r>
              <a:rPr lang="zh-CN" altLang="en-US" sz="2600" b="1" i="0" dirty="0">
                <a:solidFill>
                  <a:schemeClr val="tx1"/>
                </a:solidFill>
                <a:latin typeface="+mj-lt"/>
                <a:ea typeface="楷体_GB2312" charset="-122"/>
                <a:sym typeface="Symbol" panose="05050102010706020507" pitchFamily="18" charset="2"/>
              </a:rPr>
              <a:t>、</a:t>
            </a:r>
            <a:r>
              <a:rPr lang="en-US" altLang="zh-CN" sz="2600" b="1" i="0" dirty="0">
                <a:solidFill>
                  <a:schemeClr val="tx1"/>
                </a:solidFill>
                <a:latin typeface="+mj-lt"/>
                <a:ea typeface="楷体_GB2312" charset="-122"/>
              </a:rPr>
              <a:t>∆U </a:t>
            </a:r>
            <a:r>
              <a:rPr lang="en-US" altLang="zh-CN" sz="2600" b="1" i="0" dirty="0">
                <a:solidFill>
                  <a:schemeClr val="tx1"/>
                </a:solidFill>
                <a:latin typeface="+mj-lt"/>
                <a:ea typeface="楷体_GB2312" charset="-122"/>
                <a:sym typeface="Symbol" panose="05050102010706020507" pitchFamily="18" charset="2"/>
              </a:rPr>
              <a:t>= Q</a:t>
            </a:r>
            <a:r>
              <a:rPr lang="en-US" altLang="zh-CN" sz="2600" b="1" i="0" baseline="-25000" dirty="0">
                <a:solidFill>
                  <a:schemeClr val="tx1"/>
                </a:solidFill>
                <a:latin typeface="+mj-lt"/>
                <a:ea typeface="楷体_GB2312" charset="-122"/>
                <a:sym typeface="Symbol" panose="05050102010706020507" pitchFamily="18" charset="2"/>
              </a:rPr>
              <a:t>p</a:t>
            </a:r>
            <a:r>
              <a:rPr lang="en-US" altLang="zh-CN" sz="2600" b="1" i="0" dirty="0">
                <a:solidFill>
                  <a:schemeClr val="tx1"/>
                </a:solidFill>
                <a:latin typeface="+mj-lt"/>
                <a:ea typeface="楷体_GB2312" charset="-122"/>
                <a:sym typeface="Symbol" panose="05050102010706020507" pitchFamily="18" charset="2"/>
              </a:rPr>
              <a:t> = </a:t>
            </a:r>
            <a:r>
              <a:rPr lang="en-US" altLang="zh-CN" sz="2600" b="1" i="0" dirty="0" err="1">
                <a:solidFill>
                  <a:schemeClr val="tx1"/>
                </a:solidFill>
                <a:latin typeface="+mj-lt"/>
                <a:ea typeface="楷体_GB2312" charset="-122"/>
                <a:sym typeface="Symbol" panose="05050102010706020507" pitchFamily="18" charset="2"/>
              </a:rPr>
              <a:t>Q</a:t>
            </a:r>
            <a:r>
              <a:rPr lang="en-US" altLang="zh-CN" sz="2600" b="1" i="0" baseline="-25000" dirty="0" err="1">
                <a:solidFill>
                  <a:schemeClr val="tx1"/>
                </a:solidFill>
                <a:latin typeface="+mj-lt"/>
                <a:ea typeface="楷体_GB2312" charset="-122"/>
                <a:sym typeface="Symbol" panose="05050102010706020507" pitchFamily="18" charset="2"/>
              </a:rPr>
              <a:t>v</a:t>
            </a:r>
            <a:r>
              <a:rPr lang="zh-CN" altLang="en-US" sz="2600" b="1" i="0" baseline="-25000" dirty="0" smtClean="0">
                <a:solidFill>
                  <a:schemeClr val="tx1"/>
                </a:solidFill>
                <a:latin typeface="+mj-lt"/>
                <a:ea typeface="楷体_GB2312" charset="-122"/>
                <a:sym typeface="Symbol" panose="05050102010706020507" pitchFamily="18" charset="2"/>
              </a:rPr>
              <a:t>。</a:t>
            </a:r>
            <a:endParaRPr lang="en-US" altLang="zh-CN" sz="2600" b="1" i="0" baseline="-25000" dirty="0" smtClean="0">
              <a:solidFill>
                <a:schemeClr val="tx1"/>
              </a:solidFill>
              <a:latin typeface="+mj-lt"/>
              <a:ea typeface="楷体_GB2312" charset="-122"/>
              <a:sym typeface="Symbol" panose="05050102010706020507" pitchFamily="18" charset="2"/>
            </a:endParaRPr>
          </a:p>
          <a:p>
            <a:pPr>
              <a:lnSpc>
                <a:spcPts val="3600"/>
              </a:lnSpc>
            </a:pPr>
            <a:r>
              <a:rPr lang="en-US" altLang="zh-CN" sz="2600" b="1" i="0" dirty="0" smtClean="0">
                <a:solidFill>
                  <a:schemeClr val="tx1"/>
                </a:solidFill>
                <a:latin typeface="+mj-lt"/>
                <a:sym typeface="Symbol" panose="05050102010706020507" pitchFamily="18" charset="2"/>
              </a:rPr>
              <a:t>                  3)</a:t>
            </a:r>
            <a:r>
              <a:rPr lang="zh-CN" altLang="en-US" sz="2600" b="1" i="0" dirty="0" smtClean="0">
                <a:solidFill>
                  <a:schemeClr val="tx1"/>
                </a:solidFill>
                <a:latin typeface="+mj-lt"/>
                <a:sym typeface="Symbol" panose="05050102010706020507" pitchFamily="18" charset="2"/>
              </a:rPr>
              <a:t>数值上，</a:t>
            </a:r>
            <a:r>
              <a:rPr lang="en-US" altLang="zh-CN" sz="2600" b="1" dirty="0" smtClean="0">
                <a:solidFill>
                  <a:srgbClr val="C00000"/>
                </a:solidFill>
                <a:latin typeface="+mj-lt"/>
              </a:rPr>
              <a:t> </a:t>
            </a:r>
            <a:r>
              <a:rPr lang="en-US" altLang="zh-CN" sz="2600" b="1" dirty="0" smtClean="0">
                <a:solidFill>
                  <a:srgbClr val="0000FF"/>
                </a:solidFill>
                <a:latin typeface="+mj-lt"/>
              </a:rPr>
              <a:t>∆U </a:t>
            </a:r>
            <a:r>
              <a:rPr lang="zh-CN" altLang="en-US" sz="2600" b="1" dirty="0" smtClean="0">
                <a:solidFill>
                  <a:srgbClr val="0000FF"/>
                </a:solidFill>
                <a:latin typeface="+mj-lt"/>
                <a:sym typeface="Symbol" panose="05050102010706020507" pitchFamily="18" charset="2"/>
              </a:rPr>
              <a:t>的值与</a:t>
            </a:r>
            <a:r>
              <a:rPr lang="en-US" altLang="zh-CN" sz="2600" b="1" dirty="0" smtClean="0">
                <a:solidFill>
                  <a:srgbClr val="0000FF"/>
                </a:solidFill>
                <a:latin typeface="+mj-lt"/>
                <a:sym typeface="Symbol" panose="05050102010706020507" pitchFamily="18" charset="2"/>
              </a:rPr>
              <a:t> </a:t>
            </a:r>
            <a:r>
              <a:rPr lang="en-US" altLang="zh-CN" sz="2600" b="1" dirty="0" smtClean="0">
                <a:solidFill>
                  <a:srgbClr val="0000FF"/>
                </a:solidFill>
                <a:latin typeface="+mj-lt"/>
              </a:rPr>
              <a:t>∆H</a:t>
            </a:r>
            <a:r>
              <a:rPr lang="zh-CN" altLang="en-US" sz="2600" b="1" dirty="0" smtClean="0">
                <a:solidFill>
                  <a:srgbClr val="0000FF"/>
                </a:solidFill>
                <a:latin typeface="+mj-lt"/>
              </a:rPr>
              <a:t>的值相差小</a:t>
            </a:r>
            <a:r>
              <a:rPr lang="en-US" altLang="zh-CN" sz="2600" b="1" dirty="0" smtClean="0">
                <a:solidFill>
                  <a:srgbClr val="0000FF"/>
                </a:solidFill>
                <a:latin typeface="+mj-lt"/>
              </a:rPr>
              <a:t>——</a:t>
            </a:r>
            <a:r>
              <a:rPr lang="zh-CN" altLang="en-US" sz="2600" b="1" dirty="0" smtClean="0">
                <a:solidFill>
                  <a:srgbClr val="0000FF"/>
                </a:solidFill>
                <a:latin typeface="+mj-lt"/>
              </a:rPr>
              <a:t>也就是说，</a:t>
            </a:r>
            <a:r>
              <a:rPr lang="en-US" altLang="zh-CN" sz="2600" b="1" dirty="0" smtClean="0">
                <a:solidFill>
                  <a:srgbClr val="0000FF"/>
                </a:solidFill>
                <a:latin typeface="+mj-lt"/>
              </a:rPr>
              <a:t>W</a:t>
            </a:r>
            <a:r>
              <a:rPr lang="zh-CN" altLang="en-US" sz="2600" b="1" dirty="0" smtClean="0">
                <a:solidFill>
                  <a:srgbClr val="0000FF"/>
                </a:solidFill>
                <a:latin typeface="+mj-lt"/>
              </a:rPr>
              <a:t>的值小</a:t>
            </a:r>
            <a:r>
              <a:rPr lang="zh-CN" altLang="en-US" sz="2600" b="1" i="0" dirty="0" smtClean="0">
                <a:solidFill>
                  <a:schemeClr val="tx1"/>
                </a:solidFill>
                <a:latin typeface="+mj-lt"/>
              </a:rPr>
              <a:t>（一般只有几个</a:t>
            </a:r>
            <a:r>
              <a:rPr kumimoji="1" lang="en-US" altLang="en-US" sz="2600" b="1" i="0" dirty="0" smtClean="0">
                <a:solidFill>
                  <a:schemeClr val="tx1"/>
                </a:solidFill>
                <a:latin typeface="+mj-lt"/>
                <a:sym typeface="Symbol" panose="05050102010706020507" pitchFamily="18" charset="2"/>
              </a:rPr>
              <a:t>kJ</a:t>
            </a:r>
            <a:r>
              <a:rPr kumimoji="1" lang="zh-CN" altLang="en-US" sz="2600" b="1" i="0" dirty="0" smtClean="0">
                <a:solidFill>
                  <a:schemeClr val="tx1"/>
                </a:solidFill>
                <a:latin typeface="+mj-lt"/>
                <a:sym typeface="Symbol" panose="05050102010706020507" pitchFamily="18" charset="2"/>
              </a:rPr>
              <a:t>，可以作为检验标准</a:t>
            </a:r>
            <a:r>
              <a:rPr lang="zh-CN" altLang="en-US" sz="2600" b="1" i="0" dirty="0" smtClean="0">
                <a:solidFill>
                  <a:schemeClr val="tx1"/>
                </a:solidFill>
                <a:latin typeface="+mj-lt"/>
              </a:rPr>
              <a:t>）</a:t>
            </a:r>
            <a:r>
              <a:rPr lang="en-US" altLang="zh-CN" sz="2600" b="1" i="0" dirty="0" smtClean="0">
                <a:solidFill>
                  <a:schemeClr val="tx1"/>
                </a:solidFill>
                <a:latin typeface="+mj-lt"/>
                <a:sym typeface="Symbol" panose="05050102010706020507" pitchFamily="18" charset="2"/>
              </a:rPr>
              <a:t> </a:t>
            </a:r>
            <a:endParaRPr lang="zh-CN" altLang="en-US" sz="2600" b="1" i="0" dirty="0">
              <a:solidFill>
                <a:schemeClr val="tx1"/>
              </a:solidFill>
              <a:latin typeface="+mj-lt"/>
              <a:ea typeface="楷体_GB2312" charset="-122"/>
            </a:endParaRPr>
          </a:p>
        </p:txBody>
      </p:sp>
      <p:sp>
        <p:nvSpPr>
          <p:cNvPr id="10" name="矩形 9"/>
          <p:cNvSpPr/>
          <p:nvPr/>
        </p:nvSpPr>
        <p:spPr>
          <a:xfrm>
            <a:off x="1066800" y="152400"/>
            <a:ext cx="6543675" cy="892175"/>
          </a:xfrm>
          <a:prstGeom prst="rect">
            <a:avLst/>
          </a:prstGeom>
          <a:solidFill>
            <a:schemeClr val="tx1">
              <a:lumMod val="25000"/>
              <a:lumOff val="75000"/>
            </a:schemeClr>
          </a:solid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600" b="1" i="1" u="none" strike="noStrike" kern="1200" cap="none" spc="0" normalizeH="0" baseline="0" noProof="0" dirty="0" err="1">
                <a:ln>
                  <a:noFill/>
                </a:ln>
                <a:solidFill>
                  <a:srgbClr val="C00000"/>
                </a:solidFill>
                <a:effectLst/>
                <a:uLnTx/>
                <a:uFillTx/>
                <a:latin typeface="Times New Roman" panose="02020603050405020304" pitchFamily="18" charset="0"/>
                <a:ea typeface="楷体_GB2312" charset="-122"/>
                <a:cs typeface="+mn-cs"/>
                <a:sym typeface="Symbol" panose="05050102010706020507" pitchFamily="18" charset="2"/>
              </a:rPr>
              <a:t>Q</a:t>
            </a:r>
            <a:r>
              <a:rPr kumimoji="1" lang="en-US" altLang="zh-CN" sz="2600" b="1" i="1" u="none" strike="noStrike" kern="1200" cap="none" spc="0" normalizeH="0" baseline="-25000" noProof="0" dirty="0" err="1">
                <a:ln>
                  <a:noFill/>
                </a:ln>
                <a:solidFill>
                  <a:srgbClr val="C00000"/>
                </a:solidFill>
                <a:effectLst/>
                <a:uLnTx/>
                <a:uFillTx/>
                <a:latin typeface="Times New Roman" panose="02020603050405020304" pitchFamily="18" charset="0"/>
                <a:ea typeface="楷体_GB2312" charset="-122"/>
                <a:cs typeface="+mn-cs"/>
                <a:sym typeface="Symbol" panose="05050102010706020507" pitchFamily="18" charset="2"/>
              </a:rPr>
              <a:t>v</a:t>
            </a:r>
            <a:r>
              <a:rPr kumimoji="1" lang="en-US" altLang="zh-CN" sz="2600" b="1" i="1" u="none" strike="noStrike" kern="1200" cap="none" spc="0" normalizeH="0" baseline="0" noProof="0" dirty="0">
                <a:ln>
                  <a:noFill/>
                </a:ln>
                <a:solidFill>
                  <a:srgbClr val="C00000"/>
                </a:solidFill>
                <a:effectLst/>
                <a:uLnTx/>
                <a:uFillTx/>
                <a:latin typeface="Times New Roman" panose="02020603050405020304" pitchFamily="18" charset="0"/>
                <a:ea typeface="楷体_GB2312" charset="-122"/>
                <a:cs typeface="+mn-cs"/>
                <a:sym typeface="Symbol" panose="05050102010706020507" pitchFamily="18" charset="2"/>
              </a:rPr>
              <a:t>=</a:t>
            </a:r>
            <a:r>
              <a:rPr kumimoji="0" lang="en-US" altLang="zh-CN" sz="2600" b="1" i="1" u="none" strike="noStrike" kern="1200" cap="none" spc="0" normalizeH="0" baseline="0" noProof="0" dirty="0">
                <a:ln>
                  <a:noFill/>
                </a:ln>
                <a:solidFill>
                  <a:srgbClr val="C00000"/>
                </a:solidFill>
                <a:effectLst/>
                <a:uLnTx/>
                <a:uFillTx/>
                <a:latin typeface="Times New Roman" panose="02020603050405020304" pitchFamily="18" charset="0"/>
                <a:ea typeface="楷体_GB2312" charset="-122"/>
                <a:cs typeface="+mn-cs"/>
              </a:rPr>
              <a:t> ∆U </a:t>
            </a:r>
            <a:r>
              <a:rPr kumimoji="1" lang="en-US" altLang="zh-CN" sz="2600" b="1" i="1" u="none" strike="noStrike" kern="1200" cap="none" spc="0" normalizeH="0" baseline="0" noProof="0" dirty="0">
                <a:ln>
                  <a:noFill/>
                </a:ln>
                <a:solidFill>
                  <a:srgbClr val="C00000"/>
                </a:solidFill>
                <a:effectLst/>
                <a:uLnTx/>
                <a:uFillTx/>
                <a:latin typeface="Times New Roman" panose="02020603050405020304" pitchFamily="18" charset="0"/>
                <a:ea typeface="楷体_GB2312" charset="-122"/>
                <a:cs typeface="+mn-cs"/>
                <a:sym typeface="Symbol" panose="05050102010706020507" pitchFamily="18" charset="2"/>
              </a:rPr>
              <a:t> </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600" b="1" i="1" u="none" strike="noStrike" kern="1200" cap="none" spc="0" normalizeH="0" baseline="0" noProof="0" dirty="0">
                <a:ln>
                  <a:noFill/>
                </a:ln>
                <a:solidFill>
                  <a:srgbClr val="C00000"/>
                </a:solidFill>
                <a:effectLst/>
                <a:uLnTx/>
                <a:uFillTx/>
                <a:latin typeface="Times New Roman" panose="02020603050405020304" pitchFamily="18" charset="0"/>
                <a:ea typeface="楷体_GB2312" charset="-122"/>
                <a:cs typeface="+mn-cs"/>
              </a:rPr>
              <a:t>∆U </a:t>
            </a:r>
            <a:r>
              <a:rPr kumimoji="1" lang="en-US" altLang="zh-CN" sz="2600" b="1" i="1" u="none" strike="noStrike" kern="1200" cap="none" spc="0" normalizeH="0" baseline="0" noProof="0" dirty="0">
                <a:ln>
                  <a:noFill/>
                </a:ln>
                <a:solidFill>
                  <a:srgbClr val="C00000"/>
                </a:solidFill>
                <a:effectLst/>
                <a:uLnTx/>
                <a:uFillTx/>
                <a:latin typeface="Times New Roman" panose="02020603050405020304" pitchFamily="18" charset="0"/>
                <a:ea typeface="楷体_GB2312" charset="-122"/>
                <a:cs typeface="+mn-cs"/>
                <a:sym typeface="Symbol" panose="05050102010706020507" pitchFamily="18" charset="2"/>
              </a:rPr>
              <a:t>= </a:t>
            </a:r>
            <a:r>
              <a:rPr kumimoji="1" lang="en-US" altLang="zh-CN" sz="2600" b="1" i="1" u="none" strike="noStrike" kern="1200" cap="none" spc="0" normalizeH="0" baseline="0" noProof="0" dirty="0" err="1">
                <a:ln>
                  <a:noFill/>
                </a:ln>
                <a:solidFill>
                  <a:srgbClr val="C00000"/>
                </a:solidFill>
                <a:effectLst/>
                <a:uLnTx/>
                <a:uFillTx/>
                <a:latin typeface="Times New Roman" panose="02020603050405020304" pitchFamily="18" charset="0"/>
                <a:ea typeface="楷体_GB2312" charset="-122"/>
                <a:cs typeface="+mn-cs"/>
                <a:sym typeface="Symbol" panose="05050102010706020507" pitchFamily="18" charset="2"/>
              </a:rPr>
              <a:t>Q</a:t>
            </a:r>
            <a:r>
              <a:rPr kumimoji="1" lang="en-US" altLang="zh-CN" sz="2600" b="1" i="1" u="none" strike="noStrike" kern="1200" cap="none" spc="0" normalizeH="0" baseline="-25000" noProof="0" dirty="0" err="1">
                <a:ln>
                  <a:noFill/>
                </a:ln>
                <a:solidFill>
                  <a:srgbClr val="C00000"/>
                </a:solidFill>
                <a:effectLst/>
                <a:uLnTx/>
                <a:uFillTx/>
                <a:latin typeface="Times New Roman" panose="02020603050405020304" pitchFamily="18" charset="0"/>
                <a:ea typeface="楷体_GB2312" charset="-122"/>
                <a:cs typeface="+mn-cs"/>
                <a:sym typeface="Symbol" panose="05050102010706020507" pitchFamily="18" charset="2"/>
              </a:rPr>
              <a:t>p</a:t>
            </a:r>
            <a:r>
              <a:rPr kumimoji="1" lang="en-US" altLang="zh-CN" sz="2600" b="1" i="1" u="none" strike="noStrike" kern="1200" cap="none" spc="0" normalizeH="0" baseline="0" noProof="0" dirty="0">
                <a:ln>
                  <a:noFill/>
                </a:ln>
                <a:solidFill>
                  <a:srgbClr val="C00000"/>
                </a:solidFill>
                <a:effectLst/>
                <a:uLnTx/>
                <a:uFillTx/>
                <a:latin typeface="Times New Roman" panose="02020603050405020304" pitchFamily="18" charset="0"/>
                <a:ea typeface="楷体_GB2312" charset="-122"/>
                <a:cs typeface="+mn-cs"/>
                <a:sym typeface="Symbol" panose="05050102010706020507" pitchFamily="18" charset="2"/>
              </a:rPr>
              <a:t> + W = </a:t>
            </a:r>
            <a:r>
              <a:rPr kumimoji="1" lang="en-US" altLang="zh-CN" sz="2600" b="1" i="1" u="none" strike="noStrike" kern="1200" cap="none" spc="0" normalizeH="0" baseline="0" noProof="0" dirty="0" err="1">
                <a:ln>
                  <a:noFill/>
                </a:ln>
                <a:solidFill>
                  <a:srgbClr val="C00000"/>
                </a:solidFill>
                <a:effectLst/>
                <a:uLnTx/>
                <a:uFillTx/>
                <a:latin typeface="Times New Roman" panose="02020603050405020304" pitchFamily="18" charset="0"/>
                <a:ea typeface="楷体_GB2312" charset="-122"/>
                <a:cs typeface="+mn-cs"/>
                <a:sym typeface="Symbol" panose="05050102010706020507" pitchFamily="18" charset="2"/>
              </a:rPr>
              <a:t>Q</a:t>
            </a:r>
            <a:r>
              <a:rPr kumimoji="1" lang="en-US" altLang="zh-CN" sz="2600" b="1" i="1" u="none" strike="noStrike" kern="1200" cap="none" spc="0" normalizeH="0" baseline="-25000" noProof="0" dirty="0" err="1">
                <a:ln>
                  <a:noFill/>
                </a:ln>
                <a:solidFill>
                  <a:srgbClr val="C00000"/>
                </a:solidFill>
                <a:effectLst/>
                <a:uLnTx/>
                <a:uFillTx/>
                <a:latin typeface="Times New Roman" panose="02020603050405020304" pitchFamily="18" charset="0"/>
                <a:ea typeface="楷体_GB2312" charset="-122"/>
                <a:cs typeface="+mn-cs"/>
                <a:sym typeface="Symbol" panose="05050102010706020507" pitchFamily="18" charset="2"/>
              </a:rPr>
              <a:t>p</a:t>
            </a:r>
            <a:r>
              <a:rPr kumimoji="1" lang="en-US" altLang="zh-CN" sz="2600" b="1" i="1" u="none" strike="noStrike" kern="1200" cap="none" spc="0" normalizeH="0" baseline="0" noProof="0" dirty="0">
                <a:ln>
                  <a:noFill/>
                </a:ln>
                <a:solidFill>
                  <a:srgbClr val="C00000"/>
                </a:solidFill>
                <a:effectLst/>
                <a:uLnTx/>
                <a:uFillTx/>
                <a:latin typeface="Times New Roman" panose="02020603050405020304" pitchFamily="18" charset="0"/>
                <a:ea typeface="楷体_GB2312" charset="-122"/>
                <a:cs typeface="+mn-cs"/>
                <a:sym typeface="Symbol" panose="05050102010706020507" pitchFamily="18" charset="2"/>
              </a:rPr>
              <a:t> - </a:t>
            </a:r>
            <a:r>
              <a:rPr kumimoji="1" lang="en-US" altLang="zh-CN" sz="2600" b="1" i="1" u="none" strike="noStrike" kern="1200" cap="none" spc="0" normalizeH="0" baseline="0" noProof="0" dirty="0" err="1">
                <a:ln>
                  <a:noFill/>
                </a:ln>
                <a:solidFill>
                  <a:srgbClr val="C00000"/>
                </a:solidFill>
                <a:effectLst/>
                <a:uLnTx/>
                <a:uFillTx/>
                <a:latin typeface="Times New Roman" panose="02020603050405020304" pitchFamily="18" charset="0"/>
                <a:ea typeface="楷体_GB2312" charset="-122"/>
                <a:cs typeface="+mn-cs"/>
              </a:rPr>
              <a:t>p⊿V</a:t>
            </a:r>
            <a:r>
              <a:rPr kumimoji="1" lang="en-US" altLang="zh-CN" sz="2600" b="1" i="1" u="none" strike="noStrike" kern="1200" cap="none" spc="0" normalizeH="0" baseline="0" noProof="0" dirty="0">
                <a:ln>
                  <a:noFill/>
                </a:ln>
                <a:solidFill>
                  <a:srgbClr val="C00000"/>
                </a:solidFill>
                <a:effectLst/>
                <a:uLnTx/>
                <a:uFillTx/>
                <a:latin typeface="Times New Roman" panose="02020603050405020304" pitchFamily="18" charset="0"/>
                <a:ea typeface="楷体_GB2312" charset="-122"/>
                <a:cs typeface="+mn-cs"/>
              </a:rPr>
              <a:t> =</a:t>
            </a:r>
            <a:r>
              <a:rPr kumimoji="1" lang="en-US" altLang="zh-CN" sz="2600" b="1" i="1" u="none" strike="noStrike" kern="1200" cap="none" spc="0" normalizeH="0" baseline="0" noProof="0" dirty="0">
                <a:ln>
                  <a:noFill/>
                </a:ln>
                <a:solidFill>
                  <a:srgbClr val="C00000"/>
                </a:solidFill>
                <a:effectLst/>
                <a:uLnTx/>
                <a:uFillTx/>
                <a:latin typeface="Times New Roman" panose="02020603050405020304" pitchFamily="18" charset="0"/>
                <a:ea typeface="楷体_GB2312" charset="-122"/>
                <a:cs typeface="+mn-cs"/>
                <a:sym typeface="Symbol" panose="05050102010706020507" pitchFamily="18" charset="2"/>
              </a:rPr>
              <a:t> </a:t>
            </a:r>
            <a:r>
              <a:rPr kumimoji="1" lang="en-US" altLang="zh-CN" sz="2600" b="1" i="1" u="none" strike="noStrike" kern="1200" cap="none" spc="0" normalizeH="0" baseline="0" noProof="0" dirty="0" err="1">
                <a:ln>
                  <a:noFill/>
                </a:ln>
                <a:solidFill>
                  <a:srgbClr val="C00000"/>
                </a:solidFill>
                <a:effectLst/>
                <a:uLnTx/>
                <a:uFillTx/>
                <a:latin typeface="Times New Roman" panose="02020603050405020304" pitchFamily="18" charset="0"/>
                <a:ea typeface="楷体_GB2312" charset="-122"/>
                <a:cs typeface="+mn-cs"/>
                <a:sym typeface="Symbol" panose="05050102010706020507" pitchFamily="18" charset="2"/>
              </a:rPr>
              <a:t>Q</a:t>
            </a:r>
            <a:r>
              <a:rPr kumimoji="1" lang="en-US" altLang="zh-CN" sz="2600" b="1" i="1" u="none" strike="noStrike" kern="1200" cap="none" spc="0" normalizeH="0" baseline="-25000" noProof="0" dirty="0" err="1">
                <a:ln>
                  <a:noFill/>
                </a:ln>
                <a:solidFill>
                  <a:srgbClr val="C00000"/>
                </a:solidFill>
                <a:effectLst/>
                <a:uLnTx/>
                <a:uFillTx/>
                <a:latin typeface="Times New Roman" panose="02020603050405020304" pitchFamily="18" charset="0"/>
                <a:ea typeface="楷体_GB2312" charset="-122"/>
                <a:cs typeface="+mn-cs"/>
                <a:sym typeface="Symbol" panose="05050102010706020507" pitchFamily="18" charset="2"/>
              </a:rPr>
              <a:t>p</a:t>
            </a:r>
            <a:r>
              <a:rPr kumimoji="1" lang="en-US" altLang="zh-CN" sz="2600" b="1" i="1" u="none" strike="noStrike" kern="1200" cap="none" spc="0" normalizeH="0" baseline="0" noProof="0" dirty="0">
                <a:ln>
                  <a:noFill/>
                </a:ln>
                <a:solidFill>
                  <a:srgbClr val="C00000"/>
                </a:solidFill>
                <a:effectLst/>
                <a:uLnTx/>
                <a:uFillTx/>
                <a:latin typeface="Times New Roman" panose="02020603050405020304" pitchFamily="18" charset="0"/>
                <a:ea typeface="楷体_GB2312" charset="-122"/>
                <a:cs typeface="+mn-cs"/>
                <a:sym typeface="Symbol" panose="05050102010706020507" pitchFamily="18" charset="2"/>
              </a:rPr>
              <a:t> - </a:t>
            </a:r>
            <a:r>
              <a:rPr kumimoji="1" lang="en-US" altLang="zh-CN" sz="2600" b="1" i="1" u="none" strike="noStrike" kern="1200" cap="none" spc="0" normalizeH="0" baseline="0" noProof="0" dirty="0">
                <a:ln>
                  <a:noFill/>
                </a:ln>
                <a:solidFill>
                  <a:srgbClr val="C00000"/>
                </a:solidFill>
                <a:effectLst/>
                <a:uLnTx/>
                <a:uFillTx/>
                <a:latin typeface="Times New Roman" panose="02020603050405020304" pitchFamily="18" charset="0"/>
                <a:ea typeface="楷体_GB2312" charset="-122"/>
                <a:cs typeface="+mn-cs"/>
              </a:rPr>
              <a:t>⊿</a:t>
            </a:r>
            <a:r>
              <a:rPr kumimoji="1" lang="en-US" altLang="zh-CN" sz="2600" b="1" i="1" u="none" strike="noStrike" kern="1200" cap="none" spc="0" normalizeH="0" baseline="0" noProof="0" dirty="0" err="1">
                <a:ln>
                  <a:noFill/>
                </a:ln>
                <a:solidFill>
                  <a:srgbClr val="C00000"/>
                </a:solidFill>
                <a:effectLst/>
                <a:uLnTx/>
                <a:uFillTx/>
                <a:latin typeface="Times New Roman" panose="02020603050405020304" pitchFamily="18" charset="0"/>
                <a:ea typeface="楷体_GB2312" charset="-122"/>
                <a:cs typeface="+mn-cs"/>
              </a:rPr>
              <a:t>nRT</a:t>
            </a:r>
            <a:r>
              <a:rPr kumimoji="1" lang="en-US" altLang="zh-CN" sz="2600" b="1" i="1" u="none" strike="noStrike" kern="1200" cap="none" spc="0" normalizeH="0" baseline="0" noProof="0" dirty="0">
                <a:ln>
                  <a:noFill/>
                </a:ln>
                <a:solidFill>
                  <a:srgbClr val="C00000"/>
                </a:solidFill>
                <a:effectLst/>
                <a:uLnTx/>
                <a:uFillTx/>
                <a:latin typeface="Times New Roman" panose="02020603050405020304" pitchFamily="18" charset="0"/>
                <a:ea typeface="楷体_GB2312" charset="-122"/>
                <a:cs typeface="+mn-cs"/>
              </a:rPr>
              <a:t> </a:t>
            </a:r>
            <a:endParaRPr kumimoji="1" lang="en-US" altLang="zh-CN" sz="2600" b="1" i="1" u="none" strike="noStrike" kern="1200" cap="none" spc="0" normalizeH="0" baseline="0" noProof="0" dirty="0">
              <a:ln>
                <a:noFill/>
              </a:ln>
              <a:solidFill>
                <a:srgbClr val="C00000"/>
              </a:solidFill>
              <a:effectLst/>
              <a:uLnTx/>
              <a:uFillTx/>
              <a:latin typeface="Times New Roman" panose="02020603050405020304" pitchFamily="18" charset="0"/>
              <a:ea typeface="楷体_GB2312" charset="-122"/>
              <a:cs typeface="+mn-cs"/>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图片 99"/>
          <p:cNvPicPr/>
          <p:nvPr>
            <p:custDataLst>
              <p:tags r:id="rId1"/>
            </p:custDataLst>
          </p:nvPr>
        </p:nvPicPr>
        <p:blipFill>
          <a:blip r:embed="rId3" cstate="print"/>
          <a:stretch>
            <a:fillRect/>
          </a:stretch>
        </p:blipFill>
        <p:spPr>
          <a:xfrm>
            <a:off x="107950" y="3573145"/>
            <a:ext cx="8932545" cy="3307715"/>
          </a:xfrm>
          <a:prstGeom prst="rect">
            <a:avLst/>
          </a:prstGeom>
          <a:noFill/>
          <a:ln w="9525">
            <a:noFill/>
          </a:ln>
        </p:spPr>
      </p:pic>
      <p:pic>
        <p:nvPicPr>
          <p:cNvPr id="101" name="图片 100"/>
          <p:cNvPicPr/>
          <p:nvPr/>
        </p:nvPicPr>
        <p:blipFill>
          <a:blip r:embed="rId4"/>
          <a:stretch>
            <a:fillRect/>
          </a:stretch>
        </p:blipFill>
        <p:spPr>
          <a:xfrm>
            <a:off x="35560" y="0"/>
            <a:ext cx="4975860" cy="3322955"/>
          </a:xfrm>
          <a:prstGeom prst="rect">
            <a:avLst/>
          </a:prstGeom>
          <a:noFill/>
          <a:ln w="9525">
            <a:noFill/>
          </a:ln>
        </p:spPr>
      </p:pic>
      <p:pic>
        <p:nvPicPr>
          <p:cNvPr id="102" name="图片 101"/>
          <p:cNvPicPr/>
          <p:nvPr/>
        </p:nvPicPr>
        <p:blipFill>
          <a:blip r:embed="rId5" cstate="print"/>
          <a:stretch>
            <a:fillRect/>
          </a:stretch>
        </p:blipFill>
        <p:spPr>
          <a:xfrm>
            <a:off x="5147945" y="44450"/>
            <a:ext cx="3827145" cy="3278505"/>
          </a:xfrm>
          <a:prstGeom prst="rect">
            <a:avLst/>
          </a:prstGeom>
          <a:noFill/>
          <a:ln w="9525">
            <a:noFill/>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6" name="Rectangle 6"/>
          <p:cNvSpPr/>
          <p:nvPr/>
        </p:nvSpPr>
        <p:spPr>
          <a:xfrm>
            <a:off x="357158" y="3286124"/>
            <a:ext cx="8382000" cy="2862322"/>
          </a:xfrm>
          <a:prstGeom prst="rect">
            <a:avLst/>
          </a:prstGeom>
          <a:solidFill>
            <a:schemeClr val="bg1"/>
          </a:solidFill>
          <a:ln w="9525">
            <a:noFill/>
          </a:ln>
        </p:spPr>
        <p:txBody>
          <a:bodyPr anchor="t" anchorCtr="0">
            <a:spAutoFit/>
          </a:bodyPr>
          <a:lstStyle/>
          <a:p>
            <a:pPr>
              <a:lnSpc>
                <a:spcPts val="3600"/>
              </a:lnSpc>
            </a:pPr>
            <a:r>
              <a:rPr lang="en-US" altLang="zh-CN" sz="2600" b="1" i="0" dirty="0">
                <a:solidFill>
                  <a:schemeClr val="tx1"/>
                </a:solidFill>
                <a:latin typeface="+mj-lt"/>
                <a:ea typeface="楷体_GB2312" charset="-122"/>
              </a:rPr>
              <a:t>        </a:t>
            </a:r>
            <a:r>
              <a:rPr lang="zh-CN" altLang="en-US" sz="2600" b="1" i="0" dirty="0">
                <a:solidFill>
                  <a:srgbClr val="C00000"/>
                </a:solidFill>
                <a:latin typeface="+mj-lt"/>
                <a:ea typeface="楷体_GB2312" charset="-122"/>
              </a:rPr>
              <a:t>定义</a:t>
            </a:r>
            <a:r>
              <a:rPr lang="en-US" altLang="zh-CN" sz="2600" b="1" i="0" dirty="0">
                <a:solidFill>
                  <a:schemeClr val="tx1"/>
                </a:solidFill>
                <a:latin typeface="+mj-lt"/>
                <a:ea typeface="楷体_GB2312" charset="-122"/>
              </a:rPr>
              <a:t>——</a:t>
            </a:r>
            <a:r>
              <a:rPr lang="zh-CN" altLang="en-US" sz="2600" b="1" i="0" dirty="0">
                <a:solidFill>
                  <a:schemeClr val="tx1"/>
                </a:solidFill>
                <a:latin typeface="+mj-lt"/>
                <a:ea typeface="楷体_GB2312" charset="-122"/>
              </a:rPr>
              <a:t>在热力学温度</a:t>
            </a:r>
            <a:r>
              <a:rPr lang="en-US" altLang="zh-CN" sz="2600" b="1" i="0" dirty="0">
                <a:solidFill>
                  <a:schemeClr val="tx1"/>
                </a:solidFill>
                <a:latin typeface="+mj-lt"/>
                <a:ea typeface="楷体_GB2312" charset="-122"/>
              </a:rPr>
              <a:t>T</a:t>
            </a:r>
            <a:r>
              <a:rPr lang="zh-CN" altLang="en-US" sz="2600" b="1" i="0" dirty="0">
                <a:solidFill>
                  <a:schemeClr val="tx1"/>
                </a:solidFill>
                <a:latin typeface="+mj-lt"/>
                <a:ea typeface="楷体_GB2312" charset="-122"/>
              </a:rPr>
              <a:t>下，一般都是由处于热力学标态的</a:t>
            </a:r>
            <a:r>
              <a:rPr lang="zh-CN" altLang="en-US" sz="2600" b="1" i="1" dirty="0">
                <a:solidFill>
                  <a:srgbClr val="2909C9"/>
                </a:solidFill>
                <a:latin typeface="+mj-lt"/>
                <a:ea typeface="楷体_GB2312" charset="-122"/>
              </a:rPr>
              <a:t>各元素最稳定单质</a:t>
            </a:r>
            <a:r>
              <a:rPr lang="zh-CN" altLang="en-US" sz="2600" b="1" i="0" dirty="0">
                <a:solidFill>
                  <a:schemeClr val="tx1"/>
                </a:solidFill>
                <a:latin typeface="+mj-lt"/>
                <a:ea typeface="楷体_GB2312" charset="-122"/>
              </a:rPr>
              <a:t>生成</a:t>
            </a:r>
            <a:r>
              <a:rPr lang="en-US" altLang="zh-CN" sz="2600" b="1" i="1" dirty="0">
                <a:solidFill>
                  <a:srgbClr val="0000FF"/>
                </a:solidFill>
                <a:latin typeface="+mj-lt"/>
                <a:ea typeface="楷体_GB2312" charset="-122"/>
              </a:rPr>
              <a:t>1mol B</a:t>
            </a:r>
            <a:r>
              <a:rPr lang="zh-CN" altLang="en-US" sz="2600" b="1" i="1" dirty="0">
                <a:solidFill>
                  <a:srgbClr val="0000FF"/>
                </a:solidFill>
                <a:latin typeface="+mj-lt"/>
                <a:ea typeface="楷体_GB2312" charset="-122"/>
              </a:rPr>
              <a:t>物质</a:t>
            </a:r>
            <a:r>
              <a:rPr lang="zh-CN" altLang="en-US" sz="2600" b="1" i="0" dirty="0">
                <a:solidFill>
                  <a:schemeClr val="tx1"/>
                </a:solidFill>
                <a:latin typeface="+mj-lt"/>
                <a:ea typeface="楷体_GB2312" charset="-122"/>
              </a:rPr>
              <a:t>（化合物或单质）的标准摩尔反应焓变</a:t>
            </a:r>
            <a:r>
              <a:rPr lang="zh-CN" altLang="en-US" sz="2600" b="1" i="0" dirty="0" smtClean="0">
                <a:solidFill>
                  <a:schemeClr val="tx1"/>
                </a:solidFill>
                <a:latin typeface="+mj-lt"/>
                <a:ea typeface="楷体_GB2312" charset="-122"/>
              </a:rPr>
              <a:t>。</a:t>
            </a:r>
            <a:endParaRPr lang="en-US" altLang="zh-CN" sz="2600" b="1" i="0" dirty="0" smtClean="0">
              <a:solidFill>
                <a:schemeClr val="tx1"/>
              </a:solidFill>
              <a:latin typeface="+mj-lt"/>
              <a:ea typeface="楷体_GB2312" charset="-122"/>
            </a:endParaRPr>
          </a:p>
          <a:p>
            <a:pPr>
              <a:lnSpc>
                <a:spcPts val="3600"/>
              </a:lnSpc>
            </a:pPr>
            <a:r>
              <a:rPr lang="en-US" altLang="zh-CN" sz="2600" b="1" i="0" dirty="0" smtClean="0">
                <a:solidFill>
                  <a:schemeClr val="tx1"/>
                </a:solidFill>
                <a:latin typeface="+mj-lt"/>
              </a:rPr>
              <a:t>         </a:t>
            </a:r>
            <a:r>
              <a:rPr lang="zh-CN" altLang="en-US" sz="2600" b="1" i="0" dirty="0" smtClean="0">
                <a:solidFill>
                  <a:schemeClr val="tx1"/>
                </a:solidFill>
                <a:latin typeface="+mj-lt"/>
              </a:rPr>
              <a:t>注意</a:t>
            </a:r>
            <a:r>
              <a:rPr lang="en-US" altLang="zh-CN" sz="2600" b="1" i="0" dirty="0" smtClean="0">
                <a:solidFill>
                  <a:schemeClr val="tx1"/>
                </a:solidFill>
                <a:latin typeface="+mj-lt"/>
              </a:rPr>
              <a:t>——</a:t>
            </a:r>
            <a:r>
              <a:rPr lang="zh-CN" altLang="en-US" sz="2600" b="1" dirty="0" smtClean="0">
                <a:latin typeface="+mj-lt"/>
              </a:rPr>
              <a:t>物质的</a:t>
            </a:r>
            <a:r>
              <a:rPr lang="zh-CN" altLang="en-US" sz="2600" b="1" i="0" dirty="0" smtClean="0">
                <a:solidFill>
                  <a:schemeClr val="tx1"/>
                </a:solidFill>
                <a:latin typeface="+mj-lt"/>
              </a:rPr>
              <a:t>标准摩尔生成焓变</a:t>
            </a:r>
            <a:r>
              <a:rPr lang="zh-CN" altLang="en-US" sz="2600" b="1" i="1" dirty="0" smtClean="0">
                <a:solidFill>
                  <a:srgbClr val="C00000"/>
                </a:solidFill>
                <a:latin typeface="+mj-lt"/>
              </a:rPr>
              <a:t>△</a:t>
            </a:r>
            <a:r>
              <a:rPr lang="en-US" altLang="zh-CN" sz="2600" b="1" i="1" baseline="-25000" dirty="0" err="1" smtClean="0">
                <a:solidFill>
                  <a:srgbClr val="C00000"/>
                </a:solidFill>
                <a:latin typeface="+mj-lt"/>
              </a:rPr>
              <a:t>f</a:t>
            </a:r>
            <a:r>
              <a:rPr lang="en-US" altLang="zh-CN" sz="2600" b="1" i="1" dirty="0" err="1" smtClean="0">
                <a:solidFill>
                  <a:srgbClr val="C00000"/>
                </a:solidFill>
                <a:latin typeface="+mj-lt"/>
              </a:rPr>
              <a:t>H</a:t>
            </a:r>
            <a:r>
              <a:rPr lang="en-US" altLang="zh-CN" sz="2600" b="1" i="1" baseline="-25000" dirty="0" err="1" smtClean="0">
                <a:solidFill>
                  <a:srgbClr val="C00000"/>
                </a:solidFill>
                <a:latin typeface="+mj-lt"/>
              </a:rPr>
              <a:t>m</a:t>
            </a:r>
            <a:r>
              <a:rPr lang="el-GR" altLang="zh-CN" sz="2600" b="1" i="1" baseline="30000" dirty="0" smtClean="0">
                <a:solidFill>
                  <a:srgbClr val="C00000"/>
                </a:solidFill>
                <a:latin typeface="+mj-lt"/>
              </a:rPr>
              <a:t>Θ</a:t>
            </a:r>
            <a:r>
              <a:rPr lang="zh-CN" altLang="en-US" sz="2600" b="1" i="0" dirty="0" smtClean="0">
                <a:solidFill>
                  <a:schemeClr val="tx1"/>
                </a:solidFill>
                <a:latin typeface="+mj-lt"/>
              </a:rPr>
              <a:t>，是特殊反应的反应焓变（</a:t>
            </a:r>
            <a:r>
              <a:rPr lang="zh-CN" altLang="en-US" sz="2600" b="1" i="1" dirty="0" smtClean="0">
                <a:solidFill>
                  <a:srgbClr val="2909C9"/>
                </a:solidFill>
                <a:latin typeface="+mj-lt"/>
              </a:rPr>
              <a:t>要符合</a:t>
            </a:r>
            <a:r>
              <a:rPr lang="en-US" altLang="zh-CN" sz="2600" b="1" i="1" dirty="0" smtClean="0">
                <a:solidFill>
                  <a:srgbClr val="2909C9"/>
                </a:solidFill>
                <a:latin typeface="+mj-lt"/>
              </a:rPr>
              <a:t>2</a:t>
            </a:r>
            <a:r>
              <a:rPr lang="zh-CN" altLang="en-US" sz="2600" b="1" i="1" dirty="0" smtClean="0">
                <a:solidFill>
                  <a:srgbClr val="2909C9"/>
                </a:solidFill>
                <a:latin typeface="+mj-lt"/>
              </a:rPr>
              <a:t>个条件</a:t>
            </a:r>
            <a:r>
              <a:rPr lang="zh-CN" altLang="en-US" sz="2600" b="1" i="1" dirty="0" smtClean="0">
                <a:latin typeface="+mj-lt"/>
              </a:rPr>
              <a:t>，例子如下</a:t>
            </a:r>
            <a:r>
              <a:rPr lang="zh-CN" altLang="en-US" sz="2600" b="1" i="0" dirty="0" smtClean="0">
                <a:solidFill>
                  <a:schemeClr val="tx1"/>
                </a:solidFill>
                <a:latin typeface="+mj-lt"/>
              </a:rPr>
              <a:t>），而不是一般化学</a:t>
            </a:r>
            <a:r>
              <a:rPr lang="zh-CN" altLang="en-US" sz="2600" b="1" dirty="0" smtClean="0">
                <a:latin typeface="+mj-lt"/>
              </a:rPr>
              <a:t>反应的</a:t>
            </a:r>
            <a:r>
              <a:rPr lang="zh-CN" altLang="en-US" sz="2600" b="1" i="0" dirty="0" smtClean="0">
                <a:solidFill>
                  <a:schemeClr val="tx1"/>
                </a:solidFill>
                <a:latin typeface="+mj-lt"/>
              </a:rPr>
              <a:t>标准摩尔反应焓变</a:t>
            </a:r>
            <a:r>
              <a:rPr lang="zh-CN" altLang="en-US" sz="2600" b="1" i="1" dirty="0" smtClean="0">
                <a:solidFill>
                  <a:srgbClr val="C00000"/>
                </a:solidFill>
                <a:latin typeface="+mj-lt"/>
                <a:sym typeface="Symbol" panose="05050102010706020507" pitchFamily="18" charset="2"/>
              </a:rPr>
              <a:t></a:t>
            </a:r>
            <a:r>
              <a:rPr lang="en-US" altLang="zh-CN" sz="2600" b="1" i="1" baseline="-25000" dirty="0" err="1" smtClean="0">
                <a:solidFill>
                  <a:srgbClr val="C00000"/>
                </a:solidFill>
                <a:latin typeface="+mj-lt"/>
                <a:sym typeface="Symbol" panose="05050102010706020507" pitchFamily="18" charset="2"/>
              </a:rPr>
              <a:t>r</a:t>
            </a:r>
            <a:r>
              <a:rPr lang="en-US" altLang="en-US" sz="2600" b="1" i="1" dirty="0" err="1" smtClean="0">
                <a:solidFill>
                  <a:srgbClr val="C00000"/>
                </a:solidFill>
                <a:latin typeface="+mj-lt"/>
                <a:sym typeface="Symbol" panose="05050102010706020507" pitchFamily="18" charset="2"/>
              </a:rPr>
              <a:t>H</a:t>
            </a:r>
            <a:r>
              <a:rPr lang="en-US" altLang="zh-CN" sz="2600" b="1" i="1" dirty="0" smtClean="0">
                <a:solidFill>
                  <a:srgbClr val="C00000"/>
                </a:solidFill>
                <a:latin typeface="+mj-lt"/>
                <a:sym typeface="Symbol" panose="05050102010706020507" pitchFamily="18" charset="2"/>
              </a:rPr>
              <a:t> </a:t>
            </a:r>
            <a:r>
              <a:rPr lang="en-US" altLang="zh-CN" sz="2600" b="1" i="1" baseline="-25000" dirty="0" smtClean="0">
                <a:solidFill>
                  <a:srgbClr val="C00000"/>
                </a:solidFill>
                <a:latin typeface="+mj-lt"/>
                <a:sym typeface="Symbol" panose="05050102010706020507" pitchFamily="18" charset="2"/>
              </a:rPr>
              <a:t>m</a:t>
            </a:r>
            <a:r>
              <a:rPr lang="el-GR" altLang="zh-CN" sz="2600" b="1" i="1" baseline="30000" dirty="0" smtClean="0">
                <a:solidFill>
                  <a:srgbClr val="C00000"/>
                </a:solidFill>
                <a:latin typeface="+mj-lt"/>
              </a:rPr>
              <a:t>Θ</a:t>
            </a:r>
            <a:r>
              <a:rPr lang="zh-CN" altLang="en-US" sz="2600" b="1" dirty="0" smtClean="0">
                <a:latin typeface="+mj-lt"/>
                <a:ea typeface="楷体_GB2312" charset="-122"/>
              </a:rPr>
              <a:t>：</a:t>
            </a:r>
            <a:endParaRPr lang="zh-CN" altLang="en-US" sz="2600" b="1" i="0" dirty="0">
              <a:solidFill>
                <a:schemeClr val="tx1"/>
              </a:solidFill>
              <a:latin typeface="+mj-lt"/>
              <a:ea typeface="楷体_GB2312" charset="-122"/>
            </a:endParaRPr>
          </a:p>
        </p:txBody>
      </p:sp>
      <p:sp>
        <p:nvSpPr>
          <p:cNvPr id="7" name="Rectangle 5"/>
          <p:cNvSpPr/>
          <p:nvPr/>
        </p:nvSpPr>
        <p:spPr>
          <a:xfrm>
            <a:off x="1357290" y="71414"/>
            <a:ext cx="6172200" cy="457200"/>
          </a:xfrm>
          <a:prstGeom prst="rect">
            <a:avLst/>
          </a:prstGeom>
          <a:noFill/>
          <a:ln w="9525">
            <a:noFill/>
          </a:ln>
        </p:spPr>
        <p:txBody>
          <a:bodyPr anchor="t" anchorCtr="0"/>
          <a:lstStyle/>
          <a:p>
            <a:pPr algn="ctr"/>
            <a:r>
              <a:rPr lang="zh-CN" altLang="en-US" sz="2600" b="1" i="1" dirty="0" smtClean="0">
                <a:solidFill>
                  <a:srgbClr val="C00000"/>
                </a:solidFill>
                <a:latin typeface="+mj-lt"/>
                <a:ea typeface="楷体_GB2312" pitchFamily="49" charset="-122"/>
              </a:rPr>
              <a:t>第四节  </a:t>
            </a:r>
            <a:r>
              <a:rPr lang="zh-CN" altLang="en-US" sz="2600" b="1" dirty="0" smtClean="0">
                <a:solidFill>
                  <a:srgbClr val="FF0000"/>
                </a:solidFill>
                <a:latin typeface="+mj-lt"/>
                <a:ea typeface="楷体_GB2312" charset="-122"/>
              </a:rPr>
              <a:t>化学反应</a:t>
            </a:r>
            <a:r>
              <a:rPr lang="zh-CN" altLang="en-US" sz="2600" b="1" dirty="0">
                <a:solidFill>
                  <a:srgbClr val="FF0000"/>
                </a:solidFill>
                <a:latin typeface="+mj-lt"/>
                <a:ea typeface="楷体_GB2312" charset="-122"/>
              </a:rPr>
              <a:t>热</a:t>
            </a:r>
            <a:r>
              <a:rPr lang="en-US" altLang="zh-CN" sz="2600" b="1" dirty="0">
                <a:solidFill>
                  <a:srgbClr val="FF0000"/>
                </a:solidFill>
                <a:latin typeface="+mj-lt"/>
                <a:ea typeface="幼圆" panose="02010509060101010101" pitchFamily="49" charset="-122"/>
                <a:sym typeface="Symbol" panose="05050102010706020507" pitchFamily="18" charset="2"/>
              </a:rPr>
              <a:t></a:t>
            </a:r>
            <a:r>
              <a:rPr lang="en-US" altLang="zh-CN" sz="2600" b="1" baseline="-25000" dirty="0">
                <a:solidFill>
                  <a:srgbClr val="FF0000"/>
                </a:solidFill>
                <a:latin typeface="+mj-lt"/>
                <a:ea typeface="幼圆" panose="02010509060101010101" pitchFamily="49" charset="-122"/>
                <a:sym typeface="Symbol" panose="05050102010706020507" pitchFamily="18" charset="2"/>
              </a:rPr>
              <a:t>r </a:t>
            </a:r>
            <a:r>
              <a:rPr lang="en-US" altLang="en-US" sz="2600" b="1" dirty="0">
                <a:solidFill>
                  <a:srgbClr val="FF0000"/>
                </a:solidFill>
                <a:latin typeface="+mj-lt"/>
                <a:ea typeface="幼圆" panose="02010509060101010101" pitchFamily="49" charset="-122"/>
                <a:sym typeface="Symbol" panose="05050102010706020507" pitchFamily="18" charset="2"/>
              </a:rPr>
              <a:t>H</a:t>
            </a:r>
            <a:r>
              <a:rPr lang="en-US" altLang="zh-CN" sz="2600" b="1" dirty="0">
                <a:solidFill>
                  <a:srgbClr val="FF0000"/>
                </a:solidFill>
                <a:latin typeface="+mj-lt"/>
                <a:ea typeface="幼圆" panose="02010509060101010101" pitchFamily="49" charset="-122"/>
                <a:sym typeface="Symbol" panose="05050102010706020507" pitchFamily="18" charset="2"/>
              </a:rPr>
              <a:t> </a:t>
            </a:r>
            <a:r>
              <a:rPr lang="en-US" altLang="zh-CN" sz="2600" b="1" baseline="-25000" dirty="0">
                <a:solidFill>
                  <a:srgbClr val="FF0000"/>
                </a:solidFill>
                <a:latin typeface="+mj-lt"/>
                <a:ea typeface="幼圆" panose="02010509060101010101" pitchFamily="49" charset="-122"/>
                <a:sym typeface="Symbol" panose="05050102010706020507" pitchFamily="18" charset="2"/>
              </a:rPr>
              <a:t>m</a:t>
            </a:r>
            <a:r>
              <a:rPr lang="el-GR" altLang="zh-CN" sz="2600" b="1" baseline="30000" dirty="0">
                <a:solidFill>
                  <a:srgbClr val="FF0000"/>
                </a:solidFill>
                <a:latin typeface="+mj-lt"/>
                <a:ea typeface="楷体_GB2312" charset="-122"/>
              </a:rPr>
              <a:t>Θ</a:t>
            </a:r>
            <a:r>
              <a:rPr lang="zh-CN" altLang="en-US" sz="2600" b="1" dirty="0">
                <a:solidFill>
                  <a:srgbClr val="FF0000"/>
                </a:solidFill>
                <a:latin typeface="+mj-lt"/>
                <a:ea typeface="楷体_GB2312" charset="-122"/>
              </a:rPr>
              <a:t>的计算</a:t>
            </a:r>
            <a:endParaRPr lang="zh-CN" altLang="en-US" sz="2600" b="1" dirty="0">
              <a:solidFill>
                <a:srgbClr val="FF0000"/>
              </a:solidFill>
              <a:latin typeface="+mj-lt"/>
              <a:ea typeface="Times New Roman" panose="02020603050405020304" pitchFamily="18" charset="0"/>
            </a:endParaRPr>
          </a:p>
        </p:txBody>
      </p:sp>
      <p:grpSp>
        <p:nvGrpSpPr>
          <p:cNvPr id="2" name="组合 7"/>
          <p:cNvGrpSpPr/>
          <p:nvPr/>
        </p:nvGrpSpPr>
        <p:grpSpPr>
          <a:xfrm>
            <a:off x="285720" y="571480"/>
            <a:ext cx="8610600" cy="1474791"/>
            <a:chOff x="285720" y="571480"/>
            <a:chExt cx="8610600" cy="1474791"/>
          </a:xfrm>
        </p:grpSpPr>
        <p:sp>
          <p:nvSpPr>
            <p:cNvPr id="91140" name="矩形 9"/>
            <p:cNvSpPr/>
            <p:nvPr/>
          </p:nvSpPr>
          <p:spPr>
            <a:xfrm>
              <a:off x="928662" y="571480"/>
              <a:ext cx="7543800" cy="512763"/>
            </a:xfrm>
            <a:prstGeom prst="rect">
              <a:avLst/>
            </a:prstGeom>
            <a:noFill/>
            <a:ln w="9525">
              <a:noFill/>
            </a:ln>
          </p:spPr>
          <p:txBody>
            <a:bodyPr anchor="t" anchorCtr="0">
              <a:spAutoFit/>
            </a:bodyPr>
            <a:lstStyle/>
            <a:p>
              <a:pPr>
                <a:lnSpc>
                  <a:spcPts val="3600"/>
                </a:lnSpc>
              </a:pPr>
              <a:r>
                <a:rPr lang="zh-CN" altLang="en-US" sz="2600" b="1" i="0" dirty="0">
                  <a:solidFill>
                    <a:schemeClr val="tx1"/>
                  </a:solidFill>
                  <a:latin typeface="+mj-lt"/>
                  <a:ea typeface="楷体_GB2312" charset="-122"/>
                  <a:sym typeface="Symbol" panose="05050102010706020507" pitchFamily="18" charset="2"/>
                </a:rPr>
                <a:t>如何来计算化学反应的标准摩尔反应焓变</a:t>
              </a:r>
              <a:r>
                <a:rPr lang="zh-CN" altLang="en-US" sz="2600" b="1" i="0" dirty="0">
                  <a:solidFill>
                    <a:schemeClr val="tx1"/>
                  </a:solidFill>
                  <a:latin typeface="+mj-lt"/>
                  <a:ea typeface="楷体_GB2312" charset="-122"/>
                </a:rPr>
                <a:t>∆</a:t>
              </a:r>
              <a:r>
                <a:rPr lang="en-US" altLang="zh-CN" sz="2600" b="1" i="0" baseline="-25000" dirty="0">
                  <a:solidFill>
                    <a:schemeClr val="tx1"/>
                  </a:solidFill>
                  <a:latin typeface="+mj-lt"/>
                  <a:ea typeface="楷体_GB2312" charset="-122"/>
                </a:rPr>
                <a:t>r</a:t>
              </a:r>
              <a:r>
                <a:rPr lang="en-US" altLang="zh-CN" sz="2600" b="1" i="0" dirty="0">
                  <a:solidFill>
                    <a:schemeClr val="tx1"/>
                  </a:solidFill>
                  <a:latin typeface="+mj-lt"/>
                  <a:ea typeface="楷体_GB2312" charset="-122"/>
                </a:rPr>
                <a:t>H</a:t>
              </a:r>
              <a:r>
                <a:rPr lang="en-US" altLang="zh-CN" sz="2600" b="1" i="0" baseline="-25000" dirty="0">
                  <a:solidFill>
                    <a:schemeClr val="tx1"/>
                  </a:solidFill>
                  <a:latin typeface="+mj-lt"/>
                  <a:ea typeface="楷体_GB2312" charset="-122"/>
                  <a:sym typeface="Symbol" panose="05050102010706020507" pitchFamily="18" charset="2"/>
                </a:rPr>
                <a:t>m</a:t>
              </a:r>
              <a:r>
                <a:rPr lang="el-GR" altLang="zh-CN" sz="2600" b="1" i="0" baseline="30000" dirty="0">
                  <a:solidFill>
                    <a:schemeClr val="tx1"/>
                  </a:solidFill>
                  <a:latin typeface="+mj-lt"/>
                  <a:ea typeface="楷体_GB2312" charset="-122"/>
                  <a:sym typeface="Symbol" panose="05050102010706020507" pitchFamily="18" charset="2"/>
                </a:rPr>
                <a:t>Θ</a:t>
              </a:r>
              <a:r>
                <a:rPr lang="zh-CN" altLang="en-US" sz="2600" b="1" i="0" dirty="0">
                  <a:solidFill>
                    <a:schemeClr val="tx1"/>
                  </a:solidFill>
                  <a:latin typeface="+mj-lt"/>
                  <a:ea typeface="楷体_GB2312" charset="-122"/>
                  <a:sym typeface="Symbol" panose="05050102010706020507" pitchFamily="18" charset="2"/>
                </a:rPr>
                <a:t>？</a:t>
              </a:r>
              <a:endParaRPr lang="zh-CN" altLang="en-US" sz="2600" b="1" i="0" dirty="0">
                <a:solidFill>
                  <a:schemeClr val="tx1"/>
                </a:solidFill>
                <a:latin typeface="+mj-lt"/>
                <a:ea typeface="楷体_GB2312" charset="-122"/>
              </a:endParaRPr>
            </a:p>
          </p:txBody>
        </p:sp>
        <p:sp>
          <p:nvSpPr>
            <p:cNvPr id="91141" name="矩形 10"/>
            <p:cNvSpPr/>
            <p:nvPr/>
          </p:nvSpPr>
          <p:spPr>
            <a:xfrm>
              <a:off x="285720" y="1071546"/>
              <a:ext cx="8610600" cy="974725"/>
            </a:xfrm>
            <a:prstGeom prst="rect">
              <a:avLst/>
            </a:prstGeom>
            <a:noFill/>
            <a:ln w="9525">
              <a:noFill/>
            </a:ln>
          </p:spPr>
          <p:txBody>
            <a:bodyPr anchor="t" anchorCtr="0">
              <a:spAutoFit/>
            </a:bodyPr>
            <a:lstStyle/>
            <a:p>
              <a:pPr>
                <a:lnSpc>
                  <a:spcPts val="3600"/>
                </a:lnSpc>
              </a:pPr>
              <a:r>
                <a:rPr lang="zh-CN" altLang="en-US" sz="2600" b="1" i="0" dirty="0">
                  <a:solidFill>
                    <a:schemeClr val="tx1"/>
                  </a:solidFill>
                  <a:latin typeface="+mj-lt"/>
                  <a:ea typeface="楷体_GB2312" charset="-122"/>
                </a:rPr>
                <a:t>         </a:t>
              </a:r>
              <a:r>
                <a:rPr lang="en-US" altLang="zh-CN" sz="2600" b="1" i="0" dirty="0">
                  <a:solidFill>
                    <a:schemeClr val="tx1"/>
                  </a:solidFill>
                  <a:latin typeface="+mj-lt"/>
                  <a:ea typeface="楷体_GB2312" charset="-122"/>
                </a:rPr>
                <a:t>H = U + p V</a:t>
              </a:r>
              <a:r>
                <a:rPr lang="zh-CN" altLang="en-US" sz="2600" b="1" i="0" dirty="0">
                  <a:solidFill>
                    <a:schemeClr val="tx1"/>
                  </a:solidFill>
                  <a:latin typeface="+mj-lt"/>
                  <a:ea typeface="楷体_GB2312" charset="-122"/>
                </a:rPr>
                <a:t>，</a:t>
              </a:r>
              <a:r>
                <a:rPr lang="zh-CN" altLang="en-US" sz="2600" b="1" i="0" dirty="0">
                  <a:solidFill>
                    <a:schemeClr val="tx1"/>
                  </a:solidFill>
                  <a:latin typeface="+mj-lt"/>
                  <a:ea typeface="楷体_GB2312" charset="-122"/>
                  <a:sym typeface="Symbol" panose="05050102010706020507" pitchFamily="18" charset="2"/>
                </a:rPr>
                <a:t>焓的绝对值无法测定，但它的相对值可以按如下方式得到</a:t>
              </a:r>
              <a:r>
                <a:rPr lang="zh-CN" altLang="en-US" sz="2600" b="1" i="0" dirty="0">
                  <a:solidFill>
                    <a:schemeClr val="tx1"/>
                  </a:solidFill>
                  <a:latin typeface="+mj-lt"/>
                  <a:ea typeface="楷体_GB2312" charset="-122"/>
                </a:rPr>
                <a:t>：</a:t>
              </a:r>
            </a:p>
          </p:txBody>
        </p:sp>
      </p:grpSp>
      <p:sp>
        <p:nvSpPr>
          <p:cNvPr id="95238" name="矩形 11"/>
          <p:cNvSpPr/>
          <p:nvPr/>
        </p:nvSpPr>
        <p:spPr>
          <a:xfrm>
            <a:off x="214282" y="2071678"/>
            <a:ext cx="7486672" cy="1015663"/>
          </a:xfrm>
          <a:prstGeom prst="rect">
            <a:avLst/>
          </a:prstGeom>
          <a:solidFill>
            <a:schemeClr val="accent1"/>
          </a:solidFill>
          <a:ln w="9525">
            <a:noFill/>
          </a:ln>
        </p:spPr>
        <p:txBody>
          <a:bodyPr wrap="square" anchor="t" anchorCtr="0">
            <a:spAutoFit/>
          </a:bodyPr>
          <a:lstStyle/>
          <a:p>
            <a:pPr>
              <a:lnSpc>
                <a:spcPts val="3600"/>
              </a:lnSpc>
            </a:pPr>
            <a:r>
              <a:rPr lang="en-US" altLang="zh-CN" sz="2600" b="1" i="0" dirty="0">
                <a:solidFill>
                  <a:srgbClr val="990000"/>
                </a:solidFill>
                <a:latin typeface="+mj-lt"/>
                <a:ea typeface="楷体_GB2312" charset="-122"/>
              </a:rPr>
              <a:t>1</a:t>
            </a:r>
            <a:r>
              <a:rPr lang="zh-CN" altLang="en-US" sz="2600" b="1" i="0" dirty="0" smtClean="0">
                <a:solidFill>
                  <a:srgbClr val="990000"/>
                </a:solidFill>
                <a:latin typeface="+mj-lt"/>
                <a:ea typeface="楷体_GB2312" charset="-122"/>
              </a:rPr>
              <a:t>、物质的标准</a:t>
            </a:r>
            <a:r>
              <a:rPr lang="zh-CN" altLang="en-US" sz="2600" b="1" i="0" dirty="0">
                <a:solidFill>
                  <a:srgbClr val="990000"/>
                </a:solidFill>
                <a:latin typeface="+mj-lt"/>
                <a:ea typeface="楷体_GB2312" charset="-122"/>
              </a:rPr>
              <a:t>摩尔生成焓</a:t>
            </a:r>
            <a:r>
              <a:rPr lang="zh-CN" altLang="en-US" sz="2600" b="1" i="0" dirty="0" smtClean="0">
                <a:solidFill>
                  <a:srgbClr val="990000"/>
                </a:solidFill>
                <a:latin typeface="+mj-lt"/>
                <a:ea typeface="楷体_GB2312" charset="-122"/>
              </a:rPr>
              <a:t>△</a:t>
            </a:r>
            <a:r>
              <a:rPr lang="en-US" altLang="zh-CN" sz="2600" b="1" i="0" baseline="-25000" dirty="0" err="1" smtClean="0">
                <a:solidFill>
                  <a:srgbClr val="990000"/>
                </a:solidFill>
                <a:latin typeface="+mj-lt"/>
                <a:ea typeface="楷体_GB2312" charset="-122"/>
              </a:rPr>
              <a:t>f</a:t>
            </a:r>
            <a:r>
              <a:rPr lang="en-US" altLang="zh-CN" sz="2600" b="1" i="0" dirty="0" err="1" smtClean="0">
                <a:solidFill>
                  <a:srgbClr val="990000"/>
                </a:solidFill>
                <a:latin typeface="+mj-lt"/>
                <a:ea typeface="楷体_GB2312" charset="-122"/>
              </a:rPr>
              <a:t>H</a:t>
            </a:r>
            <a:r>
              <a:rPr lang="en-US" altLang="zh-CN" sz="2600" b="1" i="0" baseline="-25000" dirty="0" err="1" smtClean="0">
                <a:solidFill>
                  <a:srgbClr val="990000"/>
                </a:solidFill>
                <a:latin typeface="+mj-lt"/>
                <a:ea typeface="楷体_GB2312" charset="-122"/>
              </a:rPr>
              <a:t>m</a:t>
            </a:r>
            <a:r>
              <a:rPr lang="el-GR" altLang="zh-CN" sz="2600" b="1" i="0" baseline="30000" dirty="0">
                <a:solidFill>
                  <a:srgbClr val="990000"/>
                </a:solidFill>
                <a:latin typeface="+mj-lt"/>
                <a:ea typeface="楷体_GB2312" charset="-122"/>
              </a:rPr>
              <a:t>Θ</a:t>
            </a:r>
            <a:endParaRPr lang="en-US" altLang="zh-CN" sz="2600" b="1" i="0" dirty="0">
              <a:solidFill>
                <a:srgbClr val="990000"/>
              </a:solidFill>
              <a:latin typeface="+mj-lt"/>
              <a:ea typeface="楷体_GB2312" charset="-122"/>
            </a:endParaRPr>
          </a:p>
          <a:p>
            <a:pPr>
              <a:lnSpc>
                <a:spcPts val="3600"/>
              </a:lnSpc>
            </a:pPr>
            <a:r>
              <a:rPr lang="en-US" altLang="zh-CN" sz="2600" b="1" i="0" dirty="0">
                <a:solidFill>
                  <a:schemeClr val="tx1"/>
                </a:solidFill>
                <a:latin typeface="+mj-lt"/>
                <a:ea typeface="楷体_GB2312" charset="-122"/>
              </a:rPr>
              <a:t>(standard molar enthalpy of formation)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5238"/>
                                        </p:tgtEl>
                                        <p:attrNameLst>
                                          <p:attrName>style.visibility</p:attrName>
                                        </p:attrNameLst>
                                      </p:cBhvr>
                                      <p:to>
                                        <p:strVal val="visible"/>
                                      </p:to>
                                    </p:set>
                                    <p:animEffect transition="in" filter="blinds(horizontal)">
                                      <p:cBhvr>
                                        <p:cTn id="17" dur="500"/>
                                        <p:tgtEl>
                                          <p:spTgt spid="95238"/>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209926"/>
                                        </p:tgtEl>
                                        <p:attrNameLst>
                                          <p:attrName>style.visibility</p:attrName>
                                        </p:attrNameLst>
                                      </p:cBhvr>
                                      <p:to>
                                        <p:strVal val="visible"/>
                                      </p:to>
                                    </p:set>
                                    <p:animEffect transition="in" filter="diamond(in)">
                                      <p:cBhvr>
                                        <p:cTn id="22" dur="1000"/>
                                        <p:tgtEl>
                                          <p:spTgt spid="209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6" grpId="0" animBg="1"/>
      <p:bldP spid="7" grpId="0"/>
      <p:bldP spid="9523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142844" y="142852"/>
            <a:ext cx="8482042" cy="1574803"/>
            <a:chOff x="304800" y="3357564"/>
            <a:chExt cx="7410421" cy="1574803"/>
          </a:xfrm>
        </p:grpSpPr>
        <p:grpSp>
          <p:nvGrpSpPr>
            <p:cNvPr id="65541" name="Group 29"/>
            <p:cNvGrpSpPr/>
            <p:nvPr/>
          </p:nvGrpSpPr>
          <p:grpSpPr bwMode="auto">
            <a:xfrm>
              <a:off x="304800" y="3357564"/>
              <a:ext cx="5391150" cy="560388"/>
              <a:chOff x="192" y="1299"/>
              <a:chExt cx="3396" cy="353"/>
            </a:xfrm>
          </p:grpSpPr>
          <p:sp>
            <p:nvSpPr>
              <p:cNvPr id="65544" name="Text Box 26"/>
              <p:cNvSpPr txBox="1">
                <a:spLocks noChangeArrowheads="1"/>
              </p:cNvSpPr>
              <p:nvPr/>
            </p:nvSpPr>
            <p:spPr bwMode="auto">
              <a:xfrm>
                <a:off x="192" y="1344"/>
                <a:ext cx="618" cy="30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spcBef>
                    <a:spcPct val="50000"/>
                  </a:spcBef>
                  <a:spcAft>
                    <a:spcPct val="0"/>
                  </a:spcAft>
                </a:pPr>
                <a:r>
                  <a:rPr kumimoji="0" lang="zh-CN" altLang="en-US" sz="2600" dirty="0" smtClean="0">
                    <a:solidFill>
                      <a:srgbClr val="000000"/>
                    </a:solidFill>
                  </a:rPr>
                  <a:t>如：</a:t>
                </a:r>
                <a:endParaRPr lang="zh-CN" altLang="en-US" sz="2600" dirty="0" smtClean="0">
                  <a:solidFill>
                    <a:srgbClr val="000000"/>
                  </a:solidFill>
                </a:endParaRPr>
              </a:p>
            </p:txBody>
          </p:sp>
          <p:sp>
            <p:nvSpPr>
              <p:cNvPr id="65545" name="Text Box 27"/>
              <p:cNvSpPr txBox="1">
                <a:spLocks noChangeArrowheads="1"/>
              </p:cNvSpPr>
              <p:nvPr/>
            </p:nvSpPr>
            <p:spPr bwMode="auto">
              <a:xfrm>
                <a:off x="900" y="1299"/>
                <a:ext cx="2688" cy="30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spcBef>
                    <a:spcPct val="50000"/>
                  </a:spcBef>
                  <a:spcAft>
                    <a:spcPct val="0"/>
                  </a:spcAft>
                </a:pPr>
                <a:r>
                  <a:rPr lang="en-US" altLang="zh-CN" sz="2600" dirty="0" smtClean="0">
                    <a:solidFill>
                      <a:srgbClr val="000000"/>
                    </a:solidFill>
                  </a:rPr>
                  <a:t>H</a:t>
                </a:r>
                <a:r>
                  <a:rPr lang="en-US" altLang="zh-CN" sz="2600" baseline="-25000" dirty="0" smtClean="0">
                    <a:solidFill>
                      <a:srgbClr val="000000"/>
                    </a:solidFill>
                  </a:rPr>
                  <a:t>2</a:t>
                </a:r>
                <a:r>
                  <a:rPr lang="en-US" altLang="zh-CN" sz="2600" dirty="0" smtClean="0">
                    <a:solidFill>
                      <a:srgbClr val="000000"/>
                    </a:solidFill>
                  </a:rPr>
                  <a:t>(g) +     O</a:t>
                </a:r>
                <a:r>
                  <a:rPr lang="en-US" altLang="zh-CN" sz="2600" baseline="-25000" dirty="0" smtClean="0">
                    <a:solidFill>
                      <a:srgbClr val="000000"/>
                    </a:solidFill>
                  </a:rPr>
                  <a:t>2</a:t>
                </a:r>
                <a:r>
                  <a:rPr lang="en-US" altLang="zh-CN" sz="2600" dirty="0" smtClean="0">
                    <a:solidFill>
                      <a:srgbClr val="000000"/>
                    </a:solidFill>
                  </a:rPr>
                  <a:t>(g)   </a:t>
                </a:r>
                <a:r>
                  <a:rPr lang="en-US" altLang="zh-CN" sz="2600" dirty="0" smtClean="0">
                    <a:solidFill>
                      <a:srgbClr val="000000"/>
                    </a:solidFill>
                    <a:sym typeface="Symbol" panose="05050102010706020507" pitchFamily="18" charset="2"/>
                  </a:rPr>
                  <a:t>   </a:t>
                </a:r>
                <a:r>
                  <a:rPr lang="en-US" altLang="zh-CN" sz="2600" dirty="0" smtClean="0">
                    <a:solidFill>
                      <a:srgbClr val="000000"/>
                    </a:solidFill>
                  </a:rPr>
                  <a:t>H</a:t>
                </a:r>
                <a:r>
                  <a:rPr lang="en-US" altLang="zh-CN" sz="2600" baseline="-25000" dirty="0" smtClean="0">
                    <a:solidFill>
                      <a:srgbClr val="000000"/>
                    </a:solidFill>
                  </a:rPr>
                  <a:t>2</a:t>
                </a:r>
                <a:r>
                  <a:rPr lang="en-US" altLang="zh-CN" sz="2600" dirty="0" smtClean="0">
                    <a:solidFill>
                      <a:srgbClr val="000000"/>
                    </a:solidFill>
                  </a:rPr>
                  <a:t>O (l)</a:t>
                </a:r>
              </a:p>
            </p:txBody>
          </p:sp>
        </p:grpSp>
        <p:sp>
          <p:nvSpPr>
            <p:cNvPr id="65542" name="矩形 13"/>
            <p:cNvSpPr>
              <a:spLocks noChangeArrowheads="1"/>
            </p:cNvSpPr>
            <p:nvPr/>
          </p:nvSpPr>
          <p:spPr bwMode="auto">
            <a:xfrm>
              <a:off x="357158" y="4000504"/>
              <a:ext cx="7358063" cy="9318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ct val="80000"/>
                </a:lnSpc>
                <a:spcBef>
                  <a:spcPct val="50000"/>
                </a:spcBef>
                <a:spcAft>
                  <a:spcPct val="0"/>
                </a:spcAft>
              </a:pPr>
              <a:r>
                <a:rPr lang="en-US" altLang="zh-CN" sz="2600" b="1" dirty="0" smtClean="0">
                  <a:solidFill>
                    <a:srgbClr val="000000"/>
                  </a:solidFill>
                  <a:latin typeface="Times New Roman" panose="02020603050405020304" pitchFamily="18" charset="0"/>
                  <a:ea typeface="楷体_GB2312" pitchFamily="49" charset="-122"/>
                </a:rPr>
                <a:t>△</a:t>
              </a:r>
              <a:r>
                <a:rPr lang="en-US" altLang="zh-CN" sz="2600" b="1" baseline="-25000" dirty="0" smtClean="0">
                  <a:solidFill>
                    <a:srgbClr val="000000"/>
                  </a:solidFill>
                  <a:latin typeface="Times New Roman" panose="02020603050405020304" pitchFamily="18" charset="0"/>
                  <a:ea typeface="楷体_GB2312" pitchFamily="49" charset="-122"/>
                </a:rPr>
                <a:t>f </a:t>
              </a:r>
              <a:r>
                <a:rPr lang="en-US" altLang="zh-CN" sz="2600" b="1" dirty="0" smtClean="0">
                  <a:solidFill>
                    <a:srgbClr val="000000"/>
                  </a:solidFill>
                  <a:latin typeface="Times New Roman" panose="02020603050405020304" pitchFamily="18" charset="0"/>
                  <a:ea typeface="楷体_GB2312" pitchFamily="49" charset="-122"/>
                </a:rPr>
                <a:t>H </a:t>
              </a:r>
              <a:r>
                <a:rPr lang="en-US" altLang="zh-CN" sz="2600" b="1" baseline="-25000" dirty="0" smtClean="0">
                  <a:solidFill>
                    <a:srgbClr val="000000"/>
                  </a:solidFill>
                  <a:latin typeface="Times New Roman" panose="02020603050405020304" pitchFamily="18" charset="0"/>
                  <a:ea typeface="楷体_GB2312" pitchFamily="49" charset="-122"/>
                </a:rPr>
                <a:t>m</a:t>
              </a:r>
              <a:r>
                <a:rPr lang="el-GR" altLang="zh-CN" sz="2600" b="1" baseline="30000" dirty="0" smtClean="0">
                  <a:solidFill>
                    <a:srgbClr val="000000"/>
                  </a:solidFill>
                  <a:latin typeface="楷体_GB2312" pitchFamily="49" charset="-122"/>
                  <a:ea typeface="楷体_GB2312" pitchFamily="49" charset="-122"/>
                </a:rPr>
                <a:t>Θ</a:t>
              </a:r>
              <a:r>
                <a:rPr kumimoji="1" lang="en-US" altLang="zh-CN" sz="2600" b="1" dirty="0" smtClean="0">
                  <a:solidFill>
                    <a:srgbClr val="000000"/>
                  </a:solidFill>
                  <a:latin typeface="Times New Roman" panose="02020603050405020304" pitchFamily="18" charset="0"/>
                  <a:ea typeface="楷体_GB2312" pitchFamily="49" charset="-122"/>
                </a:rPr>
                <a:t> (H</a:t>
              </a:r>
              <a:r>
                <a:rPr kumimoji="1" lang="en-US" altLang="zh-CN" sz="2600" b="1" baseline="-25000" dirty="0" smtClean="0">
                  <a:solidFill>
                    <a:srgbClr val="000000"/>
                  </a:solidFill>
                  <a:latin typeface="Times New Roman" panose="02020603050405020304" pitchFamily="18" charset="0"/>
                  <a:ea typeface="楷体_GB2312" pitchFamily="49" charset="-122"/>
                </a:rPr>
                <a:t>2</a:t>
              </a:r>
              <a:r>
                <a:rPr kumimoji="1" lang="en-US" altLang="zh-CN" sz="2600" b="1" dirty="0" smtClean="0">
                  <a:solidFill>
                    <a:srgbClr val="000000"/>
                  </a:solidFill>
                  <a:latin typeface="Times New Roman" panose="02020603050405020304" pitchFamily="18" charset="0"/>
                  <a:ea typeface="楷体_GB2312" pitchFamily="49" charset="-122"/>
                </a:rPr>
                <a:t>O (l)</a:t>
              </a:r>
              <a:r>
                <a:rPr kumimoji="1" lang="zh-CN" altLang="en-US" sz="2600" b="1" dirty="0" smtClean="0">
                  <a:solidFill>
                    <a:srgbClr val="000000"/>
                  </a:solidFill>
                  <a:latin typeface="Times New Roman" panose="02020603050405020304" pitchFamily="18" charset="0"/>
                  <a:ea typeface="楷体_GB2312" pitchFamily="49" charset="-122"/>
                </a:rPr>
                <a:t>， </a:t>
              </a:r>
              <a:r>
                <a:rPr kumimoji="1" lang="en-US" altLang="zh-CN" sz="2600" b="1" dirty="0" smtClean="0">
                  <a:solidFill>
                    <a:srgbClr val="000000"/>
                  </a:solidFill>
                  <a:latin typeface="Times New Roman" panose="02020603050405020304" pitchFamily="18" charset="0"/>
                  <a:ea typeface="楷体_GB2312" pitchFamily="49" charset="-122"/>
                </a:rPr>
                <a:t>298.15K) = -285.84kJ·mol </a:t>
              </a:r>
              <a:r>
                <a:rPr kumimoji="1" lang="en-US" altLang="zh-CN" sz="2600" b="1" baseline="30000" dirty="0" smtClean="0">
                  <a:solidFill>
                    <a:srgbClr val="000000"/>
                  </a:solidFill>
                  <a:latin typeface="Times New Roman" panose="02020603050405020304" pitchFamily="18" charset="0"/>
                  <a:ea typeface="楷体_GB2312" pitchFamily="49" charset="-122"/>
                </a:rPr>
                <a:t>-1</a:t>
              </a:r>
              <a:endParaRPr kumimoji="1" lang="en-US" altLang="zh-CN" sz="2600" b="1" dirty="0" smtClean="0">
                <a:solidFill>
                  <a:srgbClr val="000000"/>
                </a:solidFill>
                <a:latin typeface="Times New Roman" panose="02020603050405020304" pitchFamily="18" charset="0"/>
                <a:ea typeface="楷体_GB2312" pitchFamily="49" charset="-122"/>
              </a:endParaRPr>
            </a:p>
            <a:p>
              <a:pPr eaLnBrk="0" fontAlgn="base" hangingPunct="0">
                <a:lnSpc>
                  <a:spcPct val="80000"/>
                </a:lnSpc>
                <a:spcBef>
                  <a:spcPct val="50000"/>
                </a:spcBef>
                <a:spcAft>
                  <a:spcPct val="0"/>
                </a:spcAft>
              </a:pPr>
              <a:r>
                <a:rPr kumimoji="1" lang="en-US" altLang="zh-CN" sz="2600" b="1" dirty="0" smtClean="0">
                  <a:solidFill>
                    <a:srgbClr val="000000"/>
                  </a:solidFill>
                  <a:latin typeface="Times New Roman" panose="02020603050405020304" pitchFamily="18" charset="0"/>
                  <a:ea typeface="楷体_GB2312" pitchFamily="49" charset="-122"/>
                </a:rPr>
                <a:t>                                                  = </a:t>
              </a:r>
              <a:r>
                <a:rPr lang="en-US" altLang="zh-CN" sz="2600" b="1" dirty="0" smtClean="0">
                  <a:solidFill>
                    <a:srgbClr val="000000"/>
                  </a:solidFill>
                  <a:latin typeface="Times New Roman" panose="02020603050405020304" pitchFamily="18" charset="0"/>
                  <a:ea typeface="楷体_GB2312" pitchFamily="49" charset="-122"/>
                </a:rPr>
                <a:t>△</a:t>
              </a:r>
              <a:r>
                <a:rPr lang="en-US" altLang="zh-CN" sz="2600" b="1" baseline="-25000" dirty="0" smtClean="0">
                  <a:solidFill>
                    <a:srgbClr val="000000"/>
                  </a:solidFill>
                  <a:latin typeface="Times New Roman" panose="02020603050405020304" pitchFamily="18" charset="0"/>
                  <a:ea typeface="楷体_GB2312" pitchFamily="49" charset="-122"/>
                </a:rPr>
                <a:t>r </a:t>
              </a:r>
              <a:r>
                <a:rPr lang="en-US" altLang="zh-CN" sz="2600" b="1" dirty="0" smtClean="0">
                  <a:solidFill>
                    <a:srgbClr val="000000"/>
                  </a:solidFill>
                  <a:latin typeface="Times New Roman" panose="02020603050405020304" pitchFamily="18" charset="0"/>
                  <a:ea typeface="楷体_GB2312" pitchFamily="49" charset="-122"/>
                </a:rPr>
                <a:t>H </a:t>
              </a:r>
              <a:r>
                <a:rPr lang="en-US" altLang="zh-CN" sz="2600" b="1" baseline="-25000" dirty="0" smtClean="0">
                  <a:solidFill>
                    <a:srgbClr val="000000"/>
                  </a:solidFill>
                  <a:latin typeface="Times New Roman" panose="02020603050405020304" pitchFamily="18" charset="0"/>
                  <a:ea typeface="楷体_GB2312" pitchFamily="49" charset="-122"/>
                </a:rPr>
                <a:t>m </a:t>
              </a:r>
              <a:r>
                <a:rPr lang="el-GR" altLang="zh-CN" sz="2600" b="1" baseline="30000" dirty="0" smtClean="0">
                  <a:solidFill>
                    <a:srgbClr val="000000"/>
                  </a:solidFill>
                  <a:latin typeface="楷体_GB2312" pitchFamily="49" charset="-122"/>
                  <a:ea typeface="楷体_GB2312" pitchFamily="49" charset="-122"/>
                </a:rPr>
                <a:t>Θ</a:t>
              </a:r>
              <a:r>
                <a:rPr lang="en-US" altLang="zh-CN" sz="2600" b="1" dirty="0" smtClean="0">
                  <a:solidFill>
                    <a:srgbClr val="000000"/>
                  </a:solidFill>
                  <a:latin typeface="Times New Roman" panose="02020603050405020304" pitchFamily="18" charset="0"/>
                  <a:ea typeface="楷体_GB2312" pitchFamily="49" charset="-122"/>
                </a:rPr>
                <a:t> </a:t>
              </a:r>
            </a:p>
          </p:txBody>
        </p:sp>
      </p:grpSp>
      <p:sp>
        <p:nvSpPr>
          <p:cNvPr id="14" name="矩形 13"/>
          <p:cNvSpPr/>
          <p:nvPr/>
        </p:nvSpPr>
        <p:spPr>
          <a:xfrm>
            <a:off x="428596" y="1785926"/>
            <a:ext cx="8280920" cy="1292662"/>
          </a:xfrm>
          <a:prstGeom prst="rect">
            <a:avLst/>
          </a:prstGeom>
        </p:spPr>
        <p:txBody>
          <a:bodyPr wrap="square">
            <a:spAutoFit/>
          </a:bodyPr>
          <a:lstStyle/>
          <a:p>
            <a:pPr lvl="0" fontAlgn="base">
              <a:spcBef>
                <a:spcPct val="0"/>
              </a:spcBef>
              <a:spcAft>
                <a:spcPct val="0"/>
              </a:spcAft>
            </a:pPr>
            <a:r>
              <a:rPr kumimoji="1" lang="zh-CN" altLang="en-US" sz="2600" b="1" dirty="0" smtClean="0">
                <a:solidFill>
                  <a:srgbClr val="080808"/>
                </a:solidFill>
                <a:latin typeface="Times New Roman" panose="02020603050405020304" pitchFamily="18" charset="0"/>
                <a:ea typeface="楷体_GB2312" pitchFamily="49" charset="-122"/>
              </a:rPr>
              <a:t>         只要符合反应物是稳定单质（</a:t>
            </a:r>
            <a:r>
              <a:rPr lang="en-US" altLang="zh-CN" sz="2600" b="1" dirty="0" smtClean="0">
                <a:solidFill>
                  <a:srgbClr val="0000FF"/>
                </a:solidFill>
                <a:latin typeface="Times New Roman" panose="02020603050405020304" pitchFamily="18" charset="0"/>
                <a:ea typeface="楷体_GB2312" pitchFamily="49" charset="-122"/>
              </a:rPr>
              <a:t>△</a:t>
            </a:r>
            <a:r>
              <a:rPr lang="en-US" altLang="zh-CN" sz="2600" b="1" baseline="-25000" dirty="0" smtClean="0">
                <a:solidFill>
                  <a:srgbClr val="0000FF"/>
                </a:solidFill>
                <a:latin typeface="Times New Roman" panose="02020603050405020304" pitchFamily="18" charset="0"/>
                <a:ea typeface="楷体_GB2312" pitchFamily="49" charset="-122"/>
              </a:rPr>
              <a:t>f </a:t>
            </a:r>
            <a:r>
              <a:rPr lang="en-US" altLang="zh-CN" sz="2600" b="1" dirty="0" smtClean="0">
                <a:solidFill>
                  <a:srgbClr val="0000FF"/>
                </a:solidFill>
                <a:latin typeface="Times New Roman" panose="02020603050405020304" pitchFamily="18" charset="0"/>
                <a:ea typeface="楷体_GB2312" pitchFamily="49" charset="-122"/>
              </a:rPr>
              <a:t>H </a:t>
            </a:r>
            <a:r>
              <a:rPr lang="en-US" altLang="zh-CN" sz="2600" b="1" baseline="-25000" dirty="0" smtClean="0">
                <a:solidFill>
                  <a:srgbClr val="0000FF"/>
                </a:solidFill>
                <a:latin typeface="Times New Roman" panose="02020603050405020304" pitchFamily="18" charset="0"/>
                <a:ea typeface="楷体_GB2312" pitchFamily="49" charset="-122"/>
              </a:rPr>
              <a:t>m</a:t>
            </a:r>
            <a:r>
              <a:rPr lang="zh-CN" altLang="en-US" sz="2600" b="1" baseline="-25000" dirty="0" smtClean="0">
                <a:solidFill>
                  <a:srgbClr val="0000FF"/>
                </a:solidFill>
                <a:latin typeface="Times New Roman" panose="02020603050405020304" pitchFamily="18" charset="0"/>
                <a:ea typeface="楷体_GB2312" pitchFamily="49" charset="-122"/>
              </a:rPr>
              <a:t>，</a:t>
            </a:r>
            <a:r>
              <a:rPr lang="en-US" altLang="zh-CN" sz="2600" b="1" baseline="-25000" dirty="0" smtClean="0">
                <a:solidFill>
                  <a:srgbClr val="0000FF"/>
                </a:solidFill>
                <a:latin typeface="Times New Roman" panose="02020603050405020304" pitchFamily="18" charset="0"/>
                <a:ea typeface="楷体_GB2312" pitchFamily="49" charset="-122"/>
              </a:rPr>
              <a:t>B</a:t>
            </a:r>
            <a:r>
              <a:rPr lang="el-GR" altLang="zh-CN" sz="2600" b="1" baseline="30000" dirty="0" smtClean="0">
                <a:solidFill>
                  <a:srgbClr val="0000FF"/>
                </a:solidFill>
                <a:latin typeface="楷体_GB2312" pitchFamily="49" charset="-122"/>
                <a:ea typeface="楷体_GB2312" pitchFamily="49" charset="-122"/>
              </a:rPr>
              <a:t>Θ</a:t>
            </a:r>
            <a:r>
              <a:rPr kumimoji="1" lang="en-US" altLang="zh-CN" sz="2600" b="1" dirty="0" smtClean="0">
                <a:solidFill>
                  <a:srgbClr val="0000FF"/>
                </a:solidFill>
                <a:latin typeface="Times New Roman" panose="02020603050405020304" pitchFamily="18" charset="0"/>
                <a:ea typeface="楷体_GB2312" pitchFamily="49" charset="-122"/>
              </a:rPr>
              <a:t> =0</a:t>
            </a:r>
            <a:r>
              <a:rPr kumimoji="1" lang="zh-CN" altLang="en-US" sz="2600" b="1" dirty="0" smtClean="0">
                <a:solidFill>
                  <a:srgbClr val="080808"/>
                </a:solidFill>
                <a:latin typeface="Times New Roman" panose="02020603050405020304" pitchFamily="18" charset="0"/>
                <a:ea typeface="楷体_GB2312" pitchFamily="49" charset="-122"/>
              </a:rPr>
              <a:t>），生成物是</a:t>
            </a:r>
            <a:r>
              <a:rPr kumimoji="1" lang="en-US" altLang="zh-CN" sz="2600" b="1" dirty="0" smtClean="0">
                <a:solidFill>
                  <a:srgbClr val="080808"/>
                </a:solidFill>
                <a:latin typeface="Times New Roman" panose="02020603050405020304" pitchFamily="18" charset="0"/>
                <a:ea typeface="楷体_GB2312" pitchFamily="49" charset="-122"/>
              </a:rPr>
              <a:t>1mol</a:t>
            </a:r>
            <a:r>
              <a:rPr kumimoji="1" lang="zh-CN" altLang="en-US" sz="2600" b="1" dirty="0" smtClean="0">
                <a:solidFill>
                  <a:srgbClr val="080808"/>
                </a:solidFill>
                <a:latin typeface="Times New Roman" panose="02020603050405020304" pitchFamily="18" charset="0"/>
                <a:ea typeface="楷体_GB2312" pitchFamily="49" charset="-122"/>
              </a:rPr>
              <a:t>的条件，此物质的：</a:t>
            </a:r>
            <a:r>
              <a:rPr kumimoji="1" lang="en-US" altLang="zh-CN" sz="2600" b="1" dirty="0" smtClean="0">
                <a:solidFill>
                  <a:srgbClr val="080808"/>
                </a:solidFill>
                <a:latin typeface="Times New Roman" panose="02020603050405020304" pitchFamily="18" charset="0"/>
                <a:ea typeface="楷体_GB2312" pitchFamily="49" charset="-122"/>
              </a:rPr>
              <a:t>                                    </a:t>
            </a:r>
          </a:p>
          <a:p>
            <a:pPr lvl="0" algn="ctr" fontAlgn="base">
              <a:spcBef>
                <a:spcPct val="0"/>
              </a:spcBef>
              <a:spcAft>
                <a:spcPct val="0"/>
              </a:spcAft>
            </a:pPr>
            <a:r>
              <a:rPr lang="en-US" altLang="zh-CN" sz="2600" b="1" i="1" dirty="0" smtClean="0">
                <a:solidFill>
                  <a:srgbClr val="C00000"/>
                </a:solidFill>
                <a:latin typeface="Times New Roman" panose="02020603050405020304" pitchFamily="18" charset="0"/>
                <a:ea typeface="楷体_GB2312" pitchFamily="49" charset="-122"/>
              </a:rPr>
              <a:t>△</a:t>
            </a:r>
            <a:r>
              <a:rPr lang="en-US" altLang="zh-CN" sz="2600" b="1" i="1" baseline="-25000" dirty="0" smtClean="0">
                <a:solidFill>
                  <a:srgbClr val="C00000"/>
                </a:solidFill>
                <a:latin typeface="Times New Roman" panose="02020603050405020304" pitchFamily="18" charset="0"/>
                <a:ea typeface="楷体_GB2312" pitchFamily="49" charset="-122"/>
              </a:rPr>
              <a:t>f </a:t>
            </a:r>
            <a:r>
              <a:rPr lang="en-US" altLang="zh-CN" sz="2600" b="1" i="1" dirty="0" smtClean="0">
                <a:solidFill>
                  <a:srgbClr val="C00000"/>
                </a:solidFill>
                <a:latin typeface="Times New Roman" panose="02020603050405020304" pitchFamily="18" charset="0"/>
                <a:ea typeface="楷体_GB2312" pitchFamily="49" charset="-122"/>
              </a:rPr>
              <a:t>H </a:t>
            </a:r>
            <a:r>
              <a:rPr lang="en-US" altLang="zh-CN" sz="2600" b="1" i="1" baseline="-25000" dirty="0" smtClean="0">
                <a:solidFill>
                  <a:srgbClr val="C00000"/>
                </a:solidFill>
                <a:latin typeface="Times New Roman" panose="02020603050405020304" pitchFamily="18" charset="0"/>
                <a:ea typeface="楷体_GB2312" pitchFamily="49" charset="-122"/>
              </a:rPr>
              <a:t>m</a:t>
            </a:r>
            <a:r>
              <a:rPr lang="el-GR" altLang="zh-CN" sz="2600" b="1" i="1" baseline="30000" dirty="0" smtClean="0">
                <a:solidFill>
                  <a:srgbClr val="C00000"/>
                </a:solidFill>
                <a:latin typeface="楷体_GB2312" pitchFamily="49" charset="-122"/>
                <a:ea typeface="楷体_GB2312" pitchFamily="49" charset="-122"/>
              </a:rPr>
              <a:t>Θ</a:t>
            </a:r>
            <a:r>
              <a:rPr kumimoji="1" lang="en-US" altLang="zh-CN" sz="2600" b="1" i="1" dirty="0" smtClean="0">
                <a:solidFill>
                  <a:srgbClr val="C00000"/>
                </a:solidFill>
                <a:latin typeface="Times New Roman" panose="02020603050405020304" pitchFamily="18" charset="0"/>
                <a:ea typeface="楷体_GB2312" pitchFamily="49" charset="-122"/>
              </a:rPr>
              <a:t> </a:t>
            </a:r>
            <a:r>
              <a:rPr kumimoji="1" lang="zh-CN" altLang="en-US" sz="2600" b="1" i="1" dirty="0" smtClean="0">
                <a:solidFill>
                  <a:srgbClr val="C00000"/>
                </a:solidFill>
                <a:latin typeface="Times New Roman" panose="02020603050405020304" pitchFamily="18" charset="0"/>
                <a:ea typeface="楷体_GB2312" pitchFamily="49" charset="-122"/>
              </a:rPr>
              <a:t> </a:t>
            </a:r>
            <a:r>
              <a:rPr kumimoji="1" lang="en-US" altLang="zh-CN" sz="2600" b="1" i="1" dirty="0" smtClean="0">
                <a:solidFill>
                  <a:srgbClr val="C00000"/>
                </a:solidFill>
                <a:latin typeface="Times New Roman" panose="02020603050405020304" pitchFamily="18" charset="0"/>
                <a:ea typeface="楷体_GB2312" pitchFamily="49" charset="-122"/>
              </a:rPr>
              <a:t>= </a:t>
            </a:r>
            <a:r>
              <a:rPr lang="en-US" altLang="zh-CN" sz="2600" b="1" i="1" dirty="0" smtClean="0">
                <a:solidFill>
                  <a:srgbClr val="C00000"/>
                </a:solidFill>
                <a:latin typeface="Times New Roman" panose="02020603050405020304" pitchFamily="18" charset="0"/>
                <a:ea typeface="楷体_GB2312" pitchFamily="49" charset="-122"/>
              </a:rPr>
              <a:t>△</a:t>
            </a:r>
            <a:r>
              <a:rPr lang="en-US" altLang="zh-CN" sz="2600" b="1" i="1" baseline="-25000" dirty="0" smtClean="0">
                <a:solidFill>
                  <a:srgbClr val="C00000"/>
                </a:solidFill>
                <a:latin typeface="Times New Roman" panose="02020603050405020304" pitchFamily="18" charset="0"/>
                <a:ea typeface="楷体_GB2312" pitchFamily="49" charset="-122"/>
              </a:rPr>
              <a:t>r </a:t>
            </a:r>
            <a:r>
              <a:rPr lang="en-US" altLang="zh-CN" sz="2600" b="1" i="1" dirty="0" smtClean="0">
                <a:solidFill>
                  <a:srgbClr val="C00000"/>
                </a:solidFill>
                <a:latin typeface="Times New Roman" panose="02020603050405020304" pitchFamily="18" charset="0"/>
                <a:ea typeface="楷体_GB2312" pitchFamily="49" charset="-122"/>
              </a:rPr>
              <a:t>H </a:t>
            </a:r>
            <a:r>
              <a:rPr lang="en-US" altLang="zh-CN" sz="2600" b="1" i="1" baseline="-25000" dirty="0" smtClean="0">
                <a:solidFill>
                  <a:srgbClr val="C00000"/>
                </a:solidFill>
                <a:latin typeface="Times New Roman" panose="02020603050405020304" pitchFamily="18" charset="0"/>
                <a:ea typeface="楷体_GB2312" pitchFamily="49" charset="-122"/>
              </a:rPr>
              <a:t>m </a:t>
            </a:r>
            <a:r>
              <a:rPr lang="el-GR" altLang="zh-CN" sz="2600" b="1" i="1" baseline="30000" dirty="0" smtClean="0">
                <a:solidFill>
                  <a:srgbClr val="C00000"/>
                </a:solidFill>
                <a:latin typeface="楷体_GB2312" pitchFamily="49" charset="-122"/>
                <a:ea typeface="楷体_GB2312" pitchFamily="49" charset="-122"/>
              </a:rPr>
              <a:t>Θ</a:t>
            </a:r>
            <a:r>
              <a:rPr lang="en-US" altLang="zh-CN" sz="2600" b="1" i="1" dirty="0" smtClean="0">
                <a:solidFill>
                  <a:srgbClr val="C00000"/>
                </a:solidFill>
                <a:latin typeface="Times New Roman" panose="02020603050405020304" pitchFamily="18" charset="0"/>
                <a:ea typeface="楷体_GB2312" pitchFamily="49" charset="-122"/>
              </a:rPr>
              <a:t> </a:t>
            </a:r>
            <a:endParaRPr kumimoji="1" lang="en-US" altLang="zh-CN" sz="2600" b="1" i="1" dirty="0" smtClean="0">
              <a:solidFill>
                <a:srgbClr val="C00000"/>
              </a:solidFill>
              <a:latin typeface="Times New Roman" panose="02020603050405020304" pitchFamily="18" charset="0"/>
              <a:ea typeface="楷体_GB2312" pitchFamily="49" charset="-122"/>
            </a:endParaRPr>
          </a:p>
        </p:txBody>
      </p:sp>
      <p:sp>
        <p:nvSpPr>
          <p:cNvPr id="16" name="矩形 15"/>
          <p:cNvSpPr/>
          <p:nvPr/>
        </p:nvSpPr>
        <p:spPr>
          <a:xfrm>
            <a:off x="357158" y="3214686"/>
            <a:ext cx="8429684" cy="1015663"/>
          </a:xfrm>
          <a:prstGeom prst="rect">
            <a:avLst/>
          </a:prstGeom>
        </p:spPr>
        <p:txBody>
          <a:bodyPr wrap="square">
            <a:spAutoFit/>
          </a:bodyPr>
          <a:lstStyle/>
          <a:p>
            <a:pPr eaLnBrk="0" fontAlgn="base" hangingPunct="0">
              <a:lnSpc>
                <a:spcPts val="3600"/>
              </a:lnSpc>
              <a:spcBef>
                <a:spcPct val="50000"/>
              </a:spcBef>
              <a:spcAft>
                <a:spcPct val="0"/>
              </a:spcAft>
              <a:defRPr/>
            </a:pPr>
            <a:r>
              <a:rPr kumimoji="1" lang="zh-CN" altLang="en-US" sz="2600" b="1" i="1" dirty="0" smtClean="0">
                <a:solidFill>
                  <a:srgbClr val="C00000"/>
                </a:solidFill>
                <a:latin typeface="Times New Roman" panose="02020603050405020304"/>
                <a:ea typeface="楷体_GB2312" pitchFamily="49" charset="-122"/>
              </a:rPr>
              <a:t>      注意</a:t>
            </a:r>
            <a:r>
              <a:rPr kumimoji="1" lang="zh-CN" altLang="en-US" sz="2600" b="1" i="1" dirty="0">
                <a:solidFill>
                  <a:srgbClr val="000000"/>
                </a:solidFill>
                <a:latin typeface="Times New Roman" panose="02020603050405020304"/>
                <a:ea typeface="楷体_GB2312" pitchFamily="49" charset="-122"/>
              </a:rPr>
              <a:t>：</a:t>
            </a:r>
            <a:r>
              <a:rPr kumimoji="1" lang="zh-CN" altLang="en-US" sz="2600" b="1" dirty="0">
                <a:solidFill>
                  <a:srgbClr val="000000"/>
                </a:solidFill>
                <a:latin typeface="Times New Roman" panose="02020603050405020304"/>
                <a:ea typeface="楷体_GB2312" pitchFamily="49" charset="-122"/>
              </a:rPr>
              <a:t>也有特例，不一定都是最稳定</a:t>
            </a:r>
            <a:r>
              <a:rPr kumimoji="1" lang="zh-CN" altLang="en-US" sz="2600" b="1" dirty="0" smtClean="0">
                <a:solidFill>
                  <a:srgbClr val="000000"/>
                </a:solidFill>
                <a:latin typeface="Times New Roman" panose="02020603050405020304"/>
                <a:ea typeface="楷体_GB2312" pitchFamily="49" charset="-122"/>
              </a:rPr>
              <a:t>单质；各</a:t>
            </a:r>
            <a:r>
              <a:rPr kumimoji="1" lang="zh-CN" altLang="en-US" sz="2600" b="1" dirty="0">
                <a:solidFill>
                  <a:srgbClr val="000000"/>
                </a:solidFill>
                <a:latin typeface="Times New Roman" panose="02020603050405020304"/>
                <a:ea typeface="楷体_GB2312" pitchFamily="49" charset="-122"/>
              </a:rPr>
              <a:t>物质的</a:t>
            </a:r>
            <a:r>
              <a:rPr lang="zh-CN" altLang="en-US" sz="2600" b="1" dirty="0">
                <a:solidFill>
                  <a:srgbClr val="000000"/>
                </a:solidFill>
                <a:latin typeface="Times New Roman" panose="02020603050405020304"/>
                <a:ea typeface="楷体_GB2312" pitchFamily="49" charset="-122"/>
              </a:rPr>
              <a:t>△ </a:t>
            </a:r>
            <a:r>
              <a:rPr lang="en-US" altLang="zh-CN" sz="2600" b="1" baseline="-25000" dirty="0">
                <a:solidFill>
                  <a:srgbClr val="000000"/>
                </a:solidFill>
                <a:latin typeface="Times New Roman" panose="02020603050405020304"/>
                <a:ea typeface="楷体_GB2312" pitchFamily="49" charset="-122"/>
              </a:rPr>
              <a:t>f </a:t>
            </a:r>
            <a:r>
              <a:rPr lang="en-US" altLang="zh-CN" sz="2600" b="1" dirty="0">
                <a:solidFill>
                  <a:srgbClr val="000000"/>
                </a:solidFill>
                <a:latin typeface="Times New Roman" panose="02020603050405020304"/>
                <a:ea typeface="楷体_GB2312" pitchFamily="49" charset="-122"/>
              </a:rPr>
              <a:t>H </a:t>
            </a:r>
            <a:r>
              <a:rPr lang="en-US" altLang="zh-CN" sz="2600" b="1" baseline="-25000" dirty="0">
                <a:solidFill>
                  <a:srgbClr val="000000"/>
                </a:solidFill>
                <a:latin typeface="Times New Roman" panose="02020603050405020304"/>
                <a:ea typeface="楷体_GB2312" pitchFamily="49" charset="-122"/>
              </a:rPr>
              <a:t>m</a:t>
            </a:r>
            <a:r>
              <a:rPr lang="el-GR" altLang="zh-CN" sz="2600" b="1" baseline="30000" dirty="0">
                <a:solidFill>
                  <a:srgbClr val="000000"/>
                </a:solidFill>
                <a:latin typeface="Times New Roman" panose="02020603050405020304"/>
                <a:ea typeface="楷体_GB2312" pitchFamily="49" charset="-122"/>
              </a:rPr>
              <a:t>Θ</a:t>
            </a:r>
            <a:r>
              <a:rPr lang="zh-CN" altLang="en-US" sz="2600" b="1" dirty="0">
                <a:solidFill>
                  <a:srgbClr val="000000"/>
                </a:solidFill>
                <a:latin typeface="Times New Roman" panose="02020603050405020304"/>
                <a:ea typeface="楷体_GB2312" pitchFamily="49" charset="-122"/>
              </a:rPr>
              <a:t>可查附录一</a:t>
            </a:r>
            <a:r>
              <a:rPr lang="en-US" altLang="zh-CN" sz="2600" b="1" dirty="0">
                <a:solidFill>
                  <a:srgbClr val="000000"/>
                </a:solidFill>
                <a:latin typeface="Times New Roman" panose="02020603050405020304"/>
                <a:ea typeface="楷体_GB2312" pitchFamily="49" charset="-122"/>
              </a:rPr>
              <a:t>P</a:t>
            </a:r>
            <a:r>
              <a:rPr lang="en-US" altLang="zh-CN" sz="2600" b="1" baseline="-25000" dirty="0">
                <a:solidFill>
                  <a:srgbClr val="000000"/>
                </a:solidFill>
                <a:latin typeface="Times New Roman" panose="02020603050405020304"/>
                <a:ea typeface="楷体_GB2312" pitchFamily="49" charset="-122"/>
              </a:rPr>
              <a:t>674</a:t>
            </a:r>
            <a:endParaRPr lang="en-US" altLang="zh-CN" sz="2600" b="1" baseline="30000" dirty="0">
              <a:solidFill>
                <a:srgbClr val="000000"/>
              </a:solidFill>
              <a:latin typeface="Times New Roman" panose="02020603050405020304"/>
              <a:ea typeface="楷体_GB2312" pitchFamily="49" charset="-122"/>
            </a:endParaRPr>
          </a:p>
        </p:txBody>
      </p:sp>
      <p:grpSp>
        <p:nvGrpSpPr>
          <p:cNvPr id="17" name="Group 25"/>
          <p:cNvGrpSpPr/>
          <p:nvPr/>
        </p:nvGrpSpPr>
        <p:grpSpPr bwMode="auto">
          <a:xfrm>
            <a:off x="1142976" y="4286256"/>
            <a:ext cx="6554788" cy="1784350"/>
            <a:chOff x="624" y="336"/>
            <a:chExt cx="4129" cy="1124"/>
          </a:xfrm>
        </p:grpSpPr>
        <p:sp>
          <p:nvSpPr>
            <p:cNvPr id="18" name="Text Box 21"/>
            <p:cNvSpPr txBox="1">
              <a:spLocks noChangeArrowheads="1"/>
            </p:cNvSpPr>
            <p:nvPr/>
          </p:nvSpPr>
          <p:spPr bwMode="auto">
            <a:xfrm>
              <a:off x="624" y="672"/>
              <a:ext cx="768" cy="30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spcBef>
                  <a:spcPct val="50000"/>
                </a:spcBef>
                <a:spcAft>
                  <a:spcPct val="0"/>
                </a:spcAft>
              </a:pPr>
              <a:r>
                <a:rPr lang="zh-CN" altLang="en-US" sz="2600" i="1" smtClean="0"/>
                <a:t>例如：</a:t>
              </a:r>
            </a:p>
          </p:txBody>
        </p:sp>
        <p:sp>
          <p:nvSpPr>
            <p:cNvPr id="19" name="Rectangle 22"/>
            <p:cNvSpPr>
              <a:spLocks noChangeArrowheads="1"/>
            </p:cNvSpPr>
            <p:nvPr/>
          </p:nvSpPr>
          <p:spPr bwMode="auto">
            <a:xfrm>
              <a:off x="1872" y="336"/>
              <a:ext cx="2773" cy="260"/>
            </a:xfrm>
            <a:prstGeom prst="rect">
              <a:avLst/>
            </a:prstGeom>
            <a:solidFill>
              <a:schemeClr val="bg1"/>
            </a:solidFill>
            <a:ln w="9525" algn="ctr">
              <a:noFill/>
              <a:miter lim="800000"/>
            </a:ln>
            <a:effectLst>
              <a:outerShdw sy="50000" kx="2453608" rotWithShape="0">
                <a:srgbClr val="808080">
                  <a:alpha val="50000"/>
                </a:srgbClr>
              </a:outerShdw>
            </a:effectLst>
          </p:spPr>
          <p:txBody>
            <a:bodyPr wrap="none" lIns="92075" tIns="46038" rIns="92075" bIns="46038">
              <a:spAutoFit/>
            </a:bodyPr>
            <a:lstStyle/>
            <a:p>
              <a:pPr eaLnBrk="0" fontAlgn="base" hangingPunct="0">
                <a:lnSpc>
                  <a:spcPct val="80000"/>
                </a:lnSpc>
                <a:spcBef>
                  <a:spcPct val="50000"/>
                </a:spcBef>
                <a:spcAft>
                  <a:spcPct val="0"/>
                </a:spcAft>
                <a:defRPr/>
              </a:pPr>
              <a:r>
                <a:rPr lang="en-US" altLang="zh-CN" sz="2600" b="1" i="1" dirty="0">
                  <a:solidFill>
                    <a:srgbClr val="0000FF"/>
                  </a:solidFill>
                  <a:latin typeface="Times New Roman" panose="02020603050405020304" pitchFamily="18" charset="0"/>
                  <a:ea typeface="楷体_GB2312" pitchFamily="49" charset="-122"/>
                </a:rPr>
                <a:t>△ </a:t>
              </a:r>
              <a:r>
                <a:rPr lang="en-US" altLang="zh-CN" sz="2600" b="1" i="1" baseline="-25000" dirty="0" err="1">
                  <a:solidFill>
                    <a:srgbClr val="0000FF"/>
                  </a:solidFill>
                  <a:latin typeface="Times New Roman" panose="02020603050405020304" pitchFamily="18" charset="0"/>
                  <a:ea typeface="楷体_GB2312" pitchFamily="49" charset="-122"/>
                </a:rPr>
                <a:t>f</a:t>
              </a:r>
              <a:r>
                <a:rPr lang="en-US" altLang="zh-CN" sz="2600" b="1" i="1" dirty="0" err="1">
                  <a:solidFill>
                    <a:srgbClr val="0000FF"/>
                  </a:solidFill>
                  <a:latin typeface="Times New Roman" panose="02020603050405020304" pitchFamily="18" charset="0"/>
                  <a:ea typeface="楷体_GB2312" pitchFamily="49" charset="-122"/>
                </a:rPr>
                <a:t>H</a:t>
              </a:r>
              <a:r>
                <a:rPr lang="en-US" altLang="zh-CN" sz="2600" b="1" i="1" baseline="-25000" dirty="0" err="1">
                  <a:solidFill>
                    <a:srgbClr val="0000FF"/>
                  </a:solidFill>
                  <a:latin typeface="Times New Roman" panose="02020603050405020304" pitchFamily="18" charset="0"/>
                  <a:ea typeface="楷体_GB2312" pitchFamily="49" charset="-122"/>
                </a:rPr>
                <a:t>m</a:t>
              </a:r>
              <a:r>
                <a:rPr lang="el-GR" altLang="zh-CN" sz="2600" b="1" i="1" baseline="30000" dirty="0">
                  <a:solidFill>
                    <a:srgbClr val="0000FF"/>
                  </a:solidFill>
                  <a:latin typeface="楷体_GB2312" pitchFamily="49" charset="-122"/>
                  <a:ea typeface="楷体_GB2312" pitchFamily="49" charset="-122"/>
                </a:rPr>
                <a:t>Θ</a:t>
              </a:r>
              <a:r>
                <a:rPr lang="en-US" altLang="zh-CN" sz="2600" b="1" i="1" baseline="30000" dirty="0">
                  <a:solidFill>
                    <a:srgbClr val="0000FF"/>
                  </a:solidFill>
                  <a:latin typeface="Times New Roman" panose="02020603050405020304" pitchFamily="18" charset="0"/>
                  <a:ea typeface="楷体_GB2312" pitchFamily="49" charset="-122"/>
                </a:rPr>
                <a:t> </a:t>
              </a:r>
              <a:r>
                <a:rPr lang="en-US" altLang="zh-CN" sz="2600" b="1" i="1" dirty="0">
                  <a:solidFill>
                    <a:srgbClr val="0000FF"/>
                  </a:solidFill>
                  <a:latin typeface="Times New Roman" panose="02020603050405020304" pitchFamily="18" charset="0"/>
                  <a:ea typeface="楷体_GB2312" pitchFamily="49" charset="-122"/>
                </a:rPr>
                <a:t>(C</a:t>
              </a:r>
              <a:r>
                <a:rPr lang="zh-CN" altLang="en-US" sz="2600" b="1" i="1" dirty="0">
                  <a:solidFill>
                    <a:srgbClr val="0000FF"/>
                  </a:solidFill>
                  <a:latin typeface="Times New Roman" panose="02020603050405020304" pitchFamily="18" charset="0"/>
                  <a:ea typeface="楷体_GB2312" pitchFamily="49" charset="-122"/>
                </a:rPr>
                <a:t>石墨</a:t>
              </a:r>
              <a:r>
                <a:rPr lang="en-US" altLang="zh-CN" sz="2600" b="1" i="1" dirty="0">
                  <a:solidFill>
                    <a:srgbClr val="0000FF"/>
                  </a:solidFill>
                  <a:latin typeface="Times New Roman" panose="02020603050405020304" pitchFamily="18" charset="0"/>
                  <a:ea typeface="楷体_GB2312" pitchFamily="49" charset="-122"/>
                </a:rPr>
                <a:t>, </a:t>
              </a:r>
              <a:r>
                <a:rPr kumimoji="1" lang="en-US" altLang="zh-CN" sz="2600" b="1" i="1" dirty="0">
                  <a:solidFill>
                    <a:srgbClr val="0000FF"/>
                  </a:solidFill>
                  <a:latin typeface="Times New Roman" panose="02020603050405020304" pitchFamily="18" charset="0"/>
                  <a:ea typeface="楷体_GB2312" pitchFamily="49" charset="-122"/>
                </a:rPr>
                <a:t>298.15K</a:t>
              </a:r>
              <a:r>
                <a:rPr lang="en-US" altLang="zh-CN" sz="2600" b="1" i="1" dirty="0">
                  <a:solidFill>
                    <a:srgbClr val="0000FF"/>
                  </a:solidFill>
                  <a:latin typeface="Times New Roman" panose="02020603050405020304" pitchFamily="18" charset="0"/>
                  <a:ea typeface="楷体_GB2312" pitchFamily="49" charset="-122"/>
                </a:rPr>
                <a:t>) = 0</a:t>
              </a:r>
            </a:p>
          </p:txBody>
        </p:sp>
        <p:sp>
          <p:nvSpPr>
            <p:cNvPr id="20" name="Rectangle 23"/>
            <p:cNvSpPr>
              <a:spLocks noChangeArrowheads="1"/>
            </p:cNvSpPr>
            <p:nvPr/>
          </p:nvSpPr>
          <p:spPr bwMode="auto">
            <a:xfrm>
              <a:off x="1824" y="768"/>
              <a:ext cx="2929" cy="260"/>
            </a:xfrm>
            <a:prstGeom prst="rect">
              <a:avLst/>
            </a:prstGeom>
            <a:solidFill>
              <a:schemeClr val="bg1"/>
            </a:solidFill>
            <a:ln w="9525" algn="ctr">
              <a:noFill/>
              <a:miter lim="800000"/>
            </a:ln>
            <a:effectLst>
              <a:outerShdw sy="50000" kx="2453608" rotWithShape="0">
                <a:srgbClr val="808080">
                  <a:alpha val="50000"/>
                </a:srgbClr>
              </a:outerShdw>
            </a:effectLst>
          </p:spPr>
          <p:txBody>
            <a:bodyPr wrap="none" lIns="92075" tIns="46038" rIns="92075" bIns="46038">
              <a:spAutoFit/>
            </a:bodyPr>
            <a:lstStyle/>
            <a:p>
              <a:pPr eaLnBrk="0" fontAlgn="base" hangingPunct="0">
                <a:lnSpc>
                  <a:spcPct val="80000"/>
                </a:lnSpc>
                <a:spcBef>
                  <a:spcPct val="50000"/>
                </a:spcBef>
                <a:spcAft>
                  <a:spcPct val="0"/>
                </a:spcAft>
                <a:defRPr/>
              </a:pPr>
              <a:r>
                <a:rPr lang="en-US" altLang="zh-CN" sz="2600" b="1" i="1" dirty="0">
                  <a:solidFill>
                    <a:srgbClr val="0000FF"/>
                  </a:solidFill>
                  <a:latin typeface="Times New Roman" panose="02020603050405020304" pitchFamily="18" charset="0"/>
                  <a:ea typeface="楷体_GB2312" pitchFamily="49" charset="-122"/>
                </a:rPr>
                <a:t>△</a:t>
              </a:r>
              <a:r>
                <a:rPr lang="en-US" altLang="zh-CN" sz="2600" b="1" i="1" baseline="-25000" dirty="0" err="1">
                  <a:solidFill>
                    <a:srgbClr val="0000FF"/>
                  </a:solidFill>
                  <a:latin typeface="Times New Roman" panose="02020603050405020304" pitchFamily="18" charset="0"/>
                  <a:ea typeface="楷体_GB2312" pitchFamily="49" charset="-122"/>
                </a:rPr>
                <a:t>f</a:t>
              </a:r>
              <a:r>
                <a:rPr lang="en-US" altLang="zh-CN" sz="2600" b="1" i="1" dirty="0" err="1">
                  <a:solidFill>
                    <a:srgbClr val="0000FF"/>
                  </a:solidFill>
                  <a:latin typeface="Times New Roman" panose="02020603050405020304" pitchFamily="18" charset="0"/>
                  <a:ea typeface="楷体_GB2312" pitchFamily="49" charset="-122"/>
                </a:rPr>
                <a:t>H</a:t>
              </a:r>
              <a:r>
                <a:rPr lang="en-US" altLang="zh-CN" sz="2600" b="1" i="1" baseline="-25000" dirty="0" err="1">
                  <a:solidFill>
                    <a:srgbClr val="0000FF"/>
                  </a:solidFill>
                  <a:latin typeface="Times New Roman" panose="02020603050405020304" pitchFamily="18" charset="0"/>
                  <a:ea typeface="楷体_GB2312" pitchFamily="49" charset="-122"/>
                </a:rPr>
                <a:t>m</a:t>
              </a:r>
              <a:r>
                <a:rPr lang="el-GR" altLang="zh-CN" sz="2600" b="1" i="1" baseline="30000" dirty="0">
                  <a:solidFill>
                    <a:srgbClr val="0000FF"/>
                  </a:solidFill>
                  <a:latin typeface="楷体_GB2312" pitchFamily="49" charset="-122"/>
                  <a:ea typeface="楷体_GB2312" pitchFamily="49" charset="-122"/>
                </a:rPr>
                <a:t>Θ</a:t>
              </a:r>
              <a:r>
                <a:rPr lang="en-US" altLang="zh-CN" sz="2600" b="1" i="1" dirty="0">
                  <a:solidFill>
                    <a:srgbClr val="0000FF"/>
                  </a:solidFill>
                  <a:latin typeface="Times New Roman" panose="02020603050405020304" pitchFamily="18" charset="0"/>
                  <a:ea typeface="楷体_GB2312" pitchFamily="49" charset="-122"/>
                </a:rPr>
                <a:t>(H</a:t>
              </a:r>
              <a:r>
                <a:rPr lang="en-US" altLang="zh-CN" sz="2600" b="1" i="1" baseline="-25000" dirty="0">
                  <a:solidFill>
                    <a:srgbClr val="0000FF"/>
                  </a:solidFill>
                  <a:latin typeface="Times New Roman" panose="02020603050405020304" pitchFamily="18" charset="0"/>
                  <a:ea typeface="楷体_GB2312" pitchFamily="49" charset="-122"/>
                </a:rPr>
                <a:t>2</a:t>
              </a:r>
              <a:r>
                <a:rPr lang="en-US" altLang="zh-CN" sz="2600" b="1" i="1" dirty="0">
                  <a:solidFill>
                    <a:srgbClr val="0000FF"/>
                  </a:solidFill>
                  <a:latin typeface="Times New Roman" panose="02020603050405020304" pitchFamily="18" charset="0"/>
                  <a:ea typeface="楷体_GB2312" pitchFamily="49" charset="-122"/>
                </a:rPr>
                <a:t> </a:t>
              </a:r>
              <a:r>
                <a:rPr lang="zh-CN" altLang="en-US" sz="2600" b="1" i="1" dirty="0">
                  <a:solidFill>
                    <a:srgbClr val="0000FF"/>
                  </a:solidFill>
                  <a:latin typeface="Times New Roman" panose="02020603050405020304" pitchFamily="18" charset="0"/>
                  <a:ea typeface="楷体_GB2312" pitchFamily="49" charset="-122"/>
                </a:rPr>
                <a:t>或 </a:t>
              </a:r>
              <a:r>
                <a:rPr lang="en-US" altLang="zh-CN" sz="2600" b="1" i="1" dirty="0">
                  <a:solidFill>
                    <a:srgbClr val="0000FF"/>
                  </a:solidFill>
                  <a:latin typeface="Times New Roman" panose="02020603050405020304" pitchFamily="18" charset="0"/>
                  <a:ea typeface="楷体_GB2312" pitchFamily="49" charset="-122"/>
                </a:rPr>
                <a:t>O</a:t>
              </a:r>
              <a:r>
                <a:rPr lang="en-US" altLang="zh-CN" sz="2600" b="1" i="1" baseline="-25000" dirty="0">
                  <a:solidFill>
                    <a:srgbClr val="0000FF"/>
                  </a:solidFill>
                  <a:latin typeface="Times New Roman" panose="02020603050405020304" pitchFamily="18" charset="0"/>
                  <a:ea typeface="楷体_GB2312" pitchFamily="49" charset="-122"/>
                </a:rPr>
                <a:t>2 </a:t>
              </a:r>
              <a:r>
                <a:rPr lang="en-US" altLang="zh-CN" sz="2600" b="1" i="1" dirty="0">
                  <a:solidFill>
                    <a:srgbClr val="0000FF"/>
                  </a:solidFill>
                  <a:latin typeface="Times New Roman" panose="02020603050405020304" pitchFamily="18" charset="0"/>
                  <a:ea typeface="楷体_GB2312" pitchFamily="49" charset="-122"/>
                </a:rPr>
                <a:t>, </a:t>
              </a:r>
              <a:r>
                <a:rPr kumimoji="1" lang="en-US" altLang="zh-CN" sz="2600" b="1" i="1" dirty="0">
                  <a:solidFill>
                    <a:srgbClr val="0000FF"/>
                  </a:solidFill>
                  <a:latin typeface="Times New Roman" panose="02020603050405020304" pitchFamily="18" charset="0"/>
                  <a:ea typeface="楷体_GB2312" pitchFamily="49" charset="-122"/>
                </a:rPr>
                <a:t>298.15K</a:t>
              </a:r>
              <a:r>
                <a:rPr lang="en-US" altLang="zh-CN" sz="2600" b="1" i="1" dirty="0">
                  <a:solidFill>
                    <a:srgbClr val="0000FF"/>
                  </a:solidFill>
                  <a:latin typeface="Times New Roman" panose="02020603050405020304" pitchFamily="18" charset="0"/>
                  <a:ea typeface="楷体_GB2312" pitchFamily="49" charset="-122"/>
                </a:rPr>
                <a:t>) = 0</a:t>
              </a:r>
            </a:p>
          </p:txBody>
        </p:sp>
        <p:sp>
          <p:nvSpPr>
            <p:cNvPr id="21" name="Rectangle 24"/>
            <p:cNvSpPr>
              <a:spLocks noChangeArrowheads="1"/>
            </p:cNvSpPr>
            <p:nvPr/>
          </p:nvSpPr>
          <p:spPr bwMode="auto">
            <a:xfrm>
              <a:off x="1872" y="1200"/>
              <a:ext cx="2873" cy="260"/>
            </a:xfrm>
            <a:prstGeom prst="rect">
              <a:avLst/>
            </a:prstGeom>
            <a:solidFill>
              <a:schemeClr val="bg1"/>
            </a:solidFill>
            <a:ln w="9525" algn="ctr">
              <a:noFill/>
              <a:miter lim="800000"/>
            </a:ln>
            <a:effectLst>
              <a:outerShdw sy="50000" kx="2453608" rotWithShape="0">
                <a:srgbClr val="808080">
                  <a:alpha val="50000"/>
                </a:srgbClr>
              </a:outerShdw>
            </a:effectLst>
          </p:spPr>
          <p:txBody>
            <a:bodyPr wrap="none" lIns="92075" tIns="46038" rIns="92075" bIns="46038">
              <a:spAutoFit/>
            </a:bodyPr>
            <a:lstStyle/>
            <a:p>
              <a:pPr eaLnBrk="0" fontAlgn="base" hangingPunct="0">
                <a:lnSpc>
                  <a:spcPct val="80000"/>
                </a:lnSpc>
                <a:spcBef>
                  <a:spcPct val="50000"/>
                </a:spcBef>
                <a:spcAft>
                  <a:spcPct val="0"/>
                </a:spcAft>
                <a:defRPr/>
              </a:pPr>
              <a:r>
                <a:rPr lang="zh-CN" altLang="en-US" sz="2600" b="1" i="1" dirty="0">
                  <a:solidFill>
                    <a:srgbClr val="0000FF"/>
                  </a:solidFill>
                  <a:latin typeface="Times New Roman" panose="02020603050405020304" pitchFamily="18" charset="0"/>
                  <a:ea typeface="楷体_GB2312" pitchFamily="49" charset="-122"/>
                </a:rPr>
                <a:t>但</a:t>
              </a:r>
              <a:r>
                <a:rPr lang="en-US" altLang="zh-CN" sz="2600" b="1" i="1" dirty="0">
                  <a:solidFill>
                    <a:srgbClr val="0000FF"/>
                  </a:solidFill>
                  <a:latin typeface="Times New Roman" panose="02020603050405020304" pitchFamily="18" charset="0"/>
                  <a:ea typeface="楷体_GB2312" pitchFamily="49" charset="-122"/>
                </a:rPr>
                <a:t>△</a:t>
              </a:r>
              <a:r>
                <a:rPr lang="en-US" altLang="zh-CN" sz="2600" b="1" i="1" baseline="-25000" dirty="0" err="1">
                  <a:solidFill>
                    <a:srgbClr val="0000FF"/>
                  </a:solidFill>
                  <a:latin typeface="Times New Roman" panose="02020603050405020304" pitchFamily="18" charset="0"/>
                  <a:ea typeface="楷体_GB2312" pitchFamily="49" charset="-122"/>
                </a:rPr>
                <a:t>f</a:t>
              </a:r>
              <a:r>
                <a:rPr lang="en-US" altLang="zh-CN" sz="2600" b="1" i="1" dirty="0" err="1">
                  <a:solidFill>
                    <a:srgbClr val="0000FF"/>
                  </a:solidFill>
                  <a:latin typeface="Times New Roman" panose="02020603050405020304" pitchFamily="18" charset="0"/>
                  <a:ea typeface="楷体_GB2312" pitchFamily="49" charset="-122"/>
                </a:rPr>
                <a:t>H</a:t>
              </a:r>
              <a:r>
                <a:rPr lang="en-US" altLang="zh-CN" sz="2600" b="1" i="1" baseline="-25000" dirty="0" err="1">
                  <a:solidFill>
                    <a:srgbClr val="0000FF"/>
                  </a:solidFill>
                  <a:latin typeface="Times New Roman" panose="02020603050405020304" pitchFamily="18" charset="0"/>
                  <a:ea typeface="楷体_GB2312" pitchFamily="49" charset="-122"/>
                </a:rPr>
                <a:t>m</a:t>
              </a:r>
              <a:r>
                <a:rPr lang="el-GR" altLang="zh-CN" sz="2600" b="1" i="1" baseline="30000" dirty="0">
                  <a:solidFill>
                    <a:srgbClr val="0000FF"/>
                  </a:solidFill>
                  <a:latin typeface="楷体_GB2312" pitchFamily="49" charset="-122"/>
                  <a:ea typeface="楷体_GB2312" pitchFamily="49" charset="-122"/>
                </a:rPr>
                <a:t>Θ</a:t>
              </a:r>
              <a:r>
                <a:rPr lang="en-US" altLang="zh-CN" sz="2600" b="1" i="1" dirty="0">
                  <a:solidFill>
                    <a:srgbClr val="0000FF"/>
                  </a:solidFill>
                  <a:latin typeface="Times New Roman" panose="02020603050405020304" pitchFamily="18" charset="0"/>
                  <a:ea typeface="楷体_GB2312" pitchFamily="49" charset="-122"/>
                </a:rPr>
                <a:t>(P</a:t>
              </a:r>
              <a:r>
                <a:rPr lang="zh-CN" altLang="en-US" sz="2600" b="1" i="1" dirty="0">
                  <a:solidFill>
                    <a:srgbClr val="0000FF"/>
                  </a:solidFill>
                  <a:latin typeface="Times New Roman" panose="02020603050405020304" pitchFamily="18" charset="0"/>
                  <a:ea typeface="楷体_GB2312" pitchFamily="49" charset="-122"/>
                </a:rPr>
                <a:t>白磷</a:t>
              </a:r>
              <a:r>
                <a:rPr lang="en-US" altLang="zh-CN" sz="2600" b="1" i="1" dirty="0">
                  <a:solidFill>
                    <a:srgbClr val="0000FF"/>
                  </a:solidFill>
                  <a:latin typeface="Times New Roman" panose="02020603050405020304" pitchFamily="18" charset="0"/>
                  <a:ea typeface="楷体_GB2312" pitchFamily="49" charset="-122"/>
                </a:rPr>
                <a:t>, </a:t>
              </a:r>
              <a:r>
                <a:rPr kumimoji="1" lang="en-US" altLang="zh-CN" sz="2600" b="1" i="1" dirty="0">
                  <a:solidFill>
                    <a:srgbClr val="0000FF"/>
                  </a:solidFill>
                  <a:latin typeface="Times New Roman" panose="02020603050405020304" pitchFamily="18" charset="0"/>
                  <a:ea typeface="楷体_GB2312" pitchFamily="49" charset="-122"/>
                </a:rPr>
                <a:t>298.15K</a:t>
              </a:r>
              <a:r>
                <a:rPr lang="en-US" altLang="zh-CN" sz="2600" b="1" i="1" dirty="0">
                  <a:solidFill>
                    <a:srgbClr val="0000FF"/>
                  </a:solidFill>
                  <a:latin typeface="Times New Roman" panose="02020603050405020304" pitchFamily="18" charset="0"/>
                  <a:ea typeface="楷体_GB2312" pitchFamily="49" charset="-122"/>
                </a:rPr>
                <a:t>) = 0</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blinds(horizontal)">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box(in)">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4"/>
          <p:cNvGrpSpPr/>
          <p:nvPr/>
        </p:nvGrpSpPr>
        <p:grpSpPr bwMode="auto">
          <a:xfrm>
            <a:off x="71406" y="2571744"/>
            <a:ext cx="8888413" cy="2109550"/>
            <a:chOff x="76200" y="76200"/>
            <a:chExt cx="8887976" cy="2109218"/>
          </a:xfrm>
        </p:grpSpPr>
        <p:grpSp>
          <p:nvGrpSpPr>
            <p:cNvPr id="12299" name="组合 12"/>
            <p:cNvGrpSpPr/>
            <p:nvPr/>
          </p:nvGrpSpPr>
          <p:grpSpPr bwMode="auto">
            <a:xfrm>
              <a:off x="147634" y="504760"/>
              <a:ext cx="8816542" cy="1680658"/>
              <a:chOff x="71434" y="-28640"/>
              <a:chExt cx="8816542" cy="1680658"/>
            </a:xfrm>
          </p:grpSpPr>
          <p:graphicFrame>
            <p:nvGraphicFramePr>
              <p:cNvPr id="12290" name="Object 16"/>
              <p:cNvGraphicFramePr>
                <a:graphicFrameLocks noChangeAspect="1"/>
              </p:cNvGraphicFramePr>
              <p:nvPr/>
            </p:nvGraphicFramePr>
            <p:xfrm>
              <a:off x="3352800" y="-28640"/>
              <a:ext cx="3352800" cy="485840"/>
            </p:xfrm>
            <a:graphic>
              <a:graphicData uri="http://schemas.openxmlformats.org/presentationml/2006/ole">
                <p:oleObj spid="_x0000_s84997" r:id="rId3" imgW="42062400" imgH="5181600" progId="Equation.3">
                  <p:embed/>
                </p:oleObj>
              </a:graphicData>
            </a:graphic>
          </p:graphicFrame>
          <p:graphicFrame>
            <p:nvGraphicFramePr>
              <p:cNvPr id="12291" name="Object 15"/>
              <p:cNvGraphicFramePr>
                <a:graphicFrameLocks noChangeAspect="1"/>
              </p:cNvGraphicFramePr>
              <p:nvPr/>
            </p:nvGraphicFramePr>
            <p:xfrm>
              <a:off x="5715000" y="609600"/>
              <a:ext cx="1447800" cy="457200"/>
            </p:xfrm>
            <a:graphic>
              <a:graphicData uri="http://schemas.openxmlformats.org/presentationml/2006/ole">
                <p:oleObj spid="_x0000_s84996" r:id="rId4" imgW="14630400" imgH="4876800" progId="Equation.3">
                  <p:embed/>
                </p:oleObj>
              </a:graphicData>
            </a:graphic>
          </p:graphicFrame>
          <p:graphicFrame>
            <p:nvGraphicFramePr>
              <p:cNvPr id="12292" name="Object 14"/>
              <p:cNvGraphicFramePr>
                <a:graphicFrameLocks noChangeAspect="1"/>
              </p:cNvGraphicFramePr>
              <p:nvPr/>
            </p:nvGraphicFramePr>
            <p:xfrm>
              <a:off x="76200" y="609600"/>
              <a:ext cx="1371600" cy="381000"/>
            </p:xfrm>
            <a:graphic>
              <a:graphicData uri="http://schemas.openxmlformats.org/presentationml/2006/ole">
                <p:oleObj spid="_x0000_s84995" r:id="rId5" imgW="14630400" imgH="4876800" progId="Equation.3">
                  <p:embed/>
                </p:oleObj>
              </a:graphicData>
            </a:graphic>
          </p:graphicFrame>
          <p:graphicFrame>
            <p:nvGraphicFramePr>
              <p:cNvPr id="12293" name="Object 13"/>
              <p:cNvGraphicFramePr>
                <a:graphicFrameLocks noChangeAspect="1"/>
              </p:cNvGraphicFramePr>
              <p:nvPr/>
            </p:nvGraphicFramePr>
            <p:xfrm>
              <a:off x="71434" y="1114189"/>
              <a:ext cx="3990800" cy="537829"/>
            </p:xfrm>
            <a:graphic>
              <a:graphicData uri="http://schemas.openxmlformats.org/presentationml/2006/ole">
                <p:oleObj spid="_x0000_s84994" r:id="rId6" imgW="42672000" imgH="5181600" progId="Equation.3">
                  <p:embed/>
                </p:oleObj>
              </a:graphicData>
            </a:graphic>
          </p:graphicFrame>
          <p:graphicFrame>
            <p:nvGraphicFramePr>
              <p:cNvPr id="12294" name="Object 12"/>
              <p:cNvGraphicFramePr>
                <a:graphicFrameLocks noChangeAspect="1"/>
              </p:cNvGraphicFramePr>
              <p:nvPr/>
            </p:nvGraphicFramePr>
            <p:xfrm>
              <a:off x="6934200" y="1143000"/>
              <a:ext cx="1295400" cy="457200"/>
            </p:xfrm>
            <a:graphic>
              <a:graphicData uri="http://schemas.openxmlformats.org/presentationml/2006/ole">
                <p:oleObj spid="_x0000_s84993" r:id="rId7" imgW="14630400" imgH="4876800" progId="Equation.3">
                  <p:embed/>
                </p:oleObj>
              </a:graphicData>
            </a:graphic>
          </p:graphicFrame>
          <p:sp>
            <p:nvSpPr>
              <p:cNvPr id="12301" name="Rectangle 17"/>
              <p:cNvSpPr>
                <a:spLocks noChangeArrowheads="1"/>
              </p:cNvSpPr>
              <p:nvPr/>
            </p:nvSpPr>
            <p:spPr bwMode="auto">
              <a:xfrm>
                <a:off x="457200" y="76200"/>
                <a:ext cx="3581400" cy="413063"/>
              </a:xfrm>
              <a:prstGeom prst="rect">
                <a:avLst/>
              </a:prstGeom>
              <a:noFill/>
              <a:ln>
                <a:noFill/>
              </a:ln>
              <a:effectLst>
                <a:prstShdw prst="shdw11">
                  <a:srgbClr val="808080">
                    <a:alpha val="50000"/>
                  </a:srgbClr>
                </a:prst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nchor="ctr">
                <a:spAutoFit/>
              </a:bodyPr>
              <a:lstStyle/>
              <a:p>
                <a:pPr eaLnBrk="0" fontAlgn="base" hangingPunct="0">
                  <a:lnSpc>
                    <a:spcPct val="80000"/>
                  </a:lnSpc>
                  <a:spcBef>
                    <a:spcPct val="50000"/>
                  </a:spcBef>
                  <a:spcAft>
                    <a:spcPct val="0"/>
                  </a:spcAft>
                </a:pPr>
                <a:r>
                  <a:rPr kumimoji="1" lang="zh-CN" altLang="en-US" sz="2600" b="1" smtClean="0">
                    <a:solidFill>
                      <a:srgbClr val="000000"/>
                    </a:solidFill>
                    <a:latin typeface="Times New Roman" panose="02020603050405020304" pitchFamily="18" charset="0"/>
                    <a:ea typeface="楷体_GB2312" pitchFamily="49" charset="-122"/>
                  </a:rPr>
                  <a:t>已知</a:t>
                </a:r>
                <a:r>
                  <a:rPr kumimoji="1" lang="en-US" altLang="zh-CN" sz="2600" b="1" smtClean="0">
                    <a:solidFill>
                      <a:srgbClr val="000000"/>
                    </a:solidFill>
                    <a:latin typeface="Times New Roman" panose="02020603050405020304" pitchFamily="18" charset="0"/>
                    <a:ea typeface="楷体_GB2312" pitchFamily="49" charset="-122"/>
                  </a:rPr>
                  <a:t>298K</a:t>
                </a:r>
                <a:r>
                  <a:rPr kumimoji="1" lang="zh-CN" altLang="en-US" sz="2600" b="1" smtClean="0">
                    <a:solidFill>
                      <a:srgbClr val="000000"/>
                    </a:solidFill>
                    <a:latin typeface="Times New Roman" panose="02020603050405020304" pitchFamily="18" charset="0"/>
                    <a:ea typeface="楷体_GB2312" pitchFamily="49" charset="-122"/>
                  </a:rPr>
                  <a:t>时，反应</a:t>
                </a:r>
              </a:p>
            </p:txBody>
          </p:sp>
          <p:sp>
            <p:nvSpPr>
              <p:cNvPr id="12302" name="Rectangle 18"/>
              <p:cNvSpPr>
                <a:spLocks noChangeArrowheads="1"/>
              </p:cNvSpPr>
              <p:nvPr/>
            </p:nvSpPr>
            <p:spPr bwMode="auto">
              <a:xfrm>
                <a:off x="6477000" y="76200"/>
                <a:ext cx="2370842" cy="413063"/>
              </a:xfrm>
              <a:prstGeom prst="rect">
                <a:avLst/>
              </a:prstGeom>
              <a:noFill/>
              <a:ln>
                <a:noFill/>
              </a:ln>
              <a:effectLst>
                <a:prstShdw prst="shdw11">
                  <a:srgbClr val="808080">
                    <a:alpha val="50000"/>
                  </a:srgbClr>
                </a:prst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nchor="ctr">
                <a:spAutoFit/>
              </a:bodyPr>
              <a:lstStyle/>
              <a:p>
                <a:pPr eaLnBrk="0" fontAlgn="base" hangingPunct="0">
                  <a:lnSpc>
                    <a:spcPct val="80000"/>
                  </a:lnSpc>
                  <a:spcBef>
                    <a:spcPct val="50000"/>
                  </a:spcBef>
                  <a:spcAft>
                    <a:spcPct val="0"/>
                  </a:spcAft>
                </a:pPr>
                <a:r>
                  <a:rPr kumimoji="1" lang="en-US" altLang="zh-CN" sz="2600" b="1" smtClean="0">
                    <a:solidFill>
                      <a:srgbClr val="000000"/>
                    </a:solidFill>
                    <a:latin typeface="Times New Roman" panose="02020603050405020304" pitchFamily="18" charset="0"/>
                    <a:ea typeface="楷体_GB2312" pitchFamily="49" charset="-122"/>
                  </a:rPr>
                  <a:t> </a:t>
                </a:r>
                <a:r>
                  <a:rPr kumimoji="1" lang="zh-CN" altLang="en-US" sz="2600" b="1" smtClean="0">
                    <a:solidFill>
                      <a:srgbClr val="000000"/>
                    </a:solidFill>
                    <a:latin typeface="Times New Roman" panose="02020603050405020304" pitchFamily="18" charset="0"/>
                    <a:ea typeface="楷体_GB2312" pitchFamily="49" charset="-122"/>
                  </a:rPr>
                  <a:t>的</a:t>
                </a:r>
                <a:r>
                  <a:rPr kumimoji="1" lang="en-US" altLang="zh-CN" sz="2600" b="1" smtClean="0">
                    <a:solidFill>
                      <a:srgbClr val="000000"/>
                    </a:solidFill>
                    <a:latin typeface="Times New Roman" panose="02020603050405020304" pitchFamily="18" charset="0"/>
                    <a:ea typeface="楷体_GB2312" pitchFamily="49" charset="-122"/>
                  </a:rPr>
                  <a:t>Δ</a:t>
                </a:r>
                <a:r>
                  <a:rPr kumimoji="1" lang="en-US" altLang="zh-CN" sz="2600" b="1" baseline="-30000" smtClean="0">
                    <a:solidFill>
                      <a:srgbClr val="000000"/>
                    </a:solidFill>
                    <a:latin typeface="Times New Roman" panose="02020603050405020304" pitchFamily="18" charset="0"/>
                    <a:ea typeface="楷体_GB2312" pitchFamily="49" charset="-122"/>
                  </a:rPr>
                  <a:t>r</a:t>
                </a:r>
                <a:r>
                  <a:rPr kumimoji="1" lang="en-US" altLang="zh-CN" sz="2600" b="1" i="1" smtClean="0">
                    <a:solidFill>
                      <a:srgbClr val="000000"/>
                    </a:solidFill>
                    <a:latin typeface="Times New Roman" panose="02020603050405020304" pitchFamily="18" charset="0"/>
                    <a:ea typeface="楷体_GB2312" pitchFamily="49" charset="-122"/>
                  </a:rPr>
                  <a:t>H</a:t>
                </a:r>
                <a:r>
                  <a:rPr kumimoji="1" lang="en-US" altLang="zh-CN" sz="2600" b="1" baseline="30000" smtClean="0">
                    <a:solidFill>
                      <a:srgbClr val="000000"/>
                    </a:solidFill>
                    <a:latin typeface="Times New Roman" panose="02020603050405020304" pitchFamily="18" charset="0"/>
                    <a:ea typeface="楷体_GB2312" pitchFamily="49" charset="-122"/>
                  </a:rPr>
                  <a:t>Ө</a:t>
                </a:r>
                <a:r>
                  <a:rPr kumimoji="1" lang="en-US" altLang="zh-CN" sz="2600" b="1" smtClean="0">
                    <a:solidFill>
                      <a:srgbClr val="000000"/>
                    </a:solidFill>
                    <a:latin typeface="Times New Roman" panose="02020603050405020304" pitchFamily="18" charset="0"/>
                    <a:ea typeface="楷体_GB2312" pitchFamily="49" charset="-122"/>
                  </a:rPr>
                  <a:t>=</a:t>
                </a:r>
                <a:r>
                  <a:rPr kumimoji="1" lang="zh-CN" altLang="pt-BR" sz="2600" b="1" smtClean="0">
                    <a:solidFill>
                      <a:srgbClr val="000000"/>
                    </a:solidFill>
                    <a:latin typeface="Times New Roman" panose="02020603050405020304" pitchFamily="18" charset="0"/>
                    <a:ea typeface="楷体_GB2312" pitchFamily="49" charset="-122"/>
                  </a:rPr>
                  <a:t>－</a:t>
                </a:r>
                <a:r>
                  <a:rPr kumimoji="1" lang="en-US" altLang="zh-CN" sz="2600" b="1" smtClean="0">
                    <a:solidFill>
                      <a:srgbClr val="000000"/>
                    </a:solidFill>
                    <a:latin typeface="Times New Roman" panose="02020603050405020304" pitchFamily="18" charset="0"/>
                    <a:ea typeface="楷体_GB2312" pitchFamily="49" charset="-122"/>
                  </a:rPr>
                  <a:t>480</a:t>
                </a:r>
              </a:p>
            </p:txBody>
          </p:sp>
          <p:sp>
            <p:nvSpPr>
              <p:cNvPr id="12303" name="Rectangle 19"/>
              <p:cNvSpPr>
                <a:spLocks noChangeArrowheads="1"/>
              </p:cNvSpPr>
              <p:nvPr/>
            </p:nvSpPr>
            <p:spPr bwMode="auto">
              <a:xfrm>
                <a:off x="1524000" y="609632"/>
                <a:ext cx="6495049" cy="412998"/>
              </a:xfrm>
              <a:prstGeom prst="rect">
                <a:avLst/>
              </a:prstGeom>
              <a:noFill/>
              <a:ln>
                <a:noFill/>
              </a:ln>
              <a:effectLst>
                <a:prstShdw prst="shdw11">
                  <a:srgbClr val="808080">
                    <a:alpha val="50000"/>
                  </a:srgbClr>
                </a:prst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nchor="ctr">
                <a:spAutoFit/>
              </a:bodyPr>
              <a:lstStyle/>
              <a:p>
                <a:pPr indent="76200" eaLnBrk="0" fontAlgn="base" hangingPunct="0">
                  <a:lnSpc>
                    <a:spcPct val="80000"/>
                  </a:lnSpc>
                  <a:spcBef>
                    <a:spcPct val="50000"/>
                  </a:spcBef>
                  <a:spcAft>
                    <a:spcPct val="0"/>
                  </a:spcAft>
                </a:pPr>
                <a:r>
                  <a:rPr kumimoji="1" lang="zh-CN" altLang="en-US" sz="2600" b="1" smtClean="0">
                    <a:solidFill>
                      <a:srgbClr val="000000"/>
                    </a:solidFill>
                    <a:latin typeface="Times New Roman" panose="02020603050405020304" pitchFamily="18" charset="0"/>
                    <a:ea typeface="楷体_GB2312" pitchFamily="49" charset="-122"/>
                  </a:rPr>
                  <a:t>，则</a:t>
                </a:r>
                <a:r>
                  <a:rPr kumimoji="1" lang="en-US" altLang="zh-CN" sz="2600" b="1" smtClean="0">
                    <a:solidFill>
                      <a:srgbClr val="000000"/>
                    </a:solidFill>
                    <a:latin typeface="Times New Roman" panose="02020603050405020304" pitchFamily="18" charset="0"/>
                    <a:ea typeface="楷体_GB2312" pitchFamily="49" charset="-122"/>
                  </a:rPr>
                  <a:t>Δ</a:t>
                </a:r>
                <a:r>
                  <a:rPr kumimoji="1" lang="en-US" altLang="zh-CN" sz="2600" b="1" baseline="-30000" smtClean="0">
                    <a:solidFill>
                      <a:srgbClr val="000000"/>
                    </a:solidFill>
                    <a:latin typeface="Times New Roman" panose="02020603050405020304" pitchFamily="18" charset="0"/>
                    <a:ea typeface="楷体_GB2312" pitchFamily="49" charset="-122"/>
                  </a:rPr>
                  <a:t>f</a:t>
                </a:r>
                <a:r>
                  <a:rPr kumimoji="1" lang="en-US" altLang="zh-CN" sz="2600" b="1" i="1" smtClean="0">
                    <a:solidFill>
                      <a:srgbClr val="000000"/>
                    </a:solidFill>
                    <a:latin typeface="Times New Roman" panose="02020603050405020304" pitchFamily="18" charset="0"/>
                    <a:ea typeface="楷体_GB2312" pitchFamily="49" charset="-122"/>
                  </a:rPr>
                  <a:t>H</a:t>
                </a:r>
                <a:r>
                  <a:rPr kumimoji="1" lang="en-US" altLang="zh-CN" sz="2600" b="1" baseline="-30000" smtClean="0">
                    <a:solidFill>
                      <a:srgbClr val="000000"/>
                    </a:solidFill>
                    <a:latin typeface="Times New Roman" panose="02020603050405020304" pitchFamily="18" charset="0"/>
                    <a:ea typeface="楷体_GB2312" pitchFamily="49" charset="-122"/>
                  </a:rPr>
                  <a:t>m</a:t>
                </a:r>
                <a:r>
                  <a:rPr kumimoji="1" lang="en-US" altLang="zh-CN" sz="2600" b="1" baseline="30000" smtClean="0">
                    <a:solidFill>
                      <a:srgbClr val="000000"/>
                    </a:solidFill>
                    <a:latin typeface="Times New Roman" panose="02020603050405020304" pitchFamily="18" charset="0"/>
                    <a:ea typeface="楷体_GB2312" pitchFamily="49" charset="-122"/>
                  </a:rPr>
                  <a:t>Ө</a:t>
                </a:r>
                <a:r>
                  <a:rPr kumimoji="1" lang="en-US" altLang="zh-CN" sz="2600" b="1" smtClean="0">
                    <a:solidFill>
                      <a:srgbClr val="000000"/>
                    </a:solidFill>
                    <a:latin typeface="Times New Roman" panose="02020603050405020304" pitchFamily="18" charset="0"/>
                    <a:ea typeface="楷体_GB2312" pitchFamily="49" charset="-122"/>
                  </a:rPr>
                  <a:t>(H</a:t>
                </a:r>
                <a:r>
                  <a:rPr kumimoji="1" lang="en-US" altLang="zh-CN" sz="2600" b="1" baseline="-25000" smtClean="0">
                    <a:solidFill>
                      <a:srgbClr val="000000"/>
                    </a:solidFill>
                    <a:latin typeface="Times New Roman" panose="02020603050405020304" pitchFamily="18" charset="0"/>
                    <a:ea typeface="楷体_GB2312" pitchFamily="49" charset="-122"/>
                  </a:rPr>
                  <a:t>2</a:t>
                </a:r>
                <a:r>
                  <a:rPr kumimoji="1" lang="en-US" altLang="zh-CN" sz="2600" b="1" smtClean="0">
                    <a:solidFill>
                      <a:srgbClr val="000000"/>
                    </a:solidFill>
                    <a:latin typeface="Times New Roman" panose="02020603050405020304" pitchFamily="18" charset="0"/>
                    <a:ea typeface="楷体_GB2312" pitchFamily="49" charset="-122"/>
                  </a:rPr>
                  <a:t>O, g) </a:t>
                </a:r>
                <a:r>
                  <a:rPr kumimoji="1" lang="zh-CN" altLang="en-US" sz="2600" b="1" smtClean="0">
                    <a:solidFill>
                      <a:srgbClr val="000000"/>
                    </a:solidFill>
                    <a:latin typeface="Times New Roman" panose="02020603050405020304" pitchFamily="18" charset="0"/>
                    <a:ea typeface="楷体_GB2312" pitchFamily="49" charset="-122"/>
                  </a:rPr>
                  <a:t>＝</a:t>
                </a:r>
                <a:r>
                  <a:rPr kumimoji="1" lang="zh-CN" altLang="en-US" sz="2600" b="1" u="sng" smtClean="0">
                    <a:solidFill>
                      <a:srgbClr val="000000"/>
                    </a:solidFill>
                    <a:latin typeface="Times New Roman" panose="02020603050405020304" pitchFamily="18" charset="0"/>
                    <a:ea typeface="楷体_GB2312" pitchFamily="49" charset="-122"/>
                  </a:rPr>
                  <a:t>           </a:t>
                </a:r>
                <a:r>
                  <a:rPr kumimoji="1" lang="zh-CN" altLang="en-US" sz="2600" b="1" smtClean="0">
                    <a:solidFill>
                      <a:srgbClr val="000000"/>
                    </a:solidFill>
                    <a:latin typeface="Times New Roman" panose="02020603050405020304" pitchFamily="18" charset="0"/>
                    <a:ea typeface="楷体_GB2312" pitchFamily="49" charset="-122"/>
                  </a:rPr>
                  <a:t>                     ；</a:t>
                </a:r>
              </a:p>
            </p:txBody>
          </p:sp>
          <p:sp>
            <p:nvSpPr>
              <p:cNvPr id="12304" name="Rectangle 20"/>
              <p:cNvSpPr>
                <a:spLocks noChangeArrowheads="1"/>
              </p:cNvSpPr>
              <p:nvPr/>
            </p:nvSpPr>
            <p:spPr bwMode="auto">
              <a:xfrm>
                <a:off x="7620000" y="609600"/>
                <a:ext cx="1267976" cy="413063"/>
              </a:xfrm>
              <a:prstGeom prst="rect">
                <a:avLst/>
              </a:prstGeom>
              <a:noFill/>
              <a:ln>
                <a:noFill/>
              </a:ln>
              <a:effectLst>
                <a:prstShdw prst="shdw11">
                  <a:srgbClr val="808080">
                    <a:alpha val="50000"/>
                  </a:srgbClr>
                </a:prst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075" tIns="46038" rIns="92075" bIns="46038" anchor="ctr">
                <a:spAutoFit/>
              </a:bodyPr>
              <a:lstStyle/>
              <a:p>
                <a:pPr indent="76200" eaLnBrk="0" fontAlgn="base" hangingPunct="0">
                  <a:lnSpc>
                    <a:spcPct val="80000"/>
                  </a:lnSpc>
                  <a:spcBef>
                    <a:spcPct val="50000"/>
                  </a:spcBef>
                  <a:spcAft>
                    <a:spcPct val="0"/>
                  </a:spcAft>
                </a:pPr>
                <a:r>
                  <a:rPr kumimoji="1" lang="zh-CN" altLang="en-US" sz="2600" b="1" smtClean="0">
                    <a:solidFill>
                      <a:srgbClr val="000000"/>
                    </a:solidFill>
                    <a:latin typeface="Times New Roman" panose="02020603050405020304" pitchFamily="18" charset="0"/>
                    <a:ea typeface="楷体_GB2312" pitchFamily="49" charset="-122"/>
                  </a:rPr>
                  <a:t>而反应</a:t>
                </a:r>
              </a:p>
            </p:txBody>
          </p:sp>
          <p:sp>
            <p:nvSpPr>
              <p:cNvPr id="12305" name="矩形 11"/>
              <p:cNvSpPr>
                <a:spLocks noChangeArrowheads="1"/>
              </p:cNvSpPr>
              <p:nvPr/>
            </p:nvSpPr>
            <p:spPr bwMode="auto">
              <a:xfrm>
                <a:off x="4038600" y="1219200"/>
                <a:ext cx="3031599" cy="4124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0" fontAlgn="base" hangingPunct="0">
                  <a:lnSpc>
                    <a:spcPct val="80000"/>
                  </a:lnSpc>
                  <a:spcBef>
                    <a:spcPct val="50000"/>
                  </a:spcBef>
                  <a:spcAft>
                    <a:spcPct val="0"/>
                  </a:spcAft>
                </a:pPr>
                <a:r>
                  <a:rPr kumimoji="1" lang="zh-CN" altLang="en-US" sz="2600" b="1" smtClean="0">
                    <a:solidFill>
                      <a:srgbClr val="000000"/>
                    </a:solidFill>
                    <a:latin typeface="Times New Roman" panose="02020603050405020304" pitchFamily="18" charset="0"/>
                    <a:ea typeface="楷体_GB2312" pitchFamily="49" charset="-122"/>
                  </a:rPr>
                  <a:t>的</a:t>
                </a:r>
                <a:r>
                  <a:rPr kumimoji="1" lang="en-US" altLang="zh-CN" sz="2600" b="1" smtClean="0">
                    <a:solidFill>
                      <a:srgbClr val="000000"/>
                    </a:solidFill>
                    <a:latin typeface="Times New Roman" panose="02020603050405020304" pitchFamily="18" charset="0"/>
                    <a:ea typeface="楷体_GB2312" pitchFamily="49" charset="-122"/>
                  </a:rPr>
                  <a:t>Δ</a:t>
                </a:r>
                <a:r>
                  <a:rPr kumimoji="1" lang="en-US" altLang="zh-CN" sz="2600" b="1" baseline="-30000" smtClean="0">
                    <a:solidFill>
                      <a:srgbClr val="000000"/>
                    </a:solidFill>
                    <a:latin typeface="Times New Roman" panose="02020603050405020304" pitchFamily="18" charset="0"/>
                    <a:ea typeface="楷体_GB2312" pitchFamily="49" charset="-122"/>
                  </a:rPr>
                  <a:t>r</a:t>
                </a:r>
                <a:r>
                  <a:rPr kumimoji="1" lang="en-US" altLang="zh-CN" sz="2600" b="1" i="1" smtClean="0">
                    <a:solidFill>
                      <a:srgbClr val="000000"/>
                    </a:solidFill>
                    <a:latin typeface="Times New Roman" panose="02020603050405020304" pitchFamily="18" charset="0"/>
                    <a:ea typeface="楷体_GB2312" pitchFamily="49" charset="-122"/>
                  </a:rPr>
                  <a:t>H</a:t>
                </a:r>
                <a:r>
                  <a:rPr kumimoji="1" lang="en-US" altLang="zh-CN" sz="2600" b="1" baseline="-30000" smtClean="0">
                    <a:solidFill>
                      <a:srgbClr val="000000"/>
                    </a:solidFill>
                    <a:latin typeface="Times New Roman" panose="02020603050405020304" pitchFamily="18" charset="0"/>
                    <a:ea typeface="楷体_GB2312" pitchFamily="49" charset="-122"/>
                  </a:rPr>
                  <a:t>m</a:t>
                </a:r>
                <a:r>
                  <a:rPr kumimoji="1" lang="en-US" altLang="zh-CN" sz="2600" b="1" baseline="30000" smtClean="0">
                    <a:solidFill>
                      <a:srgbClr val="000000"/>
                    </a:solidFill>
                    <a:latin typeface="Times New Roman" panose="02020603050405020304" pitchFamily="18" charset="0"/>
                    <a:ea typeface="楷体_GB2312" pitchFamily="49" charset="-122"/>
                  </a:rPr>
                  <a:t>Ө</a:t>
                </a:r>
                <a:r>
                  <a:rPr kumimoji="1" lang="zh-CN" altLang="en-US" sz="2600" b="1" smtClean="0">
                    <a:solidFill>
                      <a:srgbClr val="000000"/>
                    </a:solidFill>
                    <a:latin typeface="Times New Roman" panose="02020603050405020304" pitchFamily="18" charset="0"/>
                    <a:ea typeface="楷体_GB2312" pitchFamily="49" charset="-122"/>
                  </a:rPr>
                  <a:t>＝ </a:t>
                </a:r>
                <a:r>
                  <a:rPr kumimoji="1" lang="zh-CN" altLang="en-US" sz="2600" b="1" u="sng" smtClean="0">
                    <a:solidFill>
                      <a:srgbClr val="000000"/>
                    </a:solidFill>
                    <a:latin typeface="Times New Roman" panose="02020603050405020304" pitchFamily="18" charset="0"/>
                    <a:ea typeface="楷体_GB2312" pitchFamily="49" charset="-122"/>
                  </a:rPr>
                  <a:t>              </a:t>
                </a:r>
                <a:endParaRPr kumimoji="1" lang="zh-CN" altLang="en-US" sz="3000" b="1" smtClean="0">
                  <a:solidFill>
                    <a:srgbClr val="0000FF"/>
                  </a:solidFill>
                  <a:latin typeface="Times New Roman" panose="02020603050405020304" pitchFamily="18" charset="0"/>
                  <a:ea typeface="楷体_GB2312" pitchFamily="49" charset="-122"/>
                </a:endParaRPr>
              </a:p>
            </p:txBody>
          </p:sp>
        </p:grpSp>
        <p:sp>
          <p:nvSpPr>
            <p:cNvPr id="12300" name="Rectangle 28"/>
            <p:cNvSpPr>
              <a:spLocks noChangeArrowheads="1"/>
            </p:cNvSpPr>
            <p:nvPr/>
          </p:nvSpPr>
          <p:spPr bwMode="auto">
            <a:xfrm>
              <a:off x="76200" y="76200"/>
              <a:ext cx="1676400" cy="488950"/>
            </a:xfrm>
            <a:prstGeom prst="rect">
              <a:avLst/>
            </a:prstGeom>
            <a:solidFill>
              <a:srgbClr val="99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spcBef>
                  <a:spcPct val="0"/>
                </a:spcBef>
                <a:spcAft>
                  <a:spcPct val="0"/>
                </a:spcAft>
              </a:pPr>
              <a:r>
                <a:rPr lang="en-US" altLang="zh-CN" sz="2600" b="1" smtClean="0">
                  <a:solidFill>
                    <a:srgbClr val="990000"/>
                  </a:solidFill>
                  <a:latin typeface="Times New Roman" panose="02020603050405020304" pitchFamily="18" charset="0"/>
                </a:rPr>
                <a:t>Example </a:t>
              </a:r>
            </a:p>
          </p:txBody>
        </p:sp>
      </p:grpSp>
      <p:grpSp>
        <p:nvGrpSpPr>
          <p:cNvPr id="4" name="组合 15"/>
          <p:cNvGrpSpPr/>
          <p:nvPr/>
        </p:nvGrpSpPr>
        <p:grpSpPr bwMode="auto">
          <a:xfrm>
            <a:off x="304800" y="533400"/>
            <a:ext cx="8610600" cy="1965325"/>
            <a:chOff x="152400" y="228600"/>
            <a:chExt cx="8610600" cy="1965325"/>
          </a:xfrm>
        </p:grpSpPr>
        <p:sp>
          <p:nvSpPr>
            <p:cNvPr id="12297" name="Text Box 30"/>
            <p:cNvSpPr txBox="1">
              <a:spLocks noChangeArrowheads="1"/>
            </p:cNvSpPr>
            <p:nvPr/>
          </p:nvSpPr>
          <p:spPr bwMode="auto">
            <a:xfrm>
              <a:off x="228600" y="228600"/>
              <a:ext cx="8534400" cy="9572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lnSpc>
                  <a:spcPts val="3600"/>
                </a:lnSpc>
                <a:spcBef>
                  <a:spcPct val="50000"/>
                </a:spcBef>
                <a:spcAft>
                  <a:spcPct val="0"/>
                </a:spcAft>
              </a:pPr>
              <a:r>
                <a:rPr lang="en-US" altLang="zh-CN" sz="2600" smtClean="0">
                  <a:solidFill>
                    <a:srgbClr val="000000"/>
                  </a:solidFill>
                </a:rPr>
                <a:t>         </a:t>
              </a:r>
              <a:r>
                <a:rPr lang="zh-CN" altLang="en-US" sz="2600" smtClean="0">
                  <a:solidFill>
                    <a:srgbClr val="000000"/>
                  </a:solidFill>
                </a:rPr>
                <a:t>有时，通过比较化合物的</a:t>
              </a:r>
              <a:r>
                <a:rPr lang="zh-CN" altLang="en-US" sz="2600" smtClean="0">
                  <a:solidFill>
                    <a:srgbClr val="000000"/>
                  </a:solidFill>
                  <a:sym typeface="Symbol" panose="05050102010706020507" pitchFamily="18" charset="2"/>
                </a:rPr>
                <a:t></a:t>
              </a:r>
              <a:r>
                <a:rPr lang="en-US" altLang="zh-CN" sz="2600" baseline="-25000" smtClean="0">
                  <a:solidFill>
                    <a:srgbClr val="000000"/>
                  </a:solidFill>
                  <a:sym typeface="Symbol" panose="05050102010706020507" pitchFamily="18" charset="2"/>
                </a:rPr>
                <a:t>f</a:t>
              </a:r>
              <a:r>
                <a:rPr lang="en-US" altLang="en-US" sz="2600" smtClean="0">
                  <a:solidFill>
                    <a:srgbClr val="000000"/>
                  </a:solidFill>
                  <a:sym typeface="Symbol" panose="05050102010706020507" pitchFamily="18" charset="2"/>
                </a:rPr>
                <a:t>H</a:t>
              </a:r>
              <a:r>
                <a:rPr lang="en-US" altLang="zh-CN" sz="2600" smtClean="0">
                  <a:solidFill>
                    <a:srgbClr val="000000"/>
                  </a:solidFill>
                  <a:sym typeface="Symbol" panose="05050102010706020507" pitchFamily="18" charset="2"/>
                </a:rPr>
                <a:t> </a:t>
              </a:r>
              <a:r>
                <a:rPr lang="en-US" altLang="zh-CN" sz="2600" baseline="-25000" smtClean="0">
                  <a:solidFill>
                    <a:srgbClr val="000000"/>
                  </a:solidFill>
                  <a:sym typeface="Symbol" panose="05050102010706020507" pitchFamily="18" charset="2"/>
                </a:rPr>
                <a:t>m</a:t>
              </a:r>
              <a:r>
                <a:rPr kumimoji="0" lang="el-GR" altLang="zh-CN" sz="2600" baseline="30000" smtClean="0">
                  <a:solidFill>
                    <a:srgbClr val="000000"/>
                  </a:solidFill>
                </a:rPr>
                <a:t>Θ</a:t>
              </a:r>
              <a:r>
                <a:rPr kumimoji="0" lang="zh-CN" altLang="en-US" sz="2600" smtClean="0">
                  <a:solidFill>
                    <a:srgbClr val="000000"/>
                  </a:solidFill>
                </a:rPr>
                <a:t>，可以定性判断它们之间稳定性的强弱。</a:t>
              </a:r>
              <a:endParaRPr kumimoji="0" lang="zh-CN" altLang="en-US" sz="2600" baseline="30000" smtClean="0">
                <a:solidFill>
                  <a:srgbClr val="000000"/>
                </a:solidFill>
              </a:endParaRPr>
            </a:p>
          </p:txBody>
        </p:sp>
        <p:sp>
          <p:nvSpPr>
            <p:cNvPr id="12298" name="Text Box 30"/>
            <p:cNvSpPr txBox="1">
              <a:spLocks noChangeArrowheads="1"/>
            </p:cNvSpPr>
            <p:nvPr/>
          </p:nvSpPr>
          <p:spPr bwMode="auto">
            <a:xfrm>
              <a:off x="152400" y="1219200"/>
              <a:ext cx="8534400" cy="974725"/>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lnSpc>
                  <a:spcPts val="3600"/>
                </a:lnSpc>
                <a:spcBef>
                  <a:spcPct val="50000"/>
                </a:spcBef>
                <a:spcAft>
                  <a:spcPct val="0"/>
                </a:spcAft>
              </a:pPr>
              <a:r>
                <a:rPr lang="en-US" altLang="zh-CN" sz="2600" smtClean="0">
                  <a:solidFill>
                    <a:srgbClr val="000000"/>
                  </a:solidFill>
                </a:rPr>
                <a:t>         </a:t>
              </a:r>
              <a:r>
                <a:rPr lang="zh-CN" altLang="en-US" sz="2600" smtClean="0">
                  <a:solidFill>
                    <a:srgbClr val="000000"/>
                  </a:solidFill>
                </a:rPr>
                <a:t>例如，</a:t>
              </a:r>
              <a:r>
                <a:rPr lang="en-US" altLang="zh-CN" sz="2600" smtClean="0">
                  <a:solidFill>
                    <a:srgbClr val="000000"/>
                  </a:solidFill>
                </a:rPr>
                <a:t>Na</a:t>
              </a:r>
              <a:r>
                <a:rPr lang="en-US" altLang="zh-CN" sz="2600" baseline="-25000" smtClean="0">
                  <a:solidFill>
                    <a:srgbClr val="000000"/>
                  </a:solidFill>
                </a:rPr>
                <a:t>2</a:t>
              </a:r>
              <a:r>
                <a:rPr lang="en-US" altLang="zh-CN" sz="2600" smtClean="0">
                  <a:solidFill>
                    <a:srgbClr val="000000"/>
                  </a:solidFill>
                </a:rPr>
                <a:t>O </a:t>
              </a:r>
              <a:r>
                <a:rPr lang="zh-CN" altLang="en-US" sz="2600" smtClean="0">
                  <a:solidFill>
                    <a:srgbClr val="000000"/>
                  </a:solidFill>
                </a:rPr>
                <a:t>和</a:t>
              </a:r>
              <a:r>
                <a:rPr lang="en-US" altLang="zh-CN" sz="2600" smtClean="0">
                  <a:solidFill>
                    <a:srgbClr val="000000"/>
                  </a:solidFill>
                </a:rPr>
                <a:t>Ag</a:t>
              </a:r>
              <a:r>
                <a:rPr lang="en-US" altLang="zh-CN" sz="2600" baseline="-25000" smtClean="0">
                  <a:solidFill>
                    <a:srgbClr val="000000"/>
                  </a:solidFill>
                </a:rPr>
                <a:t>2</a:t>
              </a:r>
              <a:r>
                <a:rPr lang="en-US" altLang="zh-CN" sz="2600" smtClean="0">
                  <a:solidFill>
                    <a:srgbClr val="000000"/>
                  </a:solidFill>
                </a:rPr>
                <a:t>O</a:t>
              </a:r>
              <a:r>
                <a:rPr lang="zh-CN" altLang="en-US" sz="2600" smtClean="0">
                  <a:solidFill>
                    <a:srgbClr val="000000"/>
                  </a:solidFill>
                </a:rPr>
                <a:t>（实际上，两者要属于同种晶体类型才能比较！）</a:t>
              </a:r>
              <a:r>
                <a:rPr kumimoji="0" lang="zh-CN" altLang="en-US" sz="2600" smtClean="0">
                  <a:solidFill>
                    <a:srgbClr val="000000"/>
                  </a:solidFill>
                </a:rPr>
                <a:t>。</a:t>
              </a:r>
              <a:endParaRPr lang="zh-CN" altLang="en-US" sz="2400" smtClean="0">
                <a:solidFill>
                  <a:srgbClr val="99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9" name="矩形 15"/>
          <p:cNvSpPr>
            <a:spLocks noChangeArrowheads="1"/>
          </p:cNvSpPr>
          <p:nvPr/>
        </p:nvSpPr>
        <p:spPr bwMode="auto">
          <a:xfrm>
            <a:off x="152400" y="152400"/>
            <a:ext cx="4495800" cy="512763"/>
          </a:xfrm>
          <a:prstGeom prst="rect">
            <a:avLst/>
          </a:prstGeom>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3600"/>
              </a:lnSpc>
              <a:spcBef>
                <a:spcPct val="50000"/>
              </a:spcBef>
              <a:spcAft>
                <a:spcPct val="0"/>
              </a:spcAft>
            </a:pPr>
            <a:r>
              <a:rPr kumimoji="1" lang="en-US" altLang="zh-CN" sz="2600" b="1" i="1" smtClean="0">
                <a:solidFill>
                  <a:srgbClr val="990000"/>
                </a:solidFill>
                <a:latin typeface="Times New Roman" panose="02020603050405020304" pitchFamily="18" charset="0"/>
                <a:ea typeface="楷体_GB2312" pitchFamily="49" charset="-122"/>
              </a:rPr>
              <a:t>2</a:t>
            </a:r>
            <a:r>
              <a:rPr kumimoji="1" lang="zh-CN" altLang="en-US" sz="2600" b="1" i="1" smtClean="0">
                <a:solidFill>
                  <a:srgbClr val="990000"/>
                </a:solidFill>
                <a:latin typeface="Times New Roman" panose="02020603050405020304" pitchFamily="18" charset="0"/>
                <a:ea typeface="楷体_GB2312" pitchFamily="49" charset="-122"/>
              </a:rPr>
              <a:t>、</a:t>
            </a:r>
            <a:r>
              <a:rPr kumimoji="1" lang="en-US" altLang="zh-CN" sz="2600" b="1" i="1" smtClean="0">
                <a:solidFill>
                  <a:srgbClr val="990000"/>
                </a:solidFill>
                <a:latin typeface="Times New Roman" panose="02020603050405020304" pitchFamily="18" charset="0"/>
                <a:ea typeface="楷体_GB2312" pitchFamily="49" charset="-122"/>
              </a:rPr>
              <a:t>Hess</a:t>
            </a:r>
            <a:r>
              <a:rPr kumimoji="1" lang="zh-CN" altLang="en-US" sz="2600" b="1" i="1" smtClean="0">
                <a:solidFill>
                  <a:srgbClr val="990000"/>
                </a:solidFill>
                <a:latin typeface="Times New Roman" panose="02020603050405020304" pitchFamily="18" charset="0"/>
                <a:ea typeface="楷体_GB2312" pitchFamily="49" charset="-122"/>
              </a:rPr>
              <a:t>定律及其应用</a:t>
            </a:r>
          </a:p>
        </p:txBody>
      </p:sp>
      <p:grpSp>
        <p:nvGrpSpPr>
          <p:cNvPr id="2" name="组合 6"/>
          <p:cNvGrpSpPr/>
          <p:nvPr/>
        </p:nvGrpSpPr>
        <p:grpSpPr bwMode="auto">
          <a:xfrm>
            <a:off x="304800" y="914400"/>
            <a:ext cx="8305800" cy="2971800"/>
            <a:chOff x="304800" y="3124200"/>
            <a:chExt cx="8305800" cy="2971800"/>
          </a:xfrm>
        </p:grpSpPr>
        <p:pic>
          <p:nvPicPr>
            <p:cNvPr id="13317" name="Picture 9" descr="slide0387_image186"/>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562600" y="3124200"/>
              <a:ext cx="3048000" cy="2971800"/>
            </a:xfrm>
            <a:prstGeom prst="rect">
              <a:avLst/>
            </a:prstGeom>
            <a:solidFill>
              <a:srgbClr val="0000FF"/>
            </a:solidFill>
            <a:ln>
              <a:noFill/>
            </a:ln>
            <a:extLst>
              <a:ext uri="{91240B29-F687-4F45-9708-019B960494DF}">
                <a14:hiddenLine xmlns:a14="http://schemas.microsoft.com/office/drawing/2010/main" xmlns="" w="9525">
                  <a:solidFill>
                    <a:srgbClr val="000000"/>
                  </a:solidFill>
                  <a:miter lim="800000"/>
                  <a:headEnd/>
                  <a:tailEnd/>
                </a14:hiddenLine>
              </a:ext>
            </a:extLst>
          </p:spPr>
        </p:pic>
        <p:sp>
          <p:nvSpPr>
            <p:cNvPr id="13318" name="矩形 17"/>
            <p:cNvSpPr>
              <a:spLocks noChangeArrowheads="1"/>
            </p:cNvSpPr>
            <p:nvPr/>
          </p:nvSpPr>
          <p:spPr bwMode="auto">
            <a:xfrm>
              <a:off x="304800" y="3200400"/>
              <a:ext cx="5257800" cy="28622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lang="en-US" altLang="zh-CN" sz="2600" b="1" smtClean="0">
                  <a:solidFill>
                    <a:srgbClr val="000000"/>
                  </a:solidFill>
                  <a:latin typeface="Times New Roman" panose="02020603050405020304" pitchFamily="18" charset="0"/>
                  <a:ea typeface="楷体_GB2312" pitchFamily="49" charset="-122"/>
                </a:rPr>
                <a:t>          Hess’ law  states  that  if  a  reaction  is  carried  out  in  a  series  of  steps,  ∆H  for  the  reaction  will  be  equal  to  the sum  of  the  enthalpy  changes  for  the  individual  steps.</a:t>
              </a:r>
              <a:endParaRPr kumimoji="1" lang="zh-CN" altLang="en-US" sz="3000" b="1" smtClean="0">
                <a:solidFill>
                  <a:srgbClr val="000000"/>
                </a:solidFill>
                <a:latin typeface="Times New Roman" panose="02020603050405020304" pitchFamily="18" charset="0"/>
                <a:ea typeface="楷体_GB2312" pitchFamily="49" charset="-122"/>
              </a:endParaRPr>
            </a:p>
          </p:txBody>
        </p:sp>
      </p:grpSp>
      <p:graphicFrame>
        <p:nvGraphicFramePr>
          <p:cNvPr id="12290" name="Object 7"/>
          <p:cNvGraphicFramePr>
            <a:graphicFrameLocks noChangeAspect="1"/>
          </p:cNvGraphicFramePr>
          <p:nvPr/>
        </p:nvGraphicFramePr>
        <p:xfrm>
          <a:off x="2133600" y="4114800"/>
          <a:ext cx="4267200" cy="762000"/>
        </p:xfrm>
        <a:graphic>
          <a:graphicData uri="http://schemas.openxmlformats.org/presentationml/2006/ole">
            <p:oleObj spid="_x0000_s92161" name="CS ChemDraw Drawing" r:id="rId4" imgW="22193250" imgH="3876675"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469"/>
                                        </p:tgtEl>
                                        <p:attrNameLst>
                                          <p:attrName>style.visibility</p:attrName>
                                        </p:attrNameLst>
                                      </p:cBhvr>
                                      <p:to>
                                        <p:strVal val="visible"/>
                                      </p:to>
                                    </p:set>
                                    <p:animEffect transition="in" filter="blinds(horizontal)">
                                      <p:cBhvr>
                                        <p:cTn id="7" dur="500"/>
                                        <p:tgtEl>
                                          <p:spTgt spid="6246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290"/>
                                        </p:tgtEl>
                                        <p:attrNameLst>
                                          <p:attrName>style.visibility</p:attrName>
                                        </p:attrNameLst>
                                      </p:cBhvr>
                                      <p:to>
                                        <p:strVal val="visible"/>
                                      </p:to>
                                    </p:set>
                                    <p:animEffect transition="in" filter="blinds(horizontal)">
                                      <p:cBhvr>
                                        <p:cTn id="17" dur="50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9"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6855" name="Text Box 7"/>
          <p:cNvSpPr txBox="1">
            <a:spLocks noChangeArrowheads="1"/>
          </p:cNvSpPr>
          <p:nvPr/>
        </p:nvSpPr>
        <p:spPr bwMode="auto">
          <a:xfrm>
            <a:off x="152400" y="228600"/>
            <a:ext cx="8534400" cy="10160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lnSpc>
                <a:spcPts val="3600"/>
              </a:lnSpc>
              <a:spcBef>
                <a:spcPct val="0"/>
              </a:spcBef>
              <a:spcAft>
                <a:spcPct val="0"/>
              </a:spcAft>
            </a:pPr>
            <a:r>
              <a:rPr lang="en-US" altLang="zh-CN" sz="2600" smtClean="0">
                <a:solidFill>
                  <a:srgbClr val="000000"/>
                </a:solidFill>
              </a:rPr>
              <a:t>        </a:t>
            </a:r>
            <a:r>
              <a:rPr lang="zh-CN" altLang="zh-CN" sz="2600" smtClean="0">
                <a:solidFill>
                  <a:srgbClr val="000000"/>
                </a:solidFill>
              </a:rPr>
              <a:t>化学反应不管是一步完成还是分几步完成，其反应热</a:t>
            </a:r>
            <a:r>
              <a:rPr kumimoji="0" lang="en-US" altLang="zh-CN" sz="2600" i="1" smtClean="0">
                <a:solidFill>
                  <a:srgbClr val="C00000"/>
                </a:solidFill>
              </a:rPr>
              <a:t>∆H</a:t>
            </a:r>
            <a:r>
              <a:rPr lang="zh-CN" altLang="zh-CN" sz="2600" smtClean="0">
                <a:solidFill>
                  <a:srgbClr val="000000"/>
                </a:solidFill>
              </a:rPr>
              <a:t>总是相同的</a:t>
            </a:r>
            <a:r>
              <a:rPr lang="zh-CN" altLang="en-US" sz="2600" smtClean="0">
                <a:solidFill>
                  <a:srgbClr val="000000"/>
                </a:solidFill>
              </a:rPr>
              <a:t>。</a:t>
            </a:r>
          </a:p>
        </p:txBody>
      </p:sp>
      <p:sp>
        <p:nvSpPr>
          <p:cNvPr id="206856" name="Text Box 8"/>
          <p:cNvSpPr txBox="1">
            <a:spLocks noChangeArrowheads="1"/>
          </p:cNvSpPr>
          <p:nvPr/>
        </p:nvSpPr>
        <p:spPr bwMode="auto">
          <a:xfrm>
            <a:off x="228600" y="1219200"/>
            <a:ext cx="8382000" cy="143668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lnSpc>
                <a:spcPts val="3600"/>
              </a:lnSpc>
              <a:spcBef>
                <a:spcPct val="50000"/>
              </a:spcBef>
              <a:spcAft>
                <a:spcPct val="0"/>
              </a:spcAft>
            </a:pPr>
            <a:r>
              <a:rPr lang="en-US" altLang="zh-CN" sz="2600" smtClean="0">
                <a:solidFill>
                  <a:srgbClr val="000000"/>
                </a:solidFill>
              </a:rPr>
              <a:t>        </a:t>
            </a:r>
            <a:r>
              <a:rPr lang="zh-CN" altLang="en-US" sz="2600" smtClean="0">
                <a:solidFill>
                  <a:srgbClr val="000000"/>
                </a:solidFill>
              </a:rPr>
              <a:t>也就是说，化学反应的反应热</a:t>
            </a:r>
            <a:r>
              <a:rPr kumimoji="0" lang="en-US" altLang="zh-CN" sz="2600" i="1" smtClean="0">
                <a:solidFill>
                  <a:srgbClr val="C00000"/>
                </a:solidFill>
              </a:rPr>
              <a:t>∆H</a:t>
            </a:r>
            <a:r>
              <a:rPr lang="zh-CN" altLang="en-US" sz="2600" smtClean="0">
                <a:solidFill>
                  <a:srgbClr val="000000"/>
                </a:solidFill>
              </a:rPr>
              <a:t>只与物质的始态或终态有关而与变化的途径无关。实质上就是</a:t>
            </a:r>
            <a:r>
              <a:rPr lang="en-US" altLang="zh-CN" sz="2600" i="1" smtClean="0">
                <a:solidFill>
                  <a:srgbClr val="000000"/>
                </a:solidFill>
              </a:rPr>
              <a:t>H(G</a:t>
            </a:r>
            <a:r>
              <a:rPr lang="zh-CN" altLang="en-US" sz="2600" i="1" smtClean="0">
                <a:solidFill>
                  <a:srgbClr val="000000"/>
                </a:solidFill>
              </a:rPr>
              <a:t>、</a:t>
            </a:r>
            <a:r>
              <a:rPr lang="en-US" altLang="zh-CN" sz="2600" i="1" smtClean="0">
                <a:solidFill>
                  <a:srgbClr val="000000"/>
                </a:solidFill>
              </a:rPr>
              <a:t>S)</a:t>
            </a:r>
            <a:r>
              <a:rPr lang="zh-CN" altLang="en-US" sz="2600" i="1" smtClean="0">
                <a:solidFill>
                  <a:srgbClr val="000000"/>
                </a:solidFill>
              </a:rPr>
              <a:t>为状态函数的体现。</a:t>
            </a:r>
          </a:p>
        </p:txBody>
      </p:sp>
      <p:grpSp>
        <p:nvGrpSpPr>
          <p:cNvPr id="2" name="组合 6"/>
          <p:cNvGrpSpPr/>
          <p:nvPr/>
        </p:nvGrpSpPr>
        <p:grpSpPr bwMode="auto">
          <a:xfrm>
            <a:off x="1143000" y="2895600"/>
            <a:ext cx="5867400" cy="1800225"/>
            <a:chOff x="1371600" y="4038600"/>
            <a:chExt cx="5867400" cy="1800225"/>
          </a:xfrm>
        </p:grpSpPr>
        <p:sp>
          <p:nvSpPr>
            <p:cNvPr id="14342" name="矩形 7"/>
            <p:cNvSpPr>
              <a:spLocks noChangeArrowheads="1"/>
            </p:cNvSpPr>
            <p:nvPr/>
          </p:nvSpPr>
          <p:spPr bwMode="auto">
            <a:xfrm>
              <a:off x="1371600" y="4038600"/>
              <a:ext cx="4800600" cy="412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ct val="80000"/>
                </a:lnSpc>
                <a:spcBef>
                  <a:spcPct val="50000"/>
                </a:spcBef>
                <a:spcAft>
                  <a:spcPct val="0"/>
                </a:spcAft>
              </a:pPr>
              <a:r>
                <a:rPr kumimoji="1" lang="zh-CN" altLang="en-US" sz="2600" b="1" smtClean="0">
                  <a:solidFill>
                    <a:srgbClr val="000000"/>
                  </a:solidFill>
                  <a:latin typeface="Times New Roman" panose="02020603050405020304" pitchFamily="18" charset="0"/>
                  <a:ea typeface="楷体_GB2312" pitchFamily="49" charset="-122"/>
                </a:rPr>
                <a:t>对于具体的化学反应来说，</a:t>
              </a:r>
              <a:endParaRPr kumimoji="1" lang="zh-CN" altLang="en-US" sz="3000" b="1" smtClean="0">
                <a:solidFill>
                  <a:srgbClr val="0000FF"/>
                </a:solidFill>
                <a:latin typeface="Times New Roman" panose="02020603050405020304" pitchFamily="18" charset="0"/>
                <a:ea typeface="楷体_GB2312" pitchFamily="49" charset="-122"/>
              </a:endParaRPr>
            </a:p>
          </p:txBody>
        </p:sp>
        <p:graphicFrame>
          <p:nvGraphicFramePr>
            <p:cNvPr id="14338" name="Object 12"/>
            <p:cNvGraphicFramePr>
              <a:graphicFrameLocks noChangeAspect="1"/>
            </p:cNvGraphicFramePr>
            <p:nvPr/>
          </p:nvGraphicFramePr>
          <p:xfrm>
            <a:off x="1905000" y="4495800"/>
            <a:ext cx="5334000" cy="1343025"/>
          </p:xfrm>
          <a:graphic>
            <a:graphicData uri="http://schemas.openxmlformats.org/presentationml/2006/ole">
              <p:oleObj spid="_x0000_s93185" name="Equation" r:id="rId3" imgW="1313640" imgH="333360" progId="Equation.3">
                <p:embed/>
              </p:oleObj>
            </a:graphicData>
          </a:graphic>
        </p:graphicFrame>
      </p:grpSp>
      <p:sp>
        <p:nvSpPr>
          <p:cNvPr id="7" name="矩形 7"/>
          <p:cNvSpPr>
            <a:spLocks noChangeArrowheads="1"/>
          </p:cNvSpPr>
          <p:nvPr/>
        </p:nvSpPr>
        <p:spPr bwMode="auto">
          <a:xfrm>
            <a:off x="285720" y="4786322"/>
            <a:ext cx="8643998" cy="1323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fontAlgn="base">
              <a:spcBef>
                <a:spcPct val="0"/>
              </a:spcBef>
              <a:spcAft>
                <a:spcPct val="0"/>
              </a:spcAft>
            </a:pPr>
            <a:r>
              <a:rPr kumimoji="1" lang="zh-CN" altLang="en-US" sz="2600" b="1" dirty="0" smtClean="0">
                <a:solidFill>
                  <a:srgbClr val="000000"/>
                </a:solidFill>
                <a:latin typeface="Times New Roman" panose="02020603050405020304" pitchFamily="18" charset="0"/>
                <a:ea typeface="楷体_GB2312" pitchFamily="49" charset="-122"/>
              </a:rPr>
              <a:t>展开就是</a:t>
            </a:r>
            <a:r>
              <a:rPr kumimoji="1" lang="zh-CN" altLang="en-US" sz="2600" b="1" dirty="0" smtClean="0">
                <a:solidFill>
                  <a:srgbClr val="000000"/>
                </a:solidFill>
                <a:latin typeface="Times New Roman" panose="02020603050405020304" pitchFamily="18" charset="0"/>
                <a:ea typeface="楷体_GB2312" pitchFamily="49" charset="-122"/>
                <a:sym typeface="Wingdings" pitchFamily="2" charset="2"/>
              </a:rPr>
              <a:t>（反应物的计量系数是</a:t>
            </a:r>
            <a:r>
              <a:rPr kumimoji="1" lang="zh-CN" altLang="en-US" sz="2600" b="1" i="1" dirty="0" smtClean="0">
                <a:solidFill>
                  <a:srgbClr val="2909C9"/>
                </a:solidFill>
                <a:latin typeface="Times New Roman" panose="02020603050405020304" pitchFamily="18" charset="0"/>
                <a:ea typeface="楷体_GB2312" pitchFamily="49" charset="-122"/>
                <a:sym typeface="Wingdings" pitchFamily="2" charset="2"/>
              </a:rPr>
              <a:t>负的</a:t>
            </a:r>
            <a:r>
              <a:rPr kumimoji="1" lang="zh-CN" altLang="en-US" sz="2600" b="1" dirty="0" smtClean="0">
                <a:solidFill>
                  <a:srgbClr val="000000"/>
                </a:solidFill>
                <a:latin typeface="Times New Roman" panose="02020603050405020304" pitchFamily="18" charset="0"/>
                <a:ea typeface="楷体_GB2312" pitchFamily="49" charset="-122"/>
                <a:sym typeface="Wingdings" pitchFamily="2" charset="2"/>
              </a:rPr>
              <a:t>）</a:t>
            </a:r>
            <a:endParaRPr lang="en-US" altLang="zh-CN" sz="2600" b="1" i="1" dirty="0" smtClean="0">
              <a:solidFill>
                <a:srgbClr val="0000FF"/>
              </a:solidFill>
              <a:latin typeface="Times New Roman" panose="02020603050405020304" pitchFamily="18" charset="0"/>
              <a:ea typeface="楷体_GB2312" pitchFamily="49" charset="-122"/>
            </a:endParaRPr>
          </a:p>
          <a:p>
            <a:pPr fontAlgn="base">
              <a:spcBef>
                <a:spcPct val="0"/>
              </a:spcBef>
              <a:spcAft>
                <a:spcPct val="0"/>
              </a:spcAft>
            </a:pPr>
            <a:r>
              <a:rPr lang="en-US" altLang="zh-CN" sz="2600" b="1" i="1" dirty="0" smtClean="0">
                <a:solidFill>
                  <a:srgbClr val="FF0000"/>
                </a:solidFill>
                <a:latin typeface="Times New Roman" panose="02020603050405020304" pitchFamily="18" charset="0"/>
                <a:ea typeface="楷体_GB2312" pitchFamily="49" charset="-122"/>
              </a:rPr>
              <a:t>△</a:t>
            </a:r>
            <a:r>
              <a:rPr lang="en-US" altLang="zh-CN" sz="2600" b="1" i="1" baseline="-25000" dirty="0" err="1" smtClean="0">
                <a:solidFill>
                  <a:srgbClr val="FF0000"/>
                </a:solidFill>
                <a:latin typeface="Times New Roman" panose="02020603050405020304" pitchFamily="18" charset="0"/>
                <a:ea typeface="楷体_GB2312" pitchFamily="49" charset="-122"/>
              </a:rPr>
              <a:t>r</a:t>
            </a:r>
            <a:r>
              <a:rPr lang="en-US" altLang="zh-CN" sz="2600" b="1" i="1" dirty="0" err="1" smtClean="0">
                <a:solidFill>
                  <a:srgbClr val="FF0000"/>
                </a:solidFill>
                <a:latin typeface="Times New Roman" panose="02020603050405020304" pitchFamily="18" charset="0"/>
                <a:ea typeface="楷体_GB2312" pitchFamily="49" charset="-122"/>
              </a:rPr>
              <a:t>H</a:t>
            </a:r>
            <a:r>
              <a:rPr lang="en-US" altLang="zh-CN" sz="2600" b="1" i="1" dirty="0" smtClean="0">
                <a:solidFill>
                  <a:srgbClr val="FF0000"/>
                </a:solidFill>
                <a:latin typeface="Times New Roman" panose="02020603050405020304" pitchFamily="18" charset="0"/>
                <a:ea typeface="楷体_GB2312" pitchFamily="49" charset="-122"/>
              </a:rPr>
              <a:t> </a:t>
            </a:r>
            <a:r>
              <a:rPr lang="en-US" altLang="zh-CN" sz="2600" b="1" i="1" baseline="-25000" dirty="0" smtClean="0">
                <a:solidFill>
                  <a:srgbClr val="FF0000"/>
                </a:solidFill>
                <a:latin typeface="Times New Roman" panose="02020603050405020304" pitchFamily="18" charset="0"/>
                <a:ea typeface="楷体_GB2312" pitchFamily="49" charset="-122"/>
              </a:rPr>
              <a:t>m</a:t>
            </a:r>
            <a:r>
              <a:rPr lang="el-GR" altLang="zh-CN" sz="2600" b="1" i="1" baseline="30000" dirty="0" smtClean="0">
                <a:solidFill>
                  <a:srgbClr val="FF0000"/>
                </a:solidFill>
                <a:latin typeface="楷体_GB2312" pitchFamily="49" charset="-122"/>
                <a:ea typeface="楷体_GB2312" pitchFamily="49" charset="-122"/>
              </a:rPr>
              <a:t>Θ</a:t>
            </a:r>
            <a:r>
              <a:rPr kumimoji="1" lang="en-US" altLang="zh-CN" sz="2600" b="1" i="1" dirty="0" smtClean="0">
                <a:solidFill>
                  <a:srgbClr val="FF0000"/>
                </a:solidFill>
                <a:latin typeface="Times New Roman" panose="02020603050405020304" pitchFamily="18" charset="0"/>
                <a:ea typeface="楷体_GB2312" pitchFamily="49" charset="-122"/>
              </a:rPr>
              <a:t> </a:t>
            </a:r>
            <a:r>
              <a:rPr kumimoji="1" lang="zh-CN" altLang="en-US" sz="2600" b="1" i="1" dirty="0" smtClean="0">
                <a:solidFill>
                  <a:srgbClr val="FF0000"/>
                </a:solidFill>
                <a:latin typeface="Times New Roman" panose="02020603050405020304" pitchFamily="18" charset="0"/>
                <a:ea typeface="楷体_GB2312" pitchFamily="49" charset="-122"/>
              </a:rPr>
              <a:t> </a:t>
            </a:r>
            <a:endParaRPr kumimoji="1" lang="en-US" altLang="zh-CN" sz="2600" b="1" i="1" dirty="0" smtClean="0">
              <a:solidFill>
                <a:srgbClr val="FF0000"/>
              </a:solidFill>
              <a:latin typeface="Times New Roman" panose="02020603050405020304" pitchFamily="18" charset="0"/>
              <a:ea typeface="楷体_GB2312" pitchFamily="49" charset="-122"/>
            </a:endParaRPr>
          </a:p>
          <a:p>
            <a:pPr algn="ctr" fontAlgn="base">
              <a:spcBef>
                <a:spcPct val="0"/>
              </a:spcBef>
              <a:spcAft>
                <a:spcPct val="0"/>
              </a:spcAft>
            </a:pPr>
            <a:r>
              <a:rPr kumimoji="1" lang="en-US" altLang="zh-CN" sz="2600" b="1" i="1" dirty="0" smtClean="0">
                <a:solidFill>
                  <a:srgbClr val="FF0000"/>
                </a:solidFill>
                <a:latin typeface="Times New Roman" panose="02020603050405020304" pitchFamily="18" charset="0"/>
                <a:ea typeface="楷体_GB2312" pitchFamily="49" charset="-122"/>
              </a:rPr>
              <a:t>= </a:t>
            </a:r>
            <a:r>
              <a:rPr kumimoji="1" lang="el-GR" altLang="zh-CN" sz="2600" b="1" i="1" dirty="0" smtClean="0">
                <a:solidFill>
                  <a:srgbClr val="FF0000"/>
                </a:solidFill>
                <a:latin typeface="Times New Roman" panose="02020603050405020304" pitchFamily="18" charset="0"/>
                <a:ea typeface="楷体_GB2312" pitchFamily="49" charset="-122"/>
              </a:rPr>
              <a:t>ν</a:t>
            </a:r>
            <a:r>
              <a:rPr kumimoji="1" lang="en-US" altLang="zh-CN" sz="2600" b="1" i="1" baseline="-25000" dirty="0" err="1" smtClean="0">
                <a:solidFill>
                  <a:srgbClr val="FF0000"/>
                </a:solidFill>
                <a:latin typeface="Times New Roman" panose="02020603050405020304" pitchFamily="18" charset="0"/>
                <a:ea typeface="楷体_GB2312" pitchFamily="49" charset="-122"/>
              </a:rPr>
              <a:t>B</a:t>
            </a:r>
            <a:r>
              <a:rPr lang="en-US" altLang="zh-CN" sz="2800" b="1" i="1" dirty="0" err="1" smtClean="0">
                <a:solidFill>
                  <a:srgbClr val="FF0000"/>
                </a:solidFill>
                <a:latin typeface="Times New Roman" panose="02020603050405020304" pitchFamily="18" charset="0"/>
                <a:ea typeface="楷体_GB2312" pitchFamily="49" charset="-122"/>
              </a:rPr>
              <a:t>△</a:t>
            </a:r>
            <a:r>
              <a:rPr lang="en-US" altLang="zh-CN" sz="2800" b="1" i="1" baseline="-25000" dirty="0" err="1" smtClean="0">
                <a:solidFill>
                  <a:srgbClr val="FF0000"/>
                </a:solidFill>
                <a:latin typeface="Times New Roman" panose="02020603050405020304" pitchFamily="18" charset="0"/>
                <a:ea typeface="楷体_GB2312" pitchFamily="49" charset="-122"/>
              </a:rPr>
              <a:t>f</a:t>
            </a:r>
            <a:r>
              <a:rPr lang="en-US" altLang="zh-CN" sz="2800" b="1" i="1" baseline="-25000" dirty="0" smtClean="0">
                <a:solidFill>
                  <a:srgbClr val="FF0000"/>
                </a:solidFill>
                <a:latin typeface="Times New Roman" panose="02020603050405020304" pitchFamily="18" charset="0"/>
                <a:ea typeface="楷体_GB2312" pitchFamily="49" charset="-122"/>
              </a:rPr>
              <a:t> </a:t>
            </a:r>
            <a:r>
              <a:rPr lang="en-US" altLang="zh-CN" sz="2800" b="1" i="1" dirty="0" smtClean="0">
                <a:solidFill>
                  <a:srgbClr val="FF0000"/>
                </a:solidFill>
                <a:latin typeface="Times New Roman" panose="02020603050405020304" pitchFamily="18" charset="0"/>
                <a:ea typeface="楷体_GB2312" pitchFamily="49" charset="-122"/>
              </a:rPr>
              <a:t>H </a:t>
            </a:r>
            <a:r>
              <a:rPr lang="en-US" altLang="zh-CN" sz="2800" b="1" i="1" baseline="-25000" dirty="0" smtClean="0">
                <a:solidFill>
                  <a:srgbClr val="FF0000"/>
                </a:solidFill>
                <a:latin typeface="Times New Roman" panose="02020603050405020304" pitchFamily="18" charset="0"/>
                <a:ea typeface="楷体_GB2312" pitchFamily="49" charset="-122"/>
              </a:rPr>
              <a:t>m</a:t>
            </a:r>
            <a:r>
              <a:rPr lang="el-GR" altLang="zh-CN" sz="2800" b="1" i="1" baseline="30000" dirty="0" smtClean="0">
                <a:solidFill>
                  <a:srgbClr val="FF0000"/>
                </a:solidFill>
                <a:latin typeface="楷体_GB2312" pitchFamily="49" charset="-122"/>
                <a:ea typeface="楷体_GB2312" pitchFamily="49" charset="-122"/>
              </a:rPr>
              <a:t>Θ</a:t>
            </a:r>
            <a:r>
              <a:rPr kumimoji="1" lang="en-US" altLang="zh-CN" sz="2800" b="1" i="1" dirty="0" smtClean="0">
                <a:solidFill>
                  <a:srgbClr val="FF0000"/>
                </a:solidFill>
                <a:latin typeface="Times New Roman" panose="02020603050405020304" pitchFamily="18" charset="0"/>
                <a:ea typeface="楷体_GB2312" pitchFamily="49" charset="-122"/>
              </a:rPr>
              <a:t>(</a:t>
            </a:r>
            <a:r>
              <a:rPr kumimoji="1" lang="zh-CN" altLang="en-US" sz="2800" b="1" i="1" dirty="0" smtClean="0">
                <a:solidFill>
                  <a:srgbClr val="FF0000"/>
                </a:solidFill>
                <a:latin typeface="Times New Roman" panose="02020603050405020304" pitchFamily="18" charset="0"/>
                <a:ea typeface="楷体_GB2312" pitchFamily="49" charset="-122"/>
              </a:rPr>
              <a:t>生成物</a:t>
            </a:r>
            <a:r>
              <a:rPr kumimoji="1" lang="en-US" altLang="zh-CN" sz="2800" b="1" i="1" dirty="0" smtClean="0">
                <a:solidFill>
                  <a:srgbClr val="FF0000"/>
                </a:solidFill>
                <a:latin typeface="Times New Roman" panose="02020603050405020304" pitchFamily="18" charset="0"/>
                <a:ea typeface="楷体_GB2312" pitchFamily="49" charset="-122"/>
              </a:rPr>
              <a:t>) +</a:t>
            </a:r>
            <a:r>
              <a:rPr kumimoji="1" lang="zh-CN" altLang="en-US" sz="2800" b="1" i="1" dirty="0" smtClean="0">
                <a:solidFill>
                  <a:srgbClr val="FF0000"/>
                </a:solidFill>
                <a:latin typeface="Times New Roman" panose="02020603050405020304" pitchFamily="18" charset="0"/>
                <a:ea typeface="楷体_GB2312" pitchFamily="49" charset="-122"/>
              </a:rPr>
              <a:t> </a:t>
            </a:r>
            <a:r>
              <a:rPr kumimoji="1" lang="el-GR" altLang="zh-CN" sz="2600" b="1" i="1" dirty="0" smtClean="0">
                <a:solidFill>
                  <a:srgbClr val="FF0000"/>
                </a:solidFill>
                <a:latin typeface="Times New Roman" panose="02020603050405020304" pitchFamily="18" charset="0"/>
                <a:ea typeface="楷体_GB2312" pitchFamily="49" charset="-122"/>
              </a:rPr>
              <a:t>ν</a:t>
            </a:r>
            <a:r>
              <a:rPr kumimoji="1" lang="en-US" altLang="zh-CN" sz="2600" b="1" i="1" baseline="-25000" dirty="0" err="1" smtClean="0">
                <a:solidFill>
                  <a:srgbClr val="FF0000"/>
                </a:solidFill>
                <a:latin typeface="Times New Roman" panose="02020603050405020304" pitchFamily="18" charset="0"/>
                <a:ea typeface="楷体_GB2312" pitchFamily="49" charset="-122"/>
              </a:rPr>
              <a:t>B</a:t>
            </a:r>
            <a:r>
              <a:rPr lang="en-US" altLang="zh-CN" sz="2800" b="1" i="1" dirty="0" err="1" smtClean="0">
                <a:solidFill>
                  <a:srgbClr val="FF0000"/>
                </a:solidFill>
                <a:latin typeface="Times New Roman" panose="02020603050405020304" pitchFamily="18" charset="0"/>
                <a:ea typeface="楷体_GB2312" pitchFamily="49" charset="-122"/>
              </a:rPr>
              <a:t>△</a:t>
            </a:r>
            <a:r>
              <a:rPr lang="en-US" altLang="zh-CN" sz="2800" b="1" i="1" baseline="-25000" dirty="0" err="1" smtClean="0">
                <a:solidFill>
                  <a:srgbClr val="FF0000"/>
                </a:solidFill>
                <a:latin typeface="Times New Roman" panose="02020603050405020304" pitchFamily="18" charset="0"/>
                <a:ea typeface="楷体_GB2312" pitchFamily="49" charset="-122"/>
              </a:rPr>
              <a:t>f</a:t>
            </a:r>
            <a:r>
              <a:rPr lang="en-US" altLang="zh-CN" sz="2800" b="1" i="1" baseline="-25000" dirty="0" smtClean="0">
                <a:solidFill>
                  <a:srgbClr val="FF0000"/>
                </a:solidFill>
                <a:latin typeface="Times New Roman" panose="02020603050405020304" pitchFamily="18" charset="0"/>
                <a:ea typeface="楷体_GB2312" pitchFamily="49" charset="-122"/>
              </a:rPr>
              <a:t> </a:t>
            </a:r>
            <a:r>
              <a:rPr lang="en-US" altLang="zh-CN" sz="2800" b="1" i="1" dirty="0" smtClean="0">
                <a:solidFill>
                  <a:srgbClr val="FF0000"/>
                </a:solidFill>
                <a:latin typeface="Times New Roman" panose="02020603050405020304" pitchFamily="18" charset="0"/>
                <a:ea typeface="楷体_GB2312" pitchFamily="49" charset="-122"/>
              </a:rPr>
              <a:t>H </a:t>
            </a:r>
            <a:r>
              <a:rPr lang="en-US" altLang="zh-CN" sz="2800" b="1" i="1" baseline="-25000" dirty="0" smtClean="0">
                <a:solidFill>
                  <a:srgbClr val="FF0000"/>
                </a:solidFill>
                <a:latin typeface="Times New Roman" panose="02020603050405020304" pitchFamily="18" charset="0"/>
                <a:ea typeface="楷体_GB2312" pitchFamily="49" charset="-122"/>
              </a:rPr>
              <a:t>m</a:t>
            </a:r>
            <a:r>
              <a:rPr lang="el-GR" altLang="zh-CN" sz="2800" b="1" i="1" baseline="30000" dirty="0" smtClean="0">
                <a:solidFill>
                  <a:srgbClr val="FF0000"/>
                </a:solidFill>
                <a:latin typeface="楷体_GB2312" pitchFamily="49" charset="-122"/>
                <a:ea typeface="楷体_GB2312" pitchFamily="49" charset="-122"/>
              </a:rPr>
              <a:t>Θ</a:t>
            </a:r>
            <a:r>
              <a:rPr kumimoji="1" lang="en-US" altLang="zh-CN" sz="2800" b="1" i="1" dirty="0" smtClean="0">
                <a:solidFill>
                  <a:srgbClr val="FF0000"/>
                </a:solidFill>
                <a:latin typeface="Times New Roman" panose="02020603050405020304" pitchFamily="18" charset="0"/>
                <a:ea typeface="楷体_GB2312" pitchFamily="49" charset="-122"/>
              </a:rPr>
              <a:t>(</a:t>
            </a:r>
            <a:r>
              <a:rPr kumimoji="1" lang="zh-CN" altLang="en-US" sz="2800" b="1" i="1" dirty="0" smtClean="0">
                <a:solidFill>
                  <a:srgbClr val="FF0000"/>
                </a:solidFill>
                <a:latin typeface="Times New Roman" panose="02020603050405020304" pitchFamily="18" charset="0"/>
                <a:ea typeface="楷体_GB2312" pitchFamily="49" charset="-122"/>
              </a:rPr>
              <a:t>反应物</a:t>
            </a:r>
            <a:r>
              <a:rPr kumimoji="1" lang="en-US" altLang="zh-CN" sz="2800" b="1" i="1" dirty="0" smtClean="0">
                <a:solidFill>
                  <a:srgbClr val="FF0000"/>
                </a:solidFill>
                <a:latin typeface="Times New Roman" panose="02020603050405020304" pitchFamily="18" charset="0"/>
                <a:ea typeface="楷体_GB2312" pitchFamily="49" charset="-122"/>
              </a:rPr>
              <a:t>) </a:t>
            </a:r>
            <a:endParaRPr kumimoji="1" lang="en-US" altLang="zh-CN" sz="2600" b="1" i="1" dirty="0" smtClean="0">
              <a:solidFill>
                <a:srgbClr val="FF0000"/>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06855"/>
                                        </p:tgtEl>
                                        <p:attrNameLst>
                                          <p:attrName>style.visibility</p:attrName>
                                        </p:attrNameLst>
                                      </p:cBhvr>
                                      <p:to>
                                        <p:strVal val="visible"/>
                                      </p:to>
                                    </p:set>
                                    <p:animEffect transition="in" filter="diamond(in)">
                                      <p:cBhvr>
                                        <p:cTn id="7" dur="1000"/>
                                        <p:tgtEl>
                                          <p:spTgt spid="206855"/>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06856"/>
                                        </p:tgtEl>
                                        <p:attrNameLst>
                                          <p:attrName>style.visibility</p:attrName>
                                        </p:attrNameLst>
                                      </p:cBhvr>
                                      <p:to>
                                        <p:strVal val="visible"/>
                                      </p:to>
                                    </p:set>
                                    <p:animEffect transition="in" filter="diamond(in)">
                                      <p:cBhvr>
                                        <p:cTn id="12" dur="1000"/>
                                        <p:tgtEl>
                                          <p:spTgt spid="20685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5" grpId="0" animBg="1"/>
      <p:bldP spid="206856" grpId="0" animBg="1"/>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组合 6"/>
          <p:cNvGrpSpPr/>
          <p:nvPr/>
        </p:nvGrpSpPr>
        <p:grpSpPr bwMode="auto">
          <a:xfrm>
            <a:off x="381000" y="304800"/>
            <a:ext cx="8458200" cy="3200400"/>
            <a:chOff x="381000" y="304800"/>
            <a:chExt cx="8458200" cy="3200400"/>
          </a:xfrm>
        </p:grpSpPr>
        <p:graphicFrame>
          <p:nvGraphicFramePr>
            <p:cNvPr id="209925" name="Object 5"/>
            <p:cNvGraphicFramePr>
              <a:graphicFrameLocks noChangeAspect="1"/>
            </p:cNvGraphicFramePr>
            <p:nvPr/>
          </p:nvGraphicFramePr>
          <p:xfrm>
            <a:off x="533400" y="762000"/>
            <a:ext cx="8305800" cy="2743200"/>
          </p:xfrm>
          <a:graphic>
            <a:graphicData uri="http://schemas.openxmlformats.org/presentationml/2006/ole">
              <p:oleObj spid="_x0000_s94209" name="CS ChemDraw Drawing" r:id="rId3" imgW="30365700" imgH="10544175" progId="">
                <p:embed/>
              </p:oleObj>
            </a:graphicData>
          </a:graphic>
        </p:graphicFrame>
        <p:sp>
          <p:nvSpPr>
            <p:cNvPr id="15366" name="矩形 5"/>
            <p:cNvSpPr>
              <a:spLocks noChangeArrowheads="1"/>
            </p:cNvSpPr>
            <p:nvPr/>
          </p:nvSpPr>
          <p:spPr bwMode="auto">
            <a:xfrm>
              <a:off x="381000" y="304800"/>
              <a:ext cx="3199915" cy="4124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0" fontAlgn="base" hangingPunct="0">
                <a:lnSpc>
                  <a:spcPct val="80000"/>
                </a:lnSpc>
                <a:spcBef>
                  <a:spcPct val="50000"/>
                </a:spcBef>
                <a:spcAft>
                  <a:spcPct val="0"/>
                </a:spcAft>
              </a:pPr>
              <a:r>
                <a:rPr kumimoji="1" lang="zh-CN" altLang="en-US" sz="2600" b="1" smtClean="0">
                  <a:solidFill>
                    <a:srgbClr val="000000"/>
                  </a:solidFill>
                  <a:latin typeface="Times New Roman" panose="02020603050405020304" pitchFamily="18" charset="0"/>
                  <a:ea typeface="楷体_GB2312" pitchFamily="49" charset="-122"/>
                </a:rPr>
                <a:t>可以简单证明一下：</a:t>
              </a:r>
              <a:endParaRPr kumimoji="1" lang="zh-CN" altLang="en-US" sz="3000" b="1" smtClean="0">
                <a:solidFill>
                  <a:srgbClr val="0000FF"/>
                </a:solidFill>
                <a:latin typeface="Times New Roman" panose="02020603050405020304" pitchFamily="18" charset="0"/>
                <a:ea typeface="楷体_GB2312" pitchFamily="49" charset="-122"/>
              </a:endParaRPr>
            </a:p>
          </p:txBody>
        </p:sp>
      </p:grpSp>
      <p:grpSp>
        <p:nvGrpSpPr>
          <p:cNvPr id="9" name="组合 8"/>
          <p:cNvGrpSpPr/>
          <p:nvPr/>
        </p:nvGrpSpPr>
        <p:grpSpPr>
          <a:xfrm>
            <a:off x="357158" y="3500438"/>
            <a:ext cx="8077200" cy="2083127"/>
            <a:chOff x="304800" y="3124200"/>
            <a:chExt cx="8077200" cy="2083127"/>
          </a:xfrm>
        </p:grpSpPr>
        <p:grpSp>
          <p:nvGrpSpPr>
            <p:cNvPr id="10" name="组合 5"/>
            <p:cNvGrpSpPr/>
            <p:nvPr/>
          </p:nvGrpSpPr>
          <p:grpSpPr>
            <a:xfrm>
              <a:off x="304800" y="3124200"/>
              <a:ext cx="8077200" cy="1431925"/>
              <a:chOff x="304800" y="3124200"/>
              <a:chExt cx="8077200" cy="1431925"/>
            </a:xfrm>
          </p:grpSpPr>
          <p:sp>
            <p:nvSpPr>
              <p:cNvPr id="12" name="Text Box 11"/>
              <p:cNvSpPr txBox="1"/>
              <p:nvPr/>
            </p:nvSpPr>
            <p:spPr>
              <a:xfrm>
                <a:off x="304800" y="3124200"/>
                <a:ext cx="8077200" cy="492443"/>
              </a:xfrm>
              <a:prstGeom prst="rect">
                <a:avLst/>
              </a:prstGeom>
              <a:solidFill>
                <a:schemeClr val="bg1"/>
              </a:solidFill>
              <a:ln w="9525">
                <a:noFill/>
              </a:ln>
            </p:spPr>
            <p:txBody>
              <a:bodyPr anchor="t" anchorCtr="0">
                <a:spAutoFit/>
              </a:bodyPr>
              <a:lstStyle/>
              <a:p>
                <a:r>
                  <a:rPr lang="zh-CN" altLang="en-US" sz="2600" b="1" i="1" dirty="0">
                    <a:solidFill>
                      <a:schemeClr val="tx1"/>
                    </a:solidFill>
                    <a:latin typeface="+mj-lt"/>
                    <a:ea typeface="楷体_GB2312" charset="-122"/>
                  </a:rPr>
                  <a:t>由盖斯定律，可以计算在</a:t>
                </a:r>
                <a:r>
                  <a:rPr lang="en-US" altLang="zh-CN" sz="2600" b="1" i="1" dirty="0">
                    <a:solidFill>
                      <a:schemeClr val="tx1"/>
                    </a:solidFill>
                    <a:latin typeface="+mj-lt"/>
                    <a:ea typeface="楷体_GB2312" charset="-122"/>
                  </a:rPr>
                  <a:t>298K</a:t>
                </a:r>
                <a:r>
                  <a:rPr lang="zh-CN" altLang="en-US" sz="2600" b="1" i="1" dirty="0">
                    <a:solidFill>
                      <a:schemeClr val="tx1"/>
                    </a:solidFill>
                    <a:latin typeface="+mj-lt"/>
                    <a:ea typeface="楷体_GB2312" charset="-122"/>
                  </a:rPr>
                  <a:t>时化学反应的</a:t>
                </a:r>
                <a:r>
                  <a:rPr lang="zh-CN" altLang="en-US" sz="2600" b="1" i="1" dirty="0">
                    <a:solidFill>
                      <a:schemeClr val="tx1"/>
                    </a:solidFill>
                    <a:latin typeface="+mj-lt"/>
                    <a:ea typeface="楷体_GB2312" charset="-122"/>
                    <a:sym typeface="Symbol" panose="05050102010706020507" pitchFamily="18" charset="2"/>
                  </a:rPr>
                  <a:t></a:t>
                </a:r>
                <a:r>
                  <a:rPr lang="en-US" altLang="zh-CN" sz="2600" b="1" i="1" baseline="-25000" dirty="0">
                    <a:solidFill>
                      <a:schemeClr val="tx1"/>
                    </a:solidFill>
                    <a:latin typeface="+mj-lt"/>
                    <a:ea typeface="楷体_GB2312" charset="-122"/>
                    <a:sym typeface="Symbol" panose="05050102010706020507" pitchFamily="18" charset="2"/>
                  </a:rPr>
                  <a:t>r</a:t>
                </a:r>
                <a:r>
                  <a:rPr lang="en-US" altLang="en-US" sz="2600" b="1" i="1" dirty="0">
                    <a:solidFill>
                      <a:schemeClr val="tx1"/>
                    </a:solidFill>
                    <a:latin typeface="+mj-lt"/>
                    <a:ea typeface="楷体_GB2312" charset="-122"/>
                    <a:sym typeface="Symbol" panose="05050102010706020507" pitchFamily="18" charset="2"/>
                  </a:rPr>
                  <a:t>H</a:t>
                </a:r>
                <a:r>
                  <a:rPr lang="en-US" altLang="zh-CN" sz="2600" b="1" i="1" dirty="0">
                    <a:solidFill>
                      <a:schemeClr val="tx1"/>
                    </a:solidFill>
                    <a:latin typeface="+mj-lt"/>
                    <a:ea typeface="楷体_GB2312" charset="-122"/>
                    <a:sym typeface="Symbol" panose="05050102010706020507" pitchFamily="18" charset="2"/>
                  </a:rPr>
                  <a:t> </a:t>
                </a:r>
                <a:r>
                  <a:rPr lang="en-US" altLang="zh-CN" sz="2600" b="1" i="1" baseline="-25000" dirty="0">
                    <a:solidFill>
                      <a:schemeClr val="tx1"/>
                    </a:solidFill>
                    <a:latin typeface="+mj-lt"/>
                    <a:ea typeface="楷体_GB2312" charset="-122"/>
                    <a:sym typeface="Symbol" panose="05050102010706020507" pitchFamily="18" charset="2"/>
                  </a:rPr>
                  <a:t>m</a:t>
                </a:r>
                <a:r>
                  <a:rPr lang="el-GR" altLang="zh-CN" sz="2600" b="1" i="1" baseline="30000" dirty="0">
                    <a:solidFill>
                      <a:schemeClr val="tx1"/>
                    </a:solidFill>
                    <a:latin typeface="+mj-lt"/>
                    <a:ea typeface="楷体_GB2312" charset="-122"/>
                  </a:rPr>
                  <a:t>Θ</a:t>
                </a:r>
                <a:endParaRPr lang="en-US" altLang="zh-CN" sz="2600" b="1" i="1" baseline="30000" dirty="0">
                  <a:solidFill>
                    <a:schemeClr val="tx1"/>
                  </a:solidFill>
                  <a:latin typeface="+mj-lt"/>
                  <a:ea typeface="楷体_GB2312" charset="-122"/>
                </a:endParaRPr>
              </a:p>
            </p:txBody>
          </p:sp>
          <p:graphicFrame>
            <p:nvGraphicFramePr>
              <p:cNvPr id="13" name="Object 12"/>
              <p:cNvGraphicFramePr>
                <a:graphicFrameLocks/>
              </p:cNvGraphicFramePr>
              <p:nvPr/>
            </p:nvGraphicFramePr>
            <p:xfrm>
              <a:off x="1981200" y="3657600"/>
              <a:ext cx="4724400" cy="898525"/>
            </p:xfrm>
            <a:graphic>
              <a:graphicData uri="http://schemas.openxmlformats.org/presentationml/2006/ole">
                <p:oleObj spid="_x0000_s94212" r:id="rId4" imgW="23383875" imgH="5619750" progId="">
                  <p:embed/>
                </p:oleObj>
              </a:graphicData>
            </a:graphic>
          </p:graphicFrame>
        </p:grpSp>
        <p:sp>
          <p:nvSpPr>
            <p:cNvPr id="11" name="矩形 10"/>
            <p:cNvSpPr/>
            <p:nvPr/>
          </p:nvSpPr>
          <p:spPr>
            <a:xfrm>
              <a:off x="1714480" y="4714884"/>
              <a:ext cx="5304657" cy="492443"/>
            </a:xfrm>
            <a:prstGeom prst="rect">
              <a:avLst/>
            </a:prstGeom>
          </p:spPr>
          <p:txBody>
            <a:bodyPr wrap="none">
              <a:spAutoFit/>
            </a:bodyPr>
            <a:lstStyle/>
            <a:p>
              <a:r>
                <a:rPr lang="zh-CN" altLang="en-US" sz="2600" b="1" i="1" dirty="0" smtClean="0">
                  <a:solidFill>
                    <a:srgbClr val="080808"/>
                  </a:solidFill>
                  <a:latin typeface="+mj-lt"/>
                </a:rPr>
                <a:t>注</a:t>
              </a:r>
              <a:r>
                <a:rPr lang="en-US" altLang="zh-CN" sz="2600" b="1" i="1" dirty="0" smtClean="0">
                  <a:solidFill>
                    <a:srgbClr val="080808"/>
                  </a:solidFill>
                  <a:latin typeface="+mj-lt"/>
                </a:rPr>
                <a:t>——</a:t>
              </a:r>
              <a:r>
                <a:rPr lang="zh-CN" altLang="en-US" sz="2600" b="1" i="1" dirty="0" smtClean="0">
                  <a:solidFill>
                    <a:srgbClr val="080808"/>
                  </a:solidFill>
                  <a:latin typeface="+mj-lt"/>
                </a:rPr>
                <a:t>公式中的</a:t>
              </a:r>
              <a:r>
                <a:rPr lang="zh-CN" altLang="en-US" sz="2600" b="1" i="1" dirty="0" smtClean="0">
                  <a:solidFill>
                    <a:schemeClr val="tx1"/>
                  </a:solidFill>
                  <a:latin typeface="+mj-lt"/>
                  <a:sym typeface="Symbol" panose="05050102010706020507" pitchFamily="18" charset="2"/>
                </a:rPr>
                <a:t></a:t>
              </a:r>
              <a:r>
                <a:rPr lang="en-US" altLang="zh-CN" sz="2600" b="1" i="1" baseline="-25000" dirty="0" err="1" smtClean="0">
                  <a:solidFill>
                    <a:schemeClr val="tx1"/>
                  </a:solidFill>
                  <a:latin typeface="+mj-lt"/>
                  <a:sym typeface="Symbol" panose="05050102010706020507" pitchFamily="18" charset="2"/>
                </a:rPr>
                <a:t>r</a:t>
              </a:r>
              <a:r>
                <a:rPr lang="en-US" altLang="en-US" sz="2600" b="1" i="1" dirty="0" err="1" smtClean="0">
                  <a:solidFill>
                    <a:schemeClr val="tx1"/>
                  </a:solidFill>
                  <a:latin typeface="+mj-lt"/>
                  <a:sym typeface="Symbol" panose="05050102010706020507" pitchFamily="18" charset="2"/>
                </a:rPr>
                <a:t>H</a:t>
              </a:r>
              <a:r>
                <a:rPr lang="en-US" altLang="zh-CN" sz="2600" b="1" i="1" baseline="-25000" dirty="0" err="1" smtClean="0">
                  <a:solidFill>
                    <a:schemeClr val="tx1"/>
                  </a:solidFill>
                  <a:latin typeface="+mj-lt"/>
                  <a:sym typeface="Symbol" panose="05050102010706020507" pitchFamily="18" charset="2"/>
                </a:rPr>
                <a:t>m</a:t>
              </a:r>
              <a:r>
                <a:rPr lang="el-GR" altLang="zh-CN" sz="2600" b="1" i="1" baseline="30000" dirty="0" smtClean="0">
                  <a:solidFill>
                    <a:schemeClr val="tx1"/>
                  </a:solidFill>
                  <a:latin typeface="+mj-lt"/>
                </a:rPr>
                <a:t>Θ</a:t>
              </a:r>
              <a:r>
                <a:rPr lang="zh-CN" altLang="en-US" sz="2600" b="1" i="1" dirty="0" smtClean="0">
                  <a:solidFill>
                    <a:schemeClr val="tx1"/>
                  </a:solidFill>
                  <a:latin typeface="+mj-lt"/>
                </a:rPr>
                <a:t>，改为</a:t>
              </a:r>
              <a:r>
                <a:rPr lang="zh-CN" altLang="en-US" sz="2600" b="1" i="1" dirty="0" smtClean="0">
                  <a:solidFill>
                    <a:schemeClr val="tx1"/>
                  </a:solidFill>
                  <a:latin typeface="+mj-lt"/>
                  <a:sym typeface="Symbol" panose="05050102010706020507" pitchFamily="18" charset="2"/>
                </a:rPr>
                <a:t></a:t>
              </a:r>
              <a:r>
                <a:rPr lang="en-US" altLang="zh-CN" sz="2600" b="1" i="1" baseline="-25000" dirty="0" err="1" smtClean="0">
                  <a:solidFill>
                    <a:schemeClr val="tx1"/>
                  </a:solidFill>
                  <a:latin typeface="+mj-lt"/>
                  <a:sym typeface="Symbol" panose="05050102010706020507" pitchFamily="18" charset="2"/>
                </a:rPr>
                <a:t>f</a:t>
              </a:r>
              <a:r>
                <a:rPr lang="en-US" altLang="en-US" sz="2600" b="1" i="1" dirty="0" err="1" smtClean="0">
                  <a:solidFill>
                    <a:schemeClr val="tx1"/>
                  </a:solidFill>
                  <a:latin typeface="+mj-lt"/>
                  <a:sym typeface="Symbol" panose="05050102010706020507" pitchFamily="18" charset="2"/>
                </a:rPr>
                <a:t>H</a:t>
              </a:r>
              <a:r>
                <a:rPr lang="en-US" altLang="zh-CN" sz="2600" b="1" i="1" baseline="-25000" dirty="0" err="1" smtClean="0">
                  <a:solidFill>
                    <a:schemeClr val="tx1"/>
                  </a:solidFill>
                  <a:latin typeface="+mj-lt"/>
                  <a:sym typeface="Symbol" panose="05050102010706020507" pitchFamily="18" charset="2"/>
                </a:rPr>
                <a:t>m</a:t>
              </a:r>
              <a:r>
                <a:rPr lang="el-GR" altLang="zh-CN" sz="2600" b="1" i="1" baseline="30000" dirty="0" smtClean="0">
                  <a:solidFill>
                    <a:schemeClr val="tx1"/>
                  </a:solidFill>
                  <a:latin typeface="+mj-lt"/>
                </a:rPr>
                <a:t>Θ</a:t>
              </a:r>
              <a:endParaRPr lang="zh-CN" altLang="en-US" sz="2600" b="1" i="1" dirty="0">
                <a:latin typeface="+mj-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07883" name="Object 11"/>
          <p:cNvGraphicFramePr>
            <a:graphicFrameLocks noChangeAspect="1"/>
          </p:cNvGraphicFramePr>
          <p:nvPr/>
        </p:nvGraphicFramePr>
        <p:xfrm>
          <a:off x="1447800" y="0"/>
          <a:ext cx="7010400" cy="2590800"/>
        </p:xfrm>
        <a:graphic>
          <a:graphicData uri="http://schemas.openxmlformats.org/presentationml/2006/ole">
            <p:oleObj spid="_x0000_s95233" name="CS ChemDraw Drawing" r:id="rId3" imgW="30956250" imgH="12325350" progId="">
              <p:embed/>
            </p:oleObj>
          </a:graphicData>
        </a:graphic>
      </p:graphicFrame>
      <p:sp>
        <p:nvSpPr>
          <p:cNvPr id="16387" name="矩形 7"/>
          <p:cNvSpPr>
            <a:spLocks noChangeArrowheads="1"/>
          </p:cNvSpPr>
          <p:nvPr/>
        </p:nvSpPr>
        <p:spPr bwMode="auto">
          <a:xfrm>
            <a:off x="152400" y="152400"/>
            <a:ext cx="1343025"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0" fontAlgn="base" hangingPunct="0">
              <a:lnSpc>
                <a:spcPct val="80000"/>
              </a:lnSpc>
              <a:spcBef>
                <a:spcPct val="50000"/>
              </a:spcBef>
              <a:spcAft>
                <a:spcPct val="0"/>
              </a:spcAft>
            </a:pPr>
            <a:r>
              <a:rPr lang="zh-CN" altLang="en-US" sz="3000" b="1" smtClean="0">
                <a:solidFill>
                  <a:srgbClr val="000000"/>
                </a:solidFill>
                <a:latin typeface="Times New Roman" panose="02020603050405020304" pitchFamily="18" charset="0"/>
                <a:ea typeface="楷体_GB2312" pitchFamily="49" charset="-122"/>
              </a:rPr>
              <a:t>例如：</a:t>
            </a:r>
          </a:p>
        </p:txBody>
      </p:sp>
      <p:grpSp>
        <p:nvGrpSpPr>
          <p:cNvPr id="2" name="组合 7"/>
          <p:cNvGrpSpPr/>
          <p:nvPr/>
        </p:nvGrpSpPr>
        <p:grpSpPr bwMode="auto">
          <a:xfrm>
            <a:off x="228600" y="2590800"/>
            <a:ext cx="8534400" cy="3489325"/>
            <a:chOff x="228600" y="2590800"/>
            <a:chExt cx="8534400" cy="3489325"/>
          </a:xfrm>
        </p:grpSpPr>
        <p:sp>
          <p:nvSpPr>
            <p:cNvPr id="16389" name="Text Box 4"/>
            <p:cNvSpPr txBox="1">
              <a:spLocks noChangeArrowheads="1"/>
            </p:cNvSpPr>
            <p:nvPr/>
          </p:nvSpPr>
          <p:spPr bwMode="auto">
            <a:xfrm>
              <a:off x="762000" y="2590800"/>
              <a:ext cx="6096000" cy="51593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algn="ctr" eaLnBrk="0" fontAlgn="base" hangingPunct="0">
                <a:lnSpc>
                  <a:spcPts val="3600"/>
                </a:lnSpc>
                <a:spcBef>
                  <a:spcPct val="50000"/>
                </a:spcBef>
                <a:spcAft>
                  <a:spcPct val="0"/>
                </a:spcAft>
              </a:pPr>
              <a:r>
                <a:rPr lang="en-US" altLang="zh-CN" sz="2600" i="1" smtClean="0">
                  <a:solidFill>
                    <a:srgbClr val="000000"/>
                  </a:solidFill>
                  <a:ea typeface="幼圆" panose="02010509060101010101" pitchFamily="49" charset="-122"/>
                  <a:sym typeface="Symbol" panose="05050102010706020507" pitchFamily="18" charset="2"/>
                </a:rPr>
                <a:t></a:t>
              </a:r>
              <a:r>
                <a:rPr lang="en-US" altLang="zh-CN" sz="2600" i="1" baseline="-25000" smtClean="0">
                  <a:solidFill>
                    <a:srgbClr val="000000"/>
                  </a:solidFill>
                  <a:ea typeface="幼圆" panose="02010509060101010101" pitchFamily="49" charset="-122"/>
                  <a:sym typeface="Symbol" panose="05050102010706020507" pitchFamily="18" charset="2"/>
                </a:rPr>
                <a:t>r </a:t>
              </a:r>
              <a:r>
                <a:rPr lang="en-US" altLang="en-US" sz="2600" i="1" smtClean="0">
                  <a:solidFill>
                    <a:srgbClr val="000000"/>
                  </a:solidFill>
                  <a:ea typeface="幼圆" panose="02010509060101010101" pitchFamily="49" charset="-122"/>
                  <a:sym typeface="Symbol" panose="05050102010706020507" pitchFamily="18" charset="2"/>
                </a:rPr>
                <a:t>H</a:t>
              </a:r>
              <a:r>
                <a:rPr lang="en-US" altLang="zh-CN" sz="2600" i="1" smtClean="0">
                  <a:solidFill>
                    <a:srgbClr val="000000"/>
                  </a:solidFill>
                  <a:ea typeface="幼圆" panose="02010509060101010101" pitchFamily="49" charset="-122"/>
                  <a:sym typeface="Symbol" panose="05050102010706020507" pitchFamily="18" charset="2"/>
                </a:rPr>
                <a:t> </a:t>
              </a:r>
              <a:r>
                <a:rPr lang="en-US" altLang="zh-CN" sz="2600" i="1" baseline="-25000" smtClean="0">
                  <a:solidFill>
                    <a:srgbClr val="000000"/>
                  </a:solidFill>
                  <a:ea typeface="幼圆" panose="02010509060101010101" pitchFamily="49" charset="-122"/>
                  <a:sym typeface="Symbol" panose="05050102010706020507" pitchFamily="18" charset="2"/>
                </a:rPr>
                <a:t>m</a:t>
              </a:r>
              <a:r>
                <a:rPr kumimoji="0" lang="el-GR" altLang="zh-CN" sz="2600" baseline="30000" smtClean="0">
                  <a:solidFill>
                    <a:srgbClr val="000000"/>
                  </a:solidFill>
                  <a:latin typeface="楷体_GB2312" pitchFamily="49" charset="-122"/>
                </a:rPr>
                <a:t>Θ</a:t>
              </a:r>
              <a:r>
                <a:rPr kumimoji="0" lang="en-US" altLang="zh-CN" sz="2600" i="1" baseline="30000" smtClean="0">
                  <a:solidFill>
                    <a:srgbClr val="000000"/>
                  </a:solidFill>
                </a:rPr>
                <a:t> </a:t>
              </a:r>
              <a:r>
                <a:rPr lang="en-US" altLang="zh-CN" sz="2600" i="1" smtClean="0">
                  <a:solidFill>
                    <a:srgbClr val="000000"/>
                  </a:solidFill>
                  <a:ea typeface="幼圆" panose="02010509060101010101" pitchFamily="49" charset="-122"/>
                  <a:sym typeface="Symbol" panose="05050102010706020507" pitchFamily="18" charset="2"/>
                </a:rPr>
                <a:t>= </a:t>
              </a:r>
              <a:r>
                <a:rPr lang="en-US" altLang="zh-CN" sz="2600" i="1" baseline="-25000" smtClean="0">
                  <a:solidFill>
                    <a:srgbClr val="000000"/>
                  </a:solidFill>
                  <a:ea typeface="幼圆" panose="02010509060101010101" pitchFamily="49" charset="-122"/>
                  <a:sym typeface="Symbol" panose="05050102010706020507" pitchFamily="18" charset="2"/>
                </a:rPr>
                <a:t>r </a:t>
              </a:r>
              <a:r>
                <a:rPr lang="en-US" altLang="zh-CN" sz="2600" i="1" smtClean="0">
                  <a:solidFill>
                    <a:srgbClr val="000000"/>
                  </a:solidFill>
                  <a:ea typeface="幼圆" panose="02010509060101010101" pitchFamily="49" charset="-122"/>
                  <a:sym typeface="Symbol" panose="05050102010706020507" pitchFamily="18" charset="2"/>
                </a:rPr>
                <a:t>H </a:t>
              </a:r>
              <a:r>
                <a:rPr lang="en-US" altLang="zh-CN" sz="2600" i="1" baseline="-25000" smtClean="0">
                  <a:solidFill>
                    <a:srgbClr val="000000"/>
                  </a:solidFill>
                  <a:ea typeface="幼圆" panose="02010509060101010101" pitchFamily="49" charset="-122"/>
                  <a:sym typeface="Symbol" panose="05050102010706020507" pitchFamily="18" charset="2"/>
                </a:rPr>
                <a:t>m</a:t>
              </a:r>
              <a:r>
                <a:rPr kumimoji="0" lang="el-GR" altLang="zh-CN" sz="2600" baseline="30000" smtClean="0">
                  <a:solidFill>
                    <a:srgbClr val="000000"/>
                  </a:solidFill>
                  <a:latin typeface="楷体_GB2312" pitchFamily="49" charset="-122"/>
                </a:rPr>
                <a:t>Θ</a:t>
              </a:r>
              <a:r>
                <a:rPr kumimoji="0" lang="en-US" altLang="zh-CN" sz="2600" i="1" baseline="30000" smtClean="0">
                  <a:solidFill>
                    <a:srgbClr val="000000"/>
                  </a:solidFill>
                </a:rPr>
                <a:t> </a:t>
              </a:r>
              <a:r>
                <a:rPr lang="en-US" altLang="zh-CN" sz="2600" i="1" smtClean="0">
                  <a:solidFill>
                    <a:srgbClr val="000000"/>
                  </a:solidFill>
                  <a:ea typeface="幼圆" panose="02010509060101010101" pitchFamily="49" charset="-122"/>
                  <a:sym typeface="Symbol" panose="05050102010706020507" pitchFamily="18" charset="2"/>
                </a:rPr>
                <a:t>(1) + </a:t>
              </a:r>
              <a:r>
                <a:rPr lang="en-US" altLang="zh-CN" sz="2600" i="1" baseline="-25000" smtClean="0">
                  <a:solidFill>
                    <a:srgbClr val="000000"/>
                  </a:solidFill>
                  <a:ea typeface="幼圆" panose="02010509060101010101" pitchFamily="49" charset="-122"/>
                  <a:sym typeface="Symbol" panose="05050102010706020507" pitchFamily="18" charset="2"/>
                </a:rPr>
                <a:t>r </a:t>
              </a:r>
              <a:r>
                <a:rPr lang="en-US" altLang="zh-CN" sz="2600" i="1" smtClean="0">
                  <a:solidFill>
                    <a:srgbClr val="000000"/>
                  </a:solidFill>
                  <a:ea typeface="幼圆" panose="02010509060101010101" pitchFamily="49" charset="-122"/>
                  <a:sym typeface="Symbol" panose="05050102010706020507" pitchFamily="18" charset="2"/>
                </a:rPr>
                <a:t>H </a:t>
              </a:r>
              <a:r>
                <a:rPr lang="en-US" altLang="zh-CN" sz="2600" i="1" baseline="-25000" smtClean="0">
                  <a:solidFill>
                    <a:srgbClr val="000000"/>
                  </a:solidFill>
                  <a:ea typeface="幼圆" panose="02010509060101010101" pitchFamily="49" charset="-122"/>
                  <a:sym typeface="Symbol" panose="05050102010706020507" pitchFamily="18" charset="2"/>
                </a:rPr>
                <a:t>m</a:t>
              </a:r>
              <a:r>
                <a:rPr kumimoji="0" lang="el-GR" altLang="zh-CN" sz="2600" baseline="30000" smtClean="0">
                  <a:solidFill>
                    <a:srgbClr val="000000"/>
                  </a:solidFill>
                  <a:latin typeface="楷体_GB2312" pitchFamily="49" charset="-122"/>
                </a:rPr>
                <a:t>Θ</a:t>
              </a:r>
              <a:r>
                <a:rPr kumimoji="0" lang="en-US" altLang="zh-CN" sz="2600" i="1" baseline="30000" smtClean="0">
                  <a:solidFill>
                    <a:srgbClr val="000000"/>
                  </a:solidFill>
                </a:rPr>
                <a:t> </a:t>
              </a:r>
              <a:r>
                <a:rPr lang="en-US" altLang="zh-CN" sz="2600" i="1" smtClean="0">
                  <a:solidFill>
                    <a:srgbClr val="000000"/>
                  </a:solidFill>
                  <a:ea typeface="幼圆" panose="02010509060101010101" pitchFamily="49" charset="-122"/>
                  <a:sym typeface="Symbol" panose="05050102010706020507" pitchFamily="18" charset="2"/>
                </a:rPr>
                <a:t>(2)</a:t>
              </a:r>
            </a:p>
          </p:txBody>
        </p:sp>
        <p:sp>
          <p:nvSpPr>
            <p:cNvPr id="16390" name="Text Box 6"/>
            <p:cNvSpPr txBox="1">
              <a:spLocks noChangeArrowheads="1"/>
            </p:cNvSpPr>
            <p:nvPr/>
          </p:nvSpPr>
          <p:spPr bwMode="auto">
            <a:xfrm>
              <a:off x="1066800" y="3276600"/>
              <a:ext cx="7467600" cy="117475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eaLnBrk="0" fontAlgn="base" hangingPunct="0">
                <a:lnSpc>
                  <a:spcPts val="3600"/>
                </a:lnSpc>
                <a:spcBef>
                  <a:spcPct val="50000"/>
                </a:spcBef>
                <a:spcAft>
                  <a:spcPct val="0"/>
                </a:spcAft>
              </a:pPr>
              <a:r>
                <a:rPr lang="en-US" altLang="zh-CN" sz="2600" i="1" smtClean="0">
                  <a:solidFill>
                    <a:srgbClr val="000000"/>
                  </a:solidFill>
                  <a:ea typeface="幼圆" panose="02010509060101010101" pitchFamily="49" charset="-122"/>
                  <a:sym typeface="Symbol" panose="05050102010706020507" pitchFamily="18" charset="2"/>
                </a:rPr>
                <a:t></a:t>
              </a:r>
              <a:r>
                <a:rPr lang="en-US" altLang="zh-CN" sz="2600" i="1" baseline="-25000" smtClean="0">
                  <a:solidFill>
                    <a:srgbClr val="000000"/>
                  </a:solidFill>
                  <a:ea typeface="幼圆" panose="02010509060101010101" pitchFamily="49" charset="-122"/>
                  <a:sym typeface="Symbol" panose="05050102010706020507" pitchFamily="18" charset="2"/>
                </a:rPr>
                <a:t>r </a:t>
              </a:r>
              <a:r>
                <a:rPr lang="en-US" altLang="zh-CN" sz="2600" i="1" smtClean="0">
                  <a:solidFill>
                    <a:srgbClr val="000000"/>
                  </a:solidFill>
                  <a:ea typeface="幼圆" panose="02010509060101010101" pitchFamily="49" charset="-122"/>
                  <a:sym typeface="Symbol" panose="05050102010706020507" pitchFamily="18" charset="2"/>
                </a:rPr>
                <a:t>H</a:t>
              </a:r>
              <a:r>
                <a:rPr lang="en-US" altLang="zh-CN" sz="2600" i="1" baseline="-25000" smtClean="0">
                  <a:solidFill>
                    <a:srgbClr val="000000"/>
                  </a:solidFill>
                  <a:ea typeface="幼圆" panose="02010509060101010101" pitchFamily="49" charset="-122"/>
                  <a:sym typeface="Symbol" panose="05050102010706020507" pitchFamily="18" charset="2"/>
                </a:rPr>
                <a:t>m</a:t>
              </a:r>
              <a:r>
                <a:rPr kumimoji="0" lang="el-GR" altLang="zh-CN" sz="2600" baseline="30000" smtClean="0">
                  <a:solidFill>
                    <a:srgbClr val="000000"/>
                  </a:solidFill>
                  <a:latin typeface="楷体_GB2312" pitchFamily="49" charset="-122"/>
                </a:rPr>
                <a:t>Θ</a:t>
              </a:r>
              <a:r>
                <a:rPr lang="en-US" altLang="zh-CN" sz="2600" i="1" baseline="-25000" smtClean="0">
                  <a:solidFill>
                    <a:srgbClr val="000000"/>
                  </a:solidFill>
                  <a:ea typeface="幼圆" panose="02010509060101010101" pitchFamily="49" charset="-122"/>
                  <a:sym typeface="Symbol" panose="05050102010706020507" pitchFamily="18" charset="2"/>
                </a:rPr>
                <a:t> </a:t>
              </a:r>
              <a:r>
                <a:rPr lang="en-US" altLang="zh-CN" sz="2600" i="1" smtClean="0">
                  <a:solidFill>
                    <a:srgbClr val="000000"/>
                  </a:solidFill>
                  <a:ea typeface="幼圆" panose="02010509060101010101" pitchFamily="49" charset="-122"/>
                  <a:sym typeface="Symbol" panose="05050102010706020507" pitchFamily="18" charset="2"/>
                </a:rPr>
                <a:t>(1) = </a:t>
              </a:r>
              <a:r>
                <a:rPr lang="en-US" altLang="zh-CN" sz="2600" i="1" baseline="-25000" smtClean="0">
                  <a:solidFill>
                    <a:srgbClr val="000000"/>
                  </a:solidFill>
                  <a:ea typeface="幼圆" panose="02010509060101010101" pitchFamily="49" charset="-122"/>
                  <a:sym typeface="Symbol" panose="05050102010706020507" pitchFamily="18" charset="2"/>
                </a:rPr>
                <a:t>r </a:t>
              </a:r>
              <a:r>
                <a:rPr lang="en-US" altLang="en-US" sz="2600" i="1" smtClean="0">
                  <a:solidFill>
                    <a:srgbClr val="000000"/>
                  </a:solidFill>
                  <a:ea typeface="幼圆" panose="02010509060101010101" pitchFamily="49" charset="-122"/>
                  <a:sym typeface="Symbol" panose="05050102010706020507" pitchFamily="18" charset="2"/>
                </a:rPr>
                <a:t>H</a:t>
              </a:r>
              <a:r>
                <a:rPr lang="en-US" altLang="zh-CN" sz="2600" i="1" baseline="-25000" smtClean="0">
                  <a:solidFill>
                    <a:srgbClr val="000000"/>
                  </a:solidFill>
                  <a:ea typeface="幼圆" panose="02010509060101010101" pitchFamily="49" charset="-122"/>
                  <a:sym typeface="Symbol" panose="05050102010706020507" pitchFamily="18" charset="2"/>
                </a:rPr>
                <a:t>m</a:t>
              </a:r>
              <a:r>
                <a:rPr kumimoji="0" lang="el-GR" altLang="zh-CN" sz="2600" baseline="30000" smtClean="0">
                  <a:solidFill>
                    <a:srgbClr val="000000"/>
                  </a:solidFill>
                  <a:latin typeface="楷体_GB2312" pitchFamily="49" charset="-122"/>
                </a:rPr>
                <a:t>Θ</a:t>
              </a:r>
              <a:r>
                <a:rPr kumimoji="0" lang="en-US" altLang="zh-CN" sz="2600" i="1" baseline="30000" smtClean="0">
                  <a:solidFill>
                    <a:srgbClr val="000000"/>
                  </a:solidFill>
                </a:rPr>
                <a:t> </a:t>
              </a:r>
              <a:r>
                <a:rPr lang="zh-CN" altLang="en-US" sz="2600" i="1" smtClean="0">
                  <a:solidFill>
                    <a:srgbClr val="000000"/>
                  </a:solidFill>
                  <a:sym typeface="Symbol" panose="05050102010706020507" pitchFamily="18" charset="2"/>
                </a:rPr>
                <a:t>－</a:t>
              </a:r>
              <a:r>
                <a:rPr kumimoji="0" lang="zh-CN" altLang="en-US" sz="2600" i="1" smtClean="0">
                  <a:solidFill>
                    <a:srgbClr val="000000"/>
                  </a:solidFill>
                </a:rPr>
                <a:t> </a:t>
              </a:r>
              <a:r>
                <a:rPr lang="zh-CN" altLang="en-US" sz="2600" i="1" smtClean="0">
                  <a:solidFill>
                    <a:srgbClr val="000000"/>
                  </a:solidFill>
                  <a:ea typeface="幼圆" panose="02010509060101010101" pitchFamily="49" charset="-122"/>
                  <a:sym typeface="Symbol" panose="05050102010706020507" pitchFamily="18" charset="2"/>
                </a:rPr>
                <a:t></a:t>
              </a:r>
              <a:r>
                <a:rPr lang="en-US" altLang="zh-CN" sz="2600" i="1" baseline="-25000" smtClean="0">
                  <a:solidFill>
                    <a:srgbClr val="000000"/>
                  </a:solidFill>
                  <a:ea typeface="幼圆" panose="02010509060101010101" pitchFamily="49" charset="-122"/>
                  <a:sym typeface="Symbol" panose="05050102010706020507" pitchFamily="18" charset="2"/>
                </a:rPr>
                <a:t>r </a:t>
              </a:r>
              <a:r>
                <a:rPr lang="en-US" altLang="zh-CN" sz="2600" i="1" smtClean="0">
                  <a:solidFill>
                    <a:srgbClr val="000000"/>
                  </a:solidFill>
                  <a:ea typeface="幼圆" panose="02010509060101010101" pitchFamily="49" charset="-122"/>
                  <a:sym typeface="Symbol" panose="05050102010706020507" pitchFamily="18" charset="2"/>
                </a:rPr>
                <a:t>H</a:t>
              </a:r>
              <a:r>
                <a:rPr lang="en-US" altLang="zh-CN" sz="2600" i="1" baseline="-25000" smtClean="0">
                  <a:solidFill>
                    <a:srgbClr val="000000"/>
                  </a:solidFill>
                  <a:ea typeface="幼圆" panose="02010509060101010101" pitchFamily="49" charset="-122"/>
                  <a:sym typeface="Symbol" panose="05050102010706020507" pitchFamily="18" charset="2"/>
                </a:rPr>
                <a:t>m</a:t>
              </a:r>
              <a:r>
                <a:rPr kumimoji="0" lang="el-GR" altLang="zh-CN" sz="2600" baseline="30000" smtClean="0">
                  <a:solidFill>
                    <a:srgbClr val="000000"/>
                  </a:solidFill>
                  <a:latin typeface="楷体_GB2312" pitchFamily="49" charset="-122"/>
                </a:rPr>
                <a:t>Θ</a:t>
              </a:r>
              <a:r>
                <a:rPr kumimoji="0" lang="en-US" altLang="zh-CN" sz="2600" i="1" smtClean="0">
                  <a:solidFill>
                    <a:srgbClr val="000000"/>
                  </a:solidFill>
                </a:rPr>
                <a:t>(</a:t>
              </a:r>
              <a:r>
                <a:rPr lang="en-US" altLang="zh-CN" sz="2600" i="1" smtClean="0">
                  <a:solidFill>
                    <a:srgbClr val="000000"/>
                  </a:solidFill>
                  <a:ea typeface="幼圆" panose="02010509060101010101" pitchFamily="49" charset="-122"/>
                  <a:sym typeface="Symbol" panose="05050102010706020507" pitchFamily="18" charset="2"/>
                </a:rPr>
                <a:t>2) </a:t>
              </a:r>
            </a:p>
            <a:p>
              <a:pPr eaLnBrk="0" fontAlgn="base" hangingPunct="0">
                <a:lnSpc>
                  <a:spcPts val="3600"/>
                </a:lnSpc>
                <a:spcBef>
                  <a:spcPct val="50000"/>
                </a:spcBef>
                <a:spcAft>
                  <a:spcPct val="0"/>
                </a:spcAft>
              </a:pPr>
              <a:r>
                <a:rPr lang="en-US" altLang="zh-CN" sz="2600" smtClean="0">
                  <a:solidFill>
                    <a:srgbClr val="000000"/>
                  </a:solidFill>
                  <a:ea typeface="幼圆" panose="02010509060101010101" pitchFamily="49" charset="-122"/>
                  <a:sym typeface="Symbol" panose="05050102010706020507" pitchFamily="18" charset="2"/>
                </a:rPr>
                <a:t>                  =[(-393.51) </a:t>
              </a:r>
              <a:r>
                <a:rPr lang="zh-CN" altLang="en-US" sz="2600" i="1" smtClean="0">
                  <a:solidFill>
                    <a:srgbClr val="000000"/>
                  </a:solidFill>
                  <a:sym typeface="Symbol" panose="05050102010706020507" pitchFamily="18" charset="2"/>
                </a:rPr>
                <a:t>－ </a:t>
              </a:r>
              <a:r>
                <a:rPr lang="en-US" altLang="zh-CN" sz="2600" smtClean="0">
                  <a:solidFill>
                    <a:srgbClr val="000000"/>
                  </a:solidFill>
                  <a:ea typeface="幼圆" panose="02010509060101010101" pitchFamily="49" charset="-122"/>
                  <a:sym typeface="Symbol" panose="05050102010706020507" pitchFamily="18" charset="2"/>
                </a:rPr>
                <a:t>(282.98)]  kJ</a:t>
              </a:r>
              <a:r>
                <a:rPr lang="en-US" altLang="zh-CN" sz="2600" smtClean="0">
                  <a:solidFill>
                    <a:srgbClr val="000000"/>
                  </a:solidFill>
                  <a:ea typeface="幼圆" panose="02010509060101010101" pitchFamily="49" charset="-122"/>
                  <a:cs typeface="Times New Roman" panose="02020603050405020304" pitchFamily="18" charset="0"/>
                  <a:sym typeface="Symbol" panose="05050102010706020507" pitchFamily="18" charset="2"/>
                </a:rPr>
                <a:t>·mol</a:t>
              </a:r>
              <a:r>
                <a:rPr lang="en-US" altLang="zh-CN" sz="2600" baseline="30000" smtClean="0">
                  <a:solidFill>
                    <a:srgbClr val="000000"/>
                  </a:solidFill>
                  <a:ea typeface="幼圆" panose="02010509060101010101" pitchFamily="49" charset="-122"/>
                  <a:cs typeface="Times New Roman" panose="02020603050405020304" pitchFamily="18" charset="0"/>
                  <a:sym typeface="Symbol" panose="05050102010706020507" pitchFamily="18" charset="2"/>
                </a:rPr>
                <a:t>-1</a:t>
              </a:r>
            </a:p>
          </p:txBody>
        </p:sp>
        <p:sp>
          <p:nvSpPr>
            <p:cNvPr id="16391" name="Rectangle 10"/>
            <p:cNvSpPr>
              <a:spLocks noChangeArrowheads="1"/>
            </p:cNvSpPr>
            <p:nvPr/>
          </p:nvSpPr>
          <p:spPr bwMode="auto">
            <a:xfrm>
              <a:off x="228600" y="5105400"/>
              <a:ext cx="8534400" cy="974725"/>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3600"/>
                </a:lnSpc>
                <a:spcBef>
                  <a:spcPct val="0"/>
                </a:spcBef>
                <a:spcAft>
                  <a:spcPct val="0"/>
                </a:spcAft>
              </a:pPr>
              <a:r>
                <a:rPr kumimoji="1" lang="en-US" altLang="zh-CN" sz="2600" b="1" smtClean="0">
                  <a:solidFill>
                    <a:srgbClr val="000000"/>
                  </a:solidFill>
                  <a:latin typeface="Times New Roman" panose="02020603050405020304" pitchFamily="18" charset="0"/>
                  <a:ea typeface="楷体_GB2312" pitchFamily="49" charset="-122"/>
                </a:rPr>
                <a:t>        </a:t>
              </a:r>
              <a:r>
                <a:rPr kumimoji="1" lang="zh-CN" altLang="en-US" sz="2600" b="1" smtClean="0">
                  <a:solidFill>
                    <a:srgbClr val="000000"/>
                  </a:solidFill>
                  <a:latin typeface="Times New Roman" panose="02020603050405020304" pitchFamily="18" charset="0"/>
                  <a:ea typeface="楷体_GB2312" pitchFamily="49" charset="-122"/>
                </a:rPr>
                <a:t>即热化学方程式可像代数式那样进行加减运算，相应的</a:t>
              </a:r>
              <a:r>
                <a:rPr kumimoji="1" lang="zh-CN" altLang="en-US" sz="2600" b="1" smtClean="0">
                  <a:solidFill>
                    <a:srgbClr val="000000"/>
                  </a:solidFill>
                  <a:latin typeface="Times New Roman" panose="02020603050405020304" pitchFamily="18" charset="0"/>
                  <a:ea typeface="幼圆" panose="02010509060101010101" pitchFamily="49" charset="-122"/>
                  <a:sym typeface="Symbol" panose="05050102010706020507" pitchFamily="18" charset="2"/>
                </a:rPr>
                <a:t></a:t>
              </a:r>
              <a:r>
                <a:rPr kumimoji="1" lang="en-US" altLang="zh-CN" sz="2600" b="1" baseline="-25000" smtClean="0">
                  <a:solidFill>
                    <a:srgbClr val="000000"/>
                  </a:solidFill>
                  <a:latin typeface="Times New Roman" panose="02020603050405020304" pitchFamily="18" charset="0"/>
                  <a:ea typeface="幼圆" panose="02010509060101010101" pitchFamily="49" charset="-122"/>
                  <a:sym typeface="Symbol" panose="05050102010706020507" pitchFamily="18" charset="2"/>
                </a:rPr>
                <a:t>r </a:t>
              </a:r>
              <a:r>
                <a:rPr kumimoji="1" lang="en-US" altLang="zh-CN" sz="2600" b="1" smtClean="0">
                  <a:solidFill>
                    <a:srgbClr val="000000"/>
                  </a:solidFill>
                  <a:latin typeface="Times New Roman" panose="02020603050405020304" pitchFamily="18" charset="0"/>
                  <a:ea typeface="幼圆" panose="02010509060101010101" pitchFamily="49" charset="-122"/>
                  <a:sym typeface="Symbol" panose="05050102010706020507" pitchFamily="18" charset="2"/>
                </a:rPr>
                <a:t>G</a:t>
              </a:r>
              <a:r>
                <a:rPr kumimoji="1" lang="en-US" altLang="zh-CN" sz="2600" b="1" baseline="-25000" smtClean="0">
                  <a:solidFill>
                    <a:srgbClr val="000000"/>
                  </a:solidFill>
                  <a:latin typeface="Times New Roman" panose="02020603050405020304" pitchFamily="18" charset="0"/>
                  <a:ea typeface="幼圆" panose="02010509060101010101" pitchFamily="49" charset="-122"/>
                  <a:sym typeface="Symbol" panose="05050102010706020507" pitchFamily="18" charset="2"/>
                </a:rPr>
                <a:t>m</a:t>
              </a:r>
              <a:r>
                <a:rPr lang="el-GR" altLang="zh-CN" sz="2600" b="1" baseline="30000" smtClean="0">
                  <a:solidFill>
                    <a:srgbClr val="000000"/>
                  </a:solidFill>
                  <a:latin typeface="楷体_GB2312" pitchFamily="49" charset="-122"/>
                  <a:ea typeface="楷体_GB2312" pitchFamily="49" charset="-122"/>
                </a:rPr>
                <a:t>Θ</a:t>
              </a:r>
              <a:r>
                <a:rPr lang="en-US" altLang="zh-CN" sz="2600" b="1" baseline="30000" smtClean="0">
                  <a:solidFill>
                    <a:srgbClr val="000000"/>
                  </a:solidFill>
                  <a:latin typeface="Times New Roman" panose="02020603050405020304" pitchFamily="18" charset="0"/>
                  <a:ea typeface="楷体_GB2312" pitchFamily="49" charset="-122"/>
                </a:rPr>
                <a:t> </a:t>
              </a:r>
              <a:r>
                <a:rPr lang="zh-CN" altLang="en-US" sz="2600" b="1" smtClean="0">
                  <a:solidFill>
                    <a:srgbClr val="000000"/>
                  </a:solidFill>
                  <a:latin typeface="Times New Roman" panose="02020603050405020304" pitchFamily="18" charset="0"/>
                  <a:ea typeface="楷体_GB2312" pitchFamily="49" charset="-122"/>
                </a:rPr>
                <a:t>、</a:t>
              </a:r>
              <a:r>
                <a:rPr kumimoji="1" lang="zh-CN" altLang="en-US" sz="2600" b="1" smtClean="0">
                  <a:solidFill>
                    <a:srgbClr val="000000"/>
                  </a:solidFill>
                  <a:latin typeface="Times New Roman" panose="02020603050405020304" pitchFamily="18" charset="0"/>
                  <a:ea typeface="幼圆" panose="02010509060101010101" pitchFamily="49" charset="-122"/>
                  <a:sym typeface="Symbol" panose="05050102010706020507" pitchFamily="18" charset="2"/>
                </a:rPr>
                <a:t></a:t>
              </a:r>
              <a:r>
                <a:rPr kumimoji="1" lang="en-US" altLang="zh-CN" sz="2600" b="1" baseline="-25000" smtClean="0">
                  <a:solidFill>
                    <a:srgbClr val="000000"/>
                  </a:solidFill>
                  <a:latin typeface="Times New Roman" panose="02020603050405020304" pitchFamily="18" charset="0"/>
                  <a:ea typeface="幼圆" panose="02010509060101010101" pitchFamily="49" charset="-122"/>
                  <a:sym typeface="Symbol" panose="05050102010706020507" pitchFamily="18" charset="2"/>
                </a:rPr>
                <a:t>r </a:t>
              </a:r>
              <a:r>
                <a:rPr kumimoji="1" lang="en-US" altLang="zh-CN" sz="2600" b="1" smtClean="0">
                  <a:solidFill>
                    <a:srgbClr val="000000"/>
                  </a:solidFill>
                  <a:latin typeface="Times New Roman" panose="02020603050405020304" pitchFamily="18" charset="0"/>
                  <a:ea typeface="幼圆" panose="02010509060101010101" pitchFamily="49" charset="-122"/>
                  <a:sym typeface="Symbol" panose="05050102010706020507" pitchFamily="18" charset="2"/>
                </a:rPr>
                <a:t>S</a:t>
              </a:r>
              <a:r>
                <a:rPr kumimoji="1" lang="en-US" altLang="zh-CN" sz="2600" b="1" baseline="-25000" smtClean="0">
                  <a:solidFill>
                    <a:srgbClr val="000000"/>
                  </a:solidFill>
                  <a:latin typeface="Times New Roman" panose="02020603050405020304" pitchFamily="18" charset="0"/>
                  <a:ea typeface="幼圆" panose="02010509060101010101" pitchFamily="49" charset="-122"/>
                  <a:sym typeface="Symbol" panose="05050102010706020507" pitchFamily="18" charset="2"/>
                </a:rPr>
                <a:t>m</a:t>
              </a:r>
              <a:r>
                <a:rPr lang="el-GR" altLang="zh-CN" sz="2600" b="1" baseline="30000" smtClean="0">
                  <a:solidFill>
                    <a:srgbClr val="000000"/>
                  </a:solidFill>
                  <a:latin typeface="楷体_GB2312" pitchFamily="49" charset="-122"/>
                  <a:ea typeface="楷体_GB2312" pitchFamily="49" charset="-122"/>
                </a:rPr>
                <a:t>Θ</a:t>
              </a:r>
              <a:r>
                <a:rPr lang="en-US" altLang="zh-CN" sz="2600" b="1" baseline="30000" smtClean="0">
                  <a:solidFill>
                    <a:srgbClr val="000000"/>
                  </a:solidFill>
                  <a:latin typeface="Times New Roman" panose="02020603050405020304" pitchFamily="18" charset="0"/>
                  <a:ea typeface="楷体_GB2312" pitchFamily="49" charset="-122"/>
                </a:rPr>
                <a:t> </a:t>
              </a:r>
              <a:r>
                <a:rPr lang="zh-CN" altLang="en-US" sz="2600" b="1" smtClean="0">
                  <a:solidFill>
                    <a:srgbClr val="000000"/>
                  </a:solidFill>
                  <a:latin typeface="Times New Roman" panose="02020603050405020304" pitchFamily="18" charset="0"/>
                  <a:ea typeface="楷体_GB2312" pitchFamily="49" charset="-122"/>
                </a:rPr>
                <a:t>也可以这样。</a:t>
              </a:r>
              <a:r>
                <a:rPr kumimoji="1" lang="zh-CN" altLang="en-US" sz="2600" b="1" smtClean="0">
                  <a:solidFill>
                    <a:srgbClr val="000000"/>
                  </a:solidFill>
                  <a:latin typeface="Times New Roman" panose="02020603050405020304" pitchFamily="18" charset="0"/>
                  <a:ea typeface="楷体_GB2312" pitchFamily="49" charset="-122"/>
                  <a:sym typeface="Symbol" panose="05050102010706020507" pitchFamily="18" charset="2"/>
                </a:rPr>
                <a:t> </a:t>
              </a:r>
            </a:p>
          </p:txBody>
        </p:sp>
        <p:sp>
          <p:nvSpPr>
            <p:cNvPr id="16392" name="矩形 8"/>
            <p:cNvSpPr>
              <a:spLocks noChangeArrowheads="1"/>
            </p:cNvSpPr>
            <p:nvPr/>
          </p:nvSpPr>
          <p:spPr bwMode="auto">
            <a:xfrm>
              <a:off x="2514600" y="4495800"/>
              <a:ext cx="2971800" cy="517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en-US" altLang="zh-CN" sz="2600" b="1" smtClean="0">
                  <a:solidFill>
                    <a:srgbClr val="000000"/>
                  </a:solidFill>
                  <a:latin typeface="Times New Roman" panose="02020603050405020304" pitchFamily="18" charset="0"/>
                  <a:ea typeface="楷体_GB2312" pitchFamily="49" charset="-122"/>
                  <a:sym typeface="Symbol" panose="05050102010706020507" pitchFamily="18" charset="2"/>
                </a:rPr>
                <a:t>= -110.53 kJ·mol</a:t>
              </a:r>
              <a:r>
                <a:rPr kumimoji="1" lang="en-US" altLang="zh-CN" sz="2600" b="1" baseline="30000" smtClean="0">
                  <a:solidFill>
                    <a:srgbClr val="000000"/>
                  </a:solidFill>
                  <a:latin typeface="Times New Roman" panose="02020603050405020304" pitchFamily="18" charset="0"/>
                  <a:ea typeface="楷体_GB2312" pitchFamily="49" charset="-122"/>
                  <a:sym typeface="Symbol" panose="05050102010706020507" pitchFamily="18" charset="2"/>
                </a:rPr>
                <a:t>-1</a:t>
              </a:r>
              <a:endParaRPr kumimoji="1" lang="en-US" altLang="en-US" sz="2600" b="1" baseline="30000" smtClean="0">
                <a:solidFill>
                  <a:srgbClr val="000000"/>
                </a:solidFill>
                <a:latin typeface="Times New Roman" panose="02020603050405020304" pitchFamily="18" charset="0"/>
                <a:ea typeface="楷体_GB2312" pitchFamily="49" charset="-122"/>
                <a:sym typeface="Symbol" panose="05050102010706020507" pitchFamily="18" charset="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7883"/>
                                        </p:tgtEl>
                                        <p:attrNameLst>
                                          <p:attrName>style.visibility</p:attrName>
                                        </p:attrNameLst>
                                      </p:cBhvr>
                                      <p:to>
                                        <p:strVal val="visible"/>
                                      </p:to>
                                    </p:set>
                                    <p:anim calcmode="lin" valueType="num">
                                      <p:cBhvr additive="base">
                                        <p:cTn id="7" dur="500" fill="hold"/>
                                        <p:tgtEl>
                                          <p:spTgt spid="207883"/>
                                        </p:tgtEl>
                                        <p:attrNameLst>
                                          <p:attrName>ppt_x</p:attrName>
                                        </p:attrNameLst>
                                      </p:cBhvr>
                                      <p:tavLst>
                                        <p:tav tm="0">
                                          <p:val>
                                            <p:strVal val="#ppt_x"/>
                                          </p:val>
                                        </p:tav>
                                        <p:tav tm="100000">
                                          <p:val>
                                            <p:strVal val="#ppt_x"/>
                                          </p:val>
                                        </p:tav>
                                      </p:tavLst>
                                    </p:anim>
                                    <p:anim calcmode="lin" valueType="num">
                                      <p:cBhvr additive="base">
                                        <p:cTn id="8" dur="500" fill="hold"/>
                                        <p:tgtEl>
                                          <p:spTgt spid="20788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562" name="组合 5"/>
          <p:cNvGrpSpPr/>
          <p:nvPr/>
        </p:nvGrpSpPr>
        <p:grpSpPr bwMode="auto">
          <a:xfrm>
            <a:off x="76200" y="76200"/>
            <a:ext cx="8686800" cy="2805113"/>
            <a:chOff x="76200" y="76200"/>
            <a:chExt cx="8686800" cy="2805291"/>
          </a:xfrm>
        </p:grpSpPr>
        <p:sp>
          <p:nvSpPr>
            <p:cNvPr id="66564" name="矩形 15"/>
            <p:cNvSpPr>
              <a:spLocks noChangeArrowheads="1"/>
            </p:cNvSpPr>
            <p:nvPr/>
          </p:nvSpPr>
          <p:spPr bwMode="auto">
            <a:xfrm>
              <a:off x="381000" y="609600"/>
              <a:ext cx="8382000" cy="5539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50000"/>
                </a:spcBef>
                <a:spcAft>
                  <a:spcPct val="0"/>
                </a:spcAft>
              </a:pPr>
              <a:r>
                <a:rPr kumimoji="1" lang="en-US" altLang="zh-CN" sz="3000" b="1" smtClean="0">
                  <a:solidFill>
                    <a:srgbClr val="000000"/>
                  </a:solidFill>
                  <a:latin typeface="Times New Roman" panose="02020603050405020304" pitchFamily="18" charset="0"/>
                  <a:ea typeface="楷体_GB2312" pitchFamily="49" charset="-122"/>
                </a:rPr>
                <a:t>        </a:t>
              </a:r>
              <a:r>
                <a:rPr kumimoji="1" lang="zh-CN" altLang="en-US" sz="3000" b="1" smtClean="0">
                  <a:solidFill>
                    <a:srgbClr val="000000"/>
                  </a:solidFill>
                  <a:latin typeface="Times New Roman" panose="02020603050405020304" pitchFamily="18" charset="0"/>
                  <a:ea typeface="楷体_GB2312" pitchFamily="49" charset="-122"/>
                </a:rPr>
                <a:t>试计算下列反应的</a:t>
              </a:r>
              <a:r>
                <a:rPr lang="zh-CN" altLang="en-US" sz="3000" b="1" smtClean="0">
                  <a:solidFill>
                    <a:srgbClr val="000000"/>
                  </a:solidFill>
                  <a:latin typeface="Times New Roman" panose="02020603050405020304" pitchFamily="18" charset="0"/>
                  <a:ea typeface="楷体_GB2312" pitchFamily="49" charset="-122"/>
                </a:rPr>
                <a:t>⊿</a:t>
              </a:r>
              <a:r>
                <a:rPr lang="en-US" altLang="zh-CN" sz="3000" b="1" baseline="-25000" smtClean="0">
                  <a:solidFill>
                    <a:srgbClr val="000000"/>
                  </a:solidFill>
                  <a:latin typeface="Times New Roman" panose="02020603050405020304" pitchFamily="18" charset="0"/>
                  <a:ea typeface="楷体_GB2312" pitchFamily="49" charset="-122"/>
                </a:rPr>
                <a:t>r</a:t>
              </a:r>
              <a:r>
                <a:rPr lang="en-US" altLang="zh-CN" sz="3000" b="1" smtClean="0">
                  <a:solidFill>
                    <a:srgbClr val="000000"/>
                  </a:solidFill>
                  <a:latin typeface="Times New Roman" panose="02020603050405020304" pitchFamily="18" charset="0"/>
                  <a:ea typeface="楷体_GB2312" pitchFamily="49" charset="-122"/>
                </a:rPr>
                <a:t>H</a:t>
              </a:r>
              <a:r>
                <a:rPr lang="en-US" altLang="zh-CN" sz="3000" b="1" baseline="-25000" smtClean="0">
                  <a:solidFill>
                    <a:srgbClr val="000000"/>
                  </a:solidFill>
                  <a:latin typeface="Times New Roman" panose="02020603050405020304" pitchFamily="18" charset="0"/>
                  <a:ea typeface="楷体_GB2312" pitchFamily="49" charset="-122"/>
                </a:rPr>
                <a:t>m</a:t>
              </a:r>
              <a:r>
                <a:rPr kumimoji="1" lang="el-GR" altLang="zh-CN" sz="3000" b="1" baseline="30000" smtClean="0">
                  <a:solidFill>
                    <a:srgbClr val="000000"/>
                  </a:solidFill>
                  <a:latin typeface="Times New Roman" panose="02020603050405020304" pitchFamily="18" charset="0"/>
                  <a:ea typeface="楷体_GB2312" pitchFamily="49" charset="-122"/>
                </a:rPr>
                <a:t>Θ</a:t>
              </a:r>
              <a:r>
                <a:rPr lang="en-US" altLang="zh-CN" sz="3000" b="1" smtClean="0">
                  <a:solidFill>
                    <a:srgbClr val="000000"/>
                  </a:solidFill>
                  <a:latin typeface="Times New Roman" panose="02020603050405020304" pitchFamily="18" charset="0"/>
                  <a:ea typeface="楷体_GB2312" pitchFamily="49" charset="-122"/>
                </a:rPr>
                <a:t>( </a:t>
              </a:r>
              <a:r>
                <a:rPr kumimoji="1" lang="en-US" altLang="zh-CN" sz="3000" b="1" smtClean="0">
                  <a:solidFill>
                    <a:srgbClr val="000000"/>
                  </a:solidFill>
                  <a:latin typeface="Times New Roman" panose="02020603050405020304" pitchFamily="18" charset="0"/>
                  <a:ea typeface="楷体_GB2312" pitchFamily="49" charset="-122"/>
                </a:rPr>
                <a:t>298.15K</a:t>
              </a:r>
              <a:r>
                <a:rPr lang="en-US" altLang="zh-CN" sz="3000" b="1" smtClean="0">
                  <a:solidFill>
                    <a:srgbClr val="000000"/>
                  </a:solidFill>
                  <a:latin typeface="Times New Roman" panose="02020603050405020304" pitchFamily="18" charset="0"/>
                  <a:ea typeface="楷体_GB2312" pitchFamily="49" charset="-122"/>
                </a:rPr>
                <a:t>) </a:t>
              </a:r>
              <a:r>
                <a:rPr kumimoji="1" lang="zh-CN" altLang="en-US" sz="3000" b="1" smtClean="0">
                  <a:solidFill>
                    <a:srgbClr val="000000"/>
                  </a:solidFill>
                  <a:latin typeface="Times New Roman" panose="02020603050405020304" pitchFamily="18" charset="0"/>
                  <a:ea typeface="楷体_GB2312" pitchFamily="49" charset="-122"/>
                </a:rPr>
                <a:t>：</a:t>
              </a:r>
              <a:endParaRPr kumimoji="1" lang="zh-CN" altLang="en-US" sz="3000" b="1" smtClean="0">
                <a:solidFill>
                  <a:srgbClr val="0000FF"/>
                </a:solidFill>
                <a:latin typeface="Times New Roman" panose="02020603050405020304" pitchFamily="18" charset="0"/>
                <a:ea typeface="楷体_GB2312" pitchFamily="49" charset="-122"/>
              </a:endParaRPr>
            </a:p>
          </p:txBody>
        </p:sp>
        <p:sp>
          <p:nvSpPr>
            <p:cNvPr id="66565" name="矩形 16"/>
            <p:cNvSpPr>
              <a:spLocks noChangeArrowheads="1"/>
            </p:cNvSpPr>
            <p:nvPr/>
          </p:nvSpPr>
          <p:spPr bwMode="auto">
            <a:xfrm>
              <a:off x="609600" y="1219200"/>
              <a:ext cx="7924800" cy="1662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eaLnBrk="0" fontAlgn="base" hangingPunct="0">
                <a:lnSpc>
                  <a:spcPct val="80000"/>
                </a:lnSpc>
                <a:spcBef>
                  <a:spcPct val="50000"/>
                </a:spcBef>
                <a:spcAft>
                  <a:spcPct val="0"/>
                </a:spcAft>
              </a:pPr>
              <a:r>
                <a:rPr kumimoji="1" lang="en-US" altLang="zh-CN" sz="3000" b="1" dirty="0" smtClean="0">
                  <a:solidFill>
                    <a:srgbClr val="000000"/>
                  </a:solidFill>
                  <a:latin typeface="Times New Roman" panose="02020603050405020304" pitchFamily="18" charset="0"/>
                  <a:ea typeface="楷体_GB2312" pitchFamily="49" charset="-122"/>
                </a:rPr>
                <a:t> 4NH</a:t>
              </a:r>
              <a:r>
                <a:rPr kumimoji="1" lang="en-US" altLang="zh-CN" sz="3000" b="1" baseline="-25000" dirty="0" smtClean="0">
                  <a:solidFill>
                    <a:srgbClr val="000000"/>
                  </a:solidFill>
                  <a:latin typeface="Times New Roman" panose="02020603050405020304" pitchFamily="18" charset="0"/>
                  <a:ea typeface="楷体_GB2312" pitchFamily="49" charset="-122"/>
                </a:rPr>
                <a:t>3</a:t>
              </a:r>
              <a:r>
                <a:rPr kumimoji="1" lang="en-US" altLang="zh-CN" sz="3000" b="1" dirty="0" smtClean="0">
                  <a:solidFill>
                    <a:srgbClr val="000000"/>
                  </a:solidFill>
                  <a:latin typeface="Times New Roman" panose="02020603050405020304" pitchFamily="18" charset="0"/>
                  <a:ea typeface="楷体_GB2312" pitchFamily="49" charset="-122"/>
                </a:rPr>
                <a:t>(g)</a:t>
              </a:r>
              <a:r>
                <a:rPr kumimoji="1" lang="zh-CN" altLang="en-US" sz="3000" b="1" dirty="0" smtClean="0">
                  <a:solidFill>
                    <a:srgbClr val="000000"/>
                  </a:solidFill>
                  <a:latin typeface="Times New Roman" panose="02020603050405020304" pitchFamily="18" charset="0"/>
                  <a:ea typeface="楷体_GB2312" pitchFamily="49" charset="-122"/>
                </a:rPr>
                <a:t> </a:t>
              </a:r>
              <a:r>
                <a:rPr kumimoji="1" lang="en-US" altLang="zh-CN" sz="3000" b="1" dirty="0" smtClean="0">
                  <a:solidFill>
                    <a:srgbClr val="000000"/>
                  </a:solidFill>
                  <a:latin typeface="Times New Roman" panose="02020603050405020304" pitchFamily="18" charset="0"/>
                  <a:ea typeface="楷体_GB2312" pitchFamily="49" charset="-122"/>
                </a:rPr>
                <a:t>+   5O</a:t>
              </a:r>
              <a:r>
                <a:rPr kumimoji="1" lang="en-US" altLang="zh-CN" sz="3000" b="1" baseline="-25000" dirty="0" smtClean="0">
                  <a:solidFill>
                    <a:srgbClr val="000000"/>
                  </a:solidFill>
                  <a:latin typeface="Times New Roman" panose="02020603050405020304" pitchFamily="18" charset="0"/>
                  <a:ea typeface="楷体_GB2312" pitchFamily="49" charset="-122"/>
                </a:rPr>
                <a:t>2</a:t>
              </a:r>
              <a:r>
                <a:rPr kumimoji="1" lang="en-US" altLang="zh-CN" sz="3000" b="1" dirty="0" smtClean="0">
                  <a:solidFill>
                    <a:srgbClr val="000000"/>
                  </a:solidFill>
                  <a:latin typeface="Times New Roman" panose="02020603050405020304" pitchFamily="18" charset="0"/>
                  <a:ea typeface="楷体_GB2312" pitchFamily="49" charset="-122"/>
                </a:rPr>
                <a:t>(g)</a:t>
              </a:r>
              <a:r>
                <a:rPr kumimoji="1" lang="zh-CN" altLang="en-US" sz="3000" b="1" dirty="0" smtClean="0">
                  <a:solidFill>
                    <a:srgbClr val="000000"/>
                  </a:solidFill>
                  <a:latin typeface="Times New Roman" panose="02020603050405020304" pitchFamily="18" charset="0"/>
                  <a:ea typeface="楷体_GB2312" pitchFamily="49" charset="-122"/>
                </a:rPr>
                <a:t> </a:t>
              </a:r>
              <a:r>
                <a:rPr kumimoji="1" lang="en-US" altLang="en-US" sz="3000" b="1" dirty="0" smtClean="0">
                  <a:solidFill>
                    <a:srgbClr val="000000"/>
                  </a:solidFill>
                  <a:latin typeface="Times New Roman" panose="02020603050405020304" pitchFamily="18" charset="0"/>
                  <a:ea typeface="楷体_GB2312" pitchFamily="49" charset="-122"/>
                </a:rPr>
                <a:t>→  4</a:t>
              </a:r>
              <a:r>
                <a:rPr kumimoji="1" lang="en-US" altLang="zh-CN" sz="3000" b="1" dirty="0" smtClean="0">
                  <a:solidFill>
                    <a:srgbClr val="000000"/>
                  </a:solidFill>
                  <a:latin typeface="Times New Roman" panose="02020603050405020304" pitchFamily="18" charset="0"/>
                  <a:ea typeface="楷体_GB2312" pitchFamily="49" charset="-122"/>
                </a:rPr>
                <a:t>NO (g)</a:t>
              </a:r>
              <a:r>
                <a:rPr kumimoji="1" lang="zh-CN" altLang="en-US" sz="3000" b="1" dirty="0" smtClean="0">
                  <a:solidFill>
                    <a:srgbClr val="000000"/>
                  </a:solidFill>
                  <a:latin typeface="Times New Roman" panose="02020603050405020304" pitchFamily="18" charset="0"/>
                  <a:ea typeface="楷体_GB2312" pitchFamily="49" charset="-122"/>
                </a:rPr>
                <a:t> </a:t>
              </a:r>
              <a:r>
                <a:rPr kumimoji="1" lang="en-US" altLang="zh-CN" sz="3000" b="1" dirty="0" smtClean="0">
                  <a:solidFill>
                    <a:srgbClr val="000000"/>
                  </a:solidFill>
                  <a:latin typeface="Times New Roman" panose="02020603050405020304" pitchFamily="18" charset="0"/>
                  <a:ea typeface="楷体_GB2312" pitchFamily="49" charset="-122"/>
                </a:rPr>
                <a:t>+ 6H</a:t>
              </a:r>
              <a:r>
                <a:rPr kumimoji="1" lang="en-US" altLang="zh-CN" sz="3000" b="1" baseline="-25000" dirty="0" smtClean="0">
                  <a:solidFill>
                    <a:srgbClr val="000000"/>
                  </a:solidFill>
                  <a:latin typeface="Times New Roman" panose="02020603050405020304" pitchFamily="18" charset="0"/>
                  <a:ea typeface="楷体_GB2312" pitchFamily="49" charset="-122"/>
                </a:rPr>
                <a:t>2</a:t>
              </a:r>
              <a:r>
                <a:rPr kumimoji="1" lang="en-US" altLang="zh-CN" sz="3000" b="1" dirty="0" smtClean="0">
                  <a:solidFill>
                    <a:srgbClr val="000000"/>
                  </a:solidFill>
                  <a:latin typeface="Times New Roman" panose="02020603050405020304" pitchFamily="18" charset="0"/>
                  <a:ea typeface="楷体_GB2312" pitchFamily="49" charset="-122"/>
                </a:rPr>
                <a:t>O(l)</a:t>
              </a:r>
            </a:p>
            <a:p>
              <a:pPr eaLnBrk="0" fontAlgn="base" hangingPunct="0">
                <a:lnSpc>
                  <a:spcPct val="80000"/>
                </a:lnSpc>
                <a:spcBef>
                  <a:spcPct val="50000"/>
                </a:spcBef>
                <a:spcAft>
                  <a:spcPct val="0"/>
                </a:spcAft>
              </a:pPr>
              <a:r>
                <a:rPr kumimoji="1" lang="en-US" altLang="zh-CN" sz="3000" b="1" dirty="0" smtClean="0">
                  <a:solidFill>
                    <a:srgbClr val="000000"/>
                  </a:solidFill>
                  <a:latin typeface="Times New Roman" panose="02020603050405020304" pitchFamily="18" charset="0"/>
                  <a:ea typeface="楷体_GB2312" pitchFamily="49" charset="-122"/>
                </a:rPr>
                <a:t> </a:t>
              </a:r>
              <a:r>
                <a:rPr kumimoji="1" lang="zh-CN" altLang="en-US" sz="3000" b="1" dirty="0" smtClean="0">
                  <a:solidFill>
                    <a:srgbClr val="000000"/>
                  </a:solidFill>
                  <a:latin typeface="Times New Roman" panose="02020603050405020304" pitchFamily="18" charset="0"/>
                  <a:ea typeface="楷体_GB2312" pitchFamily="49" charset="-122"/>
                </a:rPr>
                <a:t>  </a:t>
              </a:r>
              <a:r>
                <a:rPr kumimoji="1" lang="en-US" altLang="zh-CN" sz="3000" b="1" dirty="0" smtClean="0">
                  <a:solidFill>
                    <a:srgbClr val="0000FF"/>
                  </a:solidFill>
                  <a:latin typeface="Times New Roman" panose="02020603050405020304" pitchFamily="18" charset="0"/>
                  <a:ea typeface="楷体_GB2312" pitchFamily="49" charset="-122"/>
                </a:rPr>
                <a:t>– </a:t>
              </a:r>
              <a:r>
                <a:rPr kumimoji="1" lang="en-US" altLang="zh-CN" sz="3000" b="1" dirty="0" smtClean="0">
                  <a:solidFill>
                    <a:srgbClr val="000000"/>
                  </a:solidFill>
                  <a:latin typeface="Times New Roman" panose="02020603050405020304" pitchFamily="18" charset="0"/>
                  <a:ea typeface="楷体_GB2312" pitchFamily="49" charset="-122"/>
                </a:rPr>
                <a:t>46.11            0              90.4 </a:t>
              </a:r>
              <a:r>
                <a:rPr kumimoji="1" lang="zh-CN" altLang="en-US" sz="3000" b="1" dirty="0" smtClean="0">
                  <a:solidFill>
                    <a:srgbClr val="000000"/>
                  </a:solidFill>
                  <a:latin typeface="Times New Roman" panose="02020603050405020304" pitchFamily="18" charset="0"/>
                  <a:ea typeface="楷体_GB2312" pitchFamily="49" charset="-122"/>
                </a:rPr>
                <a:t>         </a:t>
              </a:r>
              <a:r>
                <a:rPr kumimoji="1" lang="en-US" altLang="zh-CN" sz="3000" b="1" dirty="0" smtClean="0">
                  <a:solidFill>
                    <a:srgbClr val="0000FF"/>
                  </a:solidFill>
                  <a:latin typeface="Times New Roman" panose="02020603050405020304" pitchFamily="18" charset="0"/>
                  <a:ea typeface="楷体_GB2312" pitchFamily="49" charset="-122"/>
                </a:rPr>
                <a:t>– </a:t>
              </a:r>
              <a:r>
                <a:rPr kumimoji="1" lang="en-US" altLang="zh-CN" sz="3000" b="1" dirty="0" smtClean="0">
                  <a:solidFill>
                    <a:srgbClr val="000000"/>
                  </a:solidFill>
                  <a:latin typeface="Times New Roman" panose="02020603050405020304" pitchFamily="18" charset="0"/>
                  <a:ea typeface="楷体_GB2312" pitchFamily="49" charset="-122"/>
                </a:rPr>
                <a:t>285.8 </a:t>
              </a:r>
            </a:p>
            <a:p>
              <a:pPr algn="ctr" eaLnBrk="0" fontAlgn="base" hangingPunct="0">
                <a:lnSpc>
                  <a:spcPct val="80000"/>
                </a:lnSpc>
                <a:spcBef>
                  <a:spcPct val="50000"/>
                </a:spcBef>
                <a:spcAft>
                  <a:spcPct val="0"/>
                </a:spcAft>
              </a:pPr>
              <a:r>
                <a:rPr kumimoji="1" lang="en-US" altLang="zh-CN" sz="3000" b="1" dirty="0" smtClean="0">
                  <a:solidFill>
                    <a:srgbClr val="000000"/>
                  </a:solidFill>
                  <a:latin typeface="Times New Roman" panose="02020603050405020304" pitchFamily="18" charset="0"/>
                  <a:ea typeface="楷体_GB2312" pitchFamily="49" charset="-122"/>
                </a:rPr>
                <a:t> (kJ ·mol</a:t>
              </a:r>
              <a:r>
                <a:rPr kumimoji="1" lang="en-US" altLang="zh-CN" sz="3000" b="1" baseline="30000" dirty="0" smtClean="0">
                  <a:solidFill>
                    <a:srgbClr val="000000"/>
                  </a:solidFill>
                  <a:latin typeface="Times New Roman" panose="02020603050405020304" pitchFamily="18" charset="0"/>
                  <a:ea typeface="楷体_GB2312" pitchFamily="49" charset="-122"/>
                </a:rPr>
                <a:t>-1</a:t>
              </a:r>
              <a:r>
                <a:rPr kumimoji="1" lang="en-US" altLang="zh-CN" sz="3000" b="1" dirty="0" smtClean="0">
                  <a:solidFill>
                    <a:srgbClr val="000000"/>
                  </a:solidFill>
                  <a:latin typeface="Times New Roman" panose="02020603050405020304" pitchFamily="18" charset="0"/>
                  <a:ea typeface="楷体_GB2312" pitchFamily="49" charset="-122"/>
                </a:rPr>
                <a:t>)         </a:t>
              </a:r>
              <a:endParaRPr kumimoji="1" lang="zh-CN" altLang="en-US" sz="3000" b="1" dirty="0" smtClean="0">
                <a:solidFill>
                  <a:srgbClr val="000000"/>
                </a:solidFill>
                <a:latin typeface="Times New Roman" panose="02020603050405020304" pitchFamily="18" charset="0"/>
                <a:ea typeface="楷体_GB2312" pitchFamily="49" charset="-122"/>
              </a:endParaRPr>
            </a:p>
          </p:txBody>
        </p:sp>
        <p:sp>
          <p:nvSpPr>
            <p:cNvPr id="66566" name="矩形 17"/>
            <p:cNvSpPr>
              <a:spLocks noChangeArrowheads="1"/>
            </p:cNvSpPr>
            <p:nvPr/>
          </p:nvSpPr>
          <p:spPr bwMode="auto">
            <a:xfrm>
              <a:off x="76200" y="76200"/>
              <a:ext cx="1219200" cy="461748"/>
            </a:xfrm>
            <a:prstGeom prst="rect">
              <a:avLst/>
            </a:prstGeom>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eaLnBrk="0" fontAlgn="base" hangingPunct="0">
                <a:lnSpc>
                  <a:spcPct val="80000"/>
                </a:lnSpc>
                <a:spcBef>
                  <a:spcPct val="50000"/>
                </a:spcBef>
                <a:spcAft>
                  <a:spcPct val="0"/>
                </a:spcAft>
              </a:pPr>
              <a:r>
                <a:rPr kumimoji="1" lang="zh-CN" altLang="en-US" sz="3000" b="1" smtClean="0">
                  <a:solidFill>
                    <a:srgbClr val="FF0000"/>
                  </a:solidFill>
                  <a:latin typeface="Times New Roman" panose="02020603050405020304" pitchFamily="18" charset="0"/>
                  <a:ea typeface="楷体_GB2312" pitchFamily="49" charset="-122"/>
                </a:rPr>
                <a:t>例题</a:t>
              </a:r>
              <a:r>
                <a:rPr kumimoji="1" lang="en-US" altLang="zh-CN" sz="3000" b="1" smtClean="0">
                  <a:solidFill>
                    <a:srgbClr val="FF0000"/>
                  </a:solidFill>
                  <a:latin typeface="Times New Roman" panose="02020603050405020304" pitchFamily="18" charset="0"/>
                  <a:ea typeface="楷体_GB2312" pitchFamily="49" charset="-122"/>
                </a:rPr>
                <a:t>1</a:t>
              </a:r>
              <a:endParaRPr kumimoji="1" lang="zh-CN" altLang="en-US" sz="3000" b="1" smtClean="0">
                <a:solidFill>
                  <a:srgbClr val="FF0000"/>
                </a:solidFill>
                <a:latin typeface="Times New Roman" panose="02020603050405020304" pitchFamily="18" charset="0"/>
                <a:ea typeface="楷体_GB2312" pitchFamily="49" charset="-122"/>
              </a:endParaRPr>
            </a:p>
          </p:txBody>
        </p:sp>
      </p:grpSp>
      <p:sp>
        <p:nvSpPr>
          <p:cNvPr id="66563" name="矩形 6"/>
          <p:cNvSpPr>
            <a:spLocks noChangeArrowheads="1"/>
          </p:cNvSpPr>
          <p:nvPr/>
        </p:nvSpPr>
        <p:spPr bwMode="auto">
          <a:xfrm>
            <a:off x="762000" y="3124200"/>
            <a:ext cx="7391400" cy="20300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ct val="80000"/>
              </a:lnSpc>
              <a:spcBef>
                <a:spcPct val="50000"/>
              </a:spcBef>
              <a:spcAft>
                <a:spcPct val="0"/>
              </a:spcAft>
            </a:pPr>
            <a:r>
              <a:rPr kumimoji="1" lang="zh-CN" altLang="en-US" sz="3000" b="1" dirty="0" smtClean="0">
                <a:solidFill>
                  <a:srgbClr val="000000"/>
                </a:solidFill>
                <a:latin typeface="Times New Roman" panose="02020603050405020304" pitchFamily="18" charset="0"/>
                <a:ea typeface="楷体_GB2312" pitchFamily="49" charset="-122"/>
              </a:rPr>
              <a:t>         注意： 物质的</a:t>
            </a:r>
            <a:r>
              <a:rPr kumimoji="1" lang="zh-CN" altLang="en-US" sz="3000" b="1" i="1" dirty="0" smtClean="0">
                <a:solidFill>
                  <a:srgbClr val="0000FF"/>
                </a:solidFill>
                <a:latin typeface="Times New Roman" panose="02020603050405020304" pitchFamily="18" charset="0"/>
                <a:ea typeface="楷体_GB2312" pitchFamily="49" charset="-122"/>
              </a:rPr>
              <a:t>聚集状态、正负号，</a:t>
            </a:r>
            <a:r>
              <a:rPr kumimoji="1" lang="zh-CN" altLang="en-US" sz="3000" b="1" dirty="0" smtClean="0">
                <a:latin typeface="Times New Roman" panose="02020603050405020304" pitchFamily="18" charset="0"/>
                <a:ea typeface="楷体_GB2312" pitchFamily="49" charset="-122"/>
              </a:rPr>
              <a:t>一般来说，负值越大越稳定（后面），如：</a:t>
            </a:r>
            <a:endParaRPr kumimoji="1" lang="en-US" altLang="zh-CN" sz="3000" b="1" dirty="0" smtClean="0">
              <a:latin typeface="Times New Roman" panose="02020603050405020304" pitchFamily="18" charset="0"/>
              <a:ea typeface="楷体_GB2312" pitchFamily="49" charset="-122"/>
            </a:endParaRPr>
          </a:p>
          <a:p>
            <a:pPr algn="ctr" eaLnBrk="0" fontAlgn="base" hangingPunct="0">
              <a:lnSpc>
                <a:spcPct val="80000"/>
              </a:lnSpc>
              <a:spcBef>
                <a:spcPct val="50000"/>
              </a:spcBef>
              <a:spcAft>
                <a:spcPct val="0"/>
              </a:spcAft>
            </a:pPr>
            <a:r>
              <a:rPr kumimoji="1" lang="en-US" altLang="zh-CN" sz="3000" b="1" dirty="0" smtClean="0">
                <a:solidFill>
                  <a:srgbClr val="000000"/>
                </a:solidFill>
                <a:latin typeface="Times New Roman" panose="02020603050405020304" pitchFamily="18" charset="0"/>
                <a:ea typeface="楷体_GB2312" pitchFamily="49" charset="-122"/>
              </a:rPr>
              <a:t>H</a:t>
            </a:r>
            <a:r>
              <a:rPr kumimoji="1" lang="en-US" altLang="zh-CN" sz="3000" b="1" baseline="-25000" dirty="0" smtClean="0">
                <a:solidFill>
                  <a:srgbClr val="000000"/>
                </a:solidFill>
                <a:latin typeface="Times New Roman" panose="02020603050405020304" pitchFamily="18" charset="0"/>
                <a:ea typeface="楷体_GB2312" pitchFamily="49" charset="-122"/>
              </a:rPr>
              <a:t>2</a:t>
            </a:r>
            <a:r>
              <a:rPr kumimoji="1" lang="en-US" altLang="zh-CN" sz="3000" b="1" dirty="0" smtClean="0">
                <a:solidFill>
                  <a:srgbClr val="000000"/>
                </a:solidFill>
                <a:latin typeface="Times New Roman" panose="02020603050405020304" pitchFamily="18" charset="0"/>
                <a:ea typeface="楷体_GB2312" pitchFamily="49" charset="-122"/>
              </a:rPr>
              <a:t>O(g) —— </a:t>
            </a:r>
            <a:r>
              <a:rPr kumimoji="1" lang="en-US" altLang="zh-CN" sz="3000" b="1" dirty="0" smtClean="0">
                <a:solidFill>
                  <a:srgbClr val="0000FF"/>
                </a:solidFill>
                <a:latin typeface="Times New Roman" panose="02020603050405020304" pitchFamily="18" charset="0"/>
                <a:ea typeface="楷体_GB2312" pitchFamily="49" charset="-122"/>
              </a:rPr>
              <a:t>–</a:t>
            </a:r>
            <a:r>
              <a:rPr kumimoji="1" lang="en-US" altLang="zh-CN" sz="3000" b="1" dirty="0" smtClean="0">
                <a:solidFill>
                  <a:srgbClr val="000000"/>
                </a:solidFill>
                <a:latin typeface="Times New Roman" panose="02020603050405020304" pitchFamily="18" charset="0"/>
                <a:ea typeface="楷体_GB2312" pitchFamily="49" charset="-122"/>
              </a:rPr>
              <a:t>241.8 kJ ·mol</a:t>
            </a:r>
            <a:r>
              <a:rPr kumimoji="1" lang="en-US" altLang="zh-CN" sz="3000" b="1" baseline="30000" dirty="0" smtClean="0">
                <a:solidFill>
                  <a:srgbClr val="000000"/>
                </a:solidFill>
                <a:latin typeface="Times New Roman" panose="02020603050405020304" pitchFamily="18" charset="0"/>
                <a:ea typeface="楷体_GB2312" pitchFamily="49" charset="-122"/>
              </a:rPr>
              <a:t>-1</a:t>
            </a:r>
            <a:endParaRPr kumimoji="1" lang="en-US" altLang="zh-CN" sz="3000" b="1" dirty="0" smtClean="0">
              <a:solidFill>
                <a:srgbClr val="0000FF"/>
              </a:solidFill>
              <a:latin typeface="Times New Roman" panose="02020603050405020304" pitchFamily="18" charset="0"/>
              <a:ea typeface="楷体_GB2312" pitchFamily="49" charset="-122"/>
            </a:endParaRPr>
          </a:p>
          <a:p>
            <a:pPr eaLnBrk="0" fontAlgn="base" hangingPunct="0">
              <a:lnSpc>
                <a:spcPct val="80000"/>
              </a:lnSpc>
              <a:spcBef>
                <a:spcPct val="50000"/>
              </a:spcBef>
              <a:spcAft>
                <a:spcPct val="0"/>
              </a:spcAft>
            </a:pPr>
            <a:r>
              <a:rPr kumimoji="1" lang="en-US" altLang="zh-CN" sz="3000" b="1" dirty="0" smtClean="0">
                <a:solidFill>
                  <a:srgbClr val="000000"/>
                </a:solidFill>
                <a:latin typeface="Times New Roman" panose="02020603050405020304" pitchFamily="18" charset="0"/>
                <a:ea typeface="楷体_GB2312" pitchFamily="49" charset="-122"/>
              </a:rPr>
              <a:t>                   +</a:t>
            </a:r>
            <a:r>
              <a:rPr kumimoji="1" lang="zh-CN" altLang="en-US" sz="3000" b="1" dirty="0" smtClean="0">
                <a:solidFill>
                  <a:srgbClr val="000000"/>
                </a:solidFill>
                <a:latin typeface="Times New Roman" panose="02020603050405020304" pitchFamily="18" charset="0"/>
                <a:ea typeface="楷体_GB2312" pitchFamily="49" charset="-122"/>
              </a:rPr>
              <a:t>各物质的</a:t>
            </a:r>
            <a:r>
              <a:rPr kumimoji="1" lang="zh-CN" altLang="en-US" sz="3000" b="1" i="1" dirty="0" smtClean="0">
                <a:solidFill>
                  <a:srgbClr val="0000FF"/>
                </a:solidFill>
                <a:latin typeface="Times New Roman" panose="02020603050405020304" pitchFamily="18" charset="0"/>
                <a:ea typeface="楷体_GB2312" pitchFamily="49" charset="-122"/>
                <a:sym typeface="Symbol" panose="05050102010706020507" pitchFamily="18" charset="2"/>
              </a:rPr>
              <a:t>计量系数</a:t>
            </a:r>
            <a:r>
              <a:rPr kumimoji="1" lang="el-GR" altLang="zh-CN" sz="3000" b="1" i="1" dirty="0" smtClean="0">
                <a:solidFill>
                  <a:srgbClr val="0000FF"/>
                </a:solidFill>
                <a:latin typeface="Times New Roman" panose="02020603050405020304" pitchFamily="18" charset="0"/>
                <a:ea typeface="楷体_GB2312" pitchFamily="49" charset="-122"/>
                <a:sym typeface="Symbol" panose="05050102010706020507" pitchFamily="18" charset="2"/>
              </a:rPr>
              <a:t>ν</a:t>
            </a:r>
            <a:r>
              <a:rPr kumimoji="1" lang="en-US" altLang="zh-CN" sz="3000" b="1" i="1" dirty="0" smtClean="0">
                <a:solidFill>
                  <a:srgbClr val="0000FF"/>
                </a:solidFill>
                <a:latin typeface="Times New Roman" panose="02020603050405020304" pitchFamily="18" charset="0"/>
                <a:ea typeface="楷体_GB2312" pitchFamily="49" charset="-122"/>
                <a:sym typeface="Symbol" panose="05050102010706020507" pitchFamily="18" charset="2"/>
              </a:rPr>
              <a:t> </a:t>
            </a:r>
            <a:r>
              <a:rPr kumimoji="1" lang="en-US" altLang="zh-CN" sz="3000" b="1" i="1" baseline="-25000" dirty="0" smtClean="0">
                <a:solidFill>
                  <a:srgbClr val="0000FF"/>
                </a:solidFill>
                <a:latin typeface="Times New Roman" panose="02020603050405020304" pitchFamily="18" charset="0"/>
                <a:ea typeface="楷体_GB2312" pitchFamily="49" charset="-122"/>
                <a:sym typeface="Symbol" panose="05050102010706020507" pitchFamily="18" charset="2"/>
              </a:rPr>
              <a:t>B</a:t>
            </a:r>
            <a:r>
              <a:rPr kumimoji="1" lang="en-US" altLang="zh-CN" sz="3000" b="1" i="1" dirty="0" smtClean="0">
                <a:solidFill>
                  <a:srgbClr val="0000FF"/>
                </a:solidFill>
                <a:latin typeface="Times New Roman" panose="02020603050405020304" pitchFamily="18" charset="0"/>
                <a:ea typeface="楷体_GB2312" pitchFamily="49" charset="-122"/>
                <a:sym typeface="Symbol" panose="05050102010706020507" pitchFamily="18" charset="2"/>
              </a:rPr>
              <a:t>B</a:t>
            </a:r>
            <a:endParaRPr kumimoji="1" lang="zh-CN" altLang="en-US" sz="3000" b="1" i="1" dirty="0" smtClean="0">
              <a:solidFill>
                <a:srgbClr val="0000FF"/>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562"/>
                                        </p:tgtEl>
                                        <p:attrNameLst>
                                          <p:attrName>style.visibility</p:attrName>
                                        </p:attrNameLst>
                                      </p:cBhvr>
                                      <p:to>
                                        <p:strVal val="visible"/>
                                      </p:to>
                                    </p:set>
                                    <p:anim calcmode="lin" valueType="num">
                                      <p:cBhvr additive="base">
                                        <p:cTn id="7" dur="500" fill="hold"/>
                                        <p:tgtEl>
                                          <p:spTgt spid="66562"/>
                                        </p:tgtEl>
                                        <p:attrNameLst>
                                          <p:attrName>ppt_x</p:attrName>
                                        </p:attrNameLst>
                                      </p:cBhvr>
                                      <p:tavLst>
                                        <p:tav tm="0">
                                          <p:val>
                                            <p:strVal val="#ppt_x"/>
                                          </p:val>
                                        </p:tav>
                                        <p:tav tm="100000">
                                          <p:val>
                                            <p:strVal val="#ppt_x"/>
                                          </p:val>
                                        </p:tav>
                                      </p:tavLst>
                                    </p:anim>
                                    <p:anim calcmode="lin" valueType="num">
                                      <p:cBhvr additive="base">
                                        <p:cTn id="8" dur="500" fill="hold"/>
                                        <p:tgtEl>
                                          <p:spTgt spid="665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6563"/>
                                        </p:tgtEl>
                                        <p:attrNameLst>
                                          <p:attrName>style.visibility</p:attrName>
                                        </p:attrNameLst>
                                      </p:cBhvr>
                                      <p:to>
                                        <p:strVal val="visible"/>
                                      </p:to>
                                    </p:set>
                                    <p:anim calcmode="lin" valueType="num">
                                      <p:cBhvr additive="base">
                                        <p:cTn id="13" dur="500" fill="hold"/>
                                        <p:tgtEl>
                                          <p:spTgt spid="66563"/>
                                        </p:tgtEl>
                                        <p:attrNameLst>
                                          <p:attrName>ppt_x</p:attrName>
                                        </p:attrNameLst>
                                      </p:cBhvr>
                                      <p:tavLst>
                                        <p:tav tm="0">
                                          <p:val>
                                            <p:strVal val="#ppt_x"/>
                                          </p:val>
                                        </p:tav>
                                        <p:tav tm="100000">
                                          <p:val>
                                            <p:strVal val="#ppt_x"/>
                                          </p:val>
                                        </p:tav>
                                      </p:tavLst>
                                    </p:anim>
                                    <p:anim calcmode="lin" valueType="num">
                                      <p:cBhvr additive="base">
                                        <p:cTn id="14" dur="500" fill="hold"/>
                                        <p:tgtEl>
                                          <p:spTgt spid="665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14282" y="214290"/>
            <a:ext cx="8858312" cy="3693319"/>
            <a:chOff x="214282" y="214290"/>
            <a:chExt cx="8858312" cy="3693319"/>
          </a:xfrm>
        </p:grpSpPr>
        <p:sp>
          <p:nvSpPr>
            <p:cNvPr id="7" name="矩形 6"/>
            <p:cNvSpPr/>
            <p:nvPr/>
          </p:nvSpPr>
          <p:spPr>
            <a:xfrm>
              <a:off x="214282" y="214290"/>
              <a:ext cx="8858312" cy="3693319"/>
            </a:xfrm>
            <a:prstGeom prst="rect">
              <a:avLst/>
            </a:prstGeom>
          </p:spPr>
          <p:txBody>
            <a:bodyPr wrap="square">
              <a:spAutoFit/>
            </a:bodyPr>
            <a:lstStyle/>
            <a:p>
              <a:pPr lvl="0" indent="1676400" fontAlgn="base">
                <a:spcBef>
                  <a:spcPct val="0"/>
                </a:spcBef>
                <a:spcAft>
                  <a:spcPct val="0"/>
                </a:spcAft>
              </a:pPr>
              <a:r>
                <a:rPr lang="zh-CN" altLang="en-US" sz="2600" dirty="0" smtClean="0">
                  <a:solidFill>
                    <a:srgbClr val="000000"/>
                  </a:solidFill>
                  <a:latin typeface="Times New Roman" panose="02020603050405020304"/>
                  <a:ea typeface="楷体_GB2312"/>
                  <a:cs typeface="Times New Roman" panose="02020603050405020304" pitchFamily="18" charset="0"/>
                </a:rPr>
                <a:t>已知下列反应及数据</a:t>
              </a:r>
              <a:r>
                <a:rPr lang="en-US" altLang="zh-CN" sz="2600" dirty="0" smtClean="0">
                  <a:solidFill>
                    <a:srgbClr val="000000"/>
                  </a:solidFill>
                  <a:latin typeface="Times New Roman" panose="02020603050405020304"/>
                  <a:ea typeface="楷体_GB2312"/>
                  <a:cs typeface="Times New Roman" panose="02020603050405020304" pitchFamily="18" charset="0"/>
                </a:rPr>
                <a:t>:</a:t>
              </a:r>
              <a:endParaRPr lang="zh-CN" altLang="en-US" sz="2600" dirty="0" smtClean="0">
                <a:solidFill>
                  <a:srgbClr val="000000"/>
                </a:solidFill>
                <a:latin typeface="Times New Roman" panose="02020603050405020304"/>
                <a:ea typeface="宋体" panose="02010600030101010101" pitchFamily="2" charset="-122"/>
                <a:cs typeface="宋体" panose="02010600030101010101" pitchFamily="2" charset="-122"/>
              </a:endParaRPr>
            </a:p>
            <a:p>
              <a:pPr lvl="0" indent="1676400" eaLnBrk="0" fontAlgn="base" hangingPunct="0">
                <a:spcBef>
                  <a:spcPct val="0"/>
                </a:spcBef>
                <a:spcAft>
                  <a:spcPct val="0"/>
                </a:spcAft>
              </a:pPr>
              <a:r>
                <a:rPr lang="en-US" altLang="zh-CN" sz="2600" b="1" i="1" dirty="0" smtClean="0">
                  <a:solidFill>
                    <a:srgbClr val="000000"/>
                  </a:solidFill>
                  <a:latin typeface="Times New Roman" panose="02020603050405020304"/>
                  <a:ea typeface="楷体_GB2312"/>
                  <a:cs typeface="Times New Roman" panose="02020603050405020304" pitchFamily="18" charset="0"/>
                </a:rPr>
                <a:t>(1) Fe</a:t>
              </a:r>
              <a:r>
                <a:rPr lang="en-US" altLang="zh-CN" sz="2600" b="1" i="1" baseline="-30000" dirty="0" smtClean="0">
                  <a:solidFill>
                    <a:srgbClr val="000000"/>
                  </a:solidFill>
                  <a:latin typeface="Times New Roman" panose="02020603050405020304"/>
                  <a:ea typeface="楷体_GB2312"/>
                  <a:cs typeface="Times New Roman" panose="02020603050405020304" pitchFamily="18" charset="0"/>
                </a:rPr>
                <a:t>2</a:t>
              </a:r>
              <a:r>
                <a:rPr lang="en-US" altLang="zh-CN" sz="2600" b="1" i="1" dirty="0" smtClean="0">
                  <a:solidFill>
                    <a:srgbClr val="000000"/>
                  </a:solidFill>
                  <a:latin typeface="Times New Roman" panose="02020603050405020304"/>
                  <a:ea typeface="楷体_GB2312"/>
                  <a:cs typeface="Times New Roman" panose="02020603050405020304" pitchFamily="18" charset="0"/>
                </a:rPr>
                <a:t>O</a:t>
              </a:r>
              <a:r>
                <a:rPr lang="en-US" altLang="zh-CN" sz="2600" b="1" i="1" baseline="-30000" dirty="0" smtClean="0">
                  <a:solidFill>
                    <a:srgbClr val="000000"/>
                  </a:solidFill>
                  <a:latin typeface="Times New Roman" panose="02020603050405020304"/>
                  <a:ea typeface="楷体_GB2312"/>
                  <a:cs typeface="Times New Roman" panose="02020603050405020304" pitchFamily="18" charset="0"/>
                </a:rPr>
                <a:t>3</a:t>
              </a:r>
              <a:r>
                <a:rPr lang="en-US" altLang="zh-CN" sz="2600" b="1" i="1" dirty="0" smtClean="0">
                  <a:solidFill>
                    <a:srgbClr val="000000"/>
                  </a:solidFill>
                  <a:latin typeface="Times New Roman" panose="02020603050405020304"/>
                  <a:ea typeface="楷体_GB2312"/>
                  <a:cs typeface="Times New Roman" panose="02020603050405020304" pitchFamily="18" charset="0"/>
                </a:rPr>
                <a:t>(s) + 3CO(g) → 2Fe(s) + 3CO</a:t>
              </a:r>
              <a:r>
                <a:rPr lang="en-US" altLang="zh-CN" sz="2600" b="1" i="1" baseline="-30000" dirty="0" smtClean="0">
                  <a:solidFill>
                    <a:srgbClr val="000000"/>
                  </a:solidFill>
                  <a:latin typeface="Times New Roman" panose="02020603050405020304"/>
                  <a:ea typeface="楷体_GB2312"/>
                  <a:cs typeface="Times New Roman" panose="02020603050405020304" pitchFamily="18" charset="0"/>
                </a:rPr>
                <a:t>2</a:t>
              </a:r>
              <a:r>
                <a:rPr lang="en-US" altLang="zh-CN" sz="2600" b="1" i="1" dirty="0" smtClean="0">
                  <a:solidFill>
                    <a:srgbClr val="000000"/>
                  </a:solidFill>
                  <a:latin typeface="Times New Roman" panose="02020603050405020304"/>
                  <a:ea typeface="楷体_GB2312"/>
                  <a:cs typeface="Times New Roman" panose="02020603050405020304" pitchFamily="18" charset="0"/>
                </a:rPr>
                <a:t>(g)</a:t>
              </a:r>
              <a:r>
                <a:rPr lang="zh-CN" altLang="en-US" sz="2600" b="1" i="1" dirty="0" smtClean="0">
                  <a:solidFill>
                    <a:srgbClr val="000000"/>
                  </a:solidFill>
                  <a:latin typeface="Times New Roman" panose="02020603050405020304"/>
                  <a:ea typeface="楷体_GB2312"/>
                  <a:cs typeface="Times New Roman" panose="02020603050405020304" pitchFamily="18" charset="0"/>
                </a:rPr>
                <a:t>，</a:t>
              </a:r>
              <a:endParaRPr lang="zh-CN" altLang="en-US" sz="2600" b="1" i="1" dirty="0" smtClean="0">
                <a:solidFill>
                  <a:srgbClr val="000000"/>
                </a:solidFill>
                <a:latin typeface="Times New Roman" panose="02020603050405020304"/>
                <a:ea typeface="宋体" panose="02010600030101010101" pitchFamily="2" charset="-122"/>
                <a:cs typeface="宋体" panose="02010600030101010101" pitchFamily="2" charset="-122"/>
              </a:endParaRPr>
            </a:p>
            <a:p>
              <a:pPr lvl="0" indent="1676400" eaLnBrk="0" fontAlgn="base" hangingPunct="0">
                <a:spcBef>
                  <a:spcPct val="0"/>
                </a:spcBef>
                <a:spcAft>
                  <a:spcPct val="0"/>
                </a:spcAft>
              </a:pPr>
              <a:r>
                <a:rPr lang="zh-CN" altLang="en-US" sz="2600" dirty="0" smtClean="0">
                  <a:solidFill>
                    <a:srgbClr val="000000"/>
                  </a:solidFill>
                  <a:latin typeface="Times New Roman" panose="02020603050405020304"/>
                  <a:ea typeface="楷体_GB2312"/>
                  <a:cs typeface="Times New Roman" panose="02020603050405020304" pitchFamily="18" charset="0"/>
                </a:rPr>
                <a:t>                              ∆</a:t>
              </a:r>
              <a:r>
                <a:rPr lang="en-US" altLang="zh-CN" sz="2600" baseline="-30000" dirty="0" err="1" smtClean="0">
                  <a:solidFill>
                    <a:srgbClr val="000000"/>
                  </a:solidFill>
                  <a:latin typeface="Times New Roman" panose="02020603050405020304"/>
                  <a:ea typeface="楷体_GB2312"/>
                  <a:cs typeface="Times New Roman" panose="02020603050405020304" pitchFamily="18" charset="0"/>
                </a:rPr>
                <a:t>r</a:t>
              </a:r>
              <a:r>
                <a:rPr lang="en-US" altLang="zh-CN" sz="2600" dirty="0" err="1" smtClean="0">
                  <a:solidFill>
                    <a:srgbClr val="000000"/>
                  </a:solidFill>
                  <a:latin typeface="Times New Roman" panose="02020603050405020304"/>
                  <a:ea typeface="楷体_GB2312"/>
                  <a:cs typeface="Times New Roman" panose="02020603050405020304" pitchFamily="18" charset="0"/>
                </a:rPr>
                <a:t>H</a:t>
              </a:r>
              <a:r>
                <a:rPr lang="en-US" altLang="zh-CN" sz="2600" baseline="-30000" dirty="0" err="1" smtClean="0">
                  <a:solidFill>
                    <a:srgbClr val="000000"/>
                  </a:solidFill>
                  <a:latin typeface="Times New Roman" panose="02020603050405020304"/>
                  <a:ea typeface="楷体_GB2312"/>
                  <a:cs typeface="Times New Roman" panose="02020603050405020304" pitchFamily="18" charset="0"/>
                </a:rPr>
                <a:t>m</a:t>
              </a:r>
              <a:r>
                <a:rPr lang="en-US" altLang="zh-CN" sz="2600" baseline="30000" dirty="0" err="1" smtClean="0">
                  <a:solidFill>
                    <a:srgbClr val="000000"/>
                  </a:solidFill>
                  <a:latin typeface="Times New Roman" panose="02020603050405020304"/>
                  <a:ea typeface="楷体_GB2312"/>
                  <a:cs typeface="Times New Roman" panose="02020603050405020304" pitchFamily="18" charset="0"/>
                </a:rPr>
                <a:t>Θ</a:t>
              </a:r>
              <a:r>
                <a:rPr lang="en-US" altLang="zh-CN" sz="2600" dirty="0" smtClean="0">
                  <a:solidFill>
                    <a:srgbClr val="000000"/>
                  </a:solidFill>
                  <a:latin typeface="Times New Roman" panose="02020603050405020304"/>
                  <a:ea typeface="楷体_GB2312"/>
                  <a:cs typeface="Times New Roman" panose="02020603050405020304" pitchFamily="18" charset="0"/>
                </a:rPr>
                <a:t> </a:t>
              </a:r>
              <a:r>
                <a:rPr lang="el-GR" altLang="zh-CN" sz="2600" dirty="0" smtClean="0">
                  <a:solidFill>
                    <a:srgbClr val="000000"/>
                  </a:solidFill>
                  <a:latin typeface="Times New Roman" panose="02020603050405020304"/>
                  <a:ea typeface="楷体" panose="02010609060101010101" pitchFamily="49" charset="-122"/>
                  <a:cs typeface="Times New Roman" panose="02020603050405020304" pitchFamily="18" charset="0"/>
                </a:rPr>
                <a:t>= </a:t>
              </a:r>
              <a:r>
                <a:rPr lang="zh-CN" altLang="el-GR" sz="2600" b="1" dirty="0" smtClean="0">
                  <a:solidFill>
                    <a:srgbClr val="FF0000"/>
                  </a:solidFill>
                  <a:latin typeface="Times New Roman" panose="02020603050405020304"/>
                  <a:ea typeface="楷体_GB2312"/>
                  <a:cs typeface="Times New Roman" panose="02020603050405020304" pitchFamily="18" charset="0"/>
                </a:rPr>
                <a:t>－</a:t>
              </a:r>
              <a:r>
                <a:rPr lang="en-US" altLang="zh-CN" sz="2600" dirty="0" smtClean="0">
                  <a:solidFill>
                    <a:srgbClr val="000000"/>
                  </a:solidFill>
                  <a:latin typeface="Times New Roman" panose="02020603050405020304"/>
                  <a:ea typeface="楷体" panose="02010609060101010101" pitchFamily="49" charset="-122"/>
                  <a:cs typeface="Times New Roman" panose="02020603050405020304" pitchFamily="18" charset="0"/>
                </a:rPr>
                <a:t>30</a:t>
              </a:r>
              <a:r>
                <a:rPr lang="el-GR" altLang="zh-CN" sz="2600" dirty="0" smtClean="0">
                  <a:solidFill>
                    <a:srgbClr val="000000"/>
                  </a:solidFill>
                  <a:latin typeface="Times New Roman" panose="02020603050405020304"/>
                  <a:ea typeface="楷体" panose="02010609060101010101" pitchFamily="49" charset="-122"/>
                  <a:cs typeface="Times New Roman" panose="02020603050405020304" pitchFamily="18" charset="0"/>
                </a:rPr>
                <a:t>.0</a:t>
              </a:r>
              <a:r>
                <a:rPr lang="pt-BR" altLang="zh-CN" sz="2600" dirty="0" smtClean="0">
                  <a:solidFill>
                    <a:srgbClr val="000000"/>
                  </a:solidFill>
                  <a:latin typeface="Times New Roman" panose="02020603050405020304"/>
                  <a:ea typeface="楷体_GB2312"/>
                  <a:cs typeface="Times New Roman" panose="02020603050405020304" pitchFamily="18" charset="0"/>
                </a:rPr>
                <a:t> kJ•mol</a:t>
              </a:r>
              <a:r>
                <a:rPr lang="pt-BR" altLang="zh-CN" sz="2600" baseline="30000" dirty="0" smtClean="0">
                  <a:solidFill>
                    <a:srgbClr val="000000"/>
                  </a:solidFill>
                  <a:latin typeface="Times New Roman" panose="02020603050405020304"/>
                  <a:ea typeface="楷体_GB2312"/>
                  <a:cs typeface="Times New Roman" panose="02020603050405020304" pitchFamily="18" charset="0"/>
                </a:rPr>
                <a:t>-1</a:t>
              </a:r>
              <a:r>
                <a:rPr lang="zh-CN" altLang="el-GR" sz="2600" dirty="0" smtClean="0">
                  <a:solidFill>
                    <a:srgbClr val="000000"/>
                  </a:solidFill>
                  <a:latin typeface="Times New Roman" panose="02020603050405020304"/>
                  <a:ea typeface="楷体" panose="02010609060101010101" pitchFamily="49" charset="-122"/>
                  <a:cs typeface="Times New Roman" panose="02020603050405020304" pitchFamily="18" charset="0"/>
                </a:rPr>
                <a:t>；</a:t>
              </a:r>
              <a:endParaRPr lang="zh-CN" altLang="el-GR" sz="2600" dirty="0" smtClean="0">
                <a:solidFill>
                  <a:srgbClr val="000000"/>
                </a:solidFill>
                <a:latin typeface="Times New Roman" panose="02020603050405020304"/>
                <a:ea typeface="宋体" panose="02010600030101010101" pitchFamily="2" charset="-122"/>
                <a:cs typeface="宋体" panose="02010600030101010101" pitchFamily="2" charset="-122"/>
              </a:endParaRPr>
            </a:p>
            <a:p>
              <a:pPr lvl="0" indent="1676400" eaLnBrk="0" fontAlgn="base" hangingPunct="0">
                <a:spcBef>
                  <a:spcPct val="0"/>
                </a:spcBef>
                <a:spcAft>
                  <a:spcPct val="0"/>
                </a:spcAft>
              </a:pPr>
              <a:r>
                <a:rPr lang="el-GR" altLang="zh-CN" sz="2600" b="1" i="1" dirty="0" smtClean="0">
                  <a:solidFill>
                    <a:srgbClr val="000000"/>
                  </a:solidFill>
                  <a:latin typeface="Times New Roman" panose="02020603050405020304"/>
                  <a:ea typeface="楷体_GB2312"/>
                  <a:cs typeface="Times New Roman" panose="02020603050405020304" pitchFamily="18" charset="0"/>
                </a:rPr>
                <a:t>(2)3</a:t>
              </a:r>
              <a:r>
                <a:rPr lang="en-US" altLang="zh-CN" sz="2600" b="1" i="1" dirty="0" smtClean="0">
                  <a:solidFill>
                    <a:srgbClr val="000000"/>
                  </a:solidFill>
                  <a:latin typeface="Times New Roman" panose="02020603050405020304"/>
                  <a:ea typeface="楷体_GB2312"/>
                  <a:cs typeface="Times New Roman" panose="02020603050405020304" pitchFamily="18" charset="0"/>
                </a:rPr>
                <a:t>Fe</a:t>
              </a:r>
              <a:r>
                <a:rPr lang="en-US" altLang="zh-CN" sz="2600" b="1" i="1" baseline="-30000" dirty="0" smtClean="0">
                  <a:solidFill>
                    <a:srgbClr val="000000"/>
                  </a:solidFill>
                  <a:latin typeface="Times New Roman" panose="02020603050405020304"/>
                  <a:ea typeface="楷体_GB2312"/>
                  <a:cs typeface="Times New Roman" panose="02020603050405020304" pitchFamily="18" charset="0"/>
                </a:rPr>
                <a:t>2</a:t>
              </a:r>
              <a:r>
                <a:rPr lang="en-US" altLang="zh-CN" sz="2600" b="1" i="1" dirty="0" smtClean="0">
                  <a:solidFill>
                    <a:srgbClr val="000000"/>
                  </a:solidFill>
                  <a:latin typeface="Times New Roman" panose="02020603050405020304"/>
                  <a:ea typeface="楷体_GB2312"/>
                  <a:cs typeface="Times New Roman" panose="02020603050405020304" pitchFamily="18" charset="0"/>
                </a:rPr>
                <a:t>O</a:t>
              </a:r>
              <a:r>
                <a:rPr lang="en-US" altLang="zh-CN" sz="2600" b="1" i="1" baseline="-30000" dirty="0" smtClean="0">
                  <a:solidFill>
                    <a:srgbClr val="000000"/>
                  </a:solidFill>
                  <a:latin typeface="Times New Roman" panose="02020603050405020304"/>
                  <a:ea typeface="楷体_GB2312"/>
                  <a:cs typeface="Times New Roman" panose="02020603050405020304" pitchFamily="18" charset="0"/>
                </a:rPr>
                <a:t>3</a:t>
              </a:r>
              <a:r>
                <a:rPr lang="en-US" altLang="zh-CN" sz="2600" b="1" i="1" dirty="0" smtClean="0">
                  <a:solidFill>
                    <a:srgbClr val="000000"/>
                  </a:solidFill>
                  <a:latin typeface="Times New Roman" panose="02020603050405020304"/>
                  <a:ea typeface="楷体_GB2312"/>
                  <a:cs typeface="Times New Roman" panose="02020603050405020304" pitchFamily="18" charset="0"/>
                </a:rPr>
                <a:t>(s) + CO(g) → 2Fe</a:t>
              </a:r>
              <a:r>
                <a:rPr lang="en-US" altLang="zh-CN" sz="2600" b="1" i="1" baseline="-30000" dirty="0" smtClean="0">
                  <a:solidFill>
                    <a:srgbClr val="000000"/>
                  </a:solidFill>
                  <a:latin typeface="Times New Roman" panose="02020603050405020304"/>
                  <a:ea typeface="楷体_GB2312"/>
                  <a:cs typeface="Times New Roman" panose="02020603050405020304" pitchFamily="18" charset="0"/>
                </a:rPr>
                <a:t>3</a:t>
              </a:r>
              <a:r>
                <a:rPr lang="en-US" altLang="zh-CN" sz="2600" b="1" i="1" dirty="0" smtClean="0">
                  <a:solidFill>
                    <a:srgbClr val="000000"/>
                  </a:solidFill>
                  <a:latin typeface="Times New Roman" panose="02020603050405020304"/>
                  <a:ea typeface="楷体_GB2312"/>
                  <a:cs typeface="Times New Roman" panose="02020603050405020304" pitchFamily="18" charset="0"/>
                </a:rPr>
                <a:t>O</a:t>
              </a:r>
              <a:r>
                <a:rPr lang="en-US" altLang="zh-CN" sz="2600" b="1" i="1" baseline="-30000" dirty="0" smtClean="0">
                  <a:solidFill>
                    <a:srgbClr val="000000"/>
                  </a:solidFill>
                  <a:latin typeface="Times New Roman" panose="02020603050405020304"/>
                  <a:ea typeface="楷体_GB2312"/>
                  <a:cs typeface="Times New Roman" panose="02020603050405020304" pitchFamily="18" charset="0"/>
                </a:rPr>
                <a:t>4</a:t>
              </a:r>
              <a:r>
                <a:rPr lang="en-US" altLang="zh-CN" sz="2600" b="1" i="1" dirty="0" smtClean="0">
                  <a:solidFill>
                    <a:srgbClr val="000000"/>
                  </a:solidFill>
                  <a:latin typeface="Times New Roman" panose="02020603050405020304"/>
                  <a:ea typeface="楷体_GB2312"/>
                  <a:cs typeface="Times New Roman" panose="02020603050405020304" pitchFamily="18" charset="0"/>
                </a:rPr>
                <a:t>(s) + CO</a:t>
              </a:r>
              <a:r>
                <a:rPr lang="en-US" altLang="zh-CN" sz="2600" b="1" i="1" baseline="-30000" dirty="0" smtClean="0">
                  <a:solidFill>
                    <a:srgbClr val="000000"/>
                  </a:solidFill>
                  <a:latin typeface="Times New Roman" panose="02020603050405020304"/>
                  <a:ea typeface="楷体_GB2312"/>
                  <a:cs typeface="Times New Roman" panose="02020603050405020304" pitchFamily="18" charset="0"/>
                </a:rPr>
                <a:t>2</a:t>
              </a:r>
              <a:r>
                <a:rPr lang="en-US" altLang="zh-CN" sz="2600" b="1" i="1" dirty="0" smtClean="0">
                  <a:solidFill>
                    <a:srgbClr val="000000"/>
                  </a:solidFill>
                  <a:latin typeface="Times New Roman" panose="02020603050405020304"/>
                  <a:ea typeface="楷体_GB2312"/>
                  <a:cs typeface="Times New Roman" panose="02020603050405020304" pitchFamily="18" charset="0"/>
                </a:rPr>
                <a:t>(g)</a:t>
              </a:r>
              <a:r>
                <a:rPr lang="zh-CN" altLang="en-US" sz="2600" b="1" i="1" dirty="0" smtClean="0">
                  <a:solidFill>
                    <a:srgbClr val="000000"/>
                  </a:solidFill>
                  <a:latin typeface="Times New Roman" panose="02020603050405020304"/>
                  <a:ea typeface="楷体_GB2312"/>
                  <a:cs typeface="Times New Roman" panose="02020603050405020304" pitchFamily="18" charset="0"/>
                </a:rPr>
                <a:t>，</a:t>
              </a:r>
              <a:r>
                <a:rPr lang="zh-CN" altLang="el-GR" sz="2600" b="1" i="1" dirty="0" smtClean="0">
                  <a:solidFill>
                    <a:srgbClr val="000000"/>
                  </a:solidFill>
                  <a:latin typeface="Times New Roman" panose="02020603050405020304"/>
                  <a:ea typeface="楷体_GB2312"/>
                  <a:cs typeface="Times New Roman" panose="02020603050405020304" pitchFamily="18" charset="0"/>
                </a:rPr>
                <a:t>  </a:t>
              </a:r>
              <a:endParaRPr lang="zh-CN" altLang="el-GR" sz="2600" b="1" i="1" dirty="0" smtClean="0">
                <a:solidFill>
                  <a:srgbClr val="000000"/>
                </a:solidFill>
                <a:latin typeface="Times New Roman" panose="02020603050405020304"/>
                <a:ea typeface="宋体" panose="02010600030101010101" pitchFamily="2" charset="-122"/>
                <a:cs typeface="宋体" panose="02010600030101010101" pitchFamily="2" charset="-122"/>
              </a:endParaRPr>
            </a:p>
            <a:p>
              <a:pPr lvl="0" indent="1676400" eaLnBrk="0" fontAlgn="base" hangingPunct="0">
                <a:spcBef>
                  <a:spcPct val="0"/>
                </a:spcBef>
                <a:spcAft>
                  <a:spcPct val="0"/>
                </a:spcAft>
              </a:pPr>
              <a:r>
                <a:rPr lang="en-US" altLang="zh-CN" sz="2600" dirty="0" smtClean="0">
                  <a:solidFill>
                    <a:srgbClr val="000000"/>
                  </a:solidFill>
                  <a:latin typeface="Times New Roman" panose="02020603050405020304"/>
                  <a:ea typeface="楷体_GB2312"/>
                  <a:cs typeface="Times New Roman" panose="02020603050405020304" pitchFamily="18" charset="0"/>
                </a:rPr>
                <a:t>                               </a:t>
              </a:r>
              <a:r>
                <a:rPr lang="zh-CN" altLang="el-GR" sz="2600" dirty="0" smtClean="0">
                  <a:solidFill>
                    <a:srgbClr val="000000"/>
                  </a:solidFill>
                  <a:latin typeface="Times New Roman" panose="02020603050405020304"/>
                  <a:ea typeface="楷体_GB2312"/>
                  <a:cs typeface="Times New Roman" panose="02020603050405020304" pitchFamily="18" charset="0"/>
                </a:rPr>
                <a:t>∆</a:t>
              </a:r>
              <a:r>
                <a:rPr lang="en-US" altLang="zh-CN" sz="2600" baseline="-30000" dirty="0" err="1" smtClean="0">
                  <a:solidFill>
                    <a:srgbClr val="000000"/>
                  </a:solidFill>
                  <a:latin typeface="Times New Roman" panose="02020603050405020304"/>
                  <a:ea typeface="楷体_GB2312"/>
                  <a:cs typeface="Times New Roman" panose="02020603050405020304" pitchFamily="18" charset="0"/>
                </a:rPr>
                <a:t>r</a:t>
              </a:r>
              <a:r>
                <a:rPr lang="en-US" altLang="zh-CN" sz="2600" dirty="0" err="1" smtClean="0">
                  <a:solidFill>
                    <a:srgbClr val="000000"/>
                  </a:solidFill>
                  <a:latin typeface="Times New Roman" panose="02020603050405020304"/>
                  <a:ea typeface="楷体_GB2312"/>
                  <a:cs typeface="Times New Roman" panose="02020603050405020304" pitchFamily="18" charset="0"/>
                </a:rPr>
                <a:t>H</a:t>
              </a:r>
              <a:r>
                <a:rPr lang="en-US" altLang="zh-CN" sz="2600" baseline="-30000" dirty="0" err="1" smtClean="0">
                  <a:solidFill>
                    <a:srgbClr val="000000"/>
                  </a:solidFill>
                  <a:latin typeface="Times New Roman" panose="02020603050405020304"/>
                  <a:ea typeface="楷体_GB2312"/>
                  <a:cs typeface="Times New Roman" panose="02020603050405020304" pitchFamily="18" charset="0"/>
                </a:rPr>
                <a:t>m</a:t>
              </a:r>
              <a:r>
                <a:rPr lang="el-GR" altLang="zh-CN" sz="2600" baseline="30000" dirty="0" smtClean="0">
                  <a:solidFill>
                    <a:srgbClr val="000000"/>
                  </a:solidFill>
                  <a:latin typeface="Times New Roman" panose="02020603050405020304"/>
                  <a:ea typeface="楷体_GB2312"/>
                  <a:cs typeface="Times New Roman" panose="02020603050405020304" pitchFamily="18" charset="0"/>
                </a:rPr>
                <a:t>Θ</a:t>
              </a:r>
              <a:r>
                <a:rPr lang="el-GR" altLang="zh-CN" sz="2600" dirty="0" smtClean="0">
                  <a:solidFill>
                    <a:srgbClr val="000000"/>
                  </a:solidFill>
                  <a:latin typeface="Times New Roman" panose="02020603050405020304"/>
                  <a:ea typeface="楷体_GB2312"/>
                  <a:cs typeface="Times New Roman" panose="02020603050405020304" pitchFamily="18" charset="0"/>
                </a:rPr>
                <a:t> </a:t>
              </a:r>
              <a:r>
                <a:rPr lang="el-GR" altLang="zh-CN" sz="2600" dirty="0" smtClean="0">
                  <a:solidFill>
                    <a:srgbClr val="000000"/>
                  </a:solidFill>
                  <a:latin typeface="Times New Roman" panose="02020603050405020304"/>
                  <a:ea typeface="楷体" panose="02010609060101010101" pitchFamily="49" charset="-122"/>
                  <a:cs typeface="Times New Roman" panose="02020603050405020304" pitchFamily="18" charset="0"/>
                </a:rPr>
                <a:t>= </a:t>
              </a:r>
              <a:r>
                <a:rPr lang="zh-CN" altLang="el-GR" sz="2600" b="1" dirty="0" smtClean="0">
                  <a:solidFill>
                    <a:srgbClr val="FF0000"/>
                  </a:solidFill>
                  <a:latin typeface="Times New Roman" panose="02020603050405020304"/>
                  <a:ea typeface="楷体_GB2312"/>
                  <a:cs typeface="Times New Roman" panose="02020603050405020304" pitchFamily="18" charset="0"/>
                </a:rPr>
                <a:t>－</a:t>
              </a:r>
              <a:r>
                <a:rPr lang="en-US" altLang="zh-CN" sz="2600" dirty="0" smtClean="0">
                  <a:solidFill>
                    <a:srgbClr val="000000"/>
                  </a:solidFill>
                  <a:latin typeface="Times New Roman" panose="02020603050405020304"/>
                  <a:ea typeface="楷体" panose="02010609060101010101" pitchFamily="49" charset="-122"/>
                  <a:cs typeface="Times New Roman" panose="02020603050405020304" pitchFamily="18" charset="0"/>
                </a:rPr>
                <a:t>60</a:t>
              </a:r>
              <a:r>
                <a:rPr lang="el-GR" altLang="zh-CN" sz="2600" dirty="0" smtClean="0">
                  <a:solidFill>
                    <a:srgbClr val="000000"/>
                  </a:solidFill>
                  <a:latin typeface="Times New Roman" panose="02020603050405020304"/>
                  <a:ea typeface="楷体" panose="02010609060101010101" pitchFamily="49" charset="-122"/>
                  <a:cs typeface="Times New Roman" panose="02020603050405020304" pitchFamily="18" charset="0"/>
                </a:rPr>
                <a:t>.0</a:t>
              </a:r>
              <a:r>
                <a:rPr lang="pt-BR" altLang="zh-CN" sz="2600" dirty="0" smtClean="0">
                  <a:solidFill>
                    <a:srgbClr val="000000"/>
                  </a:solidFill>
                  <a:latin typeface="Times New Roman" panose="02020603050405020304"/>
                  <a:ea typeface="楷体_GB2312"/>
                  <a:cs typeface="Times New Roman" panose="02020603050405020304" pitchFamily="18" charset="0"/>
                </a:rPr>
                <a:t> kJ•mol</a:t>
              </a:r>
              <a:r>
                <a:rPr lang="pt-BR" altLang="zh-CN" sz="2600" baseline="30000" dirty="0" smtClean="0">
                  <a:solidFill>
                    <a:srgbClr val="000000"/>
                  </a:solidFill>
                  <a:latin typeface="Times New Roman" panose="02020603050405020304"/>
                  <a:ea typeface="楷体_GB2312"/>
                  <a:cs typeface="Times New Roman" panose="02020603050405020304" pitchFamily="18" charset="0"/>
                </a:rPr>
                <a:t>-1</a:t>
              </a:r>
              <a:r>
                <a:rPr lang="zh-CN" altLang="el-GR" sz="2600" dirty="0" smtClean="0">
                  <a:solidFill>
                    <a:srgbClr val="000000"/>
                  </a:solidFill>
                  <a:latin typeface="Times New Roman" panose="02020603050405020304"/>
                  <a:ea typeface="楷体" panose="02010609060101010101" pitchFamily="49" charset="-122"/>
                  <a:cs typeface="Times New Roman" panose="02020603050405020304" pitchFamily="18" charset="0"/>
                </a:rPr>
                <a:t>；</a:t>
              </a:r>
              <a:endParaRPr lang="zh-CN" altLang="el-GR" sz="2600" dirty="0" smtClean="0">
                <a:solidFill>
                  <a:srgbClr val="000000"/>
                </a:solidFill>
                <a:latin typeface="Times New Roman" panose="02020603050405020304"/>
                <a:ea typeface="宋体" panose="02010600030101010101" pitchFamily="2" charset="-122"/>
                <a:cs typeface="宋体" panose="02010600030101010101" pitchFamily="2" charset="-122"/>
              </a:endParaRPr>
            </a:p>
            <a:p>
              <a:pPr lvl="0" indent="1676400" eaLnBrk="0" fontAlgn="base" hangingPunct="0">
                <a:spcBef>
                  <a:spcPct val="0"/>
                </a:spcBef>
                <a:spcAft>
                  <a:spcPct val="0"/>
                </a:spcAft>
              </a:pPr>
              <a:r>
                <a:rPr lang="en-US" altLang="zh-CN" sz="2600" b="1" i="1" dirty="0" smtClean="0">
                  <a:solidFill>
                    <a:srgbClr val="000000"/>
                  </a:solidFill>
                  <a:latin typeface="Times New Roman" panose="02020603050405020304"/>
                  <a:ea typeface="楷体_GB2312"/>
                  <a:cs typeface="Times New Roman" panose="02020603050405020304" pitchFamily="18" charset="0"/>
                </a:rPr>
                <a:t>(3) Fe</a:t>
              </a:r>
              <a:r>
                <a:rPr lang="en-US" altLang="zh-CN" sz="2600" b="1" i="1" baseline="-30000" dirty="0" smtClean="0">
                  <a:solidFill>
                    <a:srgbClr val="000000"/>
                  </a:solidFill>
                  <a:latin typeface="Times New Roman" panose="02020603050405020304"/>
                  <a:ea typeface="楷体_GB2312"/>
                  <a:cs typeface="Times New Roman" panose="02020603050405020304" pitchFamily="18" charset="0"/>
                </a:rPr>
                <a:t>3</a:t>
              </a:r>
              <a:r>
                <a:rPr lang="en-US" altLang="zh-CN" sz="2600" b="1" i="1" dirty="0" smtClean="0">
                  <a:solidFill>
                    <a:srgbClr val="000000"/>
                  </a:solidFill>
                  <a:latin typeface="Times New Roman" panose="02020603050405020304"/>
                  <a:ea typeface="楷体_GB2312"/>
                  <a:cs typeface="Times New Roman" panose="02020603050405020304" pitchFamily="18" charset="0"/>
                </a:rPr>
                <a:t>O</a:t>
              </a:r>
              <a:r>
                <a:rPr lang="en-US" altLang="zh-CN" sz="2600" b="1" i="1" baseline="-30000" dirty="0" smtClean="0">
                  <a:solidFill>
                    <a:srgbClr val="000000"/>
                  </a:solidFill>
                  <a:latin typeface="Times New Roman" panose="02020603050405020304"/>
                  <a:ea typeface="楷体_GB2312"/>
                  <a:cs typeface="Times New Roman" panose="02020603050405020304" pitchFamily="18" charset="0"/>
                </a:rPr>
                <a:t>4</a:t>
              </a:r>
              <a:r>
                <a:rPr lang="en-US" altLang="zh-CN" sz="2600" b="1" i="1" dirty="0" smtClean="0">
                  <a:solidFill>
                    <a:srgbClr val="000000"/>
                  </a:solidFill>
                  <a:latin typeface="Times New Roman" panose="02020603050405020304"/>
                  <a:ea typeface="楷体_GB2312"/>
                  <a:cs typeface="Times New Roman" panose="02020603050405020304" pitchFamily="18" charset="0"/>
                </a:rPr>
                <a:t>(s) + CO(g) → 3FeO(s) + CO</a:t>
              </a:r>
              <a:r>
                <a:rPr lang="en-US" altLang="zh-CN" sz="2600" b="1" i="1" baseline="-30000" dirty="0" smtClean="0">
                  <a:solidFill>
                    <a:srgbClr val="000000"/>
                  </a:solidFill>
                  <a:latin typeface="Times New Roman" panose="02020603050405020304"/>
                  <a:ea typeface="楷体_GB2312"/>
                  <a:cs typeface="Times New Roman" panose="02020603050405020304" pitchFamily="18" charset="0"/>
                </a:rPr>
                <a:t>2</a:t>
              </a:r>
              <a:r>
                <a:rPr lang="en-US" altLang="zh-CN" sz="2600" b="1" i="1" dirty="0" smtClean="0">
                  <a:solidFill>
                    <a:srgbClr val="000000"/>
                  </a:solidFill>
                  <a:latin typeface="Times New Roman" panose="02020603050405020304"/>
                  <a:ea typeface="楷体_GB2312"/>
                  <a:cs typeface="Times New Roman" panose="02020603050405020304" pitchFamily="18" charset="0"/>
                </a:rPr>
                <a:t>(g)</a:t>
              </a:r>
              <a:r>
                <a:rPr lang="zh-CN" altLang="en-US" sz="2600" b="1" i="1" dirty="0" smtClean="0">
                  <a:solidFill>
                    <a:srgbClr val="000000"/>
                  </a:solidFill>
                  <a:latin typeface="Times New Roman" panose="02020603050405020304"/>
                  <a:ea typeface="楷体_GB2312"/>
                  <a:cs typeface="Times New Roman" panose="02020603050405020304" pitchFamily="18" charset="0"/>
                </a:rPr>
                <a:t>， </a:t>
              </a:r>
              <a:endParaRPr lang="zh-CN" altLang="en-US" sz="2600" b="1" i="1" dirty="0" smtClean="0">
                <a:solidFill>
                  <a:srgbClr val="000000"/>
                </a:solidFill>
                <a:latin typeface="Times New Roman" panose="02020603050405020304"/>
                <a:ea typeface="宋体" panose="02010600030101010101" pitchFamily="2" charset="-122"/>
                <a:cs typeface="宋体" panose="02010600030101010101" pitchFamily="2" charset="-122"/>
              </a:endParaRPr>
            </a:p>
            <a:p>
              <a:pPr lvl="0" indent="1676400" eaLnBrk="0" fontAlgn="base" hangingPunct="0">
                <a:spcBef>
                  <a:spcPct val="0"/>
                </a:spcBef>
                <a:spcAft>
                  <a:spcPct val="0"/>
                </a:spcAft>
              </a:pPr>
              <a:r>
                <a:rPr lang="zh-CN" altLang="en-US" sz="2600" dirty="0" smtClean="0">
                  <a:solidFill>
                    <a:srgbClr val="000000"/>
                  </a:solidFill>
                  <a:latin typeface="Times New Roman" panose="02020603050405020304"/>
                  <a:ea typeface="楷体_GB2312"/>
                  <a:cs typeface="Times New Roman" panose="02020603050405020304" pitchFamily="18" charset="0"/>
                </a:rPr>
                <a:t>                                 ∆</a:t>
              </a:r>
              <a:r>
                <a:rPr lang="en-US" altLang="zh-CN" sz="2600" baseline="-30000" dirty="0" err="1" smtClean="0">
                  <a:solidFill>
                    <a:srgbClr val="000000"/>
                  </a:solidFill>
                  <a:latin typeface="Times New Roman" panose="02020603050405020304"/>
                  <a:ea typeface="楷体_GB2312"/>
                  <a:cs typeface="Times New Roman" panose="02020603050405020304" pitchFamily="18" charset="0"/>
                </a:rPr>
                <a:t>r</a:t>
              </a:r>
              <a:r>
                <a:rPr lang="en-US" altLang="zh-CN" sz="2600" dirty="0" err="1" smtClean="0">
                  <a:solidFill>
                    <a:srgbClr val="000000"/>
                  </a:solidFill>
                  <a:latin typeface="Times New Roman" panose="02020603050405020304"/>
                  <a:ea typeface="楷体_GB2312"/>
                  <a:cs typeface="Times New Roman" panose="02020603050405020304" pitchFamily="18" charset="0"/>
                </a:rPr>
                <a:t>H</a:t>
              </a:r>
              <a:r>
                <a:rPr lang="en-US" altLang="zh-CN" sz="2600" baseline="-30000" dirty="0" err="1" smtClean="0">
                  <a:solidFill>
                    <a:srgbClr val="000000"/>
                  </a:solidFill>
                  <a:latin typeface="Times New Roman" panose="02020603050405020304"/>
                  <a:ea typeface="楷体_GB2312"/>
                  <a:cs typeface="Times New Roman" panose="02020603050405020304" pitchFamily="18" charset="0"/>
                </a:rPr>
                <a:t>m</a:t>
              </a:r>
              <a:r>
                <a:rPr lang="en-US" altLang="zh-CN" sz="2600" baseline="30000" dirty="0" err="1" smtClean="0">
                  <a:solidFill>
                    <a:srgbClr val="000000"/>
                  </a:solidFill>
                  <a:latin typeface="Times New Roman" panose="02020603050405020304"/>
                  <a:ea typeface="楷体_GB2312"/>
                  <a:cs typeface="Times New Roman" panose="02020603050405020304" pitchFamily="18" charset="0"/>
                </a:rPr>
                <a:t>Θ</a:t>
              </a:r>
              <a:r>
                <a:rPr lang="en-US" altLang="zh-CN" sz="2600" dirty="0" smtClean="0">
                  <a:solidFill>
                    <a:srgbClr val="000000"/>
                  </a:solidFill>
                  <a:latin typeface="Times New Roman" panose="02020603050405020304"/>
                  <a:ea typeface="楷体_GB2312"/>
                  <a:cs typeface="Times New Roman" panose="02020603050405020304" pitchFamily="18" charset="0"/>
                </a:rPr>
                <a:t> </a:t>
              </a:r>
              <a:r>
                <a:rPr lang="el-GR" altLang="zh-CN" sz="2600" dirty="0" smtClean="0">
                  <a:solidFill>
                    <a:srgbClr val="000000"/>
                  </a:solidFill>
                  <a:latin typeface="Times New Roman" panose="02020603050405020304"/>
                  <a:ea typeface="楷体" panose="02010609060101010101" pitchFamily="49" charset="-122"/>
                  <a:cs typeface="Times New Roman" panose="02020603050405020304" pitchFamily="18" charset="0"/>
                </a:rPr>
                <a:t>= </a:t>
              </a:r>
              <a:r>
                <a:rPr lang="en-US" altLang="zh-CN" sz="2600" dirty="0" smtClean="0">
                  <a:solidFill>
                    <a:srgbClr val="000000"/>
                  </a:solidFill>
                  <a:latin typeface="Times New Roman" panose="02020603050405020304"/>
                  <a:ea typeface="楷体" panose="02010609060101010101" pitchFamily="49" charset="-122"/>
                  <a:cs typeface="Times New Roman" panose="02020603050405020304" pitchFamily="18" charset="0"/>
                </a:rPr>
                <a:t>40</a:t>
              </a:r>
              <a:r>
                <a:rPr lang="el-GR" altLang="zh-CN" sz="2600" dirty="0" smtClean="0">
                  <a:solidFill>
                    <a:srgbClr val="000000"/>
                  </a:solidFill>
                  <a:latin typeface="Times New Roman" panose="02020603050405020304"/>
                  <a:ea typeface="楷体" panose="02010609060101010101" pitchFamily="49" charset="-122"/>
                  <a:cs typeface="Times New Roman" panose="02020603050405020304" pitchFamily="18" charset="0"/>
                </a:rPr>
                <a:t>.0</a:t>
              </a:r>
              <a:r>
                <a:rPr lang="pt-BR" altLang="zh-CN" sz="2600" dirty="0" smtClean="0">
                  <a:solidFill>
                    <a:srgbClr val="000000"/>
                  </a:solidFill>
                  <a:latin typeface="Times New Roman" panose="02020603050405020304"/>
                  <a:ea typeface="楷体_GB2312"/>
                  <a:cs typeface="Times New Roman" panose="02020603050405020304" pitchFamily="18" charset="0"/>
                </a:rPr>
                <a:t> kJ•mol</a:t>
              </a:r>
              <a:r>
                <a:rPr lang="pt-BR" altLang="zh-CN" sz="2600" baseline="30000" dirty="0" smtClean="0">
                  <a:solidFill>
                    <a:srgbClr val="000000"/>
                  </a:solidFill>
                  <a:latin typeface="Times New Roman" panose="02020603050405020304"/>
                  <a:ea typeface="楷体_GB2312"/>
                  <a:cs typeface="Times New Roman" panose="02020603050405020304" pitchFamily="18" charset="0"/>
                </a:rPr>
                <a:t>-1</a:t>
              </a:r>
              <a:r>
                <a:rPr lang="zh-CN" altLang="el-GR" sz="2600" dirty="0" smtClean="0">
                  <a:solidFill>
                    <a:srgbClr val="000000"/>
                  </a:solidFill>
                  <a:latin typeface="Times New Roman" panose="02020603050405020304"/>
                  <a:ea typeface="楷体" panose="02010609060101010101" pitchFamily="49" charset="-122"/>
                  <a:cs typeface="Times New Roman" panose="02020603050405020304" pitchFamily="18" charset="0"/>
                </a:rPr>
                <a:t>；</a:t>
              </a:r>
              <a:endParaRPr lang="zh-CN" altLang="el-GR" sz="2600" dirty="0" smtClean="0">
                <a:solidFill>
                  <a:srgbClr val="000000"/>
                </a:solidFill>
                <a:latin typeface="Times New Roman" panose="02020603050405020304"/>
                <a:ea typeface="宋体" panose="02010600030101010101" pitchFamily="2" charset="-122"/>
                <a:cs typeface="宋体" panose="02010600030101010101" pitchFamily="2" charset="-122"/>
              </a:endParaRPr>
            </a:p>
            <a:p>
              <a:pPr lvl="0" indent="1676400" eaLnBrk="0" fontAlgn="base" hangingPunct="0">
                <a:spcBef>
                  <a:spcPct val="0"/>
                </a:spcBef>
                <a:spcAft>
                  <a:spcPct val="0"/>
                </a:spcAft>
              </a:pPr>
              <a:r>
                <a:rPr lang="zh-CN" altLang="el-GR" sz="2600" dirty="0" smtClean="0">
                  <a:solidFill>
                    <a:srgbClr val="000000"/>
                  </a:solidFill>
                  <a:latin typeface="Times New Roman" panose="02020603050405020304"/>
                  <a:ea typeface="楷体" panose="02010609060101010101" pitchFamily="49" charset="-122"/>
                  <a:cs typeface="Times New Roman" panose="02020603050405020304" pitchFamily="18" charset="0"/>
                </a:rPr>
                <a:t>计算下列反应的</a:t>
              </a:r>
              <a:r>
                <a:rPr lang="zh-CN" altLang="el-GR" sz="2600" dirty="0" smtClean="0">
                  <a:solidFill>
                    <a:srgbClr val="000000"/>
                  </a:solidFill>
                  <a:latin typeface="Times New Roman" panose="02020603050405020304"/>
                  <a:ea typeface="楷体_GB2312"/>
                  <a:cs typeface="Times New Roman" panose="02020603050405020304" pitchFamily="18" charset="0"/>
                </a:rPr>
                <a:t>∆</a:t>
              </a:r>
              <a:r>
                <a:rPr lang="en-US" altLang="zh-CN" sz="2600" baseline="-30000" dirty="0" err="1" smtClean="0">
                  <a:solidFill>
                    <a:srgbClr val="000000"/>
                  </a:solidFill>
                  <a:latin typeface="Times New Roman" panose="02020603050405020304"/>
                  <a:ea typeface="楷体_GB2312"/>
                  <a:cs typeface="Times New Roman" panose="02020603050405020304" pitchFamily="18" charset="0"/>
                </a:rPr>
                <a:t>r</a:t>
              </a:r>
              <a:r>
                <a:rPr lang="en-US" altLang="zh-CN" sz="2600" dirty="0" err="1" smtClean="0">
                  <a:solidFill>
                    <a:srgbClr val="000000"/>
                  </a:solidFill>
                  <a:latin typeface="Times New Roman" panose="02020603050405020304"/>
                  <a:ea typeface="楷体_GB2312"/>
                  <a:cs typeface="Times New Roman" panose="02020603050405020304" pitchFamily="18" charset="0"/>
                </a:rPr>
                <a:t>H</a:t>
              </a:r>
              <a:r>
                <a:rPr lang="en-US" altLang="zh-CN" sz="2600" baseline="-30000" dirty="0" err="1" smtClean="0">
                  <a:solidFill>
                    <a:srgbClr val="000000"/>
                  </a:solidFill>
                  <a:latin typeface="Times New Roman" panose="02020603050405020304"/>
                  <a:ea typeface="楷体_GB2312"/>
                  <a:cs typeface="Times New Roman" panose="02020603050405020304" pitchFamily="18" charset="0"/>
                </a:rPr>
                <a:t>m</a:t>
              </a:r>
              <a:r>
                <a:rPr lang="el-GR" altLang="zh-CN" sz="2600" baseline="30000" dirty="0" smtClean="0">
                  <a:solidFill>
                    <a:srgbClr val="000000"/>
                  </a:solidFill>
                  <a:latin typeface="Times New Roman" panose="02020603050405020304"/>
                  <a:ea typeface="楷体_GB2312"/>
                  <a:cs typeface="Times New Roman" panose="02020603050405020304" pitchFamily="18" charset="0"/>
                </a:rPr>
                <a:t>Θ</a:t>
              </a:r>
              <a:r>
                <a:rPr lang="zh-CN" altLang="el-GR" sz="2600" dirty="0" smtClean="0">
                  <a:solidFill>
                    <a:srgbClr val="000000"/>
                  </a:solidFill>
                  <a:latin typeface="Times New Roman" panose="02020603050405020304"/>
                  <a:ea typeface="楷体" panose="02010609060101010101" pitchFamily="49" charset="-122"/>
                  <a:cs typeface="Times New Roman" panose="02020603050405020304" pitchFamily="18" charset="0"/>
                </a:rPr>
                <a:t>：</a:t>
              </a:r>
              <a:endParaRPr lang="zh-CN" altLang="el-GR" sz="2600" dirty="0" smtClean="0">
                <a:solidFill>
                  <a:srgbClr val="000000"/>
                </a:solidFill>
                <a:latin typeface="Times New Roman" panose="02020603050405020304"/>
                <a:ea typeface="宋体" panose="02010600030101010101" pitchFamily="2" charset="-122"/>
                <a:cs typeface="宋体" panose="02010600030101010101" pitchFamily="2" charset="-122"/>
              </a:endParaRPr>
            </a:p>
            <a:p>
              <a:pPr lvl="0" indent="1676400" eaLnBrk="0" fontAlgn="base" hangingPunct="0">
                <a:spcBef>
                  <a:spcPct val="0"/>
                </a:spcBef>
                <a:spcAft>
                  <a:spcPct val="0"/>
                </a:spcAft>
              </a:pPr>
              <a:r>
                <a:rPr lang="en-US" altLang="zh-CN" sz="2600" b="1" i="1" dirty="0" smtClean="0">
                  <a:solidFill>
                    <a:srgbClr val="000000"/>
                  </a:solidFill>
                  <a:latin typeface="Times New Roman" panose="02020603050405020304"/>
                  <a:ea typeface="楷体_GB2312"/>
                  <a:cs typeface="Times New Roman" panose="02020603050405020304" pitchFamily="18" charset="0"/>
                </a:rPr>
                <a:t>                  Fe(s)+CO</a:t>
              </a:r>
              <a:r>
                <a:rPr lang="en-US" altLang="zh-CN" sz="2600" b="1" i="1" baseline="-30000" dirty="0" smtClean="0">
                  <a:solidFill>
                    <a:srgbClr val="000000"/>
                  </a:solidFill>
                  <a:latin typeface="Times New Roman" panose="02020603050405020304"/>
                  <a:ea typeface="楷体_GB2312"/>
                  <a:cs typeface="Times New Roman" panose="02020603050405020304" pitchFamily="18" charset="0"/>
                </a:rPr>
                <a:t>2</a:t>
              </a:r>
              <a:r>
                <a:rPr lang="en-US" altLang="zh-CN" sz="2600" b="1" i="1" dirty="0" smtClean="0">
                  <a:solidFill>
                    <a:srgbClr val="000000"/>
                  </a:solidFill>
                  <a:latin typeface="Times New Roman" panose="02020603050405020304"/>
                  <a:ea typeface="楷体_GB2312"/>
                  <a:cs typeface="Times New Roman" panose="02020603050405020304" pitchFamily="18" charset="0"/>
                </a:rPr>
                <a:t>(g) →</a:t>
              </a:r>
              <a:r>
                <a:rPr lang="en-US" altLang="zh-CN" sz="2600" b="1" i="1" dirty="0" err="1" smtClean="0">
                  <a:solidFill>
                    <a:srgbClr val="000000"/>
                  </a:solidFill>
                  <a:latin typeface="Times New Roman" panose="02020603050405020304"/>
                  <a:ea typeface="楷体_GB2312"/>
                  <a:cs typeface="Times New Roman" panose="02020603050405020304" pitchFamily="18" charset="0"/>
                </a:rPr>
                <a:t>FeO</a:t>
              </a:r>
              <a:r>
                <a:rPr lang="en-US" altLang="zh-CN" sz="2600" b="1" i="1" dirty="0" smtClean="0">
                  <a:solidFill>
                    <a:srgbClr val="000000"/>
                  </a:solidFill>
                  <a:latin typeface="Times New Roman" panose="02020603050405020304"/>
                  <a:ea typeface="楷体_GB2312"/>
                  <a:cs typeface="Times New Roman" panose="02020603050405020304" pitchFamily="18" charset="0"/>
                </a:rPr>
                <a:t>(s)+CO(g)</a:t>
              </a:r>
              <a:endParaRPr lang="en-US" altLang="zh-CN" sz="2600" b="1" i="1" dirty="0" smtClean="0">
                <a:solidFill>
                  <a:srgbClr val="000000"/>
                </a:solidFill>
                <a:latin typeface="Times New Roman" panose="02020603050405020304"/>
                <a:ea typeface="宋体" panose="02010600030101010101" pitchFamily="2" charset="-122"/>
                <a:cs typeface="宋体" panose="02010600030101010101" pitchFamily="2" charset="-122"/>
              </a:endParaRPr>
            </a:p>
          </p:txBody>
        </p:sp>
        <p:sp>
          <p:nvSpPr>
            <p:cNvPr id="8" name="矩形 17"/>
            <p:cNvSpPr>
              <a:spLocks noChangeArrowheads="1"/>
            </p:cNvSpPr>
            <p:nvPr/>
          </p:nvSpPr>
          <p:spPr bwMode="auto">
            <a:xfrm>
              <a:off x="285720" y="357166"/>
              <a:ext cx="1219200" cy="461719"/>
            </a:xfrm>
            <a:prstGeom prst="rect">
              <a:avLst/>
            </a:prstGeom>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eaLnBrk="0" fontAlgn="base" hangingPunct="0">
                <a:lnSpc>
                  <a:spcPct val="80000"/>
                </a:lnSpc>
                <a:spcBef>
                  <a:spcPct val="50000"/>
                </a:spcBef>
                <a:spcAft>
                  <a:spcPct val="0"/>
                </a:spcAft>
              </a:pPr>
              <a:r>
                <a:rPr kumimoji="1" lang="zh-CN" altLang="en-US" sz="3000" b="1" dirty="0" smtClean="0">
                  <a:solidFill>
                    <a:srgbClr val="FF0000"/>
                  </a:solidFill>
                  <a:latin typeface="Times New Roman" panose="02020603050405020304" pitchFamily="18" charset="0"/>
                  <a:ea typeface="楷体_GB2312" pitchFamily="49" charset="-122"/>
                </a:rPr>
                <a:t>例题</a:t>
              </a:r>
              <a:r>
                <a:rPr kumimoji="1" lang="en-US" altLang="zh-CN" sz="3000" b="1" dirty="0" smtClean="0">
                  <a:solidFill>
                    <a:srgbClr val="FF0000"/>
                  </a:solidFill>
                  <a:latin typeface="Times New Roman" panose="02020603050405020304" pitchFamily="18" charset="0"/>
                  <a:ea typeface="楷体_GB2312" pitchFamily="49" charset="-122"/>
                </a:rPr>
                <a:t>2</a:t>
              </a:r>
              <a:endParaRPr kumimoji="1" lang="zh-CN" altLang="en-US" sz="3000" b="1" dirty="0" smtClean="0">
                <a:solidFill>
                  <a:srgbClr val="FF0000"/>
                </a:solidFill>
                <a:latin typeface="Times New Roman" panose="02020603050405020304" pitchFamily="18" charset="0"/>
                <a:ea typeface="楷体_GB2312" pitchFamily="49" charset="-122"/>
              </a:endParaRPr>
            </a:p>
          </p:txBody>
        </p:sp>
      </p:grpSp>
      <p:sp>
        <p:nvSpPr>
          <p:cNvPr id="5" name="矩形 4"/>
          <p:cNvSpPr/>
          <p:nvPr/>
        </p:nvSpPr>
        <p:spPr>
          <a:xfrm>
            <a:off x="1214414" y="4143380"/>
            <a:ext cx="7286676" cy="1692771"/>
          </a:xfrm>
          <a:prstGeom prst="rect">
            <a:avLst/>
          </a:prstGeom>
          <a:no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sz="2600" b="1" i="1" u="none" kern="1200" baseline="0">
                <a:solidFill>
                  <a:srgbClr val="CC3300"/>
                </a:solidFill>
                <a:latin typeface="Times New Roman" panose="02020603050405020304" pitchFamily="18" charset="0"/>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None/>
              <a:defRPr sz="2600" b="1" i="1" u="none" kern="1200" baseline="0">
                <a:solidFill>
                  <a:srgbClr val="CC330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600" b="1" i="1" u="none" kern="1200" baseline="0">
                <a:solidFill>
                  <a:srgbClr val="CC330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600" b="1" i="1" u="none" kern="1200" baseline="0">
                <a:solidFill>
                  <a:srgbClr val="CC330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600" b="1" i="1" u="none" kern="1200" baseline="0">
                <a:solidFill>
                  <a:srgbClr val="CC3300"/>
                </a:solidFill>
                <a:latin typeface="Times New Roman" panose="02020603050405020304" pitchFamily="18"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sz="2600" b="1" i="1" u="none" kern="1200" baseline="0">
                <a:solidFill>
                  <a:srgbClr val="CC3300"/>
                </a:solidFill>
                <a:latin typeface="Times New Roman" panose="02020603050405020304" pitchFamily="18"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sz="2600" b="1" i="1" u="none" kern="1200" baseline="0">
                <a:solidFill>
                  <a:srgbClr val="CC3300"/>
                </a:solidFill>
                <a:latin typeface="Times New Roman" panose="02020603050405020304" pitchFamily="18"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sz="2600" b="1" i="1" u="none" kern="1200" baseline="0">
                <a:solidFill>
                  <a:srgbClr val="CC3300"/>
                </a:solidFill>
                <a:latin typeface="Times New Roman" panose="02020603050405020304" pitchFamily="18"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sz="2600" b="1" i="1" u="none" kern="1200" baseline="0">
                <a:solidFill>
                  <a:srgbClr val="CC3300"/>
                </a:solidFill>
                <a:latin typeface="Times New Roman" panose="02020603050405020304" pitchFamily="18" charset="0"/>
                <a:ea typeface="楷体_GB2312" pitchFamily="49" charset="-122"/>
                <a:cs typeface="+mn-cs"/>
              </a:defRPr>
            </a:lvl9pPr>
          </a:lstStyle>
          <a:p>
            <a:r>
              <a:rPr lang="zh-CN" altLang="en-US" i="0" dirty="0" smtClean="0">
                <a:solidFill>
                  <a:srgbClr val="000000"/>
                </a:solidFill>
              </a:rPr>
              <a:t>由结果推测：</a:t>
            </a:r>
            <a:endParaRPr lang="en-US" altLang="zh-CN" i="0" dirty="0" smtClean="0">
              <a:solidFill>
                <a:srgbClr val="000000"/>
              </a:solidFill>
            </a:endParaRPr>
          </a:p>
          <a:p>
            <a:r>
              <a:rPr lang="en-US" altLang="zh-CN" i="0" dirty="0" smtClean="0">
                <a:solidFill>
                  <a:srgbClr val="000000"/>
                </a:solidFill>
                <a:latin typeface="Times New Roman" panose="02020603050405020304" pitchFamily="18" charset="0"/>
                <a:ea typeface="楷体_GB2312" pitchFamily="49" charset="-122"/>
              </a:rPr>
              <a:t>1</a:t>
            </a:r>
            <a:r>
              <a:rPr lang="zh-CN" altLang="en-US" i="0" dirty="0" smtClean="0">
                <a:solidFill>
                  <a:srgbClr val="000000"/>
                </a:solidFill>
                <a:latin typeface="Times New Roman" panose="02020603050405020304" pitchFamily="18" charset="0"/>
                <a:ea typeface="楷体_GB2312" pitchFamily="49" charset="-122"/>
              </a:rPr>
              <a:t>个</a:t>
            </a:r>
            <a:r>
              <a:rPr lang="en-US" altLang="zh-CN" i="0" dirty="0" smtClean="0">
                <a:solidFill>
                  <a:srgbClr val="000000"/>
                </a:solidFill>
                <a:latin typeface="Times New Roman" panose="02020603050405020304" pitchFamily="18" charset="0"/>
                <a:ea typeface="楷体_GB2312" pitchFamily="49" charset="-122"/>
              </a:rPr>
              <a:t>Fe —— </a:t>
            </a:r>
            <a:r>
              <a:rPr lang="zh-CN" altLang="el-GR" dirty="0" smtClean="0">
                <a:solidFill>
                  <a:srgbClr val="FF0000"/>
                </a:solidFill>
                <a:latin typeface="Times New Roman" panose="02020603050405020304"/>
                <a:ea typeface="楷体_GB2312"/>
                <a:cs typeface="Times New Roman" panose="02020603050405020304" pitchFamily="18" charset="0"/>
              </a:rPr>
              <a:t>－</a:t>
            </a:r>
            <a:r>
              <a:rPr lang="en-US" altLang="zh-CN" i="0" dirty="0" smtClean="0">
                <a:solidFill>
                  <a:srgbClr val="000000"/>
                </a:solidFill>
                <a:latin typeface="Times New Roman" panose="02020603050405020304" pitchFamily="18" charset="0"/>
                <a:ea typeface="楷体_GB2312" pitchFamily="49" charset="-122"/>
              </a:rPr>
              <a:t>1</a:t>
            </a:r>
            <a:r>
              <a:rPr lang="en-US" altLang="zh-CN" i="0" dirty="0" smtClean="0">
                <a:solidFill>
                  <a:srgbClr val="000000"/>
                </a:solidFill>
              </a:rPr>
              <a:t>/2</a:t>
            </a:r>
            <a:r>
              <a:rPr lang="en-US" altLang="zh-CN" dirty="0" smtClean="0">
                <a:solidFill>
                  <a:srgbClr val="000000"/>
                </a:solidFill>
                <a:latin typeface="Times New Roman" panose="02020603050405020304"/>
                <a:ea typeface="楷体_GB2312"/>
                <a:cs typeface="Times New Roman" panose="02020603050405020304" pitchFamily="18" charset="0"/>
              </a:rPr>
              <a:t>(1)</a:t>
            </a:r>
            <a:r>
              <a:rPr lang="en-US" altLang="zh-CN" i="0" dirty="0" smtClean="0">
                <a:solidFill>
                  <a:srgbClr val="000000"/>
                </a:solidFill>
              </a:rPr>
              <a:t> </a:t>
            </a:r>
          </a:p>
          <a:p>
            <a:r>
              <a:rPr lang="en-US" altLang="zh-CN" i="0" dirty="0" smtClean="0">
                <a:solidFill>
                  <a:srgbClr val="000000"/>
                </a:solidFill>
              </a:rPr>
              <a:t>1</a:t>
            </a:r>
            <a:r>
              <a:rPr lang="zh-CN" altLang="en-US" i="0" dirty="0" smtClean="0">
                <a:solidFill>
                  <a:srgbClr val="000000"/>
                </a:solidFill>
              </a:rPr>
              <a:t>个</a:t>
            </a:r>
            <a:r>
              <a:rPr lang="en-US" altLang="zh-CN" i="0" dirty="0" err="1" smtClean="0">
                <a:solidFill>
                  <a:srgbClr val="000000"/>
                </a:solidFill>
              </a:rPr>
              <a:t>FeO</a:t>
            </a:r>
            <a:r>
              <a:rPr lang="en-US" altLang="zh-CN" i="0" dirty="0" smtClean="0">
                <a:solidFill>
                  <a:srgbClr val="000000"/>
                </a:solidFill>
              </a:rPr>
              <a:t> ——  1/3</a:t>
            </a:r>
            <a:r>
              <a:rPr lang="en-US" altLang="zh-CN" dirty="0" smtClean="0">
                <a:solidFill>
                  <a:srgbClr val="000000"/>
                </a:solidFill>
                <a:latin typeface="Times New Roman" panose="02020603050405020304"/>
                <a:ea typeface="楷体_GB2312"/>
                <a:cs typeface="Times New Roman" panose="02020603050405020304" pitchFamily="18" charset="0"/>
              </a:rPr>
              <a:t>(3)</a:t>
            </a:r>
          </a:p>
          <a:p>
            <a:r>
              <a:rPr lang="zh-CN" altLang="en-US" i="0" dirty="0" smtClean="0">
                <a:solidFill>
                  <a:srgbClr val="000000"/>
                </a:solidFill>
                <a:latin typeface="Times New Roman" panose="02020603050405020304"/>
                <a:ea typeface="楷体_GB2312"/>
                <a:cs typeface="Times New Roman" panose="02020603050405020304" pitchFamily="18" charset="0"/>
              </a:rPr>
              <a:t>把中间物</a:t>
            </a:r>
            <a:r>
              <a:rPr lang="en-US" altLang="zh-CN" i="0" dirty="0" smtClean="0">
                <a:solidFill>
                  <a:srgbClr val="000000"/>
                </a:solidFill>
              </a:rPr>
              <a:t> 3</a:t>
            </a:r>
            <a:r>
              <a:rPr lang="en-US" altLang="zh-CN" dirty="0" smtClean="0">
                <a:solidFill>
                  <a:srgbClr val="000000"/>
                </a:solidFill>
                <a:latin typeface="Times New Roman" panose="02020603050405020304"/>
                <a:ea typeface="楷体_GB2312"/>
                <a:cs typeface="Times New Roman" panose="02020603050405020304" pitchFamily="18" charset="0"/>
              </a:rPr>
              <a:t>Fe</a:t>
            </a:r>
            <a:r>
              <a:rPr lang="en-US" altLang="zh-CN" baseline="-30000" dirty="0" smtClean="0">
                <a:solidFill>
                  <a:srgbClr val="000000"/>
                </a:solidFill>
                <a:latin typeface="Times New Roman" panose="02020603050405020304"/>
                <a:ea typeface="楷体_GB2312"/>
                <a:cs typeface="Times New Roman" panose="02020603050405020304" pitchFamily="18" charset="0"/>
              </a:rPr>
              <a:t>2</a:t>
            </a:r>
            <a:r>
              <a:rPr lang="en-US" altLang="zh-CN" dirty="0" smtClean="0">
                <a:solidFill>
                  <a:srgbClr val="000000"/>
                </a:solidFill>
                <a:latin typeface="Times New Roman" panose="02020603050405020304"/>
                <a:ea typeface="楷体_GB2312"/>
                <a:cs typeface="Times New Roman" panose="02020603050405020304" pitchFamily="18" charset="0"/>
              </a:rPr>
              <a:t>O</a:t>
            </a:r>
            <a:r>
              <a:rPr lang="en-US" altLang="zh-CN" baseline="-30000" dirty="0" smtClean="0">
                <a:solidFill>
                  <a:srgbClr val="000000"/>
                </a:solidFill>
                <a:latin typeface="Times New Roman" panose="02020603050405020304"/>
                <a:ea typeface="楷体_GB2312"/>
                <a:cs typeface="Times New Roman" panose="02020603050405020304" pitchFamily="18" charset="0"/>
              </a:rPr>
              <a:t>3</a:t>
            </a:r>
            <a:r>
              <a:rPr lang="en-US" altLang="zh-CN" dirty="0" smtClean="0">
                <a:solidFill>
                  <a:srgbClr val="000000"/>
                </a:solidFill>
                <a:latin typeface="Times New Roman" panose="02020603050405020304"/>
                <a:ea typeface="楷体_GB2312"/>
                <a:cs typeface="Times New Roman" panose="02020603050405020304" pitchFamily="18" charset="0"/>
              </a:rPr>
              <a:t>(s) or 2Fe</a:t>
            </a:r>
            <a:r>
              <a:rPr lang="en-US" altLang="zh-CN" baseline="-30000" dirty="0" smtClean="0">
                <a:solidFill>
                  <a:srgbClr val="000000"/>
                </a:solidFill>
                <a:latin typeface="Times New Roman" panose="02020603050405020304"/>
                <a:ea typeface="楷体_GB2312"/>
                <a:cs typeface="Times New Roman" panose="02020603050405020304" pitchFamily="18" charset="0"/>
              </a:rPr>
              <a:t>3</a:t>
            </a:r>
            <a:r>
              <a:rPr lang="en-US" altLang="zh-CN" dirty="0" smtClean="0">
                <a:solidFill>
                  <a:srgbClr val="000000"/>
                </a:solidFill>
                <a:latin typeface="Times New Roman" panose="02020603050405020304"/>
                <a:ea typeface="楷体_GB2312"/>
                <a:cs typeface="Times New Roman" panose="02020603050405020304" pitchFamily="18" charset="0"/>
              </a:rPr>
              <a:t>O</a:t>
            </a:r>
            <a:r>
              <a:rPr lang="en-US" altLang="zh-CN" baseline="-30000" dirty="0" smtClean="0">
                <a:solidFill>
                  <a:srgbClr val="000000"/>
                </a:solidFill>
                <a:latin typeface="Times New Roman" panose="02020603050405020304"/>
                <a:ea typeface="楷体_GB2312"/>
                <a:cs typeface="Times New Roman" panose="02020603050405020304" pitchFamily="18" charset="0"/>
              </a:rPr>
              <a:t>4</a:t>
            </a:r>
            <a:r>
              <a:rPr lang="en-US" altLang="zh-CN" dirty="0" smtClean="0">
                <a:solidFill>
                  <a:srgbClr val="000000"/>
                </a:solidFill>
                <a:latin typeface="Times New Roman" panose="02020603050405020304"/>
                <a:ea typeface="楷体_GB2312"/>
                <a:cs typeface="Times New Roman" panose="02020603050405020304" pitchFamily="18" charset="0"/>
              </a:rPr>
              <a:t>(s)</a:t>
            </a:r>
            <a:r>
              <a:rPr lang="zh-CN" altLang="en-US" dirty="0" smtClean="0">
                <a:solidFill>
                  <a:srgbClr val="000000"/>
                </a:solidFill>
                <a:latin typeface="Times New Roman" panose="02020603050405020304"/>
                <a:ea typeface="楷体_GB2312"/>
                <a:cs typeface="Times New Roman" panose="02020603050405020304" pitchFamily="18" charset="0"/>
              </a:rPr>
              <a:t>去掉 </a:t>
            </a:r>
            <a:r>
              <a:rPr lang="en-US" altLang="zh-CN" dirty="0" smtClean="0">
                <a:solidFill>
                  <a:srgbClr val="000000"/>
                </a:solidFill>
                <a:latin typeface="Times New Roman" panose="02020603050405020304"/>
                <a:ea typeface="楷体_GB2312"/>
                <a:cs typeface="Times New Roman" panose="02020603050405020304" pitchFamily="18" charset="0"/>
              </a:rPr>
              <a:t>—— 1/6</a:t>
            </a:r>
            <a:r>
              <a:rPr lang="el-GR" altLang="zh-CN" dirty="0" smtClean="0">
                <a:solidFill>
                  <a:srgbClr val="000000"/>
                </a:solidFill>
                <a:latin typeface="Times New Roman" panose="02020603050405020304"/>
                <a:ea typeface="楷体_GB2312"/>
                <a:cs typeface="Times New Roman" panose="02020603050405020304" pitchFamily="18" charset="0"/>
              </a:rPr>
              <a:t>(2)</a:t>
            </a:r>
            <a:endParaRPr lang="en-US" altLang="zh-CN" dirty="0" smtClean="0">
              <a:solidFill>
                <a:srgbClr val="000000"/>
              </a:solidFill>
              <a:latin typeface="Times New Roman" panose="02020603050405020304"/>
              <a:ea typeface="楷体_GB231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19141" name="Object 5"/>
          <p:cNvGraphicFramePr>
            <a:graphicFrameLocks noGrp="1" noChangeAspect="1"/>
          </p:cNvGraphicFramePr>
          <p:nvPr/>
        </p:nvGraphicFramePr>
        <p:xfrm>
          <a:off x="228600" y="3657600"/>
          <a:ext cx="8610600" cy="2286000"/>
        </p:xfrm>
        <a:graphic>
          <a:graphicData uri="http://schemas.openxmlformats.org/presentationml/2006/ole">
            <p:oleObj spid="_x0000_s96257" name="CS ChemDraw Drawing" r:id="rId4" imgW="36585525" imgH="8562975" progId="">
              <p:embed/>
            </p:oleObj>
          </a:graphicData>
        </a:graphic>
      </p:graphicFrame>
      <p:grpSp>
        <p:nvGrpSpPr>
          <p:cNvPr id="2" name="组合 9"/>
          <p:cNvGrpSpPr/>
          <p:nvPr/>
        </p:nvGrpSpPr>
        <p:grpSpPr bwMode="auto">
          <a:xfrm>
            <a:off x="76200" y="76200"/>
            <a:ext cx="8686800" cy="3460750"/>
            <a:chOff x="76200" y="76200"/>
            <a:chExt cx="8686800" cy="3460750"/>
          </a:xfrm>
        </p:grpSpPr>
        <p:sp>
          <p:nvSpPr>
            <p:cNvPr id="17412" name="Rectangle 3"/>
            <p:cNvSpPr>
              <a:spLocks noChangeArrowheads="1"/>
            </p:cNvSpPr>
            <p:nvPr/>
          </p:nvSpPr>
          <p:spPr bwMode="auto">
            <a:xfrm>
              <a:off x="304800" y="1219200"/>
              <a:ext cx="5867400" cy="492125"/>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spcBef>
                  <a:spcPct val="0"/>
                </a:spcBef>
                <a:spcAft>
                  <a:spcPct val="0"/>
                </a:spcAft>
              </a:pPr>
              <a:r>
                <a:rPr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S</a:t>
              </a:r>
              <a:r>
                <a:rPr lang="en-US" altLang="zh-CN" sz="2600" b="1" baseline="-30000" smtClean="0">
                  <a:solidFill>
                    <a:srgbClr val="000000"/>
                  </a:solidFill>
                  <a:latin typeface="Times New Roman" panose="02020603050405020304" pitchFamily="18" charset="0"/>
                  <a:ea typeface="楷体_GB2312" pitchFamily="49" charset="-122"/>
                  <a:cs typeface="Times New Roman" panose="02020603050405020304" pitchFamily="18" charset="0"/>
                </a:rPr>
                <a:t>8</a:t>
              </a:r>
              <a:r>
                <a:rPr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(s) </a:t>
              </a:r>
              <a:r>
                <a:rPr lang="zh-CN" altLang="en-US" sz="2600" b="1" smtClean="0">
                  <a:solidFill>
                    <a:srgbClr val="000000"/>
                  </a:solidFill>
                  <a:latin typeface="Times New Roman" panose="02020603050405020304" pitchFamily="18" charset="0"/>
                  <a:ea typeface="楷体_GB2312" pitchFamily="49" charset="-122"/>
                  <a:cs typeface="Times New Roman" panose="02020603050405020304" pitchFamily="18" charset="0"/>
                </a:rPr>
                <a:t>＋ </a:t>
              </a:r>
              <a:r>
                <a:rPr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8 O</a:t>
              </a:r>
              <a:r>
                <a:rPr lang="en-US" altLang="zh-CN" sz="2600" b="1" baseline="-30000" smtClean="0">
                  <a:solidFill>
                    <a:srgbClr val="000000"/>
                  </a:solidFill>
                  <a:latin typeface="Times New Roman" panose="02020603050405020304" pitchFamily="18" charset="0"/>
                  <a:ea typeface="楷体_GB2312" pitchFamily="49" charset="-122"/>
                  <a:cs typeface="Times New Roman" panose="02020603050405020304" pitchFamily="18" charset="0"/>
                </a:rPr>
                <a:t>2</a:t>
              </a:r>
              <a:r>
                <a:rPr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(g)   →   8 SO</a:t>
              </a:r>
              <a:r>
                <a:rPr lang="en-US" altLang="zh-CN" sz="2600" b="1" baseline="-30000" smtClean="0">
                  <a:solidFill>
                    <a:srgbClr val="000000"/>
                  </a:solidFill>
                  <a:latin typeface="Times New Roman" panose="02020603050405020304" pitchFamily="18" charset="0"/>
                  <a:ea typeface="楷体_GB2312" pitchFamily="49" charset="-122"/>
                  <a:cs typeface="Times New Roman" panose="02020603050405020304" pitchFamily="18" charset="0"/>
                </a:rPr>
                <a:t>2</a:t>
              </a:r>
              <a:r>
                <a:rPr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(g) ,</a:t>
              </a:r>
            </a:p>
          </p:txBody>
        </p:sp>
        <p:sp>
          <p:nvSpPr>
            <p:cNvPr id="17413" name="Text Box 4"/>
            <p:cNvSpPr txBox="1">
              <a:spLocks noChangeArrowheads="1"/>
            </p:cNvSpPr>
            <p:nvPr/>
          </p:nvSpPr>
          <p:spPr bwMode="auto">
            <a:xfrm>
              <a:off x="4191000" y="1752600"/>
              <a:ext cx="4419600" cy="48895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algn="ctr" eaLnBrk="0" fontAlgn="base" hangingPunct="0">
                <a:spcBef>
                  <a:spcPct val="50000"/>
                </a:spcBef>
                <a:spcAft>
                  <a:spcPct val="0"/>
                </a:spcAft>
              </a:pPr>
              <a:r>
                <a:rPr lang="en-US" altLang="zh-CN" sz="2600" i="1" smtClean="0">
                  <a:solidFill>
                    <a:srgbClr val="000000"/>
                  </a:solidFill>
                  <a:sym typeface="Symbol" panose="05050102010706020507" pitchFamily="18" charset="2"/>
                </a:rPr>
                <a:t></a:t>
              </a:r>
              <a:r>
                <a:rPr lang="en-US" altLang="zh-CN" sz="2600" i="1" baseline="-25000" smtClean="0">
                  <a:solidFill>
                    <a:srgbClr val="000000"/>
                  </a:solidFill>
                  <a:sym typeface="Symbol" panose="05050102010706020507" pitchFamily="18" charset="2"/>
                </a:rPr>
                <a:t>r  </a:t>
              </a:r>
              <a:r>
                <a:rPr lang="en-US" altLang="en-US" sz="2600" i="1" smtClean="0">
                  <a:solidFill>
                    <a:srgbClr val="000000"/>
                  </a:solidFill>
                  <a:sym typeface="Symbol" panose="05050102010706020507" pitchFamily="18" charset="2"/>
                </a:rPr>
                <a:t>H</a:t>
              </a:r>
              <a:r>
                <a:rPr lang="en-US" altLang="zh-CN" sz="2600" i="1" baseline="-25000" smtClean="0">
                  <a:solidFill>
                    <a:srgbClr val="000000"/>
                  </a:solidFill>
                  <a:sym typeface="Symbol" panose="05050102010706020507" pitchFamily="18" charset="2"/>
                </a:rPr>
                <a:t>m</a:t>
              </a:r>
              <a:r>
                <a:rPr kumimoji="0" lang="el-GR" altLang="zh-CN" sz="2600" baseline="30000" smtClean="0">
                  <a:solidFill>
                    <a:srgbClr val="000000"/>
                  </a:solidFill>
                  <a:latin typeface="楷体_GB2312" pitchFamily="49" charset="-122"/>
                </a:rPr>
                <a:t>Θ</a:t>
              </a:r>
              <a:r>
                <a:rPr kumimoji="0" lang="en-US" altLang="zh-CN" sz="2600" i="1" baseline="30000" smtClean="0">
                  <a:solidFill>
                    <a:srgbClr val="000000"/>
                  </a:solidFill>
                </a:rPr>
                <a:t> </a:t>
              </a:r>
              <a:r>
                <a:rPr lang="en-US" altLang="zh-CN" sz="2600" i="1" smtClean="0">
                  <a:solidFill>
                    <a:srgbClr val="000000"/>
                  </a:solidFill>
                  <a:sym typeface="Symbol" panose="05050102010706020507" pitchFamily="18" charset="2"/>
                </a:rPr>
                <a:t>= - 2375  kJ</a:t>
              </a:r>
              <a:r>
                <a:rPr lang="en-US" altLang="en-US" sz="2600" i="1" smtClean="0">
                  <a:solidFill>
                    <a:srgbClr val="000000"/>
                  </a:solidFill>
                  <a:sym typeface="Symbol" panose="05050102010706020507" pitchFamily="18" charset="2"/>
                </a:rPr>
                <a:t>·</a:t>
              </a:r>
              <a:r>
                <a:rPr lang="en-US" altLang="zh-CN" sz="2600" i="1" smtClean="0">
                  <a:solidFill>
                    <a:srgbClr val="000000"/>
                  </a:solidFill>
                  <a:sym typeface="Symbol" panose="05050102010706020507" pitchFamily="18" charset="2"/>
                </a:rPr>
                <a:t> mol </a:t>
              </a:r>
              <a:r>
                <a:rPr lang="en-US" altLang="zh-CN" sz="2600" i="1" baseline="30000" smtClean="0">
                  <a:solidFill>
                    <a:srgbClr val="000000"/>
                  </a:solidFill>
                  <a:sym typeface="Symbol" panose="05050102010706020507" pitchFamily="18" charset="2"/>
                </a:rPr>
                <a:t>-1</a:t>
              </a:r>
            </a:p>
          </p:txBody>
        </p:sp>
        <p:sp>
          <p:nvSpPr>
            <p:cNvPr id="17414" name="Rectangle 5"/>
            <p:cNvSpPr>
              <a:spLocks noChangeArrowheads="1"/>
            </p:cNvSpPr>
            <p:nvPr/>
          </p:nvSpPr>
          <p:spPr bwMode="auto">
            <a:xfrm>
              <a:off x="304800" y="2362200"/>
              <a:ext cx="5715000" cy="48895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spcBef>
                  <a:spcPct val="0"/>
                </a:spcBef>
                <a:spcAft>
                  <a:spcPct val="0"/>
                </a:spcAft>
              </a:pPr>
              <a:r>
                <a:rPr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2 SO</a:t>
              </a:r>
              <a:r>
                <a:rPr lang="en-US" altLang="zh-CN" sz="2600" b="1" baseline="-30000" smtClean="0">
                  <a:solidFill>
                    <a:srgbClr val="000000"/>
                  </a:solidFill>
                  <a:latin typeface="Times New Roman" panose="02020603050405020304" pitchFamily="18" charset="0"/>
                  <a:ea typeface="楷体_GB2312" pitchFamily="49" charset="-122"/>
                  <a:cs typeface="Times New Roman" panose="02020603050405020304" pitchFamily="18" charset="0"/>
                </a:rPr>
                <a:t>2</a:t>
              </a:r>
              <a:r>
                <a:rPr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(g) </a:t>
              </a:r>
              <a:r>
                <a:rPr lang="zh-CN" altLang="en-US" sz="2600" b="1" smtClean="0">
                  <a:solidFill>
                    <a:srgbClr val="000000"/>
                  </a:solidFill>
                  <a:latin typeface="Times New Roman" panose="02020603050405020304" pitchFamily="18" charset="0"/>
                  <a:ea typeface="楷体_GB2312" pitchFamily="49" charset="-122"/>
                  <a:cs typeface="Times New Roman" panose="02020603050405020304" pitchFamily="18" charset="0"/>
                </a:rPr>
                <a:t>＋ </a:t>
              </a:r>
              <a:r>
                <a:rPr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O</a:t>
              </a:r>
              <a:r>
                <a:rPr lang="en-US" altLang="zh-CN" sz="2600" b="1" baseline="-30000" smtClean="0">
                  <a:solidFill>
                    <a:srgbClr val="000000"/>
                  </a:solidFill>
                  <a:latin typeface="Times New Roman" panose="02020603050405020304" pitchFamily="18" charset="0"/>
                  <a:ea typeface="楷体_GB2312" pitchFamily="49" charset="-122"/>
                  <a:cs typeface="Times New Roman" panose="02020603050405020304" pitchFamily="18" charset="0"/>
                </a:rPr>
                <a:t>2</a:t>
              </a:r>
              <a:r>
                <a:rPr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(g) → 2 SO</a:t>
              </a:r>
              <a:r>
                <a:rPr lang="en-US" altLang="zh-CN" sz="2600" b="1" baseline="-30000" smtClean="0">
                  <a:solidFill>
                    <a:srgbClr val="000000"/>
                  </a:solidFill>
                  <a:latin typeface="Times New Roman" panose="02020603050405020304" pitchFamily="18" charset="0"/>
                  <a:ea typeface="楷体_GB2312" pitchFamily="49" charset="-122"/>
                  <a:cs typeface="Times New Roman" panose="02020603050405020304" pitchFamily="18" charset="0"/>
                </a:rPr>
                <a:t>3</a:t>
              </a:r>
              <a:r>
                <a:rPr lang="en-US" altLang="zh-CN" sz="2600" b="1" smtClean="0">
                  <a:solidFill>
                    <a:srgbClr val="000000"/>
                  </a:solidFill>
                  <a:latin typeface="Times New Roman" panose="02020603050405020304" pitchFamily="18" charset="0"/>
                  <a:ea typeface="楷体_GB2312" pitchFamily="49" charset="-122"/>
                  <a:cs typeface="Times New Roman" panose="02020603050405020304" pitchFamily="18" charset="0"/>
                </a:rPr>
                <a:t>(g) , </a:t>
              </a:r>
            </a:p>
          </p:txBody>
        </p:sp>
        <p:sp>
          <p:nvSpPr>
            <p:cNvPr id="17415" name="Text Box 6"/>
            <p:cNvSpPr txBox="1">
              <a:spLocks noChangeArrowheads="1"/>
            </p:cNvSpPr>
            <p:nvPr/>
          </p:nvSpPr>
          <p:spPr bwMode="auto">
            <a:xfrm>
              <a:off x="4191000" y="2895600"/>
              <a:ext cx="4419600" cy="48895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algn="ctr" eaLnBrk="0" fontAlgn="base" hangingPunct="0">
                <a:spcBef>
                  <a:spcPct val="50000"/>
                </a:spcBef>
                <a:spcAft>
                  <a:spcPct val="0"/>
                </a:spcAft>
              </a:pPr>
              <a:r>
                <a:rPr lang="en-US" altLang="zh-CN" sz="2600" i="1" smtClean="0">
                  <a:solidFill>
                    <a:srgbClr val="000000"/>
                  </a:solidFill>
                  <a:sym typeface="Symbol" panose="05050102010706020507" pitchFamily="18" charset="2"/>
                </a:rPr>
                <a:t></a:t>
              </a:r>
              <a:r>
                <a:rPr lang="en-US" altLang="zh-CN" sz="2600" i="1" baseline="-25000" smtClean="0">
                  <a:solidFill>
                    <a:srgbClr val="000000"/>
                  </a:solidFill>
                  <a:sym typeface="Symbol" panose="05050102010706020507" pitchFamily="18" charset="2"/>
                </a:rPr>
                <a:t>r </a:t>
              </a:r>
              <a:r>
                <a:rPr lang="en-US" altLang="en-US" sz="2600" i="1" smtClean="0">
                  <a:solidFill>
                    <a:srgbClr val="000000"/>
                  </a:solidFill>
                  <a:sym typeface="Symbol" panose="05050102010706020507" pitchFamily="18" charset="2"/>
                </a:rPr>
                <a:t>H</a:t>
              </a:r>
              <a:r>
                <a:rPr lang="en-US" altLang="zh-CN" sz="2600" i="1" smtClean="0">
                  <a:solidFill>
                    <a:srgbClr val="000000"/>
                  </a:solidFill>
                  <a:sym typeface="Symbol" panose="05050102010706020507" pitchFamily="18" charset="2"/>
                </a:rPr>
                <a:t> </a:t>
              </a:r>
              <a:r>
                <a:rPr lang="en-US" altLang="zh-CN" sz="2600" i="1" baseline="-25000" smtClean="0">
                  <a:solidFill>
                    <a:srgbClr val="000000"/>
                  </a:solidFill>
                  <a:sym typeface="Symbol" panose="05050102010706020507" pitchFamily="18" charset="2"/>
                </a:rPr>
                <a:t>m</a:t>
              </a:r>
              <a:r>
                <a:rPr kumimoji="0" lang="el-GR" altLang="zh-CN" sz="2600" baseline="30000" smtClean="0">
                  <a:solidFill>
                    <a:srgbClr val="000000"/>
                  </a:solidFill>
                  <a:latin typeface="楷体_GB2312" pitchFamily="49" charset="-122"/>
                </a:rPr>
                <a:t>Θ</a:t>
              </a:r>
              <a:r>
                <a:rPr kumimoji="0" lang="en-US" altLang="zh-CN" sz="2600" i="1" baseline="30000" smtClean="0">
                  <a:solidFill>
                    <a:srgbClr val="000000"/>
                  </a:solidFill>
                </a:rPr>
                <a:t> </a:t>
              </a:r>
              <a:r>
                <a:rPr lang="en-US" altLang="zh-CN" sz="2600" i="1" smtClean="0">
                  <a:solidFill>
                    <a:srgbClr val="000000"/>
                  </a:solidFill>
                  <a:sym typeface="Symbol" panose="05050102010706020507" pitchFamily="18" charset="2"/>
                </a:rPr>
                <a:t>= - 198 kJ</a:t>
              </a:r>
              <a:r>
                <a:rPr lang="en-US" altLang="en-US" sz="2600" i="1" smtClean="0">
                  <a:solidFill>
                    <a:srgbClr val="000000"/>
                  </a:solidFill>
                  <a:sym typeface="Symbol" panose="05050102010706020507" pitchFamily="18" charset="2"/>
                </a:rPr>
                <a:t>·</a:t>
              </a:r>
              <a:r>
                <a:rPr lang="en-US" altLang="zh-CN" sz="2600" i="1" smtClean="0">
                  <a:solidFill>
                    <a:srgbClr val="000000"/>
                  </a:solidFill>
                  <a:sym typeface="Symbol" panose="05050102010706020507" pitchFamily="18" charset="2"/>
                </a:rPr>
                <a:t>mol </a:t>
              </a:r>
              <a:r>
                <a:rPr lang="en-US" altLang="zh-CN" sz="2600" i="1" baseline="30000" smtClean="0">
                  <a:solidFill>
                    <a:srgbClr val="000000"/>
                  </a:solidFill>
                  <a:sym typeface="Symbol" panose="05050102010706020507" pitchFamily="18" charset="2"/>
                </a:rPr>
                <a:t>-1</a:t>
              </a:r>
            </a:p>
          </p:txBody>
        </p:sp>
        <p:sp>
          <p:nvSpPr>
            <p:cNvPr id="17416" name="Text Box 7"/>
            <p:cNvSpPr txBox="1">
              <a:spLocks noChangeArrowheads="1"/>
            </p:cNvSpPr>
            <p:nvPr/>
          </p:nvSpPr>
          <p:spPr bwMode="auto">
            <a:xfrm>
              <a:off x="228600" y="3048000"/>
              <a:ext cx="1979613" cy="488950"/>
            </a:xfrm>
            <a:prstGeom prst="rect">
              <a:avLst/>
            </a:prstGeom>
            <a:solidFill>
              <a:srgbClr val="FF99CC"/>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3000" b="1">
                  <a:solidFill>
                    <a:srgbClr val="0000FF"/>
                  </a:solidFill>
                  <a:latin typeface="Times New Roman" panose="02020603050405020304" pitchFamily="18" charset="0"/>
                  <a:ea typeface="楷体_GB2312" pitchFamily="49" charset="-122"/>
                </a:defRPr>
              </a:lvl1pPr>
              <a:lvl2pPr marL="742950" indent="-285750">
                <a:defRPr kumimoji="1" sz="3000" b="1">
                  <a:solidFill>
                    <a:srgbClr val="0000FF"/>
                  </a:solidFill>
                  <a:latin typeface="Times New Roman" panose="02020603050405020304" pitchFamily="18" charset="0"/>
                  <a:ea typeface="楷体_GB2312" pitchFamily="49" charset="-122"/>
                </a:defRPr>
              </a:lvl2pPr>
              <a:lvl3pPr marL="1143000" indent="-228600">
                <a:defRPr kumimoji="1" sz="3000" b="1">
                  <a:solidFill>
                    <a:srgbClr val="0000FF"/>
                  </a:solidFill>
                  <a:latin typeface="Times New Roman" panose="02020603050405020304" pitchFamily="18" charset="0"/>
                  <a:ea typeface="楷体_GB2312" pitchFamily="49" charset="-122"/>
                </a:defRPr>
              </a:lvl3pPr>
              <a:lvl4pPr marL="1600200" indent="-228600">
                <a:defRPr kumimoji="1" sz="3000" b="1">
                  <a:solidFill>
                    <a:srgbClr val="0000FF"/>
                  </a:solidFill>
                  <a:latin typeface="Times New Roman" panose="02020603050405020304" pitchFamily="18" charset="0"/>
                  <a:ea typeface="楷体_GB2312" pitchFamily="49" charset="-122"/>
                </a:defRPr>
              </a:lvl4pPr>
              <a:lvl5pPr marL="2057400" indent="-228600">
                <a:defRPr kumimoji="1" sz="3000" b="1">
                  <a:solidFill>
                    <a:srgbClr val="0000FF"/>
                  </a:solidFill>
                  <a:latin typeface="Times New Roman" panose="02020603050405020304" pitchFamily="18" charset="0"/>
                  <a:ea typeface="楷体_GB2312" pitchFamily="49" charset="-122"/>
                </a:defRPr>
              </a:lvl5pPr>
              <a:lvl6pPr marL="25146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6pPr>
              <a:lvl7pPr marL="29718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7pPr>
              <a:lvl8pPr marL="34290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8pPr>
              <a:lvl9pPr marL="3886200" indent="-228600" eaLnBrk="0" fontAlgn="base" hangingPunct="0">
                <a:lnSpc>
                  <a:spcPct val="80000"/>
                </a:lnSpc>
                <a:spcBef>
                  <a:spcPct val="50000"/>
                </a:spcBef>
                <a:spcAft>
                  <a:spcPct val="0"/>
                </a:spcAft>
                <a:defRPr kumimoji="1" sz="3000" b="1">
                  <a:solidFill>
                    <a:srgbClr val="0000FF"/>
                  </a:solidFill>
                  <a:latin typeface="Times New Roman" panose="02020603050405020304" pitchFamily="18" charset="0"/>
                  <a:ea typeface="楷体_GB2312" pitchFamily="49" charset="-122"/>
                </a:defRPr>
              </a:lvl9pPr>
            </a:lstStyle>
            <a:p>
              <a:pPr fontAlgn="base">
                <a:spcBef>
                  <a:spcPct val="50000"/>
                </a:spcBef>
                <a:spcAft>
                  <a:spcPct val="0"/>
                </a:spcAft>
              </a:pPr>
              <a:r>
                <a:rPr lang="en-US" altLang="zh-CN" sz="2600" i="1" smtClean="0">
                  <a:solidFill>
                    <a:srgbClr val="000000"/>
                  </a:solidFill>
                  <a:ea typeface="宋体" panose="02010600030101010101" pitchFamily="2" charset="-122"/>
                  <a:sym typeface="Math4" pitchFamily="2" charset="2"/>
                </a:rPr>
                <a:t>Solution</a:t>
              </a:r>
            </a:p>
          </p:txBody>
        </p:sp>
        <p:sp>
          <p:nvSpPr>
            <p:cNvPr id="17417" name="矩形 10"/>
            <p:cNvSpPr>
              <a:spLocks noChangeArrowheads="1"/>
            </p:cNvSpPr>
            <p:nvPr/>
          </p:nvSpPr>
          <p:spPr bwMode="auto">
            <a:xfrm>
              <a:off x="609600" y="152400"/>
              <a:ext cx="8153400" cy="101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fontAlgn="base" hangingPunct="0">
                <a:lnSpc>
                  <a:spcPts val="3600"/>
                </a:lnSpc>
                <a:spcBef>
                  <a:spcPct val="0"/>
                </a:spcBef>
                <a:spcAft>
                  <a:spcPct val="0"/>
                </a:spcAft>
              </a:pPr>
              <a:r>
                <a:rPr lang="zh-CN" altLang="en-US" sz="2600" b="1" smtClean="0">
                  <a:solidFill>
                    <a:srgbClr val="000000"/>
                  </a:solidFill>
                  <a:latin typeface="Times New Roman" panose="02020603050405020304" pitchFamily="18" charset="0"/>
                  <a:ea typeface="楷体_GB2312" pitchFamily="49" charset="-122"/>
                </a:rPr>
                <a:t>         用下列数据计算</a:t>
              </a:r>
              <a:r>
                <a:rPr lang="en-US" altLang="zh-CN" sz="2600" b="1" smtClean="0">
                  <a:solidFill>
                    <a:srgbClr val="000000"/>
                  </a:solidFill>
                  <a:latin typeface="Times New Roman" panose="02020603050405020304" pitchFamily="18" charset="0"/>
                  <a:ea typeface="楷体_GB2312" pitchFamily="49" charset="-122"/>
                </a:rPr>
                <a:t>SO</a:t>
              </a:r>
              <a:r>
                <a:rPr lang="en-US" altLang="zh-CN" sz="2600" b="1" baseline="-25000" smtClean="0">
                  <a:solidFill>
                    <a:srgbClr val="000000"/>
                  </a:solidFill>
                  <a:latin typeface="Times New Roman" panose="02020603050405020304" pitchFamily="18" charset="0"/>
                  <a:ea typeface="楷体_GB2312" pitchFamily="49" charset="-122"/>
                </a:rPr>
                <a:t>3</a:t>
              </a:r>
              <a:r>
                <a:rPr lang="en-US" altLang="zh-CN" sz="2600" b="1" smtClean="0">
                  <a:solidFill>
                    <a:srgbClr val="000000"/>
                  </a:solidFill>
                  <a:latin typeface="Times New Roman" panose="02020603050405020304" pitchFamily="18" charset="0"/>
                  <a:ea typeface="楷体_GB2312" pitchFamily="49" charset="-122"/>
                </a:rPr>
                <a:t>(g) </a:t>
              </a:r>
              <a:r>
                <a:rPr lang="zh-CN" altLang="en-US" sz="2600" b="1" smtClean="0">
                  <a:solidFill>
                    <a:srgbClr val="000000"/>
                  </a:solidFill>
                  <a:latin typeface="Times New Roman" panose="02020603050405020304" pitchFamily="18" charset="0"/>
                  <a:ea typeface="楷体_GB2312" pitchFamily="49" charset="-122"/>
                </a:rPr>
                <a:t>的标准摩尔生成焓，其中</a:t>
              </a:r>
              <a:endParaRPr lang="en-US" altLang="zh-CN" sz="2600" b="1" smtClean="0">
                <a:solidFill>
                  <a:srgbClr val="000000"/>
                </a:solidFill>
                <a:latin typeface="Times New Roman" panose="02020603050405020304" pitchFamily="18" charset="0"/>
                <a:ea typeface="楷体_GB2312" pitchFamily="49" charset="-122"/>
              </a:endParaRPr>
            </a:p>
            <a:p>
              <a:pPr eaLnBrk="0" fontAlgn="base" hangingPunct="0">
                <a:lnSpc>
                  <a:spcPts val="3600"/>
                </a:lnSpc>
                <a:spcBef>
                  <a:spcPct val="0"/>
                </a:spcBef>
                <a:spcAft>
                  <a:spcPct val="0"/>
                </a:spcAft>
              </a:pPr>
              <a:r>
                <a:rPr kumimoji="1" lang="en-US" altLang="zh-CN" sz="2600" b="1" i="1" smtClean="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sz="2600" b="1" baseline="-25000" smtClean="0">
                  <a:solidFill>
                    <a:srgbClr val="000000"/>
                  </a:solidFill>
                  <a:latin typeface="Times New Roman" panose="02020603050405020304" pitchFamily="18" charset="0"/>
                  <a:ea typeface="楷体_GB2312" pitchFamily="49" charset="-122"/>
                </a:rPr>
                <a:t>f </a:t>
              </a:r>
              <a:r>
                <a:rPr lang="en-US" altLang="zh-CN" sz="2600" b="1" smtClean="0">
                  <a:solidFill>
                    <a:srgbClr val="000000"/>
                  </a:solidFill>
                  <a:latin typeface="Times New Roman" panose="02020603050405020304" pitchFamily="18" charset="0"/>
                  <a:ea typeface="楷体_GB2312" pitchFamily="49" charset="-122"/>
                </a:rPr>
                <a:t>H</a:t>
              </a:r>
              <a:r>
                <a:rPr lang="en-US" altLang="zh-CN" sz="2600" b="1" baseline="-25000" smtClean="0">
                  <a:solidFill>
                    <a:srgbClr val="000000"/>
                  </a:solidFill>
                  <a:latin typeface="Times New Roman" panose="02020603050405020304" pitchFamily="18" charset="0"/>
                  <a:ea typeface="楷体_GB2312" pitchFamily="49" charset="-122"/>
                </a:rPr>
                <a:t>m</a:t>
              </a:r>
              <a:r>
                <a:rPr lang="el-GR" altLang="zh-CN" sz="2600" b="1" baseline="30000" smtClean="0">
                  <a:solidFill>
                    <a:srgbClr val="000000"/>
                  </a:solidFill>
                  <a:latin typeface="楷体_GB2312" pitchFamily="49" charset="-122"/>
                  <a:ea typeface="楷体_GB2312" pitchFamily="49" charset="-122"/>
                </a:rPr>
                <a:t>Θ</a:t>
              </a:r>
              <a:r>
                <a:rPr lang="en-US" altLang="zh-CN" sz="2600" b="1" smtClean="0">
                  <a:solidFill>
                    <a:srgbClr val="000000"/>
                  </a:solidFill>
                  <a:latin typeface="Times New Roman" panose="02020603050405020304" pitchFamily="18" charset="0"/>
                  <a:ea typeface="楷体_GB2312" pitchFamily="49" charset="-122"/>
                </a:rPr>
                <a:t>(S</a:t>
              </a:r>
              <a:r>
                <a:rPr lang="en-US" altLang="zh-CN" sz="2600" b="1" baseline="-25000" smtClean="0">
                  <a:solidFill>
                    <a:srgbClr val="000000"/>
                  </a:solidFill>
                  <a:latin typeface="Times New Roman" panose="02020603050405020304" pitchFamily="18" charset="0"/>
                  <a:ea typeface="楷体_GB2312" pitchFamily="49" charset="-122"/>
                </a:rPr>
                <a:t>8</a:t>
              </a:r>
              <a:r>
                <a:rPr lang="en-US" altLang="zh-CN" sz="2600" b="1" smtClean="0">
                  <a:solidFill>
                    <a:srgbClr val="000000"/>
                  </a:solidFill>
                  <a:latin typeface="Times New Roman" panose="02020603050405020304" pitchFamily="18" charset="0"/>
                  <a:ea typeface="楷体_GB2312" pitchFamily="49" charset="-122"/>
                </a:rPr>
                <a:t> )= 0,    T =298.15K</a:t>
              </a:r>
            </a:p>
          </p:txBody>
        </p:sp>
        <p:sp>
          <p:nvSpPr>
            <p:cNvPr id="17418" name="矩形 13"/>
            <p:cNvSpPr>
              <a:spLocks noChangeArrowheads="1"/>
            </p:cNvSpPr>
            <p:nvPr/>
          </p:nvSpPr>
          <p:spPr bwMode="auto">
            <a:xfrm>
              <a:off x="76200" y="76200"/>
              <a:ext cx="1149674" cy="461665"/>
            </a:xfrm>
            <a:prstGeom prst="rect">
              <a:avLst/>
            </a:prstGeom>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0" fontAlgn="base" hangingPunct="0">
                <a:lnSpc>
                  <a:spcPct val="80000"/>
                </a:lnSpc>
                <a:spcBef>
                  <a:spcPct val="50000"/>
                </a:spcBef>
                <a:spcAft>
                  <a:spcPct val="0"/>
                </a:spcAft>
              </a:pPr>
              <a:r>
                <a:rPr kumimoji="1" lang="zh-CN" altLang="en-US" sz="3000" b="1" i="1" dirty="0" smtClean="0">
                  <a:solidFill>
                    <a:srgbClr val="FF0000"/>
                  </a:solidFill>
                  <a:latin typeface="Times New Roman" panose="02020603050405020304" pitchFamily="18" charset="0"/>
                  <a:ea typeface="楷体_GB2312" pitchFamily="49" charset="-122"/>
                </a:rPr>
                <a:t>例题</a:t>
              </a:r>
              <a:r>
                <a:rPr kumimoji="1" lang="en-US" altLang="zh-CN" sz="3000" b="1" i="1" dirty="0" smtClean="0">
                  <a:solidFill>
                    <a:srgbClr val="FF0000"/>
                  </a:solidFill>
                  <a:latin typeface="Times New Roman" panose="02020603050405020304" pitchFamily="18" charset="0"/>
                  <a:ea typeface="楷体_GB2312" pitchFamily="49" charset="-122"/>
                </a:rPr>
                <a:t>3</a:t>
              </a:r>
              <a:endParaRPr kumimoji="1" lang="zh-CN" altLang="en-US" sz="3000" b="1" i="1" dirty="0" smtClean="0">
                <a:solidFill>
                  <a:srgbClr val="FF0000"/>
                </a:solidFill>
                <a:latin typeface="Times New Roman" panose="02020603050405020304" pitchFamily="18" charset="0"/>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19141"/>
                                        </p:tgtEl>
                                        <p:attrNameLst>
                                          <p:attrName>style.visibility</p:attrName>
                                        </p:attrNameLst>
                                      </p:cBhvr>
                                      <p:to>
                                        <p:strVal val="visible"/>
                                      </p:to>
                                    </p:set>
                                    <p:anim calcmode="lin" valueType="num">
                                      <p:cBhvr additive="base">
                                        <p:cTn id="12" dur="500" fill="hold"/>
                                        <p:tgtEl>
                                          <p:spTgt spid="219141"/>
                                        </p:tgtEl>
                                        <p:attrNameLst>
                                          <p:attrName>ppt_x</p:attrName>
                                        </p:attrNameLst>
                                      </p:cBhvr>
                                      <p:tavLst>
                                        <p:tav tm="0">
                                          <p:val>
                                            <p:strVal val="#ppt_x"/>
                                          </p:val>
                                        </p:tav>
                                        <p:tav tm="100000">
                                          <p:val>
                                            <p:strVal val="#ppt_x"/>
                                          </p:val>
                                        </p:tav>
                                      </p:tavLst>
                                    </p:anim>
                                    <p:anim calcmode="lin" valueType="num">
                                      <p:cBhvr additive="base">
                                        <p:cTn id="13" dur="500" fill="hold"/>
                                        <p:tgtEl>
                                          <p:spTgt spid="2191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组合 10"/>
          <p:cNvGrpSpPr/>
          <p:nvPr/>
        </p:nvGrpSpPr>
        <p:grpSpPr bwMode="auto">
          <a:xfrm>
            <a:off x="357158" y="142852"/>
            <a:ext cx="8458200" cy="2143140"/>
            <a:chOff x="381000" y="433630"/>
            <a:chExt cx="8458200" cy="2369406"/>
          </a:xfrm>
        </p:grpSpPr>
        <p:sp>
          <p:nvSpPr>
            <p:cNvPr id="18441" name="Rectangle 2"/>
            <p:cNvSpPr>
              <a:spLocks noChangeArrowheads="1"/>
            </p:cNvSpPr>
            <p:nvPr/>
          </p:nvSpPr>
          <p:spPr bwMode="auto">
            <a:xfrm>
              <a:off x="457200" y="1066800"/>
              <a:ext cx="8305800" cy="48895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spcBef>
                  <a:spcPct val="50000"/>
                </a:spcBef>
                <a:spcAft>
                  <a:spcPct val="0"/>
                </a:spcAft>
                <a:buClr>
                  <a:srgbClr val="333399"/>
                </a:buClr>
                <a:buFont typeface="Wingdings" panose="05000000000000000000" pitchFamily="2" charset="2"/>
                <a:buNone/>
              </a:pPr>
              <a:r>
                <a:rPr kumimoji="1" lang="en-US" altLang="zh-CN" sz="2600" b="1" dirty="0" smtClean="0">
                  <a:solidFill>
                    <a:srgbClr val="FF0000"/>
                  </a:solidFill>
                  <a:latin typeface="Times New Roman" panose="02020603050405020304" pitchFamily="18" charset="0"/>
                  <a:ea typeface="楷体_GB2312" pitchFamily="49" charset="-122"/>
                </a:rPr>
                <a:t>        1.</a:t>
              </a:r>
              <a:r>
                <a:rPr kumimoji="1" lang="en-US" altLang="zh-CN" sz="2600" b="1" dirty="0" smtClean="0">
                  <a:solidFill>
                    <a:srgbClr val="000000"/>
                  </a:solidFill>
                  <a:latin typeface="Times New Roman" panose="02020603050405020304" pitchFamily="18" charset="0"/>
                  <a:ea typeface="楷体_GB2312" pitchFamily="49" charset="-122"/>
                </a:rPr>
                <a:t> </a:t>
              </a:r>
              <a:r>
                <a:rPr kumimoji="1" lang="zh-CN" altLang="en-US" sz="2600" b="1" dirty="0" smtClean="0">
                  <a:solidFill>
                    <a:srgbClr val="000000"/>
                  </a:solidFill>
                  <a:latin typeface="Times New Roman" panose="02020603050405020304" pitchFamily="18" charset="0"/>
                  <a:ea typeface="楷体_GB2312" pitchFamily="49" charset="-122"/>
                </a:rPr>
                <a:t>根据</a:t>
              </a:r>
              <a:r>
                <a:rPr kumimoji="1" lang="en-GB" altLang="zh-CN" sz="2600" b="1" dirty="0" smtClean="0">
                  <a:solidFill>
                    <a:srgbClr val="000000"/>
                  </a:solidFill>
                  <a:latin typeface="Times New Roman" panose="02020603050405020304" pitchFamily="18" charset="0"/>
                  <a:ea typeface="楷体_GB2312" pitchFamily="49" charset="-122"/>
                </a:rPr>
                <a:t>Hess</a:t>
              </a:r>
              <a:r>
                <a:rPr kumimoji="1" lang="zh-CN" altLang="en-US" sz="2600" b="1" dirty="0" smtClean="0">
                  <a:solidFill>
                    <a:srgbClr val="000000"/>
                  </a:solidFill>
                  <a:latin typeface="Times New Roman" panose="02020603050405020304" pitchFamily="18" charset="0"/>
                  <a:ea typeface="楷体_GB2312" pitchFamily="49" charset="-122"/>
                </a:rPr>
                <a:t>定律，通过方程式的组合求得；</a:t>
              </a:r>
            </a:p>
          </p:txBody>
        </p:sp>
        <p:sp>
          <p:nvSpPr>
            <p:cNvPr id="18442" name="Rectangle 3"/>
            <p:cNvSpPr>
              <a:spLocks noChangeArrowheads="1"/>
            </p:cNvSpPr>
            <p:nvPr/>
          </p:nvSpPr>
          <p:spPr bwMode="auto">
            <a:xfrm>
              <a:off x="523876" y="433630"/>
              <a:ext cx="7391400" cy="512704"/>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3600"/>
                </a:lnSpc>
                <a:spcBef>
                  <a:spcPct val="50000"/>
                </a:spcBef>
                <a:spcAft>
                  <a:spcPct val="0"/>
                </a:spcAft>
                <a:buClr>
                  <a:srgbClr val="333399"/>
                </a:buClr>
                <a:buFont typeface="Wingdings" panose="05000000000000000000" pitchFamily="2" charset="2"/>
                <a:buNone/>
              </a:pPr>
              <a:r>
                <a:rPr kumimoji="1" lang="zh-CN" altLang="en-US" sz="2600" b="1" dirty="0" smtClean="0">
                  <a:solidFill>
                    <a:srgbClr val="000000"/>
                  </a:solidFill>
                  <a:latin typeface="Times New Roman" panose="02020603050405020304" pitchFamily="18" charset="0"/>
                  <a:ea typeface="楷体_GB2312" pitchFamily="49" charset="-122"/>
                </a:rPr>
                <a:t>小结：</a:t>
              </a:r>
              <a:r>
                <a:rPr kumimoji="1" lang="en-US" altLang="zh-CN" sz="2600" b="1" i="1" dirty="0" smtClean="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2600" b="1" i="1" dirty="0" smtClean="0">
                  <a:solidFill>
                    <a:srgbClr val="FF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i="1" baseline="-25000" dirty="0" smtClean="0">
                  <a:solidFill>
                    <a:srgbClr val="FF0000"/>
                  </a:solidFill>
                  <a:latin typeface="Times New Roman" panose="02020603050405020304" pitchFamily="18" charset="0"/>
                  <a:ea typeface="楷体_GB2312" pitchFamily="49" charset="-122"/>
                  <a:sym typeface="Symbol" panose="05050102010706020507" pitchFamily="18" charset="2"/>
                </a:rPr>
                <a:t>r  </a:t>
              </a:r>
              <a:r>
                <a:rPr kumimoji="1" lang="en-US" altLang="en-US" sz="2600" b="1" i="1" dirty="0" err="1" smtClean="0">
                  <a:solidFill>
                    <a:srgbClr val="FF0000"/>
                  </a:solidFill>
                  <a:latin typeface="Times New Roman" panose="02020603050405020304" pitchFamily="18" charset="0"/>
                  <a:ea typeface="楷体_GB2312" pitchFamily="49" charset="-122"/>
                  <a:sym typeface="Symbol" panose="05050102010706020507" pitchFamily="18" charset="2"/>
                </a:rPr>
                <a:t>H</a:t>
              </a:r>
              <a:r>
                <a:rPr kumimoji="1" lang="en-US" altLang="zh-CN" sz="2600" b="1" i="1" baseline="-25000" dirty="0" err="1" smtClean="0">
                  <a:solidFill>
                    <a:srgbClr val="FF0000"/>
                  </a:solidFill>
                  <a:latin typeface="Times New Roman" panose="02020603050405020304" pitchFamily="18" charset="0"/>
                  <a:ea typeface="楷体_GB2312" pitchFamily="49" charset="-122"/>
                  <a:sym typeface="Symbol" panose="05050102010706020507" pitchFamily="18" charset="2"/>
                </a:rPr>
                <a:t>m</a:t>
              </a:r>
              <a:r>
                <a:rPr lang="el-GR" altLang="zh-CN" sz="2600" b="1" baseline="30000" dirty="0" smtClean="0">
                  <a:solidFill>
                    <a:srgbClr val="FF0000"/>
                  </a:solidFill>
                  <a:latin typeface="楷体_GB2312" pitchFamily="49" charset="-122"/>
                  <a:ea typeface="楷体_GB2312" pitchFamily="49" charset="-122"/>
                </a:rPr>
                <a:t>Θ</a:t>
              </a:r>
              <a:r>
                <a:rPr kumimoji="1" lang="zh-CN" altLang="en-US" sz="2600" b="1" dirty="0" smtClean="0">
                  <a:solidFill>
                    <a:srgbClr val="000000"/>
                  </a:solidFill>
                  <a:latin typeface="Times New Roman" panose="02020603050405020304" pitchFamily="18" charset="0"/>
                  <a:ea typeface="楷体_GB2312" pitchFamily="49" charset="-122"/>
                </a:rPr>
                <a:t>、</a:t>
              </a:r>
              <a:r>
                <a:rPr kumimoji="1" lang="en-US" altLang="zh-CN" sz="2600" b="1" i="1" dirty="0" smtClean="0">
                  <a:solidFill>
                    <a:srgbClr val="FF0000"/>
                  </a:solidFill>
                  <a:latin typeface="Times New Roman" panose="02020603050405020304" pitchFamily="18" charset="0"/>
                  <a:ea typeface="楷体_GB2312" pitchFamily="49" charset="-122"/>
                  <a:sym typeface="Symbol" panose="05050102010706020507" pitchFamily="18" charset="2"/>
                </a:rPr>
                <a:t></a:t>
              </a:r>
              <a:r>
                <a:rPr kumimoji="1" lang="en-US" altLang="zh-CN" sz="2600" b="1" i="1" baseline="-25000" dirty="0" smtClean="0">
                  <a:solidFill>
                    <a:srgbClr val="FF0000"/>
                  </a:solidFill>
                  <a:latin typeface="Times New Roman" panose="02020603050405020304" pitchFamily="18" charset="0"/>
                  <a:ea typeface="楷体_GB2312" pitchFamily="49" charset="-122"/>
                  <a:sym typeface="Symbol" panose="05050102010706020507" pitchFamily="18" charset="2"/>
                </a:rPr>
                <a:t>f </a:t>
              </a:r>
              <a:r>
                <a:rPr kumimoji="1" lang="en-US" altLang="en-US" sz="2600" b="1" i="1" dirty="0" err="1" smtClean="0">
                  <a:solidFill>
                    <a:srgbClr val="FF0000"/>
                  </a:solidFill>
                  <a:latin typeface="Times New Roman" panose="02020603050405020304" pitchFamily="18" charset="0"/>
                  <a:ea typeface="楷体_GB2312" pitchFamily="49" charset="-122"/>
                  <a:sym typeface="Symbol" panose="05050102010706020507" pitchFamily="18" charset="2"/>
                </a:rPr>
                <a:t>H</a:t>
              </a:r>
              <a:r>
                <a:rPr kumimoji="1" lang="en-US" altLang="zh-CN" sz="2600" b="1" i="1" baseline="-25000" dirty="0" err="1" smtClean="0">
                  <a:solidFill>
                    <a:srgbClr val="FF0000"/>
                  </a:solidFill>
                  <a:latin typeface="Times New Roman" panose="02020603050405020304" pitchFamily="18" charset="0"/>
                  <a:ea typeface="楷体_GB2312" pitchFamily="49" charset="-122"/>
                  <a:sym typeface="Symbol" panose="05050102010706020507" pitchFamily="18" charset="2"/>
                </a:rPr>
                <a:t>m</a:t>
              </a:r>
              <a:r>
                <a:rPr lang="el-GR" altLang="zh-CN" sz="2600" b="1" baseline="30000" dirty="0" smtClean="0">
                  <a:solidFill>
                    <a:srgbClr val="FF0000"/>
                  </a:solidFill>
                  <a:latin typeface="楷体_GB2312" pitchFamily="49" charset="-122"/>
                  <a:ea typeface="楷体_GB2312" pitchFamily="49" charset="-122"/>
                </a:rPr>
                <a:t>Θ</a:t>
              </a:r>
              <a:r>
                <a:rPr kumimoji="1" lang="zh-CN" altLang="en-US" sz="2600" b="1" dirty="0" smtClean="0">
                  <a:solidFill>
                    <a:srgbClr val="000000"/>
                  </a:solidFill>
                  <a:latin typeface="Times New Roman" panose="02020603050405020304" pitchFamily="18" charset="0"/>
                  <a:ea typeface="楷体_GB2312" pitchFamily="49" charset="-122"/>
                </a:rPr>
                <a:t>的计算方式有：</a:t>
              </a:r>
            </a:p>
          </p:txBody>
        </p:sp>
        <p:sp>
          <p:nvSpPr>
            <p:cNvPr id="18443" name="Rectangle 4"/>
            <p:cNvSpPr>
              <a:spLocks noChangeArrowheads="1"/>
            </p:cNvSpPr>
            <p:nvPr/>
          </p:nvSpPr>
          <p:spPr bwMode="auto">
            <a:xfrm>
              <a:off x="381000" y="1828800"/>
              <a:ext cx="8458200" cy="974236"/>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fontAlgn="base">
                <a:lnSpc>
                  <a:spcPts val="3600"/>
                </a:lnSpc>
                <a:spcBef>
                  <a:spcPct val="50000"/>
                </a:spcBef>
                <a:spcAft>
                  <a:spcPct val="0"/>
                </a:spcAft>
                <a:buClr>
                  <a:srgbClr val="333399"/>
                </a:buClr>
                <a:buFont typeface="Wingdings" panose="05000000000000000000" pitchFamily="2" charset="2"/>
                <a:buNone/>
              </a:pPr>
              <a:r>
                <a:rPr kumimoji="1" lang="en-US" altLang="zh-CN" sz="2600" b="1" dirty="0" smtClean="0">
                  <a:solidFill>
                    <a:srgbClr val="FF0000"/>
                  </a:solidFill>
                  <a:latin typeface="Times New Roman" panose="02020603050405020304" pitchFamily="18" charset="0"/>
                  <a:ea typeface="楷体_GB2312" pitchFamily="49" charset="-122"/>
                </a:rPr>
                <a:t>         2. </a:t>
              </a:r>
              <a:r>
                <a:rPr kumimoji="1" lang="zh-CN" altLang="en-US" sz="2600" b="1" dirty="0" smtClean="0">
                  <a:solidFill>
                    <a:srgbClr val="000000"/>
                  </a:solidFill>
                  <a:latin typeface="Times New Roman" panose="02020603050405020304" pitchFamily="18" charset="0"/>
                  <a:ea typeface="楷体_GB2312" pitchFamily="49" charset="-122"/>
                </a:rPr>
                <a:t>通过各物质的标准摩尔生成焓变</a:t>
              </a:r>
              <a:r>
                <a:rPr kumimoji="1" lang="en-US" altLang="zh-CN" sz="2600" b="1" i="1" dirty="0" smtClean="0">
                  <a:solidFill>
                    <a:srgbClr val="0000FF"/>
                  </a:solidFill>
                  <a:latin typeface="Times New Roman" panose="02020603050405020304" pitchFamily="18" charset="0"/>
                  <a:ea typeface="楷体_GB2312" pitchFamily="49" charset="-122"/>
                  <a:sym typeface="Symbol" panose="05050102010706020507" pitchFamily="18" charset="2"/>
                </a:rPr>
                <a:t></a:t>
              </a:r>
              <a:r>
                <a:rPr kumimoji="1" lang="en-US" altLang="zh-CN" sz="2600" b="1" i="1" baseline="-25000" dirty="0" smtClean="0">
                  <a:solidFill>
                    <a:srgbClr val="0000FF"/>
                  </a:solidFill>
                  <a:latin typeface="Times New Roman" panose="02020603050405020304" pitchFamily="18" charset="0"/>
                  <a:ea typeface="楷体_GB2312" pitchFamily="49" charset="-122"/>
                  <a:sym typeface="Symbol" panose="05050102010706020507" pitchFamily="18" charset="2"/>
                </a:rPr>
                <a:t>f </a:t>
              </a:r>
              <a:r>
                <a:rPr kumimoji="1" lang="en-US" altLang="en-US" sz="2600" b="1" i="1" dirty="0" err="1" smtClean="0">
                  <a:solidFill>
                    <a:srgbClr val="0000FF"/>
                  </a:solidFill>
                  <a:latin typeface="Times New Roman" panose="02020603050405020304" pitchFamily="18" charset="0"/>
                  <a:ea typeface="楷体_GB2312" pitchFamily="49" charset="-122"/>
                  <a:sym typeface="Symbol" panose="05050102010706020507" pitchFamily="18" charset="2"/>
                </a:rPr>
                <a:t>H</a:t>
              </a:r>
              <a:r>
                <a:rPr kumimoji="1" lang="en-US" altLang="zh-CN" sz="2600" b="1" i="1" baseline="-25000" dirty="0" err="1" smtClean="0">
                  <a:solidFill>
                    <a:srgbClr val="0000FF"/>
                  </a:solidFill>
                  <a:latin typeface="Times New Roman" panose="02020603050405020304" pitchFamily="18" charset="0"/>
                  <a:ea typeface="楷体_GB2312" pitchFamily="49" charset="-122"/>
                  <a:sym typeface="Symbol" panose="05050102010706020507" pitchFamily="18" charset="2"/>
                </a:rPr>
                <a:t>m</a:t>
              </a:r>
              <a:r>
                <a:rPr lang="el-GR" altLang="zh-CN" sz="2600" b="1" baseline="30000" dirty="0" smtClean="0">
                  <a:solidFill>
                    <a:srgbClr val="0000FF"/>
                  </a:solidFill>
                  <a:latin typeface="楷体_GB2312" pitchFamily="49" charset="-122"/>
                  <a:ea typeface="楷体_GB2312" pitchFamily="49" charset="-122"/>
                </a:rPr>
                <a:t>Θ</a:t>
              </a:r>
              <a:r>
                <a:rPr kumimoji="1" lang="zh-CN" altLang="en-US" sz="2600" b="1" dirty="0" smtClean="0">
                  <a:solidFill>
                    <a:srgbClr val="000000"/>
                  </a:solidFill>
                  <a:latin typeface="Times New Roman" panose="02020603050405020304" pitchFamily="18" charset="0"/>
                  <a:ea typeface="楷体_GB2312" pitchFamily="49" charset="-122"/>
                </a:rPr>
                <a:t>来计算标准摩尔反应焓变</a:t>
              </a:r>
              <a:r>
                <a:rPr kumimoji="1" lang="en-US" altLang="zh-CN" sz="2600" b="1" i="1" dirty="0" smtClean="0">
                  <a:solidFill>
                    <a:srgbClr val="0000FF"/>
                  </a:solidFill>
                  <a:latin typeface="Times New Roman" panose="02020603050405020304" pitchFamily="18" charset="0"/>
                  <a:ea typeface="楷体_GB2312" pitchFamily="49" charset="-122"/>
                  <a:sym typeface="Symbol" panose="05050102010706020507" pitchFamily="18" charset="2"/>
                </a:rPr>
                <a:t></a:t>
              </a:r>
              <a:r>
                <a:rPr kumimoji="1" lang="en-US" altLang="zh-CN" sz="2600" b="1" i="1" baseline="-25000" dirty="0" smtClean="0">
                  <a:solidFill>
                    <a:srgbClr val="0000FF"/>
                  </a:solidFill>
                  <a:latin typeface="Times New Roman" panose="02020603050405020304" pitchFamily="18" charset="0"/>
                  <a:ea typeface="楷体_GB2312" pitchFamily="49" charset="-122"/>
                  <a:sym typeface="Symbol" panose="05050102010706020507" pitchFamily="18" charset="2"/>
                </a:rPr>
                <a:t>r  </a:t>
              </a:r>
              <a:r>
                <a:rPr kumimoji="1" lang="en-US" altLang="en-US" sz="2600" b="1" i="1" dirty="0" err="1" smtClean="0">
                  <a:solidFill>
                    <a:srgbClr val="0000FF"/>
                  </a:solidFill>
                  <a:latin typeface="Times New Roman" panose="02020603050405020304" pitchFamily="18" charset="0"/>
                  <a:ea typeface="楷体_GB2312" pitchFamily="49" charset="-122"/>
                  <a:sym typeface="Symbol" panose="05050102010706020507" pitchFamily="18" charset="2"/>
                </a:rPr>
                <a:t>H</a:t>
              </a:r>
              <a:r>
                <a:rPr kumimoji="1" lang="en-US" altLang="zh-CN" sz="2600" b="1" i="1" baseline="-25000" dirty="0" err="1" smtClean="0">
                  <a:solidFill>
                    <a:srgbClr val="0000FF"/>
                  </a:solidFill>
                  <a:latin typeface="Times New Roman" panose="02020603050405020304" pitchFamily="18" charset="0"/>
                  <a:ea typeface="楷体_GB2312" pitchFamily="49" charset="-122"/>
                  <a:sym typeface="Symbol" panose="05050102010706020507" pitchFamily="18" charset="2"/>
                </a:rPr>
                <a:t>m</a:t>
              </a:r>
              <a:r>
                <a:rPr lang="el-GR" altLang="zh-CN" sz="2600" b="1" baseline="30000" dirty="0" smtClean="0">
                  <a:solidFill>
                    <a:srgbClr val="0000FF"/>
                  </a:solidFill>
                  <a:latin typeface="楷体_GB2312" pitchFamily="49" charset="-122"/>
                  <a:ea typeface="楷体_GB2312" pitchFamily="49" charset="-122"/>
                </a:rPr>
                <a:t>Θ</a:t>
              </a:r>
              <a:r>
                <a:rPr kumimoji="1" lang="zh-CN" altLang="en-US" sz="2600" b="1" dirty="0" smtClean="0">
                  <a:solidFill>
                    <a:srgbClr val="000000"/>
                  </a:solidFill>
                  <a:latin typeface="Times New Roman" panose="02020603050405020304" pitchFamily="18" charset="0"/>
                  <a:ea typeface="楷体_GB2312" pitchFamily="49" charset="-122"/>
                </a:rPr>
                <a:t>，反之亦然；</a:t>
              </a:r>
              <a:endParaRPr kumimoji="1" lang="en-US" altLang="zh-CN" sz="2600" b="1" dirty="0" smtClean="0">
                <a:solidFill>
                  <a:srgbClr val="000000"/>
                </a:solidFill>
                <a:latin typeface="Times New Roman" panose="02020603050405020304" pitchFamily="18" charset="0"/>
                <a:ea typeface="楷体_GB2312" pitchFamily="49" charset="-122"/>
              </a:endParaRPr>
            </a:p>
          </p:txBody>
        </p:sp>
      </p:grpSp>
      <p:grpSp>
        <p:nvGrpSpPr>
          <p:cNvPr id="12" name="组合 11"/>
          <p:cNvGrpSpPr/>
          <p:nvPr/>
        </p:nvGrpSpPr>
        <p:grpSpPr>
          <a:xfrm>
            <a:off x="571472" y="2357430"/>
            <a:ext cx="8358246" cy="3878601"/>
            <a:chOff x="1338608" y="2971800"/>
            <a:chExt cx="6387755" cy="3664287"/>
          </a:xfrm>
        </p:grpSpPr>
        <p:grpSp>
          <p:nvGrpSpPr>
            <p:cNvPr id="13" name="组合 11"/>
            <p:cNvGrpSpPr/>
            <p:nvPr/>
          </p:nvGrpSpPr>
          <p:grpSpPr>
            <a:xfrm>
              <a:off x="1338608" y="2971800"/>
              <a:ext cx="6387755" cy="3260725"/>
              <a:chOff x="1338608" y="2971800"/>
              <a:chExt cx="6387755" cy="3260725"/>
            </a:xfrm>
          </p:grpSpPr>
          <p:graphicFrame>
            <p:nvGraphicFramePr>
              <p:cNvPr id="15" name="Object 7"/>
              <p:cNvGraphicFramePr>
                <a:graphicFrameLocks/>
              </p:cNvGraphicFramePr>
              <p:nvPr/>
            </p:nvGraphicFramePr>
            <p:xfrm>
              <a:off x="4267200" y="2971800"/>
              <a:ext cx="3459163" cy="2335213"/>
            </p:xfrm>
            <a:graphic>
              <a:graphicData uri="http://schemas.openxmlformats.org/presentationml/2006/ole">
                <p:oleObj spid="_x0000_s100355" r:id="rId3" imgW="21621750" imgH="14592300" progId="">
                  <p:embed/>
                </p:oleObj>
              </a:graphicData>
            </a:graphic>
          </p:graphicFrame>
          <p:graphicFrame>
            <p:nvGraphicFramePr>
              <p:cNvPr id="16" name="Object 8"/>
              <p:cNvGraphicFramePr>
                <a:graphicFrameLocks/>
              </p:cNvGraphicFramePr>
              <p:nvPr/>
            </p:nvGraphicFramePr>
            <p:xfrm>
              <a:off x="1600200" y="5334000"/>
              <a:ext cx="5638800" cy="898525"/>
            </p:xfrm>
            <a:graphic>
              <a:graphicData uri="http://schemas.openxmlformats.org/presentationml/2006/ole">
                <p:oleObj spid="_x0000_s100356" r:id="rId4" imgW="23383875" imgH="5619750" progId="">
                  <p:embed/>
                </p:oleObj>
              </a:graphicData>
            </a:graphic>
          </p:graphicFrame>
          <p:grpSp>
            <p:nvGrpSpPr>
              <p:cNvPr id="17" name="组合 10"/>
              <p:cNvGrpSpPr/>
              <p:nvPr/>
            </p:nvGrpSpPr>
            <p:grpSpPr>
              <a:xfrm>
                <a:off x="1338608" y="3646707"/>
                <a:ext cx="2714644" cy="964878"/>
                <a:chOff x="1795808" y="3494307"/>
                <a:chExt cx="2714644" cy="964878"/>
              </a:xfrm>
            </p:grpSpPr>
            <p:sp>
              <p:nvSpPr>
                <p:cNvPr id="18" name="矩形 8"/>
                <p:cNvSpPr/>
                <p:nvPr/>
              </p:nvSpPr>
              <p:spPr>
                <a:xfrm>
                  <a:off x="1795808" y="3494307"/>
                  <a:ext cx="2714644" cy="843234"/>
                </a:xfrm>
                <a:prstGeom prst="rect">
                  <a:avLst/>
                </a:prstGeom>
                <a:solidFill>
                  <a:srgbClr val="92D050"/>
                </a:solidFill>
                <a:ln w="9525">
                  <a:noFill/>
                </a:ln>
              </p:spPr>
              <p:txBody>
                <a:bodyPr wrap="square" anchor="t" anchorCtr="0">
                  <a:spAutoFit/>
                </a:bodyPr>
                <a:lstStyle/>
                <a:p>
                  <a:pPr algn="ctr"/>
                  <a:r>
                    <a:rPr lang="en-US" altLang="zh-CN" sz="2600" b="1" i="1" dirty="0">
                      <a:solidFill>
                        <a:srgbClr val="FF0000"/>
                      </a:solidFill>
                      <a:latin typeface="+mj-lt"/>
                      <a:ea typeface="楷体_GB2312" charset="-122"/>
                    </a:rPr>
                    <a:t>Q</a:t>
                  </a:r>
                  <a:r>
                    <a:rPr lang="en-US" altLang="zh-CN" sz="2600" b="1" i="1" baseline="-25000" dirty="0">
                      <a:solidFill>
                        <a:srgbClr val="FF0000"/>
                      </a:solidFill>
                      <a:latin typeface="+mj-lt"/>
                      <a:ea typeface="楷体_GB2312" charset="-122"/>
                    </a:rPr>
                    <a:t>V</a:t>
                  </a:r>
                  <a:r>
                    <a:rPr lang="en-US" altLang="zh-CN" sz="2600" b="1" i="1" dirty="0">
                      <a:solidFill>
                        <a:srgbClr val="FF0000"/>
                      </a:solidFill>
                      <a:latin typeface="+mj-lt"/>
                      <a:ea typeface="楷体_GB2312" charset="-122"/>
                    </a:rPr>
                    <a:t> = </a:t>
                  </a:r>
                  <a:r>
                    <a:rPr lang="en-US" altLang="zh-CN" sz="2600" b="1" i="1" dirty="0">
                      <a:solidFill>
                        <a:srgbClr val="FF0000"/>
                      </a:solidFill>
                      <a:latin typeface="+mj-lt"/>
                      <a:ea typeface="楷体_GB2312" charset="-122"/>
                      <a:sym typeface="Symbol" panose="05050102010706020507" pitchFamily="18" charset="2"/>
                    </a:rPr>
                    <a:t></a:t>
                  </a:r>
                  <a:r>
                    <a:rPr lang="en-US" altLang="zh-CN" sz="2600" b="1" i="1" baseline="-25000" dirty="0">
                      <a:solidFill>
                        <a:srgbClr val="FF0000"/>
                      </a:solidFill>
                      <a:latin typeface="+mj-lt"/>
                      <a:ea typeface="楷体_GB2312" charset="-122"/>
                      <a:sym typeface="Symbol" panose="05050102010706020507" pitchFamily="18" charset="2"/>
                    </a:rPr>
                    <a:t>r  </a:t>
                  </a:r>
                  <a:r>
                    <a:rPr lang="en-US" altLang="en-US" sz="2600" b="1" i="1" dirty="0">
                      <a:solidFill>
                        <a:srgbClr val="FF0000"/>
                      </a:solidFill>
                      <a:latin typeface="+mj-lt"/>
                      <a:ea typeface="楷体_GB2312" charset="-122"/>
                      <a:sym typeface="Symbol" panose="05050102010706020507" pitchFamily="18" charset="2"/>
                    </a:rPr>
                    <a:t>U</a:t>
                  </a:r>
                  <a:r>
                    <a:rPr lang="en-US" altLang="zh-CN" sz="2600" b="1" i="1" baseline="-25000" dirty="0">
                      <a:solidFill>
                        <a:srgbClr val="FF0000"/>
                      </a:solidFill>
                      <a:latin typeface="+mj-lt"/>
                      <a:ea typeface="楷体_GB2312" charset="-122"/>
                      <a:sym typeface="Symbol" panose="05050102010706020507" pitchFamily="18" charset="2"/>
                    </a:rPr>
                    <a:t>m</a:t>
                  </a:r>
                  <a:r>
                    <a:rPr lang="en-US" altLang="zh-CN" sz="2600" b="1" i="1" dirty="0">
                      <a:solidFill>
                        <a:srgbClr val="FF0000"/>
                      </a:solidFill>
                      <a:latin typeface="+mj-lt"/>
                      <a:ea typeface="楷体_GB2312" charset="-122"/>
                      <a:sym typeface="Symbol" panose="05050102010706020507" pitchFamily="18" charset="2"/>
                    </a:rPr>
                    <a:t> </a:t>
                  </a:r>
                </a:p>
                <a:p>
                  <a:pPr algn="ctr"/>
                  <a:endParaRPr lang="zh-CN" altLang="en-US" sz="2600" b="1" i="1" dirty="0">
                    <a:solidFill>
                      <a:srgbClr val="FF0000"/>
                    </a:solidFill>
                    <a:latin typeface="+mj-lt"/>
                    <a:ea typeface="楷体_GB2312" charset="-122"/>
                  </a:endParaRPr>
                </a:p>
              </p:txBody>
            </p:sp>
            <p:sp>
              <p:nvSpPr>
                <p:cNvPr id="19" name="矩形 9"/>
                <p:cNvSpPr/>
                <p:nvPr/>
              </p:nvSpPr>
              <p:spPr>
                <a:xfrm>
                  <a:off x="2396366" y="3966742"/>
                  <a:ext cx="1948739" cy="492443"/>
                </a:xfrm>
                <a:prstGeom prst="rect">
                  <a:avLst/>
                </a:prstGeom>
                <a:noFill/>
                <a:ln w="9525">
                  <a:noFill/>
                </a:ln>
              </p:spPr>
              <p:txBody>
                <a:bodyPr wrap="none" anchor="t" anchorCtr="0">
                  <a:spAutoFit/>
                </a:bodyPr>
                <a:lstStyle/>
                <a:p>
                  <a:r>
                    <a:rPr lang="en-US" altLang="zh-CN" sz="2600" b="1" i="1" dirty="0">
                      <a:solidFill>
                        <a:srgbClr val="FF0000"/>
                      </a:solidFill>
                      <a:latin typeface="+mj-lt"/>
                      <a:ea typeface="楷体_GB2312" charset="-122"/>
                    </a:rPr>
                    <a:t>Q </a:t>
                  </a:r>
                  <a:r>
                    <a:rPr lang="en-US" altLang="zh-CN" sz="2600" b="1" i="1" baseline="-25000" dirty="0">
                      <a:solidFill>
                        <a:srgbClr val="FF0000"/>
                      </a:solidFill>
                      <a:latin typeface="+mj-lt"/>
                      <a:ea typeface="楷体_GB2312" charset="-122"/>
                    </a:rPr>
                    <a:t>p</a:t>
                  </a:r>
                  <a:r>
                    <a:rPr lang="en-US" altLang="zh-CN" sz="2600" b="1" i="1" dirty="0">
                      <a:solidFill>
                        <a:srgbClr val="FF0000"/>
                      </a:solidFill>
                      <a:latin typeface="+mj-lt"/>
                      <a:ea typeface="楷体_GB2312" charset="-122"/>
                    </a:rPr>
                    <a:t> = </a:t>
                  </a:r>
                  <a:r>
                    <a:rPr lang="en-US" altLang="zh-CN" sz="2600" b="1" i="1" dirty="0">
                      <a:solidFill>
                        <a:srgbClr val="FF0000"/>
                      </a:solidFill>
                      <a:latin typeface="+mj-lt"/>
                      <a:ea typeface="楷体_GB2312" charset="-122"/>
                      <a:sym typeface="Symbol" panose="05050102010706020507" pitchFamily="18" charset="2"/>
                    </a:rPr>
                    <a:t></a:t>
                  </a:r>
                  <a:r>
                    <a:rPr lang="en-US" altLang="zh-CN" sz="2600" b="1" i="1" baseline="-25000" dirty="0">
                      <a:solidFill>
                        <a:srgbClr val="FF0000"/>
                      </a:solidFill>
                      <a:latin typeface="+mj-lt"/>
                      <a:ea typeface="楷体_GB2312" charset="-122"/>
                      <a:sym typeface="Symbol" panose="05050102010706020507" pitchFamily="18" charset="2"/>
                    </a:rPr>
                    <a:t>r  </a:t>
                  </a:r>
                  <a:r>
                    <a:rPr lang="en-US" altLang="en-US" sz="2600" b="1" i="1" dirty="0">
                      <a:solidFill>
                        <a:srgbClr val="FF0000"/>
                      </a:solidFill>
                      <a:latin typeface="+mj-lt"/>
                      <a:ea typeface="楷体_GB2312" charset="-122"/>
                      <a:sym typeface="Symbol" panose="05050102010706020507" pitchFamily="18" charset="2"/>
                    </a:rPr>
                    <a:t>H</a:t>
                  </a:r>
                  <a:r>
                    <a:rPr lang="en-US" altLang="zh-CN" sz="2600" b="1" i="1" baseline="-25000" dirty="0">
                      <a:solidFill>
                        <a:srgbClr val="FF0000"/>
                      </a:solidFill>
                      <a:latin typeface="+mj-lt"/>
                      <a:ea typeface="楷体_GB2312" charset="-122"/>
                      <a:sym typeface="Symbol" panose="05050102010706020507" pitchFamily="18" charset="2"/>
                    </a:rPr>
                    <a:t>m</a:t>
                  </a:r>
                  <a:r>
                    <a:rPr lang="en-US" altLang="zh-CN" sz="2600" b="1" i="1" dirty="0">
                      <a:solidFill>
                        <a:srgbClr val="FF0000"/>
                      </a:solidFill>
                      <a:latin typeface="+mj-lt"/>
                      <a:ea typeface="楷体_GB2312" charset="-122"/>
                      <a:sym typeface="Symbol" panose="05050102010706020507" pitchFamily="18" charset="2"/>
                    </a:rPr>
                    <a:t> </a:t>
                  </a:r>
                </a:p>
              </p:txBody>
            </p:sp>
          </p:grpSp>
        </p:grpSp>
        <p:sp>
          <p:nvSpPr>
            <p:cNvPr id="14" name="矩形 13"/>
            <p:cNvSpPr/>
            <p:nvPr/>
          </p:nvSpPr>
          <p:spPr>
            <a:xfrm>
              <a:off x="1785918" y="6143644"/>
              <a:ext cx="5349541" cy="492443"/>
            </a:xfrm>
            <a:prstGeom prst="rect">
              <a:avLst/>
            </a:prstGeom>
          </p:spPr>
          <p:txBody>
            <a:bodyPr wrap="none">
              <a:spAutoFit/>
            </a:bodyPr>
            <a:lstStyle/>
            <a:p>
              <a:r>
                <a:rPr lang="zh-CN" altLang="en-US" sz="2600" b="1" i="1" dirty="0" smtClean="0">
                  <a:solidFill>
                    <a:srgbClr val="080808"/>
                  </a:solidFill>
                  <a:latin typeface="+mj-lt"/>
                </a:rPr>
                <a:t>注</a:t>
              </a:r>
              <a:r>
                <a:rPr lang="en-US" altLang="zh-CN" sz="2600" b="1" i="1" dirty="0" smtClean="0">
                  <a:solidFill>
                    <a:srgbClr val="080808"/>
                  </a:solidFill>
                  <a:latin typeface="+mj-lt"/>
                </a:rPr>
                <a:t>——</a:t>
              </a:r>
              <a:r>
                <a:rPr lang="zh-CN" altLang="en-US" sz="2600" b="1" i="1" dirty="0" smtClean="0">
                  <a:solidFill>
                    <a:srgbClr val="080808"/>
                  </a:solidFill>
                  <a:latin typeface="+mj-lt"/>
                </a:rPr>
                <a:t>公式中的</a:t>
              </a:r>
              <a:r>
                <a:rPr lang="zh-CN" altLang="en-US" sz="2600" b="1" i="1" dirty="0" smtClean="0">
                  <a:solidFill>
                    <a:schemeClr val="tx1"/>
                  </a:solidFill>
                  <a:latin typeface="+mj-lt"/>
                  <a:sym typeface="Symbol" panose="05050102010706020507" pitchFamily="18" charset="2"/>
                </a:rPr>
                <a:t></a:t>
              </a:r>
              <a:r>
                <a:rPr lang="en-US" altLang="zh-CN" sz="2600" b="1" i="1" baseline="-25000" dirty="0" err="1" smtClean="0">
                  <a:solidFill>
                    <a:schemeClr val="tx1"/>
                  </a:solidFill>
                  <a:latin typeface="+mj-lt"/>
                  <a:sym typeface="Symbol" panose="05050102010706020507" pitchFamily="18" charset="2"/>
                </a:rPr>
                <a:t>r</a:t>
              </a:r>
              <a:r>
                <a:rPr lang="en-US" altLang="en-US" sz="2600" b="1" i="1" dirty="0" err="1" smtClean="0">
                  <a:solidFill>
                    <a:schemeClr val="tx1"/>
                  </a:solidFill>
                  <a:latin typeface="+mj-lt"/>
                  <a:sym typeface="Symbol" panose="05050102010706020507" pitchFamily="18" charset="2"/>
                </a:rPr>
                <a:t>H</a:t>
              </a:r>
              <a:r>
                <a:rPr lang="en-US" altLang="zh-CN" sz="2600" b="1" i="1" baseline="-25000" dirty="0" err="1" smtClean="0">
                  <a:solidFill>
                    <a:schemeClr val="tx1"/>
                  </a:solidFill>
                  <a:latin typeface="+mj-lt"/>
                  <a:sym typeface="Symbol" panose="05050102010706020507" pitchFamily="18" charset="2"/>
                </a:rPr>
                <a:t>m</a:t>
              </a:r>
              <a:r>
                <a:rPr lang="el-GR" altLang="zh-CN" sz="2600" b="1" i="1" baseline="30000" dirty="0" smtClean="0">
                  <a:solidFill>
                    <a:schemeClr val="tx1"/>
                  </a:solidFill>
                  <a:latin typeface="+mj-lt"/>
                </a:rPr>
                <a:t>Θ</a:t>
              </a:r>
              <a:r>
                <a:rPr lang="zh-CN" altLang="en-US" sz="2600" b="1" i="1" dirty="0" smtClean="0">
                  <a:solidFill>
                    <a:schemeClr val="tx1"/>
                  </a:solidFill>
                  <a:latin typeface="+mj-lt"/>
                </a:rPr>
                <a:t>，改为</a:t>
              </a:r>
              <a:r>
                <a:rPr lang="zh-CN" altLang="en-US" sz="2600" b="1" i="1" dirty="0" smtClean="0">
                  <a:solidFill>
                    <a:schemeClr val="tx1"/>
                  </a:solidFill>
                  <a:latin typeface="+mj-lt"/>
                  <a:sym typeface="Symbol" panose="05050102010706020507" pitchFamily="18" charset="2"/>
                </a:rPr>
                <a:t></a:t>
              </a:r>
              <a:r>
                <a:rPr lang="en-US" altLang="zh-CN" sz="2600" b="1" i="1" baseline="-25000" dirty="0" err="1" smtClean="0">
                  <a:solidFill>
                    <a:schemeClr val="tx1"/>
                  </a:solidFill>
                  <a:latin typeface="+mj-lt"/>
                  <a:sym typeface="Symbol" panose="05050102010706020507" pitchFamily="18" charset="2"/>
                </a:rPr>
                <a:t>f</a:t>
              </a:r>
              <a:r>
                <a:rPr lang="en-US" altLang="en-US" sz="2600" b="1" i="1" dirty="0" err="1" smtClean="0">
                  <a:solidFill>
                    <a:schemeClr val="tx1"/>
                  </a:solidFill>
                  <a:latin typeface="+mj-lt"/>
                  <a:sym typeface="Symbol" panose="05050102010706020507" pitchFamily="18" charset="2"/>
                </a:rPr>
                <a:t>H</a:t>
              </a:r>
              <a:r>
                <a:rPr lang="en-US" altLang="zh-CN" sz="2600" b="1" i="1" baseline="-25000" dirty="0" err="1" smtClean="0">
                  <a:solidFill>
                    <a:schemeClr val="tx1"/>
                  </a:solidFill>
                  <a:latin typeface="+mj-lt"/>
                  <a:sym typeface="Symbol" panose="05050102010706020507" pitchFamily="18" charset="2"/>
                </a:rPr>
                <a:t>m</a:t>
              </a:r>
              <a:r>
                <a:rPr lang="el-GR" altLang="zh-CN" sz="2600" b="1" i="1" baseline="30000" dirty="0" smtClean="0">
                  <a:solidFill>
                    <a:schemeClr val="tx1"/>
                  </a:solidFill>
                  <a:latin typeface="+mj-lt"/>
                </a:rPr>
                <a:t>Θ</a:t>
              </a:r>
              <a:endParaRPr lang="zh-CN" altLang="en-US" sz="2600" b="1" i="1" dirty="0">
                <a:latin typeface="+mj-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ppt_x"/>
                                          </p:val>
                                        </p:tav>
                                        <p:tav tm="100000">
                                          <p:val>
                                            <p:strVal val="#ppt_x"/>
                                          </p:val>
                                        </p:tav>
                                      </p:tavLst>
                                    </p:anim>
                                    <p:anim calcmode="lin" valueType="num">
                                      <p:cBhvr additive="base">
                                        <p:cTn id="1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
          <p:cNvGrpSpPr/>
          <p:nvPr/>
        </p:nvGrpSpPr>
        <p:grpSpPr>
          <a:xfrm>
            <a:off x="1828800" y="1447800"/>
            <a:ext cx="5650907" cy="1622286"/>
            <a:chOff x="2362200" y="990600"/>
            <a:chExt cx="3556647" cy="1622286"/>
          </a:xfrm>
          <a:solidFill>
            <a:schemeClr val="accent1"/>
          </a:solidFill>
        </p:grpSpPr>
        <p:sp>
          <p:nvSpPr>
            <p:cNvPr id="3" name="矩形 2"/>
            <p:cNvSpPr/>
            <p:nvPr/>
          </p:nvSpPr>
          <p:spPr>
            <a:xfrm>
              <a:off x="2937718" y="990600"/>
              <a:ext cx="2157274" cy="584775"/>
            </a:xfrm>
            <a:prstGeom prst="rect">
              <a:avLst/>
            </a:prstGeom>
            <a:grpFill/>
          </p:spPr>
          <p:txBody>
            <a:bodyPr wrap="none">
              <a:spAutoFit/>
            </a:bodyPr>
            <a:lstStyle/>
            <a:p>
              <a:pPr algn="ctr" eaLnBrk="0" fontAlgn="base" hangingPunct="0">
                <a:lnSpc>
                  <a:spcPct val="80000"/>
                </a:lnSpc>
                <a:spcBef>
                  <a:spcPct val="50000"/>
                </a:spcBef>
                <a:spcAft>
                  <a:spcPct val="0"/>
                </a:spcAft>
                <a:defRPr/>
              </a:pPr>
              <a:r>
                <a:rPr kumimoji="1" lang="zh-CN" altLang="en-US" sz="4000" b="1" i="1" dirty="0">
                  <a:solidFill>
                    <a:srgbClr val="FF0000"/>
                  </a:solidFill>
                  <a:latin typeface="Times New Roman" panose="02020603050405020304" pitchFamily="18" charset="0"/>
                  <a:ea typeface="楷体_GB2312" pitchFamily="49" charset="-122"/>
                </a:rPr>
                <a:t>本章作业 </a:t>
              </a:r>
              <a:r>
                <a:rPr kumimoji="1" lang="en-US" altLang="zh-CN" sz="4000" b="1" i="1" dirty="0">
                  <a:solidFill>
                    <a:srgbClr val="FF0000"/>
                  </a:solidFill>
                  <a:latin typeface="Times New Roman" panose="02020603050405020304" pitchFamily="18" charset="0"/>
                  <a:ea typeface="楷体_GB2312" pitchFamily="49" charset="-122"/>
                </a:rPr>
                <a:t>p</a:t>
              </a:r>
              <a:r>
                <a:rPr kumimoji="1" lang="en-US" altLang="zh-CN" sz="4000" b="1" i="1" baseline="-25000" dirty="0">
                  <a:solidFill>
                    <a:srgbClr val="FF0000"/>
                  </a:solidFill>
                  <a:latin typeface="Times New Roman" panose="02020603050405020304" pitchFamily="18" charset="0"/>
                  <a:ea typeface="楷体_GB2312" pitchFamily="49" charset="-122"/>
                </a:rPr>
                <a:t>40-41</a:t>
              </a:r>
              <a:endParaRPr kumimoji="1" lang="zh-CN" altLang="en-US" sz="4000" b="1" i="1" baseline="-25000" dirty="0">
                <a:solidFill>
                  <a:srgbClr val="FF0000"/>
                </a:solidFill>
                <a:latin typeface="Times New Roman" panose="02020603050405020304" pitchFamily="18" charset="0"/>
                <a:ea typeface="楷体_GB2312" pitchFamily="49" charset="-122"/>
              </a:endParaRPr>
            </a:p>
          </p:txBody>
        </p:sp>
        <p:sp>
          <p:nvSpPr>
            <p:cNvPr id="4" name="矩形 3"/>
            <p:cNvSpPr/>
            <p:nvPr/>
          </p:nvSpPr>
          <p:spPr>
            <a:xfrm>
              <a:off x="2362200" y="1905000"/>
              <a:ext cx="3556647" cy="707886"/>
            </a:xfrm>
            <a:prstGeom prst="rect">
              <a:avLst/>
            </a:prstGeom>
            <a:grpFill/>
          </p:spPr>
          <p:txBody>
            <a:bodyPr wrap="none">
              <a:spAutoFit/>
            </a:bodyPr>
            <a:lstStyle/>
            <a:p>
              <a:pPr algn="ctr" eaLnBrk="0" fontAlgn="base" hangingPunct="0">
                <a:lnSpc>
                  <a:spcPct val="80000"/>
                </a:lnSpc>
                <a:spcBef>
                  <a:spcPct val="50000"/>
                </a:spcBef>
                <a:spcAft>
                  <a:spcPct val="0"/>
                </a:spcAft>
                <a:defRPr/>
              </a:pPr>
              <a:r>
                <a:rPr kumimoji="1" lang="en-US" altLang="zh-CN" sz="5000" b="1" i="1" dirty="0">
                  <a:solidFill>
                    <a:srgbClr val="FF0000"/>
                  </a:solidFill>
                  <a:latin typeface="Times New Roman" panose="02020603050405020304" pitchFamily="18" charset="0"/>
                  <a:ea typeface="楷体_GB2312" pitchFamily="49" charset="-122"/>
                </a:rPr>
                <a:t>2</a:t>
              </a:r>
              <a:r>
                <a:rPr kumimoji="1" lang="zh-CN" altLang="en-US" sz="5000" b="1" i="1" dirty="0">
                  <a:solidFill>
                    <a:srgbClr val="FF0000"/>
                  </a:solidFill>
                  <a:latin typeface="Times New Roman" panose="02020603050405020304" pitchFamily="18" charset="0"/>
                  <a:ea typeface="楷体_GB2312" pitchFamily="49" charset="-122"/>
                </a:rPr>
                <a:t>、</a:t>
              </a:r>
              <a:r>
                <a:rPr kumimoji="1" lang="en-US" altLang="zh-CN" sz="5000" b="1" i="1" dirty="0">
                  <a:solidFill>
                    <a:srgbClr val="FF0000"/>
                  </a:solidFill>
                  <a:latin typeface="Times New Roman" panose="02020603050405020304" pitchFamily="18" charset="0"/>
                  <a:ea typeface="楷体_GB2312" pitchFamily="49" charset="-122"/>
                </a:rPr>
                <a:t>6</a:t>
              </a:r>
              <a:r>
                <a:rPr kumimoji="1" lang="zh-CN" altLang="en-US" sz="5000" b="1" i="1" dirty="0">
                  <a:solidFill>
                    <a:srgbClr val="FF0000"/>
                  </a:solidFill>
                  <a:latin typeface="Times New Roman" panose="02020603050405020304" pitchFamily="18" charset="0"/>
                  <a:ea typeface="楷体_GB2312" pitchFamily="49" charset="-122"/>
                </a:rPr>
                <a:t>、</a:t>
              </a:r>
              <a:r>
                <a:rPr kumimoji="1" lang="en-US" altLang="zh-CN" sz="5000" b="1" i="1" dirty="0">
                  <a:solidFill>
                    <a:srgbClr val="FF0000"/>
                  </a:solidFill>
                  <a:latin typeface="Times New Roman" panose="02020603050405020304" pitchFamily="18" charset="0"/>
                  <a:ea typeface="楷体_GB2312" pitchFamily="49" charset="-122"/>
                </a:rPr>
                <a:t>7</a:t>
              </a:r>
              <a:r>
                <a:rPr kumimoji="1" lang="zh-CN" altLang="en-US" sz="5000" b="1" i="1" dirty="0">
                  <a:solidFill>
                    <a:srgbClr val="FF0000"/>
                  </a:solidFill>
                  <a:latin typeface="Times New Roman" panose="02020603050405020304" pitchFamily="18" charset="0"/>
                  <a:ea typeface="楷体_GB2312" pitchFamily="49" charset="-122"/>
                </a:rPr>
                <a:t>、</a:t>
              </a:r>
              <a:r>
                <a:rPr kumimoji="1" lang="en-US" altLang="zh-CN" sz="5000" b="1" i="1" dirty="0">
                  <a:solidFill>
                    <a:srgbClr val="FF0000"/>
                  </a:solidFill>
                  <a:latin typeface="Times New Roman" panose="02020603050405020304" pitchFamily="18" charset="0"/>
                  <a:ea typeface="楷体_GB2312" pitchFamily="49" charset="-122"/>
                </a:rPr>
                <a:t>8</a:t>
              </a:r>
              <a:r>
                <a:rPr kumimoji="1" lang="zh-CN" altLang="en-US" sz="5000" b="1" i="1" dirty="0">
                  <a:solidFill>
                    <a:srgbClr val="FF0000"/>
                  </a:solidFill>
                  <a:latin typeface="Times New Roman" panose="02020603050405020304" pitchFamily="18" charset="0"/>
                  <a:ea typeface="楷体_GB2312" pitchFamily="49" charset="-122"/>
                </a:rPr>
                <a:t>、</a:t>
              </a:r>
              <a:r>
                <a:rPr kumimoji="1" lang="en-US" altLang="zh-CN" sz="5000" b="1" i="1" dirty="0">
                  <a:solidFill>
                    <a:srgbClr val="FF0000"/>
                  </a:solidFill>
                  <a:latin typeface="Times New Roman" panose="02020603050405020304" pitchFamily="18" charset="0"/>
                  <a:ea typeface="楷体_GB2312" pitchFamily="49" charset="-122"/>
                </a:rPr>
                <a:t>9</a:t>
              </a:r>
              <a:r>
                <a:rPr kumimoji="1" lang="zh-CN" altLang="en-US" sz="5000" b="1" i="1" dirty="0">
                  <a:solidFill>
                    <a:srgbClr val="FF0000"/>
                  </a:solidFill>
                  <a:latin typeface="Times New Roman" panose="02020603050405020304" pitchFamily="18" charset="0"/>
                  <a:ea typeface="楷体_GB2312" pitchFamily="49" charset="-122"/>
                </a:rPr>
                <a:t>、</a:t>
              </a:r>
              <a:r>
                <a:rPr kumimoji="1" lang="en-US" altLang="zh-CN" sz="5000" b="1" i="1" dirty="0">
                  <a:solidFill>
                    <a:srgbClr val="FF0000"/>
                  </a:solidFill>
                  <a:latin typeface="Times New Roman" panose="02020603050405020304" pitchFamily="18" charset="0"/>
                  <a:ea typeface="楷体_GB2312" pitchFamily="49" charset="-122"/>
                </a:rPr>
                <a:t>13</a:t>
              </a:r>
              <a:endParaRPr kumimoji="1" lang="zh-CN" altLang="en-US" sz="5000" b="1" i="1" dirty="0">
                <a:solidFill>
                  <a:srgbClr val="FF0000"/>
                </a:solidFill>
                <a:latin typeface="Times New Roman" panose="02020603050405020304" pitchFamily="18" charset="0"/>
                <a:ea typeface="楷体_GB2312" pitchFamily="49" charset="-122"/>
              </a:endParaRPr>
            </a:p>
          </p:txBody>
        </p:sp>
      </p:grpSp>
      <p:sp>
        <p:nvSpPr>
          <p:cNvPr id="5" name="矩形 4"/>
          <p:cNvSpPr/>
          <p:nvPr/>
        </p:nvSpPr>
        <p:spPr>
          <a:xfrm>
            <a:off x="3143240" y="3214686"/>
            <a:ext cx="4368504" cy="492443"/>
          </a:xfrm>
          <a:prstGeom prst="rect">
            <a:avLst/>
          </a:prstGeom>
        </p:spPr>
        <p:txBody>
          <a:bodyPr wrap="none">
            <a:spAutoFit/>
          </a:bodyPr>
          <a:lstStyle/>
          <a:p>
            <a:r>
              <a:rPr kumimoji="1" lang="en-US" altLang="zh-CN" sz="2600" b="1" i="1" dirty="0" smtClean="0">
                <a:solidFill>
                  <a:srgbClr val="2909C9"/>
                </a:solidFill>
                <a:latin typeface="Times New Roman" panose="02020603050405020304" pitchFamily="18" charset="0"/>
                <a:ea typeface="楷体_GB2312" pitchFamily="49" charset="-122"/>
              </a:rPr>
              <a:t>——</a:t>
            </a:r>
            <a:r>
              <a:rPr kumimoji="1" lang="zh-CN" altLang="en-US" sz="2600" b="1" i="1" dirty="0" smtClean="0">
                <a:solidFill>
                  <a:srgbClr val="2909C9"/>
                </a:solidFill>
                <a:latin typeface="Times New Roman" panose="02020603050405020304" pitchFamily="18" charset="0"/>
                <a:ea typeface="楷体_GB2312" pitchFamily="49" charset="-122"/>
              </a:rPr>
              <a:t>注意第</a:t>
            </a:r>
            <a:r>
              <a:rPr kumimoji="1" lang="en-US" altLang="zh-CN" sz="2600" b="1" i="1" dirty="0" smtClean="0">
                <a:solidFill>
                  <a:srgbClr val="2909C9"/>
                </a:solidFill>
                <a:latin typeface="Times New Roman" panose="02020603050405020304" pitchFamily="18" charset="0"/>
                <a:ea typeface="楷体_GB2312" pitchFamily="49" charset="-122"/>
              </a:rPr>
              <a:t>7</a:t>
            </a:r>
            <a:r>
              <a:rPr kumimoji="1" lang="zh-CN" altLang="en-US" sz="2600" b="1" i="1" dirty="0" smtClean="0">
                <a:solidFill>
                  <a:srgbClr val="2909C9"/>
                </a:solidFill>
                <a:latin typeface="Times New Roman" panose="02020603050405020304" pitchFamily="18" charset="0"/>
                <a:ea typeface="楷体_GB2312" pitchFamily="49" charset="-122"/>
              </a:rPr>
              <a:t>大题后面的问题</a:t>
            </a:r>
            <a:endParaRPr lang="zh-CN" altLang="en-US" sz="2600" i="1" dirty="0">
              <a:solidFill>
                <a:srgbClr val="2909C9"/>
              </a:solidFill>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GQ3Y2FkMzBhOWQzYzNlMDlhNTg0YjExZjlmYTdlOTgifQ=="/>
  <p:tag name="KSO_WPP_MARK_KEY" val="fbc5178d-d0d8-4303-9bec-2f6626454aa4"/>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675,&quot;width&quot;:12913}"/>
</p:tagLst>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outerShdw sy="50000" kx="2453608" rotWithShape="0">
            <a:srgbClr val="808080">
              <a:alpha val="50000"/>
            </a:srgbClr>
          </a:outerShdw>
        </a:effectLst>
      </a:spPr>
      <a:bodyPr vert="horz" wrap="square" lIns="92075" tIns="46038" rIns="92075" bIns="46038" numCol="1" anchor="t" anchorCtr="0" compatLnSpc="1">
        <a:spAutoFit/>
      </a:bodyPr>
      <a:lstStyle>
        <a:defPPr marL="0" marR="0" indent="0" algn="l" defTabSz="914400" rtl="0" eaLnBrk="0" fontAlgn="base" latinLnBrk="0" hangingPunct="0">
          <a:lnSpc>
            <a:spcPct val="80000"/>
          </a:lnSpc>
          <a:spcBef>
            <a:spcPct val="50000"/>
          </a:spcBef>
          <a:spcAft>
            <a:spcPct val="0"/>
          </a:spcAft>
          <a:buClrTx/>
          <a:buSzTx/>
          <a:buFontTx/>
          <a:buNone/>
          <a:defRPr kumimoji="1" lang="zh-CN" altLang="en-US" sz="3000" b="1" i="0" u="none" strike="noStrike" cap="none" normalizeH="0" baseline="0" smtClean="0">
            <a:ln>
              <a:noFill/>
            </a:ln>
            <a:solidFill>
              <a:srgbClr val="0000FF"/>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outerShdw sy="50000" kx="2453608" rotWithShape="0">
            <a:srgbClr val="808080">
              <a:alpha val="50000"/>
            </a:srgbClr>
          </a:outerShdw>
        </a:effectLst>
      </a:spPr>
      <a:bodyPr vert="horz" wrap="square" lIns="92075" tIns="46038" rIns="92075" bIns="46038" numCol="1" anchor="t" anchorCtr="0" compatLnSpc="1">
        <a:spAutoFit/>
      </a:bodyPr>
      <a:lstStyle>
        <a:defPPr marL="0" marR="0" indent="0" algn="l" defTabSz="914400" rtl="0" eaLnBrk="0" fontAlgn="base" latinLnBrk="0" hangingPunct="0">
          <a:lnSpc>
            <a:spcPct val="80000"/>
          </a:lnSpc>
          <a:spcBef>
            <a:spcPct val="50000"/>
          </a:spcBef>
          <a:spcAft>
            <a:spcPct val="0"/>
          </a:spcAft>
          <a:buClrTx/>
          <a:buSzTx/>
          <a:buFontTx/>
          <a:buNone/>
          <a:defRPr kumimoji="1" lang="zh-CN" altLang="en-US" sz="3000" b="1" i="0" u="none" strike="noStrike" cap="none" normalizeH="0" baseline="0" smtClean="0">
            <a:ln>
              <a:noFill/>
            </a:ln>
            <a:solidFill>
              <a:srgbClr val="0000FF"/>
            </a:solidFill>
            <a:effectLst/>
            <a:latin typeface="Times New Roman" panose="02020603050405020304" pitchFamily="18" charset="0"/>
            <a:ea typeface="楷体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砖雕艺术">
  <a:themeElements>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砖雕艺术">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noFill/>
          <a:prstDash val="solid"/>
          <a:round/>
          <a:headEnd type="none" w="med" len="med"/>
          <a:tailEnd type="none" w="med" len="med"/>
        </a:ln>
      </a:spPr>
      <a:bodyPr vert="horz" wrap="square" lIns="91440" tIns="45720" rIns="91440" bIns="45720" numCol="1" anchor="ctr" anchorCtr="0" compatLnSpc="1">
        <a:spAutoFit/>
      </a:bodyPr>
      <a:lstStyle>
        <a:defPPr marL="342900" marR="0" indent="-342900" algn="l" defTabSz="914400" rtl="0" eaLnBrk="1" fontAlgn="base" latinLnBrk="0" hangingPunct="1">
          <a:lnSpc>
            <a:spcPct val="100000"/>
          </a:lnSpc>
          <a:spcBef>
            <a:spcPct val="0"/>
          </a:spcBef>
          <a:spcAft>
            <a:spcPct val="0"/>
          </a:spcAft>
          <a:buClrTx/>
          <a:buSzTx/>
          <a:buFontTx/>
          <a:buNone/>
          <a:defRPr kumimoji="1" lang="zh-CN" altLang="en-US" sz="2600" b="1" i="1" u="none" strike="noStrike" cap="none" normalizeH="0" baseline="0" smtClean="0">
            <a:ln>
              <a:noFill/>
            </a:ln>
            <a:solidFill>
              <a:srgbClr val="CC3300"/>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solidFill>
          <a:srgbClr val="C0C0C0"/>
        </a:solidFill>
        <a:ln w="9525" cap="flat" cmpd="sng" algn="ctr">
          <a:noFill/>
          <a:prstDash val="solid"/>
          <a:round/>
          <a:headEnd type="none" w="med" len="med"/>
          <a:tailEnd type="none" w="med" len="med"/>
        </a:ln>
      </a:spPr>
      <a:bodyPr vert="horz" wrap="square" lIns="91440" tIns="45720" rIns="91440" bIns="45720" numCol="1" anchor="ctr" anchorCtr="0" compatLnSpc="1">
        <a:spAutoFit/>
      </a:bodyPr>
      <a:lstStyle>
        <a:defPPr marL="342900" marR="0" indent="-342900" algn="l" defTabSz="914400" rtl="0" eaLnBrk="1" fontAlgn="base" latinLnBrk="0" hangingPunct="1">
          <a:lnSpc>
            <a:spcPct val="100000"/>
          </a:lnSpc>
          <a:spcBef>
            <a:spcPct val="0"/>
          </a:spcBef>
          <a:spcAft>
            <a:spcPct val="0"/>
          </a:spcAft>
          <a:buClrTx/>
          <a:buSzTx/>
          <a:buFontTx/>
          <a:buNone/>
          <a:defRPr kumimoji="1" lang="zh-CN" altLang="en-US" sz="2600" b="1" i="1" u="none" strike="noStrike" cap="none" normalizeH="0" baseline="0" smtClean="0">
            <a:ln>
              <a:noFill/>
            </a:ln>
            <a:solidFill>
              <a:srgbClr val="CC3300"/>
            </a:solidFill>
            <a:effectLst/>
            <a:latin typeface="Times New Roman" panose="02020603050405020304" pitchFamily="18" charset="0"/>
            <a:ea typeface="楷体_GB2312" pitchFamily="49" charset="-122"/>
          </a:defRPr>
        </a:defPPr>
      </a:lstStyle>
    </a:lnDef>
  </a:objectDefaults>
  <a:extraClrSchemeLst>
    <a:extraClrScheme>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clrMap bg1="lt1" tx1="dk1" bg2="lt2" tx2="dk2" accent1="accent1" accent2="accent2" accent3="accent3" accent4="accent4" accent5="accent5" accent6="accent6" hlink="hlink" folHlink="folHlink"/>
    </a:extraClrScheme>
    <a:extraClrScheme>
      <a:clrScheme name="砖雕艺术 2">
        <a:dk1>
          <a:srgbClr val="333399"/>
        </a:dk1>
        <a:lt1>
          <a:srgbClr val="ADD3AF"/>
        </a:lt1>
        <a:dk2>
          <a:srgbClr val="D65700"/>
        </a:dk2>
        <a:lt2>
          <a:srgbClr val="B2B2B2"/>
        </a:lt2>
        <a:accent1>
          <a:srgbClr val="B8E9EE"/>
        </a:accent1>
        <a:accent2>
          <a:srgbClr val="FFCC00"/>
        </a:accent2>
        <a:accent3>
          <a:srgbClr val="D3E6D4"/>
        </a:accent3>
        <a:accent4>
          <a:srgbClr val="2A2A82"/>
        </a:accent4>
        <a:accent5>
          <a:srgbClr val="D8F2F5"/>
        </a:accent5>
        <a:accent6>
          <a:srgbClr val="E7B900"/>
        </a:accent6>
        <a:hlink>
          <a:srgbClr val="008080"/>
        </a:hlink>
        <a:folHlink>
          <a:srgbClr val="003366"/>
        </a:folHlink>
      </a:clrScheme>
      <a:clrMap bg1="lt1" tx1="dk1" bg2="lt2" tx2="dk2" accent1="accent1" accent2="accent2" accent3="accent3" accent4="accent4" accent5="accent5" accent6="accent6" hlink="hlink" folHlink="folHlink"/>
    </a:extraClrScheme>
    <a:extraClrScheme>
      <a:clrScheme name="砖雕艺术 3">
        <a:dk1>
          <a:srgbClr val="003BB2"/>
        </a:dk1>
        <a:lt1>
          <a:srgbClr val="CCFFCC"/>
        </a:lt1>
        <a:dk2>
          <a:srgbClr val="003366"/>
        </a:dk2>
        <a:lt2>
          <a:srgbClr val="C0C0C0"/>
        </a:lt2>
        <a:accent1>
          <a:srgbClr val="FFFFFF"/>
        </a:accent1>
        <a:accent2>
          <a:srgbClr val="009900"/>
        </a:accent2>
        <a:accent3>
          <a:srgbClr val="E2FFE2"/>
        </a:accent3>
        <a:accent4>
          <a:srgbClr val="003197"/>
        </a:accent4>
        <a:accent5>
          <a:srgbClr val="FFFFFF"/>
        </a:accent5>
        <a:accent6>
          <a:srgbClr val="008A00"/>
        </a:accent6>
        <a:hlink>
          <a:srgbClr val="333399"/>
        </a:hlink>
        <a:folHlink>
          <a:srgbClr val="E45C00"/>
        </a:folHlink>
      </a:clrScheme>
      <a:clrMap bg1="lt1" tx1="dk1" bg2="lt2" tx2="dk2" accent1="accent1" accent2="accent2" accent3="accent3" accent4="accent4" accent5="accent5" accent6="accent6" hlink="hlink" folHlink="folHlink"/>
    </a:extraClrScheme>
    <a:extraClrScheme>
      <a:clrScheme name="砖雕艺术 4">
        <a:dk1>
          <a:srgbClr val="0000CC"/>
        </a:dk1>
        <a:lt1>
          <a:srgbClr val="CCECFF"/>
        </a:lt1>
        <a:dk2>
          <a:srgbClr val="006666"/>
        </a:dk2>
        <a:lt2>
          <a:srgbClr val="C0C0C0"/>
        </a:lt2>
        <a:accent1>
          <a:srgbClr val="FFFF99"/>
        </a:accent1>
        <a:accent2>
          <a:srgbClr val="FFCCFF"/>
        </a:accent2>
        <a:accent3>
          <a:srgbClr val="E2F4FF"/>
        </a:accent3>
        <a:accent4>
          <a:srgbClr val="0000AE"/>
        </a:accent4>
        <a:accent5>
          <a:srgbClr val="FFFFCA"/>
        </a:accent5>
        <a:accent6>
          <a:srgbClr val="E7B9E7"/>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砖雕艺术 5">
        <a:dk1>
          <a:srgbClr val="000000"/>
        </a:dk1>
        <a:lt1>
          <a:srgbClr val="FFFFCC"/>
        </a:lt1>
        <a:dk2>
          <a:srgbClr val="5A5A86"/>
        </a:dk2>
        <a:lt2>
          <a:srgbClr val="C0C0C0"/>
        </a:lt2>
        <a:accent1>
          <a:srgbClr val="D5E9F7"/>
        </a:accent1>
        <a:accent2>
          <a:srgbClr val="FFCC00"/>
        </a:accent2>
        <a:accent3>
          <a:srgbClr val="FFFFE2"/>
        </a:accent3>
        <a:accent4>
          <a:srgbClr val="000000"/>
        </a:accent4>
        <a:accent5>
          <a:srgbClr val="E7F2FA"/>
        </a:accent5>
        <a:accent6>
          <a:srgbClr val="E7B900"/>
        </a:accent6>
        <a:hlink>
          <a:srgbClr val="CC3300"/>
        </a:hlink>
        <a:folHlink>
          <a:srgbClr val="007D7A"/>
        </a:folHlink>
      </a:clrScheme>
      <a:clrMap bg1="lt1" tx1="dk1" bg2="lt2" tx2="dk2" accent1="accent1" accent2="accent2" accent3="accent3" accent4="accent4" accent5="accent5" accent6="accent6" hlink="hlink" folHlink="folHlink"/>
    </a:extraClrScheme>
    <a:extraClrScheme>
      <a:clrScheme name="砖雕艺术 6">
        <a:dk1>
          <a:srgbClr val="006666"/>
        </a:dk1>
        <a:lt1>
          <a:srgbClr val="FFECD9"/>
        </a:lt1>
        <a:dk2>
          <a:srgbClr val="000099"/>
        </a:dk2>
        <a:lt2>
          <a:srgbClr val="B2B2B2"/>
        </a:lt2>
        <a:accent1>
          <a:srgbClr val="EAEAEA"/>
        </a:accent1>
        <a:accent2>
          <a:srgbClr val="FF6600"/>
        </a:accent2>
        <a:accent3>
          <a:srgbClr val="FFF4E9"/>
        </a:accent3>
        <a:accent4>
          <a:srgbClr val="005656"/>
        </a:accent4>
        <a:accent5>
          <a:srgbClr val="F3F3F3"/>
        </a:accent5>
        <a:accent6>
          <a:srgbClr val="E75C00"/>
        </a:accent6>
        <a:hlink>
          <a:srgbClr val="0066FF"/>
        </a:hlink>
        <a:folHlink>
          <a:srgbClr val="777777"/>
        </a:folHlink>
      </a:clrScheme>
      <a:clrMap bg1="lt1" tx1="dk1" bg2="lt2" tx2="dk2" accent1="accent1" accent2="accent2" accent3="accent3" accent4="accent4" accent5="accent5" accent6="accent6" hlink="hlink" folHlink="folHlink"/>
    </a:extraClrScheme>
    <a:extraClrScheme>
      <a:clrScheme name="砖雕艺术 7">
        <a:dk1>
          <a:srgbClr val="585884"/>
        </a:dk1>
        <a:lt1>
          <a:srgbClr val="DDDDDD"/>
        </a:lt1>
        <a:dk2>
          <a:srgbClr val="000000"/>
        </a:dk2>
        <a:lt2>
          <a:srgbClr val="969696"/>
        </a:lt2>
        <a:accent1>
          <a:srgbClr val="FFFFCC"/>
        </a:accent1>
        <a:accent2>
          <a:srgbClr val="99CC00"/>
        </a:accent2>
        <a:accent3>
          <a:srgbClr val="EBEBEB"/>
        </a:accent3>
        <a:accent4>
          <a:srgbClr val="4A4A70"/>
        </a:accent4>
        <a:accent5>
          <a:srgbClr val="FFFFE2"/>
        </a:accent5>
        <a:accent6>
          <a:srgbClr val="8AB900"/>
        </a:accent6>
        <a:hlink>
          <a:srgbClr val="FF3300"/>
        </a:hlink>
        <a:folHlink>
          <a:srgbClr val="6E3B8B"/>
        </a:folHlink>
      </a:clrScheme>
      <a:clrMap bg1="lt1" tx1="dk1" bg2="lt2" tx2="dk2" accent1="accent1" accent2="accent2" accent3="accent3" accent4="accent4" accent5="accent5" accent6="accent6" hlink="hlink" folHlink="folHlink"/>
    </a:extraClrScheme>
    <a:extraClrScheme>
      <a:clrScheme name="砖雕艺术 8">
        <a:dk1>
          <a:srgbClr val="333399"/>
        </a:dk1>
        <a:lt1>
          <a:srgbClr val="FFD9D9"/>
        </a:lt1>
        <a:dk2>
          <a:srgbClr val="00716E"/>
        </a:dk2>
        <a:lt2>
          <a:srgbClr val="C0C0C0"/>
        </a:lt2>
        <a:accent1>
          <a:srgbClr val="AED2BA"/>
        </a:accent1>
        <a:accent2>
          <a:srgbClr val="FF9933"/>
        </a:accent2>
        <a:accent3>
          <a:srgbClr val="FFE9E9"/>
        </a:accent3>
        <a:accent4>
          <a:srgbClr val="2A2A82"/>
        </a:accent4>
        <a:accent5>
          <a:srgbClr val="D3E5D9"/>
        </a:accent5>
        <a:accent6>
          <a:srgbClr val="E78A2D"/>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TotalTime>
  <Words>4517</Words>
  <Application>WPS 演示</Application>
  <PresentationFormat>全屏显示(4:3)</PresentationFormat>
  <Paragraphs>357</Paragraphs>
  <Slides>57</Slides>
  <Notes>13</Notes>
  <HiddenSlides>0</HiddenSlides>
  <MMClips>0</MMClips>
  <ScaleCrop>false</ScaleCrop>
  <HeadingPairs>
    <vt:vector size="6" baseType="variant">
      <vt:variant>
        <vt:lpstr>主题</vt:lpstr>
      </vt:variant>
      <vt:variant>
        <vt:i4>2</vt:i4>
      </vt:variant>
      <vt:variant>
        <vt:lpstr>嵌入 OLE 服务器</vt:lpstr>
      </vt:variant>
      <vt:variant>
        <vt:i4>5</vt:i4>
      </vt:variant>
      <vt:variant>
        <vt:lpstr>幻灯片标题</vt:lpstr>
      </vt:variant>
      <vt:variant>
        <vt:i4>57</vt:i4>
      </vt:variant>
    </vt:vector>
  </HeadingPairs>
  <TitlesOfParts>
    <vt:vector size="64" baseType="lpstr">
      <vt:lpstr>1_默认设计模板</vt:lpstr>
      <vt:lpstr>砖雕艺术</vt:lpstr>
      <vt:lpstr>CS ChemDraw Drawing</vt:lpstr>
      <vt:lpstr>Flash Document</vt:lpstr>
      <vt:lpstr>Equation</vt:lpstr>
      <vt:lpstr>InDraw Object</vt:lpstr>
      <vt:lpstr>Microsoft 公式 3.0</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Windows User</cp:lastModifiedBy>
  <cp:revision>67</cp:revision>
  <dcterms:created xsi:type="dcterms:W3CDTF">2020-09-27T02:26:00Z</dcterms:created>
  <dcterms:modified xsi:type="dcterms:W3CDTF">2023-10-10T08:23:38Z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FFD7F07D552D443AB5037BF792742634</vt:lpwstr>
  </property>
  <property fmtid="{D5CDD505-2E9C-101B-9397-08002B2CF9AE}" pid="3" name="KSOProductBuildVer">
    <vt:lpwstr>2052-11.1.0.12598</vt:lpwstr>
  </property>
</Properties>
</file>